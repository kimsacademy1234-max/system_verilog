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70" r:id="rId14"/>
    <p:sldId id="271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83" r:id="rId26"/>
    <p:sldId id="284" r:id="rId27"/>
    <p:sldId id="286" r:id="rId28"/>
    <p:sldId id="288" r:id="rId29"/>
    <p:sldId id="289" r:id="rId30"/>
    <p:sldId id="291" r:id="rId31"/>
    <p:sldId id="292" r:id="rId32"/>
    <p:sldId id="293" r:id="rId33"/>
    <p:sldId id="294" r:id="rId3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3" d="100"/>
          <a:sy n="73" d="100"/>
        </p:scale>
        <p:origin x="67" y="9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722AE3-5603-5849-D040-0D94C29DC8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77A3061-F0A2-E602-8D2F-1CF0A06D42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05C1CA0-2E44-BF14-A064-64C51E95F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3C211-0164-43AF-B40A-121B8BD3836A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D418E72-2AB6-A391-79D4-CD65A548F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5AD4C06-2FBF-0230-70B9-31BCD3CFC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9989B-C9AC-45B7-8B53-B865D0CFE8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19812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3861CE-2D71-1119-C503-B00E84ECD5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BD66B53-82EB-F7EF-41D1-514D5E5759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845E617-480B-7863-94CE-F7980F4EB8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3C211-0164-43AF-B40A-121B8BD3836A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C24374D-6AD0-F33D-6928-7A9B42CF0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406E089-010E-2B18-64A0-CAE8ED065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9989B-C9AC-45B7-8B53-B865D0CFE8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50541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ECB259-C71B-F586-B274-EE2AD2B88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7B8D5BE-10A7-18D1-262A-30EC5D5FAD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804593C-B56A-2A7B-BC68-503899B42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3C211-0164-43AF-B40A-121B8BD3836A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BD87173-5368-C477-AAD1-B275FBAEA4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76E3605-CF4D-0C47-17FC-F019113F4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9989B-C9AC-45B7-8B53-B865D0CFE8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4159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B36CE9-691D-0275-277D-07A3628BA0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E7E384B-3772-6894-B0BD-1DCA0512AF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A0B30C5-34D8-D3ED-4D1B-52BF962EAD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4BCB1E7-CBDE-4FDC-5541-88DDC259B2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3C211-0164-43AF-B40A-121B8BD3836A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0348B13-D140-92EC-AD04-161B7E3340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CBF38C7-96C5-93A7-13FD-6653A1C3B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9989B-C9AC-45B7-8B53-B865D0CFE8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44153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E99ED1-81D3-74F8-7721-884B851CD0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57D7B3A-E5D5-DE5E-FD36-8D8C34E045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F7BBC12-DB02-2F2C-84A5-C64877E212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0A47B20-300D-65A7-484E-6C9231AD43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1D34547-B67F-E50C-5FE5-C2ECF850D0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E265DE4-FE2E-4FAB-5AC6-F6970D8CB7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3C211-0164-43AF-B40A-121B8BD3836A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27DBC1C-4C95-1685-857F-617C67918B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E1A55EA-20C6-25C3-7557-59EBC9140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9989B-C9AC-45B7-8B53-B865D0CFE8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7410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66EDCD-5D7A-5177-AA7E-09DF4F7AD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CC8C8B3-22B6-AF8D-AD43-8939E67F8B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3C211-0164-43AF-B40A-121B8BD3836A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33E12C7-87D2-1482-B19D-572C739B5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EB932DB-BF08-A761-7A58-816E98FC7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9989B-C9AC-45B7-8B53-B865D0CFE8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81306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B4B13DF-3783-79CE-1F6B-6230F3D5E0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3C211-0164-43AF-B40A-121B8BD3836A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5500591-7C98-B21C-F44B-A5A2BEE1B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B045A7B-9436-D91A-840C-2A30C7686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9989B-C9AC-45B7-8B53-B865D0CFE8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37967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AD618C-8290-1957-6839-B084E1F54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A6C1A04-58EE-52BE-39B5-0090210AB5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B43F984-E79F-A254-0254-32963ECEFC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254687B-A675-5B20-55F3-158C9D2EEE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3C211-0164-43AF-B40A-121B8BD3836A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D0378E3-0751-4B0E-C4D2-126723C470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D3098E0-7709-D321-7B7B-EC6D235F3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9989B-C9AC-45B7-8B53-B865D0CFE8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96770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3A3D93-7CA5-758A-EBFB-D976B9301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E79A274-F871-A31C-C151-8CCD9C9199E7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2EB22B0-D6FF-DCB8-CF27-366275957A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E6D8F6B-6129-F6AA-1035-5AA2456409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3C211-0164-43AF-B40A-121B8BD3836A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B7C86C8-0998-65E9-7A15-09B3B186E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108CA4E-8943-CD12-96BD-185E70FB4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9989B-C9AC-45B7-8B53-B865D0CFE8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59947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9E563E-CF9C-A097-682B-8A1CE0A9F8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1283B8A-B5F2-DF51-A6F3-729D9EB3DB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34E91F5-60B5-F208-903C-90AEB39066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3C211-0164-43AF-B40A-121B8BD3836A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8172108-77BC-607F-EEBC-8829D3FCD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AF9395F-FE43-2749-028D-2C2FB08B6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9989B-C9AC-45B7-8B53-B865D0CFE8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8845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F340F98-7356-0F59-6224-D86F095494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2D39B1F-1DEC-68F1-BBF0-7D27FB73DC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4863DE8-5B15-4D1F-4C1C-859F9F502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3C211-0164-43AF-B40A-121B8BD3836A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D059659-F485-85E1-F893-C7009D76C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B16C03B-8B49-9175-7AAE-F1CB25917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9989B-C9AC-45B7-8B53-B865D0CFE8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48091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72FDCF7-1460-F91B-DB68-F8C47CBE16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16FE747-E1C8-BDDC-A3EC-1B1EACB31C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FACA34-338B-EF20-1D5E-DC3C366616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73C211-0164-43AF-B40A-121B8BD3836A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A9E4FC5-2718-461F-C20B-CBB3D3BF5A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21F9753-2E78-FF76-592A-3E6D73585F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19989B-C9AC-45B7-8B53-B865D0CFE8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7344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48AE0680-6A9E-09D3-A839-B62771462411}"/>
              </a:ext>
            </a:extLst>
          </p:cNvPr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2F4F21-827E-ED12-39B6-371F23177EE2}"/>
              </a:ext>
            </a:extLst>
          </p:cNvPr>
          <p:cNvSpPr txBox="1"/>
          <p:nvPr/>
        </p:nvSpPr>
        <p:spPr>
          <a:xfrm>
            <a:off x="762000" y="1809750"/>
            <a:ext cx="8572500" cy="2857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en-US" altLang="ko-KR" sz="1600" b="1">
                <a:solidFill>
                  <a:srgbClr val="2563E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VERILOG · HOMEWORK</a:t>
            </a:r>
            <a:endParaRPr lang="ko-KR" altLang="en-US" sz="1600" b="1">
              <a:solidFill>
                <a:srgbClr val="2563EB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29EC9C-EC09-ED9C-976F-1604A9685820}"/>
              </a:ext>
            </a:extLst>
          </p:cNvPr>
          <p:cNvSpPr txBox="1"/>
          <p:nvPr/>
        </p:nvSpPr>
        <p:spPr>
          <a:xfrm>
            <a:off x="762000" y="2190750"/>
            <a:ext cx="10477500" cy="12382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en-US" altLang="ko-KR" sz="4000" b="1">
                <a:solidFill>
                  <a:srgbClr val="0F172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0101 Sequence Detector</a:t>
            </a:r>
          </a:p>
          <a:p>
            <a:r>
              <a:rPr lang="en-US" altLang="ko-KR" sz="4000" b="1">
                <a:solidFill>
                  <a:srgbClr val="0F172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and Button Debouncer</a:t>
            </a:r>
            <a:endParaRPr lang="ko-KR" altLang="en-US" sz="4000" b="1">
              <a:solidFill>
                <a:srgbClr val="0F172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4D2EE9-27BA-CD4E-1FEC-87547560F7E3}"/>
              </a:ext>
            </a:extLst>
          </p:cNvPr>
          <p:cNvSpPr txBox="1"/>
          <p:nvPr/>
        </p:nvSpPr>
        <p:spPr>
          <a:xfrm>
            <a:off x="762000" y="3619500"/>
            <a:ext cx="10477500" cy="2857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en-US" altLang="ko-KR" sz="2000">
                <a:solidFill>
                  <a:srgbClr val="47556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Mealy · Moore FSM  /  button_debouncer  /  FSM_RUN_STOP</a:t>
            </a:r>
            <a:endParaRPr lang="ko-KR" altLang="en-US" sz="2000">
              <a:solidFill>
                <a:srgbClr val="475569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7DF6EF8A-A82E-F481-0C24-25ED1B6DC571}"/>
              </a:ext>
            </a:extLst>
          </p:cNvPr>
          <p:cNvCxnSpPr/>
          <p:nvPr/>
        </p:nvCxnSpPr>
        <p:spPr>
          <a:xfrm>
            <a:off x="762000" y="4286250"/>
            <a:ext cx="10668000" cy="0"/>
          </a:xfrm>
          <a:prstGeom prst="line">
            <a:avLst/>
          </a:prstGeom>
          <a:ln w="12700">
            <a:solidFill>
              <a:srgbClr val="CBD5E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56F5B1D5-68BA-5163-4C58-70DF8588D44C}"/>
              </a:ext>
            </a:extLst>
          </p:cNvPr>
          <p:cNvSpPr txBox="1"/>
          <p:nvPr/>
        </p:nvSpPr>
        <p:spPr>
          <a:xfrm>
            <a:off x="762000" y="4476750"/>
            <a:ext cx="5715000" cy="2857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b="1">
                <a:solidFill>
                  <a:srgbClr val="1F2A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정안성  </a:t>
            </a:r>
            <a:r>
              <a:rPr lang="en-US" altLang="ko-KR" b="1">
                <a:solidFill>
                  <a:srgbClr val="1F2A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 2026.10.12</a:t>
            </a:r>
            <a:endParaRPr lang="ko-KR" altLang="en-US" b="1">
              <a:solidFill>
                <a:srgbClr val="1F2A4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7741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E29431C-68AA-97A2-582E-F44071E06016}"/>
              </a:ext>
            </a:extLst>
          </p:cNvPr>
          <p:cNvSpPr txBox="1"/>
          <p:nvPr/>
        </p:nvSpPr>
        <p:spPr>
          <a:xfrm>
            <a:off x="381000" y="133350"/>
            <a:ext cx="9525000" cy="2095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altLang="ko-KR" sz="1300" b="1">
                <a:solidFill>
                  <a:srgbClr val="2563EB"/>
                </a:solidFill>
                <a:latin typeface="FEF3C7"/>
              </a:rPr>
              <a:t>00  ·  </a:t>
            </a:r>
            <a:r>
              <a:rPr lang="ko-KR" altLang="en-US" sz="1300" b="1">
                <a:solidFill>
                  <a:srgbClr val="2563EB"/>
                </a:solidFill>
                <a:latin typeface="FEF3C7"/>
              </a:rPr>
              <a:t>목차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7A09F0-B5A5-DD74-6825-1C2749B1D9CE}"/>
              </a:ext>
            </a:extLst>
          </p:cNvPr>
          <p:cNvSpPr txBox="1"/>
          <p:nvPr/>
        </p:nvSpPr>
        <p:spPr>
          <a:xfrm>
            <a:off x="381000" y="342900"/>
            <a:ext cx="10096500" cy="4381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ko-KR" altLang="en-US" sz="2600" b="1">
                <a:solidFill>
                  <a:srgbClr val="0F172A"/>
                </a:solidFill>
                <a:latin typeface="FEF3C7"/>
              </a:rPr>
              <a:t>목차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BF10B2F-B961-0021-D156-9873233957E2}"/>
              </a:ext>
            </a:extLst>
          </p:cNvPr>
          <p:cNvSpPr/>
          <p:nvPr/>
        </p:nvSpPr>
        <p:spPr>
          <a:xfrm>
            <a:off x="381000" y="819150"/>
            <a:ext cx="666750" cy="381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5F2DA9-9F45-5746-2F39-BDF216A75BE0}"/>
              </a:ext>
            </a:extLst>
          </p:cNvPr>
          <p:cNvSpPr txBox="1"/>
          <p:nvPr/>
        </p:nvSpPr>
        <p:spPr>
          <a:xfrm>
            <a:off x="381000" y="1028700"/>
            <a:ext cx="5334000" cy="22860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1500" b="1">
                <a:solidFill>
                  <a:srgbClr val="475569"/>
                </a:solidFill>
                <a:latin typeface="FEF3C7"/>
              </a:rPr>
              <a:t>요약 </a:t>
            </a:r>
            <a:r>
              <a:rPr lang="en-US" altLang="ko-KR" sz="1500" b="1">
                <a:solidFill>
                  <a:srgbClr val="475569"/>
                </a:solidFill>
                <a:latin typeface="FEF3C7"/>
              </a:rPr>
              <a:t>· </a:t>
            </a:r>
            <a:r>
              <a:rPr lang="ko-KR" altLang="en-US" sz="1500" b="1">
                <a:solidFill>
                  <a:srgbClr val="475569"/>
                </a:solidFill>
                <a:latin typeface="FEF3C7"/>
              </a:rPr>
              <a:t>개념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F690EB-DCB2-9FDF-7F21-DB47DD689223}"/>
              </a:ext>
            </a:extLst>
          </p:cNvPr>
          <p:cNvSpPr txBox="1"/>
          <p:nvPr/>
        </p:nvSpPr>
        <p:spPr>
          <a:xfrm>
            <a:off x="6286500" y="1028700"/>
            <a:ext cx="5334000" cy="22860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1500" b="1">
                <a:solidFill>
                  <a:srgbClr val="475569"/>
                </a:solidFill>
                <a:latin typeface="FEF3C7"/>
              </a:rPr>
              <a:t>설계 </a:t>
            </a:r>
            <a:r>
              <a:rPr lang="en-US" altLang="ko-KR" sz="1500" b="1">
                <a:solidFill>
                  <a:srgbClr val="475569"/>
                </a:solidFill>
                <a:latin typeface="FEF3C7"/>
              </a:rPr>
              <a:t>· </a:t>
            </a:r>
            <a:r>
              <a:rPr lang="ko-KR" altLang="en-US" sz="1500" b="1">
                <a:solidFill>
                  <a:srgbClr val="475569"/>
                </a:solidFill>
                <a:latin typeface="FEF3C7"/>
              </a:rPr>
              <a:t>검증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CD7E191-8FCF-EEE3-6584-5456BF74F60B}"/>
              </a:ext>
            </a:extLst>
          </p:cNvPr>
          <p:cNvSpPr/>
          <p:nvPr/>
        </p:nvSpPr>
        <p:spPr>
          <a:xfrm>
            <a:off x="381000" y="1333500"/>
            <a:ext cx="5524500" cy="81915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0459505-96FD-A8ED-A0C5-FBC30E25A7FF}"/>
              </a:ext>
            </a:extLst>
          </p:cNvPr>
          <p:cNvSpPr txBox="1"/>
          <p:nvPr/>
        </p:nvSpPr>
        <p:spPr>
          <a:xfrm>
            <a:off x="533400" y="1504950"/>
            <a:ext cx="666750" cy="4762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altLang="ko-KR" sz="3000" b="1">
                <a:solidFill>
                  <a:srgbClr val="2563EB"/>
                </a:solidFill>
                <a:latin typeface="FEF3C7"/>
              </a:rPr>
              <a:t>00</a:t>
            </a:r>
            <a:endParaRPr lang="ko-KR" altLang="en-US" sz="3000" b="1">
              <a:solidFill>
                <a:srgbClr val="2563EB"/>
              </a:solidFill>
              <a:latin typeface="FEF3C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415A23F-75C1-6461-A6A4-E4A80EE06951}"/>
              </a:ext>
            </a:extLst>
          </p:cNvPr>
          <p:cNvSpPr txBox="1"/>
          <p:nvPr/>
        </p:nvSpPr>
        <p:spPr>
          <a:xfrm>
            <a:off x="1295400" y="1447800"/>
            <a:ext cx="3429000" cy="2857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altLang="ko-KR" sz="1900" b="1">
                <a:solidFill>
                  <a:srgbClr val="0F172A"/>
                </a:solidFill>
                <a:latin typeface="FEF3C7"/>
              </a:rPr>
              <a:t>Summary</a:t>
            </a:r>
            <a:endParaRPr lang="ko-KR" altLang="en-US" sz="1900" b="1">
              <a:solidFill>
                <a:srgbClr val="0F172A"/>
              </a:solidFill>
              <a:latin typeface="FEF3C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C90F5FC-7A4B-2DC3-0E05-C81E97935382}"/>
              </a:ext>
            </a:extLst>
          </p:cNvPr>
          <p:cNvSpPr txBox="1"/>
          <p:nvPr/>
        </p:nvSpPr>
        <p:spPr>
          <a:xfrm>
            <a:off x="1295400" y="1771650"/>
            <a:ext cx="3619500" cy="2476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altLang="ko-KR" sz="1300">
                <a:solidFill>
                  <a:srgbClr val="64748B"/>
                </a:solidFill>
                <a:latin typeface="FEF3C7"/>
              </a:rPr>
              <a:t>Executive Summary</a:t>
            </a:r>
            <a:endParaRPr lang="ko-KR" altLang="en-US" sz="1300">
              <a:solidFill>
                <a:srgbClr val="64748B"/>
              </a:solidFill>
              <a:latin typeface="FEF3C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C7B138C-DA0D-CBA0-D64D-F4DA58DBB128}"/>
              </a:ext>
            </a:extLst>
          </p:cNvPr>
          <p:cNvSpPr txBox="1"/>
          <p:nvPr/>
        </p:nvSpPr>
        <p:spPr>
          <a:xfrm>
            <a:off x="4857750" y="1600200"/>
            <a:ext cx="952500" cy="2857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pPr algn="r"/>
            <a:r>
              <a:rPr lang="en-US" altLang="ko-KR" sz="1400" b="1">
                <a:solidFill>
                  <a:srgbClr val="2563EB"/>
                </a:solidFill>
                <a:latin typeface="FEF3C7"/>
              </a:rPr>
              <a:t>p.3</a:t>
            </a:r>
            <a:endParaRPr lang="ko-KR" altLang="en-US" sz="1400" b="1">
              <a:solidFill>
                <a:srgbClr val="2563EB"/>
              </a:solidFill>
              <a:latin typeface="FEF3C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E3ADDA9-228B-762F-C418-EE965CA5CD9B}"/>
              </a:ext>
            </a:extLst>
          </p:cNvPr>
          <p:cNvSpPr/>
          <p:nvPr/>
        </p:nvSpPr>
        <p:spPr>
          <a:xfrm>
            <a:off x="381000" y="2286000"/>
            <a:ext cx="5524500" cy="81915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EFA6E1A-4488-F3E5-2B2E-B684AC2069AA}"/>
              </a:ext>
            </a:extLst>
          </p:cNvPr>
          <p:cNvSpPr txBox="1"/>
          <p:nvPr/>
        </p:nvSpPr>
        <p:spPr>
          <a:xfrm>
            <a:off x="533400" y="2457450"/>
            <a:ext cx="666750" cy="4762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altLang="ko-KR" sz="3000" b="1">
                <a:solidFill>
                  <a:srgbClr val="2563EB"/>
                </a:solidFill>
                <a:latin typeface="FEF3C7"/>
              </a:rPr>
              <a:t>01</a:t>
            </a:r>
            <a:endParaRPr lang="ko-KR" altLang="en-US" sz="3000" b="1">
              <a:solidFill>
                <a:srgbClr val="2563EB"/>
              </a:solidFill>
              <a:latin typeface="FEF3C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4256E71-8DA2-FFEA-E85C-A931742433DA}"/>
              </a:ext>
            </a:extLst>
          </p:cNvPr>
          <p:cNvSpPr txBox="1"/>
          <p:nvPr/>
        </p:nvSpPr>
        <p:spPr>
          <a:xfrm>
            <a:off x="1295400" y="2400300"/>
            <a:ext cx="3429000" cy="2857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altLang="ko-KR" sz="1900" b="1">
                <a:solidFill>
                  <a:srgbClr val="0F172A"/>
                </a:solidFill>
                <a:latin typeface="FEF3C7"/>
              </a:rPr>
              <a:t>Debounce </a:t>
            </a:r>
            <a:r>
              <a:rPr lang="ko-KR" altLang="en-US" sz="1900" b="1">
                <a:solidFill>
                  <a:srgbClr val="0F172A"/>
                </a:solidFill>
                <a:latin typeface="FEF3C7"/>
              </a:rPr>
              <a:t>개념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09E63E2-D06C-57EE-465E-2F8C4296090B}"/>
              </a:ext>
            </a:extLst>
          </p:cNvPr>
          <p:cNvSpPr txBox="1"/>
          <p:nvPr/>
        </p:nvSpPr>
        <p:spPr>
          <a:xfrm>
            <a:off x="1295400" y="2724150"/>
            <a:ext cx="3619500" cy="2476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altLang="ko-KR" sz="1300">
                <a:solidFill>
                  <a:srgbClr val="64748B"/>
                </a:solidFill>
                <a:latin typeface="FEF3C7"/>
              </a:rPr>
              <a:t>FPGA </a:t>
            </a:r>
            <a:r>
              <a:rPr lang="ko-KR" altLang="en-US" sz="1300">
                <a:solidFill>
                  <a:srgbClr val="64748B"/>
                </a:solidFill>
                <a:latin typeface="FEF3C7"/>
              </a:rPr>
              <a:t>버튼 회로 </a:t>
            </a:r>
            <a:r>
              <a:rPr lang="en-US" altLang="ko-KR" sz="1300">
                <a:solidFill>
                  <a:srgbClr val="64748B"/>
                </a:solidFill>
                <a:latin typeface="FEF3C7"/>
              </a:rPr>
              <a:t>· Bounce · </a:t>
            </a:r>
            <a:r>
              <a:rPr lang="ko-KR" altLang="en-US" sz="1300">
                <a:solidFill>
                  <a:srgbClr val="64748B"/>
                </a:solidFill>
                <a:latin typeface="FEF3C7"/>
              </a:rPr>
              <a:t>해결 방법 </a:t>
            </a:r>
            <a:r>
              <a:rPr lang="en-US" altLang="ko-KR" sz="1300">
                <a:solidFill>
                  <a:srgbClr val="64748B"/>
                </a:solidFill>
                <a:latin typeface="FEF3C7"/>
              </a:rPr>
              <a:t>· SIPO · Tick</a:t>
            </a:r>
            <a:endParaRPr lang="ko-KR" altLang="en-US" sz="1300">
              <a:solidFill>
                <a:srgbClr val="64748B"/>
              </a:solidFill>
              <a:latin typeface="FEF3C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A8444C0-9CF3-A9D6-A853-8E29E4A9195D}"/>
              </a:ext>
            </a:extLst>
          </p:cNvPr>
          <p:cNvSpPr txBox="1"/>
          <p:nvPr/>
        </p:nvSpPr>
        <p:spPr>
          <a:xfrm>
            <a:off x="4857750" y="2552700"/>
            <a:ext cx="952500" cy="2857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pPr algn="r"/>
            <a:r>
              <a:rPr lang="en-US" altLang="ko-KR" sz="1400" b="1">
                <a:solidFill>
                  <a:srgbClr val="2563EB"/>
                </a:solidFill>
                <a:latin typeface="FEF3C7"/>
              </a:rPr>
              <a:t>p.4 – 10</a:t>
            </a:r>
            <a:endParaRPr lang="ko-KR" altLang="en-US" sz="1400" b="1">
              <a:solidFill>
                <a:srgbClr val="2563EB"/>
              </a:solidFill>
              <a:latin typeface="FEF3C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4C27E0CB-7DC5-2E14-657A-EBA9B7AAE25C}"/>
              </a:ext>
            </a:extLst>
          </p:cNvPr>
          <p:cNvSpPr/>
          <p:nvPr/>
        </p:nvSpPr>
        <p:spPr>
          <a:xfrm>
            <a:off x="381000" y="3238500"/>
            <a:ext cx="5524500" cy="81915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894FF82-B1B1-4B8D-8443-202AFC75EE69}"/>
              </a:ext>
            </a:extLst>
          </p:cNvPr>
          <p:cNvSpPr txBox="1"/>
          <p:nvPr/>
        </p:nvSpPr>
        <p:spPr>
          <a:xfrm>
            <a:off x="533400" y="3409950"/>
            <a:ext cx="666750" cy="4762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altLang="ko-KR" sz="3000" b="1">
                <a:solidFill>
                  <a:srgbClr val="2563EB"/>
                </a:solidFill>
                <a:latin typeface="FEF3C7"/>
              </a:rPr>
              <a:t>02</a:t>
            </a:r>
            <a:endParaRPr lang="ko-KR" altLang="en-US" sz="3000" b="1">
              <a:solidFill>
                <a:srgbClr val="2563EB"/>
              </a:solidFill>
              <a:latin typeface="FEF3C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96DF3CB-39EC-92F3-58E0-676ADE33F55D}"/>
              </a:ext>
            </a:extLst>
          </p:cNvPr>
          <p:cNvSpPr txBox="1"/>
          <p:nvPr/>
        </p:nvSpPr>
        <p:spPr>
          <a:xfrm>
            <a:off x="1295400" y="3352800"/>
            <a:ext cx="3429000" cy="2857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altLang="ko-KR" sz="1900" b="1">
                <a:solidFill>
                  <a:srgbClr val="0F172A"/>
                </a:solidFill>
                <a:latin typeface="FEF3C7"/>
              </a:rPr>
              <a:t>Sampling · Filter</a:t>
            </a:r>
            <a:endParaRPr lang="ko-KR" altLang="en-US" sz="1900" b="1">
              <a:solidFill>
                <a:srgbClr val="0F172A"/>
              </a:solidFill>
              <a:latin typeface="FEF3C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255D2B6-1BC0-BCD9-3CF6-EE17675FE8FA}"/>
              </a:ext>
            </a:extLst>
          </p:cNvPr>
          <p:cNvSpPr txBox="1"/>
          <p:nvPr/>
        </p:nvSpPr>
        <p:spPr>
          <a:xfrm>
            <a:off x="1295400" y="3676650"/>
            <a:ext cx="3619500" cy="2476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altLang="ko-KR" sz="1300">
                <a:solidFill>
                  <a:srgbClr val="64748B"/>
                </a:solidFill>
                <a:latin typeface="FEF3C7"/>
              </a:rPr>
              <a:t>Sampling · |H(f)| · AND · Window</a:t>
            </a:r>
            <a:endParaRPr lang="ko-KR" altLang="en-US" sz="1300">
              <a:solidFill>
                <a:srgbClr val="64748B"/>
              </a:solidFill>
              <a:latin typeface="FEF3C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8062B9B-A5E2-F604-9F0B-4EF0B086E9FA}"/>
              </a:ext>
            </a:extLst>
          </p:cNvPr>
          <p:cNvSpPr txBox="1"/>
          <p:nvPr/>
        </p:nvSpPr>
        <p:spPr>
          <a:xfrm>
            <a:off x="4857750" y="3505200"/>
            <a:ext cx="952500" cy="2857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pPr algn="r"/>
            <a:r>
              <a:rPr lang="en-US" altLang="ko-KR" sz="1400" b="1">
                <a:solidFill>
                  <a:srgbClr val="2563EB"/>
                </a:solidFill>
                <a:latin typeface="FEF3C7"/>
              </a:rPr>
              <a:t>p.11 – 14</a:t>
            </a:r>
            <a:endParaRPr lang="ko-KR" altLang="en-US" sz="1400" b="1">
              <a:solidFill>
                <a:srgbClr val="2563EB"/>
              </a:solidFill>
              <a:latin typeface="FEF3C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4FE3C510-E6B9-227E-A59B-AD65D1AC467C}"/>
              </a:ext>
            </a:extLst>
          </p:cNvPr>
          <p:cNvSpPr/>
          <p:nvPr/>
        </p:nvSpPr>
        <p:spPr>
          <a:xfrm>
            <a:off x="6286500" y="1333500"/>
            <a:ext cx="5524500" cy="81915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3DACFFB-B086-2DF9-06ED-0B43F01233E0}"/>
              </a:ext>
            </a:extLst>
          </p:cNvPr>
          <p:cNvSpPr txBox="1"/>
          <p:nvPr/>
        </p:nvSpPr>
        <p:spPr>
          <a:xfrm>
            <a:off x="6438900" y="1504950"/>
            <a:ext cx="666750" cy="4762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altLang="ko-KR" sz="3000" b="1">
                <a:solidFill>
                  <a:srgbClr val="2563EB"/>
                </a:solidFill>
                <a:latin typeface="FEF3C7"/>
              </a:rPr>
              <a:t>03</a:t>
            </a:r>
            <a:endParaRPr lang="ko-KR" altLang="en-US" sz="3000" b="1">
              <a:solidFill>
                <a:srgbClr val="2563EB"/>
              </a:solidFill>
              <a:latin typeface="FEF3C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205FCEB-71DC-FD2D-E2AE-0B3C3108691C}"/>
              </a:ext>
            </a:extLst>
          </p:cNvPr>
          <p:cNvSpPr txBox="1"/>
          <p:nvPr/>
        </p:nvSpPr>
        <p:spPr>
          <a:xfrm>
            <a:off x="7200900" y="1447800"/>
            <a:ext cx="3429000" cy="2857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altLang="ko-KR" sz="1900" b="1">
                <a:solidFill>
                  <a:srgbClr val="0F172A"/>
                </a:solidFill>
                <a:latin typeface="FEF3C7"/>
              </a:rPr>
              <a:t>Homework-1 </a:t>
            </a:r>
            <a:r>
              <a:rPr lang="ko-KR" altLang="en-US" sz="1900" b="1">
                <a:solidFill>
                  <a:srgbClr val="0F172A"/>
                </a:solidFill>
                <a:latin typeface="FEF3C7"/>
              </a:rPr>
              <a:t>설계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E35B5D4-F2F4-79E0-8CE7-494147580D5E}"/>
              </a:ext>
            </a:extLst>
          </p:cNvPr>
          <p:cNvSpPr txBox="1"/>
          <p:nvPr/>
        </p:nvSpPr>
        <p:spPr>
          <a:xfrm>
            <a:off x="7200900" y="1771650"/>
            <a:ext cx="3619500" cy="2476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altLang="ko-KR" sz="1300">
                <a:solidFill>
                  <a:srgbClr val="64748B"/>
                </a:solidFill>
                <a:latin typeface="FEF3C7"/>
              </a:rPr>
              <a:t>Mealy · Moore State Diagram · </a:t>
            </a:r>
            <a:r>
              <a:rPr lang="ko-KR" altLang="en-US" sz="1300">
                <a:solidFill>
                  <a:srgbClr val="64748B"/>
                </a:solidFill>
                <a:latin typeface="FEF3C7"/>
              </a:rPr>
              <a:t>천이표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EC26AF3-DA9E-38DD-37E2-36A0D9EA0465}"/>
              </a:ext>
            </a:extLst>
          </p:cNvPr>
          <p:cNvSpPr txBox="1"/>
          <p:nvPr/>
        </p:nvSpPr>
        <p:spPr>
          <a:xfrm>
            <a:off x="10763250" y="1600200"/>
            <a:ext cx="952500" cy="2857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pPr algn="r"/>
            <a:r>
              <a:rPr lang="en-US" altLang="ko-KR" sz="1400" b="1">
                <a:solidFill>
                  <a:srgbClr val="2563EB"/>
                </a:solidFill>
                <a:latin typeface="FEF3C7"/>
              </a:rPr>
              <a:t>p.15 – 17</a:t>
            </a:r>
            <a:endParaRPr lang="ko-KR" altLang="en-US" sz="1400" b="1">
              <a:solidFill>
                <a:srgbClr val="2563EB"/>
              </a:solidFill>
              <a:latin typeface="FEF3C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5309AE8B-0310-49DE-FC86-E8A4725EBDCF}"/>
              </a:ext>
            </a:extLst>
          </p:cNvPr>
          <p:cNvSpPr/>
          <p:nvPr/>
        </p:nvSpPr>
        <p:spPr>
          <a:xfrm>
            <a:off x="6286500" y="2286000"/>
            <a:ext cx="5524500" cy="81915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C4AF0AE-0D00-166F-3129-975763EAD636}"/>
              </a:ext>
            </a:extLst>
          </p:cNvPr>
          <p:cNvSpPr txBox="1"/>
          <p:nvPr/>
        </p:nvSpPr>
        <p:spPr>
          <a:xfrm>
            <a:off x="6438900" y="2457450"/>
            <a:ext cx="666750" cy="4762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altLang="ko-KR" sz="3000" b="1">
                <a:solidFill>
                  <a:srgbClr val="2563EB"/>
                </a:solidFill>
                <a:latin typeface="FEF3C7"/>
              </a:rPr>
              <a:t>04</a:t>
            </a:r>
            <a:endParaRPr lang="ko-KR" altLang="en-US" sz="3000" b="1">
              <a:solidFill>
                <a:srgbClr val="2563EB"/>
              </a:solidFill>
              <a:latin typeface="FEF3C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7931952-F2CC-2145-8C2E-1346C9381A16}"/>
              </a:ext>
            </a:extLst>
          </p:cNvPr>
          <p:cNvSpPr txBox="1"/>
          <p:nvPr/>
        </p:nvSpPr>
        <p:spPr>
          <a:xfrm>
            <a:off x="7200900" y="2400300"/>
            <a:ext cx="3429000" cy="2857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altLang="ko-KR" sz="1900" b="1">
                <a:solidFill>
                  <a:srgbClr val="0F172A"/>
                </a:solidFill>
                <a:latin typeface="FEF3C7"/>
              </a:rPr>
              <a:t>Homework-1 </a:t>
            </a:r>
            <a:r>
              <a:rPr lang="ko-KR" altLang="en-US" sz="1900" b="1">
                <a:solidFill>
                  <a:srgbClr val="0F172A"/>
                </a:solidFill>
                <a:latin typeface="FEF3C7"/>
              </a:rPr>
              <a:t>시뮬레이션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D5BBAAA-D712-F86B-FD66-7B45F2CFBB1C}"/>
              </a:ext>
            </a:extLst>
          </p:cNvPr>
          <p:cNvSpPr txBox="1"/>
          <p:nvPr/>
        </p:nvSpPr>
        <p:spPr>
          <a:xfrm>
            <a:off x="7200900" y="2724150"/>
            <a:ext cx="3619500" cy="2476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ko-KR" altLang="en-US" sz="1300">
                <a:solidFill>
                  <a:srgbClr val="64748B"/>
                </a:solidFill>
                <a:latin typeface="FEF3C7"/>
              </a:rPr>
              <a:t>환경 </a:t>
            </a:r>
            <a:r>
              <a:rPr lang="en-US" altLang="ko-KR" sz="1300">
                <a:solidFill>
                  <a:srgbClr val="64748B"/>
                </a:solidFill>
                <a:latin typeface="FEF3C7"/>
              </a:rPr>
              <a:t>· </a:t>
            </a:r>
            <a:r>
              <a:rPr lang="ko-KR" altLang="en-US" sz="1300">
                <a:solidFill>
                  <a:srgbClr val="64748B"/>
                </a:solidFill>
                <a:latin typeface="FEF3C7"/>
              </a:rPr>
              <a:t>패턴 검출 </a:t>
            </a:r>
            <a:r>
              <a:rPr lang="en-US" altLang="ko-KR" sz="1300">
                <a:solidFill>
                  <a:srgbClr val="64748B"/>
                </a:solidFill>
                <a:latin typeface="FEF3C7"/>
              </a:rPr>
              <a:t>· </a:t>
            </a:r>
            <a:r>
              <a:rPr lang="ko-KR" altLang="en-US" sz="1300">
                <a:solidFill>
                  <a:srgbClr val="64748B"/>
                </a:solidFill>
                <a:latin typeface="FEF3C7"/>
              </a:rPr>
              <a:t>패턴 없음 </a:t>
            </a:r>
            <a:r>
              <a:rPr lang="en-US" altLang="ko-KR" sz="1300">
                <a:solidFill>
                  <a:srgbClr val="64748B"/>
                </a:solidFill>
                <a:latin typeface="FEF3C7"/>
              </a:rPr>
              <a:t>· next logic</a:t>
            </a:r>
            <a:endParaRPr lang="ko-KR" altLang="en-US" sz="1300">
              <a:solidFill>
                <a:srgbClr val="64748B"/>
              </a:solidFill>
              <a:latin typeface="FEF3C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D5606FC-20A5-535E-9001-D9597C2CFF4F}"/>
              </a:ext>
            </a:extLst>
          </p:cNvPr>
          <p:cNvSpPr txBox="1"/>
          <p:nvPr/>
        </p:nvSpPr>
        <p:spPr>
          <a:xfrm>
            <a:off x="10763250" y="2552700"/>
            <a:ext cx="952500" cy="2857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pPr algn="r"/>
            <a:r>
              <a:rPr lang="en-US" altLang="ko-KR" sz="1400" b="1">
                <a:solidFill>
                  <a:srgbClr val="2563EB"/>
                </a:solidFill>
                <a:latin typeface="FEF3C7"/>
              </a:rPr>
              <a:t>p.18 – 26</a:t>
            </a:r>
            <a:endParaRPr lang="ko-KR" altLang="en-US" sz="1400" b="1">
              <a:solidFill>
                <a:srgbClr val="2563EB"/>
              </a:solidFill>
              <a:latin typeface="FEF3C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25FCF57A-6657-0794-7697-BCE667E255C0}"/>
              </a:ext>
            </a:extLst>
          </p:cNvPr>
          <p:cNvSpPr/>
          <p:nvPr/>
        </p:nvSpPr>
        <p:spPr>
          <a:xfrm>
            <a:off x="6286500" y="3238500"/>
            <a:ext cx="5524500" cy="81915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endParaRPr lang="ko-KR" alt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99BAE27-2FF8-AD9A-45FB-07466A0D6E26}"/>
              </a:ext>
            </a:extLst>
          </p:cNvPr>
          <p:cNvSpPr txBox="1"/>
          <p:nvPr/>
        </p:nvSpPr>
        <p:spPr>
          <a:xfrm>
            <a:off x="6438900" y="3409950"/>
            <a:ext cx="666750" cy="4762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altLang="ko-KR" sz="3000" b="1">
                <a:solidFill>
                  <a:srgbClr val="2563EB"/>
                </a:solidFill>
                <a:latin typeface="FEF3C7"/>
              </a:rPr>
              <a:t>05</a:t>
            </a:r>
            <a:endParaRPr lang="ko-KR" altLang="en-US" sz="3000" b="1">
              <a:solidFill>
                <a:srgbClr val="2563EB"/>
              </a:solidFill>
              <a:latin typeface="FEF3C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AF0F170-1C30-021E-5E0B-81CE4FC53855}"/>
              </a:ext>
            </a:extLst>
          </p:cNvPr>
          <p:cNvSpPr txBox="1"/>
          <p:nvPr/>
        </p:nvSpPr>
        <p:spPr>
          <a:xfrm>
            <a:off x="7200900" y="3352800"/>
            <a:ext cx="3429000" cy="2857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altLang="ko-KR" sz="1900" b="1">
                <a:solidFill>
                  <a:srgbClr val="0F172A"/>
                </a:solidFill>
                <a:latin typeface="FEF3C7"/>
              </a:rPr>
              <a:t>Homework-2 </a:t>
            </a:r>
            <a:r>
              <a:rPr lang="ko-KR" altLang="en-US" sz="1900" b="1">
                <a:solidFill>
                  <a:srgbClr val="0F172A"/>
                </a:solidFill>
                <a:latin typeface="FEF3C7"/>
              </a:rPr>
              <a:t>설계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DC8CD70-DF2A-305F-7644-58E535B833D3}"/>
              </a:ext>
            </a:extLst>
          </p:cNvPr>
          <p:cNvSpPr txBox="1"/>
          <p:nvPr/>
        </p:nvSpPr>
        <p:spPr>
          <a:xfrm>
            <a:off x="7200900" y="3676650"/>
            <a:ext cx="3619500" cy="2476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altLang="ko-KR" sz="1300">
                <a:solidFill>
                  <a:srgbClr val="64748B"/>
                </a:solidFill>
                <a:latin typeface="FEF3C7"/>
              </a:rPr>
              <a:t>Switch → Button · Block Diagram · FSM · Debouncer</a:t>
            </a:r>
            <a:endParaRPr lang="ko-KR" altLang="en-US" sz="1300">
              <a:solidFill>
                <a:srgbClr val="64748B"/>
              </a:solidFill>
              <a:latin typeface="FEF3C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BB33B11-C0A3-7598-CBAF-44BF6EE04360}"/>
              </a:ext>
            </a:extLst>
          </p:cNvPr>
          <p:cNvSpPr txBox="1"/>
          <p:nvPr/>
        </p:nvSpPr>
        <p:spPr>
          <a:xfrm>
            <a:off x="10763250" y="3505200"/>
            <a:ext cx="952500" cy="2857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pPr algn="r"/>
            <a:r>
              <a:rPr lang="en-US" altLang="ko-KR" sz="1400" b="1">
                <a:solidFill>
                  <a:srgbClr val="2563EB"/>
                </a:solidFill>
                <a:latin typeface="FEF3C7"/>
              </a:rPr>
              <a:t>p.27 – 32</a:t>
            </a:r>
            <a:endParaRPr lang="ko-KR" altLang="en-US" sz="1400" b="1">
              <a:solidFill>
                <a:srgbClr val="2563EB"/>
              </a:solidFill>
              <a:latin typeface="FEF3C7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33A4459A-1E8B-DD2D-ECE5-12F2BBEB379A}"/>
              </a:ext>
            </a:extLst>
          </p:cNvPr>
          <p:cNvSpPr/>
          <p:nvPr/>
        </p:nvSpPr>
        <p:spPr>
          <a:xfrm>
            <a:off x="6286500" y="4191000"/>
            <a:ext cx="5524500" cy="81915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endParaRPr lang="ko-KR" alt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09D002C-D102-670B-5F3D-E51A7F0F7C8B}"/>
              </a:ext>
            </a:extLst>
          </p:cNvPr>
          <p:cNvSpPr txBox="1"/>
          <p:nvPr/>
        </p:nvSpPr>
        <p:spPr>
          <a:xfrm>
            <a:off x="6438900" y="4362450"/>
            <a:ext cx="666750" cy="4762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altLang="ko-KR" sz="3000" b="1">
                <a:solidFill>
                  <a:srgbClr val="2563EB"/>
                </a:solidFill>
                <a:latin typeface="FEF3C7"/>
              </a:rPr>
              <a:t>06</a:t>
            </a:r>
            <a:endParaRPr lang="ko-KR" altLang="en-US" sz="3000" b="1">
              <a:solidFill>
                <a:srgbClr val="2563EB"/>
              </a:solidFill>
              <a:latin typeface="FEF3C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AB0DB97-C176-479D-D175-C0C3999B0CAD}"/>
              </a:ext>
            </a:extLst>
          </p:cNvPr>
          <p:cNvSpPr txBox="1"/>
          <p:nvPr/>
        </p:nvSpPr>
        <p:spPr>
          <a:xfrm>
            <a:off x="7200900" y="4305300"/>
            <a:ext cx="3429000" cy="2857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altLang="ko-KR" sz="1900" b="1">
                <a:solidFill>
                  <a:srgbClr val="0F172A"/>
                </a:solidFill>
                <a:latin typeface="FEF3C7"/>
              </a:rPr>
              <a:t>Homework-2 </a:t>
            </a:r>
            <a:r>
              <a:rPr lang="ko-KR" altLang="en-US" sz="1900" b="1">
                <a:solidFill>
                  <a:srgbClr val="0F172A"/>
                </a:solidFill>
                <a:latin typeface="FEF3C7"/>
              </a:rPr>
              <a:t>시뮬레이션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8222602-E5C4-1BD0-DCD0-2270B2BCE96D}"/>
              </a:ext>
            </a:extLst>
          </p:cNvPr>
          <p:cNvSpPr txBox="1"/>
          <p:nvPr/>
        </p:nvSpPr>
        <p:spPr>
          <a:xfrm>
            <a:off x="7200900" y="4629150"/>
            <a:ext cx="3619500" cy="2476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altLang="ko-KR" sz="1300">
                <a:solidFill>
                  <a:srgbClr val="64748B"/>
                </a:solidFill>
                <a:latin typeface="FEF3C7"/>
              </a:rPr>
              <a:t>Shift </a:t>
            </a:r>
            <a:r>
              <a:rPr lang="ko-KR" altLang="en-US" sz="1300">
                <a:solidFill>
                  <a:srgbClr val="64748B"/>
                </a:solidFill>
                <a:latin typeface="FEF3C7"/>
              </a:rPr>
              <a:t>동작 </a:t>
            </a:r>
            <a:r>
              <a:rPr lang="en-US" altLang="ko-KR" sz="1300">
                <a:solidFill>
                  <a:srgbClr val="64748B"/>
                </a:solidFill>
                <a:latin typeface="FEF3C7"/>
              </a:rPr>
              <a:t>· </a:t>
            </a:r>
            <a:r>
              <a:rPr lang="ko-KR" altLang="en-US" sz="1300">
                <a:solidFill>
                  <a:srgbClr val="64748B"/>
                </a:solidFill>
                <a:latin typeface="FEF3C7"/>
              </a:rPr>
              <a:t>비동기 입력 </a:t>
            </a:r>
            <a:r>
              <a:rPr lang="en-US" altLang="ko-KR" sz="1300">
                <a:solidFill>
                  <a:srgbClr val="64748B"/>
                </a:solidFill>
                <a:latin typeface="FEF3C7"/>
              </a:rPr>
              <a:t>· </a:t>
            </a:r>
            <a:r>
              <a:rPr lang="ko-KR" altLang="en-US" sz="1300">
                <a:solidFill>
                  <a:srgbClr val="64748B"/>
                </a:solidFill>
                <a:latin typeface="FEF3C7"/>
              </a:rPr>
              <a:t>최소 유지 시간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09ADFFA-C58C-05D0-4869-E13EE84FE323}"/>
              </a:ext>
            </a:extLst>
          </p:cNvPr>
          <p:cNvSpPr txBox="1"/>
          <p:nvPr/>
        </p:nvSpPr>
        <p:spPr>
          <a:xfrm>
            <a:off x="10763250" y="4457700"/>
            <a:ext cx="952500" cy="2857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pPr algn="r"/>
            <a:r>
              <a:rPr lang="en-US" altLang="ko-KR" sz="1400" b="1">
                <a:solidFill>
                  <a:srgbClr val="2563EB"/>
                </a:solidFill>
                <a:latin typeface="FEF3C7"/>
              </a:rPr>
              <a:t>p.33 – 38</a:t>
            </a:r>
            <a:endParaRPr lang="ko-KR" altLang="en-US" sz="1400" b="1">
              <a:solidFill>
                <a:srgbClr val="2563EB"/>
              </a:solidFill>
              <a:latin typeface="FEF3C7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6384DC3A-BBD5-A4AB-E535-B82BE09C9A7E}"/>
              </a:ext>
            </a:extLst>
          </p:cNvPr>
          <p:cNvSpPr/>
          <p:nvPr/>
        </p:nvSpPr>
        <p:spPr>
          <a:xfrm>
            <a:off x="6286500" y="5143500"/>
            <a:ext cx="5524500" cy="81915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endParaRPr lang="ko-KR" alt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ADA2851-4945-8C50-E4B4-49F1E3069652}"/>
              </a:ext>
            </a:extLst>
          </p:cNvPr>
          <p:cNvSpPr txBox="1"/>
          <p:nvPr/>
        </p:nvSpPr>
        <p:spPr>
          <a:xfrm>
            <a:off x="6438900" y="5314950"/>
            <a:ext cx="666750" cy="4762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altLang="ko-KR" sz="3000" b="1">
                <a:solidFill>
                  <a:srgbClr val="2563EB"/>
                </a:solidFill>
                <a:latin typeface="FEF3C7"/>
              </a:rPr>
              <a:t>07</a:t>
            </a:r>
            <a:endParaRPr lang="ko-KR" altLang="en-US" sz="3000" b="1">
              <a:solidFill>
                <a:srgbClr val="2563EB"/>
              </a:solidFill>
              <a:latin typeface="FEF3C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CFF6E65-423E-ADE8-1716-74243F34156D}"/>
              </a:ext>
            </a:extLst>
          </p:cNvPr>
          <p:cNvSpPr txBox="1"/>
          <p:nvPr/>
        </p:nvSpPr>
        <p:spPr>
          <a:xfrm>
            <a:off x="7200900" y="5257800"/>
            <a:ext cx="3429000" cy="2857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ko-KR" altLang="en-US" sz="1900" b="1">
                <a:solidFill>
                  <a:srgbClr val="0F172A"/>
                </a:solidFill>
                <a:latin typeface="FEF3C7"/>
              </a:rPr>
              <a:t>결론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364FA6D-7F25-0334-A7AC-038E2E6A62A5}"/>
              </a:ext>
            </a:extLst>
          </p:cNvPr>
          <p:cNvSpPr txBox="1"/>
          <p:nvPr/>
        </p:nvSpPr>
        <p:spPr>
          <a:xfrm>
            <a:off x="7200900" y="5581650"/>
            <a:ext cx="3619500" cy="2476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ko-KR" altLang="en-US" sz="1300">
                <a:solidFill>
                  <a:srgbClr val="64748B"/>
                </a:solidFill>
                <a:latin typeface="FEF3C7"/>
              </a:rPr>
              <a:t>설계 결과 </a:t>
            </a:r>
            <a:r>
              <a:rPr lang="en-US" altLang="ko-KR" sz="1300">
                <a:solidFill>
                  <a:srgbClr val="64748B"/>
                </a:solidFill>
                <a:latin typeface="FEF3C7"/>
              </a:rPr>
              <a:t>· </a:t>
            </a:r>
            <a:r>
              <a:rPr lang="ko-KR" altLang="en-US" sz="1300">
                <a:solidFill>
                  <a:srgbClr val="64748B"/>
                </a:solidFill>
                <a:latin typeface="FEF3C7"/>
              </a:rPr>
              <a:t>고찰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171C786-90D5-AD4A-9140-F5A741C1C779}"/>
              </a:ext>
            </a:extLst>
          </p:cNvPr>
          <p:cNvSpPr txBox="1"/>
          <p:nvPr/>
        </p:nvSpPr>
        <p:spPr>
          <a:xfrm>
            <a:off x="10763250" y="5410200"/>
            <a:ext cx="952500" cy="2857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pPr algn="r"/>
            <a:r>
              <a:rPr lang="en-US" altLang="ko-KR" sz="1400" b="1">
                <a:solidFill>
                  <a:srgbClr val="2563EB"/>
                </a:solidFill>
                <a:latin typeface="FEF3C7"/>
              </a:rPr>
              <a:t>p.39</a:t>
            </a:r>
            <a:endParaRPr lang="ko-KR" altLang="en-US" sz="1400" b="1">
              <a:solidFill>
                <a:srgbClr val="2563EB"/>
              </a:solidFill>
              <a:latin typeface="FEF3C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4C1D1E1-CB46-A331-138C-67309261A4EA}"/>
              </a:ext>
            </a:extLst>
          </p:cNvPr>
          <p:cNvSpPr txBox="1"/>
          <p:nvPr/>
        </p:nvSpPr>
        <p:spPr>
          <a:xfrm>
            <a:off x="10668000" y="6591300"/>
            <a:ext cx="1143000" cy="19050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pPr algn="r"/>
            <a:r>
              <a:rPr lang="en-US" altLang="ko-KR" sz="1100">
                <a:solidFill>
                  <a:srgbClr val="94A3B8"/>
                </a:solidFill>
                <a:latin typeface="FEF3C7"/>
              </a:rPr>
              <a:t>2 / 39</a:t>
            </a:r>
            <a:endParaRPr lang="ko-KR" altLang="en-US" sz="1100">
              <a:solidFill>
                <a:srgbClr val="94A3B8"/>
              </a:solidFill>
              <a:latin typeface="FEF3C7"/>
            </a:endParaRPr>
          </a:p>
        </p:txBody>
      </p:sp>
    </p:spTree>
    <p:extLst>
      <p:ext uri="{BB962C8B-B14F-4D97-AF65-F5344CB8AC3E}">
        <p14:creationId xmlns:p14="http://schemas.microsoft.com/office/powerpoint/2010/main" val="27879837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0E51FD2-A1B2-8308-EA78-73486C0DB9D5}"/>
              </a:ext>
            </a:extLst>
          </p:cNvPr>
          <p:cNvSpPr txBox="1"/>
          <p:nvPr/>
        </p:nvSpPr>
        <p:spPr>
          <a:xfrm>
            <a:off x="381000" y="133350"/>
            <a:ext cx="9525000" cy="2095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altLang="ko-KR" sz="1300" b="1">
                <a:solidFill>
                  <a:srgbClr val="2563E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01  ·  Debounce </a:t>
            </a:r>
            <a:r>
              <a:rPr lang="ko-KR" altLang="en-US" sz="1300" b="1">
                <a:solidFill>
                  <a:srgbClr val="2563E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개념  </a:t>
            </a:r>
            <a:r>
              <a:rPr lang="en-US" altLang="ko-KR" sz="1300" b="1">
                <a:solidFill>
                  <a:srgbClr val="2563E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 FPGA </a:t>
            </a:r>
            <a:r>
              <a:rPr lang="ko-KR" altLang="en-US" sz="1300" b="1">
                <a:solidFill>
                  <a:srgbClr val="2563E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버튼 회로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55CDC9D-5737-2762-FD2B-BE8A19B7FEDE}"/>
              </a:ext>
            </a:extLst>
          </p:cNvPr>
          <p:cNvSpPr txBox="1"/>
          <p:nvPr/>
        </p:nvSpPr>
        <p:spPr>
          <a:xfrm>
            <a:off x="381000" y="342900"/>
            <a:ext cx="10096500" cy="4381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altLang="ko-KR" sz="2600" b="1">
                <a:solidFill>
                  <a:srgbClr val="0F172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Push Button Pulls the FPGA Pin High Through a Contact</a:t>
            </a:r>
            <a:endParaRPr lang="ko-KR" altLang="en-US" sz="2600" b="1">
              <a:solidFill>
                <a:srgbClr val="0F172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29A7C81-120D-EDCE-3532-A9DBDBB97E76}"/>
              </a:ext>
            </a:extLst>
          </p:cNvPr>
          <p:cNvSpPr/>
          <p:nvPr/>
        </p:nvSpPr>
        <p:spPr>
          <a:xfrm>
            <a:off x="381000" y="819150"/>
            <a:ext cx="666750" cy="381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30E7D1-3790-61EB-43CE-6F3B7555D1E6}"/>
              </a:ext>
            </a:extLst>
          </p:cNvPr>
          <p:cNvSpPr txBox="1"/>
          <p:nvPr/>
        </p:nvSpPr>
        <p:spPr>
          <a:xfrm>
            <a:off x="10572750" y="133350"/>
            <a:ext cx="1238250" cy="60960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pPr algn="r"/>
            <a:r>
              <a:rPr lang="en-US" altLang="ko-KR" sz="4000" b="1">
                <a:solidFill>
                  <a:srgbClr val="BFDBF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01</a:t>
            </a:r>
            <a:endParaRPr lang="ko-KR" altLang="en-US" sz="4000" b="1">
              <a:solidFill>
                <a:srgbClr val="BFDBF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EF35AE-22C1-3AB9-0E87-3FD582F80EBB}"/>
              </a:ext>
            </a:extLst>
          </p:cNvPr>
          <p:cNvSpPr txBox="1"/>
          <p:nvPr/>
        </p:nvSpPr>
        <p:spPr>
          <a:xfrm>
            <a:off x="2190750" y="1066800"/>
            <a:ext cx="762000" cy="22860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pPr algn="ctr"/>
            <a:r>
              <a:rPr lang="en-US" altLang="ko-KR" sz="1600" b="1">
                <a:solidFill>
                  <a:srgbClr val="1F2A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VCC</a:t>
            </a:r>
            <a:endParaRPr lang="ko-KR" altLang="en-US" sz="1600" b="1">
              <a:solidFill>
                <a:srgbClr val="1F2A4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DF77B874-6C1A-303C-BD68-EEEE1040D8C5}"/>
              </a:ext>
            </a:extLst>
          </p:cNvPr>
          <p:cNvCxnSpPr/>
          <p:nvPr/>
        </p:nvCxnSpPr>
        <p:spPr>
          <a:xfrm>
            <a:off x="2571750" y="1295400"/>
            <a:ext cx="0" cy="571500"/>
          </a:xfrm>
          <a:prstGeom prst="line">
            <a:avLst/>
          </a:prstGeom>
          <a:ln w="25400">
            <a:solidFill>
              <a:srgbClr val="1F2A44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타원 7">
            <a:extLst>
              <a:ext uri="{FF2B5EF4-FFF2-40B4-BE49-F238E27FC236}">
                <a16:creationId xmlns:a16="http://schemas.microsoft.com/office/drawing/2014/main" id="{08C8548E-FFA5-581B-7DDF-92F3A0169EB1}"/>
              </a:ext>
            </a:extLst>
          </p:cNvPr>
          <p:cNvSpPr/>
          <p:nvPr/>
        </p:nvSpPr>
        <p:spPr>
          <a:xfrm>
            <a:off x="2505075" y="1866900"/>
            <a:ext cx="133350" cy="13335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F2A4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endParaRPr lang="ko-KR" altLang="en-US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94D291B6-9757-1B18-3C73-C2F7E420D006}"/>
              </a:ext>
            </a:extLst>
          </p:cNvPr>
          <p:cNvSpPr/>
          <p:nvPr/>
        </p:nvSpPr>
        <p:spPr>
          <a:xfrm>
            <a:off x="2505075" y="2495550"/>
            <a:ext cx="133350" cy="13335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F2A4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endParaRPr lang="ko-KR" altLang="en-US"/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FDFE134D-0671-50A4-61C9-BAA3D3B5E9F3}"/>
              </a:ext>
            </a:extLst>
          </p:cNvPr>
          <p:cNvCxnSpPr/>
          <p:nvPr/>
        </p:nvCxnSpPr>
        <p:spPr>
          <a:xfrm>
            <a:off x="2857500" y="1866900"/>
            <a:ext cx="0" cy="762000"/>
          </a:xfrm>
          <a:prstGeom prst="line">
            <a:avLst/>
          </a:prstGeom>
          <a:ln w="38100">
            <a:solidFill>
              <a:srgbClr val="1F2A44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41329F39-3400-E7EA-5857-2766F092CD9C}"/>
              </a:ext>
            </a:extLst>
          </p:cNvPr>
          <p:cNvCxnSpPr/>
          <p:nvPr/>
        </p:nvCxnSpPr>
        <p:spPr>
          <a:xfrm>
            <a:off x="2857500" y="2247900"/>
            <a:ext cx="285750" cy="0"/>
          </a:xfrm>
          <a:prstGeom prst="line">
            <a:avLst/>
          </a:prstGeom>
          <a:ln w="25400">
            <a:solidFill>
              <a:srgbClr val="1F2A44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A7C1891D-07D5-BAB2-DF57-13FAE70CCC7E}"/>
              </a:ext>
            </a:extLst>
          </p:cNvPr>
          <p:cNvSpPr txBox="1"/>
          <p:nvPr/>
        </p:nvSpPr>
        <p:spPr>
          <a:xfrm>
            <a:off x="3200400" y="2133600"/>
            <a:ext cx="1428750" cy="22860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en-US" altLang="ko-KR" sz="1500" b="1">
                <a:solidFill>
                  <a:srgbClr val="1F2A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Push Button</a:t>
            </a:r>
            <a:endParaRPr lang="ko-KR" altLang="en-US" sz="1500" b="1">
              <a:solidFill>
                <a:srgbClr val="1F2A4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371D9111-58DA-E7C6-367D-BDAD9A3E5E8C}"/>
              </a:ext>
            </a:extLst>
          </p:cNvPr>
          <p:cNvCxnSpPr/>
          <p:nvPr/>
        </p:nvCxnSpPr>
        <p:spPr>
          <a:xfrm>
            <a:off x="2571750" y="2628900"/>
            <a:ext cx="0" cy="609600"/>
          </a:xfrm>
          <a:prstGeom prst="line">
            <a:avLst/>
          </a:prstGeom>
          <a:ln w="25400">
            <a:solidFill>
              <a:srgbClr val="1F2A44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타원 13">
            <a:extLst>
              <a:ext uri="{FF2B5EF4-FFF2-40B4-BE49-F238E27FC236}">
                <a16:creationId xmlns:a16="http://schemas.microsoft.com/office/drawing/2014/main" id="{D1AEB1E2-B055-37F7-FA04-90C2FADED747}"/>
              </a:ext>
            </a:extLst>
          </p:cNvPr>
          <p:cNvSpPr/>
          <p:nvPr/>
        </p:nvSpPr>
        <p:spPr>
          <a:xfrm>
            <a:off x="2514600" y="3181350"/>
            <a:ext cx="114300" cy="114300"/>
          </a:xfrm>
          <a:prstGeom prst="ellipse">
            <a:avLst/>
          </a:prstGeom>
          <a:solidFill>
            <a:srgbClr val="1F2A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/>
            <a:endParaRPr lang="ko-KR" altLang="en-US"/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C1EA6EF5-1F5C-9974-2308-F901D5B012D3}"/>
              </a:ext>
            </a:extLst>
          </p:cNvPr>
          <p:cNvCxnSpPr/>
          <p:nvPr/>
        </p:nvCxnSpPr>
        <p:spPr>
          <a:xfrm>
            <a:off x="2571750" y="3238500"/>
            <a:ext cx="1047750" cy="0"/>
          </a:xfrm>
          <a:prstGeom prst="line">
            <a:avLst/>
          </a:prstGeom>
          <a:ln w="25400">
            <a:solidFill>
              <a:srgbClr val="1F2A44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자유형: 도형 15">
            <a:extLst>
              <a:ext uri="{FF2B5EF4-FFF2-40B4-BE49-F238E27FC236}">
                <a16:creationId xmlns:a16="http://schemas.microsoft.com/office/drawing/2014/main" id="{11A2265E-ED89-589E-9D57-58D6888FC96F}"/>
              </a:ext>
            </a:extLst>
          </p:cNvPr>
          <p:cNvSpPr/>
          <p:nvPr/>
        </p:nvSpPr>
        <p:spPr>
          <a:xfrm>
            <a:off x="3619500" y="3124200"/>
            <a:ext cx="952501" cy="228601"/>
          </a:xfrm>
          <a:custGeom>
            <a:avLst/>
            <a:gdLst/>
            <a:ahLst/>
            <a:cxnLst/>
            <a:rect l="0" t="0" r="0" b="0"/>
            <a:pathLst>
              <a:path w="952501" h="228601">
                <a:moveTo>
                  <a:pt x="0" y="114300"/>
                </a:moveTo>
                <a:lnTo>
                  <a:pt x="119063" y="228600"/>
                </a:lnTo>
                <a:lnTo>
                  <a:pt x="238125" y="0"/>
                </a:lnTo>
                <a:lnTo>
                  <a:pt x="357188" y="228600"/>
                </a:lnTo>
                <a:lnTo>
                  <a:pt x="476250" y="0"/>
                </a:lnTo>
                <a:lnTo>
                  <a:pt x="595313" y="228600"/>
                </a:lnTo>
                <a:lnTo>
                  <a:pt x="714375" y="0"/>
                </a:lnTo>
                <a:lnTo>
                  <a:pt x="833438" y="228600"/>
                </a:lnTo>
                <a:lnTo>
                  <a:pt x="952500" y="114300"/>
                </a:lnTo>
              </a:path>
            </a:pathLst>
          </a:custGeom>
          <a:ln w="25400">
            <a:solidFill>
              <a:srgbClr val="1F2A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C93393CD-663B-3CF6-0A89-4D32721574E1}"/>
              </a:ext>
            </a:extLst>
          </p:cNvPr>
          <p:cNvCxnSpPr/>
          <p:nvPr/>
        </p:nvCxnSpPr>
        <p:spPr>
          <a:xfrm>
            <a:off x="4572000" y="3238500"/>
            <a:ext cx="1143000" cy="0"/>
          </a:xfrm>
          <a:prstGeom prst="line">
            <a:avLst/>
          </a:prstGeom>
          <a:ln w="25400">
            <a:solidFill>
              <a:srgbClr val="1F2A44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52528B59-3BFA-200C-4ECE-D3D2BBB15F64}"/>
              </a:ext>
            </a:extLst>
          </p:cNvPr>
          <p:cNvSpPr txBox="1"/>
          <p:nvPr/>
        </p:nvSpPr>
        <p:spPr>
          <a:xfrm>
            <a:off x="3619500" y="2857500"/>
            <a:ext cx="1047750" cy="2095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pPr algn="ctr"/>
            <a:r>
              <a:rPr lang="en-US" altLang="ko-KR" sz="1300" b="1">
                <a:solidFill>
                  <a:srgbClr val="47556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 (series)</a:t>
            </a:r>
            <a:endParaRPr lang="ko-KR" altLang="en-US" sz="1300" b="1">
              <a:solidFill>
                <a:srgbClr val="475569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1FEBFF6B-470A-E042-22B4-70FD175B82FE}"/>
              </a:ext>
            </a:extLst>
          </p:cNvPr>
          <p:cNvSpPr/>
          <p:nvPr/>
        </p:nvSpPr>
        <p:spPr>
          <a:xfrm>
            <a:off x="5715000" y="2857500"/>
            <a:ext cx="1428750" cy="762000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altLang="ko-KR" sz="1600" b="1">
                <a:solidFill>
                  <a:srgbClr val="1F2A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FPGA</a:t>
            </a:r>
          </a:p>
          <a:p>
            <a:pPr algn="ctr"/>
            <a:r>
              <a:rPr lang="en-US" altLang="ko-KR" sz="1600" b="1">
                <a:solidFill>
                  <a:srgbClr val="1F2A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i_btn pin</a:t>
            </a:r>
            <a:endParaRPr lang="ko-KR" altLang="en-US" sz="1600" b="1">
              <a:solidFill>
                <a:srgbClr val="1F2A4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B4F11B30-E16E-0A1F-5372-F8F4ADFCE6FD}"/>
              </a:ext>
            </a:extLst>
          </p:cNvPr>
          <p:cNvCxnSpPr/>
          <p:nvPr/>
        </p:nvCxnSpPr>
        <p:spPr>
          <a:xfrm>
            <a:off x="2571750" y="3238500"/>
            <a:ext cx="0" cy="476250"/>
          </a:xfrm>
          <a:prstGeom prst="line">
            <a:avLst/>
          </a:prstGeom>
          <a:ln w="25400">
            <a:solidFill>
              <a:srgbClr val="1F2A44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자유형: 도형 20">
            <a:extLst>
              <a:ext uri="{FF2B5EF4-FFF2-40B4-BE49-F238E27FC236}">
                <a16:creationId xmlns:a16="http://schemas.microsoft.com/office/drawing/2014/main" id="{8E919B1C-63C4-414A-877D-C7F10861857C}"/>
              </a:ext>
            </a:extLst>
          </p:cNvPr>
          <p:cNvSpPr/>
          <p:nvPr/>
        </p:nvSpPr>
        <p:spPr>
          <a:xfrm>
            <a:off x="2457450" y="3714750"/>
            <a:ext cx="228601" cy="857251"/>
          </a:xfrm>
          <a:custGeom>
            <a:avLst/>
            <a:gdLst/>
            <a:ahLst/>
            <a:cxnLst/>
            <a:rect l="0" t="0" r="0" b="0"/>
            <a:pathLst>
              <a:path w="228601" h="857251">
                <a:moveTo>
                  <a:pt x="114300" y="0"/>
                </a:moveTo>
                <a:lnTo>
                  <a:pt x="228600" y="107156"/>
                </a:lnTo>
                <a:lnTo>
                  <a:pt x="0" y="214313"/>
                </a:lnTo>
                <a:lnTo>
                  <a:pt x="228600" y="321469"/>
                </a:lnTo>
                <a:lnTo>
                  <a:pt x="0" y="428625"/>
                </a:lnTo>
                <a:lnTo>
                  <a:pt x="228600" y="535781"/>
                </a:lnTo>
                <a:lnTo>
                  <a:pt x="0" y="642938"/>
                </a:lnTo>
                <a:lnTo>
                  <a:pt x="228600" y="750094"/>
                </a:lnTo>
                <a:lnTo>
                  <a:pt x="114300" y="857250"/>
                </a:lnTo>
              </a:path>
            </a:pathLst>
          </a:custGeom>
          <a:ln w="25400">
            <a:solidFill>
              <a:srgbClr val="1F2A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0C116583-2EB1-0078-6120-97DC3E8A966D}"/>
              </a:ext>
            </a:extLst>
          </p:cNvPr>
          <p:cNvCxnSpPr/>
          <p:nvPr/>
        </p:nvCxnSpPr>
        <p:spPr>
          <a:xfrm>
            <a:off x="2571750" y="4572000"/>
            <a:ext cx="0" cy="285750"/>
          </a:xfrm>
          <a:prstGeom prst="line">
            <a:avLst/>
          </a:prstGeom>
          <a:ln w="25400">
            <a:solidFill>
              <a:srgbClr val="1F2A44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3377B01B-5ED1-F3EC-5A93-777364CE661A}"/>
              </a:ext>
            </a:extLst>
          </p:cNvPr>
          <p:cNvSpPr txBox="1"/>
          <p:nvPr/>
        </p:nvSpPr>
        <p:spPr>
          <a:xfrm>
            <a:off x="2762250" y="4048125"/>
            <a:ext cx="1524000" cy="2095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en-US" altLang="ko-KR" sz="1300" b="1">
                <a:solidFill>
                  <a:srgbClr val="47556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 (pull-down)</a:t>
            </a:r>
            <a:endParaRPr lang="ko-KR" altLang="en-US" sz="1300" b="1">
              <a:solidFill>
                <a:srgbClr val="475569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96B851C6-1244-2510-F12A-377131200766}"/>
              </a:ext>
            </a:extLst>
          </p:cNvPr>
          <p:cNvCxnSpPr/>
          <p:nvPr/>
        </p:nvCxnSpPr>
        <p:spPr>
          <a:xfrm>
            <a:off x="2286000" y="4857750"/>
            <a:ext cx="571500" cy="0"/>
          </a:xfrm>
          <a:prstGeom prst="line">
            <a:avLst/>
          </a:prstGeom>
          <a:ln w="31750">
            <a:solidFill>
              <a:srgbClr val="1F2A44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5DE9BAA9-DB5E-13FD-4FFA-745966E2D11A}"/>
              </a:ext>
            </a:extLst>
          </p:cNvPr>
          <p:cNvCxnSpPr/>
          <p:nvPr/>
        </p:nvCxnSpPr>
        <p:spPr>
          <a:xfrm>
            <a:off x="2381250" y="4953000"/>
            <a:ext cx="381000" cy="0"/>
          </a:xfrm>
          <a:prstGeom prst="line">
            <a:avLst/>
          </a:prstGeom>
          <a:ln w="25400">
            <a:solidFill>
              <a:srgbClr val="1F2A44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DE1547C3-55D7-E68B-C93B-417D684E849A}"/>
              </a:ext>
            </a:extLst>
          </p:cNvPr>
          <p:cNvCxnSpPr/>
          <p:nvPr/>
        </p:nvCxnSpPr>
        <p:spPr>
          <a:xfrm>
            <a:off x="2476500" y="5048250"/>
            <a:ext cx="190500" cy="0"/>
          </a:xfrm>
          <a:prstGeom prst="line">
            <a:avLst/>
          </a:prstGeom>
          <a:ln w="19050">
            <a:solidFill>
              <a:srgbClr val="1F2A44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30A114F7-8245-CC69-D1B3-D17C838F972D}"/>
              </a:ext>
            </a:extLst>
          </p:cNvPr>
          <p:cNvSpPr txBox="1"/>
          <p:nvPr/>
        </p:nvSpPr>
        <p:spPr>
          <a:xfrm>
            <a:off x="2190750" y="5105400"/>
            <a:ext cx="762000" cy="19050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pPr algn="ctr"/>
            <a:r>
              <a:rPr lang="en-US" altLang="ko-KR" sz="1300" b="1">
                <a:solidFill>
                  <a:srgbClr val="47556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GND</a:t>
            </a:r>
            <a:endParaRPr lang="ko-KR" altLang="en-US" sz="1300" b="1">
              <a:solidFill>
                <a:srgbClr val="475569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826EAB6F-E664-7208-E3CB-1F260748848F}"/>
              </a:ext>
            </a:extLst>
          </p:cNvPr>
          <p:cNvSpPr/>
          <p:nvPr/>
        </p:nvSpPr>
        <p:spPr>
          <a:xfrm>
            <a:off x="2247900" y="1771650"/>
            <a:ext cx="704850" cy="990600"/>
          </a:xfrm>
          <a:prstGeom prst="roundRect">
            <a:avLst/>
          </a:prstGeom>
          <a:noFill/>
          <a:ln w="25400" cap="flat" cmpd="sng" algn="ctr">
            <a:solidFill>
              <a:srgbClr val="DC2626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1E9EEC7-C29F-CC31-7384-482713D89461}"/>
              </a:ext>
            </a:extLst>
          </p:cNvPr>
          <p:cNvSpPr txBox="1"/>
          <p:nvPr/>
        </p:nvSpPr>
        <p:spPr>
          <a:xfrm>
            <a:off x="952500" y="2095500"/>
            <a:ext cx="1238250" cy="38100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pPr algn="r"/>
            <a:r>
              <a:rPr lang="en-US" altLang="ko-KR" sz="1400" b="1">
                <a:solidFill>
                  <a:srgbClr val="DC26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Bounce</a:t>
            </a:r>
          </a:p>
          <a:p>
            <a:pPr algn="r"/>
            <a:r>
              <a:rPr lang="ko-KR" altLang="en-US" sz="1400" b="1">
                <a:solidFill>
                  <a:srgbClr val="DC26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발생 지점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B91B0F17-B071-F1CB-CC42-B81F1A546247}"/>
              </a:ext>
            </a:extLst>
          </p:cNvPr>
          <p:cNvSpPr/>
          <p:nvPr/>
        </p:nvSpPr>
        <p:spPr>
          <a:xfrm>
            <a:off x="7620000" y="1428750"/>
            <a:ext cx="4191000" cy="66675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endParaRPr lang="ko-KR" altLang="en-US"/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89D4B168-5CD6-DAA5-EB73-EE9B64375702}"/>
              </a:ext>
            </a:extLst>
          </p:cNvPr>
          <p:cNvSpPr/>
          <p:nvPr/>
        </p:nvSpPr>
        <p:spPr>
          <a:xfrm>
            <a:off x="7734300" y="1638300"/>
            <a:ext cx="247650" cy="247650"/>
          </a:xfrm>
          <a:prstGeom prst="ellipse">
            <a:avLst/>
          </a:prstGeom>
          <a:solidFill>
            <a:srgbClr val="EA580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/>
            <a:r>
              <a:rPr lang="en-US" altLang="ko-KR" sz="12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120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28E26CB-4CB6-94D8-0BF4-45FC56C853AC}"/>
              </a:ext>
            </a:extLst>
          </p:cNvPr>
          <p:cNvSpPr txBox="1"/>
          <p:nvPr/>
        </p:nvSpPr>
        <p:spPr>
          <a:xfrm>
            <a:off x="8077200" y="1428750"/>
            <a:ext cx="3638550" cy="6667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altLang="ko-KR" sz="1700" b="1">
                <a:solidFill>
                  <a:srgbClr val="1F2A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Push: </a:t>
            </a:r>
            <a:r>
              <a:rPr lang="ko-KR" altLang="en-US" sz="1700" b="1">
                <a:solidFill>
                  <a:srgbClr val="1F2A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접점 연결 → </a:t>
            </a:r>
            <a:r>
              <a:rPr lang="en-US" altLang="ko-KR" sz="1700" b="1">
                <a:solidFill>
                  <a:srgbClr val="1F2A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pin = VCC → 1</a:t>
            </a:r>
            <a:endParaRPr lang="ko-KR" altLang="en-US" sz="1700" b="1">
              <a:solidFill>
                <a:srgbClr val="1F2A4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75134217-FE5B-AA66-9268-C48E53EEF43C}"/>
              </a:ext>
            </a:extLst>
          </p:cNvPr>
          <p:cNvSpPr/>
          <p:nvPr/>
        </p:nvSpPr>
        <p:spPr>
          <a:xfrm>
            <a:off x="7620000" y="2286000"/>
            <a:ext cx="4191000" cy="66675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endParaRPr lang="ko-KR" altLang="en-US"/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E67E6270-A58E-2B8A-0B46-C1996256AC34}"/>
              </a:ext>
            </a:extLst>
          </p:cNvPr>
          <p:cNvSpPr/>
          <p:nvPr/>
        </p:nvSpPr>
        <p:spPr>
          <a:xfrm>
            <a:off x="7734300" y="2495550"/>
            <a:ext cx="247650" cy="247650"/>
          </a:xfrm>
          <a:prstGeom prst="ellipse">
            <a:avLst/>
          </a:prstGeom>
          <a:solidFill>
            <a:srgbClr val="EA580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/>
            <a:r>
              <a:rPr lang="en-US" altLang="ko-KR" sz="12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120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ED8CFAC-1D08-5F43-B085-8AEE4D5881C0}"/>
              </a:ext>
            </a:extLst>
          </p:cNvPr>
          <p:cNvSpPr txBox="1"/>
          <p:nvPr/>
        </p:nvSpPr>
        <p:spPr>
          <a:xfrm>
            <a:off x="8077200" y="2286000"/>
            <a:ext cx="3638550" cy="6667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altLang="ko-KR" sz="1700" b="1">
                <a:solidFill>
                  <a:srgbClr val="1F2A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Pop: </a:t>
            </a:r>
            <a:r>
              <a:rPr lang="ko-KR" altLang="en-US" sz="1700" b="1">
                <a:solidFill>
                  <a:srgbClr val="1F2A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접점 분리 → </a:t>
            </a:r>
            <a:r>
              <a:rPr lang="en-US" altLang="ko-KR" sz="1700" b="1">
                <a:solidFill>
                  <a:srgbClr val="1F2A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pull-down → 0</a:t>
            </a:r>
            <a:endParaRPr lang="ko-KR" altLang="en-US" sz="1700" b="1">
              <a:solidFill>
                <a:srgbClr val="1F2A4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43F4477B-55B6-48DB-3894-A6EB67D7C654}"/>
              </a:ext>
            </a:extLst>
          </p:cNvPr>
          <p:cNvSpPr/>
          <p:nvPr/>
        </p:nvSpPr>
        <p:spPr>
          <a:xfrm>
            <a:off x="7620000" y="3143250"/>
            <a:ext cx="4191000" cy="66675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endParaRPr lang="ko-KR" altLang="en-US"/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A363C8E6-49B6-81B8-6714-4941A91909F5}"/>
              </a:ext>
            </a:extLst>
          </p:cNvPr>
          <p:cNvSpPr/>
          <p:nvPr/>
        </p:nvSpPr>
        <p:spPr>
          <a:xfrm>
            <a:off x="7734300" y="3352800"/>
            <a:ext cx="247650" cy="247650"/>
          </a:xfrm>
          <a:prstGeom prst="ellipse">
            <a:avLst/>
          </a:prstGeom>
          <a:solidFill>
            <a:srgbClr val="EA580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/>
            <a:r>
              <a:rPr lang="en-US" altLang="ko-KR" sz="12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120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8F59D44-DFCB-D0A2-076C-CDE8191E43E8}"/>
              </a:ext>
            </a:extLst>
          </p:cNvPr>
          <p:cNvSpPr txBox="1"/>
          <p:nvPr/>
        </p:nvSpPr>
        <p:spPr>
          <a:xfrm>
            <a:off x="8077200" y="3143250"/>
            <a:ext cx="3638550" cy="6667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altLang="ko-KR" sz="1700" b="1">
                <a:solidFill>
                  <a:srgbClr val="1F2A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Series R: pin </a:t>
            </a:r>
            <a:r>
              <a:rPr lang="ko-KR" altLang="en-US" sz="1700" b="1">
                <a:solidFill>
                  <a:srgbClr val="1F2A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전류 제한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5A45D31E-EE56-9F0A-DE80-600F4A7398AF}"/>
              </a:ext>
            </a:extLst>
          </p:cNvPr>
          <p:cNvSpPr/>
          <p:nvPr/>
        </p:nvSpPr>
        <p:spPr>
          <a:xfrm>
            <a:off x="7620000" y="4000500"/>
            <a:ext cx="4191000" cy="857250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endParaRPr lang="ko-KR" altLang="en-US"/>
          </a:p>
        </p:txBody>
      </p:sp>
      <p:sp>
        <p:nvSpPr>
          <p:cNvPr id="40" name="타원 39">
            <a:extLst>
              <a:ext uri="{FF2B5EF4-FFF2-40B4-BE49-F238E27FC236}">
                <a16:creationId xmlns:a16="http://schemas.microsoft.com/office/drawing/2014/main" id="{3D4416CB-0158-1C50-780C-5BE57C7D48D7}"/>
              </a:ext>
            </a:extLst>
          </p:cNvPr>
          <p:cNvSpPr/>
          <p:nvPr/>
        </p:nvSpPr>
        <p:spPr>
          <a:xfrm>
            <a:off x="7734300" y="4305300"/>
            <a:ext cx="247650" cy="247650"/>
          </a:xfrm>
          <a:prstGeom prst="ellipse">
            <a:avLst/>
          </a:prstGeom>
          <a:solidFill>
            <a:srgbClr val="EA580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/>
            <a:r>
              <a:rPr lang="en-US" altLang="ko-KR" sz="12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!</a:t>
            </a:r>
            <a:endParaRPr lang="ko-KR" altLang="en-US" sz="120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401796A-8B9E-42DB-9329-2E239B178FD3}"/>
              </a:ext>
            </a:extLst>
          </p:cNvPr>
          <p:cNvSpPr txBox="1"/>
          <p:nvPr/>
        </p:nvSpPr>
        <p:spPr>
          <a:xfrm>
            <a:off x="8077200" y="4000500"/>
            <a:ext cx="3638550" cy="8572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ko-KR" altLang="en-US" sz="1700" b="1">
                <a:solidFill>
                  <a:srgbClr val="DC26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접점 </a:t>
            </a:r>
            <a:r>
              <a:rPr lang="en-US" altLang="ko-KR" sz="1700" b="1">
                <a:solidFill>
                  <a:srgbClr val="DC26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= </a:t>
            </a:r>
            <a:r>
              <a:rPr lang="ko-KR" altLang="en-US" sz="1700" b="1">
                <a:solidFill>
                  <a:srgbClr val="DC26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금속 판 충돌</a:t>
            </a:r>
          </a:p>
          <a:p>
            <a:r>
              <a:rPr lang="ko-KR" altLang="en-US" sz="1700" b="1">
                <a:solidFill>
                  <a:srgbClr val="DC26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→ 붙었다 떨어짐 반복 </a:t>
            </a:r>
            <a:r>
              <a:rPr lang="en-US" altLang="ko-KR" sz="1700" b="1">
                <a:solidFill>
                  <a:srgbClr val="DC26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(bounce)</a:t>
            </a:r>
            <a:endParaRPr lang="ko-KR" altLang="en-US" sz="1700" b="1">
              <a:solidFill>
                <a:srgbClr val="DC2626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F38FF32-B532-888C-9CAB-FCB4FE61D877}"/>
              </a:ext>
            </a:extLst>
          </p:cNvPr>
          <p:cNvSpPr txBox="1"/>
          <p:nvPr/>
        </p:nvSpPr>
        <p:spPr>
          <a:xfrm>
            <a:off x="10668000" y="6591300"/>
            <a:ext cx="1143000" cy="19050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pPr algn="r"/>
            <a:r>
              <a:rPr lang="en-US" altLang="ko-KR" sz="1100">
                <a:solidFill>
                  <a:srgbClr val="94A3B8"/>
                </a:solidFill>
                <a:latin typeface="FEF3C7"/>
              </a:rPr>
              <a:t>4 / 39</a:t>
            </a:r>
            <a:endParaRPr lang="ko-KR" altLang="en-US" sz="1100">
              <a:solidFill>
                <a:srgbClr val="94A3B8"/>
              </a:solidFill>
              <a:latin typeface="FEF3C7"/>
            </a:endParaRPr>
          </a:p>
        </p:txBody>
      </p:sp>
    </p:spTree>
    <p:extLst>
      <p:ext uri="{BB962C8B-B14F-4D97-AF65-F5344CB8AC3E}">
        <p14:creationId xmlns:p14="http://schemas.microsoft.com/office/powerpoint/2010/main" val="3612411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2758836-C6FF-0F46-4C7E-3A6EFD229C55}"/>
              </a:ext>
            </a:extLst>
          </p:cNvPr>
          <p:cNvSpPr txBox="1"/>
          <p:nvPr/>
        </p:nvSpPr>
        <p:spPr>
          <a:xfrm>
            <a:off x="381000" y="133350"/>
            <a:ext cx="9525000" cy="2095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altLang="ko-KR" sz="1300" b="1">
                <a:solidFill>
                  <a:srgbClr val="2563E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01  ·  Debounce </a:t>
            </a:r>
            <a:r>
              <a:rPr lang="ko-KR" altLang="en-US" sz="1300" b="1">
                <a:solidFill>
                  <a:srgbClr val="2563E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개념  </a:t>
            </a:r>
            <a:r>
              <a:rPr lang="en-US" altLang="ko-KR" sz="1300" b="1">
                <a:solidFill>
                  <a:srgbClr val="2563E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 Bounce</a:t>
            </a:r>
            <a:endParaRPr lang="ko-KR" altLang="en-US" sz="1300" b="1">
              <a:solidFill>
                <a:srgbClr val="2563EB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601DC4-5CAA-0CF7-D43E-D5B2DEFAC7C6}"/>
              </a:ext>
            </a:extLst>
          </p:cNvPr>
          <p:cNvSpPr txBox="1"/>
          <p:nvPr/>
        </p:nvSpPr>
        <p:spPr>
          <a:xfrm>
            <a:off x="381000" y="342900"/>
            <a:ext cx="10096500" cy="4381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altLang="ko-KR" sz="2600" b="1">
                <a:solidFill>
                  <a:srgbClr val="0F172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Contact Bounce Repeats 0 / 1 at Push and Pop</a:t>
            </a:r>
            <a:endParaRPr lang="ko-KR" altLang="en-US" sz="2600" b="1">
              <a:solidFill>
                <a:srgbClr val="0F172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295A4F5-215F-FF4D-81B5-9AC2AD9B75EB}"/>
              </a:ext>
            </a:extLst>
          </p:cNvPr>
          <p:cNvSpPr/>
          <p:nvPr/>
        </p:nvSpPr>
        <p:spPr>
          <a:xfrm>
            <a:off x="381000" y="819150"/>
            <a:ext cx="666750" cy="381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B92EFE-22D3-F84C-E214-5C7314791804}"/>
              </a:ext>
            </a:extLst>
          </p:cNvPr>
          <p:cNvSpPr txBox="1"/>
          <p:nvPr/>
        </p:nvSpPr>
        <p:spPr>
          <a:xfrm>
            <a:off x="10572750" y="133350"/>
            <a:ext cx="1238250" cy="60960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pPr algn="r"/>
            <a:r>
              <a:rPr lang="en-US" altLang="ko-KR" sz="4000" b="1">
                <a:solidFill>
                  <a:srgbClr val="BFDBF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01</a:t>
            </a:r>
            <a:endParaRPr lang="ko-KR" altLang="en-US" sz="4000" b="1">
              <a:solidFill>
                <a:srgbClr val="BFDBF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314CE9-AF6E-FA7E-8DBA-3449A8CCD734}"/>
              </a:ext>
            </a:extLst>
          </p:cNvPr>
          <p:cNvSpPr txBox="1"/>
          <p:nvPr/>
        </p:nvSpPr>
        <p:spPr>
          <a:xfrm>
            <a:off x="381000" y="1428750"/>
            <a:ext cx="1143000" cy="22860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en-US" altLang="ko-KR" sz="1700" b="1">
                <a:solidFill>
                  <a:srgbClr val="94A3B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Ideal</a:t>
            </a:r>
            <a:endParaRPr lang="ko-KR" altLang="en-US" sz="1700" b="1">
              <a:solidFill>
                <a:srgbClr val="94A3B8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자유형: 도형 6">
            <a:extLst>
              <a:ext uri="{FF2B5EF4-FFF2-40B4-BE49-F238E27FC236}">
                <a16:creationId xmlns:a16="http://schemas.microsoft.com/office/drawing/2014/main" id="{FFC853C6-D044-82B5-F7EA-B44093D62EC1}"/>
              </a:ext>
            </a:extLst>
          </p:cNvPr>
          <p:cNvSpPr/>
          <p:nvPr/>
        </p:nvSpPr>
        <p:spPr>
          <a:xfrm>
            <a:off x="1714500" y="1333500"/>
            <a:ext cx="9144001" cy="476251"/>
          </a:xfrm>
          <a:custGeom>
            <a:avLst/>
            <a:gdLst/>
            <a:ahLst/>
            <a:cxnLst/>
            <a:rect l="0" t="0" r="0" b="0"/>
            <a:pathLst>
              <a:path w="9144001" h="476251">
                <a:moveTo>
                  <a:pt x="0" y="476250"/>
                </a:moveTo>
                <a:lnTo>
                  <a:pt x="914400" y="476250"/>
                </a:lnTo>
                <a:lnTo>
                  <a:pt x="914400" y="0"/>
                </a:lnTo>
                <a:lnTo>
                  <a:pt x="7315200" y="0"/>
                </a:lnTo>
                <a:lnTo>
                  <a:pt x="7315200" y="476250"/>
                </a:lnTo>
                <a:lnTo>
                  <a:pt x="9144000" y="476250"/>
                </a:lnTo>
              </a:path>
            </a:pathLst>
          </a:custGeom>
          <a:ln w="317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73670B-5412-B8CC-8369-76BA3BC16770}"/>
              </a:ext>
            </a:extLst>
          </p:cNvPr>
          <p:cNvSpPr txBox="1"/>
          <p:nvPr/>
        </p:nvSpPr>
        <p:spPr>
          <a:xfrm>
            <a:off x="381000" y="2762250"/>
            <a:ext cx="1143000" cy="22860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en-US" altLang="ko-KR" sz="1700" b="1">
                <a:solidFill>
                  <a:srgbClr val="1F2A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i_btn</a:t>
            </a:r>
            <a:endParaRPr lang="ko-KR" altLang="en-US" sz="1700" b="1">
              <a:solidFill>
                <a:srgbClr val="1F2A4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자유형: 도형 8">
            <a:extLst>
              <a:ext uri="{FF2B5EF4-FFF2-40B4-BE49-F238E27FC236}">
                <a16:creationId xmlns:a16="http://schemas.microsoft.com/office/drawing/2014/main" id="{3F9239C5-245B-FDA6-E631-24CEDDAD8619}"/>
              </a:ext>
            </a:extLst>
          </p:cNvPr>
          <p:cNvSpPr/>
          <p:nvPr/>
        </p:nvSpPr>
        <p:spPr>
          <a:xfrm>
            <a:off x="1714500" y="2667000"/>
            <a:ext cx="9144001" cy="476251"/>
          </a:xfrm>
          <a:custGeom>
            <a:avLst/>
            <a:gdLst/>
            <a:ahLst/>
            <a:cxnLst/>
            <a:rect l="0" t="0" r="0" b="0"/>
            <a:pathLst>
              <a:path w="9144001" h="476251">
                <a:moveTo>
                  <a:pt x="0" y="476250"/>
                </a:moveTo>
                <a:lnTo>
                  <a:pt x="914400" y="476250"/>
                </a:lnTo>
                <a:lnTo>
                  <a:pt x="914400" y="0"/>
                </a:lnTo>
                <a:lnTo>
                  <a:pt x="1066800" y="0"/>
                </a:lnTo>
                <a:lnTo>
                  <a:pt x="1066800" y="476250"/>
                </a:lnTo>
                <a:lnTo>
                  <a:pt x="1219200" y="476250"/>
                </a:lnTo>
                <a:lnTo>
                  <a:pt x="1219200" y="0"/>
                </a:lnTo>
                <a:lnTo>
                  <a:pt x="1371600" y="0"/>
                </a:lnTo>
                <a:lnTo>
                  <a:pt x="1371600" y="476250"/>
                </a:lnTo>
                <a:lnTo>
                  <a:pt x="1676400" y="476250"/>
                </a:lnTo>
                <a:lnTo>
                  <a:pt x="1676400" y="0"/>
                </a:lnTo>
                <a:lnTo>
                  <a:pt x="7315200" y="0"/>
                </a:lnTo>
                <a:lnTo>
                  <a:pt x="7315200" y="476250"/>
                </a:lnTo>
                <a:lnTo>
                  <a:pt x="7467600" y="476250"/>
                </a:lnTo>
                <a:lnTo>
                  <a:pt x="7467600" y="0"/>
                </a:lnTo>
                <a:lnTo>
                  <a:pt x="7772400" y="0"/>
                </a:lnTo>
                <a:lnTo>
                  <a:pt x="7772400" y="476250"/>
                </a:lnTo>
                <a:lnTo>
                  <a:pt x="7924800" y="476250"/>
                </a:lnTo>
                <a:lnTo>
                  <a:pt x="7924800" y="0"/>
                </a:lnTo>
                <a:lnTo>
                  <a:pt x="8077200" y="0"/>
                </a:lnTo>
                <a:lnTo>
                  <a:pt x="8077200" y="476250"/>
                </a:lnTo>
                <a:lnTo>
                  <a:pt x="9144000" y="476250"/>
                </a:lnTo>
              </a:path>
            </a:pathLst>
          </a:custGeom>
          <a:ln w="31750">
            <a:solidFill>
              <a:srgbClr val="1F2A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D2FA8726-88D5-2D0D-6D6F-4D650DE548D4}"/>
              </a:ext>
            </a:extLst>
          </p:cNvPr>
          <p:cNvSpPr/>
          <p:nvPr/>
        </p:nvSpPr>
        <p:spPr>
          <a:xfrm>
            <a:off x="2533650" y="2495550"/>
            <a:ext cx="1219200" cy="838200"/>
          </a:xfrm>
          <a:prstGeom prst="roundRect">
            <a:avLst/>
          </a:prstGeom>
          <a:noFill/>
          <a:ln w="25400" cap="flat" cmpd="sng" algn="ctr">
            <a:solidFill>
              <a:srgbClr val="DC2626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/>
            <a:endParaRPr lang="ko-KR" altLang="en-US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79E254BB-A5F6-2E8E-9938-0951A38633FB}"/>
              </a:ext>
            </a:extLst>
          </p:cNvPr>
          <p:cNvSpPr/>
          <p:nvPr/>
        </p:nvSpPr>
        <p:spPr>
          <a:xfrm>
            <a:off x="8953500" y="2495550"/>
            <a:ext cx="1219200" cy="838200"/>
          </a:xfrm>
          <a:prstGeom prst="roundRect">
            <a:avLst/>
          </a:prstGeom>
          <a:noFill/>
          <a:ln w="25400" cap="flat" cmpd="sng" algn="ctr">
            <a:solidFill>
              <a:srgbClr val="DC2626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06733BC-D2A0-242A-2AD4-9A424D37F0A5}"/>
              </a:ext>
            </a:extLst>
          </p:cNvPr>
          <p:cNvSpPr txBox="1"/>
          <p:nvPr/>
        </p:nvSpPr>
        <p:spPr>
          <a:xfrm>
            <a:off x="2533650" y="2247900"/>
            <a:ext cx="1219200" cy="22860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pPr algn="ctr"/>
            <a:r>
              <a:rPr lang="en-US" altLang="ko-KR" sz="1600" b="1">
                <a:solidFill>
                  <a:srgbClr val="DC26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Push</a:t>
            </a:r>
            <a:endParaRPr lang="ko-KR" altLang="en-US" sz="1600" b="1">
              <a:solidFill>
                <a:srgbClr val="DC2626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88F8F6C-8D65-3543-8645-6ACA342A39D4}"/>
              </a:ext>
            </a:extLst>
          </p:cNvPr>
          <p:cNvSpPr txBox="1"/>
          <p:nvPr/>
        </p:nvSpPr>
        <p:spPr>
          <a:xfrm>
            <a:off x="8953500" y="2247900"/>
            <a:ext cx="1219200" cy="22860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pPr algn="ctr"/>
            <a:r>
              <a:rPr lang="en-US" altLang="ko-KR" sz="1600" b="1">
                <a:solidFill>
                  <a:srgbClr val="DC26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Pop</a:t>
            </a:r>
            <a:endParaRPr lang="ko-KR" altLang="en-US" sz="1600" b="1">
              <a:solidFill>
                <a:srgbClr val="DC2626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65A5207-0A9F-71FD-B4AA-361483E0095E}"/>
              </a:ext>
            </a:extLst>
          </p:cNvPr>
          <p:cNvSpPr/>
          <p:nvPr/>
        </p:nvSpPr>
        <p:spPr>
          <a:xfrm>
            <a:off x="1714500" y="4000500"/>
            <a:ext cx="4572000" cy="66675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endParaRPr lang="ko-KR" altLang="en-US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080612D0-F3C7-28AA-1FFC-6B0AFBD4E88C}"/>
              </a:ext>
            </a:extLst>
          </p:cNvPr>
          <p:cNvSpPr/>
          <p:nvPr/>
        </p:nvSpPr>
        <p:spPr>
          <a:xfrm>
            <a:off x="1828800" y="4210050"/>
            <a:ext cx="247650" cy="247650"/>
          </a:xfrm>
          <a:prstGeom prst="ellipse">
            <a:avLst/>
          </a:prstGeom>
          <a:solidFill>
            <a:srgbClr val="EA580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/>
            <a:r>
              <a:rPr lang="en-US" altLang="ko-KR" sz="12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120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46232AC-9A6E-6431-B228-FBCDB7242100}"/>
              </a:ext>
            </a:extLst>
          </p:cNvPr>
          <p:cNvSpPr txBox="1"/>
          <p:nvPr/>
        </p:nvSpPr>
        <p:spPr>
          <a:xfrm>
            <a:off x="2171700" y="4000500"/>
            <a:ext cx="4019550" cy="6667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altLang="ko-KR" sz="1700" b="1">
                <a:solidFill>
                  <a:srgbClr val="1F2A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Push: </a:t>
            </a:r>
            <a:r>
              <a:rPr lang="ko-KR" altLang="en-US" sz="1700" b="1">
                <a:solidFill>
                  <a:srgbClr val="1F2A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접점 충돌 후 반발 → </a:t>
            </a:r>
            <a:r>
              <a:rPr lang="en-US" altLang="ko-KR" sz="1700" b="1">
                <a:solidFill>
                  <a:srgbClr val="1F2A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 / 1 </a:t>
            </a:r>
            <a:r>
              <a:rPr lang="ko-KR" altLang="en-US" sz="1700" b="1">
                <a:solidFill>
                  <a:srgbClr val="1F2A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반복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7BE26C52-B89C-52FC-C8AD-9749AE619ECB}"/>
              </a:ext>
            </a:extLst>
          </p:cNvPr>
          <p:cNvSpPr/>
          <p:nvPr/>
        </p:nvSpPr>
        <p:spPr>
          <a:xfrm>
            <a:off x="6667500" y="4000500"/>
            <a:ext cx="4572000" cy="66675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endParaRPr lang="ko-KR" altLang="en-US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3C89CAA6-40EF-E3B0-89FA-251E5E028466}"/>
              </a:ext>
            </a:extLst>
          </p:cNvPr>
          <p:cNvSpPr/>
          <p:nvPr/>
        </p:nvSpPr>
        <p:spPr>
          <a:xfrm>
            <a:off x="6781800" y="4210050"/>
            <a:ext cx="247650" cy="247650"/>
          </a:xfrm>
          <a:prstGeom prst="ellipse">
            <a:avLst/>
          </a:prstGeom>
          <a:solidFill>
            <a:srgbClr val="EA580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/>
            <a:r>
              <a:rPr lang="en-US" altLang="ko-KR" sz="12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120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76371A5-5E7E-A264-FCAB-D9F8E22A96B5}"/>
              </a:ext>
            </a:extLst>
          </p:cNvPr>
          <p:cNvSpPr txBox="1"/>
          <p:nvPr/>
        </p:nvSpPr>
        <p:spPr>
          <a:xfrm>
            <a:off x="7124700" y="4000500"/>
            <a:ext cx="4019550" cy="6667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altLang="ko-KR" sz="1700" b="1">
                <a:solidFill>
                  <a:srgbClr val="1F2A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Pop: </a:t>
            </a:r>
            <a:r>
              <a:rPr lang="ko-KR" altLang="en-US" sz="1700" b="1">
                <a:solidFill>
                  <a:srgbClr val="1F2A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접점 분리 순간 진동 → </a:t>
            </a:r>
            <a:r>
              <a:rPr lang="en-US" altLang="ko-KR" sz="1700" b="1">
                <a:solidFill>
                  <a:srgbClr val="1F2A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 / 1 </a:t>
            </a:r>
            <a:r>
              <a:rPr lang="ko-KR" altLang="en-US" sz="1700" b="1">
                <a:solidFill>
                  <a:srgbClr val="1F2A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반복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05B2C3C1-7F9D-9CE6-E8F3-2DE5488C40E2}"/>
              </a:ext>
            </a:extLst>
          </p:cNvPr>
          <p:cNvSpPr/>
          <p:nvPr/>
        </p:nvSpPr>
        <p:spPr>
          <a:xfrm>
            <a:off x="1714500" y="4857750"/>
            <a:ext cx="9525000" cy="666750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6CE0AC9-ECDF-30CC-C4ED-B2CFE62D4B2E}"/>
              </a:ext>
            </a:extLst>
          </p:cNvPr>
          <p:cNvSpPr txBox="1"/>
          <p:nvPr/>
        </p:nvSpPr>
        <p:spPr>
          <a:xfrm>
            <a:off x="1847850" y="4857750"/>
            <a:ext cx="9296400" cy="6667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altLang="ko-KR" sz="1700" b="1">
                <a:solidFill>
                  <a:srgbClr val="DC26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Mechanical scattering noise: </a:t>
            </a:r>
            <a:r>
              <a:rPr lang="ko-KR" altLang="en-US" sz="1700" b="1">
                <a:solidFill>
                  <a:srgbClr val="DC26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금속 접점의 탄성으로 수 차례 붙었다 떨어지는 현상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AE0EB22-F337-8C63-3597-CCD7397FEA0C}"/>
              </a:ext>
            </a:extLst>
          </p:cNvPr>
          <p:cNvSpPr txBox="1"/>
          <p:nvPr/>
        </p:nvSpPr>
        <p:spPr>
          <a:xfrm>
            <a:off x="10668000" y="6591300"/>
            <a:ext cx="1143000" cy="19050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pPr algn="r"/>
            <a:r>
              <a:rPr lang="en-US" altLang="ko-KR" sz="1100">
                <a:solidFill>
                  <a:srgbClr val="94A3B8"/>
                </a:solidFill>
                <a:latin typeface="FEF3C7"/>
              </a:rPr>
              <a:t>5 / 39</a:t>
            </a:r>
            <a:endParaRPr lang="ko-KR" altLang="en-US" sz="1100">
              <a:solidFill>
                <a:srgbClr val="94A3B8"/>
              </a:solidFill>
              <a:latin typeface="FEF3C7"/>
            </a:endParaRPr>
          </a:p>
        </p:txBody>
      </p:sp>
    </p:spTree>
    <p:extLst>
      <p:ext uri="{BB962C8B-B14F-4D97-AF65-F5344CB8AC3E}">
        <p14:creationId xmlns:p14="http://schemas.microsoft.com/office/powerpoint/2010/main" val="14939617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536A4DA-A07C-1116-CD8F-77CB15DCB1B7}"/>
              </a:ext>
            </a:extLst>
          </p:cNvPr>
          <p:cNvSpPr txBox="1"/>
          <p:nvPr/>
        </p:nvSpPr>
        <p:spPr>
          <a:xfrm>
            <a:off x="381000" y="133350"/>
            <a:ext cx="9525000" cy="2095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altLang="ko-KR" sz="1300" b="1">
                <a:solidFill>
                  <a:srgbClr val="2563E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01  ·  Debounce </a:t>
            </a:r>
            <a:r>
              <a:rPr lang="ko-KR" altLang="en-US" sz="1300" b="1">
                <a:solidFill>
                  <a:srgbClr val="2563E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개념  </a:t>
            </a:r>
            <a:r>
              <a:rPr lang="en-US" altLang="ko-KR" sz="1300" b="1">
                <a:solidFill>
                  <a:srgbClr val="2563E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 </a:t>
            </a:r>
            <a:r>
              <a:rPr lang="ko-KR" altLang="en-US" sz="1300" b="1">
                <a:solidFill>
                  <a:srgbClr val="2563E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치명적인 이유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3A93D5-0BEC-14F9-C56D-9306D328E436}"/>
              </a:ext>
            </a:extLst>
          </p:cNvPr>
          <p:cNvSpPr txBox="1"/>
          <p:nvPr/>
        </p:nvSpPr>
        <p:spPr>
          <a:xfrm>
            <a:off x="381000" y="342900"/>
            <a:ext cx="10096500" cy="4381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altLang="ko-KR" sz="2600" b="1">
                <a:solidFill>
                  <a:srgbClr val="0F172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One Press Becomes Several Rising Edges and Toggles</a:t>
            </a:r>
            <a:endParaRPr lang="ko-KR" altLang="en-US" sz="2600" b="1">
              <a:solidFill>
                <a:srgbClr val="0F172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566A624-3961-9133-D21A-77B596805580}"/>
              </a:ext>
            </a:extLst>
          </p:cNvPr>
          <p:cNvSpPr/>
          <p:nvPr/>
        </p:nvSpPr>
        <p:spPr>
          <a:xfrm>
            <a:off x="381000" y="819150"/>
            <a:ext cx="666750" cy="381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6DF84F-F48D-D7F5-0B9F-4C6E19D58AF7}"/>
              </a:ext>
            </a:extLst>
          </p:cNvPr>
          <p:cNvSpPr txBox="1"/>
          <p:nvPr/>
        </p:nvSpPr>
        <p:spPr>
          <a:xfrm>
            <a:off x="10572750" y="133350"/>
            <a:ext cx="1238250" cy="60960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pPr algn="r"/>
            <a:r>
              <a:rPr lang="en-US" altLang="ko-KR" sz="4000" b="1">
                <a:solidFill>
                  <a:srgbClr val="BFDBF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01</a:t>
            </a:r>
            <a:endParaRPr lang="ko-KR" altLang="en-US" sz="4000" b="1">
              <a:solidFill>
                <a:srgbClr val="BFDBF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FDFF0E-2B30-95A1-5A22-AF0748E8E609}"/>
              </a:ext>
            </a:extLst>
          </p:cNvPr>
          <p:cNvSpPr txBox="1"/>
          <p:nvPr/>
        </p:nvSpPr>
        <p:spPr>
          <a:xfrm>
            <a:off x="381000" y="1619250"/>
            <a:ext cx="1047750" cy="22860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en-US" altLang="ko-KR" sz="1700" b="1">
                <a:solidFill>
                  <a:srgbClr val="1F2A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i_btn</a:t>
            </a:r>
            <a:endParaRPr lang="ko-KR" altLang="en-US" sz="1700" b="1">
              <a:solidFill>
                <a:srgbClr val="1F2A4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자유형: 도형 6">
            <a:extLst>
              <a:ext uri="{FF2B5EF4-FFF2-40B4-BE49-F238E27FC236}">
                <a16:creationId xmlns:a16="http://schemas.microsoft.com/office/drawing/2014/main" id="{95CDF006-3376-7451-2FDE-2B6AA6B3C0F3}"/>
              </a:ext>
            </a:extLst>
          </p:cNvPr>
          <p:cNvSpPr/>
          <p:nvPr/>
        </p:nvSpPr>
        <p:spPr>
          <a:xfrm>
            <a:off x="1524000" y="1524000"/>
            <a:ext cx="9715501" cy="476251"/>
          </a:xfrm>
          <a:custGeom>
            <a:avLst/>
            <a:gdLst/>
            <a:ahLst/>
            <a:cxnLst/>
            <a:rect l="0" t="0" r="0" b="0"/>
            <a:pathLst>
              <a:path w="9715501" h="476251">
                <a:moveTo>
                  <a:pt x="0" y="476250"/>
                </a:moveTo>
                <a:lnTo>
                  <a:pt x="1295400" y="476250"/>
                </a:lnTo>
                <a:lnTo>
                  <a:pt x="1295400" y="0"/>
                </a:lnTo>
                <a:lnTo>
                  <a:pt x="1619250" y="0"/>
                </a:lnTo>
                <a:lnTo>
                  <a:pt x="1619250" y="476250"/>
                </a:lnTo>
                <a:lnTo>
                  <a:pt x="1943100" y="476250"/>
                </a:lnTo>
                <a:lnTo>
                  <a:pt x="1943100" y="0"/>
                </a:lnTo>
                <a:lnTo>
                  <a:pt x="2590800" y="0"/>
                </a:lnTo>
                <a:lnTo>
                  <a:pt x="2590800" y="476250"/>
                </a:lnTo>
                <a:lnTo>
                  <a:pt x="2914650" y="476250"/>
                </a:lnTo>
                <a:lnTo>
                  <a:pt x="2914650" y="0"/>
                </a:lnTo>
                <a:lnTo>
                  <a:pt x="3238500" y="0"/>
                </a:lnTo>
                <a:lnTo>
                  <a:pt x="3238500" y="476250"/>
                </a:lnTo>
                <a:lnTo>
                  <a:pt x="3886200" y="476250"/>
                </a:lnTo>
                <a:lnTo>
                  <a:pt x="3886200" y="0"/>
                </a:lnTo>
                <a:lnTo>
                  <a:pt x="8420100" y="0"/>
                </a:lnTo>
                <a:lnTo>
                  <a:pt x="8420100" y="476250"/>
                </a:lnTo>
                <a:lnTo>
                  <a:pt x="9715500" y="476250"/>
                </a:lnTo>
              </a:path>
            </a:pathLst>
          </a:custGeom>
          <a:ln w="31750">
            <a:solidFill>
              <a:srgbClr val="1F2A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EB0ECE6F-EC32-79B2-BAF6-4CBB037C4AF6}"/>
              </a:ext>
            </a:extLst>
          </p:cNvPr>
          <p:cNvCxnSpPr/>
          <p:nvPr/>
        </p:nvCxnSpPr>
        <p:spPr>
          <a:xfrm>
            <a:off x="2819400" y="1428750"/>
            <a:ext cx="0" cy="1714500"/>
          </a:xfrm>
          <a:prstGeom prst="line">
            <a:avLst/>
          </a:prstGeom>
          <a:ln w="19050">
            <a:solidFill>
              <a:srgbClr val="F9731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타원 8">
            <a:extLst>
              <a:ext uri="{FF2B5EF4-FFF2-40B4-BE49-F238E27FC236}">
                <a16:creationId xmlns:a16="http://schemas.microsoft.com/office/drawing/2014/main" id="{EC75E3D0-0C47-FB12-001B-0186ACE1EB73}"/>
              </a:ext>
            </a:extLst>
          </p:cNvPr>
          <p:cNvSpPr/>
          <p:nvPr/>
        </p:nvSpPr>
        <p:spPr>
          <a:xfrm>
            <a:off x="2714625" y="1181100"/>
            <a:ext cx="209550" cy="209550"/>
          </a:xfrm>
          <a:prstGeom prst="ellipse">
            <a:avLst/>
          </a:prstGeom>
          <a:solidFill>
            <a:srgbClr val="EA580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/>
            <a:r>
              <a:rPr lang="en-US" altLang="ko-KR" sz="11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110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AE9D9416-CB89-58D5-52FF-AE737C2BF82D}"/>
              </a:ext>
            </a:extLst>
          </p:cNvPr>
          <p:cNvCxnSpPr/>
          <p:nvPr/>
        </p:nvCxnSpPr>
        <p:spPr>
          <a:xfrm>
            <a:off x="3467100" y="1428750"/>
            <a:ext cx="0" cy="1714500"/>
          </a:xfrm>
          <a:prstGeom prst="line">
            <a:avLst/>
          </a:prstGeom>
          <a:ln w="19050">
            <a:solidFill>
              <a:srgbClr val="F9731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타원 10">
            <a:extLst>
              <a:ext uri="{FF2B5EF4-FFF2-40B4-BE49-F238E27FC236}">
                <a16:creationId xmlns:a16="http://schemas.microsoft.com/office/drawing/2014/main" id="{42555198-4313-6DB7-5097-D96ECA0DCAC3}"/>
              </a:ext>
            </a:extLst>
          </p:cNvPr>
          <p:cNvSpPr/>
          <p:nvPr/>
        </p:nvSpPr>
        <p:spPr>
          <a:xfrm>
            <a:off x="3362325" y="1181100"/>
            <a:ext cx="209550" cy="209550"/>
          </a:xfrm>
          <a:prstGeom prst="ellipse">
            <a:avLst/>
          </a:prstGeom>
          <a:solidFill>
            <a:srgbClr val="EA580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/>
            <a:r>
              <a:rPr lang="en-US" altLang="ko-KR" sz="11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110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C072A717-F75C-EEE5-2A4B-B03F4DADC76A}"/>
              </a:ext>
            </a:extLst>
          </p:cNvPr>
          <p:cNvCxnSpPr/>
          <p:nvPr/>
        </p:nvCxnSpPr>
        <p:spPr>
          <a:xfrm>
            <a:off x="4438650" y="1428750"/>
            <a:ext cx="0" cy="1714500"/>
          </a:xfrm>
          <a:prstGeom prst="line">
            <a:avLst/>
          </a:prstGeom>
          <a:ln w="19050">
            <a:solidFill>
              <a:srgbClr val="F9731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타원 12">
            <a:extLst>
              <a:ext uri="{FF2B5EF4-FFF2-40B4-BE49-F238E27FC236}">
                <a16:creationId xmlns:a16="http://schemas.microsoft.com/office/drawing/2014/main" id="{86EC0AAA-6904-B341-9AE5-03D2C77084A9}"/>
              </a:ext>
            </a:extLst>
          </p:cNvPr>
          <p:cNvSpPr/>
          <p:nvPr/>
        </p:nvSpPr>
        <p:spPr>
          <a:xfrm>
            <a:off x="4333875" y="1181100"/>
            <a:ext cx="209550" cy="209550"/>
          </a:xfrm>
          <a:prstGeom prst="ellipse">
            <a:avLst/>
          </a:prstGeom>
          <a:solidFill>
            <a:srgbClr val="EA580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/>
            <a:r>
              <a:rPr lang="en-US" altLang="ko-KR" sz="11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110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42854FB7-6F47-2047-1942-4B7FB42D000F}"/>
              </a:ext>
            </a:extLst>
          </p:cNvPr>
          <p:cNvCxnSpPr/>
          <p:nvPr/>
        </p:nvCxnSpPr>
        <p:spPr>
          <a:xfrm>
            <a:off x="5410200" y="1428750"/>
            <a:ext cx="0" cy="1714500"/>
          </a:xfrm>
          <a:prstGeom prst="line">
            <a:avLst/>
          </a:prstGeom>
          <a:ln w="19050">
            <a:solidFill>
              <a:srgbClr val="F9731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타원 14">
            <a:extLst>
              <a:ext uri="{FF2B5EF4-FFF2-40B4-BE49-F238E27FC236}">
                <a16:creationId xmlns:a16="http://schemas.microsoft.com/office/drawing/2014/main" id="{90634223-D770-3715-DA21-1E0335D4D7A6}"/>
              </a:ext>
            </a:extLst>
          </p:cNvPr>
          <p:cNvSpPr/>
          <p:nvPr/>
        </p:nvSpPr>
        <p:spPr>
          <a:xfrm>
            <a:off x="5305425" y="1181100"/>
            <a:ext cx="209550" cy="209550"/>
          </a:xfrm>
          <a:prstGeom prst="ellipse">
            <a:avLst/>
          </a:prstGeom>
          <a:solidFill>
            <a:srgbClr val="EA580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/>
            <a:r>
              <a:rPr lang="en-US" altLang="ko-KR" sz="11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endParaRPr lang="ko-KR" altLang="en-US" sz="110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E382392-6B00-8557-DE30-95BC5764586B}"/>
              </a:ext>
            </a:extLst>
          </p:cNvPr>
          <p:cNvSpPr txBox="1"/>
          <p:nvPr/>
        </p:nvSpPr>
        <p:spPr>
          <a:xfrm>
            <a:off x="381000" y="2571750"/>
            <a:ext cx="1047750" cy="22860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en-US" altLang="ko-KR" sz="1700" b="1">
                <a:solidFill>
                  <a:srgbClr val="1F2A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FSM state</a:t>
            </a:r>
            <a:endParaRPr lang="ko-KR" altLang="en-US" sz="1700" b="1">
              <a:solidFill>
                <a:srgbClr val="1F2A4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DB074A11-5266-DF4B-616C-E5FA53DA6228}"/>
              </a:ext>
            </a:extLst>
          </p:cNvPr>
          <p:cNvSpPr/>
          <p:nvPr/>
        </p:nvSpPr>
        <p:spPr>
          <a:xfrm>
            <a:off x="1524000" y="2476500"/>
            <a:ext cx="1295400" cy="419100"/>
          </a:xfrm>
          <a:prstGeom prst="rect">
            <a:avLst/>
          </a:prstGeom>
          <a:solidFill>
            <a:srgbClr val="FEF3C7"/>
          </a:solidFill>
          <a:ln w="1270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altLang="ko-KR" sz="1500" b="1">
                <a:solidFill>
                  <a:srgbClr val="1F2A44"/>
                </a:solidFill>
                <a:latin typeface="FEF3C7"/>
              </a:rPr>
              <a:t>STOP</a:t>
            </a:r>
            <a:endParaRPr lang="ko-KR" altLang="en-US" sz="1500" b="1">
              <a:solidFill>
                <a:srgbClr val="1F2A44"/>
              </a:solidFill>
              <a:latin typeface="FEF3C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C244A46-0C7A-146A-AD1C-BEC31B444E9B}"/>
              </a:ext>
            </a:extLst>
          </p:cNvPr>
          <p:cNvSpPr/>
          <p:nvPr/>
        </p:nvSpPr>
        <p:spPr>
          <a:xfrm>
            <a:off x="2819400" y="2476500"/>
            <a:ext cx="647700" cy="419100"/>
          </a:xfrm>
          <a:prstGeom prst="rect">
            <a:avLst/>
          </a:prstGeom>
          <a:solidFill>
            <a:srgbClr val="DCFCE7"/>
          </a:solidFill>
          <a:ln w="1270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altLang="ko-KR" sz="1500" b="1">
                <a:solidFill>
                  <a:srgbClr val="1F2A44"/>
                </a:solidFill>
                <a:latin typeface="DCFCE7"/>
              </a:rPr>
              <a:t>RUN</a:t>
            </a:r>
            <a:endParaRPr lang="ko-KR" altLang="en-US" sz="1500" b="1">
              <a:solidFill>
                <a:srgbClr val="1F2A44"/>
              </a:solidFill>
              <a:latin typeface="DCFCE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C1CD28C6-5556-26E7-6A62-2102AF339176}"/>
              </a:ext>
            </a:extLst>
          </p:cNvPr>
          <p:cNvSpPr/>
          <p:nvPr/>
        </p:nvSpPr>
        <p:spPr>
          <a:xfrm>
            <a:off x="3467100" y="2476500"/>
            <a:ext cx="971550" cy="419100"/>
          </a:xfrm>
          <a:prstGeom prst="rect">
            <a:avLst/>
          </a:prstGeom>
          <a:solidFill>
            <a:srgbClr val="FEF3C7"/>
          </a:solidFill>
          <a:ln w="1270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altLang="ko-KR" sz="1500" b="1">
                <a:solidFill>
                  <a:srgbClr val="1F2A44"/>
                </a:solidFill>
                <a:latin typeface="FEF3C7"/>
              </a:rPr>
              <a:t>STOP</a:t>
            </a:r>
            <a:endParaRPr lang="ko-KR" altLang="en-US" sz="1500" b="1">
              <a:solidFill>
                <a:srgbClr val="1F2A44"/>
              </a:solidFill>
              <a:latin typeface="FEF3C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B0D0007-8A61-C6EB-3428-8915BE9C0866}"/>
              </a:ext>
            </a:extLst>
          </p:cNvPr>
          <p:cNvSpPr/>
          <p:nvPr/>
        </p:nvSpPr>
        <p:spPr>
          <a:xfrm>
            <a:off x="4438650" y="2476500"/>
            <a:ext cx="971550" cy="419100"/>
          </a:xfrm>
          <a:prstGeom prst="rect">
            <a:avLst/>
          </a:prstGeom>
          <a:solidFill>
            <a:srgbClr val="DCFCE7"/>
          </a:solidFill>
          <a:ln w="1270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altLang="ko-KR" sz="1500" b="1">
                <a:solidFill>
                  <a:srgbClr val="1F2A44"/>
                </a:solidFill>
                <a:latin typeface="DCFCE7"/>
              </a:rPr>
              <a:t>RUN</a:t>
            </a:r>
            <a:endParaRPr lang="ko-KR" altLang="en-US" sz="1500" b="1">
              <a:solidFill>
                <a:srgbClr val="1F2A44"/>
              </a:solidFill>
              <a:latin typeface="DCFCE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B542816B-D0ED-4D34-3EED-14A18A40432F}"/>
              </a:ext>
            </a:extLst>
          </p:cNvPr>
          <p:cNvSpPr/>
          <p:nvPr/>
        </p:nvSpPr>
        <p:spPr>
          <a:xfrm>
            <a:off x="5410200" y="2476500"/>
            <a:ext cx="5829300" cy="419100"/>
          </a:xfrm>
          <a:prstGeom prst="rect">
            <a:avLst/>
          </a:prstGeom>
          <a:solidFill>
            <a:srgbClr val="FEF3C7"/>
          </a:solidFill>
          <a:ln w="1270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altLang="ko-KR" sz="1500" b="1">
                <a:solidFill>
                  <a:srgbClr val="1F2A44"/>
                </a:solidFill>
                <a:latin typeface="FEF3C7"/>
              </a:rPr>
              <a:t>STOP</a:t>
            </a:r>
            <a:endParaRPr lang="ko-KR" altLang="en-US" sz="1500" b="1">
              <a:solidFill>
                <a:srgbClr val="1F2A44"/>
              </a:solidFill>
              <a:latin typeface="FEF3C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3812791F-DC31-2632-F8B8-2108DC3CE121}"/>
              </a:ext>
            </a:extLst>
          </p:cNvPr>
          <p:cNvSpPr/>
          <p:nvPr/>
        </p:nvSpPr>
        <p:spPr>
          <a:xfrm>
            <a:off x="1524000" y="3619500"/>
            <a:ext cx="4762500" cy="66675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2889785-7ACF-D471-3277-97CB7D76B1B2}"/>
              </a:ext>
            </a:extLst>
          </p:cNvPr>
          <p:cNvSpPr txBox="1"/>
          <p:nvPr/>
        </p:nvSpPr>
        <p:spPr>
          <a:xfrm>
            <a:off x="1657350" y="3619500"/>
            <a:ext cx="4533900" cy="6667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ko-KR" altLang="en-US" b="1">
                <a:solidFill>
                  <a:srgbClr val="16A34A"/>
                </a:solidFill>
                <a:latin typeface="FEF3C7"/>
              </a:rPr>
              <a:t>의도</a:t>
            </a:r>
            <a:r>
              <a:rPr lang="en-US" altLang="ko-KR" b="1">
                <a:solidFill>
                  <a:srgbClr val="16A34A"/>
                </a:solidFill>
                <a:latin typeface="FEF3C7"/>
              </a:rPr>
              <a:t>: STOP → RUN (1</a:t>
            </a:r>
            <a:r>
              <a:rPr lang="ko-KR" altLang="en-US" b="1">
                <a:solidFill>
                  <a:srgbClr val="16A34A"/>
                </a:solidFill>
                <a:latin typeface="FEF3C7"/>
              </a:rPr>
              <a:t>회</a:t>
            </a:r>
            <a:r>
              <a:rPr lang="en-US" altLang="ko-KR" b="1">
                <a:solidFill>
                  <a:srgbClr val="16A34A"/>
                </a:solidFill>
                <a:latin typeface="FEF3C7"/>
              </a:rPr>
              <a:t>)</a:t>
            </a:r>
            <a:endParaRPr lang="ko-KR" altLang="en-US" b="1">
              <a:solidFill>
                <a:srgbClr val="16A34A"/>
              </a:solidFill>
              <a:latin typeface="FEF3C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C732C237-CAFC-2470-56DD-1E9AE221C92F}"/>
              </a:ext>
            </a:extLst>
          </p:cNvPr>
          <p:cNvSpPr/>
          <p:nvPr/>
        </p:nvSpPr>
        <p:spPr>
          <a:xfrm>
            <a:off x="6477000" y="3619500"/>
            <a:ext cx="4762500" cy="666750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1D2DA52-6770-95C2-D476-9B89646191F4}"/>
              </a:ext>
            </a:extLst>
          </p:cNvPr>
          <p:cNvSpPr txBox="1"/>
          <p:nvPr/>
        </p:nvSpPr>
        <p:spPr>
          <a:xfrm>
            <a:off x="6610350" y="3619500"/>
            <a:ext cx="4533900" cy="6667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ko-KR" altLang="en-US" b="1">
                <a:solidFill>
                  <a:srgbClr val="DC2626"/>
                </a:solidFill>
                <a:latin typeface="FEF3C7"/>
              </a:rPr>
              <a:t>결과</a:t>
            </a:r>
            <a:r>
              <a:rPr lang="en-US" altLang="ko-KR" b="1">
                <a:solidFill>
                  <a:srgbClr val="DC2626"/>
                </a:solidFill>
                <a:latin typeface="FEF3C7"/>
              </a:rPr>
              <a:t>: rising edge 4</a:t>
            </a:r>
            <a:r>
              <a:rPr lang="ko-KR" altLang="en-US" b="1">
                <a:solidFill>
                  <a:srgbClr val="DC2626"/>
                </a:solidFill>
                <a:latin typeface="FEF3C7"/>
              </a:rPr>
              <a:t>회 → </a:t>
            </a:r>
            <a:r>
              <a:rPr lang="en-US" altLang="ko-KR" b="1">
                <a:solidFill>
                  <a:srgbClr val="DC2626"/>
                </a:solidFill>
                <a:latin typeface="FEF3C7"/>
              </a:rPr>
              <a:t>4</a:t>
            </a:r>
            <a:r>
              <a:rPr lang="ko-KR" altLang="en-US" b="1">
                <a:solidFill>
                  <a:srgbClr val="DC2626"/>
                </a:solidFill>
                <a:latin typeface="FEF3C7"/>
              </a:rPr>
              <a:t>회 </a:t>
            </a:r>
            <a:r>
              <a:rPr lang="en-US" altLang="ko-KR" b="1">
                <a:solidFill>
                  <a:srgbClr val="DC2626"/>
                </a:solidFill>
                <a:latin typeface="FEF3C7"/>
              </a:rPr>
              <a:t>toggle → STOP</a:t>
            </a:r>
            <a:endParaRPr lang="ko-KR" altLang="en-US" b="1">
              <a:solidFill>
                <a:srgbClr val="DC2626"/>
              </a:solidFill>
              <a:latin typeface="FEF3C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074B1F51-FFC0-ED75-889F-533FDCDFF629}"/>
              </a:ext>
            </a:extLst>
          </p:cNvPr>
          <p:cNvSpPr/>
          <p:nvPr/>
        </p:nvSpPr>
        <p:spPr>
          <a:xfrm>
            <a:off x="1524000" y="4476750"/>
            <a:ext cx="9715500" cy="66675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endParaRPr lang="ko-KR" alt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DFAE7A6-3D69-4029-B02B-85537178051D}"/>
              </a:ext>
            </a:extLst>
          </p:cNvPr>
          <p:cNvSpPr txBox="1"/>
          <p:nvPr/>
        </p:nvSpPr>
        <p:spPr>
          <a:xfrm>
            <a:off x="1657350" y="4476750"/>
            <a:ext cx="9486900" cy="6667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altLang="ko-KR" sz="1700" b="1">
                <a:solidFill>
                  <a:srgbClr val="1F2A44"/>
                </a:solidFill>
                <a:latin typeface="FEF3C7"/>
              </a:rPr>
              <a:t>FPGA</a:t>
            </a:r>
            <a:r>
              <a:rPr lang="ko-KR" altLang="en-US" sz="1700" b="1">
                <a:solidFill>
                  <a:srgbClr val="1F2A44"/>
                </a:solidFill>
                <a:latin typeface="FEF3C7"/>
              </a:rPr>
              <a:t>는 매 </a:t>
            </a:r>
            <a:r>
              <a:rPr lang="en-US" altLang="ko-KR" sz="1700" b="1">
                <a:solidFill>
                  <a:srgbClr val="1F2A44"/>
                </a:solidFill>
                <a:latin typeface="FEF3C7"/>
              </a:rPr>
              <a:t>clock </a:t>
            </a:r>
            <a:r>
              <a:rPr lang="ko-KR" altLang="en-US" sz="1700" b="1">
                <a:solidFill>
                  <a:srgbClr val="1F2A44"/>
                </a:solidFill>
                <a:latin typeface="FEF3C7"/>
              </a:rPr>
              <a:t>입력을 </a:t>
            </a:r>
            <a:r>
              <a:rPr lang="en-US" altLang="ko-KR" sz="1700" b="1">
                <a:solidFill>
                  <a:srgbClr val="1F2A44"/>
                </a:solidFill>
                <a:latin typeface="FEF3C7"/>
              </a:rPr>
              <a:t>sampling → bounce pulse</a:t>
            </a:r>
            <a:r>
              <a:rPr lang="ko-KR" altLang="en-US" sz="1700" b="1">
                <a:solidFill>
                  <a:srgbClr val="1F2A44"/>
                </a:solidFill>
                <a:latin typeface="FEF3C7"/>
              </a:rPr>
              <a:t>도 모두 </a:t>
            </a:r>
            <a:r>
              <a:rPr lang="en-US" altLang="ko-KR" sz="1700" b="1">
                <a:solidFill>
                  <a:srgbClr val="1F2A44"/>
                </a:solidFill>
                <a:latin typeface="FEF3C7"/>
              </a:rPr>
              <a:t>edge</a:t>
            </a:r>
            <a:r>
              <a:rPr lang="ko-KR" altLang="en-US" sz="1700" b="1">
                <a:solidFill>
                  <a:srgbClr val="1F2A44"/>
                </a:solidFill>
                <a:latin typeface="FEF3C7"/>
              </a:rPr>
              <a:t>로 인식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EA00A00-E789-B18E-C925-79D813AEB95B}"/>
              </a:ext>
            </a:extLst>
          </p:cNvPr>
          <p:cNvSpPr txBox="1"/>
          <p:nvPr/>
        </p:nvSpPr>
        <p:spPr>
          <a:xfrm>
            <a:off x="10668000" y="6591300"/>
            <a:ext cx="1143000" cy="19050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pPr algn="r"/>
            <a:r>
              <a:rPr lang="en-US" altLang="ko-KR" sz="1100">
                <a:solidFill>
                  <a:srgbClr val="94A3B8"/>
                </a:solidFill>
                <a:latin typeface="FEF3C7"/>
              </a:rPr>
              <a:t>6 / 39</a:t>
            </a:r>
            <a:endParaRPr lang="ko-KR" altLang="en-US" sz="1100">
              <a:solidFill>
                <a:srgbClr val="94A3B8"/>
              </a:solidFill>
              <a:latin typeface="FEF3C7"/>
            </a:endParaRPr>
          </a:p>
        </p:txBody>
      </p:sp>
    </p:spTree>
    <p:extLst>
      <p:ext uri="{BB962C8B-B14F-4D97-AF65-F5344CB8AC3E}">
        <p14:creationId xmlns:p14="http://schemas.microsoft.com/office/powerpoint/2010/main" val="18478875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741EAC5-E495-53FB-B7AA-71921B802209}"/>
              </a:ext>
            </a:extLst>
          </p:cNvPr>
          <p:cNvSpPr txBox="1"/>
          <p:nvPr/>
        </p:nvSpPr>
        <p:spPr>
          <a:xfrm>
            <a:off x="381000" y="133350"/>
            <a:ext cx="9525000" cy="2095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altLang="ko-KR" sz="1300" b="1">
                <a:solidFill>
                  <a:srgbClr val="2563EB"/>
                </a:solidFill>
                <a:latin typeface="FEF3C7"/>
              </a:rPr>
              <a:t>01  ·  Debounce </a:t>
            </a:r>
            <a:r>
              <a:rPr lang="ko-KR" altLang="en-US" sz="1300" b="1">
                <a:solidFill>
                  <a:srgbClr val="2563EB"/>
                </a:solidFill>
                <a:latin typeface="FEF3C7"/>
              </a:rPr>
              <a:t>개념  </a:t>
            </a:r>
            <a:r>
              <a:rPr lang="en-US" altLang="ko-KR" sz="1300" b="1">
                <a:solidFill>
                  <a:srgbClr val="2563EB"/>
                </a:solidFill>
                <a:latin typeface="FEF3C7"/>
              </a:rPr>
              <a:t>·  </a:t>
            </a:r>
            <a:r>
              <a:rPr lang="ko-KR" altLang="en-US" sz="1300" b="1">
                <a:solidFill>
                  <a:srgbClr val="2563EB"/>
                </a:solidFill>
                <a:latin typeface="FEF3C7"/>
              </a:rPr>
              <a:t>해결 방법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16B421-F47A-9554-D0A2-8AFAA3BC3622}"/>
              </a:ext>
            </a:extLst>
          </p:cNvPr>
          <p:cNvSpPr txBox="1"/>
          <p:nvPr/>
        </p:nvSpPr>
        <p:spPr>
          <a:xfrm>
            <a:off x="381000" y="342900"/>
            <a:ext cx="10096500" cy="4381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altLang="ko-KR" sz="2600" b="1">
                <a:solidFill>
                  <a:srgbClr val="0F172A"/>
                </a:solidFill>
                <a:latin typeface="FEF3C7"/>
              </a:rPr>
              <a:t>Three Ways to Debounce: RC Filter, Counter, Shift Register</a:t>
            </a:r>
            <a:endParaRPr lang="ko-KR" altLang="en-US" sz="2600" b="1">
              <a:solidFill>
                <a:srgbClr val="0F172A"/>
              </a:solidFill>
              <a:latin typeface="FEF3C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4842A5B-E40C-8685-8CAA-034DC728E8D5}"/>
              </a:ext>
            </a:extLst>
          </p:cNvPr>
          <p:cNvSpPr/>
          <p:nvPr/>
        </p:nvSpPr>
        <p:spPr>
          <a:xfrm>
            <a:off x="381000" y="819150"/>
            <a:ext cx="666750" cy="381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51E12C-73FA-8AFD-71BD-9C0C45B78819}"/>
              </a:ext>
            </a:extLst>
          </p:cNvPr>
          <p:cNvSpPr txBox="1"/>
          <p:nvPr/>
        </p:nvSpPr>
        <p:spPr>
          <a:xfrm>
            <a:off x="10572750" y="133350"/>
            <a:ext cx="1238250" cy="60960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pPr algn="r"/>
            <a:r>
              <a:rPr lang="en-US" altLang="ko-KR" sz="4000" b="1">
                <a:solidFill>
                  <a:srgbClr val="BFDBFE"/>
                </a:solidFill>
                <a:latin typeface="FEF3C7"/>
              </a:rPr>
              <a:t>01</a:t>
            </a:r>
            <a:endParaRPr lang="ko-KR" altLang="en-US" sz="4000" b="1">
              <a:solidFill>
                <a:srgbClr val="BFDBFE"/>
              </a:solidFill>
              <a:latin typeface="FEF3C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6E237A7-BFB8-812C-EAA9-BD91D086853D}"/>
              </a:ext>
            </a:extLst>
          </p:cNvPr>
          <p:cNvSpPr/>
          <p:nvPr/>
        </p:nvSpPr>
        <p:spPr>
          <a:xfrm>
            <a:off x="381000" y="1047750"/>
            <a:ext cx="3667125" cy="447675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9B8C476-4F2F-018E-5077-8EBDC4127453}"/>
              </a:ext>
            </a:extLst>
          </p:cNvPr>
          <p:cNvSpPr/>
          <p:nvPr/>
        </p:nvSpPr>
        <p:spPr>
          <a:xfrm>
            <a:off x="381000" y="1047750"/>
            <a:ext cx="3667125" cy="419100"/>
          </a:xfrm>
          <a:prstGeom prst="rect">
            <a:avLst/>
          </a:prstGeom>
          <a:solidFill>
            <a:srgbClr val="1F2A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r>
              <a:rPr lang="en-US" altLang="ko-KR" sz="1600" b="1">
                <a:solidFill>
                  <a:srgbClr val="FFFFFF"/>
                </a:solidFill>
                <a:latin typeface="FEF3C7"/>
              </a:rPr>
              <a:t>RC + Schmitt trigger   (</a:t>
            </a:r>
            <a:r>
              <a:rPr lang="ko-KR" altLang="en-US" sz="1600" b="1">
                <a:solidFill>
                  <a:srgbClr val="FFFFFF"/>
                </a:solidFill>
                <a:latin typeface="FEF3C7"/>
              </a:rPr>
              <a:t>회로</a:t>
            </a:r>
            <a:r>
              <a:rPr lang="en-US" altLang="ko-KR" sz="1600" b="1">
                <a:solidFill>
                  <a:srgbClr val="FFFFFF"/>
                </a:solidFill>
                <a:latin typeface="FEF3C7"/>
              </a:rPr>
              <a:t>)</a:t>
            </a:r>
            <a:endParaRPr lang="ko-KR" altLang="en-US" sz="1600" b="1">
              <a:solidFill>
                <a:srgbClr val="FFFFFF"/>
              </a:solidFill>
              <a:latin typeface="FEF3C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3B85272-5714-B8EC-BDFA-CE616B8CEBF0}"/>
              </a:ext>
            </a:extLst>
          </p:cNvPr>
          <p:cNvSpPr/>
          <p:nvPr/>
        </p:nvSpPr>
        <p:spPr>
          <a:xfrm>
            <a:off x="571500" y="3714750"/>
            <a:ext cx="3286125" cy="66675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D41987-050A-3908-32FF-508ADCC66D38}"/>
              </a:ext>
            </a:extLst>
          </p:cNvPr>
          <p:cNvSpPr txBox="1"/>
          <p:nvPr/>
        </p:nvSpPr>
        <p:spPr>
          <a:xfrm>
            <a:off x="704850" y="3714750"/>
            <a:ext cx="3057525" cy="6667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altLang="ko-KR" sz="1600" b="1">
                <a:solidFill>
                  <a:srgbClr val="1F2A44"/>
                </a:solidFill>
                <a:latin typeface="FEF3C7"/>
              </a:rPr>
              <a:t>RC: </a:t>
            </a:r>
            <a:r>
              <a:rPr lang="ko-KR" altLang="en-US" sz="1600" b="1">
                <a:solidFill>
                  <a:srgbClr val="1F2A44"/>
                </a:solidFill>
                <a:latin typeface="FEF3C7"/>
              </a:rPr>
              <a:t>빠른 변화 감쇠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A5A18CD-FC06-C672-BED2-2E9F7FA6D5F9}"/>
              </a:ext>
            </a:extLst>
          </p:cNvPr>
          <p:cNvSpPr/>
          <p:nvPr/>
        </p:nvSpPr>
        <p:spPr>
          <a:xfrm>
            <a:off x="571500" y="4524375"/>
            <a:ext cx="3286125" cy="66675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D4FA3B1-D7D2-6F94-5BED-BB412C1CB7DE}"/>
              </a:ext>
            </a:extLst>
          </p:cNvPr>
          <p:cNvSpPr txBox="1"/>
          <p:nvPr/>
        </p:nvSpPr>
        <p:spPr>
          <a:xfrm>
            <a:off x="704850" y="4524375"/>
            <a:ext cx="3057525" cy="6667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altLang="ko-KR" sz="1600" b="1">
                <a:solidFill>
                  <a:srgbClr val="1F2A44"/>
                </a:solidFill>
                <a:latin typeface="FEF3C7"/>
              </a:rPr>
              <a:t>Schmitt: hysteresis</a:t>
            </a:r>
            <a:r>
              <a:rPr lang="ko-KR" altLang="en-US" sz="1600" b="1">
                <a:solidFill>
                  <a:srgbClr val="1F2A44"/>
                </a:solidFill>
                <a:latin typeface="FEF3C7"/>
              </a:rPr>
              <a:t>로 </a:t>
            </a:r>
            <a:r>
              <a:rPr lang="en-US" altLang="ko-KR" sz="1600" b="1">
                <a:solidFill>
                  <a:srgbClr val="1F2A44"/>
                </a:solidFill>
                <a:latin typeface="FEF3C7"/>
              </a:rPr>
              <a:t>0 / 1 </a:t>
            </a:r>
            <a:r>
              <a:rPr lang="ko-KR" altLang="en-US" sz="1600" b="1">
                <a:solidFill>
                  <a:srgbClr val="1F2A44"/>
                </a:solidFill>
                <a:latin typeface="FEF3C7"/>
              </a:rPr>
              <a:t>판정 고정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A496E90-6D32-AFF9-6EFD-E0D9A8839EA5}"/>
              </a:ext>
            </a:extLst>
          </p:cNvPr>
          <p:cNvSpPr/>
          <p:nvPr/>
        </p:nvSpPr>
        <p:spPr>
          <a:xfrm>
            <a:off x="4257675" y="1047750"/>
            <a:ext cx="3667125" cy="447675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4F2024F-11BE-52BB-4A93-ADEE6F7C4784}"/>
              </a:ext>
            </a:extLst>
          </p:cNvPr>
          <p:cNvSpPr/>
          <p:nvPr/>
        </p:nvSpPr>
        <p:spPr>
          <a:xfrm>
            <a:off x="4257675" y="1047750"/>
            <a:ext cx="3667125" cy="419100"/>
          </a:xfrm>
          <a:prstGeom prst="rect">
            <a:avLst/>
          </a:prstGeom>
          <a:solidFill>
            <a:srgbClr val="1F2A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r>
              <a:rPr lang="en-US" altLang="ko-KR" sz="1600" b="1">
                <a:solidFill>
                  <a:srgbClr val="FFFFFF"/>
                </a:solidFill>
                <a:latin typeface="FEF3C7"/>
              </a:rPr>
              <a:t>Counter </a:t>
            </a:r>
            <a:r>
              <a:rPr lang="ko-KR" altLang="en-US" sz="1600" b="1">
                <a:solidFill>
                  <a:srgbClr val="FFFFFF"/>
                </a:solidFill>
                <a:latin typeface="FEF3C7"/>
              </a:rPr>
              <a:t>방식   </a:t>
            </a:r>
            <a:r>
              <a:rPr lang="en-US" altLang="ko-KR" sz="1600" b="1">
                <a:solidFill>
                  <a:srgbClr val="FFFFFF"/>
                </a:solidFill>
                <a:latin typeface="FEF3C7"/>
              </a:rPr>
              <a:t>(RTL)</a:t>
            </a:r>
            <a:endParaRPr lang="ko-KR" altLang="en-US" sz="1600" b="1">
              <a:solidFill>
                <a:srgbClr val="FFFFFF"/>
              </a:solidFill>
              <a:latin typeface="FEF3C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9E55B6B-5C23-C707-6E5A-8D2501B299FA}"/>
              </a:ext>
            </a:extLst>
          </p:cNvPr>
          <p:cNvSpPr/>
          <p:nvPr/>
        </p:nvSpPr>
        <p:spPr>
          <a:xfrm>
            <a:off x="4448175" y="3714750"/>
            <a:ext cx="3286125" cy="66675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1652C5F-4170-08E6-88DD-EEFC71E21FCE}"/>
              </a:ext>
            </a:extLst>
          </p:cNvPr>
          <p:cNvSpPr txBox="1"/>
          <p:nvPr/>
        </p:nvSpPr>
        <p:spPr>
          <a:xfrm>
            <a:off x="4581525" y="3714750"/>
            <a:ext cx="3057525" cy="6667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ko-KR" altLang="en-US" sz="1600" b="1">
                <a:solidFill>
                  <a:srgbClr val="1F2A44"/>
                </a:solidFill>
                <a:latin typeface="FEF3C7"/>
              </a:rPr>
              <a:t>입력 변화 시 </a:t>
            </a:r>
            <a:r>
              <a:rPr lang="en-US" altLang="ko-KR" sz="1600" b="1">
                <a:solidFill>
                  <a:srgbClr val="1F2A44"/>
                </a:solidFill>
                <a:latin typeface="FEF3C7"/>
              </a:rPr>
              <a:t>count reset</a:t>
            </a:r>
            <a:endParaRPr lang="ko-KR" altLang="en-US" sz="1600" b="1">
              <a:solidFill>
                <a:srgbClr val="1F2A44"/>
              </a:solidFill>
              <a:latin typeface="FEF3C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22B31A65-E98A-EAB7-EA9B-C3858DF414FD}"/>
              </a:ext>
            </a:extLst>
          </p:cNvPr>
          <p:cNvSpPr/>
          <p:nvPr/>
        </p:nvSpPr>
        <p:spPr>
          <a:xfrm>
            <a:off x="4448175" y="4524375"/>
            <a:ext cx="3286125" cy="66675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DEE62DA-9A9A-3489-868C-468CFA3B9454}"/>
              </a:ext>
            </a:extLst>
          </p:cNvPr>
          <p:cNvSpPr txBox="1"/>
          <p:nvPr/>
        </p:nvSpPr>
        <p:spPr>
          <a:xfrm>
            <a:off x="4581525" y="4524375"/>
            <a:ext cx="3057525" cy="6667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altLang="ko-KR" sz="1600" b="1">
                <a:solidFill>
                  <a:srgbClr val="1F2A44"/>
                </a:solidFill>
                <a:latin typeface="FEF3C7"/>
              </a:rPr>
              <a:t>N cycle </a:t>
            </a:r>
            <a:r>
              <a:rPr lang="ko-KR" altLang="en-US" sz="1600" b="1">
                <a:solidFill>
                  <a:srgbClr val="1F2A44"/>
                </a:solidFill>
                <a:latin typeface="FEF3C7"/>
              </a:rPr>
              <a:t>유지 시 값 인정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C8FDFEC6-E839-638E-71D8-85CA0995051E}"/>
              </a:ext>
            </a:extLst>
          </p:cNvPr>
          <p:cNvSpPr/>
          <p:nvPr/>
        </p:nvSpPr>
        <p:spPr>
          <a:xfrm>
            <a:off x="8143875" y="1047750"/>
            <a:ext cx="3667125" cy="447675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04D83928-1128-4CA5-11D9-C7CBBBE26271}"/>
              </a:ext>
            </a:extLst>
          </p:cNvPr>
          <p:cNvSpPr/>
          <p:nvPr/>
        </p:nvSpPr>
        <p:spPr>
          <a:xfrm>
            <a:off x="8143875" y="1047750"/>
            <a:ext cx="3667125" cy="4191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r>
              <a:rPr lang="en-US" altLang="ko-KR" sz="1600" b="1">
                <a:solidFill>
                  <a:srgbClr val="FFFFFF"/>
                </a:solidFill>
                <a:latin typeface="FEF3C7"/>
              </a:rPr>
              <a:t>Shift register </a:t>
            </a:r>
            <a:r>
              <a:rPr lang="ko-KR" altLang="en-US" sz="1600" b="1">
                <a:solidFill>
                  <a:srgbClr val="FFFFFF"/>
                </a:solidFill>
                <a:latin typeface="FEF3C7"/>
              </a:rPr>
              <a:t>방식   </a:t>
            </a:r>
            <a:r>
              <a:rPr lang="en-US" altLang="ko-KR" sz="1600" b="1">
                <a:solidFill>
                  <a:srgbClr val="FFFFFF"/>
                </a:solidFill>
                <a:latin typeface="FEF3C7"/>
              </a:rPr>
              <a:t>(RTL)</a:t>
            </a:r>
            <a:endParaRPr lang="ko-KR" altLang="en-US" sz="1600" b="1">
              <a:solidFill>
                <a:srgbClr val="FFFFFF"/>
              </a:solidFill>
              <a:latin typeface="FEF3C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689A2EE1-8F7F-5C91-E30A-9354B350D6A6}"/>
              </a:ext>
            </a:extLst>
          </p:cNvPr>
          <p:cNvSpPr/>
          <p:nvPr/>
        </p:nvSpPr>
        <p:spPr>
          <a:xfrm>
            <a:off x="8334375" y="3714750"/>
            <a:ext cx="3286125" cy="66675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454510B-634E-BDCC-A6BC-A5D5C46E5A5C}"/>
              </a:ext>
            </a:extLst>
          </p:cNvPr>
          <p:cNvSpPr txBox="1"/>
          <p:nvPr/>
        </p:nvSpPr>
        <p:spPr>
          <a:xfrm>
            <a:off x="8467725" y="3714750"/>
            <a:ext cx="3057525" cy="6667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ko-KR" altLang="en-US" sz="1600" b="1">
                <a:solidFill>
                  <a:srgbClr val="1F2A44"/>
                </a:solidFill>
                <a:latin typeface="FEF3C7"/>
              </a:rPr>
              <a:t>최근 </a:t>
            </a:r>
            <a:r>
              <a:rPr lang="en-US" altLang="ko-KR" sz="1600" b="1">
                <a:solidFill>
                  <a:srgbClr val="1F2A44"/>
                </a:solidFill>
                <a:latin typeface="FEF3C7"/>
              </a:rPr>
              <a:t>N sample </a:t>
            </a:r>
            <a:r>
              <a:rPr lang="ko-KR" altLang="en-US" sz="1600" b="1">
                <a:solidFill>
                  <a:srgbClr val="1F2A44"/>
                </a:solidFill>
                <a:latin typeface="FEF3C7"/>
              </a:rPr>
              <a:t>저장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FB92870E-2C65-1068-9E53-C823B6883F0D}"/>
              </a:ext>
            </a:extLst>
          </p:cNvPr>
          <p:cNvSpPr/>
          <p:nvPr/>
        </p:nvSpPr>
        <p:spPr>
          <a:xfrm>
            <a:off x="8334375" y="4524375"/>
            <a:ext cx="3286125" cy="66675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F952F65-1466-EFFA-AFE5-984A7D9B7EDF}"/>
              </a:ext>
            </a:extLst>
          </p:cNvPr>
          <p:cNvSpPr txBox="1"/>
          <p:nvPr/>
        </p:nvSpPr>
        <p:spPr>
          <a:xfrm>
            <a:off x="8467725" y="4524375"/>
            <a:ext cx="3057525" cy="6667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ko-KR" altLang="en-US" sz="1600" b="1">
                <a:solidFill>
                  <a:srgbClr val="1F2A44"/>
                </a:solidFill>
                <a:latin typeface="FEF3C7"/>
              </a:rPr>
              <a:t>모두 </a:t>
            </a:r>
            <a:r>
              <a:rPr lang="en-US" altLang="ko-KR" sz="1600" b="1">
                <a:solidFill>
                  <a:srgbClr val="1F2A44"/>
                </a:solidFill>
                <a:latin typeface="FEF3C7"/>
              </a:rPr>
              <a:t>1 → </a:t>
            </a:r>
            <a:r>
              <a:rPr lang="ko-KR" altLang="en-US" sz="1600" b="1">
                <a:solidFill>
                  <a:srgbClr val="1F2A44"/>
                </a:solidFill>
                <a:latin typeface="FEF3C7"/>
              </a:rPr>
              <a:t>인정 </a:t>
            </a:r>
            <a:r>
              <a:rPr lang="en-US" altLang="ko-KR" sz="1600" b="1">
                <a:solidFill>
                  <a:srgbClr val="1F2A44"/>
                </a:solidFill>
                <a:latin typeface="FEF3C7"/>
              </a:rPr>
              <a:t>(AND)</a:t>
            </a:r>
            <a:endParaRPr lang="ko-KR" altLang="en-US" sz="1600" b="1">
              <a:solidFill>
                <a:srgbClr val="1F2A44"/>
              </a:solidFill>
              <a:latin typeface="FEF3C7"/>
            </a:endParaRP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0C26A2F1-8E54-CBD7-718B-995CC32E3A7F}"/>
              </a:ext>
            </a:extLst>
          </p:cNvPr>
          <p:cNvCxnSpPr/>
          <p:nvPr/>
        </p:nvCxnSpPr>
        <p:spPr>
          <a:xfrm>
            <a:off x="666750" y="2381250"/>
            <a:ext cx="381000" cy="0"/>
          </a:xfrm>
          <a:prstGeom prst="line">
            <a:avLst/>
          </a:prstGeom>
          <a:ln w="25400">
            <a:solidFill>
              <a:srgbClr val="1F2A44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자유형: 도형 24">
            <a:extLst>
              <a:ext uri="{FF2B5EF4-FFF2-40B4-BE49-F238E27FC236}">
                <a16:creationId xmlns:a16="http://schemas.microsoft.com/office/drawing/2014/main" id="{2E752550-F9A0-EEBA-126E-CC525F437FF2}"/>
              </a:ext>
            </a:extLst>
          </p:cNvPr>
          <p:cNvSpPr/>
          <p:nvPr/>
        </p:nvSpPr>
        <p:spPr>
          <a:xfrm>
            <a:off x="1047750" y="2266950"/>
            <a:ext cx="762001" cy="228601"/>
          </a:xfrm>
          <a:custGeom>
            <a:avLst/>
            <a:gdLst/>
            <a:ahLst/>
            <a:cxnLst/>
            <a:rect l="0" t="0" r="0" b="0"/>
            <a:pathLst>
              <a:path w="762001" h="228601">
                <a:moveTo>
                  <a:pt x="0" y="114300"/>
                </a:moveTo>
                <a:lnTo>
                  <a:pt x="95250" y="228600"/>
                </a:lnTo>
                <a:lnTo>
                  <a:pt x="190500" y="0"/>
                </a:lnTo>
                <a:lnTo>
                  <a:pt x="285750" y="228600"/>
                </a:lnTo>
                <a:lnTo>
                  <a:pt x="381000" y="0"/>
                </a:lnTo>
                <a:lnTo>
                  <a:pt x="476250" y="228600"/>
                </a:lnTo>
                <a:lnTo>
                  <a:pt x="571500" y="0"/>
                </a:lnTo>
                <a:lnTo>
                  <a:pt x="666750" y="228600"/>
                </a:lnTo>
                <a:lnTo>
                  <a:pt x="762000" y="114300"/>
                </a:lnTo>
              </a:path>
            </a:pathLst>
          </a:custGeom>
          <a:ln w="25400">
            <a:solidFill>
              <a:srgbClr val="1F2A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CDEAD4A2-A8D6-AD85-B131-A317196FF3E4}"/>
              </a:ext>
            </a:extLst>
          </p:cNvPr>
          <p:cNvCxnSpPr/>
          <p:nvPr/>
        </p:nvCxnSpPr>
        <p:spPr>
          <a:xfrm>
            <a:off x="1809750" y="2381250"/>
            <a:ext cx="857250" cy="0"/>
          </a:xfrm>
          <a:prstGeom prst="line">
            <a:avLst/>
          </a:prstGeom>
          <a:ln w="25400">
            <a:solidFill>
              <a:srgbClr val="1F2A44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36132839-1871-E337-BFE3-E3CF453DC8EA}"/>
              </a:ext>
            </a:extLst>
          </p:cNvPr>
          <p:cNvCxnSpPr/>
          <p:nvPr/>
        </p:nvCxnSpPr>
        <p:spPr>
          <a:xfrm>
            <a:off x="2095500" y="2381250"/>
            <a:ext cx="0" cy="381000"/>
          </a:xfrm>
          <a:prstGeom prst="line">
            <a:avLst/>
          </a:prstGeom>
          <a:ln w="25400">
            <a:solidFill>
              <a:srgbClr val="1F2A44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38A5EC28-8345-2859-2E23-1818199E2D90}"/>
              </a:ext>
            </a:extLst>
          </p:cNvPr>
          <p:cNvCxnSpPr/>
          <p:nvPr/>
        </p:nvCxnSpPr>
        <p:spPr>
          <a:xfrm>
            <a:off x="1905000" y="2762250"/>
            <a:ext cx="381000" cy="0"/>
          </a:xfrm>
          <a:prstGeom prst="line">
            <a:avLst/>
          </a:prstGeom>
          <a:ln w="38100">
            <a:solidFill>
              <a:srgbClr val="1F2A44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1C3BB455-A90E-17B4-9DB6-56A4DC22F93F}"/>
              </a:ext>
            </a:extLst>
          </p:cNvPr>
          <p:cNvCxnSpPr/>
          <p:nvPr/>
        </p:nvCxnSpPr>
        <p:spPr>
          <a:xfrm>
            <a:off x="1905000" y="2876550"/>
            <a:ext cx="381000" cy="0"/>
          </a:xfrm>
          <a:prstGeom prst="line">
            <a:avLst/>
          </a:prstGeom>
          <a:ln w="38100">
            <a:solidFill>
              <a:srgbClr val="1F2A44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BE0779ED-A9FE-CA40-F800-E284ABDA774B}"/>
              </a:ext>
            </a:extLst>
          </p:cNvPr>
          <p:cNvCxnSpPr/>
          <p:nvPr/>
        </p:nvCxnSpPr>
        <p:spPr>
          <a:xfrm>
            <a:off x="2095500" y="2876550"/>
            <a:ext cx="0" cy="266700"/>
          </a:xfrm>
          <a:prstGeom prst="line">
            <a:avLst/>
          </a:prstGeom>
          <a:ln w="25400">
            <a:solidFill>
              <a:srgbClr val="1F2A44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이등변 삼각형 30">
            <a:extLst>
              <a:ext uri="{FF2B5EF4-FFF2-40B4-BE49-F238E27FC236}">
                <a16:creationId xmlns:a16="http://schemas.microsoft.com/office/drawing/2014/main" id="{BFE8184C-6FBC-9035-461C-E1EB1693C317}"/>
              </a:ext>
            </a:extLst>
          </p:cNvPr>
          <p:cNvSpPr/>
          <p:nvPr/>
        </p:nvSpPr>
        <p:spPr>
          <a:xfrm rot="5400000">
            <a:off x="2619375" y="2171700"/>
            <a:ext cx="514350" cy="419100"/>
          </a:xfrm>
          <a:prstGeom prst="triangle">
            <a:avLst/>
          </a:prstGeom>
          <a:solidFill>
            <a:srgbClr val="FFFFFF"/>
          </a:solidFill>
          <a:ln w="12700">
            <a:solidFill>
              <a:srgbClr val="1F2A4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endParaRPr lang="ko-KR" alt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057A707-71E4-D4E7-6797-A43C7EDEC43B}"/>
              </a:ext>
            </a:extLst>
          </p:cNvPr>
          <p:cNvSpPr txBox="1"/>
          <p:nvPr/>
        </p:nvSpPr>
        <p:spPr>
          <a:xfrm>
            <a:off x="2667000" y="2266950"/>
            <a:ext cx="381000" cy="2095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pPr algn="ctr"/>
            <a:r>
              <a:rPr lang="en-US" altLang="ko-KR" sz="1300" b="1">
                <a:solidFill>
                  <a:srgbClr val="1F2A44"/>
                </a:solidFill>
                <a:latin typeface="FEF3C7"/>
              </a:rPr>
              <a:t>S</a:t>
            </a:r>
            <a:endParaRPr lang="ko-KR" altLang="en-US" sz="1300" b="1">
              <a:solidFill>
                <a:srgbClr val="1F2A44"/>
              </a:solidFill>
              <a:latin typeface="FEF3C7"/>
            </a:endParaRP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9F469A48-8DC4-9A69-A48F-3C3901CF1893}"/>
              </a:ext>
            </a:extLst>
          </p:cNvPr>
          <p:cNvCxnSpPr/>
          <p:nvPr/>
        </p:nvCxnSpPr>
        <p:spPr>
          <a:xfrm>
            <a:off x="3143250" y="2381250"/>
            <a:ext cx="571500" cy="0"/>
          </a:xfrm>
          <a:prstGeom prst="line">
            <a:avLst/>
          </a:prstGeom>
          <a:ln w="25400">
            <a:solidFill>
              <a:srgbClr val="1F2A44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C3C5F21-910B-C4D8-1504-5664BC7EF5F6}"/>
              </a:ext>
            </a:extLst>
          </p:cNvPr>
          <p:cNvSpPr txBox="1"/>
          <p:nvPr/>
        </p:nvSpPr>
        <p:spPr>
          <a:xfrm>
            <a:off x="1143000" y="2000250"/>
            <a:ext cx="762000" cy="19050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pPr algn="ctr"/>
            <a:r>
              <a:rPr lang="en-US" altLang="ko-KR" sz="1300" b="1">
                <a:solidFill>
                  <a:srgbClr val="475569"/>
                </a:solidFill>
                <a:latin typeface="FEF3C7"/>
              </a:rPr>
              <a:t>R</a:t>
            </a:r>
            <a:endParaRPr lang="ko-KR" altLang="en-US" sz="1300" b="1">
              <a:solidFill>
                <a:srgbClr val="475569"/>
              </a:solidFill>
              <a:latin typeface="FEF3C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1924C6A-A883-52A1-0DB4-D55066457CBF}"/>
              </a:ext>
            </a:extLst>
          </p:cNvPr>
          <p:cNvSpPr txBox="1"/>
          <p:nvPr/>
        </p:nvSpPr>
        <p:spPr>
          <a:xfrm>
            <a:off x="2286000" y="2724150"/>
            <a:ext cx="381000" cy="19050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en-US" altLang="ko-KR" sz="1300" b="1">
                <a:solidFill>
                  <a:srgbClr val="475569"/>
                </a:solidFill>
                <a:latin typeface="FEF3C7"/>
              </a:rPr>
              <a:t>C</a:t>
            </a:r>
            <a:endParaRPr lang="ko-KR" altLang="en-US" sz="1300" b="1">
              <a:solidFill>
                <a:srgbClr val="475569"/>
              </a:solidFill>
              <a:latin typeface="FEF3C7"/>
            </a:endParaRPr>
          </a:p>
        </p:txBody>
      </p: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CE8A848B-CF21-1181-4318-B2AE8704CDBC}"/>
              </a:ext>
            </a:extLst>
          </p:cNvPr>
          <p:cNvCxnSpPr/>
          <p:nvPr/>
        </p:nvCxnSpPr>
        <p:spPr>
          <a:xfrm>
            <a:off x="4543425" y="2381250"/>
            <a:ext cx="476250" cy="0"/>
          </a:xfrm>
          <a:prstGeom prst="line">
            <a:avLst/>
          </a:prstGeom>
          <a:ln w="25400">
            <a:solidFill>
              <a:srgbClr val="1F2A44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4B3A9CAD-23E1-88F9-A3D1-50BA3DE60342}"/>
              </a:ext>
            </a:extLst>
          </p:cNvPr>
          <p:cNvSpPr/>
          <p:nvPr/>
        </p:nvSpPr>
        <p:spPr>
          <a:xfrm>
            <a:off x="5019675" y="1952625"/>
            <a:ext cx="1428750" cy="857250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altLang="ko-KR" sz="1500" b="1">
                <a:solidFill>
                  <a:srgbClr val="1F2A44"/>
                </a:solidFill>
                <a:latin typeface="FEF3C7"/>
              </a:rPr>
              <a:t>counter</a:t>
            </a:r>
          </a:p>
          <a:p>
            <a:pPr algn="ctr"/>
            <a:r>
              <a:rPr lang="en-US" altLang="ko-KR" sz="1500" b="1">
                <a:solidFill>
                  <a:srgbClr val="1F2A44"/>
                </a:solidFill>
                <a:latin typeface="FEF3C7"/>
              </a:rPr>
              <a:t>cnt == N ?</a:t>
            </a:r>
            <a:endParaRPr lang="ko-KR" altLang="en-US" sz="1500" b="1">
              <a:solidFill>
                <a:srgbClr val="1F2A44"/>
              </a:solidFill>
              <a:latin typeface="FEF3C7"/>
            </a:endParaRPr>
          </a:p>
        </p:txBody>
      </p: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3F1FBC5A-1B7F-A537-EBC1-0BBDD2C03200}"/>
              </a:ext>
            </a:extLst>
          </p:cNvPr>
          <p:cNvCxnSpPr/>
          <p:nvPr/>
        </p:nvCxnSpPr>
        <p:spPr>
          <a:xfrm>
            <a:off x="6448425" y="2381250"/>
            <a:ext cx="1143000" cy="0"/>
          </a:xfrm>
          <a:prstGeom prst="line">
            <a:avLst/>
          </a:prstGeom>
          <a:ln w="25400">
            <a:solidFill>
              <a:srgbClr val="1F2A44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400E9A95-5278-2B8D-E520-FF3920547FCA}"/>
              </a:ext>
            </a:extLst>
          </p:cNvPr>
          <p:cNvSpPr txBox="1"/>
          <p:nvPr/>
        </p:nvSpPr>
        <p:spPr>
          <a:xfrm>
            <a:off x="4476750" y="2143125"/>
            <a:ext cx="571500" cy="19050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pPr algn="ctr"/>
            <a:r>
              <a:rPr lang="en-US" altLang="ko-KR" sz="1300" b="1">
                <a:solidFill>
                  <a:srgbClr val="475569"/>
                </a:solidFill>
                <a:latin typeface="FEF3C7"/>
              </a:rPr>
              <a:t>in</a:t>
            </a:r>
            <a:endParaRPr lang="ko-KR" altLang="en-US" sz="1300" b="1">
              <a:solidFill>
                <a:srgbClr val="475569"/>
              </a:solidFill>
              <a:latin typeface="FEF3C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47E9AA3-FBAD-588F-880F-3889FBBD1F54}"/>
              </a:ext>
            </a:extLst>
          </p:cNvPr>
          <p:cNvSpPr txBox="1"/>
          <p:nvPr/>
        </p:nvSpPr>
        <p:spPr>
          <a:xfrm>
            <a:off x="6572250" y="2143125"/>
            <a:ext cx="952500" cy="19050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pPr algn="ctr"/>
            <a:r>
              <a:rPr lang="en-US" altLang="ko-KR" sz="1300" b="1">
                <a:solidFill>
                  <a:srgbClr val="475569"/>
                </a:solidFill>
                <a:latin typeface="FEF3C7"/>
              </a:rPr>
              <a:t>stable</a:t>
            </a:r>
            <a:endParaRPr lang="ko-KR" altLang="en-US" sz="1300" b="1">
              <a:solidFill>
                <a:srgbClr val="475569"/>
              </a:solidFill>
              <a:latin typeface="FEF3C7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BE159816-B0C8-26D3-B3C5-CF40E8657179}"/>
              </a:ext>
            </a:extLst>
          </p:cNvPr>
          <p:cNvSpPr/>
          <p:nvPr/>
        </p:nvSpPr>
        <p:spPr>
          <a:xfrm>
            <a:off x="8429625" y="1809750"/>
            <a:ext cx="571500" cy="419100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altLang="ko-KR" sz="1300" b="1">
                <a:solidFill>
                  <a:srgbClr val="1F2A44"/>
                </a:solidFill>
                <a:latin typeface="FEF3C7"/>
              </a:rPr>
              <a:t>FF</a:t>
            </a:r>
            <a:endParaRPr lang="ko-KR" altLang="en-US" sz="1300" b="1">
              <a:solidFill>
                <a:srgbClr val="1F2A44"/>
              </a:solidFill>
              <a:latin typeface="FEF3C7"/>
            </a:endParaRPr>
          </a:p>
        </p:txBody>
      </p: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4F48EA2B-4BB3-5192-D26F-05C385BC2CF8}"/>
              </a:ext>
            </a:extLst>
          </p:cNvPr>
          <p:cNvCxnSpPr/>
          <p:nvPr/>
        </p:nvCxnSpPr>
        <p:spPr>
          <a:xfrm>
            <a:off x="8715375" y="2228850"/>
            <a:ext cx="0" cy="438150"/>
          </a:xfrm>
          <a:prstGeom prst="line">
            <a:avLst/>
          </a:prstGeom>
          <a:ln w="15875">
            <a:solidFill>
              <a:srgbClr val="2563EB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E57548F3-9E31-0D89-5A69-29F4BAF1231F}"/>
              </a:ext>
            </a:extLst>
          </p:cNvPr>
          <p:cNvSpPr/>
          <p:nvPr/>
        </p:nvSpPr>
        <p:spPr>
          <a:xfrm>
            <a:off x="9115425" y="1809750"/>
            <a:ext cx="571500" cy="419100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altLang="ko-KR" sz="1300" b="1">
                <a:solidFill>
                  <a:srgbClr val="1F2A44"/>
                </a:solidFill>
                <a:latin typeface="FEF3C7"/>
              </a:rPr>
              <a:t>FF</a:t>
            </a:r>
            <a:endParaRPr lang="ko-KR" altLang="en-US" sz="1300" b="1">
              <a:solidFill>
                <a:srgbClr val="1F2A44"/>
              </a:solidFill>
              <a:latin typeface="FEF3C7"/>
            </a:endParaRP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22B22800-D159-FF8B-B1AA-AF176DF30DD6}"/>
              </a:ext>
            </a:extLst>
          </p:cNvPr>
          <p:cNvCxnSpPr/>
          <p:nvPr/>
        </p:nvCxnSpPr>
        <p:spPr>
          <a:xfrm>
            <a:off x="9401175" y="2228850"/>
            <a:ext cx="0" cy="438150"/>
          </a:xfrm>
          <a:prstGeom prst="line">
            <a:avLst/>
          </a:prstGeom>
          <a:ln w="15875">
            <a:solidFill>
              <a:srgbClr val="2563EB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D0BD44C7-C095-B6FE-5EA7-A4023AB38291}"/>
              </a:ext>
            </a:extLst>
          </p:cNvPr>
          <p:cNvSpPr/>
          <p:nvPr/>
        </p:nvSpPr>
        <p:spPr>
          <a:xfrm>
            <a:off x="9801225" y="1809750"/>
            <a:ext cx="571500" cy="419100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altLang="ko-KR" sz="1300" b="1">
                <a:solidFill>
                  <a:srgbClr val="1F2A44"/>
                </a:solidFill>
                <a:latin typeface="FEF3C7"/>
              </a:rPr>
              <a:t>FF</a:t>
            </a:r>
            <a:endParaRPr lang="ko-KR" altLang="en-US" sz="1300" b="1">
              <a:solidFill>
                <a:srgbClr val="1F2A44"/>
              </a:solidFill>
              <a:latin typeface="FEF3C7"/>
            </a:endParaRPr>
          </a:p>
        </p:txBody>
      </p: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D92168C9-CFE6-FDE8-3711-7B2FF3D8B03F}"/>
              </a:ext>
            </a:extLst>
          </p:cNvPr>
          <p:cNvCxnSpPr/>
          <p:nvPr/>
        </p:nvCxnSpPr>
        <p:spPr>
          <a:xfrm>
            <a:off x="10086975" y="2228850"/>
            <a:ext cx="0" cy="438150"/>
          </a:xfrm>
          <a:prstGeom prst="line">
            <a:avLst/>
          </a:prstGeom>
          <a:ln w="15875">
            <a:solidFill>
              <a:srgbClr val="2563EB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2D10B7A2-F23B-1787-9D91-293254F668E3}"/>
              </a:ext>
            </a:extLst>
          </p:cNvPr>
          <p:cNvSpPr/>
          <p:nvPr/>
        </p:nvSpPr>
        <p:spPr>
          <a:xfrm>
            <a:off x="10487025" y="1809750"/>
            <a:ext cx="571500" cy="419100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altLang="ko-KR" sz="1300" b="1">
                <a:solidFill>
                  <a:srgbClr val="1F2A44"/>
                </a:solidFill>
                <a:latin typeface="FEF3C7"/>
              </a:rPr>
              <a:t>FF</a:t>
            </a:r>
            <a:endParaRPr lang="ko-KR" altLang="en-US" sz="1300" b="1">
              <a:solidFill>
                <a:srgbClr val="1F2A44"/>
              </a:solidFill>
              <a:latin typeface="FEF3C7"/>
            </a:endParaRPr>
          </a:p>
        </p:txBody>
      </p: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1D2690CA-FEB2-BE9C-B244-A9F6D55B9A63}"/>
              </a:ext>
            </a:extLst>
          </p:cNvPr>
          <p:cNvCxnSpPr/>
          <p:nvPr/>
        </p:nvCxnSpPr>
        <p:spPr>
          <a:xfrm>
            <a:off x="10772775" y="2228850"/>
            <a:ext cx="0" cy="438150"/>
          </a:xfrm>
          <a:prstGeom prst="line">
            <a:avLst/>
          </a:prstGeom>
          <a:ln w="15875">
            <a:solidFill>
              <a:srgbClr val="2563EB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ED659B09-C2C5-6682-B97B-8BD84BF8B729}"/>
              </a:ext>
            </a:extLst>
          </p:cNvPr>
          <p:cNvSpPr/>
          <p:nvPr/>
        </p:nvSpPr>
        <p:spPr>
          <a:xfrm>
            <a:off x="8429625" y="2667000"/>
            <a:ext cx="2628900" cy="41910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altLang="ko-KR" sz="1500" b="1">
                <a:solidFill>
                  <a:srgbClr val="1F2A44"/>
                </a:solidFill>
                <a:latin typeface="FEF3C7"/>
              </a:rPr>
              <a:t>AND</a:t>
            </a:r>
            <a:endParaRPr lang="ko-KR" altLang="en-US" sz="1500" b="1">
              <a:solidFill>
                <a:srgbClr val="1F2A44"/>
              </a:solidFill>
              <a:latin typeface="FEF3C7"/>
            </a:endParaRPr>
          </a:p>
        </p:txBody>
      </p: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B8440E75-9FB8-0398-E547-0856749F4BB2}"/>
              </a:ext>
            </a:extLst>
          </p:cNvPr>
          <p:cNvSpPr/>
          <p:nvPr/>
        </p:nvSpPr>
        <p:spPr>
          <a:xfrm>
            <a:off x="10001250" y="3200400"/>
            <a:ext cx="1333500" cy="285750"/>
          </a:xfrm>
          <a:prstGeom prst="round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/>
            <a:r>
              <a:rPr lang="en-US" altLang="ko-KR" sz="1300" b="1">
                <a:solidFill>
                  <a:srgbClr val="FFFFFF"/>
                </a:solidFill>
                <a:latin typeface="FEF3C7"/>
              </a:rPr>
              <a:t>Homework </a:t>
            </a:r>
            <a:r>
              <a:rPr lang="ko-KR" altLang="en-US" sz="1300" b="1">
                <a:solidFill>
                  <a:srgbClr val="FFFFFF"/>
                </a:solidFill>
                <a:latin typeface="FEF3C7"/>
              </a:rPr>
              <a:t>적용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E9600ED-D759-DBA6-D7D5-C2D09783A5FA}"/>
              </a:ext>
            </a:extLst>
          </p:cNvPr>
          <p:cNvSpPr txBox="1"/>
          <p:nvPr/>
        </p:nvSpPr>
        <p:spPr>
          <a:xfrm>
            <a:off x="10668000" y="6591300"/>
            <a:ext cx="1143000" cy="19050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pPr algn="r"/>
            <a:r>
              <a:rPr lang="en-US" altLang="ko-KR" sz="1100">
                <a:solidFill>
                  <a:srgbClr val="94A3B8"/>
                </a:solidFill>
                <a:latin typeface="FEF3C7"/>
              </a:rPr>
              <a:t>7 / 39</a:t>
            </a:r>
            <a:endParaRPr lang="ko-KR" altLang="en-US" sz="1100">
              <a:solidFill>
                <a:srgbClr val="94A3B8"/>
              </a:solidFill>
              <a:latin typeface="FEF3C7"/>
            </a:endParaRPr>
          </a:p>
        </p:txBody>
      </p:sp>
    </p:spTree>
    <p:extLst>
      <p:ext uri="{BB962C8B-B14F-4D97-AF65-F5344CB8AC3E}">
        <p14:creationId xmlns:p14="http://schemas.microsoft.com/office/powerpoint/2010/main" val="735318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BE1A670-384F-9A38-8BD8-D0D0E2FCD0CD}"/>
              </a:ext>
            </a:extLst>
          </p:cNvPr>
          <p:cNvSpPr txBox="1"/>
          <p:nvPr/>
        </p:nvSpPr>
        <p:spPr>
          <a:xfrm>
            <a:off x="381000" y="133350"/>
            <a:ext cx="9525000" cy="2095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altLang="ko-KR" sz="1300" b="1">
                <a:solidFill>
                  <a:srgbClr val="2563EB"/>
                </a:solidFill>
                <a:latin typeface="FEF3C7"/>
              </a:rPr>
              <a:t>01  ·  Debounce </a:t>
            </a:r>
            <a:r>
              <a:rPr lang="ko-KR" altLang="en-US" sz="1300" b="1">
                <a:solidFill>
                  <a:srgbClr val="2563EB"/>
                </a:solidFill>
                <a:latin typeface="FEF3C7"/>
              </a:rPr>
              <a:t>개념  </a:t>
            </a:r>
            <a:r>
              <a:rPr lang="en-US" altLang="ko-KR" sz="1300" b="1">
                <a:solidFill>
                  <a:srgbClr val="2563EB"/>
                </a:solidFill>
                <a:latin typeface="FEF3C7"/>
              </a:rPr>
              <a:t>·  SIPO </a:t>
            </a:r>
            <a:r>
              <a:rPr lang="ko-KR" altLang="en-US" sz="1300" b="1">
                <a:solidFill>
                  <a:srgbClr val="2563EB"/>
                </a:solidFill>
                <a:latin typeface="FEF3C7"/>
              </a:rPr>
              <a:t>판정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127EAE1-D6C1-9D0D-C0EA-90F4855CFF49}"/>
              </a:ext>
            </a:extLst>
          </p:cNvPr>
          <p:cNvSpPr txBox="1"/>
          <p:nvPr/>
        </p:nvSpPr>
        <p:spPr>
          <a:xfrm>
            <a:off x="381000" y="342900"/>
            <a:ext cx="10096500" cy="4381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altLang="ko-KR" sz="2600" b="1">
                <a:solidFill>
                  <a:srgbClr val="0F172A"/>
                </a:solidFill>
                <a:latin typeface="FEF3C7"/>
              </a:rPr>
              <a:t>SIPO Checks the Last 8 Samples at Once</a:t>
            </a:r>
            <a:endParaRPr lang="ko-KR" altLang="en-US" sz="2600" b="1">
              <a:solidFill>
                <a:srgbClr val="0F172A"/>
              </a:solidFill>
              <a:latin typeface="FEF3C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5DDD377-2DBC-3B23-3C8D-E9E019C0990E}"/>
              </a:ext>
            </a:extLst>
          </p:cNvPr>
          <p:cNvSpPr/>
          <p:nvPr/>
        </p:nvSpPr>
        <p:spPr>
          <a:xfrm>
            <a:off x="381000" y="819150"/>
            <a:ext cx="666750" cy="381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86DB6E-F806-7E37-1003-19CF6352680D}"/>
              </a:ext>
            </a:extLst>
          </p:cNvPr>
          <p:cNvSpPr txBox="1"/>
          <p:nvPr/>
        </p:nvSpPr>
        <p:spPr>
          <a:xfrm>
            <a:off x="10572750" y="133350"/>
            <a:ext cx="1238250" cy="60960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pPr algn="r"/>
            <a:r>
              <a:rPr lang="en-US" altLang="ko-KR" sz="4000" b="1">
                <a:solidFill>
                  <a:srgbClr val="BFDBFE"/>
                </a:solidFill>
                <a:latin typeface="FEF3C7"/>
              </a:rPr>
              <a:t>01</a:t>
            </a:r>
            <a:endParaRPr lang="ko-KR" altLang="en-US" sz="4000" b="1">
              <a:solidFill>
                <a:srgbClr val="BFDBFE"/>
              </a:solidFill>
              <a:latin typeface="FEF3C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04E27D-033E-BDD5-482C-1AA0C75C8A2C}"/>
              </a:ext>
            </a:extLst>
          </p:cNvPr>
          <p:cNvSpPr txBox="1"/>
          <p:nvPr/>
        </p:nvSpPr>
        <p:spPr>
          <a:xfrm>
            <a:off x="2857500" y="1104900"/>
            <a:ext cx="4876800" cy="2095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pPr algn="ctr"/>
            <a:r>
              <a:rPr lang="nn-NO" altLang="ko-KR" sz="1500" b="1">
                <a:solidFill>
                  <a:srgbClr val="475569"/>
                </a:solidFill>
                <a:latin typeface="FEF3C7"/>
              </a:rPr>
              <a:t>q_reg[7]   →   q_reg[0]</a:t>
            </a:r>
            <a:endParaRPr lang="ko-KR" altLang="en-US" sz="1500" b="1">
              <a:solidFill>
                <a:srgbClr val="475569"/>
              </a:solidFill>
              <a:latin typeface="FEF3C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868414-063A-19C8-3785-980935E3E128}"/>
              </a:ext>
            </a:extLst>
          </p:cNvPr>
          <p:cNvSpPr txBox="1"/>
          <p:nvPr/>
        </p:nvSpPr>
        <p:spPr>
          <a:xfrm>
            <a:off x="8191500" y="1104900"/>
            <a:ext cx="1333500" cy="2095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pPr algn="ctr"/>
            <a:r>
              <a:rPr lang="en-US" altLang="ko-KR" sz="1500" b="1">
                <a:solidFill>
                  <a:srgbClr val="475569"/>
                </a:solidFill>
                <a:latin typeface="FEF3C7"/>
              </a:rPr>
              <a:t>debounce</a:t>
            </a:r>
            <a:endParaRPr lang="ko-KR" altLang="en-US" sz="1500" b="1">
              <a:solidFill>
                <a:srgbClr val="475569"/>
              </a:solidFill>
              <a:latin typeface="FEF3C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D09B6B-46BF-EF87-1811-403C13D1C921}"/>
              </a:ext>
            </a:extLst>
          </p:cNvPr>
          <p:cNvSpPr txBox="1"/>
          <p:nvPr/>
        </p:nvSpPr>
        <p:spPr>
          <a:xfrm>
            <a:off x="571500" y="1562100"/>
            <a:ext cx="2095500" cy="2857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en-US" altLang="ko-KR" b="1">
                <a:solidFill>
                  <a:srgbClr val="1F2A44"/>
                </a:solidFill>
                <a:latin typeface="FEF3C7"/>
              </a:rPr>
              <a:t>Bounce A</a:t>
            </a:r>
            <a:endParaRPr lang="ko-KR" altLang="en-US" b="1">
              <a:solidFill>
                <a:srgbClr val="1F2A44"/>
              </a:solidFill>
              <a:latin typeface="FEF3C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3C0371E-20BA-0826-DA72-4F47BFEF82DE}"/>
              </a:ext>
            </a:extLst>
          </p:cNvPr>
          <p:cNvSpPr/>
          <p:nvPr/>
        </p:nvSpPr>
        <p:spPr>
          <a:xfrm>
            <a:off x="2857500" y="1428750"/>
            <a:ext cx="552450" cy="5715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/>
            <a:r>
              <a:rPr lang="en-US" altLang="ko-KR" sz="2000" b="1">
                <a:solidFill>
                  <a:srgbClr val="FFFFFF"/>
                </a:solidFill>
                <a:latin typeface="FEF3C7"/>
              </a:rPr>
              <a:t>1</a:t>
            </a:r>
            <a:endParaRPr lang="ko-KR" altLang="en-US" sz="2000" b="1">
              <a:solidFill>
                <a:srgbClr val="FFFFFF"/>
              </a:solidFill>
              <a:latin typeface="FEF3C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AAF4E1C-11A7-D651-154B-801C81CD6268}"/>
              </a:ext>
            </a:extLst>
          </p:cNvPr>
          <p:cNvSpPr/>
          <p:nvPr/>
        </p:nvSpPr>
        <p:spPr>
          <a:xfrm>
            <a:off x="3467100" y="1428750"/>
            <a:ext cx="552450" cy="5715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altLang="ko-KR" sz="2000" b="1">
                <a:solidFill>
                  <a:srgbClr val="94A3B8"/>
                </a:solidFill>
                <a:latin typeface="FEF3C7"/>
              </a:rPr>
              <a:t>0</a:t>
            </a:r>
            <a:endParaRPr lang="ko-KR" altLang="en-US" sz="2000" b="1">
              <a:solidFill>
                <a:srgbClr val="94A3B8"/>
              </a:solidFill>
              <a:latin typeface="FEF3C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8AA3822-1456-F841-FC06-00471FF8D4BC}"/>
              </a:ext>
            </a:extLst>
          </p:cNvPr>
          <p:cNvSpPr/>
          <p:nvPr/>
        </p:nvSpPr>
        <p:spPr>
          <a:xfrm>
            <a:off x="4076700" y="1428750"/>
            <a:ext cx="552450" cy="5715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/>
            <a:r>
              <a:rPr lang="en-US" altLang="ko-KR" sz="2000" b="1">
                <a:solidFill>
                  <a:srgbClr val="FFFFFF"/>
                </a:solidFill>
                <a:latin typeface="FEF3C7"/>
              </a:rPr>
              <a:t>1</a:t>
            </a:r>
            <a:endParaRPr lang="ko-KR" altLang="en-US" sz="2000" b="1">
              <a:solidFill>
                <a:srgbClr val="FFFFFF"/>
              </a:solidFill>
              <a:latin typeface="FEF3C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46E8DD0-0C5F-D303-A3F1-5B8CE3558F7E}"/>
              </a:ext>
            </a:extLst>
          </p:cNvPr>
          <p:cNvSpPr/>
          <p:nvPr/>
        </p:nvSpPr>
        <p:spPr>
          <a:xfrm>
            <a:off x="4686300" y="1428750"/>
            <a:ext cx="552450" cy="5715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/>
            <a:r>
              <a:rPr lang="en-US" altLang="ko-KR" sz="2000" b="1">
                <a:solidFill>
                  <a:srgbClr val="FFFFFF"/>
                </a:solidFill>
                <a:latin typeface="FEF3C7"/>
              </a:rPr>
              <a:t>1</a:t>
            </a:r>
            <a:endParaRPr lang="ko-KR" altLang="en-US" sz="2000" b="1">
              <a:solidFill>
                <a:srgbClr val="FFFFFF"/>
              </a:solidFill>
              <a:latin typeface="FEF3C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75BFDC9-DF54-2BC0-0659-DD38571F5D16}"/>
              </a:ext>
            </a:extLst>
          </p:cNvPr>
          <p:cNvSpPr/>
          <p:nvPr/>
        </p:nvSpPr>
        <p:spPr>
          <a:xfrm>
            <a:off x="5295900" y="1428750"/>
            <a:ext cx="552450" cy="5715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altLang="ko-KR" sz="2000" b="1">
                <a:solidFill>
                  <a:srgbClr val="94A3B8"/>
                </a:solidFill>
                <a:latin typeface="FEF3C7"/>
              </a:rPr>
              <a:t>0</a:t>
            </a:r>
            <a:endParaRPr lang="ko-KR" altLang="en-US" sz="2000" b="1">
              <a:solidFill>
                <a:srgbClr val="94A3B8"/>
              </a:solidFill>
              <a:latin typeface="FEF3C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A410AED-BE99-F0FB-2894-7A06DA3C2190}"/>
              </a:ext>
            </a:extLst>
          </p:cNvPr>
          <p:cNvSpPr/>
          <p:nvPr/>
        </p:nvSpPr>
        <p:spPr>
          <a:xfrm>
            <a:off x="5905500" y="1428750"/>
            <a:ext cx="552450" cy="5715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/>
            <a:r>
              <a:rPr lang="en-US" altLang="ko-KR" sz="2000" b="1">
                <a:solidFill>
                  <a:srgbClr val="FFFFFF"/>
                </a:solidFill>
                <a:latin typeface="FEF3C7"/>
              </a:rPr>
              <a:t>1</a:t>
            </a:r>
            <a:endParaRPr lang="ko-KR" altLang="en-US" sz="2000" b="1">
              <a:solidFill>
                <a:srgbClr val="FFFFFF"/>
              </a:solidFill>
              <a:latin typeface="FEF3C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68A23ADE-C560-F6A4-504F-3776CA39C1E8}"/>
              </a:ext>
            </a:extLst>
          </p:cNvPr>
          <p:cNvSpPr/>
          <p:nvPr/>
        </p:nvSpPr>
        <p:spPr>
          <a:xfrm>
            <a:off x="6515100" y="1428750"/>
            <a:ext cx="552450" cy="5715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/>
            <a:r>
              <a:rPr lang="en-US" altLang="ko-KR" sz="2000" b="1">
                <a:solidFill>
                  <a:srgbClr val="FFFFFF"/>
                </a:solidFill>
                <a:latin typeface="FEF3C7"/>
              </a:rPr>
              <a:t>1</a:t>
            </a:r>
            <a:endParaRPr lang="ko-KR" altLang="en-US" sz="2000" b="1">
              <a:solidFill>
                <a:srgbClr val="FFFFFF"/>
              </a:solidFill>
              <a:latin typeface="FEF3C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9A873C85-4772-AB13-7A52-99B1D639BBB6}"/>
              </a:ext>
            </a:extLst>
          </p:cNvPr>
          <p:cNvSpPr/>
          <p:nvPr/>
        </p:nvSpPr>
        <p:spPr>
          <a:xfrm>
            <a:off x="7124700" y="1428750"/>
            <a:ext cx="552450" cy="5715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/>
            <a:r>
              <a:rPr lang="en-US" altLang="ko-KR" sz="2000" b="1">
                <a:solidFill>
                  <a:srgbClr val="FFFFFF"/>
                </a:solidFill>
                <a:latin typeface="FEF3C7"/>
              </a:rPr>
              <a:t>1</a:t>
            </a:r>
            <a:endParaRPr lang="ko-KR" altLang="en-US" sz="2000" b="1">
              <a:solidFill>
                <a:srgbClr val="FFFFFF"/>
              </a:solidFill>
              <a:latin typeface="FEF3C7"/>
            </a:endParaRP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7E633CB5-2299-1A8B-A85A-1DDE5C6164DA}"/>
              </a:ext>
            </a:extLst>
          </p:cNvPr>
          <p:cNvCxnSpPr/>
          <p:nvPr/>
        </p:nvCxnSpPr>
        <p:spPr>
          <a:xfrm>
            <a:off x="7810500" y="1714500"/>
            <a:ext cx="571500" cy="0"/>
          </a:xfrm>
          <a:prstGeom prst="line">
            <a:avLst/>
          </a:prstGeom>
          <a:ln w="25400">
            <a:solidFill>
              <a:srgbClr val="1F2A44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6983558E-B9B1-625A-5325-CF31BE1E5197}"/>
              </a:ext>
            </a:extLst>
          </p:cNvPr>
          <p:cNvSpPr/>
          <p:nvPr/>
        </p:nvSpPr>
        <p:spPr>
          <a:xfrm>
            <a:off x="8477250" y="1428750"/>
            <a:ext cx="857250" cy="5715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altLang="ko-KR" sz="2200" b="1">
                <a:solidFill>
                  <a:srgbClr val="1F2A44"/>
                </a:solidFill>
                <a:latin typeface="FEF3C7"/>
              </a:rPr>
              <a:t>0</a:t>
            </a:r>
            <a:endParaRPr lang="ko-KR" altLang="en-US" sz="2200" b="1">
              <a:solidFill>
                <a:srgbClr val="1F2A44"/>
              </a:solidFill>
              <a:latin typeface="FEF3C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FC65B70-7648-9507-0EF4-5B45FB54A8CC}"/>
              </a:ext>
            </a:extLst>
          </p:cNvPr>
          <p:cNvSpPr txBox="1"/>
          <p:nvPr/>
        </p:nvSpPr>
        <p:spPr>
          <a:xfrm>
            <a:off x="571500" y="2381250"/>
            <a:ext cx="2095500" cy="2857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en-US" altLang="ko-KR" b="1">
                <a:solidFill>
                  <a:srgbClr val="1F2A44"/>
                </a:solidFill>
                <a:latin typeface="FEF3C7"/>
              </a:rPr>
              <a:t>Bounce B</a:t>
            </a:r>
            <a:endParaRPr lang="ko-KR" altLang="en-US" b="1">
              <a:solidFill>
                <a:srgbClr val="1F2A44"/>
              </a:solidFill>
              <a:latin typeface="FEF3C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F3CE08A3-AF0B-2CDF-586E-B248168FB8EF}"/>
              </a:ext>
            </a:extLst>
          </p:cNvPr>
          <p:cNvSpPr/>
          <p:nvPr/>
        </p:nvSpPr>
        <p:spPr>
          <a:xfrm>
            <a:off x="2857500" y="2247900"/>
            <a:ext cx="552450" cy="5715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/>
            <a:r>
              <a:rPr lang="en-US" altLang="ko-KR" sz="2000" b="1">
                <a:solidFill>
                  <a:srgbClr val="FFFFFF"/>
                </a:solidFill>
                <a:latin typeface="FEF3C7"/>
              </a:rPr>
              <a:t>1</a:t>
            </a:r>
            <a:endParaRPr lang="ko-KR" altLang="en-US" sz="2000" b="1">
              <a:solidFill>
                <a:srgbClr val="FFFFFF"/>
              </a:solidFill>
              <a:latin typeface="FEF3C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71AB97B8-2634-F57F-1C29-D65018CCC5D6}"/>
              </a:ext>
            </a:extLst>
          </p:cNvPr>
          <p:cNvSpPr/>
          <p:nvPr/>
        </p:nvSpPr>
        <p:spPr>
          <a:xfrm>
            <a:off x="3467100" y="2247900"/>
            <a:ext cx="552450" cy="5715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/>
            <a:r>
              <a:rPr lang="en-US" altLang="ko-KR" sz="2000" b="1">
                <a:solidFill>
                  <a:srgbClr val="FFFFFF"/>
                </a:solidFill>
                <a:latin typeface="FEF3C7"/>
              </a:rPr>
              <a:t>1</a:t>
            </a:r>
            <a:endParaRPr lang="ko-KR" altLang="en-US" sz="2000" b="1">
              <a:solidFill>
                <a:srgbClr val="FFFFFF"/>
              </a:solidFill>
              <a:latin typeface="FEF3C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E0297ACA-F817-A55A-C562-288518DF7B06}"/>
              </a:ext>
            </a:extLst>
          </p:cNvPr>
          <p:cNvSpPr/>
          <p:nvPr/>
        </p:nvSpPr>
        <p:spPr>
          <a:xfrm>
            <a:off x="4076700" y="2247900"/>
            <a:ext cx="552450" cy="5715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altLang="ko-KR" sz="2000" b="1">
                <a:solidFill>
                  <a:srgbClr val="94A3B8"/>
                </a:solidFill>
                <a:latin typeface="FEF3C7"/>
              </a:rPr>
              <a:t>0</a:t>
            </a:r>
            <a:endParaRPr lang="ko-KR" altLang="en-US" sz="2000" b="1">
              <a:solidFill>
                <a:srgbClr val="94A3B8"/>
              </a:solidFill>
              <a:latin typeface="FEF3C7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511891E4-1CE1-49BE-25EA-D5A5DFC48550}"/>
              </a:ext>
            </a:extLst>
          </p:cNvPr>
          <p:cNvSpPr/>
          <p:nvPr/>
        </p:nvSpPr>
        <p:spPr>
          <a:xfrm>
            <a:off x="4686300" y="2247900"/>
            <a:ext cx="552450" cy="5715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/>
            <a:r>
              <a:rPr lang="en-US" altLang="ko-KR" sz="2000" b="1">
                <a:solidFill>
                  <a:srgbClr val="FFFFFF"/>
                </a:solidFill>
                <a:latin typeface="FEF3C7"/>
              </a:rPr>
              <a:t>1</a:t>
            </a:r>
            <a:endParaRPr lang="ko-KR" altLang="en-US" sz="2000" b="1">
              <a:solidFill>
                <a:srgbClr val="FFFFFF"/>
              </a:solidFill>
              <a:latin typeface="FEF3C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C6BA9D64-40CE-C605-5BE5-1EE103919F0E}"/>
              </a:ext>
            </a:extLst>
          </p:cNvPr>
          <p:cNvSpPr/>
          <p:nvPr/>
        </p:nvSpPr>
        <p:spPr>
          <a:xfrm>
            <a:off x="5295900" y="2247900"/>
            <a:ext cx="552450" cy="5715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/>
            <a:r>
              <a:rPr lang="en-US" altLang="ko-KR" sz="2000" b="1">
                <a:solidFill>
                  <a:srgbClr val="FFFFFF"/>
                </a:solidFill>
                <a:latin typeface="FEF3C7"/>
              </a:rPr>
              <a:t>1</a:t>
            </a:r>
            <a:endParaRPr lang="ko-KR" altLang="en-US" sz="2000" b="1">
              <a:solidFill>
                <a:srgbClr val="FFFFFF"/>
              </a:solidFill>
              <a:latin typeface="FEF3C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FA093F65-3744-9AC5-88E5-CC74A54CB4E7}"/>
              </a:ext>
            </a:extLst>
          </p:cNvPr>
          <p:cNvSpPr/>
          <p:nvPr/>
        </p:nvSpPr>
        <p:spPr>
          <a:xfrm>
            <a:off x="5905500" y="2247900"/>
            <a:ext cx="552450" cy="5715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altLang="ko-KR" sz="2000" b="1">
                <a:solidFill>
                  <a:srgbClr val="94A3B8"/>
                </a:solidFill>
                <a:latin typeface="FEF3C7"/>
              </a:rPr>
              <a:t>0</a:t>
            </a:r>
            <a:endParaRPr lang="ko-KR" altLang="en-US" sz="2000" b="1">
              <a:solidFill>
                <a:srgbClr val="94A3B8"/>
              </a:solidFill>
              <a:latin typeface="FEF3C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933AEAB1-68A1-BAD5-ACB3-5B19C1943875}"/>
              </a:ext>
            </a:extLst>
          </p:cNvPr>
          <p:cNvSpPr/>
          <p:nvPr/>
        </p:nvSpPr>
        <p:spPr>
          <a:xfrm>
            <a:off x="6515100" y="2247900"/>
            <a:ext cx="552450" cy="5715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/>
            <a:r>
              <a:rPr lang="en-US" altLang="ko-KR" sz="2000" b="1">
                <a:solidFill>
                  <a:srgbClr val="FFFFFF"/>
                </a:solidFill>
                <a:latin typeface="FEF3C7"/>
              </a:rPr>
              <a:t>1</a:t>
            </a:r>
            <a:endParaRPr lang="ko-KR" altLang="en-US" sz="2000" b="1">
              <a:solidFill>
                <a:srgbClr val="FFFFFF"/>
              </a:solidFill>
              <a:latin typeface="FEF3C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DE83D30C-B9F3-D3FA-FBC7-637C8024ABA2}"/>
              </a:ext>
            </a:extLst>
          </p:cNvPr>
          <p:cNvSpPr/>
          <p:nvPr/>
        </p:nvSpPr>
        <p:spPr>
          <a:xfrm>
            <a:off x="7124700" y="2247900"/>
            <a:ext cx="552450" cy="5715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/>
            <a:r>
              <a:rPr lang="en-US" altLang="ko-KR" sz="2000" b="1">
                <a:solidFill>
                  <a:srgbClr val="FFFFFF"/>
                </a:solidFill>
                <a:latin typeface="FEF3C7"/>
              </a:rPr>
              <a:t>1</a:t>
            </a:r>
            <a:endParaRPr lang="ko-KR" altLang="en-US" sz="2000" b="1">
              <a:solidFill>
                <a:srgbClr val="FFFFFF"/>
              </a:solidFill>
              <a:latin typeface="FEF3C7"/>
            </a:endParaRPr>
          </a:p>
        </p:txBody>
      </p: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2D998EB5-017A-026D-230D-2172D163654B}"/>
              </a:ext>
            </a:extLst>
          </p:cNvPr>
          <p:cNvCxnSpPr/>
          <p:nvPr/>
        </p:nvCxnSpPr>
        <p:spPr>
          <a:xfrm>
            <a:off x="7810500" y="2533650"/>
            <a:ext cx="571500" cy="0"/>
          </a:xfrm>
          <a:prstGeom prst="line">
            <a:avLst/>
          </a:prstGeom>
          <a:ln w="25400">
            <a:solidFill>
              <a:srgbClr val="1F2A44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87BBA6C0-1159-1048-F4B3-23476B58D306}"/>
              </a:ext>
            </a:extLst>
          </p:cNvPr>
          <p:cNvSpPr/>
          <p:nvPr/>
        </p:nvSpPr>
        <p:spPr>
          <a:xfrm>
            <a:off x="8477250" y="2247900"/>
            <a:ext cx="857250" cy="5715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altLang="ko-KR" sz="2200" b="1">
                <a:solidFill>
                  <a:srgbClr val="1F2A44"/>
                </a:solidFill>
                <a:latin typeface="FEF3C7"/>
              </a:rPr>
              <a:t>0</a:t>
            </a:r>
            <a:endParaRPr lang="ko-KR" altLang="en-US" sz="2200" b="1">
              <a:solidFill>
                <a:srgbClr val="1F2A44"/>
              </a:solidFill>
              <a:latin typeface="FEF3C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E4FE9DC-37B9-A413-BA74-385EA0ACBCE9}"/>
              </a:ext>
            </a:extLst>
          </p:cNvPr>
          <p:cNvSpPr txBox="1"/>
          <p:nvPr/>
        </p:nvSpPr>
        <p:spPr>
          <a:xfrm>
            <a:off x="571500" y="3200400"/>
            <a:ext cx="2095500" cy="2857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b="1">
                <a:solidFill>
                  <a:srgbClr val="1F2A44"/>
                </a:solidFill>
                <a:latin typeface="FEF3C7"/>
              </a:rPr>
              <a:t>연속 </a:t>
            </a:r>
            <a:r>
              <a:rPr lang="en-US" altLang="ko-KR" b="1">
                <a:solidFill>
                  <a:srgbClr val="1F2A44"/>
                </a:solidFill>
                <a:latin typeface="FEF3C7"/>
              </a:rPr>
              <a:t>8</a:t>
            </a:r>
            <a:r>
              <a:rPr lang="ko-KR" altLang="en-US" b="1">
                <a:solidFill>
                  <a:srgbClr val="1F2A44"/>
                </a:solidFill>
                <a:latin typeface="FEF3C7"/>
              </a:rPr>
              <a:t>회 </a:t>
            </a:r>
            <a:r>
              <a:rPr lang="en-US" altLang="ko-KR" b="1">
                <a:solidFill>
                  <a:srgbClr val="1F2A44"/>
                </a:solidFill>
                <a:latin typeface="FEF3C7"/>
              </a:rPr>
              <a:t>1</a:t>
            </a:r>
            <a:endParaRPr lang="ko-KR" altLang="en-US" b="1">
              <a:solidFill>
                <a:srgbClr val="1F2A44"/>
              </a:solidFill>
              <a:latin typeface="FEF3C7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EADDC514-5E86-3253-7E60-CC21B38C5AB8}"/>
              </a:ext>
            </a:extLst>
          </p:cNvPr>
          <p:cNvSpPr/>
          <p:nvPr/>
        </p:nvSpPr>
        <p:spPr>
          <a:xfrm>
            <a:off x="2857500" y="3067050"/>
            <a:ext cx="552450" cy="5715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/>
            <a:r>
              <a:rPr lang="en-US" altLang="ko-KR" sz="2000" b="1">
                <a:solidFill>
                  <a:srgbClr val="FFFFFF"/>
                </a:solidFill>
                <a:latin typeface="FEF3C7"/>
              </a:rPr>
              <a:t>1</a:t>
            </a:r>
            <a:endParaRPr lang="ko-KR" altLang="en-US" sz="2000" b="1">
              <a:solidFill>
                <a:srgbClr val="FFFFFF"/>
              </a:solidFill>
              <a:latin typeface="FEF3C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693CD3BC-37CF-1C07-6296-25219203DF91}"/>
              </a:ext>
            </a:extLst>
          </p:cNvPr>
          <p:cNvSpPr/>
          <p:nvPr/>
        </p:nvSpPr>
        <p:spPr>
          <a:xfrm>
            <a:off x="3467100" y="3067050"/>
            <a:ext cx="552450" cy="5715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/>
            <a:r>
              <a:rPr lang="en-US" altLang="ko-KR" sz="2000" b="1">
                <a:solidFill>
                  <a:srgbClr val="FFFFFF"/>
                </a:solidFill>
                <a:latin typeface="FEF3C7"/>
              </a:rPr>
              <a:t>1</a:t>
            </a:r>
            <a:endParaRPr lang="ko-KR" altLang="en-US" sz="2000" b="1">
              <a:solidFill>
                <a:srgbClr val="FFFFFF"/>
              </a:solidFill>
              <a:latin typeface="FEF3C7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B790DF85-E3B7-266D-6C35-C23F52B75957}"/>
              </a:ext>
            </a:extLst>
          </p:cNvPr>
          <p:cNvSpPr/>
          <p:nvPr/>
        </p:nvSpPr>
        <p:spPr>
          <a:xfrm>
            <a:off x="4076700" y="3067050"/>
            <a:ext cx="552450" cy="5715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/>
            <a:r>
              <a:rPr lang="en-US" altLang="ko-KR" sz="2000" b="1">
                <a:solidFill>
                  <a:srgbClr val="FFFFFF"/>
                </a:solidFill>
                <a:latin typeface="FEF3C7"/>
              </a:rPr>
              <a:t>1</a:t>
            </a:r>
            <a:endParaRPr lang="ko-KR" altLang="en-US" sz="2000" b="1">
              <a:solidFill>
                <a:srgbClr val="FFFFFF"/>
              </a:solidFill>
              <a:latin typeface="FEF3C7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95535FFC-73AA-9F8C-1C74-B615DBF7799D}"/>
              </a:ext>
            </a:extLst>
          </p:cNvPr>
          <p:cNvSpPr/>
          <p:nvPr/>
        </p:nvSpPr>
        <p:spPr>
          <a:xfrm>
            <a:off x="4686300" y="3067050"/>
            <a:ext cx="552450" cy="5715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/>
            <a:r>
              <a:rPr lang="en-US" altLang="ko-KR" sz="2000" b="1">
                <a:solidFill>
                  <a:srgbClr val="FFFFFF"/>
                </a:solidFill>
                <a:latin typeface="FEF3C7"/>
              </a:rPr>
              <a:t>1</a:t>
            </a:r>
            <a:endParaRPr lang="ko-KR" altLang="en-US" sz="2000" b="1">
              <a:solidFill>
                <a:srgbClr val="FFFFFF"/>
              </a:solidFill>
              <a:latin typeface="FEF3C7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7BDC4B89-5055-04C8-BD0B-699C382A6790}"/>
              </a:ext>
            </a:extLst>
          </p:cNvPr>
          <p:cNvSpPr/>
          <p:nvPr/>
        </p:nvSpPr>
        <p:spPr>
          <a:xfrm>
            <a:off x="5295900" y="3067050"/>
            <a:ext cx="552450" cy="5715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/>
            <a:r>
              <a:rPr lang="en-US" altLang="ko-KR" sz="2000" b="1">
                <a:solidFill>
                  <a:srgbClr val="FFFFFF"/>
                </a:solidFill>
                <a:latin typeface="FEF3C7"/>
              </a:rPr>
              <a:t>1</a:t>
            </a:r>
            <a:endParaRPr lang="ko-KR" altLang="en-US" sz="2000" b="1">
              <a:solidFill>
                <a:srgbClr val="FFFFFF"/>
              </a:solidFill>
              <a:latin typeface="FEF3C7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40D3A0F1-DF1B-95F0-A154-174EFD106AC6}"/>
              </a:ext>
            </a:extLst>
          </p:cNvPr>
          <p:cNvSpPr/>
          <p:nvPr/>
        </p:nvSpPr>
        <p:spPr>
          <a:xfrm>
            <a:off x="5905500" y="3067050"/>
            <a:ext cx="552450" cy="5715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/>
            <a:r>
              <a:rPr lang="en-US" altLang="ko-KR" sz="2000" b="1">
                <a:solidFill>
                  <a:srgbClr val="FFFFFF"/>
                </a:solidFill>
                <a:latin typeface="FEF3C7"/>
              </a:rPr>
              <a:t>1</a:t>
            </a:r>
            <a:endParaRPr lang="ko-KR" altLang="en-US" sz="2000" b="1">
              <a:solidFill>
                <a:srgbClr val="FFFFFF"/>
              </a:solidFill>
              <a:latin typeface="FEF3C7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5FE6A6C8-7C98-C5DA-CBCA-9DC536FA6169}"/>
              </a:ext>
            </a:extLst>
          </p:cNvPr>
          <p:cNvSpPr/>
          <p:nvPr/>
        </p:nvSpPr>
        <p:spPr>
          <a:xfrm>
            <a:off x="6515100" y="3067050"/>
            <a:ext cx="552450" cy="5715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/>
            <a:r>
              <a:rPr lang="en-US" altLang="ko-KR" sz="2000" b="1">
                <a:solidFill>
                  <a:srgbClr val="FFFFFF"/>
                </a:solidFill>
                <a:latin typeface="FEF3C7"/>
              </a:rPr>
              <a:t>1</a:t>
            </a:r>
            <a:endParaRPr lang="ko-KR" altLang="en-US" sz="2000" b="1">
              <a:solidFill>
                <a:srgbClr val="FFFFFF"/>
              </a:solidFill>
              <a:latin typeface="FEF3C7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524A490E-D8B3-4D47-E6B5-5FA963321E3F}"/>
              </a:ext>
            </a:extLst>
          </p:cNvPr>
          <p:cNvSpPr/>
          <p:nvPr/>
        </p:nvSpPr>
        <p:spPr>
          <a:xfrm>
            <a:off x="7124700" y="3067050"/>
            <a:ext cx="552450" cy="5715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/>
            <a:r>
              <a:rPr lang="en-US" altLang="ko-KR" sz="2000" b="1">
                <a:solidFill>
                  <a:srgbClr val="FFFFFF"/>
                </a:solidFill>
                <a:latin typeface="FEF3C7"/>
              </a:rPr>
              <a:t>1</a:t>
            </a:r>
            <a:endParaRPr lang="ko-KR" altLang="en-US" sz="2000" b="1">
              <a:solidFill>
                <a:srgbClr val="FFFFFF"/>
              </a:solidFill>
              <a:latin typeface="FEF3C7"/>
            </a:endParaRPr>
          </a:p>
        </p:txBody>
      </p: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E7197CBA-296C-DE38-F6D3-21E9AD43E90C}"/>
              </a:ext>
            </a:extLst>
          </p:cNvPr>
          <p:cNvCxnSpPr/>
          <p:nvPr/>
        </p:nvCxnSpPr>
        <p:spPr>
          <a:xfrm>
            <a:off x="7810500" y="3352800"/>
            <a:ext cx="571500" cy="0"/>
          </a:xfrm>
          <a:prstGeom prst="line">
            <a:avLst/>
          </a:prstGeom>
          <a:ln w="25400">
            <a:solidFill>
              <a:srgbClr val="1F2A44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15A2A139-A5DF-6241-CB41-0ECE792D7BEF}"/>
              </a:ext>
            </a:extLst>
          </p:cNvPr>
          <p:cNvSpPr/>
          <p:nvPr/>
        </p:nvSpPr>
        <p:spPr>
          <a:xfrm>
            <a:off x="8477250" y="3067050"/>
            <a:ext cx="857250" cy="571500"/>
          </a:xfrm>
          <a:prstGeom prst="rect">
            <a:avLst/>
          </a:prstGeom>
          <a:solidFill>
            <a:srgbClr val="16A3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/>
            <a:r>
              <a:rPr lang="en-US" altLang="ko-KR" sz="2200" b="1">
                <a:solidFill>
                  <a:srgbClr val="FFFFFF"/>
                </a:solidFill>
                <a:latin typeface="FEF3C7"/>
              </a:rPr>
              <a:t>1</a:t>
            </a:r>
            <a:endParaRPr lang="ko-KR" altLang="en-US" sz="2200" b="1">
              <a:solidFill>
                <a:srgbClr val="FFFFFF"/>
              </a:solidFill>
              <a:latin typeface="FEF3C7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009C3490-126A-FFCF-0999-EA1C6BDDDA87}"/>
              </a:ext>
            </a:extLst>
          </p:cNvPr>
          <p:cNvSpPr/>
          <p:nvPr/>
        </p:nvSpPr>
        <p:spPr>
          <a:xfrm>
            <a:off x="571500" y="4095750"/>
            <a:ext cx="5334000" cy="66675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endParaRPr lang="ko-KR" altLang="en-US"/>
          </a:p>
        </p:txBody>
      </p:sp>
      <p:sp>
        <p:nvSpPr>
          <p:cNvPr id="42" name="타원 41">
            <a:extLst>
              <a:ext uri="{FF2B5EF4-FFF2-40B4-BE49-F238E27FC236}">
                <a16:creationId xmlns:a16="http://schemas.microsoft.com/office/drawing/2014/main" id="{AA68EB14-A31F-9A79-D069-0E958DA95E46}"/>
              </a:ext>
            </a:extLst>
          </p:cNvPr>
          <p:cNvSpPr/>
          <p:nvPr/>
        </p:nvSpPr>
        <p:spPr>
          <a:xfrm>
            <a:off x="685800" y="4305300"/>
            <a:ext cx="247650" cy="247650"/>
          </a:xfrm>
          <a:prstGeom prst="ellipse">
            <a:avLst/>
          </a:prstGeom>
          <a:solidFill>
            <a:srgbClr val="EA580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/>
            <a:r>
              <a:rPr lang="en-US" altLang="ko-KR" sz="1200" b="1">
                <a:solidFill>
                  <a:srgbClr val="FFFFFF"/>
                </a:solidFill>
                <a:latin typeface="FEF3C7"/>
              </a:rPr>
              <a:t>1</a:t>
            </a:r>
            <a:endParaRPr lang="ko-KR" altLang="en-US" sz="1200" b="1">
              <a:solidFill>
                <a:srgbClr val="FFFFFF"/>
              </a:solidFill>
              <a:latin typeface="FEF3C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82FA340-FFBE-6FD3-32FE-819E4A328161}"/>
              </a:ext>
            </a:extLst>
          </p:cNvPr>
          <p:cNvSpPr txBox="1"/>
          <p:nvPr/>
        </p:nvSpPr>
        <p:spPr>
          <a:xfrm>
            <a:off x="1028700" y="4095750"/>
            <a:ext cx="4781550" cy="6667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altLang="ko-KR" sz="1700" b="1">
                <a:solidFill>
                  <a:srgbClr val="1F2A44"/>
                </a:solidFill>
                <a:latin typeface="FEF3C7"/>
              </a:rPr>
              <a:t>debounce = &amp;q_reg  (8-input AND)</a:t>
            </a:r>
            <a:endParaRPr lang="ko-KR" altLang="en-US" sz="1700" b="1">
              <a:solidFill>
                <a:srgbClr val="1F2A44"/>
              </a:solidFill>
              <a:latin typeface="FEF3C7"/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D150D39B-9EB3-C65F-958C-6904E8ADEBEC}"/>
              </a:ext>
            </a:extLst>
          </p:cNvPr>
          <p:cNvSpPr/>
          <p:nvPr/>
        </p:nvSpPr>
        <p:spPr>
          <a:xfrm>
            <a:off x="6286500" y="4095750"/>
            <a:ext cx="5334000" cy="66675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endParaRPr lang="ko-KR" altLang="en-US"/>
          </a:p>
        </p:txBody>
      </p:sp>
      <p:sp>
        <p:nvSpPr>
          <p:cNvPr id="45" name="타원 44">
            <a:extLst>
              <a:ext uri="{FF2B5EF4-FFF2-40B4-BE49-F238E27FC236}">
                <a16:creationId xmlns:a16="http://schemas.microsoft.com/office/drawing/2014/main" id="{784676A5-3260-E74B-386F-82B11F90E598}"/>
              </a:ext>
            </a:extLst>
          </p:cNvPr>
          <p:cNvSpPr/>
          <p:nvPr/>
        </p:nvSpPr>
        <p:spPr>
          <a:xfrm>
            <a:off x="6400800" y="4305300"/>
            <a:ext cx="247650" cy="247650"/>
          </a:xfrm>
          <a:prstGeom prst="ellipse">
            <a:avLst/>
          </a:prstGeom>
          <a:solidFill>
            <a:srgbClr val="EA580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/>
            <a:r>
              <a:rPr lang="en-US" altLang="ko-KR" sz="1200" b="1">
                <a:solidFill>
                  <a:srgbClr val="FFFFFF"/>
                </a:solidFill>
                <a:latin typeface="FEF3C7"/>
              </a:rPr>
              <a:t>2</a:t>
            </a:r>
            <a:endParaRPr lang="ko-KR" altLang="en-US" sz="1200" b="1">
              <a:solidFill>
                <a:srgbClr val="FFFFFF"/>
              </a:solidFill>
              <a:latin typeface="FEF3C7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63382F9-7562-525E-6057-B0903C2898BF}"/>
              </a:ext>
            </a:extLst>
          </p:cNvPr>
          <p:cNvSpPr txBox="1"/>
          <p:nvPr/>
        </p:nvSpPr>
        <p:spPr>
          <a:xfrm>
            <a:off x="6743700" y="4095750"/>
            <a:ext cx="4781550" cy="6667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altLang="ko-KR" sz="1700" b="1">
                <a:solidFill>
                  <a:srgbClr val="1F2A44"/>
                </a:solidFill>
                <a:latin typeface="FEF3C7"/>
              </a:rPr>
              <a:t>Window = 8 × 10 ns = 80 ns</a:t>
            </a:r>
            <a:endParaRPr lang="ko-KR" altLang="en-US" sz="1700" b="1">
              <a:solidFill>
                <a:srgbClr val="1F2A44"/>
              </a:solidFill>
              <a:latin typeface="FEF3C7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4D5AB08C-989E-DB4D-CBF2-B27EEAFE338D}"/>
              </a:ext>
            </a:extLst>
          </p:cNvPr>
          <p:cNvSpPr/>
          <p:nvPr/>
        </p:nvSpPr>
        <p:spPr>
          <a:xfrm>
            <a:off x="571500" y="4953000"/>
            <a:ext cx="11049000" cy="666750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endParaRPr lang="ko-KR" alt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DFA2CDB-D9DF-653A-4376-CF5C7708940C}"/>
              </a:ext>
            </a:extLst>
          </p:cNvPr>
          <p:cNvSpPr txBox="1"/>
          <p:nvPr/>
        </p:nvSpPr>
        <p:spPr>
          <a:xfrm>
            <a:off x="704850" y="4953000"/>
            <a:ext cx="10820400" cy="6667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altLang="ko-KR" sz="1700" b="1">
                <a:solidFill>
                  <a:srgbClr val="DC2626"/>
                </a:solidFill>
                <a:latin typeface="FEF3C7"/>
              </a:rPr>
              <a:t>0</a:t>
            </a:r>
            <a:r>
              <a:rPr lang="ko-KR" altLang="en-US" sz="1700" b="1">
                <a:solidFill>
                  <a:srgbClr val="DC2626"/>
                </a:solidFill>
                <a:latin typeface="FEF3C7"/>
              </a:rPr>
              <a:t>이 하나라도 섞인 구간 </a:t>
            </a:r>
            <a:r>
              <a:rPr lang="en-US" altLang="ko-KR" sz="1700" b="1">
                <a:solidFill>
                  <a:srgbClr val="DC2626"/>
                </a:solidFill>
                <a:latin typeface="FEF3C7"/>
              </a:rPr>
              <a:t>(bounce) → debounce = 0</a:t>
            </a:r>
            <a:endParaRPr lang="ko-KR" altLang="en-US" sz="1700" b="1">
              <a:solidFill>
                <a:srgbClr val="DC2626"/>
              </a:solidFill>
              <a:latin typeface="FEF3C7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DAA62D2-7DF7-9FDE-48CE-4C30B79F7971}"/>
              </a:ext>
            </a:extLst>
          </p:cNvPr>
          <p:cNvSpPr txBox="1"/>
          <p:nvPr/>
        </p:nvSpPr>
        <p:spPr>
          <a:xfrm>
            <a:off x="10668000" y="6591300"/>
            <a:ext cx="1143000" cy="19050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pPr algn="r"/>
            <a:r>
              <a:rPr lang="en-US" altLang="ko-KR" sz="1100">
                <a:solidFill>
                  <a:srgbClr val="94A3B8"/>
                </a:solidFill>
                <a:latin typeface="FEF3C7"/>
              </a:rPr>
              <a:t>8 / 39</a:t>
            </a:r>
            <a:endParaRPr lang="ko-KR" altLang="en-US" sz="1100">
              <a:solidFill>
                <a:srgbClr val="94A3B8"/>
              </a:solidFill>
              <a:latin typeface="FEF3C7"/>
            </a:endParaRPr>
          </a:p>
        </p:txBody>
      </p:sp>
    </p:spTree>
    <p:extLst>
      <p:ext uri="{BB962C8B-B14F-4D97-AF65-F5344CB8AC3E}">
        <p14:creationId xmlns:p14="http://schemas.microsoft.com/office/powerpoint/2010/main" val="23249441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A4C55DB-AF07-8D54-B950-A702E87E1C6E}"/>
              </a:ext>
            </a:extLst>
          </p:cNvPr>
          <p:cNvSpPr txBox="1"/>
          <p:nvPr/>
        </p:nvSpPr>
        <p:spPr>
          <a:xfrm>
            <a:off x="381000" y="133350"/>
            <a:ext cx="9525000" cy="2095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altLang="ko-KR" sz="1300" b="1">
                <a:solidFill>
                  <a:srgbClr val="2563EB"/>
                </a:solidFill>
                <a:latin typeface="FEF3C7"/>
              </a:rPr>
              <a:t>01  ·  Debounce </a:t>
            </a:r>
            <a:r>
              <a:rPr lang="ko-KR" altLang="en-US" sz="1300" b="1">
                <a:solidFill>
                  <a:srgbClr val="2563EB"/>
                </a:solidFill>
                <a:latin typeface="FEF3C7"/>
              </a:rPr>
              <a:t>개념  </a:t>
            </a:r>
            <a:r>
              <a:rPr lang="en-US" altLang="ko-KR" sz="1300" b="1">
                <a:solidFill>
                  <a:srgbClr val="2563EB"/>
                </a:solidFill>
                <a:latin typeface="FEF3C7"/>
              </a:rPr>
              <a:t>·  Level vs Tick</a:t>
            </a:r>
            <a:endParaRPr lang="ko-KR" altLang="en-US" sz="1300" b="1">
              <a:solidFill>
                <a:srgbClr val="2563EB"/>
              </a:solidFill>
              <a:latin typeface="FEF3C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EC67F8-8FF7-E376-29F2-A7E7AC70118D}"/>
              </a:ext>
            </a:extLst>
          </p:cNvPr>
          <p:cNvSpPr txBox="1"/>
          <p:nvPr/>
        </p:nvSpPr>
        <p:spPr>
          <a:xfrm>
            <a:off x="381000" y="342900"/>
            <a:ext cx="10096500" cy="4381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altLang="ko-KR" sz="2600" b="1">
                <a:solidFill>
                  <a:srgbClr val="0F172A"/>
                </a:solidFill>
                <a:latin typeface="FEF3C7"/>
              </a:rPr>
              <a:t>Level Input Toggles Every Clock, a Tick Toggles Once</a:t>
            </a:r>
            <a:endParaRPr lang="ko-KR" altLang="en-US" sz="2600" b="1">
              <a:solidFill>
                <a:srgbClr val="0F172A"/>
              </a:solidFill>
              <a:latin typeface="FEF3C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0EC70EC-C2C8-82D4-B9D9-57C7B87B6C02}"/>
              </a:ext>
            </a:extLst>
          </p:cNvPr>
          <p:cNvSpPr/>
          <p:nvPr/>
        </p:nvSpPr>
        <p:spPr>
          <a:xfrm>
            <a:off x="381000" y="819150"/>
            <a:ext cx="666750" cy="381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5A6F68-5EFD-C8E5-608A-761C688AB8E6}"/>
              </a:ext>
            </a:extLst>
          </p:cNvPr>
          <p:cNvSpPr txBox="1"/>
          <p:nvPr/>
        </p:nvSpPr>
        <p:spPr>
          <a:xfrm>
            <a:off x="10572750" y="133350"/>
            <a:ext cx="1238250" cy="60960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pPr algn="r"/>
            <a:r>
              <a:rPr lang="en-US" altLang="ko-KR" sz="4000" b="1">
                <a:solidFill>
                  <a:srgbClr val="BFDBFE"/>
                </a:solidFill>
                <a:latin typeface="FEF3C7"/>
              </a:rPr>
              <a:t>01</a:t>
            </a:r>
            <a:endParaRPr lang="ko-KR" altLang="en-US" sz="4000" b="1">
              <a:solidFill>
                <a:srgbClr val="BFDBFE"/>
              </a:solidFill>
              <a:latin typeface="FEF3C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66C2FA9-E4CE-1635-466F-DA3BFBE45CB0}"/>
              </a:ext>
            </a:extLst>
          </p:cNvPr>
          <p:cNvSpPr/>
          <p:nvPr/>
        </p:nvSpPr>
        <p:spPr>
          <a:xfrm>
            <a:off x="381000" y="1699389"/>
            <a:ext cx="5524500" cy="375285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1CB65A1-3B03-7EB8-9AF7-FCAE6A2D0CBC}"/>
              </a:ext>
            </a:extLst>
          </p:cNvPr>
          <p:cNvSpPr/>
          <p:nvPr/>
        </p:nvSpPr>
        <p:spPr>
          <a:xfrm>
            <a:off x="381000" y="1699389"/>
            <a:ext cx="5524500" cy="419100"/>
          </a:xfrm>
          <a:prstGeom prst="rect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r>
              <a:rPr lang="en-US" altLang="ko-KR" sz="1600" b="1">
                <a:solidFill>
                  <a:srgbClr val="FFFFFF"/>
                </a:solidFill>
                <a:latin typeface="FEF3C7"/>
              </a:rPr>
              <a:t>Level </a:t>
            </a:r>
            <a:r>
              <a:rPr lang="ko-KR" altLang="en-US" sz="1600" b="1">
                <a:solidFill>
                  <a:srgbClr val="FFFFFF"/>
                </a:solidFill>
                <a:latin typeface="FEF3C7"/>
              </a:rPr>
              <a:t>입력 </a:t>
            </a:r>
            <a:r>
              <a:rPr lang="en-US" altLang="ko-KR" sz="1600" b="1">
                <a:solidFill>
                  <a:srgbClr val="FFFFFF"/>
                </a:solidFill>
                <a:latin typeface="FEF3C7"/>
              </a:rPr>
              <a:t>(debounce </a:t>
            </a:r>
            <a:r>
              <a:rPr lang="ko-KR" altLang="en-US" sz="1600" b="1">
                <a:solidFill>
                  <a:srgbClr val="FFFFFF"/>
                </a:solidFill>
                <a:latin typeface="FEF3C7"/>
              </a:rPr>
              <a:t>직결</a:t>
            </a:r>
            <a:r>
              <a:rPr lang="en-US" altLang="ko-KR" sz="1600" b="1">
                <a:solidFill>
                  <a:srgbClr val="FFFFFF"/>
                </a:solidFill>
                <a:latin typeface="FEF3C7"/>
              </a:rPr>
              <a:t>)</a:t>
            </a:r>
            <a:endParaRPr lang="ko-KR" altLang="en-US" sz="1600" b="1">
              <a:solidFill>
                <a:srgbClr val="FFFFFF"/>
              </a:solidFill>
              <a:latin typeface="FEF3C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397DD4-6DE9-757D-F542-8DB9B31157AB}"/>
              </a:ext>
            </a:extLst>
          </p:cNvPr>
          <p:cNvSpPr txBox="1"/>
          <p:nvPr/>
        </p:nvSpPr>
        <p:spPr>
          <a:xfrm>
            <a:off x="514350" y="2366139"/>
            <a:ext cx="857250" cy="2095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en-US" altLang="ko-KR" sz="1500" b="1">
                <a:solidFill>
                  <a:srgbClr val="475569"/>
                </a:solidFill>
                <a:latin typeface="FEF3C7"/>
              </a:rPr>
              <a:t>clk</a:t>
            </a:r>
            <a:endParaRPr lang="ko-KR" altLang="en-US" sz="1500" b="1">
              <a:solidFill>
                <a:srgbClr val="475569"/>
              </a:solidFill>
              <a:latin typeface="FEF3C7"/>
            </a:endParaRPr>
          </a:p>
        </p:txBody>
      </p:sp>
      <p:sp>
        <p:nvSpPr>
          <p:cNvPr id="9" name="자유형: 도형 8">
            <a:extLst>
              <a:ext uri="{FF2B5EF4-FFF2-40B4-BE49-F238E27FC236}">
                <a16:creationId xmlns:a16="http://schemas.microsoft.com/office/drawing/2014/main" id="{3E71C345-5172-74F0-629D-761E34916DB1}"/>
              </a:ext>
            </a:extLst>
          </p:cNvPr>
          <p:cNvSpPr/>
          <p:nvPr/>
        </p:nvSpPr>
        <p:spPr>
          <a:xfrm>
            <a:off x="1428750" y="2318514"/>
            <a:ext cx="4191001" cy="247651"/>
          </a:xfrm>
          <a:custGeom>
            <a:avLst/>
            <a:gdLst/>
            <a:ahLst/>
            <a:cxnLst/>
            <a:rect l="0" t="0" r="0" b="0"/>
            <a:pathLst>
              <a:path w="4191001" h="247651">
                <a:moveTo>
                  <a:pt x="0" y="247650"/>
                </a:moveTo>
                <a:lnTo>
                  <a:pt x="190500" y="247650"/>
                </a:lnTo>
                <a:lnTo>
                  <a:pt x="190500" y="0"/>
                </a:lnTo>
                <a:lnTo>
                  <a:pt x="381000" y="0"/>
                </a:lnTo>
                <a:lnTo>
                  <a:pt x="381000" y="247650"/>
                </a:lnTo>
                <a:lnTo>
                  <a:pt x="571500" y="247650"/>
                </a:lnTo>
                <a:lnTo>
                  <a:pt x="571500" y="0"/>
                </a:lnTo>
                <a:lnTo>
                  <a:pt x="762000" y="0"/>
                </a:lnTo>
                <a:lnTo>
                  <a:pt x="762000" y="247650"/>
                </a:lnTo>
                <a:lnTo>
                  <a:pt x="952500" y="247650"/>
                </a:lnTo>
                <a:lnTo>
                  <a:pt x="952500" y="0"/>
                </a:lnTo>
                <a:lnTo>
                  <a:pt x="1143000" y="0"/>
                </a:lnTo>
                <a:lnTo>
                  <a:pt x="1143000" y="247650"/>
                </a:lnTo>
                <a:lnTo>
                  <a:pt x="1333500" y="247650"/>
                </a:lnTo>
                <a:lnTo>
                  <a:pt x="1333500" y="0"/>
                </a:lnTo>
                <a:lnTo>
                  <a:pt x="1524000" y="0"/>
                </a:lnTo>
                <a:lnTo>
                  <a:pt x="1524000" y="247650"/>
                </a:lnTo>
                <a:lnTo>
                  <a:pt x="1714500" y="247650"/>
                </a:lnTo>
                <a:lnTo>
                  <a:pt x="1714500" y="0"/>
                </a:lnTo>
                <a:lnTo>
                  <a:pt x="1905000" y="0"/>
                </a:lnTo>
                <a:lnTo>
                  <a:pt x="1905000" y="247650"/>
                </a:lnTo>
                <a:lnTo>
                  <a:pt x="2095500" y="247650"/>
                </a:lnTo>
                <a:lnTo>
                  <a:pt x="2095500" y="0"/>
                </a:lnTo>
                <a:lnTo>
                  <a:pt x="2286000" y="0"/>
                </a:lnTo>
                <a:lnTo>
                  <a:pt x="2286000" y="247650"/>
                </a:lnTo>
                <a:lnTo>
                  <a:pt x="2476500" y="247650"/>
                </a:lnTo>
                <a:lnTo>
                  <a:pt x="2476500" y="0"/>
                </a:lnTo>
                <a:lnTo>
                  <a:pt x="2667000" y="0"/>
                </a:lnTo>
                <a:lnTo>
                  <a:pt x="2667000" y="247650"/>
                </a:lnTo>
                <a:lnTo>
                  <a:pt x="2857500" y="247650"/>
                </a:lnTo>
                <a:lnTo>
                  <a:pt x="2857500" y="0"/>
                </a:lnTo>
                <a:lnTo>
                  <a:pt x="3048000" y="0"/>
                </a:lnTo>
                <a:lnTo>
                  <a:pt x="3048000" y="247650"/>
                </a:lnTo>
                <a:lnTo>
                  <a:pt x="3238500" y="247650"/>
                </a:lnTo>
                <a:lnTo>
                  <a:pt x="3238500" y="0"/>
                </a:lnTo>
                <a:lnTo>
                  <a:pt x="3429000" y="0"/>
                </a:lnTo>
                <a:lnTo>
                  <a:pt x="3429000" y="247650"/>
                </a:lnTo>
                <a:lnTo>
                  <a:pt x="3619500" y="247650"/>
                </a:lnTo>
                <a:lnTo>
                  <a:pt x="3619500" y="0"/>
                </a:lnTo>
                <a:lnTo>
                  <a:pt x="3810000" y="0"/>
                </a:lnTo>
                <a:lnTo>
                  <a:pt x="3810000" y="247650"/>
                </a:lnTo>
                <a:lnTo>
                  <a:pt x="4000500" y="247650"/>
                </a:lnTo>
                <a:lnTo>
                  <a:pt x="4000500" y="0"/>
                </a:lnTo>
                <a:lnTo>
                  <a:pt x="4191000" y="0"/>
                </a:lnTo>
              </a:path>
            </a:pathLst>
          </a:cu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F8430CE-4344-CA1C-F0EA-75B1C268C0A5}"/>
              </a:ext>
            </a:extLst>
          </p:cNvPr>
          <p:cNvSpPr txBox="1"/>
          <p:nvPr/>
        </p:nvSpPr>
        <p:spPr>
          <a:xfrm>
            <a:off x="514350" y="2985264"/>
            <a:ext cx="857250" cy="2095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en-US" altLang="ko-KR" sz="1500" b="1">
                <a:solidFill>
                  <a:srgbClr val="1F2A44"/>
                </a:solidFill>
                <a:latin typeface="FEF3C7"/>
              </a:rPr>
              <a:t>input</a:t>
            </a:r>
            <a:endParaRPr lang="ko-KR" altLang="en-US" sz="1500" b="1">
              <a:solidFill>
                <a:srgbClr val="1F2A44"/>
              </a:solidFill>
              <a:latin typeface="FEF3C7"/>
            </a:endParaRPr>
          </a:p>
        </p:txBody>
      </p:sp>
      <p:sp>
        <p:nvSpPr>
          <p:cNvPr id="11" name="자유형: 도형 10">
            <a:extLst>
              <a:ext uri="{FF2B5EF4-FFF2-40B4-BE49-F238E27FC236}">
                <a16:creationId xmlns:a16="http://schemas.microsoft.com/office/drawing/2014/main" id="{3103E768-7093-C0E4-A332-59D86630E8B9}"/>
              </a:ext>
            </a:extLst>
          </p:cNvPr>
          <p:cNvSpPr/>
          <p:nvPr/>
        </p:nvSpPr>
        <p:spPr>
          <a:xfrm>
            <a:off x="1428750" y="2937639"/>
            <a:ext cx="4191001" cy="285751"/>
          </a:xfrm>
          <a:custGeom>
            <a:avLst/>
            <a:gdLst/>
            <a:ahLst/>
            <a:cxnLst/>
            <a:rect l="0" t="0" r="0" b="0"/>
            <a:pathLst>
              <a:path w="4191001" h="285751">
                <a:moveTo>
                  <a:pt x="0" y="285750"/>
                </a:moveTo>
                <a:lnTo>
                  <a:pt x="952500" y="285750"/>
                </a:lnTo>
                <a:lnTo>
                  <a:pt x="952500" y="0"/>
                </a:lnTo>
                <a:lnTo>
                  <a:pt x="3238500" y="0"/>
                </a:lnTo>
                <a:lnTo>
                  <a:pt x="3238500" y="285750"/>
                </a:lnTo>
                <a:lnTo>
                  <a:pt x="4191000" y="285750"/>
                </a:lnTo>
              </a:path>
            </a:pathLst>
          </a:custGeom>
          <a:ln w="31750">
            <a:solidFill>
              <a:srgbClr val="DC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C73ABC4-5B56-ABC5-6FEF-271153FD254F}"/>
              </a:ext>
            </a:extLst>
          </p:cNvPr>
          <p:cNvSpPr txBox="1"/>
          <p:nvPr/>
        </p:nvSpPr>
        <p:spPr>
          <a:xfrm>
            <a:off x="514350" y="3699639"/>
            <a:ext cx="857250" cy="2095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en-US" altLang="ko-KR" sz="1500" b="1">
                <a:solidFill>
                  <a:srgbClr val="1F2A44"/>
                </a:solidFill>
                <a:latin typeface="FEF3C7"/>
              </a:rPr>
              <a:t>state</a:t>
            </a:r>
            <a:endParaRPr lang="ko-KR" altLang="en-US" sz="1500" b="1">
              <a:solidFill>
                <a:srgbClr val="1F2A44"/>
              </a:solidFill>
              <a:latin typeface="FEF3C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048E7D9-FD78-4E7A-5612-13A208C557BE}"/>
              </a:ext>
            </a:extLst>
          </p:cNvPr>
          <p:cNvSpPr/>
          <p:nvPr/>
        </p:nvSpPr>
        <p:spPr>
          <a:xfrm>
            <a:off x="6286500" y="1699389"/>
            <a:ext cx="5524500" cy="375285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C593816-D22A-F2D0-2683-D55F8B12B5BD}"/>
              </a:ext>
            </a:extLst>
          </p:cNvPr>
          <p:cNvSpPr/>
          <p:nvPr/>
        </p:nvSpPr>
        <p:spPr>
          <a:xfrm>
            <a:off x="6286500" y="1699389"/>
            <a:ext cx="5524500" cy="419100"/>
          </a:xfrm>
          <a:prstGeom prst="rect">
            <a:avLst/>
          </a:prstGeom>
          <a:solidFill>
            <a:srgbClr val="16A3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r>
              <a:rPr lang="en-US" altLang="ko-KR" sz="1600" b="1">
                <a:solidFill>
                  <a:srgbClr val="FFFFFF"/>
                </a:solidFill>
                <a:latin typeface="FEF3C7"/>
              </a:rPr>
              <a:t>Tick </a:t>
            </a:r>
            <a:r>
              <a:rPr lang="ko-KR" altLang="en-US" sz="1600" b="1">
                <a:solidFill>
                  <a:srgbClr val="FFFFFF"/>
                </a:solidFill>
                <a:latin typeface="FEF3C7"/>
              </a:rPr>
              <a:t>입력 </a:t>
            </a:r>
            <a:r>
              <a:rPr lang="en-US" altLang="ko-KR" sz="1600" b="1">
                <a:solidFill>
                  <a:srgbClr val="FFFFFF"/>
                </a:solidFill>
                <a:latin typeface="FEF3C7"/>
              </a:rPr>
              <a:t>(o_btn)</a:t>
            </a:r>
            <a:endParaRPr lang="ko-KR" altLang="en-US" sz="1600" b="1">
              <a:solidFill>
                <a:srgbClr val="FFFFFF"/>
              </a:solidFill>
              <a:latin typeface="FEF3C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1EBC442-2714-6A21-195A-4936084CB989}"/>
              </a:ext>
            </a:extLst>
          </p:cNvPr>
          <p:cNvSpPr txBox="1"/>
          <p:nvPr/>
        </p:nvSpPr>
        <p:spPr>
          <a:xfrm>
            <a:off x="6419850" y="2366139"/>
            <a:ext cx="857250" cy="2095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en-US" altLang="ko-KR" sz="1500" b="1">
                <a:solidFill>
                  <a:srgbClr val="475569"/>
                </a:solidFill>
                <a:latin typeface="FEF3C7"/>
              </a:rPr>
              <a:t>clk</a:t>
            </a:r>
            <a:endParaRPr lang="ko-KR" altLang="en-US" sz="1500" b="1">
              <a:solidFill>
                <a:srgbClr val="475569"/>
              </a:solidFill>
              <a:latin typeface="FEF3C7"/>
            </a:endParaRPr>
          </a:p>
        </p:txBody>
      </p:sp>
      <p:sp>
        <p:nvSpPr>
          <p:cNvPr id="16" name="자유형: 도형 15">
            <a:extLst>
              <a:ext uri="{FF2B5EF4-FFF2-40B4-BE49-F238E27FC236}">
                <a16:creationId xmlns:a16="http://schemas.microsoft.com/office/drawing/2014/main" id="{227BDC4E-6D3E-DD13-BDB3-A808FAFEADA5}"/>
              </a:ext>
            </a:extLst>
          </p:cNvPr>
          <p:cNvSpPr/>
          <p:nvPr/>
        </p:nvSpPr>
        <p:spPr>
          <a:xfrm>
            <a:off x="7334250" y="2318514"/>
            <a:ext cx="4191001" cy="247651"/>
          </a:xfrm>
          <a:custGeom>
            <a:avLst/>
            <a:gdLst/>
            <a:ahLst/>
            <a:cxnLst/>
            <a:rect l="0" t="0" r="0" b="0"/>
            <a:pathLst>
              <a:path w="4191001" h="247651">
                <a:moveTo>
                  <a:pt x="0" y="247650"/>
                </a:moveTo>
                <a:lnTo>
                  <a:pt x="190500" y="247650"/>
                </a:lnTo>
                <a:lnTo>
                  <a:pt x="190500" y="0"/>
                </a:lnTo>
                <a:lnTo>
                  <a:pt x="381000" y="0"/>
                </a:lnTo>
                <a:lnTo>
                  <a:pt x="381000" y="247650"/>
                </a:lnTo>
                <a:lnTo>
                  <a:pt x="571500" y="247650"/>
                </a:lnTo>
                <a:lnTo>
                  <a:pt x="571500" y="0"/>
                </a:lnTo>
                <a:lnTo>
                  <a:pt x="762000" y="0"/>
                </a:lnTo>
                <a:lnTo>
                  <a:pt x="762000" y="247650"/>
                </a:lnTo>
                <a:lnTo>
                  <a:pt x="952500" y="247650"/>
                </a:lnTo>
                <a:lnTo>
                  <a:pt x="952500" y="0"/>
                </a:lnTo>
                <a:lnTo>
                  <a:pt x="1143000" y="0"/>
                </a:lnTo>
                <a:lnTo>
                  <a:pt x="1143000" y="247650"/>
                </a:lnTo>
                <a:lnTo>
                  <a:pt x="1333500" y="247650"/>
                </a:lnTo>
                <a:lnTo>
                  <a:pt x="1333500" y="0"/>
                </a:lnTo>
                <a:lnTo>
                  <a:pt x="1524000" y="0"/>
                </a:lnTo>
                <a:lnTo>
                  <a:pt x="1524000" y="247650"/>
                </a:lnTo>
                <a:lnTo>
                  <a:pt x="1714500" y="247650"/>
                </a:lnTo>
                <a:lnTo>
                  <a:pt x="1714500" y="0"/>
                </a:lnTo>
                <a:lnTo>
                  <a:pt x="1905000" y="0"/>
                </a:lnTo>
                <a:lnTo>
                  <a:pt x="1905000" y="247650"/>
                </a:lnTo>
                <a:lnTo>
                  <a:pt x="2095500" y="247650"/>
                </a:lnTo>
                <a:lnTo>
                  <a:pt x="2095500" y="0"/>
                </a:lnTo>
                <a:lnTo>
                  <a:pt x="2286000" y="0"/>
                </a:lnTo>
                <a:lnTo>
                  <a:pt x="2286000" y="247650"/>
                </a:lnTo>
                <a:lnTo>
                  <a:pt x="2476500" y="247650"/>
                </a:lnTo>
                <a:lnTo>
                  <a:pt x="2476500" y="0"/>
                </a:lnTo>
                <a:lnTo>
                  <a:pt x="2667000" y="0"/>
                </a:lnTo>
                <a:lnTo>
                  <a:pt x="2667000" y="247650"/>
                </a:lnTo>
                <a:lnTo>
                  <a:pt x="2857500" y="247650"/>
                </a:lnTo>
                <a:lnTo>
                  <a:pt x="2857500" y="0"/>
                </a:lnTo>
                <a:lnTo>
                  <a:pt x="3048000" y="0"/>
                </a:lnTo>
                <a:lnTo>
                  <a:pt x="3048000" y="247650"/>
                </a:lnTo>
                <a:lnTo>
                  <a:pt x="3238500" y="247650"/>
                </a:lnTo>
                <a:lnTo>
                  <a:pt x="3238500" y="0"/>
                </a:lnTo>
                <a:lnTo>
                  <a:pt x="3429000" y="0"/>
                </a:lnTo>
                <a:lnTo>
                  <a:pt x="3429000" y="247650"/>
                </a:lnTo>
                <a:lnTo>
                  <a:pt x="3619500" y="247650"/>
                </a:lnTo>
                <a:lnTo>
                  <a:pt x="3619500" y="0"/>
                </a:lnTo>
                <a:lnTo>
                  <a:pt x="3810000" y="0"/>
                </a:lnTo>
                <a:lnTo>
                  <a:pt x="3810000" y="247650"/>
                </a:lnTo>
                <a:lnTo>
                  <a:pt x="4000500" y="247650"/>
                </a:lnTo>
                <a:lnTo>
                  <a:pt x="4000500" y="0"/>
                </a:lnTo>
                <a:lnTo>
                  <a:pt x="4191000" y="0"/>
                </a:lnTo>
              </a:path>
            </a:pathLst>
          </a:cu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DA7DDBA-8C4C-3A92-C479-CFDAF5576FF4}"/>
              </a:ext>
            </a:extLst>
          </p:cNvPr>
          <p:cNvSpPr txBox="1"/>
          <p:nvPr/>
        </p:nvSpPr>
        <p:spPr>
          <a:xfrm>
            <a:off x="6419850" y="2985264"/>
            <a:ext cx="857250" cy="2095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en-US" altLang="ko-KR" sz="1500" b="1">
                <a:solidFill>
                  <a:srgbClr val="1F2A44"/>
                </a:solidFill>
                <a:latin typeface="FEF3C7"/>
              </a:rPr>
              <a:t>input</a:t>
            </a:r>
            <a:endParaRPr lang="ko-KR" altLang="en-US" sz="1500" b="1">
              <a:solidFill>
                <a:srgbClr val="1F2A44"/>
              </a:solidFill>
              <a:latin typeface="FEF3C7"/>
            </a:endParaRPr>
          </a:p>
        </p:txBody>
      </p:sp>
      <p:sp>
        <p:nvSpPr>
          <p:cNvPr id="18" name="자유형: 도형 17">
            <a:extLst>
              <a:ext uri="{FF2B5EF4-FFF2-40B4-BE49-F238E27FC236}">
                <a16:creationId xmlns:a16="http://schemas.microsoft.com/office/drawing/2014/main" id="{F3D41524-01B7-7B60-6C86-A06089474689}"/>
              </a:ext>
            </a:extLst>
          </p:cNvPr>
          <p:cNvSpPr/>
          <p:nvPr/>
        </p:nvSpPr>
        <p:spPr>
          <a:xfrm>
            <a:off x="7334250" y="2937639"/>
            <a:ext cx="4191001" cy="285751"/>
          </a:xfrm>
          <a:custGeom>
            <a:avLst/>
            <a:gdLst/>
            <a:ahLst/>
            <a:cxnLst/>
            <a:rect l="0" t="0" r="0" b="0"/>
            <a:pathLst>
              <a:path w="4191001" h="285751">
                <a:moveTo>
                  <a:pt x="0" y="285750"/>
                </a:moveTo>
                <a:lnTo>
                  <a:pt x="952500" y="285750"/>
                </a:lnTo>
                <a:lnTo>
                  <a:pt x="952500" y="0"/>
                </a:lnTo>
                <a:lnTo>
                  <a:pt x="1333500" y="0"/>
                </a:lnTo>
                <a:lnTo>
                  <a:pt x="1333500" y="285750"/>
                </a:lnTo>
                <a:lnTo>
                  <a:pt x="4191000" y="285750"/>
                </a:lnTo>
              </a:path>
            </a:pathLst>
          </a:custGeom>
          <a:ln w="3175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1C1D71E-0AFF-72D0-55C1-8780665EF15B}"/>
              </a:ext>
            </a:extLst>
          </p:cNvPr>
          <p:cNvSpPr txBox="1"/>
          <p:nvPr/>
        </p:nvSpPr>
        <p:spPr>
          <a:xfrm>
            <a:off x="6419850" y="3699639"/>
            <a:ext cx="857250" cy="2095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en-US" altLang="ko-KR" sz="1500" b="1">
                <a:solidFill>
                  <a:srgbClr val="1F2A44"/>
                </a:solidFill>
                <a:latin typeface="FEF3C7"/>
              </a:rPr>
              <a:t>state</a:t>
            </a:r>
            <a:endParaRPr lang="ko-KR" altLang="en-US" sz="1500" b="1">
              <a:solidFill>
                <a:srgbClr val="1F2A44"/>
              </a:solidFill>
              <a:latin typeface="FEF3C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660AB789-E2FF-8ECD-37E6-5B5836F27895}"/>
              </a:ext>
            </a:extLst>
          </p:cNvPr>
          <p:cNvSpPr/>
          <p:nvPr/>
        </p:nvSpPr>
        <p:spPr>
          <a:xfrm>
            <a:off x="1428750" y="3604389"/>
            <a:ext cx="1333500" cy="419100"/>
          </a:xfrm>
          <a:prstGeom prst="rect">
            <a:avLst/>
          </a:prstGeom>
          <a:solidFill>
            <a:srgbClr val="FEF3C7"/>
          </a:solidFill>
          <a:ln w="1270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altLang="ko-KR" sz="1400" b="1">
                <a:solidFill>
                  <a:srgbClr val="1F2A44"/>
                </a:solidFill>
                <a:latin typeface="FEF3C7"/>
              </a:rPr>
              <a:t>STOP</a:t>
            </a:r>
            <a:endParaRPr lang="ko-KR" altLang="en-US" sz="1400" b="1">
              <a:solidFill>
                <a:srgbClr val="1F2A44"/>
              </a:solidFill>
              <a:latin typeface="FEF3C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E56F9CD5-26F7-FFA8-FBC2-D41537A1C389}"/>
              </a:ext>
            </a:extLst>
          </p:cNvPr>
          <p:cNvSpPr/>
          <p:nvPr/>
        </p:nvSpPr>
        <p:spPr>
          <a:xfrm>
            <a:off x="2762250" y="3604389"/>
            <a:ext cx="381000" cy="419100"/>
          </a:xfrm>
          <a:prstGeom prst="rect">
            <a:avLst/>
          </a:prstGeom>
          <a:solidFill>
            <a:srgbClr val="DCFCE7"/>
          </a:solidFill>
          <a:ln w="1270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altLang="ko-KR" sz="1400" b="1">
                <a:solidFill>
                  <a:srgbClr val="1F2A44"/>
                </a:solidFill>
                <a:latin typeface="DCFCE7"/>
              </a:rPr>
              <a:t>R</a:t>
            </a:r>
            <a:endParaRPr lang="ko-KR" altLang="en-US" sz="1400" b="1">
              <a:solidFill>
                <a:srgbClr val="1F2A44"/>
              </a:solidFill>
              <a:latin typeface="DCFCE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936A4630-588C-472A-C3EB-567802D8D056}"/>
              </a:ext>
            </a:extLst>
          </p:cNvPr>
          <p:cNvSpPr/>
          <p:nvPr/>
        </p:nvSpPr>
        <p:spPr>
          <a:xfrm>
            <a:off x="3143250" y="3604389"/>
            <a:ext cx="381000" cy="419100"/>
          </a:xfrm>
          <a:prstGeom prst="rect">
            <a:avLst/>
          </a:prstGeom>
          <a:solidFill>
            <a:srgbClr val="FEF3C7"/>
          </a:solidFill>
          <a:ln w="1270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altLang="ko-KR" sz="1400" b="1">
                <a:solidFill>
                  <a:srgbClr val="1F2A44"/>
                </a:solidFill>
                <a:latin typeface="FEF3C7"/>
              </a:rPr>
              <a:t>S</a:t>
            </a:r>
            <a:endParaRPr lang="ko-KR" altLang="en-US" sz="1400" b="1">
              <a:solidFill>
                <a:srgbClr val="1F2A44"/>
              </a:solidFill>
              <a:latin typeface="FEF3C7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9C12E8BB-FF0C-3D73-1428-90874574D84A}"/>
              </a:ext>
            </a:extLst>
          </p:cNvPr>
          <p:cNvSpPr/>
          <p:nvPr/>
        </p:nvSpPr>
        <p:spPr>
          <a:xfrm>
            <a:off x="3524250" y="3604389"/>
            <a:ext cx="381000" cy="419100"/>
          </a:xfrm>
          <a:prstGeom prst="rect">
            <a:avLst/>
          </a:prstGeom>
          <a:solidFill>
            <a:srgbClr val="DCFCE7"/>
          </a:solidFill>
          <a:ln w="1270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altLang="ko-KR" sz="1400" b="1">
                <a:solidFill>
                  <a:srgbClr val="1F2A44"/>
                </a:solidFill>
                <a:latin typeface="DCFCE7"/>
              </a:rPr>
              <a:t>R</a:t>
            </a:r>
            <a:endParaRPr lang="ko-KR" altLang="en-US" sz="1400" b="1">
              <a:solidFill>
                <a:srgbClr val="1F2A44"/>
              </a:solidFill>
              <a:latin typeface="DCFCE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758585A4-A994-D4CB-8DEC-C8871AB5E1EA}"/>
              </a:ext>
            </a:extLst>
          </p:cNvPr>
          <p:cNvSpPr/>
          <p:nvPr/>
        </p:nvSpPr>
        <p:spPr>
          <a:xfrm>
            <a:off x="3905250" y="3604389"/>
            <a:ext cx="381000" cy="419100"/>
          </a:xfrm>
          <a:prstGeom prst="rect">
            <a:avLst/>
          </a:prstGeom>
          <a:solidFill>
            <a:srgbClr val="FEF3C7"/>
          </a:solidFill>
          <a:ln w="1270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altLang="ko-KR" sz="1400" b="1">
                <a:solidFill>
                  <a:srgbClr val="1F2A44"/>
                </a:solidFill>
                <a:latin typeface="FEF3C7"/>
              </a:rPr>
              <a:t>S</a:t>
            </a:r>
            <a:endParaRPr lang="ko-KR" altLang="en-US" sz="1400" b="1">
              <a:solidFill>
                <a:srgbClr val="1F2A44"/>
              </a:solidFill>
              <a:latin typeface="FEF3C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D9FBE3C7-077C-E249-B95E-20649CDC2281}"/>
              </a:ext>
            </a:extLst>
          </p:cNvPr>
          <p:cNvSpPr/>
          <p:nvPr/>
        </p:nvSpPr>
        <p:spPr>
          <a:xfrm>
            <a:off x="4286250" y="3604389"/>
            <a:ext cx="381000" cy="419100"/>
          </a:xfrm>
          <a:prstGeom prst="rect">
            <a:avLst/>
          </a:prstGeom>
          <a:solidFill>
            <a:srgbClr val="DCFCE7"/>
          </a:solidFill>
          <a:ln w="1270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altLang="ko-KR" sz="1400" b="1">
                <a:solidFill>
                  <a:srgbClr val="1F2A44"/>
                </a:solidFill>
                <a:latin typeface="DCFCE7"/>
              </a:rPr>
              <a:t>R</a:t>
            </a:r>
            <a:endParaRPr lang="ko-KR" altLang="en-US" sz="1400" b="1">
              <a:solidFill>
                <a:srgbClr val="1F2A44"/>
              </a:solidFill>
              <a:latin typeface="DCFCE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FFD4BA74-43F2-C0BE-AEE6-C098D0644428}"/>
              </a:ext>
            </a:extLst>
          </p:cNvPr>
          <p:cNvSpPr/>
          <p:nvPr/>
        </p:nvSpPr>
        <p:spPr>
          <a:xfrm>
            <a:off x="4667250" y="3604389"/>
            <a:ext cx="952500" cy="419100"/>
          </a:xfrm>
          <a:prstGeom prst="rect">
            <a:avLst/>
          </a:prstGeom>
          <a:solidFill>
            <a:srgbClr val="FEF3C7"/>
          </a:solidFill>
          <a:ln w="1270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altLang="ko-KR" sz="1400" b="1">
                <a:solidFill>
                  <a:srgbClr val="1F2A44"/>
                </a:solidFill>
                <a:latin typeface="FEF3C7"/>
              </a:rPr>
              <a:t>STOP</a:t>
            </a:r>
            <a:endParaRPr lang="ko-KR" altLang="en-US" sz="1400" b="1">
              <a:solidFill>
                <a:srgbClr val="1F2A44"/>
              </a:solidFill>
              <a:latin typeface="FEF3C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2C0006DB-DCBF-C832-2F56-51D7AED18143}"/>
              </a:ext>
            </a:extLst>
          </p:cNvPr>
          <p:cNvSpPr/>
          <p:nvPr/>
        </p:nvSpPr>
        <p:spPr>
          <a:xfrm>
            <a:off x="7334250" y="3604389"/>
            <a:ext cx="1333500" cy="419100"/>
          </a:xfrm>
          <a:prstGeom prst="rect">
            <a:avLst/>
          </a:prstGeom>
          <a:solidFill>
            <a:srgbClr val="FEF3C7"/>
          </a:solidFill>
          <a:ln w="1270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altLang="ko-KR" sz="1400" b="1">
                <a:solidFill>
                  <a:srgbClr val="1F2A44"/>
                </a:solidFill>
                <a:latin typeface="FEF3C7"/>
              </a:rPr>
              <a:t>STOP</a:t>
            </a:r>
            <a:endParaRPr lang="ko-KR" altLang="en-US" sz="1400" b="1">
              <a:solidFill>
                <a:srgbClr val="1F2A44"/>
              </a:solidFill>
              <a:latin typeface="FEF3C7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5A3F3D54-28F5-7D00-3003-4679FC285925}"/>
              </a:ext>
            </a:extLst>
          </p:cNvPr>
          <p:cNvSpPr/>
          <p:nvPr/>
        </p:nvSpPr>
        <p:spPr>
          <a:xfrm>
            <a:off x="8667750" y="3604389"/>
            <a:ext cx="2857500" cy="419100"/>
          </a:xfrm>
          <a:prstGeom prst="rect">
            <a:avLst/>
          </a:prstGeom>
          <a:solidFill>
            <a:srgbClr val="DCFCE7"/>
          </a:solidFill>
          <a:ln w="1270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altLang="ko-KR" sz="1400" b="1">
                <a:solidFill>
                  <a:srgbClr val="1F2A44"/>
                </a:solidFill>
                <a:latin typeface="FEF3C7"/>
              </a:rPr>
              <a:t>RUN</a:t>
            </a:r>
            <a:endParaRPr lang="ko-KR" altLang="en-US" sz="1400" b="1">
              <a:solidFill>
                <a:srgbClr val="1F2A44"/>
              </a:solidFill>
              <a:latin typeface="FEF3C7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AF826B3D-57A0-CD58-6007-0460CAB2921C}"/>
              </a:ext>
            </a:extLst>
          </p:cNvPr>
          <p:cNvSpPr/>
          <p:nvPr/>
        </p:nvSpPr>
        <p:spPr>
          <a:xfrm>
            <a:off x="571500" y="4461639"/>
            <a:ext cx="5143500" cy="5715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endParaRPr lang="ko-KR" alt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D63E227-51F2-2B06-67A7-51F2D8784B38}"/>
              </a:ext>
            </a:extLst>
          </p:cNvPr>
          <p:cNvSpPr txBox="1"/>
          <p:nvPr/>
        </p:nvSpPr>
        <p:spPr>
          <a:xfrm>
            <a:off x="704850" y="4461639"/>
            <a:ext cx="4914900" cy="57150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ko-KR" altLang="en-US" sz="1700" b="1">
                <a:solidFill>
                  <a:srgbClr val="DC2626"/>
                </a:solidFill>
                <a:latin typeface="FEF3C7"/>
              </a:rPr>
              <a:t>매번 </a:t>
            </a:r>
            <a:r>
              <a:rPr lang="en-US" altLang="ko-KR" sz="1700" b="1">
                <a:solidFill>
                  <a:srgbClr val="DC2626"/>
                </a:solidFill>
                <a:latin typeface="FEF3C7"/>
              </a:rPr>
              <a:t>posedge toggle</a:t>
            </a:r>
            <a:endParaRPr lang="ko-KR" altLang="en-US" sz="1700" b="1">
              <a:solidFill>
                <a:srgbClr val="DC2626"/>
              </a:solidFill>
              <a:latin typeface="FEF3C7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9E9CD071-34DE-45D9-9904-9F7F21067783}"/>
              </a:ext>
            </a:extLst>
          </p:cNvPr>
          <p:cNvSpPr/>
          <p:nvPr/>
        </p:nvSpPr>
        <p:spPr>
          <a:xfrm>
            <a:off x="6477000" y="4461639"/>
            <a:ext cx="5143500" cy="5715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endParaRPr lang="ko-KR" alt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C3A0816-16C1-018F-D60A-9BD5FBAD1440}"/>
              </a:ext>
            </a:extLst>
          </p:cNvPr>
          <p:cNvSpPr txBox="1"/>
          <p:nvPr/>
        </p:nvSpPr>
        <p:spPr>
          <a:xfrm>
            <a:off x="6610350" y="4461639"/>
            <a:ext cx="4914900" cy="57150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altLang="ko-KR" sz="1700" b="1">
                <a:solidFill>
                  <a:srgbClr val="16A34A"/>
                </a:solidFill>
                <a:latin typeface="FEF3C7"/>
              </a:rPr>
              <a:t>1 cycle pulse → toggle 1</a:t>
            </a:r>
            <a:r>
              <a:rPr lang="ko-KR" altLang="en-US" sz="1700" b="1">
                <a:solidFill>
                  <a:srgbClr val="16A34A"/>
                </a:solidFill>
                <a:latin typeface="FEF3C7"/>
              </a:rPr>
              <a:t>회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4E213AF-933E-34BA-6B15-3FE953FF6D11}"/>
              </a:ext>
            </a:extLst>
          </p:cNvPr>
          <p:cNvSpPr txBox="1"/>
          <p:nvPr/>
        </p:nvSpPr>
        <p:spPr>
          <a:xfrm>
            <a:off x="10668000" y="6591300"/>
            <a:ext cx="1143000" cy="19050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pPr algn="r"/>
            <a:r>
              <a:rPr lang="en-US" altLang="ko-KR" sz="1100">
                <a:solidFill>
                  <a:srgbClr val="94A3B8"/>
                </a:solidFill>
                <a:latin typeface="FEF3C7"/>
              </a:rPr>
              <a:t>9 / 39</a:t>
            </a:r>
            <a:endParaRPr lang="ko-KR" altLang="en-US" sz="1100">
              <a:solidFill>
                <a:srgbClr val="94A3B8"/>
              </a:solidFill>
              <a:latin typeface="FEF3C7"/>
            </a:endParaRPr>
          </a:p>
        </p:txBody>
      </p:sp>
    </p:spTree>
    <p:extLst>
      <p:ext uri="{BB962C8B-B14F-4D97-AF65-F5344CB8AC3E}">
        <p14:creationId xmlns:p14="http://schemas.microsoft.com/office/powerpoint/2010/main" val="36577231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E06FD6B-0A30-51E9-7CC5-F90CBFD70688}"/>
              </a:ext>
            </a:extLst>
          </p:cNvPr>
          <p:cNvSpPr txBox="1"/>
          <p:nvPr/>
        </p:nvSpPr>
        <p:spPr>
          <a:xfrm>
            <a:off x="381000" y="133350"/>
            <a:ext cx="9525000" cy="2095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altLang="ko-KR" sz="1300" b="1">
                <a:solidFill>
                  <a:srgbClr val="2563EB"/>
                </a:solidFill>
                <a:latin typeface="FEF3C7"/>
              </a:rPr>
              <a:t>01  ·  Debounce </a:t>
            </a:r>
            <a:r>
              <a:rPr lang="ko-KR" altLang="en-US" sz="1300" b="1">
                <a:solidFill>
                  <a:srgbClr val="2563EB"/>
                </a:solidFill>
                <a:latin typeface="FEF3C7"/>
              </a:rPr>
              <a:t>개념  </a:t>
            </a:r>
            <a:r>
              <a:rPr lang="en-US" altLang="ko-KR" sz="1300" b="1">
                <a:solidFill>
                  <a:srgbClr val="2563EB"/>
                </a:solidFill>
                <a:latin typeface="FEF3C7"/>
              </a:rPr>
              <a:t>·  Tick </a:t>
            </a:r>
            <a:r>
              <a:rPr lang="ko-KR" altLang="en-US" sz="1300" b="1">
                <a:solidFill>
                  <a:srgbClr val="2563EB"/>
                </a:solidFill>
                <a:latin typeface="FEF3C7"/>
              </a:rPr>
              <a:t>생성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E3EE2E-F3F1-1542-A3C6-4A8AB85E2E0B}"/>
              </a:ext>
            </a:extLst>
          </p:cNvPr>
          <p:cNvSpPr txBox="1"/>
          <p:nvPr/>
        </p:nvSpPr>
        <p:spPr>
          <a:xfrm>
            <a:off x="381000" y="342900"/>
            <a:ext cx="10096500" cy="4381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altLang="ko-KR" sz="2600" b="1">
                <a:solidFill>
                  <a:srgbClr val="0F172A"/>
                </a:solidFill>
                <a:latin typeface="FEF3C7"/>
              </a:rPr>
              <a:t>o_btn = ~edge_reg &amp; debounce Makes a One-cycle Tick</a:t>
            </a:r>
            <a:endParaRPr lang="ko-KR" altLang="en-US" sz="2600" b="1">
              <a:solidFill>
                <a:srgbClr val="0F172A"/>
              </a:solidFill>
              <a:latin typeface="FEF3C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EF1D617-D3A8-802C-0EBD-AC8195591065}"/>
              </a:ext>
            </a:extLst>
          </p:cNvPr>
          <p:cNvSpPr/>
          <p:nvPr/>
        </p:nvSpPr>
        <p:spPr>
          <a:xfrm>
            <a:off x="381000" y="819150"/>
            <a:ext cx="666750" cy="381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9DC082-FD85-A6E8-EC75-7810F4198485}"/>
              </a:ext>
            </a:extLst>
          </p:cNvPr>
          <p:cNvSpPr txBox="1"/>
          <p:nvPr/>
        </p:nvSpPr>
        <p:spPr>
          <a:xfrm>
            <a:off x="10572750" y="133350"/>
            <a:ext cx="1238250" cy="60960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pPr algn="r"/>
            <a:r>
              <a:rPr lang="en-US" altLang="ko-KR" sz="4000" b="1">
                <a:solidFill>
                  <a:srgbClr val="BFDBFE"/>
                </a:solidFill>
                <a:latin typeface="FEF3C7"/>
              </a:rPr>
              <a:t>01</a:t>
            </a:r>
            <a:endParaRPr lang="ko-KR" altLang="en-US" sz="4000" b="1">
              <a:solidFill>
                <a:srgbClr val="BFDBFE"/>
              </a:solidFill>
              <a:latin typeface="FEF3C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BABEC3-E4A4-48F8-0004-2F137264E0BC}"/>
              </a:ext>
            </a:extLst>
          </p:cNvPr>
          <p:cNvSpPr txBox="1"/>
          <p:nvPr/>
        </p:nvSpPr>
        <p:spPr>
          <a:xfrm>
            <a:off x="381000" y="1219200"/>
            <a:ext cx="1428750" cy="2476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en-US" altLang="ko-KR" b="1">
                <a:solidFill>
                  <a:srgbClr val="1F2A44"/>
                </a:solidFill>
                <a:latin typeface="FEF3C7"/>
              </a:rPr>
              <a:t>i_clk</a:t>
            </a:r>
            <a:endParaRPr lang="ko-KR" altLang="en-US" b="1">
              <a:solidFill>
                <a:srgbClr val="1F2A44"/>
              </a:solidFill>
              <a:latin typeface="FEF3C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5698FD-AECA-6F9A-159B-DA1C730F7DE3}"/>
              </a:ext>
            </a:extLst>
          </p:cNvPr>
          <p:cNvSpPr txBox="1"/>
          <p:nvPr/>
        </p:nvSpPr>
        <p:spPr>
          <a:xfrm>
            <a:off x="381000" y="1885950"/>
            <a:ext cx="1428750" cy="2476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en-US" altLang="ko-KR" b="1">
                <a:solidFill>
                  <a:srgbClr val="1F2A44"/>
                </a:solidFill>
                <a:latin typeface="FEF3C7"/>
              </a:rPr>
              <a:t>debounce</a:t>
            </a:r>
            <a:endParaRPr lang="ko-KR" altLang="en-US" b="1">
              <a:solidFill>
                <a:srgbClr val="1F2A44"/>
              </a:solidFill>
              <a:latin typeface="FEF3C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ADB9895-0E5E-CD79-0CFA-5F017283FC62}"/>
              </a:ext>
            </a:extLst>
          </p:cNvPr>
          <p:cNvSpPr txBox="1"/>
          <p:nvPr/>
        </p:nvSpPr>
        <p:spPr>
          <a:xfrm>
            <a:off x="381000" y="2552700"/>
            <a:ext cx="1428750" cy="2476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en-US" altLang="ko-KR" b="1">
                <a:solidFill>
                  <a:srgbClr val="1F2A44"/>
                </a:solidFill>
                <a:latin typeface="FEF3C7"/>
              </a:rPr>
              <a:t>edge_reg</a:t>
            </a:r>
            <a:endParaRPr lang="ko-KR" altLang="en-US" b="1">
              <a:solidFill>
                <a:srgbClr val="1F2A44"/>
              </a:solidFill>
              <a:latin typeface="FEF3C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284E03E-16BE-DDE2-208F-7CA628243ABC}"/>
              </a:ext>
            </a:extLst>
          </p:cNvPr>
          <p:cNvSpPr txBox="1"/>
          <p:nvPr/>
        </p:nvSpPr>
        <p:spPr>
          <a:xfrm>
            <a:off x="381000" y="3219450"/>
            <a:ext cx="1428750" cy="2476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en-US" altLang="ko-KR" b="1">
                <a:solidFill>
                  <a:srgbClr val="1F2A44"/>
                </a:solidFill>
                <a:latin typeface="FEF3C7"/>
              </a:rPr>
              <a:t>o_btn</a:t>
            </a:r>
            <a:endParaRPr lang="ko-KR" altLang="en-US" b="1">
              <a:solidFill>
                <a:srgbClr val="1F2A44"/>
              </a:solidFill>
              <a:latin typeface="FEF3C7"/>
            </a:endParaRPr>
          </a:p>
        </p:txBody>
      </p:sp>
      <p:sp>
        <p:nvSpPr>
          <p:cNvPr id="10" name="자유형: 도형 9">
            <a:extLst>
              <a:ext uri="{FF2B5EF4-FFF2-40B4-BE49-F238E27FC236}">
                <a16:creationId xmlns:a16="http://schemas.microsoft.com/office/drawing/2014/main" id="{AABEDFA9-B7C4-1FBE-7D84-04C8B66B8E57}"/>
              </a:ext>
            </a:extLst>
          </p:cNvPr>
          <p:cNvSpPr/>
          <p:nvPr/>
        </p:nvSpPr>
        <p:spPr>
          <a:xfrm>
            <a:off x="1905000" y="1219200"/>
            <a:ext cx="9144001" cy="228601"/>
          </a:xfrm>
          <a:custGeom>
            <a:avLst/>
            <a:gdLst/>
            <a:ahLst/>
            <a:cxnLst/>
            <a:rect l="0" t="0" r="0" b="0"/>
            <a:pathLst>
              <a:path w="9144001" h="228601">
                <a:moveTo>
                  <a:pt x="0" y="228600"/>
                </a:moveTo>
                <a:lnTo>
                  <a:pt x="190500" y="228600"/>
                </a:lnTo>
                <a:lnTo>
                  <a:pt x="190500" y="0"/>
                </a:lnTo>
                <a:lnTo>
                  <a:pt x="381000" y="0"/>
                </a:lnTo>
                <a:lnTo>
                  <a:pt x="381000" y="228600"/>
                </a:lnTo>
                <a:lnTo>
                  <a:pt x="571500" y="228600"/>
                </a:lnTo>
                <a:lnTo>
                  <a:pt x="571500" y="0"/>
                </a:lnTo>
                <a:lnTo>
                  <a:pt x="762000" y="0"/>
                </a:lnTo>
                <a:lnTo>
                  <a:pt x="762000" y="228600"/>
                </a:lnTo>
                <a:lnTo>
                  <a:pt x="952500" y="228600"/>
                </a:lnTo>
                <a:lnTo>
                  <a:pt x="952500" y="0"/>
                </a:lnTo>
                <a:lnTo>
                  <a:pt x="1143000" y="0"/>
                </a:lnTo>
                <a:lnTo>
                  <a:pt x="1143000" y="228600"/>
                </a:lnTo>
                <a:lnTo>
                  <a:pt x="1333500" y="228600"/>
                </a:lnTo>
                <a:lnTo>
                  <a:pt x="1333500" y="0"/>
                </a:lnTo>
                <a:lnTo>
                  <a:pt x="1524000" y="0"/>
                </a:lnTo>
                <a:lnTo>
                  <a:pt x="1524000" y="228600"/>
                </a:lnTo>
                <a:lnTo>
                  <a:pt x="1714500" y="228600"/>
                </a:lnTo>
                <a:lnTo>
                  <a:pt x="1714500" y="0"/>
                </a:lnTo>
                <a:lnTo>
                  <a:pt x="1905000" y="0"/>
                </a:lnTo>
                <a:lnTo>
                  <a:pt x="1905000" y="228600"/>
                </a:lnTo>
                <a:lnTo>
                  <a:pt x="2095500" y="228600"/>
                </a:lnTo>
                <a:lnTo>
                  <a:pt x="2095500" y="0"/>
                </a:lnTo>
                <a:lnTo>
                  <a:pt x="2286000" y="0"/>
                </a:lnTo>
                <a:lnTo>
                  <a:pt x="2286000" y="228600"/>
                </a:lnTo>
                <a:lnTo>
                  <a:pt x="2476500" y="228600"/>
                </a:lnTo>
                <a:lnTo>
                  <a:pt x="2476500" y="0"/>
                </a:lnTo>
                <a:lnTo>
                  <a:pt x="2667000" y="0"/>
                </a:lnTo>
                <a:lnTo>
                  <a:pt x="2667000" y="228600"/>
                </a:lnTo>
                <a:lnTo>
                  <a:pt x="2857500" y="228600"/>
                </a:lnTo>
                <a:lnTo>
                  <a:pt x="2857500" y="0"/>
                </a:lnTo>
                <a:lnTo>
                  <a:pt x="3048000" y="0"/>
                </a:lnTo>
                <a:lnTo>
                  <a:pt x="3048000" y="228600"/>
                </a:lnTo>
                <a:lnTo>
                  <a:pt x="3238500" y="228600"/>
                </a:lnTo>
                <a:lnTo>
                  <a:pt x="3238500" y="0"/>
                </a:lnTo>
                <a:lnTo>
                  <a:pt x="3429000" y="0"/>
                </a:lnTo>
                <a:lnTo>
                  <a:pt x="3429000" y="228600"/>
                </a:lnTo>
                <a:lnTo>
                  <a:pt x="3619500" y="228600"/>
                </a:lnTo>
                <a:lnTo>
                  <a:pt x="3619500" y="0"/>
                </a:lnTo>
                <a:lnTo>
                  <a:pt x="3810000" y="0"/>
                </a:lnTo>
                <a:lnTo>
                  <a:pt x="3810000" y="228600"/>
                </a:lnTo>
                <a:lnTo>
                  <a:pt x="4000500" y="228600"/>
                </a:lnTo>
                <a:lnTo>
                  <a:pt x="4000500" y="0"/>
                </a:lnTo>
                <a:lnTo>
                  <a:pt x="4191000" y="0"/>
                </a:lnTo>
                <a:lnTo>
                  <a:pt x="4191000" y="228600"/>
                </a:lnTo>
                <a:lnTo>
                  <a:pt x="4381500" y="228600"/>
                </a:lnTo>
                <a:lnTo>
                  <a:pt x="4381500" y="0"/>
                </a:lnTo>
                <a:lnTo>
                  <a:pt x="4572000" y="0"/>
                </a:lnTo>
                <a:lnTo>
                  <a:pt x="4572000" y="228600"/>
                </a:lnTo>
                <a:lnTo>
                  <a:pt x="4762500" y="228600"/>
                </a:lnTo>
                <a:lnTo>
                  <a:pt x="4762500" y="0"/>
                </a:lnTo>
                <a:lnTo>
                  <a:pt x="4953000" y="0"/>
                </a:lnTo>
                <a:lnTo>
                  <a:pt x="4953000" y="228600"/>
                </a:lnTo>
                <a:lnTo>
                  <a:pt x="5143500" y="228600"/>
                </a:lnTo>
                <a:lnTo>
                  <a:pt x="5143500" y="0"/>
                </a:lnTo>
                <a:lnTo>
                  <a:pt x="5334000" y="0"/>
                </a:lnTo>
                <a:lnTo>
                  <a:pt x="5334000" y="228600"/>
                </a:lnTo>
                <a:lnTo>
                  <a:pt x="5524500" y="228600"/>
                </a:lnTo>
                <a:lnTo>
                  <a:pt x="5524500" y="0"/>
                </a:lnTo>
                <a:lnTo>
                  <a:pt x="5715000" y="0"/>
                </a:lnTo>
                <a:lnTo>
                  <a:pt x="5715000" y="228600"/>
                </a:lnTo>
                <a:lnTo>
                  <a:pt x="5905500" y="228600"/>
                </a:lnTo>
                <a:lnTo>
                  <a:pt x="5905500" y="0"/>
                </a:lnTo>
                <a:lnTo>
                  <a:pt x="6096000" y="0"/>
                </a:lnTo>
                <a:lnTo>
                  <a:pt x="6096000" y="228600"/>
                </a:lnTo>
                <a:lnTo>
                  <a:pt x="6286500" y="228600"/>
                </a:lnTo>
                <a:lnTo>
                  <a:pt x="6286500" y="0"/>
                </a:lnTo>
                <a:lnTo>
                  <a:pt x="6477000" y="0"/>
                </a:lnTo>
                <a:lnTo>
                  <a:pt x="6477000" y="228600"/>
                </a:lnTo>
                <a:lnTo>
                  <a:pt x="6667500" y="228600"/>
                </a:lnTo>
                <a:lnTo>
                  <a:pt x="6667500" y="0"/>
                </a:lnTo>
                <a:lnTo>
                  <a:pt x="6858000" y="0"/>
                </a:lnTo>
                <a:lnTo>
                  <a:pt x="6858000" y="228600"/>
                </a:lnTo>
                <a:lnTo>
                  <a:pt x="7048500" y="228600"/>
                </a:lnTo>
                <a:lnTo>
                  <a:pt x="7048500" y="0"/>
                </a:lnTo>
                <a:lnTo>
                  <a:pt x="7239000" y="0"/>
                </a:lnTo>
                <a:lnTo>
                  <a:pt x="7239000" y="228600"/>
                </a:lnTo>
                <a:lnTo>
                  <a:pt x="7429500" y="228600"/>
                </a:lnTo>
                <a:lnTo>
                  <a:pt x="7429500" y="0"/>
                </a:lnTo>
                <a:lnTo>
                  <a:pt x="7620000" y="0"/>
                </a:lnTo>
                <a:lnTo>
                  <a:pt x="7620000" y="228600"/>
                </a:lnTo>
                <a:lnTo>
                  <a:pt x="7810500" y="228600"/>
                </a:lnTo>
                <a:lnTo>
                  <a:pt x="7810500" y="0"/>
                </a:lnTo>
                <a:lnTo>
                  <a:pt x="8001000" y="0"/>
                </a:lnTo>
                <a:lnTo>
                  <a:pt x="8001000" y="228600"/>
                </a:lnTo>
                <a:lnTo>
                  <a:pt x="8191500" y="228600"/>
                </a:lnTo>
                <a:lnTo>
                  <a:pt x="8191500" y="0"/>
                </a:lnTo>
                <a:lnTo>
                  <a:pt x="8382000" y="0"/>
                </a:lnTo>
                <a:lnTo>
                  <a:pt x="8382000" y="228600"/>
                </a:lnTo>
                <a:lnTo>
                  <a:pt x="8572500" y="228600"/>
                </a:lnTo>
                <a:lnTo>
                  <a:pt x="8572500" y="0"/>
                </a:lnTo>
                <a:lnTo>
                  <a:pt x="8763000" y="0"/>
                </a:lnTo>
                <a:lnTo>
                  <a:pt x="8763000" y="228600"/>
                </a:lnTo>
                <a:lnTo>
                  <a:pt x="8953500" y="228600"/>
                </a:lnTo>
                <a:lnTo>
                  <a:pt x="8953500" y="0"/>
                </a:lnTo>
                <a:lnTo>
                  <a:pt x="9144000" y="0"/>
                </a:lnTo>
              </a:path>
            </a:pathLst>
          </a:cu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자유형: 도형 10">
            <a:extLst>
              <a:ext uri="{FF2B5EF4-FFF2-40B4-BE49-F238E27FC236}">
                <a16:creationId xmlns:a16="http://schemas.microsoft.com/office/drawing/2014/main" id="{ADF97062-67B5-78D0-F9AD-1BB3C842D616}"/>
              </a:ext>
            </a:extLst>
          </p:cNvPr>
          <p:cNvSpPr/>
          <p:nvPr/>
        </p:nvSpPr>
        <p:spPr>
          <a:xfrm>
            <a:off x="1905000" y="1809750"/>
            <a:ext cx="9144001" cy="323851"/>
          </a:xfrm>
          <a:custGeom>
            <a:avLst/>
            <a:gdLst/>
            <a:ahLst/>
            <a:cxnLst/>
            <a:rect l="0" t="0" r="0" b="0"/>
            <a:pathLst>
              <a:path w="9144001" h="323851">
                <a:moveTo>
                  <a:pt x="0" y="323850"/>
                </a:moveTo>
                <a:lnTo>
                  <a:pt x="2476500" y="323850"/>
                </a:lnTo>
                <a:lnTo>
                  <a:pt x="2476500" y="0"/>
                </a:lnTo>
                <a:lnTo>
                  <a:pt x="6286500" y="0"/>
                </a:lnTo>
                <a:lnTo>
                  <a:pt x="6286500" y="323850"/>
                </a:lnTo>
                <a:lnTo>
                  <a:pt x="9144000" y="323850"/>
                </a:lnTo>
              </a:path>
            </a:pathLst>
          </a:custGeom>
          <a:ln w="317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자유형: 도형 11">
            <a:extLst>
              <a:ext uri="{FF2B5EF4-FFF2-40B4-BE49-F238E27FC236}">
                <a16:creationId xmlns:a16="http://schemas.microsoft.com/office/drawing/2014/main" id="{E0040493-9411-4DBD-4B15-26287933C5ED}"/>
              </a:ext>
            </a:extLst>
          </p:cNvPr>
          <p:cNvSpPr/>
          <p:nvPr/>
        </p:nvSpPr>
        <p:spPr>
          <a:xfrm>
            <a:off x="1905000" y="2476500"/>
            <a:ext cx="9144001" cy="323851"/>
          </a:xfrm>
          <a:custGeom>
            <a:avLst/>
            <a:gdLst/>
            <a:ahLst/>
            <a:cxnLst/>
            <a:rect l="0" t="0" r="0" b="0"/>
            <a:pathLst>
              <a:path w="9144001" h="323851">
                <a:moveTo>
                  <a:pt x="0" y="323850"/>
                </a:moveTo>
                <a:lnTo>
                  <a:pt x="2857500" y="323850"/>
                </a:lnTo>
                <a:lnTo>
                  <a:pt x="2857500" y="0"/>
                </a:lnTo>
                <a:lnTo>
                  <a:pt x="6667500" y="0"/>
                </a:lnTo>
                <a:lnTo>
                  <a:pt x="6667500" y="323850"/>
                </a:lnTo>
                <a:lnTo>
                  <a:pt x="9144000" y="323850"/>
                </a:lnTo>
              </a:path>
            </a:pathLst>
          </a:custGeom>
          <a:ln w="3175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자유형: 도형 12">
            <a:extLst>
              <a:ext uri="{FF2B5EF4-FFF2-40B4-BE49-F238E27FC236}">
                <a16:creationId xmlns:a16="http://schemas.microsoft.com/office/drawing/2014/main" id="{A177DE4A-585F-CE68-D10A-89AA66EFB3FA}"/>
              </a:ext>
            </a:extLst>
          </p:cNvPr>
          <p:cNvSpPr/>
          <p:nvPr/>
        </p:nvSpPr>
        <p:spPr>
          <a:xfrm>
            <a:off x="1905000" y="3143250"/>
            <a:ext cx="9144001" cy="323851"/>
          </a:xfrm>
          <a:custGeom>
            <a:avLst/>
            <a:gdLst/>
            <a:ahLst/>
            <a:cxnLst/>
            <a:rect l="0" t="0" r="0" b="0"/>
            <a:pathLst>
              <a:path w="9144001" h="323851">
                <a:moveTo>
                  <a:pt x="0" y="323850"/>
                </a:moveTo>
                <a:lnTo>
                  <a:pt x="2476500" y="323850"/>
                </a:lnTo>
                <a:lnTo>
                  <a:pt x="2476500" y="0"/>
                </a:lnTo>
                <a:lnTo>
                  <a:pt x="2857500" y="0"/>
                </a:lnTo>
                <a:lnTo>
                  <a:pt x="2857500" y="323850"/>
                </a:lnTo>
                <a:lnTo>
                  <a:pt x="9144000" y="323850"/>
                </a:lnTo>
              </a:path>
            </a:pathLst>
          </a:custGeom>
          <a:ln w="3810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C2E8F8FF-96EC-A8F1-8CFC-9F7F61B47AD7}"/>
              </a:ext>
            </a:extLst>
          </p:cNvPr>
          <p:cNvCxnSpPr/>
          <p:nvPr/>
        </p:nvCxnSpPr>
        <p:spPr>
          <a:xfrm>
            <a:off x="4381500" y="1104900"/>
            <a:ext cx="0" cy="2514600"/>
          </a:xfrm>
          <a:prstGeom prst="line">
            <a:avLst/>
          </a:prstGeom>
          <a:ln w="19050">
            <a:solidFill>
              <a:srgbClr val="F9731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8B47CBF7-3ABB-ED84-CDBD-58B326BB4B81}"/>
              </a:ext>
            </a:extLst>
          </p:cNvPr>
          <p:cNvCxnSpPr/>
          <p:nvPr/>
        </p:nvCxnSpPr>
        <p:spPr>
          <a:xfrm>
            <a:off x="4762500" y="1104900"/>
            <a:ext cx="0" cy="2514600"/>
          </a:xfrm>
          <a:prstGeom prst="line">
            <a:avLst/>
          </a:prstGeom>
          <a:ln w="19050">
            <a:solidFill>
              <a:srgbClr val="F9731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342C2D81-D996-5123-8B52-92E0473ADD82}"/>
              </a:ext>
            </a:extLst>
          </p:cNvPr>
          <p:cNvSpPr txBox="1"/>
          <p:nvPr/>
        </p:nvSpPr>
        <p:spPr>
          <a:xfrm>
            <a:off x="2857500" y="3657600"/>
            <a:ext cx="1476375" cy="2095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pPr algn="r"/>
            <a:r>
              <a:rPr lang="en-US" altLang="ko-KR" sz="1400" b="1">
                <a:solidFill>
                  <a:srgbClr val="F97316"/>
                </a:solidFill>
                <a:latin typeface="FEF3C7"/>
              </a:rPr>
              <a:t>debounce 0 → 1</a:t>
            </a:r>
            <a:endParaRPr lang="ko-KR" altLang="en-US" sz="1400" b="1">
              <a:solidFill>
                <a:srgbClr val="F97316"/>
              </a:solidFill>
              <a:latin typeface="FEF3C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E1F6A7C-393F-91FC-7633-CC7FDEDF3BFE}"/>
              </a:ext>
            </a:extLst>
          </p:cNvPr>
          <p:cNvSpPr txBox="1"/>
          <p:nvPr/>
        </p:nvSpPr>
        <p:spPr>
          <a:xfrm>
            <a:off x="4819650" y="3657600"/>
            <a:ext cx="2286000" cy="2095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en-US" altLang="ko-KR" sz="1400" b="1">
                <a:solidFill>
                  <a:srgbClr val="F97316"/>
                </a:solidFill>
                <a:latin typeface="FEF3C7"/>
              </a:rPr>
              <a:t>edge_reg 1 cycle </a:t>
            </a:r>
            <a:r>
              <a:rPr lang="ko-KR" altLang="en-US" sz="1400" b="1">
                <a:solidFill>
                  <a:srgbClr val="F97316"/>
                </a:solidFill>
                <a:latin typeface="FEF3C7"/>
              </a:rPr>
              <a:t>지연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412CF752-DCC2-43F0-B149-D85187092045}"/>
              </a:ext>
            </a:extLst>
          </p:cNvPr>
          <p:cNvSpPr/>
          <p:nvPr/>
        </p:nvSpPr>
        <p:spPr>
          <a:xfrm>
            <a:off x="381000" y="4191000"/>
            <a:ext cx="3619500" cy="66675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endParaRPr lang="ko-KR" altLang="en-US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C084F421-9541-16D2-9E73-E03745BC418B}"/>
              </a:ext>
            </a:extLst>
          </p:cNvPr>
          <p:cNvSpPr/>
          <p:nvPr/>
        </p:nvSpPr>
        <p:spPr>
          <a:xfrm>
            <a:off x="495300" y="4400550"/>
            <a:ext cx="247650" cy="247650"/>
          </a:xfrm>
          <a:prstGeom prst="ellipse">
            <a:avLst/>
          </a:prstGeom>
          <a:solidFill>
            <a:srgbClr val="EA580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/>
            <a:r>
              <a:rPr lang="en-US" altLang="ko-KR" sz="1200" b="1">
                <a:solidFill>
                  <a:srgbClr val="FFFFFF"/>
                </a:solidFill>
                <a:latin typeface="FEF3C7"/>
              </a:rPr>
              <a:t>1</a:t>
            </a:r>
            <a:endParaRPr lang="ko-KR" altLang="en-US" sz="1200" b="1">
              <a:solidFill>
                <a:srgbClr val="FFFFFF"/>
              </a:solidFill>
              <a:latin typeface="FEF3C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85991AF-AD3C-C02D-38B8-F6A90327E1B6}"/>
              </a:ext>
            </a:extLst>
          </p:cNvPr>
          <p:cNvSpPr txBox="1"/>
          <p:nvPr/>
        </p:nvSpPr>
        <p:spPr>
          <a:xfrm>
            <a:off x="838200" y="4191000"/>
            <a:ext cx="3067050" cy="6667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ko-KR" altLang="en-US" sz="1700" b="1">
                <a:solidFill>
                  <a:srgbClr val="1F2A44"/>
                </a:solidFill>
                <a:latin typeface="FEF3C7"/>
              </a:rPr>
              <a:t>누름 </a:t>
            </a:r>
            <a:r>
              <a:rPr lang="en-US" altLang="ko-KR" sz="1700" b="1">
                <a:solidFill>
                  <a:srgbClr val="1F2A44"/>
                </a:solidFill>
                <a:latin typeface="FEF3C7"/>
              </a:rPr>
              <a:t>1</a:t>
            </a:r>
            <a:r>
              <a:rPr lang="ko-KR" altLang="en-US" sz="1700" b="1">
                <a:solidFill>
                  <a:srgbClr val="1F2A44"/>
                </a:solidFill>
                <a:latin typeface="FEF3C7"/>
              </a:rPr>
              <a:t>회 </a:t>
            </a:r>
            <a:r>
              <a:rPr lang="en-US" altLang="ko-KR" sz="1700" b="1">
                <a:solidFill>
                  <a:srgbClr val="1F2A44"/>
                </a:solidFill>
                <a:latin typeface="FEF3C7"/>
              </a:rPr>
              <a:t>= </a:t>
            </a:r>
            <a:r>
              <a:rPr lang="ko-KR" altLang="en-US" sz="1700" b="1">
                <a:solidFill>
                  <a:srgbClr val="1F2A44"/>
                </a:solidFill>
                <a:latin typeface="FEF3C7"/>
              </a:rPr>
              <a:t>이벤트 </a:t>
            </a:r>
            <a:r>
              <a:rPr lang="en-US" altLang="ko-KR" sz="1700" b="1">
                <a:solidFill>
                  <a:srgbClr val="1F2A44"/>
                </a:solidFill>
                <a:latin typeface="FEF3C7"/>
              </a:rPr>
              <a:t>1</a:t>
            </a:r>
            <a:r>
              <a:rPr lang="ko-KR" altLang="en-US" sz="1700" b="1">
                <a:solidFill>
                  <a:srgbClr val="1F2A44"/>
                </a:solidFill>
                <a:latin typeface="FEF3C7"/>
              </a:rPr>
              <a:t>회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9C3A8B3D-4C1E-0574-181D-774421F4FB82}"/>
              </a:ext>
            </a:extLst>
          </p:cNvPr>
          <p:cNvSpPr/>
          <p:nvPr/>
        </p:nvSpPr>
        <p:spPr>
          <a:xfrm>
            <a:off x="4286250" y="4191000"/>
            <a:ext cx="3619500" cy="66675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endParaRPr lang="ko-KR" altLang="en-US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991A765B-82CE-4020-A350-2E784D2BCE0A}"/>
              </a:ext>
            </a:extLst>
          </p:cNvPr>
          <p:cNvSpPr/>
          <p:nvPr/>
        </p:nvSpPr>
        <p:spPr>
          <a:xfrm>
            <a:off x="4400550" y="4400550"/>
            <a:ext cx="247650" cy="247650"/>
          </a:xfrm>
          <a:prstGeom prst="ellipse">
            <a:avLst/>
          </a:prstGeom>
          <a:solidFill>
            <a:srgbClr val="EA580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/>
            <a:r>
              <a:rPr lang="en-US" altLang="ko-KR" sz="1200" b="1">
                <a:solidFill>
                  <a:srgbClr val="FFFFFF"/>
                </a:solidFill>
                <a:latin typeface="FEF3C7"/>
              </a:rPr>
              <a:t>2</a:t>
            </a:r>
            <a:endParaRPr lang="ko-KR" altLang="en-US" sz="1200" b="1">
              <a:solidFill>
                <a:srgbClr val="FFFFFF"/>
              </a:solidFill>
              <a:latin typeface="FEF3C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847267C-927B-9A54-3EF7-E8BC5DB66DC3}"/>
              </a:ext>
            </a:extLst>
          </p:cNvPr>
          <p:cNvSpPr txBox="1"/>
          <p:nvPr/>
        </p:nvSpPr>
        <p:spPr>
          <a:xfrm>
            <a:off x="4743450" y="4191000"/>
            <a:ext cx="3067050" cy="6667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ko-KR" altLang="en-US" sz="1700" b="1">
                <a:solidFill>
                  <a:srgbClr val="1F2A44"/>
                </a:solidFill>
                <a:latin typeface="FEF3C7"/>
              </a:rPr>
              <a:t>누름 길이 무관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3257A50A-EE9F-FEA1-580A-CF8E5D646F13}"/>
              </a:ext>
            </a:extLst>
          </p:cNvPr>
          <p:cNvSpPr/>
          <p:nvPr/>
        </p:nvSpPr>
        <p:spPr>
          <a:xfrm>
            <a:off x="8191500" y="4191000"/>
            <a:ext cx="3619500" cy="66675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endParaRPr lang="ko-KR" altLang="en-US"/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AE099073-AFF8-F763-6848-D99680C724CC}"/>
              </a:ext>
            </a:extLst>
          </p:cNvPr>
          <p:cNvSpPr/>
          <p:nvPr/>
        </p:nvSpPr>
        <p:spPr>
          <a:xfrm>
            <a:off x="8305800" y="4400550"/>
            <a:ext cx="247650" cy="247650"/>
          </a:xfrm>
          <a:prstGeom prst="ellipse">
            <a:avLst/>
          </a:prstGeom>
          <a:solidFill>
            <a:srgbClr val="EA580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/>
            <a:r>
              <a:rPr lang="en-US" altLang="ko-KR" sz="1200" b="1">
                <a:solidFill>
                  <a:srgbClr val="FFFFFF"/>
                </a:solidFill>
                <a:latin typeface="FEF3C7"/>
              </a:rPr>
              <a:t>3</a:t>
            </a:r>
            <a:endParaRPr lang="ko-KR" altLang="en-US" sz="1200" b="1">
              <a:solidFill>
                <a:srgbClr val="FFFFFF"/>
              </a:solidFill>
              <a:latin typeface="FEF3C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376EC07-E08D-5D98-DF24-E58849208F66}"/>
              </a:ext>
            </a:extLst>
          </p:cNvPr>
          <p:cNvSpPr txBox="1"/>
          <p:nvPr/>
        </p:nvSpPr>
        <p:spPr>
          <a:xfrm>
            <a:off x="8648700" y="4191000"/>
            <a:ext cx="3067050" cy="6667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altLang="ko-KR" sz="1700" b="1">
                <a:solidFill>
                  <a:srgbClr val="1F2A44"/>
                </a:solidFill>
                <a:latin typeface="FEF3C7"/>
              </a:rPr>
              <a:t>clk </a:t>
            </a:r>
            <a:r>
              <a:rPr lang="ko-KR" altLang="en-US" sz="1700" b="1">
                <a:solidFill>
                  <a:srgbClr val="1F2A44"/>
                </a:solidFill>
                <a:latin typeface="FEF3C7"/>
              </a:rPr>
              <a:t>동기 </a:t>
            </a:r>
            <a:r>
              <a:rPr lang="en-US" altLang="ko-KR" sz="1700" b="1">
                <a:solidFill>
                  <a:srgbClr val="1F2A44"/>
                </a:solidFill>
                <a:latin typeface="FEF3C7"/>
              </a:rPr>
              <a:t>1 cycle pulse</a:t>
            </a:r>
            <a:endParaRPr lang="ko-KR" altLang="en-US" sz="1700" b="1">
              <a:solidFill>
                <a:srgbClr val="1F2A44"/>
              </a:solidFill>
              <a:latin typeface="FEF3C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7E665065-122A-4617-AAF4-A81B636BBFBD}"/>
              </a:ext>
            </a:extLst>
          </p:cNvPr>
          <p:cNvSpPr/>
          <p:nvPr/>
        </p:nvSpPr>
        <p:spPr>
          <a:xfrm>
            <a:off x="381000" y="5048250"/>
            <a:ext cx="11430000" cy="609600"/>
          </a:xfrm>
          <a:prstGeom prst="rect">
            <a:avLst/>
          </a:prstGeom>
          <a:solidFill>
            <a:srgbClr val="EFF6FF"/>
          </a:solidFill>
          <a:ln w="12700">
            <a:solidFill>
              <a:srgbClr val="93C5F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A04C8BD-F836-2AB4-8256-B949C14F448D}"/>
              </a:ext>
            </a:extLst>
          </p:cNvPr>
          <p:cNvSpPr txBox="1"/>
          <p:nvPr/>
        </p:nvSpPr>
        <p:spPr>
          <a:xfrm>
            <a:off x="514350" y="5048250"/>
            <a:ext cx="11201400" cy="60960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altLang="ko-KR" sz="1700" b="1">
                <a:solidFill>
                  <a:srgbClr val="1E3A8A"/>
                </a:solidFill>
                <a:latin typeface="FEF3C7"/>
              </a:rPr>
              <a:t>FSM next-state logic</a:t>
            </a:r>
            <a:r>
              <a:rPr lang="ko-KR" altLang="en-US" sz="1700" b="1">
                <a:solidFill>
                  <a:srgbClr val="1E3A8A"/>
                </a:solidFill>
                <a:latin typeface="FEF3C7"/>
              </a:rPr>
              <a:t>의 천이 조건으로 그대로 사용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FF3DA3D-E818-4C94-CDA4-019895071D57}"/>
              </a:ext>
            </a:extLst>
          </p:cNvPr>
          <p:cNvSpPr txBox="1"/>
          <p:nvPr/>
        </p:nvSpPr>
        <p:spPr>
          <a:xfrm>
            <a:off x="10668000" y="6591300"/>
            <a:ext cx="1143000" cy="19050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pPr algn="r"/>
            <a:r>
              <a:rPr lang="en-US" altLang="ko-KR" sz="1100">
                <a:solidFill>
                  <a:srgbClr val="94A3B8"/>
                </a:solidFill>
                <a:latin typeface="FEF3C7"/>
              </a:rPr>
              <a:t>10 / 39</a:t>
            </a:r>
            <a:endParaRPr lang="ko-KR" altLang="en-US" sz="1100">
              <a:solidFill>
                <a:srgbClr val="94A3B8"/>
              </a:solidFill>
              <a:latin typeface="FEF3C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9422497-27FE-0E17-9414-D2338DD135AE}"/>
              </a:ext>
            </a:extLst>
          </p:cNvPr>
          <p:cNvSpPr txBox="1"/>
          <p:nvPr/>
        </p:nvSpPr>
        <p:spPr>
          <a:xfrm>
            <a:off x="1502979" y="5935059"/>
            <a:ext cx="46981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누름 </a:t>
            </a:r>
            <a:r>
              <a:rPr lang="en-US" altLang="ko-KR"/>
              <a:t>-&gt; push</a:t>
            </a:r>
            <a:r>
              <a:rPr lang="ko-KR" altLang="en-US"/>
              <a:t>로 바꿀 것  길이 </a:t>
            </a:r>
            <a:r>
              <a:rPr lang="en-US" altLang="ko-KR"/>
              <a:t>–&gt; length</a:t>
            </a:r>
            <a:r>
              <a:rPr lang="ko-KR" alt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703192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10FE6E9-3617-4CEE-8B51-563D5BA6149B}"/>
              </a:ext>
            </a:extLst>
          </p:cNvPr>
          <p:cNvSpPr txBox="1"/>
          <p:nvPr/>
        </p:nvSpPr>
        <p:spPr>
          <a:xfrm>
            <a:off x="381000" y="133350"/>
            <a:ext cx="9525000" cy="2095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altLang="ko-KR" sz="1300" b="1">
                <a:solidFill>
                  <a:srgbClr val="2563EB"/>
                </a:solidFill>
                <a:latin typeface="FEF3C7"/>
              </a:rPr>
              <a:t>02  ·  Sampling · Filter  ·  100 MHz Sampling</a:t>
            </a:r>
            <a:endParaRPr lang="ko-KR" altLang="en-US" sz="1300" b="1">
              <a:solidFill>
                <a:srgbClr val="2563EB"/>
              </a:solidFill>
              <a:latin typeface="FEF3C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E91681-B572-9F29-1E71-31FB9D6D05BB}"/>
              </a:ext>
            </a:extLst>
          </p:cNvPr>
          <p:cNvSpPr txBox="1"/>
          <p:nvPr/>
        </p:nvSpPr>
        <p:spPr>
          <a:xfrm>
            <a:off x="381000" y="342900"/>
            <a:ext cx="10096500" cy="4381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altLang="ko-KR" sz="2600" b="1">
                <a:solidFill>
                  <a:srgbClr val="0F172A"/>
                </a:solidFill>
                <a:latin typeface="FEF3C7"/>
              </a:rPr>
              <a:t>Sampling at 100 MHz Repeats the Spectrum Every 100 MHz</a:t>
            </a:r>
            <a:endParaRPr lang="ko-KR" altLang="en-US" sz="2600" b="1">
              <a:solidFill>
                <a:srgbClr val="0F172A"/>
              </a:solidFill>
              <a:latin typeface="FEF3C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80FA746-BDBE-4713-2CC4-7CFD505C77F7}"/>
              </a:ext>
            </a:extLst>
          </p:cNvPr>
          <p:cNvSpPr/>
          <p:nvPr/>
        </p:nvSpPr>
        <p:spPr>
          <a:xfrm>
            <a:off x="381000" y="819150"/>
            <a:ext cx="666750" cy="381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ADC48B-E436-3FCB-41DD-1C816D058ADD}"/>
              </a:ext>
            </a:extLst>
          </p:cNvPr>
          <p:cNvSpPr txBox="1"/>
          <p:nvPr/>
        </p:nvSpPr>
        <p:spPr>
          <a:xfrm>
            <a:off x="10572750" y="133350"/>
            <a:ext cx="1238250" cy="60960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pPr algn="r"/>
            <a:r>
              <a:rPr lang="en-US" altLang="ko-KR" sz="4000" b="1">
                <a:solidFill>
                  <a:srgbClr val="BFDBFE"/>
                </a:solidFill>
                <a:latin typeface="FEF3C7"/>
              </a:rPr>
              <a:t>02</a:t>
            </a:r>
            <a:endParaRPr lang="ko-KR" altLang="en-US" sz="4000" b="1">
              <a:solidFill>
                <a:srgbClr val="BFDBFE"/>
              </a:solidFill>
              <a:latin typeface="FEF3C7"/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E7AEE2EF-FB1E-CBDF-EA13-56CFDDFD6A35}"/>
              </a:ext>
            </a:extLst>
          </p:cNvPr>
          <p:cNvCxnSpPr/>
          <p:nvPr/>
        </p:nvCxnSpPr>
        <p:spPr>
          <a:xfrm>
            <a:off x="1143000" y="3810000"/>
            <a:ext cx="10287000" cy="0"/>
          </a:xfrm>
          <a:prstGeom prst="line">
            <a:avLst/>
          </a:prstGeom>
          <a:ln w="19050">
            <a:solidFill>
              <a:srgbClr val="475569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036C6903-E972-571F-7BE7-1DA52714A1EC}"/>
              </a:ext>
            </a:extLst>
          </p:cNvPr>
          <p:cNvSpPr txBox="1"/>
          <p:nvPr/>
        </p:nvSpPr>
        <p:spPr>
          <a:xfrm>
            <a:off x="10953750" y="3886200"/>
            <a:ext cx="762000" cy="19050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en-US" altLang="ko-KR" sz="1400" b="1">
                <a:solidFill>
                  <a:srgbClr val="475569"/>
                </a:solidFill>
                <a:latin typeface="FEF3C7"/>
              </a:rPr>
              <a:t>f</a:t>
            </a:r>
            <a:endParaRPr lang="ko-KR" altLang="en-US" sz="1400" b="1">
              <a:solidFill>
                <a:srgbClr val="475569"/>
              </a:solidFill>
              <a:latin typeface="FEF3C7"/>
            </a:endParaRPr>
          </a:p>
        </p:txBody>
      </p:sp>
      <p:sp>
        <p:nvSpPr>
          <p:cNvPr id="8" name="자유형: 도형 7">
            <a:extLst>
              <a:ext uri="{FF2B5EF4-FFF2-40B4-BE49-F238E27FC236}">
                <a16:creationId xmlns:a16="http://schemas.microsoft.com/office/drawing/2014/main" id="{A764A1EC-4EF9-5EC5-385D-EBE21C04BC49}"/>
              </a:ext>
            </a:extLst>
          </p:cNvPr>
          <p:cNvSpPr/>
          <p:nvPr/>
        </p:nvSpPr>
        <p:spPr>
          <a:xfrm>
            <a:off x="1333500" y="2190750"/>
            <a:ext cx="1143001" cy="1619251"/>
          </a:xfrm>
          <a:custGeom>
            <a:avLst/>
            <a:gdLst/>
            <a:ahLst/>
            <a:cxnLst/>
            <a:rect l="0" t="0" r="0" b="0"/>
            <a:pathLst>
              <a:path w="1143001" h="1619251">
                <a:moveTo>
                  <a:pt x="0" y="1619250"/>
                </a:moveTo>
                <a:lnTo>
                  <a:pt x="0" y="0"/>
                </a:lnTo>
                <a:lnTo>
                  <a:pt x="1143000" y="1619250"/>
                </a:lnTo>
                <a:close/>
              </a:path>
            </a:pathLst>
          </a:custGeom>
          <a:solidFill>
            <a:srgbClr val="BFDBFE"/>
          </a:solidFill>
          <a:ln w="19050" cap="flat" cmpd="sng" algn="ctr">
            <a:solidFill>
              <a:srgbClr val="2563EB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자유형: 도형 8">
            <a:extLst>
              <a:ext uri="{FF2B5EF4-FFF2-40B4-BE49-F238E27FC236}">
                <a16:creationId xmlns:a16="http://schemas.microsoft.com/office/drawing/2014/main" id="{1246A721-4582-D655-BD9A-5E3095011B3D}"/>
              </a:ext>
            </a:extLst>
          </p:cNvPr>
          <p:cNvSpPr/>
          <p:nvPr/>
        </p:nvSpPr>
        <p:spPr>
          <a:xfrm>
            <a:off x="4000500" y="2190750"/>
            <a:ext cx="2286001" cy="1619251"/>
          </a:xfrm>
          <a:custGeom>
            <a:avLst/>
            <a:gdLst/>
            <a:ahLst/>
            <a:cxnLst/>
            <a:rect l="0" t="0" r="0" b="0"/>
            <a:pathLst>
              <a:path w="2286001" h="1619251">
                <a:moveTo>
                  <a:pt x="0" y="1619250"/>
                </a:moveTo>
                <a:lnTo>
                  <a:pt x="1143000" y="0"/>
                </a:lnTo>
                <a:lnTo>
                  <a:pt x="2286000" y="1619250"/>
                </a:lnTo>
                <a:close/>
              </a:path>
            </a:pathLst>
          </a:custGeom>
          <a:solidFill>
            <a:srgbClr val="DBEAFE"/>
          </a:solidFill>
          <a:ln w="19050" cap="flat" cmpd="sng" algn="ctr">
            <a:solidFill>
              <a:srgbClr val="93C5FD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자유형: 도형 9">
            <a:extLst>
              <a:ext uri="{FF2B5EF4-FFF2-40B4-BE49-F238E27FC236}">
                <a16:creationId xmlns:a16="http://schemas.microsoft.com/office/drawing/2014/main" id="{25588F1C-4552-9A7A-15FE-F375C766B948}"/>
              </a:ext>
            </a:extLst>
          </p:cNvPr>
          <p:cNvSpPr/>
          <p:nvPr/>
        </p:nvSpPr>
        <p:spPr>
          <a:xfrm>
            <a:off x="7810500" y="2190750"/>
            <a:ext cx="2286001" cy="1619251"/>
          </a:xfrm>
          <a:custGeom>
            <a:avLst/>
            <a:gdLst/>
            <a:ahLst/>
            <a:cxnLst/>
            <a:rect l="0" t="0" r="0" b="0"/>
            <a:pathLst>
              <a:path w="2286001" h="1619251">
                <a:moveTo>
                  <a:pt x="0" y="1619250"/>
                </a:moveTo>
                <a:lnTo>
                  <a:pt x="1143000" y="0"/>
                </a:lnTo>
                <a:lnTo>
                  <a:pt x="2286000" y="1619250"/>
                </a:lnTo>
                <a:close/>
              </a:path>
            </a:pathLst>
          </a:custGeom>
          <a:solidFill>
            <a:srgbClr val="DBEAFE"/>
          </a:solidFill>
          <a:ln w="19050" cap="flat" cmpd="sng" algn="ctr">
            <a:solidFill>
              <a:srgbClr val="93C5FD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EDC01D-FBDE-B8E6-5D8A-082AC84118BA}"/>
              </a:ext>
            </a:extLst>
          </p:cNvPr>
          <p:cNvSpPr txBox="1"/>
          <p:nvPr/>
        </p:nvSpPr>
        <p:spPr>
          <a:xfrm>
            <a:off x="952500" y="3905250"/>
            <a:ext cx="762000" cy="19050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pPr algn="ctr"/>
            <a:r>
              <a:rPr lang="en-US" altLang="ko-KR" sz="1400" b="1">
                <a:solidFill>
                  <a:srgbClr val="475569"/>
                </a:solidFill>
                <a:latin typeface="FEF3C7"/>
              </a:rPr>
              <a:t>0</a:t>
            </a:r>
            <a:endParaRPr lang="ko-KR" altLang="en-US" sz="1400" b="1">
              <a:solidFill>
                <a:srgbClr val="475569"/>
              </a:solidFill>
              <a:latin typeface="FEF3C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21D1014-EB19-3182-BA98-62D0A06A6537}"/>
              </a:ext>
            </a:extLst>
          </p:cNvPr>
          <p:cNvSpPr txBox="1"/>
          <p:nvPr/>
        </p:nvSpPr>
        <p:spPr>
          <a:xfrm>
            <a:off x="4476750" y="3905250"/>
            <a:ext cx="1333500" cy="19050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pPr algn="ctr"/>
            <a:r>
              <a:rPr lang="en-US" altLang="ko-KR" sz="1400" b="1">
                <a:solidFill>
                  <a:srgbClr val="1F2A44"/>
                </a:solidFill>
                <a:latin typeface="FEF3C7"/>
              </a:rPr>
              <a:t>fs = 100 MHz</a:t>
            </a:r>
            <a:endParaRPr lang="ko-KR" altLang="en-US" sz="1400" b="1">
              <a:solidFill>
                <a:srgbClr val="1F2A44"/>
              </a:solidFill>
              <a:latin typeface="FEF3C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8513DC5-7FF0-44C9-C1C4-2715142C4A36}"/>
              </a:ext>
            </a:extLst>
          </p:cNvPr>
          <p:cNvSpPr txBox="1"/>
          <p:nvPr/>
        </p:nvSpPr>
        <p:spPr>
          <a:xfrm>
            <a:off x="8286750" y="3905250"/>
            <a:ext cx="1333500" cy="19050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pPr algn="ctr"/>
            <a:r>
              <a:rPr lang="en-US" altLang="ko-KR" sz="1400" b="1">
                <a:solidFill>
                  <a:srgbClr val="1F2A44"/>
                </a:solidFill>
                <a:latin typeface="FEF3C7"/>
              </a:rPr>
              <a:t>2fs = 200 MHz</a:t>
            </a:r>
            <a:endParaRPr lang="ko-KR" altLang="en-US" sz="1400" b="1">
              <a:solidFill>
                <a:srgbClr val="1F2A44"/>
              </a:solidFill>
              <a:latin typeface="FEF3C7"/>
            </a:endParaRPr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3C24542A-0447-42CF-FE57-97A194B95227}"/>
              </a:ext>
            </a:extLst>
          </p:cNvPr>
          <p:cNvCxnSpPr/>
          <p:nvPr/>
        </p:nvCxnSpPr>
        <p:spPr>
          <a:xfrm>
            <a:off x="3238500" y="1619250"/>
            <a:ext cx="0" cy="2190750"/>
          </a:xfrm>
          <a:prstGeom prst="line">
            <a:avLst/>
          </a:prstGeom>
          <a:ln w="25400">
            <a:solidFill>
              <a:srgbClr val="F9731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2B2F01CC-44F7-70CE-8FB6-8D640D3EF7BE}"/>
              </a:ext>
            </a:extLst>
          </p:cNvPr>
          <p:cNvSpPr txBox="1"/>
          <p:nvPr/>
        </p:nvSpPr>
        <p:spPr>
          <a:xfrm>
            <a:off x="2571750" y="1390650"/>
            <a:ext cx="1333500" cy="2095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pPr algn="ctr"/>
            <a:r>
              <a:rPr lang="en-US" altLang="ko-KR" sz="1400" b="1">
                <a:solidFill>
                  <a:srgbClr val="F97316"/>
                </a:solidFill>
                <a:latin typeface="FEF3C7"/>
              </a:rPr>
              <a:t>fs/2 = 50 MHz</a:t>
            </a:r>
            <a:endParaRPr lang="ko-KR" altLang="en-US" sz="1400" b="1">
              <a:solidFill>
                <a:srgbClr val="F97316"/>
              </a:solidFill>
              <a:latin typeface="FEF3C7"/>
            </a:endParaRP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26A56CBE-9699-4487-A7F3-EBD220CDA1B7}"/>
              </a:ext>
            </a:extLst>
          </p:cNvPr>
          <p:cNvCxnSpPr/>
          <p:nvPr/>
        </p:nvCxnSpPr>
        <p:spPr>
          <a:xfrm flipV="1">
            <a:off x="4000500" y="2857500"/>
            <a:ext cx="0" cy="952500"/>
          </a:xfrm>
          <a:prstGeom prst="line">
            <a:avLst/>
          </a:prstGeom>
          <a:ln w="38100">
            <a:solidFill>
              <a:srgbClr val="DC2626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F06C30DF-F6C1-342B-ACD7-2F3F47AEE7DB}"/>
              </a:ext>
            </a:extLst>
          </p:cNvPr>
          <p:cNvSpPr txBox="1"/>
          <p:nvPr/>
        </p:nvSpPr>
        <p:spPr>
          <a:xfrm>
            <a:off x="3619500" y="2571750"/>
            <a:ext cx="762000" cy="2095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pPr algn="ctr"/>
            <a:r>
              <a:rPr lang="en-US" altLang="ko-KR" sz="1300" b="1">
                <a:solidFill>
                  <a:srgbClr val="DC2626"/>
                </a:solidFill>
                <a:latin typeface="FEF3C7"/>
              </a:rPr>
              <a:t>70 MHz</a:t>
            </a:r>
            <a:endParaRPr lang="ko-KR" altLang="en-US" sz="1300" b="1">
              <a:solidFill>
                <a:srgbClr val="DC2626"/>
              </a:solidFill>
              <a:latin typeface="FEF3C7"/>
            </a:endParaRPr>
          </a:p>
        </p:txBody>
      </p:sp>
      <p:sp>
        <p:nvSpPr>
          <p:cNvPr id="18" name="자유형: 도형 17">
            <a:extLst>
              <a:ext uri="{FF2B5EF4-FFF2-40B4-BE49-F238E27FC236}">
                <a16:creationId xmlns:a16="http://schemas.microsoft.com/office/drawing/2014/main" id="{E7FCAD92-48CA-29A8-1472-B3A03426B2FE}"/>
              </a:ext>
            </a:extLst>
          </p:cNvPr>
          <p:cNvSpPr/>
          <p:nvPr/>
        </p:nvSpPr>
        <p:spPr>
          <a:xfrm>
            <a:off x="2476500" y="2190750"/>
            <a:ext cx="1524001" cy="628651"/>
          </a:xfrm>
          <a:custGeom>
            <a:avLst/>
            <a:gdLst/>
            <a:ahLst/>
            <a:cxnLst/>
            <a:rect l="0" t="0" r="0" b="0"/>
            <a:pathLst>
              <a:path w="1524001" h="628651">
                <a:moveTo>
                  <a:pt x="1524000" y="628650"/>
                </a:moveTo>
                <a:cubicBezTo>
                  <a:pt x="1333500" y="0"/>
                  <a:pt x="190500" y="0"/>
                  <a:pt x="0" y="628650"/>
                </a:cubicBezTo>
              </a:path>
            </a:pathLst>
          </a:custGeom>
          <a:ln w="25400">
            <a:solidFill>
              <a:srgbClr val="DC262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0E18E57-6694-28DB-6ED8-86C54B697377}"/>
              </a:ext>
            </a:extLst>
          </p:cNvPr>
          <p:cNvSpPr txBox="1"/>
          <p:nvPr/>
        </p:nvSpPr>
        <p:spPr>
          <a:xfrm>
            <a:off x="2381250" y="1905000"/>
            <a:ext cx="1905000" cy="2095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pPr algn="ctr"/>
            <a:r>
              <a:rPr lang="en-US" altLang="ko-KR" sz="1300" b="1">
                <a:solidFill>
                  <a:srgbClr val="DC2626"/>
                </a:solidFill>
                <a:latin typeface="FEF3C7"/>
              </a:rPr>
              <a:t>aliasing → 30 MHz</a:t>
            </a:r>
            <a:endParaRPr lang="ko-KR" altLang="en-US" sz="1300" b="1">
              <a:solidFill>
                <a:srgbClr val="DC2626"/>
              </a:solidFill>
              <a:latin typeface="FEF3C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9CE82074-CBC7-E484-BFC0-FBCFB1FAB067}"/>
              </a:ext>
            </a:extLst>
          </p:cNvPr>
          <p:cNvSpPr/>
          <p:nvPr/>
        </p:nvSpPr>
        <p:spPr>
          <a:xfrm>
            <a:off x="1143000" y="4476750"/>
            <a:ext cx="5143500" cy="66675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endParaRPr lang="ko-KR" altLang="en-US"/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E6A2CB21-2DAE-4182-CFA9-23DC03CE5AEA}"/>
              </a:ext>
            </a:extLst>
          </p:cNvPr>
          <p:cNvSpPr/>
          <p:nvPr/>
        </p:nvSpPr>
        <p:spPr>
          <a:xfrm>
            <a:off x="1257300" y="4686300"/>
            <a:ext cx="247650" cy="247650"/>
          </a:xfrm>
          <a:prstGeom prst="ellipse">
            <a:avLst/>
          </a:prstGeom>
          <a:solidFill>
            <a:srgbClr val="EA580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/>
            <a:r>
              <a:rPr lang="en-US" altLang="ko-KR" sz="1200" b="1">
                <a:solidFill>
                  <a:srgbClr val="FFFFFF"/>
                </a:solidFill>
                <a:latin typeface="FEF3C7"/>
              </a:rPr>
              <a:t>1</a:t>
            </a:r>
            <a:endParaRPr lang="ko-KR" altLang="en-US" sz="1200" b="1">
              <a:solidFill>
                <a:srgbClr val="FFFFFF"/>
              </a:solidFill>
              <a:latin typeface="FEF3C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EDC2B87-2E33-FD9C-E4B8-BCFD7C4EAE78}"/>
              </a:ext>
            </a:extLst>
          </p:cNvPr>
          <p:cNvSpPr txBox="1"/>
          <p:nvPr/>
        </p:nvSpPr>
        <p:spPr>
          <a:xfrm>
            <a:off x="1600200" y="4476750"/>
            <a:ext cx="4591050" cy="6667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altLang="ko-KR" sz="1700" b="1">
                <a:solidFill>
                  <a:srgbClr val="1F2A44"/>
                </a:solidFill>
                <a:latin typeface="FEF3C7"/>
              </a:rPr>
              <a:t>Sampling → spectrum</a:t>
            </a:r>
            <a:r>
              <a:rPr lang="ko-KR" altLang="en-US" sz="1700" b="1">
                <a:solidFill>
                  <a:srgbClr val="1F2A44"/>
                </a:solidFill>
                <a:latin typeface="FEF3C7"/>
              </a:rPr>
              <a:t>이 </a:t>
            </a:r>
            <a:r>
              <a:rPr lang="en-US" altLang="ko-KR" sz="1700" b="1">
                <a:solidFill>
                  <a:srgbClr val="1F2A44"/>
                </a:solidFill>
                <a:latin typeface="FEF3C7"/>
              </a:rPr>
              <a:t>fs </a:t>
            </a:r>
            <a:r>
              <a:rPr lang="ko-KR" altLang="en-US" sz="1700" b="1">
                <a:solidFill>
                  <a:srgbClr val="1F2A44"/>
                </a:solidFill>
                <a:latin typeface="FEF3C7"/>
              </a:rPr>
              <a:t>간격으로 반복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95067463-FA74-0F2B-4745-0B192451CF4E}"/>
              </a:ext>
            </a:extLst>
          </p:cNvPr>
          <p:cNvSpPr/>
          <p:nvPr/>
        </p:nvSpPr>
        <p:spPr>
          <a:xfrm>
            <a:off x="6477000" y="4476750"/>
            <a:ext cx="5143500" cy="66675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endParaRPr lang="ko-KR" altLang="en-US"/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A9DD35B7-3A76-6977-B52E-9391B4E2085B}"/>
              </a:ext>
            </a:extLst>
          </p:cNvPr>
          <p:cNvSpPr/>
          <p:nvPr/>
        </p:nvSpPr>
        <p:spPr>
          <a:xfrm>
            <a:off x="6591300" y="4686300"/>
            <a:ext cx="247650" cy="247650"/>
          </a:xfrm>
          <a:prstGeom prst="ellipse">
            <a:avLst/>
          </a:prstGeom>
          <a:solidFill>
            <a:srgbClr val="EA580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/>
            <a:r>
              <a:rPr lang="en-US" altLang="ko-KR" sz="1200" b="1">
                <a:solidFill>
                  <a:srgbClr val="FFFFFF"/>
                </a:solidFill>
                <a:latin typeface="FEF3C7"/>
              </a:rPr>
              <a:t>2</a:t>
            </a:r>
            <a:endParaRPr lang="ko-KR" altLang="en-US" sz="1200" b="1">
              <a:solidFill>
                <a:srgbClr val="FFFFFF"/>
              </a:solidFill>
              <a:latin typeface="FEF3C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29D381E-31BD-466B-B4CF-44EDB82B6E12}"/>
              </a:ext>
            </a:extLst>
          </p:cNvPr>
          <p:cNvSpPr txBox="1"/>
          <p:nvPr/>
        </p:nvSpPr>
        <p:spPr>
          <a:xfrm>
            <a:off x="6934200" y="4476750"/>
            <a:ext cx="4591050" cy="6667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altLang="ko-KR" sz="1700" b="1">
                <a:solidFill>
                  <a:srgbClr val="DC2626"/>
                </a:solidFill>
                <a:latin typeface="FEF3C7"/>
              </a:rPr>
              <a:t>fs/2 </a:t>
            </a:r>
            <a:r>
              <a:rPr lang="ko-KR" altLang="en-US" sz="1700" b="1">
                <a:solidFill>
                  <a:srgbClr val="DC2626"/>
                </a:solidFill>
                <a:latin typeface="FEF3C7"/>
              </a:rPr>
              <a:t>초과 성분 → 저주파로 접힘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40E86A7-DC3B-BAA9-8C5E-EBD876237043}"/>
              </a:ext>
            </a:extLst>
          </p:cNvPr>
          <p:cNvSpPr txBox="1"/>
          <p:nvPr/>
        </p:nvSpPr>
        <p:spPr>
          <a:xfrm>
            <a:off x="10668000" y="6591300"/>
            <a:ext cx="1143000" cy="19050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pPr algn="r"/>
            <a:r>
              <a:rPr lang="en-US" altLang="ko-KR" sz="1100">
                <a:solidFill>
                  <a:srgbClr val="94A3B8"/>
                </a:solidFill>
                <a:latin typeface="FEF3C7"/>
              </a:rPr>
              <a:t>11 / 39</a:t>
            </a:r>
            <a:endParaRPr lang="ko-KR" altLang="en-US" sz="1100">
              <a:solidFill>
                <a:srgbClr val="94A3B8"/>
              </a:solidFill>
              <a:latin typeface="FEF3C7"/>
            </a:endParaRPr>
          </a:p>
        </p:txBody>
      </p:sp>
    </p:spTree>
    <p:extLst>
      <p:ext uri="{BB962C8B-B14F-4D97-AF65-F5344CB8AC3E}">
        <p14:creationId xmlns:p14="http://schemas.microsoft.com/office/powerpoint/2010/main" val="11068770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415ACAF-4978-4315-F762-F082B774FB1D}"/>
              </a:ext>
            </a:extLst>
          </p:cNvPr>
          <p:cNvSpPr txBox="1"/>
          <p:nvPr/>
        </p:nvSpPr>
        <p:spPr>
          <a:xfrm>
            <a:off x="381000" y="133350"/>
            <a:ext cx="9525000" cy="2095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altLang="ko-KR" sz="1300" b="1">
                <a:solidFill>
                  <a:srgbClr val="2563EB"/>
                </a:solidFill>
                <a:latin typeface="FEF3C7"/>
              </a:rPr>
              <a:t>02  ·  Sampling · Filter  ·  |H(f)|</a:t>
            </a:r>
            <a:endParaRPr lang="ko-KR" altLang="en-US" sz="1300" b="1">
              <a:solidFill>
                <a:srgbClr val="2563EB"/>
              </a:solidFill>
              <a:latin typeface="FEF3C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015BCB-EB39-D820-4D70-905C5FCA105C}"/>
              </a:ext>
            </a:extLst>
          </p:cNvPr>
          <p:cNvSpPr txBox="1"/>
          <p:nvPr/>
        </p:nvSpPr>
        <p:spPr>
          <a:xfrm>
            <a:off x="381000" y="342900"/>
            <a:ext cx="10096500" cy="4381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altLang="ko-KR" sz="2600" b="1">
                <a:solidFill>
                  <a:srgbClr val="0F172A"/>
                </a:solidFill>
                <a:latin typeface="FEF3C7"/>
              </a:rPr>
              <a:t>8-Sample Window Acts as a Low-pass Filter</a:t>
            </a:r>
            <a:endParaRPr lang="ko-KR" altLang="en-US" sz="2600" b="1">
              <a:solidFill>
                <a:srgbClr val="0F172A"/>
              </a:solidFill>
              <a:latin typeface="FEF3C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56B35FF-CA90-E264-4B15-2032BBAC9BF3}"/>
              </a:ext>
            </a:extLst>
          </p:cNvPr>
          <p:cNvSpPr/>
          <p:nvPr/>
        </p:nvSpPr>
        <p:spPr>
          <a:xfrm>
            <a:off x="381000" y="819150"/>
            <a:ext cx="666750" cy="381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393DE5-2950-34E0-5C48-708081062F0C}"/>
              </a:ext>
            </a:extLst>
          </p:cNvPr>
          <p:cNvSpPr txBox="1"/>
          <p:nvPr/>
        </p:nvSpPr>
        <p:spPr>
          <a:xfrm>
            <a:off x="10572750" y="133350"/>
            <a:ext cx="1238250" cy="60960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pPr algn="r"/>
            <a:r>
              <a:rPr lang="en-US" altLang="ko-KR" sz="4000" b="1">
                <a:solidFill>
                  <a:srgbClr val="BFDBFE"/>
                </a:solidFill>
                <a:latin typeface="FEF3C7"/>
              </a:rPr>
              <a:t>02</a:t>
            </a:r>
            <a:endParaRPr lang="ko-KR" altLang="en-US" sz="4000" b="1">
              <a:solidFill>
                <a:srgbClr val="BFDBFE"/>
              </a:solidFill>
              <a:latin typeface="FEF3C7"/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31A4710D-18FB-1DF2-F2D5-144BDE3CE940}"/>
              </a:ext>
            </a:extLst>
          </p:cNvPr>
          <p:cNvCxnSpPr/>
          <p:nvPr/>
        </p:nvCxnSpPr>
        <p:spPr>
          <a:xfrm>
            <a:off x="952500" y="4476750"/>
            <a:ext cx="5905500" cy="0"/>
          </a:xfrm>
          <a:prstGeom prst="line">
            <a:avLst/>
          </a:prstGeom>
          <a:ln w="19050">
            <a:solidFill>
              <a:srgbClr val="475569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C230ED93-F039-91A5-39CC-68650956484A}"/>
              </a:ext>
            </a:extLst>
          </p:cNvPr>
          <p:cNvCxnSpPr/>
          <p:nvPr/>
        </p:nvCxnSpPr>
        <p:spPr>
          <a:xfrm flipV="1">
            <a:off x="952500" y="1143000"/>
            <a:ext cx="0" cy="3333750"/>
          </a:xfrm>
          <a:prstGeom prst="line">
            <a:avLst/>
          </a:prstGeom>
          <a:ln w="19050">
            <a:solidFill>
              <a:srgbClr val="475569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자유형: 도형 7">
            <a:extLst>
              <a:ext uri="{FF2B5EF4-FFF2-40B4-BE49-F238E27FC236}">
                <a16:creationId xmlns:a16="http://schemas.microsoft.com/office/drawing/2014/main" id="{7E657639-6E34-1CC9-CB75-143AC57E0140}"/>
              </a:ext>
            </a:extLst>
          </p:cNvPr>
          <p:cNvSpPr/>
          <p:nvPr/>
        </p:nvSpPr>
        <p:spPr>
          <a:xfrm>
            <a:off x="952500" y="1428750"/>
            <a:ext cx="5715001" cy="3048001"/>
          </a:xfrm>
          <a:custGeom>
            <a:avLst/>
            <a:gdLst/>
            <a:ahLst/>
            <a:cxnLst/>
            <a:rect l="0" t="0" r="0" b="0"/>
            <a:pathLst>
              <a:path w="5715001" h="3048001">
                <a:moveTo>
                  <a:pt x="0" y="0"/>
                </a:moveTo>
                <a:lnTo>
                  <a:pt x="28575" y="1974"/>
                </a:lnTo>
                <a:lnTo>
                  <a:pt x="57150" y="7891"/>
                </a:lnTo>
                <a:lnTo>
                  <a:pt x="85725" y="17737"/>
                </a:lnTo>
                <a:lnTo>
                  <a:pt x="114300" y="31491"/>
                </a:lnTo>
                <a:lnTo>
                  <a:pt x="142875" y="49120"/>
                </a:lnTo>
                <a:lnTo>
                  <a:pt x="171450" y="70585"/>
                </a:lnTo>
                <a:lnTo>
                  <a:pt x="200025" y="95837"/>
                </a:lnTo>
                <a:lnTo>
                  <a:pt x="228600" y="124817"/>
                </a:lnTo>
                <a:lnTo>
                  <a:pt x="257175" y="157462"/>
                </a:lnTo>
                <a:lnTo>
                  <a:pt x="285750" y="193695"/>
                </a:lnTo>
                <a:lnTo>
                  <a:pt x="314325" y="233436"/>
                </a:lnTo>
                <a:lnTo>
                  <a:pt x="342900" y="276593"/>
                </a:lnTo>
                <a:lnTo>
                  <a:pt x="371475" y="323070"/>
                </a:lnTo>
                <a:lnTo>
                  <a:pt x="400050" y="372761"/>
                </a:lnTo>
                <a:lnTo>
                  <a:pt x="428625" y="425554"/>
                </a:lnTo>
                <a:lnTo>
                  <a:pt x="457200" y="481331"/>
                </a:lnTo>
                <a:lnTo>
                  <a:pt x="485775" y="539966"/>
                </a:lnTo>
                <a:lnTo>
                  <a:pt x="514350" y="601328"/>
                </a:lnTo>
                <a:lnTo>
                  <a:pt x="542925" y="665280"/>
                </a:lnTo>
                <a:lnTo>
                  <a:pt x="571500" y="731678"/>
                </a:lnTo>
                <a:lnTo>
                  <a:pt x="600075" y="800377"/>
                </a:lnTo>
                <a:lnTo>
                  <a:pt x="628650" y="871222"/>
                </a:lnTo>
                <a:lnTo>
                  <a:pt x="657225" y="944058"/>
                </a:lnTo>
                <a:lnTo>
                  <a:pt x="685800" y="1018725"/>
                </a:lnTo>
                <a:lnTo>
                  <a:pt x="714375" y="1095058"/>
                </a:lnTo>
                <a:lnTo>
                  <a:pt x="742950" y="1172891"/>
                </a:lnTo>
                <a:lnTo>
                  <a:pt x="771525" y="1252055"/>
                </a:lnTo>
                <a:lnTo>
                  <a:pt x="800100" y="1332378"/>
                </a:lnTo>
                <a:lnTo>
                  <a:pt x="828675" y="1413686"/>
                </a:lnTo>
                <a:lnTo>
                  <a:pt x="857250" y="1495806"/>
                </a:lnTo>
                <a:lnTo>
                  <a:pt x="885825" y="1578562"/>
                </a:lnTo>
                <a:lnTo>
                  <a:pt x="914400" y="1661779"/>
                </a:lnTo>
                <a:lnTo>
                  <a:pt x="942975" y="1745282"/>
                </a:lnTo>
                <a:lnTo>
                  <a:pt x="971550" y="1828895"/>
                </a:lnTo>
                <a:lnTo>
                  <a:pt x="1000125" y="1912445"/>
                </a:lnTo>
                <a:lnTo>
                  <a:pt x="1028700" y="1995760"/>
                </a:lnTo>
                <a:lnTo>
                  <a:pt x="1057275" y="2078669"/>
                </a:lnTo>
                <a:lnTo>
                  <a:pt x="1085850" y="2161005"/>
                </a:lnTo>
                <a:lnTo>
                  <a:pt x="1114425" y="2242600"/>
                </a:lnTo>
                <a:lnTo>
                  <a:pt x="1143000" y="2323295"/>
                </a:lnTo>
                <a:lnTo>
                  <a:pt x="1171575" y="2402929"/>
                </a:lnTo>
                <a:lnTo>
                  <a:pt x="1200150" y="2481349"/>
                </a:lnTo>
                <a:lnTo>
                  <a:pt x="1228725" y="2558404"/>
                </a:lnTo>
                <a:lnTo>
                  <a:pt x="1257300" y="2633947"/>
                </a:lnTo>
                <a:lnTo>
                  <a:pt x="1285875" y="2707839"/>
                </a:lnTo>
                <a:lnTo>
                  <a:pt x="1314450" y="2779945"/>
                </a:lnTo>
                <a:lnTo>
                  <a:pt x="1343025" y="2850134"/>
                </a:lnTo>
                <a:lnTo>
                  <a:pt x="1371600" y="2918283"/>
                </a:lnTo>
                <a:lnTo>
                  <a:pt x="1400175" y="2984276"/>
                </a:lnTo>
                <a:lnTo>
                  <a:pt x="1428750" y="3048000"/>
                </a:lnTo>
                <a:lnTo>
                  <a:pt x="1457325" y="2986647"/>
                </a:lnTo>
                <a:lnTo>
                  <a:pt x="1485900" y="2927763"/>
                </a:lnTo>
                <a:lnTo>
                  <a:pt x="1514475" y="2871437"/>
                </a:lnTo>
                <a:lnTo>
                  <a:pt x="1543050" y="2817751"/>
                </a:lnTo>
                <a:lnTo>
                  <a:pt x="1571625" y="2766780"/>
                </a:lnTo>
                <a:lnTo>
                  <a:pt x="1600200" y="2718591"/>
                </a:lnTo>
                <a:lnTo>
                  <a:pt x="1628775" y="2673243"/>
                </a:lnTo>
                <a:lnTo>
                  <a:pt x="1657350" y="2630787"/>
                </a:lnTo>
                <a:lnTo>
                  <a:pt x="1685925" y="2591267"/>
                </a:lnTo>
                <a:lnTo>
                  <a:pt x="1714500" y="2554716"/>
                </a:lnTo>
                <a:lnTo>
                  <a:pt x="1743075" y="2521163"/>
                </a:lnTo>
                <a:lnTo>
                  <a:pt x="1771650" y="2490625"/>
                </a:lnTo>
                <a:lnTo>
                  <a:pt x="1800225" y="2463114"/>
                </a:lnTo>
                <a:lnTo>
                  <a:pt x="1828800" y="2438631"/>
                </a:lnTo>
                <a:lnTo>
                  <a:pt x="1857375" y="2417173"/>
                </a:lnTo>
                <a:lnTo>
                  <a:pt x="1885950" y="2398725"/>
                </a:lnTo>
                <a:lnTo>
                  <a:pt x="1914525" y="2383266"/>
                </a:lnTo>
                <a:lnTo>
                  <a:pt x="1943100" y="2370768"/>
                </a:lnTo>
                <a:lnTo>
                  <a:pt x="1971675" y="2361194"/>
                </a:lnTo>
                <a:lnTo>
                  <a:pt x="2000250" y="2354500"/>
                </a:lnTo>
                <a:lnTo>
                  <a:pt x="2028825" y="2350636"/>
                </a:lnTo>
                <a:lnTo>
                  <a:pt x="2057400" y="2349544"/>
                </a:lnTo>
                <a:lnTo>
                  <a:pt x="2085975" y="2351159"/>
                </a:lnTo>
                <a:lnTo>
                  <a:pt x="2114550" y="2355409"/>
                </a:lnTo>
                <a:lnTo>
                  <a:pt x="2143125" y="2362218"/>
                </a:lnTo>
                <a:lnTo>
                  <a:pt x="2171700" y="2371502"/>
                </a:lnTo>
                <a:lnTo>
                  <a:pt x="2200275" y="2383172"/>
                </a:lnTo>
                <a:lnTo>
                  <a:pt x="2228850" y="2397134"/>
                </a:lnTo>
                <a:lnTo>
                  <a:pt x="2257425" y="2413288"/>
                </a:lnTo>
                <a:lnTo>
                  <a:pt x="2286000" y="2431529"/>
                </a:lnTo>
                <a:lnTo>
                  <a:pt x="2314575" y="2451750"/>
                </a:lnTo>
                <a:lnTo>
                  <a:pt x="2343150" y="2473837"/>
                </a:lnTo>
                <a:lnTo>
                  <a:pt x="2371725" y="2497674"/>
                </a:lnTo>
                <a:lnTo>
                  <a:pt x="2400300" y="2523143"/>
                </a:lnTo>
                <a:lnTo>
                  <a:pt x="2428875" y="2550118"/>
                </a:lnTo>
                <a:lnTo>
                  <a:pt x="2457450" y="2578477"/>
                </a:lnTo>
                <a:lnTo>
                  <a:pt x="2486025" y="2608092"/>
                </a:lnTo>
                <a:lnTo>
                  <a:pt x="2514600" y="2638834"/>
                </a:lnTo>
                <a:lnTo>
                  <a:pt x="2543175" y="2670571"/>
                </a:lnTo>
                <a:lnTo>
                  <a:pt x="2571750" y="2703175"/>
                </a:lnTo>
                <a:lnTo>
                  <a:pt x="2600325" y="2736511"/>
                </a:lnTo>
                <a:lnTo>
                  <a:pt x="2628900" y="2770448"/>
                </a:lnTo>
                <a:lnTo>
                  <a:pt x="2657475" y="2804856"/>
                </a:lnTo>
                <a:lnTo>
                  <a:pt x="2686050" y="2839601"/>
                </a:lnTo>
                <a:lnTo>
                  <a:pt x="2714625" y="2874554"/>
                </a:lnTo>
                <a:lnTo>
                  <a:pt x="2743200" y="2909586"/>
                </a:lnTo>
                <a:lnTo>
                  <a:pt x="2771775" y="2944571"/>
                </a:lnTo>
                <a:lnTo>
                  <a:pt x="2800350" y="2979382"/>
                </a:lnTo>
                <a:lnTo>
                  <a:pt x="2828925" y="3013899"/>
                </a:lnTo>
                <a:lnTo>
                  <a:pt x="2857500" y="3048000"/>
                </a:lnTo>
                <a:lnTo>
                  <a:pt x="2886075" y="3014430"/>
                </a:lnTo>
                <a:lnTo>
                  <a:pt x="2914650" y="2981505"/>
                </a:lnTo>
                <a:lnTo>
                  <a:pt x="2943225" y="2949333"/>
                </a:lnTo>
                <a:lnTo>
                  <a:pt x="2971800" y="2918021"/>
                </a:lnTo>
                <a:lnTo>
                  <a:pt x="3000375" y="2887668"/>
                </a:lnTo>
                <a:lnTo>
                  <a:pt x="3028950" y="2858371"/>
                </a:lnTo>
                <a:lnTo>
                  <a:pt x="3057525" y="2830221"/>
                </a:lnTo>
                <a:lnTo>
                  <a:pt x="3086100" y="2803305"/>
                </a:lnTo>
                <a:lnTo>
                  <a:pt x="3114675" y="2777704"/>
                </a:lnTo>
                <a:lnTo>
                  <a:pt x="3143250" y="2753491"/>
                </a:lnTo>
                <a:lnTo>
                  <a:pt x="3171825" y="2730738"/>
                </a:lnTo>
                <a:lnTo>
                  <a:pt x="3200400" y="2709508"/>
                </a:lnTo>
                <a:lnTo>
                  <a:pt x="3228975" y="2689859"/>
                </a:lnTo>
                <a:lnTo>
                  <a:pt x="3257550" y="2671842"/>
                </a:lnTo>
                <a:lnTo>
                  <a:pt x="3286125" y="2655502"/>
                </a:lnTo>
                <a:lnTo>
                  <a:pt x="3314700" y="2640879"/>
                </a:lnTo>
                <a:lnTo>
                  <a:pt x="3343275" y="2628005"/>
                </a:lnTo>
                <a:lnTo>
                  <a:pt x="3371850" y="2616906"/>
                </a:lnTo>
                <a:lnTo>
                  <a:pt x="3400425" y="2607603"/>
                </a:lnTo>
                <a:lnTo>
                  <a:pt x="3429000" y="2600108"/>
                </a:lnTo>
                <a:lnTo>
                  <a:pt x="3457575" y="2594428"/>
                </a:lnTo>
                <a:lnTo>
                  <a:pt x="3486150" y="2590564"/>
                </a:lnTo>
                <a:lnTo>
                  <a:pt x="3514725" y="2588509"/>
                </a:lnTo>
                <a:lnTo>
                  <a:pt x="3543300" y="2588252"/>
                </a:lnTo>
                <a:lnTo>
                  <a:pt x="3571875" y="2589775"/>
                </a:lnTo>
                <a:lnTo>
                  <a:pt x="3600450" y="2593053"/>
                </a:lnTo>
                <a:lnTo>
                  <a:pt x="3629025" y="2598055"/>
                </a:lnTo>
                <a:lnTo>
                  <a:pt x="3657600" y="2604746"/>
                </a:lnTo>
                <a:lnTo>
                  <a:pt x="3686175" y="2613085"/>
                </a:lnTo>
                <a:lnTo>
                  <a:pt x="3714750" y="2623023"/>
                </a:lnTo>
                <a:lnTo>
                  <a:pt x="3743325" y="2634509"/>
                </a:lnTo>
                <a:lnTo>
                  <a:pt x="3771900" y="2647486"/>
                </a:lnTo>
                <a:lnTo>
                  <a:pt x="3800475" y="2661892"/>
                </a:lnTo>
                <a:lnTo>
                  <a:pt x="3829050" y="2677660"/>
                </a:lnTo>
                <a:lnTo>
                  <a:pt x="3857625" y="2694720"/>
                </a:lnTo>
                <a:lnTo>
                  <a:pt x="3886200" y="2712997"/>
                </a:lnTo>
                <a:lnTo>
                  <a:pt x="3914775" y="2732412"/>
                </a:lnTo>
                <a:lnTo>
                  <a:pt x="3943350" y="2752885"/>
                </a:lnTo>
                <a:lnTo>
                  <a:pt x="3971925" y="2774330"/>
                </a:lnTo>
                <a:lnTo>
                  <a:pt x="4000500" y="2796659"/>
                </a:lnTo>
                <a:lnTo>
                  <a:pt x="4029075" y="2819783"/>
                </a:lnTo>
                <a:lnTo>
                  <a:pt x="4057650" y="2843610"/>
                </a:lnTo>
                <a:lnTo>
                  <a:pt x="4086225" y="2868044"/>
                </a:lnTo>
                <a:lnTo>
                  <a:pt x="4114800" y="2892992"/>
                </a:lnTo>
                <a:lnTo>
                  <a:pt x="4143375" y="2918356"/>
                </a:lnTo>
                <a:lnTo>
                  <a:pt x="4171950" y="2944039"/>
                </a:lnTo>
                <a:lnTo>
                  <a:pt x="4200525" y="2969942"/>
                </a:lnTo>
                <a:lnTo>
                  <a:pt x="4229100" y="2995969"/>
                </a:lnTo>
                <a:lnTo>
                  <a:pt x="4257675" y="3022021"/>
                </a:lnTo>
                <a:lnTo>
                  <a:pt x="4286250" y="3048000"/>
                </a:lnTo>
                <a:lnTo>
                  <a:pt x="4314825" y="3022189"/>
                </a:lnTo>
                <a:lnTo>
                  <a:pt x="4343400" y="2996642"/>
                </a:lnTo>
                <a:lnTo>
                  <a:pt x="4371975" y="2971451"/>
                </a:lnTo>
                <a:lnTo>
                  <a:pt x="4400550" y="2946710"/>
                </a:lnTo>
                <a:lnTo>
                  <a:pt x="4429125" y="2922508"/>
                </a:lnTo>
                <a:lnTo>
                  <a:pt x="4457700" y="2898932"/>
                </a:lnTo>
                <a:lnTo>
                  <a:pt x="4486275" y="2876066"/>
                </a:lnTo>
                <a:lnTo>
                  <a:pt x="4514850" y="2853992"/>
                </a:lnTo>
                <a:lnTo>
                  <a:pt x="4543425" y="2832788"/>
                </a:lnTo>
                <a:lnTo>
                  <a:pt x="4572000" y="2812529"/>
                </a:lnTo>
                <a:lnTo>
                  <a:pt x="4600575" y="2793286"/>
                </a:lnTo>
                <a:lnTo>
                  <a:pt x="4629150" y="2775124"/>
                </a:lnTo>
                <a:lnTo>
                  <a:pt x="4657725" y="2758109"/>
                </a:lnTo>
                <a:lnTo>
                  <a:pt x="4686300" y="2742296"/>
                </a:lnTo>
                <a:lnTo>
                  <a:pt x="4714875" y="2727740"/>
                </a:lnTo>
                <a:lnTo>
                  <a:pt x="4743450" y="2714491"/>
                </a:lnTo>
                <a:lnTo>
                  <a:pt x="4772025" y="2702590"/>
                </a:lnTo>
                <a:lnTo>
                  <a:pt x="4800600" y="2692079"/>
                </a:lnTo>
                <a:lnTo>
                  <a:pt x="4829175" y="2682990"/>
                </a:lnTo>
                <a:lnTo>
                  <a:pt x="4857750" y="2675351"/>
                </a:lnTo>
                <a:lnTo>
                  <a:pt x="4886325" y="2669186"/>
                </a:lnTo>
                <a:lnTo>
                  <a:pt x="4914900" y="2664513"/>
                </a:lnTo>
                <a:lnTo>
                  <a:pt x="4943475" y="2661343"/>
                </a:lnTo>
                <a:lnTo>
                  <a:pt x="4972050" y="2659684"/>
                </a:lnTo>
                <a:lnTo>
                  <a:pt x="5000625" y="2659536"/>
                </a:lnTo>
                <a:lnTo>
                  <a:pt x="5029200" y="2660895"/>
                </a:lnTo>
                <a:lnTo>
                  <a:pt x="5057775" y="2663752"/>
                </a:lnTo>
                <a:lnTo>
                  <a:pt x="5086350" y="2668091"/>
                </a:lnTo>
                <a:lnTo>
                  <a:pt x="5114925" y="2673893"/>
                </a:lnTo>
                <a:lnTo>
                  <a:pt x="5143500" y="2681131"/>
                </a:lnTo>
                <a:lnTo>
                  <a:pt x="5172075" y="2689774"/>
                </a:lnTo>
                <a:lnTo>
                  <a:pt x="5200650" y="2699787"/>
                </a:lnTo>
                <a:lnTo>
                  <a:pt x="5229225" y="2711129"/>
                </a:lnTo>
                <a:lnTo>
                  <a:pt x="5257800" y="2723754"/>
                </a:lnTo>
                <a:lnTo>
                  <a:pt x="5286375" y="2737613"/>
                </a:lnTo>
                <a:lnTo>
                  <a:pt x="5314950" y="2752651"/>
                </a:lnTo>
                <a:lnTo>
                  <a:pt x="5343525" y="2768809"/>
                </a:lnTo>
                <a:lnTo>
                  <a:pt x="5372100" y="2786025"/>
                </a:lnTo>
                <a:lnTo>
                  <a:pt x="5400675" y="2804232"/>
                </a:lnTo>
                <a:lnTo>
                  <a:pt x="5429250" y="2823361"/>
                </a:lnTo>
                <a:lnTo>
                  <a:pt x="5457825" y="2843339"/>
                </a:lnTo>
                <a:lnTo>
                  <a:pt x="5486400" y="2864089"/>
                </a:lnTo>
                <a:lnTo>
                  <a:pt x="5514975" y="2885533"/>
                </a:lnTo>
                <a:lnTo>
                  <a:pt x="5543550" y="2907589"/>
                </a:lnTo>
                <a:lnTo>
                  <a:pt x="5572125" y="2930174"/>
                </a:lnTo>
                <a:lnTo>
                  <a:pt x="5600700" y="2953202"/>
                </a:lnTo>
                <a:lnTo>
                  <a:pt x="5629275" y="2976588"/>
                </a:lnTo>
                <a:lnTo>
                  <a:pt x="5657850" y="3000242"/>
                </a:lnTo>
                <a:lnTo>
                  <a:pt x="5686425" y="3024076"/>
                </a:lnTo>
                <a:lnTo>
                  <a:pt x="5715000" y="3048000"/>
                </a:lnTo>
              </a:path>
            </a:pathLst>
          </a:custGeom>
          <a:ln w="381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72C385-AB7F-8EFD-D83A-2CF088E3A24C}"/>
              </a:ext>
            </a:extLst>
          </p:cNvPr>
          <p:cNvSpPr txBox="1"/>
          <p:nvPr/>
        </p:nvSpPr>
        <p:spPr>
          <a:xfrm>
            <a:off x="523875" y="4533900"/>
            <a:ext cx="857250" cy="2095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pPr algn="ctr"/>
            <a:r>
              <a:rPr lang="en-US" altLang="ko-KR" sz="1400">
                <a:solidFill>
                  <a:srgbClr val="475569"/>
                </a:solidFill>
                <a:latin typeface="FEF3C7"/>
              </a:rPr>
              <a:t>0</a:t>
            </a:r>
            <a:endParaRPr lang="ko-KR" altLang="en-US" sz="1400">
              <a:solidFill>
                <a:srgbClr val="475569"/>
              </a:solidFill>
              <a:latin typeface="FEF3C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76FDC27-BD8C-9EF3-CC21-CF08F5E03DB8}"/>
              </a:ext>
            </a:extLst>
          </p:cNvPr>
          <p:cNvSpPr txBox="1"/>
          <p:nvPr/>
        </p:nvSpPr>
        <p:spPr>
          <a:xfrm>
            <a:off x="1952625" y="4533900"/>
            <a:ext cx="857250" cy="2095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pPr algn="ctr"/>
            <a:r>
              <a:rPr lang="en-US" altLang="ko-KR" sz="1400">
                <a:solidFill>
                  <a:srgbClr val="475569"/>
                </a:solidFill>
                <a:latin typeface="FEF3C7"/>
              </a:rPr>
              <a:t>12.5</a:t>
            </a:r>
            <a:endParaRPr lang="ko-KR" altLang="en-US" sz="1400">
              <a:solidFill>
                <a:srgbClr val="475569"/>
              </a:solidFill>
              <a:latin typeface="FEF3C7"/>
            </a:endParaRP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1BD62DA8-8202-A772-5777-1A894126D8DA}"/>
              </a:ext>
            </a:extLst>
          </p:cNvPr>
          <p:cNvCxnSpPr/>
          <p:nvPr/>
        </p:nvCxnSpPr>
        <p:spPr>
          <a:xfrm>
            <a:off x="2381250" y="1333500"/>
            <a:ext cx="0" cy="3143250"/>
          </a:xfrm>
          <a:prstGeom prst="line">
            <a:avLst/>
          </a:prstGeom>
          <a:ln w="12700">
            <a:solidFill>
              <a:srgbClr val="F9731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B549AF49-8AB5-EAE5-CF5B-C3F4BBD0AF0E}"/>
              </a:ext>
            </a:extLst>
          </p:cNvPr>
          <p:cNvSpPr txBox="1"/>
          <p:nvPr/>
        </p:nvSpPr>
        <p:spPr>
          <a:xfrm>
            <a:off x="3381375" y="4533900"/>
            <a:ext cx="857250" cy="2095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pPr algn="ctr"/>
            <a:r>
              <a:rPr lang="en-US" altLang="ko-KR" sz="1400">
                <a:solidFill>
                  <a:srgbClr val="475569"/>
                </a:solidFill>
                <a:latin typeface="FEF3C7"/>
              </a:rPr>
              <a:t>25</a:t>
            </a:r>
            <a:endParaRPr lang="ko-KR" altLang="en-US" sz="1400">
              <a:solidFill>
                <a:srgbClr val="475569"/>
              </a:solidFill>
              <a:latin typeface="FEF3C7"/>
            </a:endParaRP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91C9D994-9289-D689-81EC-923314F3BCC8}"/>
              </a:ext>
            </a:extLst>
          </p:cNvPr>
          <p:cNvCxnSpPr/>
          <p:nvPr/>
        </p:nvCxnSpPr>
        <p:spPr>
          <a:xfrm>
            <a:off x="3810000" y="1333500"/>
            <a:ext cx="0" cy="3143250"/>
          </a:xfrm>
          <a:prstGeom prst="line">
            <a:avLst/>
          </a:prstGeom>
          <a:ln w="12700">
            <a:solidFill>
              <a:srgbClr val="F9731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510DC1E6-FE90-29A6-59AA-C7691EB22BC6}"/>
              </a:ext>
            </a:extLst>
          </p:cNvPr>
          <p:cNvSpPr txBox="1"/>
          <p:nvPr/>
        </p:nvSpPr>
        <p:spPr>
          <a:xfrm>
            <a:off x="4810125" y="4533900"/>
            <a:ext cx="857250" cy="2095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pPr algn="ctr"/>
            <a:r>
              <a:rPr lang="en-US" altLang="ko-KR" sz="1400">
                <a:solidFill>
                  <a:srgbClr val="475569"/>
                </a:solidFill>
                <a:latin typeface="FEF3C7"/>
              </a:rPr>
              <a:t>37.5</a:t>
            </a:r>
            <a:endParaRPr lang="ko-KR" altLang="en-US" sz="1400">
              <a:solidFill>
                <a:srgbClr val="475569"/>
              </a:solidFill>
              <a:latin typeface="FEF3C7"/>
            </a:endParaRPr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B9C98CE4-7468-4496-6A7B-707987722DD9}"/>
              </a:ext>
            </a:extLst>
          </p:cNvPr>
          <p:cNvCxnSpPr/>
          <p:nvPr/>
        </p:nvCxnSpPr>
        <p:spPr>
          <a:xfrm>
            <a:off x="5238750" y="1333500"/>
            <a:ext cx="0" cy="3143250"/>
          </a:xfrm>
          <a:prstGeom prst="line">
            <a:avLst/>
          </a:prstGeom>
          <a:ln w="12700">
            <a:solidFill>
              <a:srgbClr val="F9731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F8DCD697-FD3B-DAEE-0A80-CBA9ADEE72C6}"/>
              </a:ext>
            </a:extLst>
          </p:cNvPr>
          <p:cNvSpPr txBox="1"/>
          <p:nvPr/>
        </p:nvSpPr>
        <p:spPr>
          <a:xfrm>
            <a:off x="6238875" y="4533900"/>
            <a:ext cx="857250" cy="2095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pPr algn="ctr"/>
            <a:r>
              <a:rPr lang="en-US" altLang="ko-KR" sz="1400">
                <a:solidFill>
                  <a:srgbClr val="475569"/>
                </a:solidFill>
                <a:latin typeface="FEF3C7"/>
              </a:rPr>
              <a:t>50 MHz</a:t>
            </a:r>
            <a:endParaRPr lang="ko-KR" altLang="en-US" sz="1400">
              <a:solidFill>
                <a:srgbClr val="475569"/>
              </a:solidFill>
              <a:latin typeface="FEF3C7"/>
            </a:endParaRP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25923EEE-743F-8A6E-1E2D-410699205EF2}"/>
              </a:ext>
            </a:extLst>
          </p:cNvPr>
          <p:cNvCxnSpPr/>
          <p:nvPr/>
        </p:nvCxnSpPr>
        <p:spPr>
          <a:xfrm>
            <a:off x="6667500" y="1333500"/>
            <a:ext cx="0" cy="3143250"/>
          </a:xfrm>
          <a:prstGeom prst="line">
            <a:avLst/>
          </a:prstGeom>
          <a:ln w="12700">
            <a:solidFill>
              <a:srgbClr val="F9731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87D631AA-D425-C405-9651-690FDF33BCC4}"/>
              </a:ext>
            </a:extLst>
          </p:cNvPr>
          <p:cNvSpPr txBox="1"/>
          <p:nvPr/>
        </p:nvSpPr>
        <p:spPr>
          <a:xfrm>
            <a:off x="571500" y="1333500"/>
            <a:ext cx="342900" cy="19050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pPr algn="r"/>
            <a:r>
              <a:rPr lang="en-US" altLang="ko-KR" sz="1400">
                <a:solidFill>
                  <a:srgbClr val="475569"/>
                </a:solidFill>
                <a:latin typeface="FEF3C7"/>
              </a:rPr>
              <a:t>1</a:t>
            </a:r>
            <a:endParaRPr lang="ko-KR" altLang="en-US" sz="1400">
              <a:solidFill>
                <a:srgbClr val="475569"/>
              </a:solidFill>
              <a:latin typeface="FEF3C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C1CF561-7325-5104-A3A0-6E784FF4624D}"/>
              </a:ext>
            </a:extLst>
          </p:cNvPr>
          <p:cNvSpPr txBox="1"/>
          <p:nvPr/>
        </p:nvSpPr>
        <p:spPr>
          <a:xfrm>
            <a:off x="571500" y="4381500"/>
            <a:ext cx="342900" cy="19050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pPr algn="r"/>
            <a:r>
              <a:rPr lang="en-US" altLang="ko-KR" sz="1400">
                <a:solidFill>
                  <a:srgbClr val="475569"/>
                </a:solidFill>
                <a:latin typeface="FEF3C7"/>
              </a:rPr>
              <a:t>0</a:t>
            </a:r>
            <a:endParaRPr lang="ko-KR" altLang="en-US" sz="1400">
              <a:solidFill>
                <a:srgbClr val="475569"/>
              </a:solidFill>
              <a:latin typeface="FEF3C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A39472E-03EF-2B6B-6B58-AF8EDDE9668E}"/>
              </a:ext>
            </a:extLst>
          </p:cNvPr>
          <p:cNvSpPr txBox="1"/>
          <p:nvPr/>
        </p:nvSpPr>
        <p:spPr>
          <a:xfrm>
            <a:off x="952500" y="4876800"/>
            <a:ext cx="5905500" cy="2095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pPr algn="ctr"/>
            <a:r>
              <a:rPr lang="en-US" altLang="ko-KR" sz="1400">
                <a:solidFill>
                  <a:srgbClr val="475569"/>
                </a:solidFill>
                <a:latin typeface="FEF3C7"/>
              </a:rPr>
              <a:t>|H(f)| = |sin(8</a:t>
            </a:r>
            <a:r>
              <a:rPr lang="el-GR" altLang="ko-KR" sz="1400">
                <a:solidFill>
                  <a:srgbClr val="475569"/>
                </a:solidFill>
                <a:latin typeface="FEF3C7"/>
              </a:rPr>
              <a:t>π</a:t>
            </a:r>
            <a:r>
              <a:rPr lang="en-US" altLang="ko-KR" sz="1400">
                <a:solidFill>
                  <a:srgbClr val="475569"/>
                </a:solidFill>
                <a:latin typeface="FEF3C7"/>
              </a:rPr>
              <a:t>f/fs) / (8·sin(</a:t>
            </a:r>
            <a:r>
              <a:rPr lang="el-GR" altLang="ko-KR" sz="1400">
                <a:solidFill>
                  <a:srgbClr val="475569"/>
                </a:solidFill>
                <a:latin typeface="FEF3C7"/>
              </a:rPr>
              <a:t>π</a:t>
            </a:r>
            <a:r>
              <a:rPr lang="en-US" altLang="ko-KR" sz="1400">
                <a:solidFill>
                  <a:srgbClr val="475569"/>
                </a:solidFill>
                <a:latin typeface="FEF3C7"/>
              </a:rPr>
              <a:t>f/fs))|   (8-sample </a:t>
            </a:r>
            <a:r>
              <a:rPr lang="ko-KR" altLang="en-US" sz="1400">
                <a:solidFill>
                  <a:srgbClr val="475569"/>
                </a:solidFill>
                <a:latin typeface="FEF3C7"/>
              </a:rPr>
              <a:t>평균 기준</a:t>
            </a:r>
            <a:r>
              <a:rPr lang="en-US" altLang="ko-KR" sz="1400">
                <a:solidFill>
                  <a:srgbClr val="475569"/>
                </a:solidFill>
                <a:latin typeface="FEF3C7"/>
              </a:rPr>
              <a:t>)</a:t>
            </a:r>
            <a:endParaRPr lang="ko-KR" altLang="en-US" sz="1400">
              <a:solidFill>
                <a:srgbClr val="475569"/>
              </a:solidFill>
              <a:latin typeface="FEF3C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1199A580-DB0A-7796-AACA-6788AB21E1EB}"/>
              </a:ext>
            </a:extLst>
          </p:cNvPr>
          <p:cNvSpPr/>
          <p:nvPr/>
        </p:nvSpPr>
        <p:spPr>
          <a:xfrm>
            <a:off x="7429500" y="1428750"/>
            <a:ext cx="4381500" cy="66675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endParaRPr lang="ko-KR" altLang="en-US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522F7EAB-8869-3F69-6169-811D0626F280}"/>
              </a:ext>
            </a:extLst>
          </p:cNvPr>
          <p:cNvSpPr/>
          <p:nvPr/>
        </p:nvSpPr>
        <p:spPr>
          <a:xfrm>
            <a:off x="7543800" y="1638300"/>
            <a:ext cx="247650" cy="247650"/>
          </a:xfrm>
          <a:prstGeom prst="ellipse">
            <a:avLst/>
          </a:prstGeom>
          <a:solidFill>
            <a:srgbClr val="EA580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/>
            <a:r>
              <a:rPr lang="en-US" altLang="ko-KR" sz="1200" b="1">
                <a:solidFill>
                  <a:srgbClr val="FFFFFF"/>
                </a:solidFill>
                <a:latin typeface="FEF3C7"/>
              </a:rPr>
              <a:t>1</a:t>
            </a:r>
            <a:endParaRPr lang="ko-KR" altLang="en-US" sz="1200" b="1">
              <a:solidFill>
                <a:srgbClr val="FFFFFF"/>
              </a:solidFill>
              <a:latin typeface="FEF3C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C662827-06B8-84E5-3019-4F91BCC6D9FF}"/>
              </a:ext>
            </a:extLst>
          </p:cNvPr>
          <p:cNvSpPr txBox="1"/>
          <p:nvPr/>
        </p:nvSpPr>
        <p:spPr>
          <a:xfrm>
            <a:off x="7886700" y="1428750"/>
            <a:ext cx="3829050" cy="6667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altLang="ko-KR" sz="1700" b="1">
                <a:solidFill>
                  <a:srgbClr val="1F2A44"/>
                </a:solidFill>
                <a:latin typeface="FEF3C7"/>
              </a:rPr>
              <a:t>Window = 8 × 10 ns = 80 ns</a:t>
            </a:r>
            <a:endParaRPr lang="ko-KR" altLang="en-US" sz="1700" b="1">
              <a:solidFill>
                <a:srgbClr val="1F2A44"/>
              </a:solidFill>
              <a:latin typeface="FEF3C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BF52DB22-6B08-954D-A58B-D435F2426794}"/>
              </a:ext>
            </a:extLst>
          </p:cNvPr>
          <p:cNvSpPr/>
          <p:nvPr/>
        </p:nvSpPr>
        <p:spPr>
          <a:xfrm>
            <a:off x="7429500" y="2286000"/>
            <a:ext cx="4381500" cy="66675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endParaRPr lang="ko-KR" altLang="en-US"/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55788B04-2823-1EAE-DBAB-21F0E17709C3}"/>
              </a:ext>
            </a:extLst>
          </p:cNvPr>
          <p:cNvSpPr/>
          <p:nvPr/>
        </p:nvSpPr>
        <p:spPr>
          <a:xfrm>
            <a:off x="7543800" y="2495550"/>
            <a:ext cx="247650" cy="247650"/>
          </a:xfrm>
          <a:prstGeom prst="ellipse">
            <a:avLst/>
          </a:prstGeom>
          <a:solidFill>
            <a:srgbClr val="EA580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/>
            <a:r>
              <a:rPr lang="en-US" altLang="ko-KR" sz="1200" b="1">
                <a:solidFill>
                  <a:srgbClr val="FFFFFF"/>
                </a:solidFill>
                <a:latin typeface="FEF3C7"/>
              </a:rPr>
              <a:t>2</a:t>
            </a:r>
            <a:endParaRPr lang="ko-KR" altLang="en-US" sz="1200" b="1">
              <a:solidFill>
                <a:srgbClr val="FFFFFF"/>
              </a:solidFill>
              <a:latin typeface="FEF3C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CA74559-8CFF-6AEF-C3E4-830893173026}"/>
              </a:ext>
            </a:extLst>
          </p:cNvPr>
          <p:cNvSpPr txBox="1"/>
          <p:nvPr/>
        </p:nvSpPr>
        <p:spPr>
          <a:xfrm>
            <a:off x="7886700" y="2286000"/>
            <a:ext cx="3829050" cy="6667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ko-KR" altLang="en-US" sz="1700" b="1">
                <a:solidFill>
                  <a:srgbClr val="1F2A44"/>
                </a:solidFill>
                <a:latin typeface="FEF3C7"/>
              </a:rPr>
              <a:t>첫 </a:t>
            </a:r>
            <a:r>
              <a:rPr lang="en-US" altLang="ko-KR" sz="1700" b="1">
                <a:solidFill>
                  <a:srgbClr val="1F2A44"/>
                </a:solidFill>
                <a:latin typeface="FEF3C7"/>
              </a:rPr>
              <a:t>null = fs / 8 = 12.5 MHz</a:t>
            </a:r>
            <a:endParaRPr lang="ko-KR" altLang="en-US" sz="1700" b="1">
              <a:solidFill>
                <a:srgbClr val="1F2A44"/>
              </a:solidFill>
              <a:latin typeface="FEF3C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EE8CFE0E-3E39-A765-E9BA-DEBAE888C06A}"/>
              </a:ext>
            </a:extLst>
          </p:cNvPr>
          <p:cNvSpPr/>
          <p:nvPr/>
        </p:nvSpPr>
        <p:spPr>
          <a:xfrm>
            <a:off x="7429500" y="3143250"/>
            <a:ext cx="4381500" cy="66675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endParaRPr lang="ko-KR" altLang="en-US"/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FB0ED128-1BB5-1FD3-4600-3324CAF5FB21}"/>
              </a:ext>
            </a:extLst>
          </p:cNvPr>
          <p:cNvSpPr/>
          <p:nvPr/>
        </p:nvSpPr>
        <p:spPr>
          <a:xfrm>
            <a:off x="7543800" y="3352800"/>
            <a:ext cx="247650" cy="247650"/>
          </a:xfrm>
          <a:prstGeom prst="ellipse">
            <a:avLst/>
          </a:prstGeom>
          <a:solidFill>
            <a:srgbClr val="EA580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/>
            <a:r>
              <a:rPr lang="en-US" altLang="ko-KR" sz="1200" b="1">
                <a:solidFill>
                  <a:srgbClr val="FFFFFF"/>
                </a:solidFill>
                <a:latin typeface="FEF3C7"/>
              </a:rPr>
              <a:t>3</a:t>
            </a:r>
            <a:endParaRPr lang="ko-KR" altLang="en-US" sz="1200" b="1">
              <a:solidFill>
                <a:srgbClr val="FFFFFF"/>
              </a:solidFill>
              <a:latin typeface="FEF3C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0D8105F-89BE-936F-7999-48E9C48E7EA7}"/>
              </a:ext>
            </a:extLst>
          </p:cNvPr>
          <p:cNvSpPr txBox="1"/>
          <p:nvPr/>
        </p:nvSpPr>
        <p:spPr>
          <a:xfrm>
            <a:off x="7886700" y="3143250"/>
            <a:ext cx="3829050" cy="6667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altLang="ko-KR" sz="1700" b="1">
                <a:solidFill>
                  <a:srgbClr val="1F2A44"/>
                </a:solidFill>
                <a:latin typeface="FEF3C7"/>
              </a:rPr>
              <a:t>80 ns</a:t>
            </a:r>
            <a:r>
              <a:rPr lang="ko-KR" altLang="en-US" sz="1700" b="1">
                <a:solidFill>
                  <a:srgbClr val="1F2A44"/>
                </a:solidFill>
                <a:latin typeface="FEF3C7"/>
              </a:rPr>
              <a:t>보다 빠른 변화 감쇠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BBD8DFE-2CE4-68AB-74D4-A4B323FCC90F}"/>
              </a:ext>
            </a:extLst>
          </p:cNvPr>
          <p:cNvSpPr txBox="1"/>
          <p:nvPr/>
        </p:nvSpPr>
        <p:spPr>
          <a:xfrm>
            <a:off x="10668000" y="6591300"/>
            <a:ext cx="1143000" cy="19050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pPr algn="r"/>
            <a:r>
              <a:rPr lang="en-US" altLang="ko-KR" sz="1100">
                <a:solidFill>
                  <a:srgbClr val="94A3B8"/>
                </a:solidFill>
                <a:latin typeface="FEF3C7"/>
              </a:rPr>
              <a:t>12 / 39</a:t>
            </a:r>
            <a:endParaRPr lang="ko-KR" altLang="en-US" sz="1100">
              <a:solidFill>
                <a:srgbClr val="94A3B8"/>
              </a:solidFill>
              <a:latin typeface="FEF3C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013F724-FFB0-3F9D-99FC-74BBBE1B317B}"/>
              </a:ext>
            </a:extLst>
          </p:cNvPr>
          <p:cNvSpPr txBox="1"/>
          <p:nvPr/>
        </p:nvSpPr>
        <p:spPr>
          <a:xfrm>
            <a:off x="8135007" y="4876800"/>
            <a:ext cx="416209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10</a:t>
            </a:r>
            <a:r>
              <a:rPr lang="ko-KR" altLang="en-US"/>
              <a:t>번 </a:t>
            </a:r>
            <a:r>
              <a:rPr lang="en-US" altLang="ko-KR"/>
              <a:t>11</a:t>
            </a:r>
            <a:r>
              <a:rPr lang="ko-KR" altLang="en-US"/>
              <a:t>번은</a:t>
            </a:r>
            <a:endParaRPr lang="en-US" altLang="ko-KR"/>
          </a:p>
          <a:p>
            <a:r>
              <a:rPr lang="ko-KR" altLang="en-US"/>
              <a:t>왜 </a:t>
            </a:r>
            <a:r>
              <a:rPr lang="en-US" altLang="ko-KR"/>
              <a:t>100Mhz</a:t>
            </a:r>
            <a:r>
              <a:rPr lang="ko-KR" altLang="en-US"/>
              <a:t> 로 샘플링 했을 때 </a:t>
            </a:r>
            <a:endParaRPr lang="en-US" altLang="ko-KR"/>
          </a:p>
          <a:p>
            <a:r>
              <a:rPr lang="ko-KR" altLang="en-US"/>
              <a:t>저런 그래프가 나오는지 원리가 궁금한거야</a:t>
            </a:r>
            <a:r>
              <a:rPr lang="en-US" altLang="ko-KR"/>
              <a:t>. </a:t>
            </a:r>
          </a:p>
          <a:p>
            <a:r>
              <a:rPr lang="ko-KR" altLang="en-US"/>
              <a:t>저 주파수 도메인이 어떻게 나왔는지</a:t>
            </a:r>
          </a:p>
        </p:txBody>
      </p:sp>
    </p:spTree>
    <p:extLst>
      <p:ext uri="{BB962C8B-B14F-4D97-AF65-F5344CB8AC3E}">
        <p14:creationId xmlns:p14="http://schemas.microsoft.com/office/powerpoint/2010/main" val="30755723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B76A71D-86B4-58C9-A9EF-1BF6C00A828C}"/>
              </a:ext>
            </a:extLst>
          </p:cNvPr>
          <p:cNvSpPr txBox="1"/>
          <p:nvPr/>
        </p:nvSpPr>
        <p:spPr>
          <a:xfrm>
            <a:off x="381000" y="133350"/>
            <a:ext cx="9525000" cy="2095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altLang="ko-KR" sz="1300" b="1">
                <a:solidFill>
                  <a:srgbClr val="2563EB"/>
                </a:solidFill>
                <a:latin typeface="FEF3C7"/>
              </a:rPr>
              <a:t>02  ·  Sampling · Filter  ·  AND Filter</a:t>
            </a:r>
            <a:endParaRPr lang="ko-KR" altLang="en-US" sz="1300" b="1">
              <a:solidFill>
                <a:srgbClr val="2563EB"/>
              </a:solidFill>
              <a:latin typeface="FEF3C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00B20C-A778-9F3F-3663-8CA61F4A1D8A}"/>
              </a:ext>
            </a:extLst>
          </p:cNvPr>
          <p:cNvSpPr txBox="1"/>
          <p:nvPr/>
        </p:nvSpPr>
        <p:spPr>
          <a:xfrm>
            <a:off x="381000" y="342900"/>
            <a:ext cx="10096500" cy="4381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altLang="ko-KR" sz="2600" b="1">
                <a:solidFill>
                  <a:srgbClr val="0F172A"/>
                </a:solidFill>
                <a:latin typeface="FEF3C7"/>
              </a:rPr>
              <a:t>AND Removes Pulses Shorter Than 8 Samples</a:t>
            </a:r>
            <a:endParaRPr lang="ko-KR" altLang="en-US" sz="2600" b="1">
              <a:solidFill>
                <a:srgbClr val="0F172A"/>
              </a:solidFill>
              <a:latin typeface="FEF3C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C961CA5-DAA6-6242-D87F-5FCF9B9CF917}"/>
              </a:ext>
            </a:extLst>
          </p:cNvPr>
          <p:cNvSpPr/>
          <p:nvPr/>
        </p:nvSpPr>
        <p:spPr>
          <a:xfrm>
            <a:off x="381000" y="819150"/>
            <a:ext cx="666750" cy="381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69CF94-1E6E-82D0-DF37-1ED9FD5242F5}"/>
              </a:ext>
            </a:extLst>
          </p:cNvPr>
          <p:cNvSpPr txBox="1"/>
          <p:nvPr/>
        </p:nvSpPr>
        <p:spPr>
          <a:xfrm>
            <a:off x="10572750" y="133350"/>
            <a:ext cx="1238250" cy="60960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pPr algn="r"/>
            <a:r>
              <a:rPr lang="en-US" altLang="ko-KR" sz="4000" b="1">
                <a:solidFill>
                  <a:srgbClr val="BFDBFE"/>
                </a:solidFill>
                <a:latin typeface="FEF3C7"/>
              </a:rPr>
              <a:t>02</a:t>
            </a:r>
            <a:endParaRPr lang="ko-KR" altLang="en-US" sz="4000" b="1">
              <a:solidFill>
                <a:srgbClr val="BFDBFE"/>
              </a:solidFill>
              <a:latin typeface="FEF3C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1E2A21-0491-49A8-1246-5566C56B4263}"/>
              </a:ext>
            </a:extLst>
          </p:cNvPr>
          <p:cNvSpPr txBox="1"/>
          <p:nvPr/>
        </p:nvSpPr>
        <p:spPr>
          <a:xfrm>
            <a:off x="381000" y="1181100"/>
            <a:ext cx="1238250" cy="22860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en-US" altLang="ko-KR" sz="1700" b="1">
                <a:solidFill>
                  <a:srgbClr val="1F2A44"/>
                </a:solidFill>
                <a:latin typeface="FEF3C7"/>
              </a:rPr>
              <a:t>3 sample</a:t>
            </a:r>
            <a:endParaRPr lang="ko-KR" altLang="en-US" sz="1700" b="1">
              <a:solidFill>
                <a:srgbClr val="1F2A44"/>
              </a:solidFill>
              <a:latin typeface="FEF3C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627CBF-4087-6370-8596-9EC7AC04F6F1}"/>
              </a:ext>
            </a:extLst>
          </p:cNvPr>
          <p:cNvSpPr txBox="1"/>
          <p:nvPr/>
        </p:nvSpPr>
        <p:spPr>
          <a:xfrm>
            <a:off x="381000" y="1619250"/>
            <a:ext cx="1238250" cy="22860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en-US" altLang="ko-KR" sz="1500" b="1">
                <a:solidFill>
                  <a:srgbClr val="475569"/>
                </a:solidFill>
                <a:latin typeface="FEF3C7"/>
              </a:rPr>
              <a:t>→ AND</a:t>
            </a:r>
            <a:endParaRPr lang="ko-KR" altLang="en-US" sz="1500" b="1">
              <a:solidFill>
                <a:srgbClr val="475569"/>
              </a:solidFill>
              <a:latin typeface="FEF3C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95AE233-F4FE-59BF-EEBC-6E7B628622C1}"/>
              </a:ext>
            </a:extLst>
          </p:cNvPr>
          <p:cNvSpPr/>
          <p:nvPr/>
        </p:nvSpPr>
        <p:spPr>
          <a:xfrm>
            <a:off x="1714500" y="1143000"/>
            <a:ext cx="323850" cy="32385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altLang="ko-KR" sz="1400" b="1">
                <a:solidFill>
                  <a:srgbClr val="94A3B8"/>
                </a:solidFill>
                <a:latin typeface="FEF3C7"/>
              </a:rPr>
              <a:t>0</a:t>
            </a:r>
            <a:endParaRPr lang="ko-KR" altLang="en-US" sz="1400" b="1">
              <a:solidFill>
                <a:srgbClr val="94A3B8"/>
              </a:solidFill>
              <a:latin typeface="FEF3C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5DD0FC4-352D-C919-9FB1-83B2D4A8DA30}"/>
              </a:ext>
            </a:extLst>
          </p:cNvPr>
          <p:cNvSpPr/>
          <p:nvPr/>
        </p:nvSpPr>
        <p:spPr>
          <a:xfrm>
            <a:off x="1714500" y="1581150"/>
            <a:ext cx="323850" cy="32385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altLang="ko-KR" sz="1400" b="1">
                <a:solidFill>
                  <a:srgbClr val="CBD5E1"/>
                </a:solidFill>
                <a:latin typeface="FEF3C7"/>
              </a:rPr>
              <a:t>0</a:t>
            </a:r>
            <a:endParaRPr lang="ko-KR" altLang="en-US" sz="1400" b="1">
              <a:solidFill>
                <a:srgbClr val="CBD5E1"/>
              </a:solidFill>
              <a:latin typeface="FEF3C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25B8424-DEDE-14E9-E491-CBFD0563D265}"/>
              </a:ext>
            </a:extLst>
          </p:cNvPr>
          <p:cNvSpPr/>
          <p:nvPr/>
        </p:nvSpPr>
        <p:spPr>
          <a:xfrm>
            <a:off x="2095500" y="1143000"/>
            <a:ext cx="323850" cy="32385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altLang="ko-KR" sz="1400" b="1">
                <a:solidFill>
                  <a:srgbClr val="94A3B8"/>
                </a:solidFill>
                <a:latin typeface="FEF3C7"/>
              </a:rPr>
              <a:t>0</a:t>
            </a:r>
            <a:endParaRPr lang="ko-KR" altLang="en-US" sz="1400" b="1">
              <a:solidFill>
                <a:srgbClr val="94A3B8"/>
              </a:solidFill>
              <a:latin typeface="FEF3C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91A671E-33F6-7BBA-9DA7-A3C6886BAD77}"/>
              </a:ext>
            </a:extLst>
          </p:cNvPr>
          <p:cNvSpPr/>
          <p:nvPr/>
        </p:nvSpPr>
        <p:spPr>
          <a:xfrm>
            <a:off x="2095500" y="1581150"/>
            <a:ext cx="323850" cy="32385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altLang="ko-KR" sz="1400" b="1">
                <a:solidFill>
                  <a:srgbClr val="CBD5E1"/>
                </a:solidFill>
                <a:latin typeface="FEF3C7"/>
              </a:rPr>
              <a:t>0</a:t>
            </a:r>
            <a:endParaRPr lang="ko-KR" altLang="en-US" sz="1400" b="1">
              <a:solidFill>
                <a:srgbClr val="CBD5E1"/>
              </a:solidFill>
              <a:latin typeface="FEF3C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DAFC254-4A68-74D8-4327-C28C350C3863}"/>
              </a:ext>
            </a:extLst>
          </p:cNvPr>
          <p:cNvSpPr/>
          <p:nvPr/>
        </p:nvSpPr>
        <p:spPr>
          <a:xfrm>
            <a:off x="2476500" y="1143000"/>
            <a:ext cx="323850" cy="32385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altLang="ko-KR" sz="1400" b="1">
                <a:solidFill>
                  <a:srgbClr val="94A3B8"/>
                </a:solidFill>
                <a:latin typeface="FEF3C7"/>
              </a:rPr>
              <a:t>0</a:t>
            </a:r>
            <a:endParaRPr lang="ko-KR" altLang="en-US" sz="1400" b="1">
              <a:solidFill>
                <a:srgbClr val="94A3B8"/>
              </a:solidFill>
              <a:latin typeface="FEF3C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78D35B6-ADC0-DC9C-6796-34BCA8A93B76}"/>
              </a:ext>
            </a:extLst>
          </p:cNvPr>
          <p:cNvSpPr/>
          <p:nvPr/>
        </p:nvSpPr>
        <p:spPr>
          <a:xfrm>
            <a:off x="2476500" y="1581150"/>
            <a:ext cx="323850" cy="32385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altLang="ko-KR" sz="1400" b="1">
                <a:solidFill>
                  <a:srgbClr val="CBD5E1"/>
                </a:solidFill>
                <a:latin typeface="FEF3C7"/>
              </a:rPr>
              <a:t>0</a:t>
            </a:r>
            <a:endParaRPr lang="ko-KR" altLang="en-US" sz="1400" b="1">
              <a:solidFill>
                <a:srgbClr val="CBD5E1"/>
              </a:solidFill>
              <a:latin typeface="FEF3C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AC99492-1966-44E4-0270-653B60309137}"/>
              </a:ext>
            </a:extLst>
          </p:cNvPr>
          <p:cNvSpPr/>
          <p:nvPr/>
        </p:nvSpPr>
        <p:spPr>
          <a:xfrm>
            <a:off x="2857500" y="1143000"/>
            <a:ext cx="323850" cy="32385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altLang="ko-KR" sz="1400" b="1">
                <a:solidFill>
                  <a:srgbClr val="94A3B8"/>
                </a:solidFill>
                <a:latin typeface="FEF3C7"/>
              </a:rPr>
              <a:t>0</a:t>
            </a:r>
            <a:endParaRPr lang="ko-KR" altLang="en-US" sz="1400" b="1">
              <a:solidFill>
                <a:srgbClr val="94A3B8"/>
              </a:solidFill>
              <a:latin typeface="FEF3C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36BCBF0-0811-15E0-BF93-2065BFF7DF4D}"/>
              </a:ext>
            </a:extLst>
          </p:cNvPr>
          <p:cNvSpPr/>
          <p:nvPr/>
        </p:nvSpPr>
        <p:spPr>
          <a:xfrm>
            <a:off x="2857500" y="1581150"/>
            <a:ext cx="323850" cy="32385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altLang="ko-KR" sz="1400" b="1">
                <a:solidFill>
                  <a:srgbClr val="CBD5E1"/>
                </a:solidFill>
                <a:latin typeface="FEF3C7"/>
              </a:rPr>
              <a:t>0</a:t>
            </a:r>
            <a:endParaRPr lang="ko-KR" altLang="en-US" sz="1400" b="1">
              <a:solidFill>
                <a:srgbClr val="CBD5E1"/>
              </a:solidFill>
              <a:latin typeface="FEF3C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83C45428-4E46-F175-4FC3-044835465AAE}"/>
              </a:ext>
            </a:extLst>
          </p:cNvPr>
          <p:cNvSpPr/>
          <p:nvPr/>
        </p:nvSpPr>
        <p:spPr>
          <a:xfrm>
            <a:off x="3238500" y="1143000"/>
            <a:ext cx="323850" cy="32385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/>
            <a:r>
              <a:rPr lang="en-US" altLang="ko-KR" sz="1400" b="1">
                <a:solidFill>
                  <a:srgbClr val="FFFFFF"/>
                </a:solidFill>
                <a:latin typeface="FEF3C7"/>
              </a:rPr>
              <a:t>1</a:t>
            </a:r>
            <a:endParaRPr lang="ko-KR" altLang="en-US" sz="1400" b="1">
              <a:solidFill>
                <a:srgbClr val="FFFFFF"/>
              </a:solidFill>
              <a:latin typeface="FEF3C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389B0EFB-50D0-C5CF-5EBE-00E8006EC6CF}"/>
              </a:ext>
            </a:extLst>
          </p:cNvPr>
          <p:cNvSpPr/>
          <p:nvPr/>
        </p:nvSpPr>
        <p:spPr>
          <a:xfrm>
            <a:off x="3238500" y="1581150"/>
            <a:ext cx="323850" cy="32385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altLang="ko-KR" sz="1400" b="1">
                <a:solidFill>
                  <a:srgbClr val="CBD5E1"/>
                </a:solidFill>
                <a:latin typeface="FEF3C7"/>
              </a:rPr>
              <a:t>0</a:t>
            </a:r>
            <a:endParaRPr lang="ko-KR" altLang="en-US" sz="1400" b="1">
              <a:solidFill>
                <a:srgbClr val="CBD5E1"/>
              </a:solidFill>
              <a:latin typeface="FEF3C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E14FA223-C821-7CB8-0A0F-1CE15DE18DFB}"/>
              </a:ext>
            </a:extLst>
          </p:cNvPr>
          <p:cNvSpPr/>
          <p:nvPr/>
        </p:nvSpPr>
        <p:spPr>
          <a:xfrm>
            <a:off x="3619500" y="1143000"/>
            <a:ext cx="323850" cy="32385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/>
            <a:r>
              <a:rPr lang="en-US" altLang="ko-KR" sz="1400" b="1">
                <a:solidFill>
                  <a:srgbClr val="FFFFFF"/>
                </a:solidFill>
                <a:latin typeface="FEF3C7"/>
              </a:rPr>
              <a:t>1</a:t>
            </a:r>
            <a:endParaRPr lang="ko-KR" altLang="en-US" sz="1400" b="1">
              <a:solidFill>
                <a:srgbClr val="FFFFFF"/>
              </a:solidFill>
              <a:latin typeface="FEF3C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A2473604-6F05-7E3F-0E1B-8CB312864031}"/>
              </a:ext>
            </a:extLst>
          </p:cNvPr>
          <p:cNvSpPr/>
          <p:nvPr/>
        </p:nvSpPr>
        <p:spPr>
          <a:xfrm>
            <a:off x="3619500" y="1581150"/>
            <a:ext cx="323850" cy="32385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altLang="ko-KR" sz="1400" b="1">
                <a:solidFill>
                  <a:srgbClr val="CBD5E1"/>
                </a:solidFill>
                <a:latin typeface="FEF3C7"/>
              </a:rPr>
              <a:t>0</a:t>
            </a:r>
            <a:endParaRPr lang="ko-KR" altLang="en-US" sz="1400" b="1">
              <a:solidFill>
                <a:srgbClr val="CBD5E1"/>
              </a:solidFill>
              <a:latin typeface="FEF3C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DE3F8800-282B-2D47-F593-CC417BA09B51}"/>
              </a:ext>
            </a:extLst>
          </p:cNvPr>
          <p:cNvSpPr/>
          <p:nvPr/>
        </p:nvSpPr>
        <p:spPr>
          <a:xfrm>
            <a:off x="4000500" y="1143000"/>
            <a:ext cx="323850" cy="32385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/>
            <a:r>
              <a:rPr lang="en-US" altLang="ko-KR" sz="1400" b="1">
                <a:solidFill>
                  <a:srgbClr val="FFFFFF"/>
                </a:solidFill>
                <a:latin typeface="FEF3C7"/>
              </a:rPr>
              <a:t>1</a:t>
            </a:r>
            <a:endParaRPr lang="ko-KR" altLang="en-US" sz="1400" b="1">
              <a:solidFill>
                <a:srgbClr val="FFFFFF"/>
              </a:solidFill>
              <a:latin typeface="FEF3C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52F18097-B187-382A-C2BA-596E17705CF1}"/>
              </a:ext>
            </a:extLst>
          </p:cNvPr>
          <p:cNvSpPr/>
          <p:nvPr/>
        </p:nvSpPr>
        <p:spPr>
          <a:xfrm>
            <a:off x="4000500" y="1581150"/>
            <a:ext cx="323850" cy="32385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altLang="ko-KR" sz="1400" b="1">
                <a:solidFill>
                  <a:srgbClr val="CBD5E1"/>
                </a:solidFill>
                <a:latin typeface="FEF3C7"/>
              </a:rPr>
              <a:t>0</a:t>
            </a:r>
            <a:endParaRPr lang="ko-KR" altLang="en-US" sz="1400" b="1">
              <a:solidFill>
                <a:srgbClr val="CBD5E1"/>
              </a:solidFill>
              <a:latin typeface="FEF3C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794988E0-6462-5F89-B90E-3FB0195FD27F}"/>
              </a:ext>
            </a:extLst>
          </p:cNvPr>
          <p:cNvSpPr/>
          <p:nvPr/>
        </p:nvSpPr>
        <p:spPr>
          <a:xfrm>
            <a:off x="4381500" y="1143000"/>
            <a:ext cx="323850" cy="32385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altLang="ko-KR" sz="1400" b="1">
                <a:solidFill>
                  <a:srgbClr val="94A3B8"/>
                </a:solidFill>
                <a:latin typeface="FEF3C7"/>
              </a:rPr>
              <a:t>0</a:t>
            </a:r>
            <a:endParaRPr lang="ko-KR" altLang="en-US" sz="1400" b="1">
              <a:solidFill>
                <a:srgbClr val="94A3B8"/>
              </a:solidFill>
              <a:latin typeface="FEF3C7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9160CE2D-EEA7-2AC7-F725-75CA21DEE630}"/>
              </a:ext>
            </a:extLst>
          </p:cNvPr>
          <p:cNvSpPr/>
          <p:nvPr/>
        </p:nvSpPr>
        <p:spPr>
          <a:xfrm>
            <a:off x="4381500" y="1581150"/>
            <a:ext cx="323850" cy="32385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altLang="ko-KR" sz="1400" b="1">
                <a:solidFill>
                  <a:srgbClr val="CBD5E1"/>
                </a:solidFill>
                <a:latin typeface="FEF3C7"/>
              </a:rPr>
              <a:t>0</a:t>
            </a:r>
            <a:endParaRPr lang="ko-KR" altLang="en-US" sz="1400" b="1">
              <a:solidFill>
                <a:srgbClr val="CBD5E1"/>
              </a:solidFill>
              <a:latin typeface="FEF3C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77C38712-31E9-14DB-B89C-8A8CE1A03AD0}"/>
              </a:ext>
            </a:extLst>
          </p:cNvPr>
          <p:cNvSpPr/>
          <p:nvPr/>
        </p:nvSpPr>
        <p:spPr>
          <a:xfrm>
            <a:off x="4762500" y="1143000"/>
            <a:ext cx="323850" cy="32385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altLang="ko-KR" sz="1400" b="1">
                <a:solidFill>
                  <a:srgbClr val="94A3B8"/>
                </a:solidFill>
                <a:latin typeface="FEF3C7"/>
              </a:rPr>
              <a:t>0</a:t>
            </a:r>
            <a:endParaRPr lang="ko-KR" altLang="en-US" sz="1400" b="1">
              <a:solidFill>
                <a:srgbClr val="94A3B8"/>
              </a:solidFill>
              <a:latin typeface="FEF3C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1A414255-003A-0E37-5DB1-54C8EDBA115C}"/>
              </a:ext>
            </a:extLst>
          </p:cNvPr>
          <p:cNvSpPr/>
          <p:nvPr/>
        </p:nvSpPr>
        <p:spPr>
          <a:xfrm>
            <a:off x="4762500" y="1581150"/>
            <a:ext cx="323850" cy="32385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altLang="ko-KR" sz="1400" b="1">
                <a:solidFill>
                  <a:srgbClr val="CBD5E1"/>
                </a:solidFill>
                <a:latin typeface="FEF3C7"/>
              </a:rPr>
              <a:t>0</a:t>
            </a:r>
            <a:endParaRPr lang="ko-KR" altLang="en-US" sz="1400" b="1">
              <a:solidFill>
                <a:srgbClr val="CBD5E1"/>
              </a:solidFill>
              <a:latin typeface="FEF3C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BFA1D32F-89C2-7410-8C6D-1BDD402CD2BA}"/>
              </a:ext>
            </a:extLst>
          </p:cNvPr>
          <p:cNvSpPr/>
          <p:nvPr/>
        </p:nvSpPr>
        <p:spPr>
          <a:xfrm>
            <a:off x="5143500" y="1143000"/>
            <a:ext cx="323850" cy="32385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altLang="ko-KR" sz="1400" b="1">
                <a:solidFill>
                  <a:srgbClr val="94A3B8"/>
                </a:solidFill>
                <a:latin typeface="FEF3C7"/>
              </a:rPr>
              <a:t>0</a:t>
            </a:r>
            <a:endParaRPr lang="ko-KR" altLang="en-US" sz="1400" b="1">
              <a:solidFill>
                <a:srgbClr val="94A3B8"/>
              </a:solidFill>
              <a:latin typeface="FEF3C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26550EAC-8418-F38B-DFC6-B8F04DE67F17}"/>
              </a:ext>
            </a:extLst>
          </p:cNvPr>
          <p:cNvSpPr/>
          <p:nvPr/>
        </p:nvSpPr>
        <p:spPr>
          <a:xfrm>
            <a:off x="5143500" y="1581150"/>
            <a:ext cx="323850" cy="32385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altLang="ko-KR" sz="1400" b="1">
                <a:solidFill>
                  <a:srgbClr val="CBD5E1"/>
                </a:solidFill>
                <a:latin typeface="FEF3C7"/>
              </a:rPr>
              <a:t>0</a:t>
            </a:r>
            <a:endParaRPr lang="ko-KR" altLang="en-US" sz="1400" b="1">
              <a:solidFill>
                <a:srgbClr val="CBD5E1"/>
              </a:solidFill>
              <a:latin typeface="FEF3C7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722FD687-60E2-1997-8794-22A4C0FE2A96}"/>
              </a:ext>
            </a:extLst>
          </p:cNvPr>
          <p:cNvSpPr/>
          <p:nvPr/>
        </p:nvSpPr>
        <p:spPr>
          <a:xfrm>
            <a:off x="5524500" y="1143000"/>
            <a:ext cx="323850" cy="32385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altLang="ko-KR" sz="1400" b="1">
                <a:solidFill>
                  <a:srgbClr val="94A3B8"/>
                </a:solidFill>
                <a:latin typeface="FEF3C7"/>
              </a:rPr>
              <a:t>0</a:t>
            </a:r>
            <a:endParaRPr lang="ko-KR" altLang="en-US" sz="1400" b="1">
              <a:solidFill>
                <a:srgbClr val="94A3B8"/>
              </a:solidFill>
              <a:latin typeface="FEF3C7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C8E15696-7AA8-553B-816C-51CF1550E71A}"/>
              </a:ext>
            </a:extLst>
          </p:cNvPr>
          <p:cNvSpPr/>
          <p:nvPr/>
        </p:nvSpPr>
        <p:spPr>
          <a:xfrm>
            <a:off x="5524500" y="1581150"/>
            <a:ext cx="323850" cy="32385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altLang="ko-KR" sz="1400" b="1">
                <a:solidFill>
                  <a:srgbClr val="CBD5E1"/>
                </a:solidFill>
                <a:latin typeface="FEF3C7"/>
              </a:rPr>
              <a:t>0</a:t>
            </a:r>
            <a:endParaRPr lang="ko-KR" altLang="en-US" sz="1400" b="1">
              <a:solidFill>
                <a:srgbClr val="CBD5E1"/>
              </a:solidFill>
              <a:latin typeface="FEF3C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37D992B8-3723-7A8F-5441-DC65932FDD4C}"/>
              </a:ext>
            </a:extLst>
          </p:cNvPr>
          <p:cNvSpPr/>
          <p:nvPr/>
        </p:nvSpPr>
        <p:spPr>
          <a:xfrm>
            <a:off x="5905500" y="1143000"/>
            <a:ext cx="323850" cy="32385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altLang="ko-KR" sz="1400" b="1">
                <a:solidFill>
                  <a:srgbClr val="94A3B8"/>
                </a:solidFill>
                <a:latin typeface="FEF3C7"/>
              </a:rPr>
              <a:t>0</a:t>
            </a:r>
            <a:endParaRPr lang="ko-KR" altLang="en-US" sz="1400" b="1">
              <a:solidFill>
                <a:srgbClr val="94A3B8"/>
              </a:solidFill>
              <a:latin typeface="FEF3C7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52952E52-8195-2D28-AF94-926DE336BBD1}"/>
              </a:ext>
            </a:extLst>
          </p:cNvPr>
          <p:cNvSpPr/>
          <p:nvPr/>
        </p:nvSpPr>
        <p:spPr>
          <a:xfrm>
            <a:off x="5905500" y="1581150"/>
            <a:ext cx="323850" cy="32385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altLang="ko-KR" sz="1400" b="1">
                <a:solidFill>
                  <a:srgbClr val="CBD5E1"/>
                </a:solidFill>
                <a:latin typeface="FEF3C7"/>
              </a:rPr>
              <a:t>0</a:t>
            </a:r>
            <a:endParaRPr lang="ko-KR" altLang="en-US" sz="1400" b="1">
              <a:solidFill>
                <a:srgbClr val="CBD5E1"/>
              </a:solidFill>
              <a:latin typeface="FEF3C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D6F7B66B-1931-0EB7-6030-6E9F71A58C44}"/>
              </a:ext>
            </a:extLst>
          </p:cNvPr>
          <p:cNvSpPr/>
          <p:nvPr/>
        </p:nvSpPr>
        <p:spPr>
          <a:xfrm>
            <a:off x="6286500" y="1143000"/>
            <a:ext cx="323850" cy="32385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altLang="ko-KR" sz="1400" b="1">
                <a:solidFill>
                  <a:srgbClr val="94A3B8"/>
                </a:solidFill>
                <a:latin typeface="FEF3C7"/>
              </a:rPr>
              <a:t>0</a:t>
            </a:r>
            <a:endParaRPr lang="ko-KR" altLang="en-US" sz="1400" b="1">
              <a:solidFill>
                <a:srgbClr val="94A3B8"/>
              </a:solidFill>
              <a:latin typeface="FEF3C7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DCC68BF2-84DA-C109-269F-08BCDED4D17B}"/>
              </a:ext>
            </a:extLst>
          </p:cNvPr>
          <p:cNvSpPr/>
          <p:nvPr/>
        </p:nvSpPr>
        <p:spPr>
          <a:xfrm>
            <a:off x="6286500" y="1581150"/>
            <a:ext cx="323850" cy="32385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altLang="ko-KR" sz="1400" b="1">
                <a:solidFill>
                  <a:srgbClr val="CBD5E1"/>
                </a:solidFill>
                <a:latin typeface="FEF3C7"/>
              </a:rPr>
              <a:t>0</a:t>
            </a:r>
            <a:endParaRPr lang="ko-KR" altLang="en-US" sz="1400" b="1">
              <a:solidFill>
                <a:srgbClr val="CBD5E1"/>
              </a:solidFill>
              <a:latin typeface="FEF3C7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2017FF52-F223-3EB6-BA7D-BAFE8712A898}"/>
              </a:ext>
            </a:extLst>
          </p:cNvPr>
          <p:cNvSpPr/>
          <p:nvPr/>
        </p:nvSpPr>
        <p:spPr>
          <a:xfrm>
            <a:off x="6667500" y="1143000"/>
            <a:ext cx="323850" cy="32385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altLang="ko-KR" sz="1400" b="1">
                <a:solidFill>
                  <a:srgbClr val="94A3B8"/>
                </a:solidFill>
                <a:latin typeface="FEF3C7"/>
              </a:rPr>
              <a:t>0</a:t>
            </a:r>
            <a:endParaRPr lang="ko-KR" altLang="en-US" sz="1400" b="1">
              <a:solidFill>
                <a:srgbClr val="94A3B8"/>
              </a:solidFill>
              <a:latin typeface="FEF3C7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B917C0A5-3171-1478-F4BE-004498F42DE6}"/>
              </a:ext>
            </a:extLst>
          </p:cNvPr>
          <p:cNvSpPr/>
          <p:nvPr/>
        </p:nvSpPr>
        <p:spPr>
          <a:xfrm>
            <a:off x="6667500" y="1581150"/>
            <a:ext cx="323850" cy="32385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altLang="ko-KR" sz="1400" b="1">
                <a:solidFill>
                  <a:srgbClr val="CBD5E1"/>
                </a:solidFill>
                <a:latin typeface="FEF3C7"/>
              </a:rPr>
              <a:t>0</a:t>
            </a:r>
            <a:endParaRPr lang="ko-KR" altLang="en-US" sz="1400" b="1">
              <a:solidFill>
                <a:srgbClr val="CBD5E1"/>
              </a:solidFill>
              <a:latin typeface="FEF3C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679F9A0-90A2-0DDF-250A-2D465D4901A6}"/>
              </a:ext>
            </a:extLst>
          </p:cNvPr>
          <p:cNvSpPr txBox="1"/>
          <p:nvPr/>
        </p:nvSpPr>
        <p:spPr>
          <a:xfrm>
            <a:off x="7143750" y="1619250"/>
            <a:ext cx="1143000" cy="2476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1700" b="1">
                <a:solidFill>
                  <a:srgbClr val="DC2626"/>
                </a:solidFill>
                <a:latin typeface="FEF3C7"/>
              </a:rPr>
              <a:t>제거 ✗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DC50F2A-204B-4CD8-E95A-4A9372B6623C}"/>
              </a:ext>
            </a:extLst>
          </p:cNvPr>
          <p:cNvSpPr txBox="1"/>
          <p:nvPr/>
        </p:nvSpPr>
        <p:spPr>
          <a:xfrm>
            <a:off x="381000" y="2324100"/>
            <a:ext cx="1238250" cy="22860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en-US" altLang="ko-KR" sz="1700" b="1">
                <a:solidFill>
                  <a:srgbClr val="1F2A44"/>
                </a:solidFill>
                <a:latin typeface="FEF3C7"/>
              </a:rPr>
              <a:t>6 sample</a:t>
            </a:r>
            <a:endParaRPr lang="ko-KR" altLang="en-US" sz="1700" b="1">
              <a:solidFill>
                <a:srgbClr val="1F2A44"/>
              </a:solidFill>
              <a:latin typeface="FEF3C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18366AB-0B61-03E7-1160-B1D5B02024A3}"/>
              </a:ext>
            </a:extLst>
          </p:cNvPr>
          <p:cNvSpPr txBox="1"/>
          <p:nvPr/>
        </p:nvSpPr>
        <p:spPr>
          <a:xfrm>
            <a:off x="381000" y="2762250"/>
            <a:ext cx="1238250" cy="22860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en-US" altLang="ko-KR" sz="1500" b="1">
                <a:solidFill>
                  <a:srgbClr val="475569"/>
                </a:solidFill>
                <a:latin typeface="FEF3C7"/>
              </a:rPr>
              <a:t>→ AND</a:t>
            </a:r>
            <a:endParaRPr lang="ko-KR" altLang="en-US" sz="1500" b="1">
              <a:solidFill>
                <a:srgbClr val="475569"/>
              </a:solidFill>
              <a:latin typeface="FEF3C7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14CC6387-AFB5-3CFC-17FA-FE7BF4C45219}"/>
              </a:ext>
            </a:extLst>
          </p:cNvPr>
          <p:cNvSpPr/>
          <p:nvPr/>
        </p:nvSpPr>
        <p:spPr>
          <a:xfrm>
            <a:off x="1714500" y="2286000"/>
            <a:ext cx="323850" cy="32385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altLang="ko-KR" sz="1400" b="1">
                <a:solidFill>
                  <a:srgbClr val="94A3B8"/>
                </a:solidFill>
                <a:latin typeface="FEF3C7"/>
              </a:rPr>
              <a:t>0</a:t>
            </a:r>
            <a:endParaRPr lang="ko-KR" altLang="en-US" sz="1400" b="1">
              <a:solidFill>
                <a:srgbClr val="94A3B8"/>
              </a:solidFill>
              <a:latin typeface="FEF3C7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A3BA908B-793F-5844-480A-82A11594E816}"/>
              </a:ext>
            </a:extLst>
          </p:cNvPr>
          <p:cNvSpPr/>
          <p:nvPr/>
        </p:nvSpPr>
        <p:spPr>
          <a:xfrm>
            <a:off x="1714500" y="2724150"/>
            <a:ext cx="323850" cy="32385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altLang="ko-KR" sz="1400" b="1">
                <a:solidFill>
                  <a:srgbClr val="CBD5E1"/>
                </a:solidFill>
                <a:latin typeface="FEF3C7"/>
              </a:rPr>
              <a:t>0</a:t>
            </a:r>
            <a:endParaRPr lang="ko-KR" altLang="en-US" sz="1400" b="1">
              <a:solidFill>
                <a:srgbClr val="CBD5E1"/>
              </a:solidFill>
              <a:latin typeface="FEF3C7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1EE64E47-CC6C-EFDA-32FF-8B62AB66A673}"/>
              </a:ext>
            </a:extLst>
          </p:cNvPr>
          <p:cNvSpPr/>
          <p:nvPr/>
        </p:nvSpPr>
        <p:spPr>
          <a:xfrm>
            <a:off x="2095500" y="2286000"/>
            <a:ext cx="323850" cy="32385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altLang="ko-KR" sz="1400" b="1">
                <a:solidFill>
                  <a:srgbClr val="94A3B8"/>
                </a:solidFill>
                <a:latin typeface="FEF3C7"/>
              </a:rPr>
              <a:t>0</a:t>
            </a:r>
            <a:endParaRPr lang="ko-KR" altLang="en-US" sz="1400" b="1">
              <a:solidFill>
                <a:srgbClr val="94A3B8"/>
              </a:solidFill>
              <a:latin typeface="FEF3C7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1B000EAB-A91F-1EFD-E311-BC2A21D2715C}"/>
              </a:ext>
            </a:extLst>
          </p:cNvPr>
          <p:cNvSpPr/>
          <p:nvPr/>
        </p:nvSpPr>
        <p:spPr>
          <a:xfrm>
            <a:off x="2095500" y="2724150"/>
            <a:ext cx="323850" cy="32385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altLang="ko-KR" sz="1400" b="1">
                <a:solidFill>
                  <a:srgbClr val="CBD5E1"/>
                </a:solidFill>
                <a:latin typeface="FEF3C7"/>
              </a:rPr>
              <a:t>0</a:t>
            </a:r>
            <a:endParaRPr lang="ko-KR" altLang="en-US" sz="1400" b="1">
              <a:solidFill>
                <a:srgbClr val="CBD5E1"/>
              </a:solidFill>
              <a:latin typeface="FEF3C7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6D77CFBB-E262-0EE3-C79E-82F11CBA07A8}"/>
              </a:ext>
            </a:extLst>
          </p:cNvPr>
          <p:cNvSpPr/>
          <p:nvPr/>
        </p:nvSpPr>
        <p:spPr>
          <a:xfrm>
            <a:off x="2476500" y="2286000"/>
            <a:ext cx="323850" cy="32385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/>
            <a:r>
              <a:rPr lang="en-US" altLang="ko-KR" sz="1400" b="1">
                <a:solidFill>
                  <a:srgbClr val="FFFFFF"/>
                </a:solidFill>
                <a:latin typeface="FEF3C7"/>
              </a:rPr>
              <a:t>1</a:t>
            </a:r>
            <a:endParaRPr lang="ko-KR" altLang="en-US" sz="1400" b="1">
              <a:solidFill>
                <a:srgbClr val="FFFFFF"/>
              </a:solidFill>
              <a:latin typeface="FEF3C7"/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068C0CD3-7CA1-E41B-4784-CD81AC69A1DE}"/>
              </a:ext>
            </a:extLst>
          </p:cNvPr>
          <p:cNvSpPr/>
          <p:nvPr/>
        </p:nvSpPr>
        <p:spPr>
          <a:xfrm>
            <a:off x="2476500" y="2724150"/>
            <a:ext cx="323850" cy="32385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altLang="ko-KR" sz="1400" b="1">
                <a:solidFill>
                  <a:srgbClr val="CBD5E1"/>
                </a:solidFill>
                <a:latin typeface="FEF3C7"/>
              </a:rPr>
              <a:t>0</a:t>
            </a:r>
            <a:endParaRPr lang="ko-KR" altLang="en-US" sz="1400" b="1">
              <a:solidFill>
                <a:srgbClr val="CBD5E1"/>
              </a:solidFill>
              <a:latin typeface="FEF3C7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73970D17-1F81-F997-71C4-1A1F26277374}"/>
              </a:ext>
            </a:extLst>
          </p:cNvPr>
          <p:cNvSpPr/>
          <p:nvPr/>
        </p:nvSpPr>
        <p:spPr>
          <a:xfrm>
            <a:off x="2857500" y="2286000"/>
            <a:ext cx="323850" cy="32385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/>
            <a:r>
              <a:rPr lang="en-US" altLang="ko-KR" sz="1400" b="1">
                <a:solidFill>
                  <a:srgbClr val="FFFFFF"/>
                </a:solidFill>
                <a:latin typeface="FEF3C7"/>
              </a:rPr>
              <a:t>1</a:t>
            </a:r>
            <a:endParaRPr lang="ko-KR" altLang="en-US" sz="1400" b="1">
              <a:solidFill>
                <a:srgbClr val="FFFFFF"/>
              </a:solidFill>
              <a:latin typeface="FEF3C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8908474C-2C7A-E732-AEAF-9E9AC3A43698}"/>
              </a:ext>
            </a:extLst>
          </p:cNvPr>
          <p:cNvSpPr/>
          <p:nvPr/>
        </p:nvSpPr>
        <p:spPr>
          <a:xfrm>
            <a:off x="2857500" y="2724150"/>
            <a:ext cx="323850" cy="32385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altLang="ko-KR" sz="1400" b="1">
                <a:solidFill>
                  <a:srgbClr val="CBD5E1"/>
                </a:solidFill>
                <a:latin typeface="FEF3C7"/>
              </a:rPr>
              <a:t>0</a:t>
            </a:r>
            <a:endParaRPr lang="ko-KR" altLang="en-US" sz="1400" b="1">
              <a:solidFill>
                <a:srgbClr val="CBD5E1"/>
              </a:solidFill>
              <a:latin typeface="FEF3C7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AC47B980-DCE7-20E5-8C1D-5169AF1D8407}"/>
              </a:ext>
            </a:extLst>
          </p:cNvPr>
          <p:cNvSpPr/>
          <p:nvPr/>
        </p:nvSpPr>
        <p:spPr>
          <a:xfrm>
            <a:off x="3238500" y="2286000"/>
            <a:ext cx="323850" cy="32385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/>
            <a:r>
              <a:rPr lang="en-US" altLang="ko-KR" sz="1400" b="1">
                <a:solidFill>
                  <a:srgbClr val="FFFFFF"/>
                </a:solidFill>
                <a:latin typeface="FEF3C7"/>
              </a:rPr>
              <a:t>1</a:t>
            </a:r>
            <a:endParaRPr lang="ko-KR" altLang="en-US" sz="1400" b="1">
              <a:solidFill>
                <a:srgbClr val="FFFFFF"/>
              </a:solidFill>
              <a:latin typeface="FEF3C7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D0410770-325A-FDC4-2422-A58218D7F8FE}"/>
              </a:ext>
            </a:extLst>
          </p:cNvPr>
          <p:cNvSpPr/>
          <p:nvPr/>
        </p:nvSpPr>
        <p:spPr>
          <a:xfrm>
            <a:off x="3238500" y="2724150"/>
            <a:ext cx="323850" cy="32385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altLang="ko-KR" sz="1400" b="1">
                <a:solidFill>
                  <a:srgbClr val="CBD5E1"/>
                </a:solidFill>
                <a:latin typeface="FEF3C7"/>
              </a:rPr>
              <a:t>0</a:t>
            </a:r>
            <a:endParaRPr lang="ko-KR" altLang="en-US" sz="1400" b="1">
              <a:solidFill>
                <a:srgbClr val="CBD5E1"/>
              </a:solidFill>
              <a:latin typeface="FEF3C7"/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DF27E0A2-737A-065D-50D0-6A3C3FEDA393}"/>
              </a:ext>
            </a:extLst>
          </p:cNvPr>
          <p:cNvSpPr/>
          <p:nvPr/>
        </p:nvSpPr>
        <p:spPr>
          <a:xfrm>
            <a:off x="3619500" y="2286000"/>
            <a:ext cx="323850" cy="32385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/>
            <a:r>
              <a:rPr lang="en-US" altLang="ko-KR" sz="1400" b="1">
                <a:solidFill>
                  <a:srgbClr val="FFFFFF"/>
                </a:solidFill>
                <a:latin typeface="FEF3C7"/>
              </a:rPr>
              <a:t>1</a:t>
            </a:r>
            <a:endParaRPr lang="ko-KR" altLang="en-US" sz="1400" b="1">
              <a:solidFill>
                <a:srgbClr val="FFFFFF"/>
              </a:solidFill>
              <a:latin typeface="FEF3C7"/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1A53EA37-04A3-0748-CD37-8074210D0C04}"/>
              </a:ext>
            </a:extLst>
          </p:cNvPr>
          <p:cNvSpPr/>
          <p:nvPr/>
        </p:nvSpPr>
        <p:spPr>
          <a:xfrm>
            <a:off x="3619500" y="2724150"/>
            <a:ext cx="323850" cy="32385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altLang="ko-KR" sz="1400" b="1">
                <a:solidFill>
                  <a:srgbClr val="CBD5E1"/>
                </a:solidFill>
                <a:latin typeface="FEF3C7"/>
              </a:rPr>
              <a:t>0</a:t>
            </a:r>
            <a:endParaRPr lang="ko-KR" altLang="en-US" sz="1400" b="1">
              <a:solidFill>
                <a:srgbClr val="CBD5E1"/>
              </a:solidFill>
              <a:latin typeface="FEF3C7"/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5D12AD95-4FAE-5C48-C02A-3E1A13EFAB6E}"/>
              </a:ext>
            </a:extLst>
          </p:cNvPr>
          <p:cNvSpPr/>
          <p:nvPr/>
        </p:nvSpPr>
        <p:spPr>
          <a:xfrm>
            <a:off x="4000500" y="2286000"/>
            <a:ext cx="323850" cy="32385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/>
            <a:r>
              <a:rPr lang="en-US" altLang="ko-KR" sz="1400" b="1">
                <a:solidFill>
                  <a:srgbClr val="FFFFFF"/>
                </a:solidFill>
                <a:latin typeface="FEF3C7"/>
              </a:rPr>
              <a:t>1</a:t>
            </a:r>
            <a:endParaRPr lang="ko-KR" altLang="en-US" sz="1400" b="1">
              <a:solidFill>
                <a:srgbClr val="FFFFFF"/>
              </a:solidFill>
              <a:latin typeface="FEF3C7"/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B4093A3B-7D77-A119-51FC-A3F7AE234FCF}"/>
              </a:ext>
            </a:extLst>
          </p:cNvPr>
          <p:cNvSpPr/>
          <p:nvPr/>
        </p:nvSpPr>
        <p:spPr>
          <a:xfrm>
            <a:off x="4000500" y="2724150"/>
            <a:ext cx="323850" cy="32385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altLang="ko-KR" sz="1400" b="1">
                <a:solidFill>
                  <a:srgbClr val="CBD5E1"/>
                </a:solidFill>
                <a:latin typeface="FEF3C7"/>
              </a:rPr>
              <a:t>0</a:t>
            </a:r>
            <a:endParaRPr lang="ko-KR" altLang="en-US" sz="1400" b="1">
              <a:solidFill>
                <a:srgbClr val="CBD5E1"/>
              </a:solidFill>
              <a:latin typeface="FEF3C7"/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22478802-E8A4-FBAB-721F-C95C79F6E6A6}"/>
              </a:ext>
            </a:extLst>
          </p:cNvPr>
          <p:cNvSpPr/>
          <p:nvPr/>
        </p:nvSpPr>
        <p:spPr>
          <a:xfrm>
            <a:off x="4381500" y="2286000"/>
            <a:ext cx="323850" cy="32385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/>
            <a:r>
              <a:rPr lang="en-US" altLang="ko-KR" sz="1400" b="1">
                <a:solidFill>
                  <a:srgbClr val="FFFFFF"/>
                </a:solidFill>
                <a:latin typeface="FEF3C7"/>
              </a:rPr>
              <a:t>1</a:t>
            </a:r>
            <a:endParaRPr lang="ko-KR" altLang="en-US" sz="1400" b="1">
              <a:solidFill>
                <a:srgbClr val="FFFFFF"/>
              </a:solidFill>
              <a:latin typeface="FEF3C7"/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EDAF7D72-F711-2E16-4113-8F8145172211}"/>
              </a:ext>
            </a:extLst>
          </p:cNvPr>
          <p:cNvSpPr/>
          <p:nvPr/>
        </p:nvSpPr>
        <p:spPr>
          <a:xfrm>
            <a:off x="4381500" y="2724150"/>
            <a:ext cx="323850" cy="32385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altLang="ko-KR" sz="1400" b="1">
                <a:solidFill>
                  <a:srgbClr val="CBD5E1"/>
                </a:solidFill>
                <a:latin typeface="FEF3C7"/>
              </a:rPr>
              <a:t>0</a:t>
            </a:r>
            <a:endParaRPr lang="ko-KR" altLang="en-US" sz="1400" b="1">
              <a:solidFill>
                <a:srgbClr val="CBD5E1"/>
              </a:solidFill>
              <a:latin typeface="FEF3C7"/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1E733077-D03F-738B-A120-63CD02905BF5}"/>
              </a:ext>
            </a:extLst>
          </p:cNvPr>
          <p:cNvSpPr/>
          <p:nvPr/>
        </p:nvSpPr>
        <p:spPr>
          <a:xfrm>
            <a:off x="4762500" y="2286000"/>
            <a:ext cx="323850" cy="32385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altLang="ko-KR" sz="1400" b="1">
                <a:solidFill>
                  <a:srgbClr val="94A3B8"/>
                </a:solidFill>
                <a:latin typeface="FEF3C7"/>
              </a:rPr>
              <a:t>0</a:t>
            </a:r>
            <a:endParaRPr lang="ko-KR" altLang="en-US" sz="1400" b="1">
              <a:solidFill>
                <a:srgbClr val="94A3B8"/>
              </a:solidFill>
              <a:latin typeface="FEF3C7"/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B321A65C-E097-4D63-6EB5-F0B5E3F4F2C5}"/>
              </a:ext>
            </a:extLst>
          </p:cNvPr>
          <p:cNvSpPr/>
          <p:nvPr/>
        </p:nvSpPr>
        <p:spPr>
          <a:xfrm>
            <a:off x="4762500" y="2724150"/>
            <a:ext cx="323850" cy="32385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altLang="ko-KR" sz="1400" b="1">
                <a:solidFill>
                  <a:srgbClr val="CBD5E1"/>
                </a:solidFill>
                <a:latin typeface="FEF3C7"/>
              </a:rPr>
              <a:t>0</a:t>
            </a:r>
            <a:endParaRPr lang="ko-KR" altLang="en-US" sz="1400" b="1">
              <a:solidFill>
                <a:srgbClr val="CBD5E1"/>
              </a:solidFill>
              <a:latin typeface="FEF3C7"/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2FB30349-93F9-8E25-D4EA-6A0541B4BC4D}"/>
              </a:ext>
            </a:extLst>
          </p:cNvPr>
          <p:cNvSpPr/>
          <p:nvPr/>
        </p:nvSpPr>
        <p:spPr>
          <a:xfrm>
            <a:off x="5143500" y="2286000"/>
            <a:ext cx="323850" cy="32385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altLang="ko-KR" sz="1400" b="1">
                <a:solidFill>
                  <a:srgbClr val="94A3B8"/>
                </a:solidFill>
                <a:latin typeface="FEF3C7"/>
              </a:rPr>
              <a:t>0</a:t>
            </a:r>
            <a:endParaRPr lang="ko-KR" altLang="en-US" sz="1400" b="1">
              <a:solidFill>
                <a:srgbClr val="94A3B8"/>
              </a:solidFill>
              <a:latin typeface="FEF3C7"/>
            </a:endParaRP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32DA8009-0BC4-FDF7-9656-3AAC44B4E4D3}"/>
              </a:ext>
            </a:extLst>
          </p:cNvPr>
          <p:cNvSpPr/>
          <p:nvPr/>
        </p:nvSpPr>
        <p:spPr>
          <a:xfrm>
            <a:off x="5143500" y="2724150"/>
            <a:ext cx="323850" cy="32385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altLang="ko-KR" sz="1400" b="1">
                <a:solidFill>
                  <a:srgbClr val="CBD5E1"/>
                </a:solidFill>
                <a:latin typeface="FEF3C7"/>
              </a:rPr>
              <a:t>0</a:t>
            </a:r>
            <a:endParaRPr lang="ko-KR" altLang="en-US" sz="1400" b="1">
              <a:solidFill>
                <a:srgbClr val="CBD5E1"/>
              </a:solidFill>
              <a:latin typeface="FEF3C7"/>
            </a:endParaRP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194A8751-7277-99E5-D233-3E1D76329F73}"/>
              </a:ext>
            </a:extLst>
          </p:cNvPr>
          <p:cNvSpPr/>
          <p:nvPr/>
        </p:nvSpPr>
        <p:spPr>
          <a:xfrm>
            <a:off x="5524500" y="2286000"/>
            <a:ext cx="323850" cy="32385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altLang="ko-KR" sz="1400" b="1">
                <a:solidFill>
                  <a:srgbClr val="94A3B8"/>
                </a:solidFill>
                <a:latin typeface="FEF3C7"/>
              </a:rPr>
              <a:t>0</a:t>
            </a:r>
            <a:endParaRPr lang="ko-KR" altLang="en-US" sz="1400" b="1">
              <a:solidFill>
                <a:srgbClr val="94A3B8"/>
              </a:solidFill>
              <a:latin typeface="FEF3C7"/>
            </a:endParaRP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F07800E8-7B83-2484-BD7B-08730D4FADAF}"/>
              </a:ext>
            </a:extLst>
          </p:cNvPr>
          <p:cNvSpPr/>
          <p:nvPr/>
        </p:nvSpPr>
        <p:spPr>
          <a:xfrm>
            <a:off x="5524500" y="2724150"/>
            <a:ext cx="323850" cy="32385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altLang="ko-KR" sz="1400" b="1">
                <a:solidFill>
                  <a:srgbClr val="CBD5E1"/>
                </a:solidFill>
                <a:latin typeface="FEF3C7"/>
              </a:rPr>
              <a:t>0</a:t>
            </a:r>
            <a:endParaRPr lang="ko-KR" altLang="en-US" sz="1400" b="1">
              <a:solidFill>
                <a:srgbClr val="CBD5E1"/>
              </a:solidFill>
              <a:latin typeface="FEF3C7"/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E07CC418-1BF1-F232-3936-A95D202F591E}"/>
              </a:ext>
            </a:extLst>
          </p:cNvPr>
          <p:cNvSpPr/>
          <p:nvPr/>
        </p:nvSpPr>
        <p:spPr>
          <a:xfrm>
            <a:off x="5905500" y="2286000"/>
            <a:ext cx="323850" cy="32385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altLang="ko-KR" sz="1400" b="1">
                <a:solidFill>
                  <a:srgbClr val="94A3B8"/>
                </a:solidFill>
                <a:latin typeface="FEF3C7"/>
              </a:rPr>
              <a:t>0</a:t>
            </a:r>
            <a:endParaRPr lang="ko-KR" altLang="en-US" sz="1400" b="1">
              <a:solidFill>
                <a:srgbClr val="94A3B8"/>
              </a:solidFill>
              <a:latin typeface="FEF3C7"/>
            </a:endParaRP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1FE7C65B-6D1A-BF3F-DA9C-088C7F6743E7}"/>
              </a:ext>
            </a:extLst>
          </p:cNvPr>
          <p:cNvSpPr/>
          <p:nvPr/>
        </p:nvSpPr>
        <p:spPr>
          <a:xfrm>
            <a:off x="5905500" y="2724150"/>
            <a:ext cx="323850" cy="32385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altLang="ko-KR" sz="1400" b="1">
                <a:solidFill>
                  <a:srgbClr val="CBD5E1"/>
                </a:solidFill>
                <a:latin typeface="FEF3C7"/>
              </a:rPr>
              <a:t>0</a:t>
            </a:r>
            <a:endParaRPr lang="ko-KR" altLang="en-US" sz="1400" b="1">
              <a:solidFill>
                <a:srgbClr val="CBD5E1"/>
              </a:solidFill>
              <a:latin typeface="FEF3C7"/>
            </a:endParaRP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0DC48B47-6458-BE60-4841-912FC814276F}"/>
              </a:ext>
            </a:extLst>
          </p:cNvPr>
          <p:cNvSpPr/>
          <p:nvPr/>
        </p:nvSpPr>
        <p:spPr>
          <a:xfrm>
            <a:off x="6286500" y="2286000"/>
            <a:ext cx="323850" cy="32385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altLang="ko-KR" sz="1400" b="1">
                <a:solidFill>
                  <a:srgbClr val="94A3B8"/>
                </a:solidFill>
                <a:latin typeface="FEF3C7"/>
              </a:rPr>
              <a:t>0</a:t>
            </a:r>
            <a:endParaRPr lang="ko-KR" altLang="en-US" sz="1400" b="1">
              <a:solidFill>
                <a:srgbClr val="94A3B8"/>
              </a:solidFill>
              <a:latin typeface="FEF3C7"/>
            </a:endParaRP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AA082F10-50A1-E40E-F7D5-83F388A616E3}"/>
              </a:ext>
            </a:extLst>
          </p:cNvPr>
          <p:cNvSpPr/>
          <p:nvPr/>
        </p:nvSpPr>
        <p:spPr>
          <a:xfrm>
            <a:off x="6286500" y="2724150"/>
            <a:ext cx="323850" cy="32385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altLang="ko-KR" sz="1400" b="1">
                <a:solidFill>
                  <a:srgbClr val="CBD5E1"/>
                </a:solidFill>
                <a:latin typeface="FEF3C7"/>
              </a:rPr>
              <a:t>0</a:t>
            </a:r>
            <a:endParaRPr lang="ko-KR" altLang="en-US" sz="1400" b="1">
              <a:solidFill>
                <a:srgbClr val="CBD5E1"/>
              </a:solidFill>
              <a:latin typeface="FEF3C7"/>
            </a:endParaRP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59B76F9B-33B8-372C-2EB0-A6AB08D2E528}"/>
              </a:ext>
            </a:extLst>
          </p:cNvPr>
          <p:cNvSpPr/>
          <p:nvPr/>
        </p:nvSpPr>
        <p:spPr>
          <a:xfrm>
            <a:off x="6667500" y="2286000"/>
            <a:ext cx="323850" cy="32385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altLang="ko-KR" sz="1400" b="1">
                <a:solidFill>
                  <a:srgbClr val="94A3B8"/>
                </a:solidFill>
                <a:latin typeface="FEF3C7"/>
              </a:rPr>
              <a:t>0</a:t>
            </a:r>
            <a:endParaRPr lang="ko-KR" altLang="en-US" sz="1400" b="1">
              <a:solidFill>
                <a:srgbClr val="94A3B8"/>
              </a:solidFill>
              <a:latin typeface="FEF3C7"/>
            </a:endParaRP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9536C6C1-7064-145A-CB94-1D13CF885C97}"/>
              </a:ext>
            </a:extLst>
          </p:cNvPr>
          <p:cNvSpPr/>
          <p:nvPr/>
        </p:nvSpPr>
        <p:spPr>
          <a:xfrm>
            <a:off x="6667500" y="2724150"/>
            <a:ext cx="323850" cy="32385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altLang="ko-KR" sz="1400" b="1">
                <a:solidFill>
                  <a:srgbClr val="CBD5E1"/>
                </a:solidFill>
                <a:latin typeface="FEF3C7"/>
              </a:rPr>
              <a:t>0</a:t>
            </a:r>
            <a:endParaRPr lang="ko-KR" altLang="en-US" sz="1400" b="1">
              <a:solidFill>
                <a:srgbClr val="CBD5E1"/>
              </a:solidFill>
              <a:latin typeface="FEF3C7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64B198C-A8F1-B7BF-7B2E-9D680CD1B4CE}"/>
              </a:ext>
            </a:extLst>
          </p:cNvPr>
          <p:cNvSpPr txBox="1"/>
          <p:nvPr/>
        </p:nvSpPr>
        <p:spPr>
          <a:xfrm>
            <a:off x="7143750" y="2762250"/>
            <a:ext cx="1143000" cy="2476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1700" b="1">
                <a:solidFill>
                  <a:srgbClr val="DC2626"/>
                </a:solidFill>
                <a:latin typeface="FEF3C7"/>
              </a:rPr>
              <a:t>제거 ✗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9B2DB31-B452-7B1D-69E8-F29D7F5AE7F9}"/>
              </a:ext>
            </a:extLst>
          </p:cNvPr>
          <p:cNvSpPr txBox="1"/>
          <p:nvPr/>
        </p:nvSpPr>
        <p:spPr>
          <a:xfrm>
            <a:off x="381000" y="3467100"/>
            <a:ext cx="1238250" cy="22860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en-US" altLang="ko-KR" sz="1700" b="1">
                <a:solidFill>
                  <a:srgbClr val="1F2A44"/>
                </a:solidFill>
                <a:latin typeface="FEF3C7"/>
              </a:rPr>
              <a:t>10 sample</a:t>
            </a:r>
            <a:endParaRPr lang="ko-KR" altLang="en-US" sz="1700" b="1">
              <a:solidFill>
                <a:srgbClr val="1F2A44"/>
              </a:solidFill>
              <a:latin typeface="FEF3C7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874FAD9-3B26-B439-3097-EA17BC1952ED}"/>
              </a:ext>
            </a:extLst>
          </p:cNvPr>
          <p:cNvSpPr txBox="1"/>
          <p:nvPr/>
        </p:nvSpPr>
        <p:spPr>
          <a:xfrm>
            <a:off x="381000" y="3905250"/>
            <a:ext cx="1238250" cy="22860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en-US" altLang="ko-KR" sz="1500" b="1">
                <a:solidFill>
                  <a:srgbClr val="475569"/>
                </a:solidFill>
                <a:latin typeface="FEF3C7"/>
              </a:rPr>
              <a:t>→ AND</a:t>
            </a:r>
            <a:endParaRPr lang="ko-KR" altLang="en-US" sz="1500" b="1">
              <a:solidFill>
                <a:srgbClr val="475569"/>
              </a:solidFill>
              <a:latin typeface="FEF3C7"/>
            </a:endParaRP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9A0D0CC2-75F8-F236-9E59-312EF187066F}"/>
              </a:ext>
            </a:extLst>
          </p:cNvPr>
          <p:cNvSpPr/>
          <p:nvPr/>
        </p:nvSpPr>
        <p:spPr>
          <a:xfrm>
            <a:off x="1714500" y="3429000"/>
            <a:ext cx="323850" cy="32385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altLang="ko-KR" sz="1400" b="1">
                <a:solidFill>
                  <a:srgbClr val="94A3B8"/>
                </a:solidFill>
                <a:latin typeface="FEF3C7"/>
              </a:rPr>
              <a:t>0</a:t>
            </a:r>
            <a:endParaRPr lang="ko-KR" altLang="en-US" sz="1400" b="1">
              <a:solidFill>
                <a:srgbClr val="94A3B8"/>
              </a:solidFill>
              <a:latin typeface="FEF3C7"/>
            </a:endParaRP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4E00A320-449A-8852-E292-80D799FF6E75}"/>
              </a:ext>
            </a:extLst>
          </p:cNvPr>
          <p:cNvSpPr/>
          <p:nvPr/>
        </p:nvSpPr>
        <p:spPr>
          <a:xfrm>
            <a:off x="1714500" y="3867150"/>
            <a:ext cx="323850" cy="32385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altLang="ko-KR" sz="1400" b="1">
                <a:solidFill>
                  <a:srgbClr val="CBD5E1"/>
                </a:solidFill>
                <a:latin typeface="FEF3C7"/>
              </a:rPr>
              <a:t>0</a:t>
            </a:r>
            <a:endParaRPr lang="ko-KR" altLang="en-US" sz="1400" b="1">
              <a:solidFill>
                <a:srgbClr val="CBD5E1"/>
              </a:solidFill>
              <a:latin typeface="FEF3C7"/>
            </a:endParaRP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B6F70289-3D54-19C9-66C1-696887936C5E}"/>
              </a:ext>
            </a:extLst>
          </p:cNvPr>
          <p:cNvSpPr/>
          <p:nvPr/>
        </p:nvSpPr>
        <p:spPr>
          <a:xfrm>
            <a:off x="2095500" y="3429000"/>
            <a:ext cx="323850" cy="32385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/>
            <a:r>
              <a:rPr lang="en-US" altLang="ko-KR" sz="1400" b="1">
                <a:solidFill>
                  <a:srgbClr val="FFFFFF"/>
                </a:solidFill>
                <a:latin typeface="FEF3C7"/>
              </a:rPr>
              <a:t>1</a:t>
            </a:r>
            <a:endParaRPr lang="ko-KR" altLang="en-US" sz="1400" b="1">
              <a:solidFill>
                <a:srgbClr val="FFFFFF"/>
              </a:solidFill>
              <a:latin typeface="FEF3C7"/>
            </a:endParaRPr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D1EA5E4D-888F-710C-3AE5-901F5DE0B92E}"/>
              </a:ext>
            </a:extLst>
          </p:cNvPr>
          <p:cNvSpPr/>
          <p:nvPr/>
        </p:nvSpPr>
        <p:spPr>
          <a:xfrm>
            <a:off x="2095500" y="3867150"/>
            <a:ext cx="323850" cy="32385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altLang="ko-KR" sz="1400" b="1">
                <a:solidFill>
                  <a:srgbClr val="CBD5E1"/>
                </a:solidFill>
                <a:latin typeface="FEF3C7"/>
              </a:rPr>
              <a:t>0</a:t>
            </a:r>
            <a:endParaRPr lang="ko-KR" altLang="en-US" sz="1400" b="1">
              <a:solidFill>
                <a:srgbClr val="CBD5E1"/>
              </a:solidFill>
              <a:latin typeface="FEF3C7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22DA2ED-23C6-40CF-EC41-73C2DC209A4B}"/>
              </a:ext>
            </a:extLst>
          </p:cNvPr>
          <p:cNvSpPr/>
          <p:nvPr/>
        </p:nvSpPr>
        <p:spPr>
          <a:xfrm>
            <a:off x="2476500" y="3429000"/>
            <a:ext cx="323850" cy="32385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/>
            <a:r>
              <a:rPr lang="en-US" altLang="ko-KR" sz="1400" b="1">
                <a:solidFill>
                  <a:srgbClr val="FFFFFF"/>
                </a:solidFill>
                <a:latin typeface="FEF3C7"/>
              </a:rPr>
              <a:t>1</a:t>
            </a:r>
            <a:endParaRPr lang="ko-KR" altLang="en-US" sz="1400" b="1">
              <a:solidFill>
                <a:srgbClr val="FFFFFF"/>
              </a:solidFill>
              <a:latin typeface="FEF3C7"/>
            </a:endParaRP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868ECB74-529A-6E86-1329-2B1827AFE2E8}"/>
              </a:ext>
            </a:extLst>
          </p:cNvPr>
          <p:cNvSpPr/>
          <p:nvPr/>
        </p:nvSpPr>
        <p:spPr>
          <a:xfrm>
            <a:off x="2476500" y="3867150"/>
            <a:ext cx="323850" cy="32385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altLang="ko-KR" sz="1400" b="1">
                <a:solidFill>
                  <a:srgbClr val="CBD5E1"/>
                </a:solidFill>
                <a:latin typeface="FEF3C7"/>
              </a:rPr>
              <a:t>0</a:t>
            </a:r>
            <a:endParaRPr lang="ko-KR" altLang="en-US" sz="1400" b="1">
              <a:solidFill>
                <a:srgbClr val="CBD5E1"/>
              </a:solidFill>
              <a:latin typeface="FEF3C7"/>
            </a:endParaRP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E8B790E6-70A9-16FA-BF25-FF68ADB8BA50}"/>
              </a:ext>
            </a:extLst>
          </p:cNvPr>
          <p:cNvSpPr/>
          <p:nvPr/>
        </p:nvSpPr>
        <p:spPr>
          <a:xfrm>
            <a:off x="2857500" y="3429000"/>
            <a:ext cx="323850" cy="32385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/>
            <a:r>
              <a:rPr lang="en-US" altLang="ko-KR" sz="1400" b="1">
                <a:solidFill>
                  <a:srgbClr val="FFFFFF"/>
                </a:solidFill>
                <a:latin typeface="FEF3C7"/>
              </a:rPr>
              <a:t>1</a:t>
            </a:r>
            <a:endParaRPr lang="ko-KR" altLang="en-US" sz="1400" b="1">
              <a:solidFill>
                <a:srgbClr val="FFFFFF"/>
              </a:solidFill>
              <a:latin typeface="FEF3C7"/>
            </a:endParaRPr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3B0E0876-55D1-1513-F6AD-8AE5BFABEF13}"/>
              </a:ext>
            </a:extLst>
          </p:cNvPr>
          <p:cNvSpPr/>
          <p:nvPr/>
        </p:nvSpPr>
        <p:spPr>
          <a:xfrm>
            <a:off x="2857500" y="3867150"/>
            <a:ext cx="323850" cy="32385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altLang="ko-KR" sz="1400" b="1">
                <a:solidFill>
                  <a:srgbClr val="CBD5E1"/>
                </a:solidFill>
                <a:latin typeface="FEF3C7"/>
              </a:rPr>
              <a:t>0</a:t>
            </a:r>
            <a:endParaRPr lang="ko-KR" altLang="en-US" sz="1400" b="1">
              <a:solidFill>
                <a:srgbClr val="CBD5E1"/>
              </a:solidFill>
              <a:latin typeface="FEF3C7"/>
            </a:endParaRP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E5D70C5B-79FE-AF2F-EB01-1AF8DC67BA85}"/>
              </a:ext>
            </a:extLst>
          </p:cNvPr>
          <p:cNvSpPr/>
          <p:nvPr/>
        </p:nvSpPr>
        <p:spPr>
          <a:xfrm>
            <a:off x="3238500" y="3429000"/>
            <a:ext cx="323850" cy="32385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/>
            <a:r>
              <a:rPr lang="en-US" altLang="ko-KR" sz="1400" b="1">
                <a:solidFill>
                  <a:srgbClr val="FFFFFF"/>
                </a:solidFill>
                <a:latin typeface="FEF3C7"/>
              </a:rPr>
              <a:t>1</a:t>
            </a:r>
            <a:endParaRPr lang="ko-KR" altLang="en-US" sz="1400" b="1">
              <a:solidFill>
                <a:srgbClr val="FFFFFF"/>
              </a:solidFill>
              <a:latin typeface="FEF3C7"/>
            </a:endParaRPr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1B0B2D9A-4916-0DE9-E2A5-6D0E535BA36A}"/>
              </a:ext>
            </a:extLst>
          </p:cNvPr>
          <p:cNvSpPr/>
          <p:nvPr/>
        </p:nvSpPr>
        <p:spPr>
          <a:xfrm>
            <a:off x="3238500" y="3867150"/>
            <a:ext cx="323850" cy="32385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altLang="ko-KR" sz="1400" b="1">
                <a:solidFill>
                  <a:srgbClr val="CBD5E1"/>
                </a:solidFill>
                <a:latin typeface="FEF3C7"/>
              </a:rPr>
              <a:t>0</a:t>
            </a:r>
            <a:endParaRPr lang="ko-KR" altLang="en-US" sz="1400" b="1">
              <a:solidFill>
                <a:srgbClr val="CBD5E1"/>
              </a:solidFill>
              <a:latin typeface="FEF3C7"/>
            </a:endParaRP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43EC9A88-115C-B1B2-70F9-0603BDE24E25}"/>
              </a:ext>
            </a:extLst>
          </p:cNvPr>
          <p:cNvSpPr/>
          <p:nvPr/>
        </p:nvSpPr>
        <p:spPr>
          <a:xfrm>
            <a:off x="3619500" y="3429000"/>
            <a:ext cx="323850" cy="32385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/>
            <a:r>
              <a:rPr lang="en-US" altLang="ko-KR" sz="1400" b="1">
                <a:solidFill>
                  <a:srgbClr val="FFFFFF"/>
                </a:solidFill>
                <a:latin typeface="FEF3C7"/>
              </a:rPr>
              <a:t>1</a:t>
            </a:r>
            <a:endParaRPr lang="ko-KR" altLang="en-US" sz="1400" b="1">
              <a:solidFill>
                <a:srgbClr val="FFFFFF"/>
              </a:solidFill>
              <a:latin typeface="FEF3C7"/>
            </a:endParaRPr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456FA893-B1D5-A89A-0F25-D9331A815FC8}"/>
              </a:ext>
            </a:extLst>
          </p:cNvPr>
          <p:cNvSpPr/>
          <p:nvPr/>
        </p:nvSpPr>
        <p:spPr>
          <a:xfrm>
            <a:off x="3619500" y="3867150"/>
            <a:ext cx="323850" cy="32385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altLang="ko-KR" sz="1400" b="1">
                <a:solidFill>
                  <a:srgbClr val="CBD5E1"/>
                </a:solidFill>
                <a:latin typeface="FEF3C7"/>
              </a:rPr>
              <a:t>0</a:t>
            </a:r>
            <a:endParaRPr lang="ko-KR" altLang="en-US" sz="1400" b="1">
              <a:solidFill>
                <a:srgbClr val="CBD5E1"/>
              </a:solidFill>
              <a:latin typeface="FEF3C7"/>
            </a:endParaRPr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C85471EF-0A1F-B37B-028D-29BA8B357E44}"/>
              </a:ext>
            </a:extLst>
          </p:cNvPr>
          <p:cNvSpPr/>
          <p:nvPr/>
        </p:nvSpPr>
        <p:spPr>
          <a:xfrm>
            <a:off x="4000500" y="3429000"/>
            <a:ext cx="323850" cy="32385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/>
            <a:r>
              <a:rPr lang="en-US" altLang="ko-KR" sz="1400" b="1">
                <a:solidFill>
                  <a:srgbClr val="FFFFFF"/>
                </a:solidFill>
                <a:latin typeface="FEF3C7"/>
              </a:rPr>
              <a:t>1</a:t>
            </a:r>
            <a:endParaRPr lang="ko-KR" altLang="en-US" sz="1400" b="1">
              <a:solidFill>
                <a:srgbClr val="FFFFFF"/>
              </a:solidFill>
              <a:latin typeface="FEF3C7"/>
            </a:endParaRPr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CBFD0CEB-571A-BA98-16ED-000BCB83009A}"/>
              </a:ext>
            </a:extLst>
          </p:cNvPr>
          <p:cNvSpPr/>
          <p:nvPr/>
        </p:nvSpPr>
        <p:spPr>
          <a:xfrm>
            <a:off x="4000500" y="3867150"/>
            <a:ext cx="323850" cy="32385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altLang="ko-KR" sz="1400" b="1">
                <a:solidFill>
                  <a:srgbClr val="CBD5E1"/>
                </a:solidFill>
                <a:latin typeface="FEF3C7"/>
              </a:rPr>
              <a:t>0</a:t>
            </a:r>
            <a:endParaRPr lang="ko-KR" altLang="en-US" sz="1400" b="1">
              <a:solidFill>
                <a:srgbClr val="CBD5E1"/>
              </a:solidFill>
              <a:latin typeface="FEF3C7"/>
            </a:endParaRP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F0F4C47D-E1CB-EBFB-83D4-0A52B6041A25}"/>
              </a:ext>
            </a:extLst>
          </p:cNvPr>
          <p:cNvSpPr/>
          <p:nvPr/>
        </p:nvSpPr>
        <p:spPr>
          <a:xfrm>
            <a:off x="4381500" y="3429000"/>
            <a:ext cx="323850" cy="32385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/>
            <a:r>
              <a:rPr lang="en-US" altLang="ko-KR" sz="1400" b="1">
                <a:solidFill>
                  <a:srgbClr val="FFFFFF"/>
                </a:solidFill>
                <a:latin typeface="FEF3C7"/>
              </a:rPr>
              <a:t>1</a:t>
            </a:r>
            <a:endParaRPr lang="ko-KR" altLang="en-US" sz="1400" b="1">
              <a:solidFill>
                <a:srgbClr val="FFFFFF"/>
              </a:solidFill>
              <a:latin typeface="FEF3C7"/>
            </a:endParaRPr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E75F8C97-BBFD-C7DA-1BE4-92D0BC8535F4}"/>
              </a:ext>
            </a:extLst>
          </p:cNvPr>
          <p:cNvSpPr/>
          <p:nvPr/>
        </p:nvSpPr>
        <p:spPr>
          <a:xfrm>
            <a:off x="4381500" y="3867150"/>
            <a:ext cx="323850" cy="32385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altLang="ko-KR" sz="1400" b="1">
                <a:solidFill>
                  <a:srgbClr val="CBD5E1"/>
                </a:solidFill>
                <a:latin typeface="FEF3C7"/>
              </a:rPr>
              <a:t>0</a:t>
            </a:r>
            <a:endParaRPr lang="ko-KR" altLang="en-US" sz="1400" b="1">
              <a:solidFill>
                <a:srgbClr val="CBD5E1"/>
              </a:solidFill>
              <a:latin typeface="FEF3C7"/>
            </a:endParaRPr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F4436FAC-2C52-3C94-F392-370CF1EAD138}"/>
              </a:ext>
            </a:extLst>
          </p:cNvPr>
          <p:cNvSpPr/>
          <p:nvPr/>
        </p:nvSpPr>
        <p:spPr>
          <a:xfrm>
            <a:off x="4762500" y="3429000"/>
            <a:ext cx="323850" cy="32385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/>
            <a:r>
              <a:rPr lang="en-US" altLang="ko-KR" sz="1400" b="1">
                <a:solidFill>
                  <a:srgbClr val="FFFFFF"/>
                </a:solidFill>
                <a:latin typeface="FEF3C7"/>
              </a:rPr>
              <a:t>1</a:t>
            </a:r>
            <a:endParaRPr lang="ko-KR" altLang="en-US" sz="1400" b="1">
              <a:solidFill>
                <a:srgbClr val="FFFFFF"/>
              </a:solidFill>
              <a:latin typeface="FEF3C7"/>
            </a:endParaRP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EFA9A828-8395-49D7-4638-24CD15FD471C}"/>
              </a:ext>
            </a:extLst>
          </p:cNvPr>
          <p:cNvSpPr/>
          <p:nvPr/>
        </p:nvSpPr>
        <p:spPr>
          <a:xfrm>
            <a:off x="4762500" y="3867150"/>
            <a:ext cx="323850" cy="323850"/>
          </a:xfrm>
          <a:prstGeom prst="rect">
            <a:avLst/>
          </a:prstGeom>
          <a:solidFill>
            <a:srgbClr val="16A3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/>
            <a:r>
              <a:rPr lang="en-US" altLang="ko-KR" sz="1400" b="1">
                <a:solidFill>
                  <a:srgbClr val="FFFFFF"/>
                </a:solidFill>
                <a:latin typeface="FEF3C7"/>
              </a:rPr>
              <a:t>1</a:t>
            </a:r>
            <a:endParaRPr lang="ko-KR" altLang="en-US" sz="1400" b="1">
              <a:solidFill>
                <a:srgbClr val="FFFFFF"/>
              </a:solidFill>
              <a:latin typeface="FEF3C7"/>
            </a:endParaRPr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DA7DC2B1-9B97-D12E-3E74-50262A1D1F14}"/>
              </a:ext>
            </a:extLst>
          </p:cNvPr>
          <p:cNvSpPr/>
          <p:nvPr/>
        </p:nvSpPr>
        <p:spPr>
          <a:xfrm>
            <a:off x="5143500" y="3429000"/>
            <a:ext cx="323850" cy="32385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/>
            <a:r>
              <a:rPr lang="en-US" altLang="ko-KR" sz="1400" b="1">
                <a:solidFill>
                  <a:srgbClr val="FFFFFF"/>
                </a:solidFill>
                <a:latin typeface="FEF3C7"/>
              </a:rPr>
              <a:t>1</a:t>
            </a:r>
            <a:endParaRPr lang="ko-KR" altLang="en-US" sz="1400" b="1">
              <a:solidFill>
                <a:srgbClr val="FFFFFF"/>
              </a:solidFill>
              <a:latin typeface="FEF3C7"/>
            </a:endParaRPr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CED95286-FEEE-3026-B693-A948FD850A6A}"/>
              </a:ext>
            </a:extLst>
          </p:cNvPr>
          <p:cNvSpPr/>
          <p:nvPr/>
        </p:nvSpPr>
        <p:spPr>
          <a:xfrm>
            <a:off x="5143500" y="3867150"/>
            <a:ext cx="323850" cy="323850"/>
          </a:xfrm>
          <a:prstGeom prst="rect">
            <a:avLst/>
          </a:prstGeom>
          <a:solidFill>
            <a:srgbClr val="16A3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/>
            <a:r>
              <a:rPr lang="en-US" altLang="ko-KR" sz="1400" b="1">
                <a:solidFill>
                  <a:srgbClr val="FFFFFF"/>
                </a:solidFill>
                <a:latin typeface="FEF3C7"/>
              </a:rPr>
              <a:t>1</a:t>
            </a:r>
            <a:endParaRPr lang="ko-KR" altLang="en-US" sz="1400" b="1">
              <a:solidFill>
                <a:srgbClr val="FFFFFF"/>
              </a:solidFill>
              <a:latin typeface="FEF3C7"/>
            </a:endParaRPr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739E5635-4844-71E5-D8AE-E762B75B520B}"/>
              </a:ext>
            </a:extLst>
          </p:cNvPr>
          <p:cNvSpPr/>
          <p:nvPr/>
        </p:nvSpPr>
        <p:spPr>
          <a:xfrm>
            <a:off x="5524500" y="3429000"/>
            <a:ext cx="323850" cy="32385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/>
            <a:r>
              <a:rPr lang="en-US" altLang="ko-KR" sz="1400" b="1">
                <a:solidFill>
                  <a:srgbClr val="FFFFFF"/>
                </a:solidFill>
                <a:latin typeface="FEF3C7"/>
              </a:rPr>
              <a:t>1</a:t>
            </a:r>
            <a:endParaRPr lang="ko-KR" altLang="en-US" sz="1400" b="1">
              <a:solidFill>
                <a:srgbClr val="FFFFFF"/>
              </a:solidFill>
              <a:latin typeface="FEF3C7"/>
            </a:endParaRPr>
          </a:p>
        </p:txBody>
      </p: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A8B8231A-6851-EEF6-E05A-7F308FCB308D}"/>
              </a:ext>
            </a:extLst>
          </p:cNvPr>
          <p:cNvSpPr/>
          <p:nvPr/>
        </p:nvSpPr>
        <p:spPr>
          <a:xfrm>
            <a:off x="5524500" y="3867150"/>
            <a:ext cx="323850" cy="323850"/>
          </a:xfrm>
          <a:prstGeom prst="rect">
            <a:avLst/>
          </a:prstGeom>
          <a:solidFill>
            <a:srgbClr val="16A3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/>
            <a:r>
              <a:rPr lang="en-US" altLang="ko-KR" sz="1400" b="1">
                <a:solidFill>
                  <a:srgbClr val="FFFFFF"/>
                </a:solidFill>
                <a:latin typeface="FEF3C7"/>
              </a:rPr>
              <a:t>1</a:t>
            </a:r>
            <a:endParaRPr lang="ko-KR" altLang="en-US" sz="1400" b="1">
              <a:solidFill>
                <a:srgbClr val="FFFFFF"/>
              </a:solidFill>
              <a:latin typeface="FEF3C7"/>
            </a:endParaRPr>
          </a:p>
        </p:txBody>
      </p: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A610DB2C-2647-8D43-5AE3-E15A972435F2}"/>
              </a:ext>
            </a:extLst>
          </p:cNvPr>
          <p:cNvSpPr/>
          <p:nvPr/>
        </p:nvSpPr>
        <p:spPr>
          <a:xfrm>
            <a:off x="5905500" y="3429000"/>
            <a:ext cx="323850" cy="32385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altLang="ko-KR" sz="1400" b="1">
                <a:solidFill>
                  <a:srgbClr val="94A3B8"/>
                </a:solidFill>
                <a:latin typeface="FEF3C7"/>
              </a:rPr>
              <a:t>0</a:t>
            </a:r>
            <a:endParaRPr lang="ko-KR" altLang="en-US" sz="1400" b="1">
              <a:solidFill>
                <a:srgbClr val="94A3B8"/>
              </a:solidFill>
              <a:latin typeface="FEF3C7"/>
            </a:endParaRPr>
          </a:p>
        </p:txBody>
      </p: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11E546CE-0483-82CE-A884-228CC3951897}"/>
              </a:ext>
            </a:extLst>
          </p:cNvPr>
          <p:cNvSpPr/>
          <p:nvPr/>
        </p:nvSpPr>
        <p:spPr>
          <a:xfrm>
            <a:off x="5905500" y="3867150"/>
            <a:ext cx="323850" cy="32385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altLang="ko-KR" sz="1400" b="1">
                <a:solidFill>
                  <a:srgbClr val="CBD5E1"/>
                </a:solidFill>
                <a:latin typeface="FEF3C7"/>
              </a:rPr>
              <a:t>0</a:t>
            </a:r>
            <a:endParaRPr lang="ko-KR" altLang="en-US" sz="1400" b="1">
              <a:solidFill>
                <a:srgbClr val="CBD5E1"/>
              </a:solidFill>
              <a:latin typeface="FEF3C7"/>
            </a:endParaRPr>
          </a:p>
        </p:txBody>
      </p: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6EE1AE65-A29A-5551-896F-51627CC00332}"/>
              </a:ext>
            </a:extLst>
          </p:cNvPr>
          <p:cNvSpPr/>
          <p:nvPr/>
        </p:nvSpPr>
        <p:spPr>
          <a:xfrm>
            <a:off x="6286500" y="3429000"/>
            <a:ext cx="323850" cy="32385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altLang="ko-KR" sz="1400" b="1">
                <a:solidFill>
                  <a:srgbClr val="94A3B8"/>
                </a:solidFill>
                <a:latin typeface="FEF3C7"/>
              </a:rPr>
              <a:t>0</a:t>
            </a:r>
            <a:endParaRPr lang="ko-KR" altLang="en-US" sz="1400" b="1">
              <a:solidFill>
                <a:srgbClr val="94A3B8"/>
              </a:solidFill>
              <a:latin typeface="FEF3C7"/>
            </a:endParaRPr>
          </a:p>
        </p:txBody>
      </p: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C6707427-36BC-EB2B-09AB-34349FD26C0F}"/>
              </a:ext>
            </a:extLst>
          </p:cNvPr>
          <p:cNvSpPr/>
          <p:nvPr/>
        </p:nvSpPr>
        <p:spPr>
          <a:xfrm>
            <a:off x="6286500" y="3867150"/>
            <a:ext cx="323850" cy="32385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altLang="ko-KR" sz="1400" b="1">
                <a:solidFill>
                  <a:srgbClr val="CBD5E1"/>
                </a:solidFill>
                <a:latin typeface="FEF3C7"/>
              </a:rPr>
              <a:t>0</a:t>
            </a:r>
            <a:endParaRPr lang="ko-KR" altLang="en-US" sz="1400" b="1">
              <a:solidFill>
                <a:srgbClr val="CBD5E1"/>
              </a:solidFill>
              <a:latin typeface="FEF3C7"/>
            </a:endParaRPr>
          </a:p>
        </p:txBody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B732A8DB-DBDE-8F3A-5D00-E5D22F867199}"/>
              </a:ext>
            </a:extLst>
          </p:cNvPr>
          <p:cNvSpPr/>
          <p:nvPr/>
        </p:nvSpPr>
        <p:spPr>
          <a:xfrm>
            <a:off x="6667500" y="3429000"/>
            <a:ext cx="323850" cy="32385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altLang="ko-KR" sz="1400" b="1">
                <a:solidFill>
                  <a:srgbClr val="94A3B8"/>
                </a:solidFill>
                <a:latin typeface="FEF3C7"/>
              </a:rPr>
              <a:t>0</a:t>
            </a:r>
            <a:endParaRPr lang="ko-KR" altLang="en-US" sz="1400" b="1">
              <a:solidFill>
                <a:srgbClr val="94A3B8"/>
              </a:solidFill>
              <a:latin typeface="FEF3C7"/>
            </a:endParaRPr>
          </a:p>
        </p:txBody>
      </p:sp>
      <p:sp>
        <p:nvSpPr>
          <p:cNvPr id="97" name="직사각형 96">
            <a:extLst>
              <a:ext uri="{FF2B5EF4-FFF2-40B4-BE49-F238E27FC236}">
                <a16:creationId xmlns:a16="http://schemas.microsoft.com/office/drawing/2014/main" id="{EEBC1EF0-2333-95F7-C8F0-4B29B049BDBD}"/>
              </a:ext>
            </a:extLst>
          </p:cNvPr>
          <p:cNvSpPr/>
          <p:nvPr/>
        </p:nvSpPr>
        <p:spPr>
          <a:xfrm>
            <a:off x="6667500" y="3867150"/>
            <a:ext cx="323850" cy="32385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altLang="ko-KR" sz="1400" b="1">
                <a:solidFill>
                  <a:srgbClr val="CBD5E1"/>
                </a:solidFill>
                <a:latin typeface="FEF3C7"/>
              </a:rPr>
              <a:t>0</a:t>
            </a:r>
            <a:endParaRPr lang="ko-KR" altLang="en-US" sz="1400" b="1">
              <a:solidFill>
                <a:srgbClr val="CBD5E1"/>
              </a:solidFill>
              <a:latin typeface="FEF3C7"/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3D8B35E5-7447-EFB7-A2A4-8A77E3D624E9}"/>
              </a:ext>
            </a:extLst>
          </p:cNvPr>
          <p:cNvSpPr txBox="1"/>
          <p:nvPr/>
        </p:nvSpPr>
        <p:spPr>
          <a:xfrm>
            <a:off x="7143750" y="3905250"/>
            <a:ext cx="1143000" cy="2476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1700" b="1">
                <a:solidFill>
                  <a:srgbClr val="16A34A"/>
                </a:solidFill>
                <a:latin typeface="FEF3C7"/>
              </a:rPr>
              <a:t>통과 ✓</a:t>
            </a:r>
          </a:p>
        </p:txBody>
      </p:sp>
      <p:sp>
        <p:nvSpPr>
          <p:cNvPr id="99" name="직사각형 98">
            <a:extLst>
              <a:ext uri="{FF2B5EF4-FFF2-40B4-BE49-F238E27FC236}">
                <a16:creationId xmlns:a16="http://schemas.microsoft.com/office/drawing/2014/main" id="{0672F0DE-49EE-9B5A-FBFB-BE55CF839F56}"/>
              </a:ext>
            </a:extLst>
          </p:cNvPr>
          <p:cNvSpPr/>
          <p:nvPr/>
        </p:nvSpPr>
        <p:spPr>
          <a:xfrm>
            <a:off x="8382000" y="1428750"/>
            <a:ext cx="3429000" cy="85725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endParaRPr lang="ko-KR" altLang="en-US"/>
          </a:p>
        </p:txBody>
      </p:sp>
      <p:sp>
        <p:nvSpPr>
          <p:cNvPr id="100" name="타원 99">
            <a:extLst>
              <a:ext uri="{FF2B5EF4-FFF2-40B4-BE49-F238E27FC236}">
                <a16:creationId xmlns:a16="http://schemas.microsoft.com/office/drawing/2014/main" id="{D7460E68-25E8-491A-7255-12242DDBD0FD}"/>
              </a:ext>
            </a:extLst>
          </p:cNvPr>
          <p:cNvSpPr/>
          <p:nvPr/>
        </p:nvSpPr>
        <p:spPr>
          <a:xfrm>
            <a:off x="8496300" y="1733550"/>
            <a:ext cx="247650" cy="247650"/>
          </a:xfrm>
          <a:prstGeom prst="ellipse">
            <a:avLst/>
          </a:prstGeom>
          <a:solidFill>
            <a:srgbClr val="EA580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/>
            <a:r>
              <a:rPr lang="en-US" altLang="ko-KR" sz="1200" b="1">
                <a:solidFill>
                  <a:srgbClr val="FFFFFF"/>
                </a:solidFill>
                <a:latin typeface="FEF3C7"/>
              </a:rPr>
              <a:t>1</a:t>
            </a:r>
            <a:endParaRPr lang="ko-KR" altLang="en-US" sz="1200" b="1">
              <a:solidFill>
                <a:srgbClr val="FFFFFF"/>
              </a:solidFill>
              <a:latin typeface="FEF3C7"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E5A6B4FC-2E8E-D39E-2F9D-ADEBB76DB760}"/>
              </a:ext>
            </a:extLst>
          </p:cNvPr>
          <p:cNvSpPr txBox="1"/>
          <p:nvPr/>
        </p:nvSpPr>
        <p:spPr>
          <a:xfrm>
            <a:off x="8839200" y="1428750"/>
            <a:ext cx="2876550" cy="8572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ko-KR" altLang="en-US" sz="1700" b="1">
                <a:solidFill>
                  <a:srgbClr val="1F2A44"/>
                </a:solidFill>
                <a:latin typeface="FEF3C7"/>
              </a:rPr>
              <a:t>평균 </a:t>
            </a:r>
            <a:r>
              <a:rPr lang="en-US" altLang="ko-KR" sz="1700" b="1">
                <a:solidFill>
                  <a:srgbClr val="1F2A44"/>
                </a:solidFill>
                <a:latin typeface="FEF3C7"/>
              </a:rPr>
              <a:t>filter</a:t>
            </a:r>
          </a:p>
          <a:p>
            <a:r>
              <a:rPr lang="en-US" altLang="ko-KR" sz="1700" b="1">
                <a:solidFill>
                  <a:srgbClr val="1F2A44"/>
                </a:solidFill>
                <a:latin typeface="FEF3C7"/>
              </a:rPr>
              <a:t>→ </a:t>
            </a:r>
            <a:r>
              <a:rPr lang="ko-KR" altLang="en-US" sz="1700" b="1">
                <a:solidFill>
                  <a:srgbClr val="1F2A44"/>
                </a:solidFill>
                <a:latin typeface="FEF3C7"/>
              </a:rPr>
              <a:t>크기만 감쇠</a:t>
            </a:r>
          </a:p>
        </p:txBody>
      </p: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567719DF-A410-42E4-42F0-A07142196891}"/>
              </a:ext>
            </a:extLst>
          </p:cNvPr>
          <p:cNvSpPr/>
          <p:nvPr/>
        </p:nvSpPr>
        <p:spPr>
          <a:xfrm>
            <a:off x="8382000" y="2476500"/>
            <a:ext cx="3429000" cy="85725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endParaRPr lang="ko-KR" altLang="en-US"/>
          </a:p>
        </p:txBody>
      </p:sp>
      <p:sp>
        <p:nvSpPr>
          <p:cNvPr id="103" name="타원 102">
            <a:extLst>
              <a:ext uri="{FF2B5EF4-FFF2-40B4-BE49-F238E27FC236}">
                <a16:creationId xmlns:a16="http://schemas.microsoft.com/office/drawing/2014/main" id="{DE262ABB-F083-171A-3A15-B96A9F0CDC0E}"/>
              </a:ext>
            </a:extLst>
          </p:cNvPr>
          <p:cNvSpPr/>
          <p:nvPr/>
        </p:nvSpPr>
        <p:spPr>
          <a:xfrm>
            <a:off x="8496300" y="2781300"/>
            <a:ext cx="247650" cy="247650"/>
          </a:xfrm>
          <a:prstGeom prst="ellipse">
            <a:avLst/>
          </a:prstGeom>
          <a:solidFill>
            <a:srgbClr val="EA580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/>
            <a:r>
              <a:rPr lang="en-US" altLang="ko-KR" sz="1200" b="1">
                <a:solidFill>
                  <a:srgbClr val="FFFFFF"/>
                </a:solidFill>
                <a:latin typeface="FEF3C7"/>
              </a:rPr>
              <a:t>2</a:t>
            </a:r>
            <a:endParaRPr lang="ko-KR" altLang="en-US" sz="1200" b="1">
              <a:solidFill>
                <a:srgbClr val="FFFFFF"/>
              </a:solidFill>
              <a:latin typeface="FEF3C7"/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8B4F5DF4-D6ED-03C7-4D96-1614144A6A69}"/>
              </a:ext>
            </a:extLst>
          </p:cNvPr>
          <p:cNvSpPr txBox="1"/>
          <p:nvPr/>
        </p:nvSpPr>
        <p:spPr>
          <a:xfrm>
            <a:off x="8839200" y="2476500"/>
            <a:ext cx="2876550" cy="8572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altLang="ko-KR" sz="1700" b="1">
                <a:solidFill>
                  <a:srgbClr val="2563EB"/>
                </a:solidFill>
                <a:latin typeface="FEF3C7"/>
              </a:rPr>
              <a:t>AND filter</a:t>
            </a:r>
          </a:p>
          <a:p>
            <a:r>
              <a:rPr lang="en-US" altLang="ko-KR" sz="1700" b="1">
                <a:solidFill>
                  <a:srgbClr val="2563EB"/>
                </a:solidFill>
                <a:latin typeface="FEF3C7"/>
              </a:rPr>
              <a:t>→ 8 sample </a:t>
            </a:r>
            <a:r>
              <a:rPr lang="ko-KR" altLang="en-US" sz="1700" b="1">
                <a:solidFill>
                  <a:srgbClr val="2563EB"/>
                </a:solidFill>
                <a:latin typeface="FEF3C7"/>
              </a:rPr>
              <a:t>미만 완전 제거</a:t>
            </a:r>
          </a:p>
        </p:txBody>
      </p:sp>
      <p:sp>
        <p:nvSpPr>
          <p:cNvPr id="105" name="직사각형 104">
            <a:extLst>
              <a:ext uri="{FF2B5EF4-FFF2-40B4-BE49-F238E27FC236}">
                <a16:creationId xmlns:a16="http://schemas.microsoft.com/office/drawing/2014/main" id="{E8FDC6CE-3083-E923-1DB5-54DA0A0ED4C7}"/>
              </a:ext>
            </a:extLst>
          </p:cNvPr>
          <p:cNvSpPr/>
          <p:nvPr/>
        </p:nvSpPr>
        <p:spPr>
          <a:xfrm>
            <a:off x="381000" y="4762500"/>
            <a:ext cx="11430000" cy="666750"/>
          </a:xfrm>
          <a:prstGeom prst="rect">
            <a:avLst/>
          </a:prstGeom>
          <a:solidFill>
            <a:srgbClr val="EFF6FF"/>
          </a:solidFill>
          <a:ln w="12700">
            <a:solidFill>
              <a:srgbClr val="93C5F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endParaRPr lang="ko-KR" altLang="en-US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E7A7CA1C-AA54-957D-E7D8-74087838E0AF}"/>
              </a:ext>
            </a:extLst>
          </p:cNvPr>
          <p:cNvSpPr txBox="1"/>
          <p:nvPr/>
        </p:nvSpPr>
        <p:spPr>
          <a:xfrm>
            <a:off x="514350" y="4762500"/>
            <a:ext cx="11201400" cy="6667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altLang="ko-KR" sz="1700" b="1">
                <a:solidFill>
                  <a:srgbClr val="1E3A8A"/>
                </a:solidFill>
                <a:latin typeface="FEF3C7"/>
              </a:rPr>
              <a:t>AND = min filter: </a:t>
            </a:r>
            <a:r>
              <a:rPr lang="ko-KR" altLang="en-US" sz="1700" b="1">
                <a:solidFill>
                  <a:srgbClr val="1E3A8A"/>
                </a:solidFill>
                <a:latin typeface="FEF3C7"/>
              </a:rPr>
              <a:t>짧은 </a:t>
            </a:r>
            <a:r>
              <a:rPr lang="en-US" altLang="ko-KR" sz="1700" b="1">
                <a:solidFill>
                  <a:srgbClr val="1E3A8A"/>
                </a:solidFill>
                <a:latin typeface="FEF3C7"/>
              </a:rPr>
              <a:t>glitch</a:t>
            </a:r>
            <a:r>
              <a:rPr lang="ko-KR" altLang="en-US" sz="1700" b="1">
                <a:solidFill>
                  <a:srgbClr val="1E3A8A"/>
                </a:solidFill>
                <a:latin typeface="FEF3C7"/>
              </a:rPr>
              <a:t>는 크기와 무관하게 </a:t>
            </a:r>
            <a:r>
              <a:rPr lang="en-US" altLang="ko-KR" sz="1700" b="1">
                <a:solidFill>
                  <a:srgbClr val="1E3A8A"/>
                </a:solidFill>
                <a:latin typeface="FEF3C7"/>
              </a:rPr>
              <a:t>0</a:t>
            </a:r>
            <a:endParaRPr lang="ko-KR" altLang="en-US" sz="1700" b="1">
              <a:solidFill>
                <a:srgbClr val="1E3A8A"/>
              </a:solidFill>
              <a:latin typeface="FEF3C7"/>
            </a:endParaRP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192E45AF-3BBD-AA8A-95C0-C50501849F02}"/>
              </a:ext>
            </a:extLst>
          </p:cNvPr>
          <p:cNvSpPr txBox="1"/>
          <p:nvPr/>
        </p:nvSpPr>
        <p:spPr>
          <a:xfrm>
            <a:off x="10668000" y="6591300"/>
            <a:ext cx="1143000" cy="19050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pPr algn="r"/>
            <a:r>
              <a:rPr lang="en-US" altLang="ko-KR" sz="1100">
                <a:solidFill>
                  <a:srgbClr val="94A3B8"/>
                </a:solidFill>
                <a:latin typeface="FEF3C7"/>
              </a:rPr>
              <a:t>13 / 39</a:t>
            </a:r>
            <a:endParaRPr lang="ko-KR" altLang="en-US" sz="1100">
              <a:solidFill>
                <a:srgbClr val="94A3B8"/>
              </a:solidFill>
              <a:latin typeface="FEF3C7"/>
            </a:endParaRPr>
          </a:p>
        </p:txBody>
      </p:sp>
    </p:spTree>
    <p:extLst>
      <p:ext uri="{BB962C8B-B14F-4D97-AF65-F5344CB8AC3E}">
        <p14:creationId xmlns:p14="http://schemas.microsoft.com/office/powerpoint/2010/main" val="29314484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7E1DF5-613B-25C0-B326-12D716271B82}"/>
              </a:ext>
            </a:extLst>
          </p:cNvPr>
          <p:cNvSpPr txBox="1"/>
          <p:nvPr/>
        </p:nvSpPr>
        <p:spPr>
          <a:xfrm>
            <a:off x="381000" y="133350"/>
            <a:ext cx="9525000" cy="2095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altLang="ko-KR" sz="1300" b="1">
                <a:solidFill>
                  <a:srgbClr val="2563EB"/>
                </a:solidFill>
                <a:latin typeface="FEF3C7"/>
              </a:rPr>
              <a:t>03  ·  Homework-1 </a:t>
            </a:r>
            <a:r>
              <a:rPr lang="ko-KR" altLang="en-US" sz="1300" b="1">
                <a:solidFill>
                  <a:srgbClr val="2563EB"/>
                </a:solidFill>
                <a:latin typeface="FEF3C7"/>
              </a:rPr>
              <a:t>설계  </a:t>
            </a:r>
            <a:r>
              <a:rPr lang="en-US" altLang="ko-KR" sz="1300" b="1">
                <a:solidFill>
                  <a:srgbClr val="2563EB"/>
                </a:solidFill>
                <a:latin typeface="FEF3C7"/>
              </a:rPr>
              <a:t>·  Mealy State Diagram</a:t>
            </a:r>
            <a:endParaRPr lang="ko-KR" altLang="en-US" sz="1300" b="1">
              <a:solidFill>
                <a:srgbClr val="2563EB"/>
              </a:solidFill>
              <a:latin typeface="FEF3C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9B7C896-391B-55CF-978F-44B1E9BC66CB}"/>
              </a:ext>
            </a:extLst>
          </p:cNvPr>
          <p:cNvSpPr txBox="1"/>
          <p:nvPr/>
        </p:nvSpPr>
        <p:spPr>
          <a:xfrm>
            <a:off x="381000" y="342900"/>
            <a:ext cx="10096500" cy="4381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altLang="ko-KR" sz="2600" b="1">
                <a:solidFill>
                  <a:srgbClr val="0F172A"/>
                </a:solidFill>
                <a:latin typeface="FEF3C7"/>
              </a:rPr>
              <a:t>Mealy: 4 States Detect 0101, Output Depends on din_bit</a:t>
            </a:r>
            <a:endParaRPr lang="ko-KR" altLang="en-US" sz="2600" b="1">
              <a:solidFill>
                <a:srgbClr val="0F172A"/>
              </a:solidFill>
              <a:latin typeface="FEF3C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626FE17-FA94-0C1F-DD4F-97240B86F8FE}"/>
              </a:ext>
            </a:extLst>
          </p:cNvPr>
          <p:cNvSpPr/>
          <p:nvPr/>
        </p:nvSpPr>
        <p:spPr>
          <a:xfrm>
            <a:off x="381000" y="819150"/>
            <a:ext cx="666750" cy="381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6F3669-A1BB-E8CD-0835-F8055874D70D}"/>
              </a:ext>
            </a:extLst>
          </p:cNvPr>
          <p:cNvSpPr txBox="1"/>
          <p:nvPr/>
        </p:nvSpPr>
        <p:spPr>
          <a:xfrm>
            <a:off x="10572750" y="133350"/>
            <a:ext cx="1238250" cy="60960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pPr algn="r"/>
            <a:r>
              <a:rPr lang="en-US" altLang="ko-KR" sz="4000" b="1">
                <a:solidFill>
                  <a:srgbClr val="BFDBFE"/>
                </a:solidFill>
                <a:latin typeface="FEF3C7"/>
              </a:rPr>
              <a:t>03</a:t>
            </a:r>
            <a:endParaRPr lang="ko-KR" altLang="en-US" sz="4000" b="1">
              <a:solidFill>
                <a:srgbClr val="BFDBFE"/>
              </a:solidFill>
              <a:latin typeface="FEF3C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F79B81-D851-910F-8F14-5F2EA0E4EDF3}"/>
              </a:ext>
            </a:extLst>
          </p:cNvPr>
          <p:cNvSpPr txBox="1"/>
          <p:nvPr/>
        </p:nvSpPr>
        <p:spPr>
          <a:xfrm>
            <a:off x="8191500" y="952500"/>
            <a:ext cx="3619500" cy="2095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pPr algn="r"/>
            <a:r>
              <a:rPr lang="en-US" altLang="ko-KR" sz="1400">
                <a:solidFill>
                  <a:srgbClr val="64748B"/>
                </a:solidFill>
                <a:latin typeface="FEF3C7"/>
              </a:rPr>
              <a:t>edge label = din_bit / mealy_out</a:t>
            </a:r>
            <a:endParaRPr lang="ko-KR" altLang="en-US" sz="1400">
              <a:solidFill>
                <a:srgbClr val="64748B"/>
              </a:solidFill>
              <a:latin typeface="FEF3C7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5766614B-5D10-8063-D307-15E915B020CD}"/>
              </a:ext>
            </a:extLst>
          </p:cNvPr>
          <p:cNvSpPr/>
          <p:nvPr/>
        </p:nvSpPr>
        <p:spPr>
          <a:xfrm>
            <a:off x="1181100" y="2514600"/>
            <a:ext cx="1066800" cy="1066800"/>
          </a:xfrm>
          <a:prstGeom prst="ellipse">
            <a:avLst/>
          </a:prstGeom>
          <a:solidFill>
            <a:srgbClr val="EFF6FF"/>
          </a:solidFill>
          <a:ln w="25400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25400" rIns="0" bIns="25400" rtlCol="0" anchor="ctr"/>
          <a:lstStyle/>
          <a:p>
            <a:pPr algn="ctr"/>
            <a:r>
              <a:rPr lang="en-US" altLang="ko-KR" b="1">
                <a:solidFill>
                  <a:srgbClr val="0F172A"/>
                </a:solidFill>
                <a:latin typeface="FEF3C7"/>
              </a:rPr>
              <a:t>S0</a:t>
            </a:r>
          </a:p>
          <a:p>
            <a:pPr algn="ctr"/>
            <a:r>
              <a:rPr lang="en-US" altLang="ko-KR" sz="1100">
                <a:solidFill>
                  <a:srgbClr val="475569"/>
                </a:solidFill>
                <a:latin typeface="FEF3C7"/>
              </a:rPr>
              <a:t>init</a:t>
            </a:r>
            <a:endParaRPr lang="ko-KR" altLang="en-US" sz="1100">
              <a:solidFill>
                <a:srgbClr val="475569"/>
              </a:solidFill>
              <a:latin typeface="FEF3C7"/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7E250B06-C79D-2227-69FA-AEA02FA595AC}"/>
              </a:ext>
            </a:extLst>
          </p:cNvPr>
          <p:cNvSpPr/>
          <p:nvPr/>
        </p:nvSpPr>
        <p:spPr>
          <a:xfrm>
            <a:off x="3943350" y="2514600"/>
            <a:ext cx="1066800" cy="1066800"/>
          </a:xfrm>
          <a:prstGeom prst="ellipse">
            <a:avLst/>
          </a:prstGeom>
          <a:solidFill>
            <a:srgbClr val="EFF6FF"/>
          </a:solidFill>
          <a:ln w="25400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25400" rIns="0" bIns="25400" rtlCol="0" anchor="ctr"/>
          <a:lstStyle/>
          <a:p>
            <a:pPr algn="ctr"/>
            <a:r>
              <a:rPr lang="en-US" altLang="ko-KR" b="1">
                <a:solidFill>
                  <a:srgbClr val="0F172A"/>
                </a:solidFill>
                <a:latin typeface="FEF3C7"/>
              </a:rPr>
              <a:t>S1</a:t>
            </a:r>
          </a:p>
          <a:p>
            <a:pPr algn="ctr"/>
            <a:r>
              <a:rPr lang="en-US" altLang="ko-KR" sz="1100">
                <a:solidFill>
                  <a:srgbClr val="475569"/>
                </a:solidFill>
                <a:latin typeface="FEF3C7"/>
              </a:rPr>
              <a:t>0</a:t>
            </a:r>
            <a:endParaRPr lang="ko-KR" altLang="en-US" sz="1100">
              <a:solidFill>
                <a:srgbClr val="475569"/>
              </a:solidFill>
              <a:latin typeface="FEF3C7"/>
            </a:endParaRP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56DF43B7-3489-E0F2-766A-DD141F24BB3F}"/>
              </a:ext>
            </a:extLst>
          </p:cNvPr>
          <p:cNvSpPr/>
          <p:nvPr/>
        </p:nvSpPr>
        <p:spPr>
          <a:xfrm>
            <a:off x="6705600" y="2514600"/>
            <a:ext cx="1066800" cy="1066800"/>
          </a:xfrm>
          <a:prstGeom prst="ellipse">
            <a:avLst/>
          </a:prstGeom>
          <a:solidFill>
            <a:srgbClr val="EFF6FF"/>
          </a:solidFill>
          <a:ln w="25400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25400" rIns="0" bIns="25400" rtlCol="0" anchor="ctr"/>
          <a:lstStyle/>
          <a:p>
            <a:pPr algn="ctr"/>
            <a:r>
              <a:rPr lang="en-US" altLang="ko-KR" b="1">
                <a:solidFill>
                  <a:srgbClr val="0F172A"/>
                </a:solidFill>
                <a:latin typeface="FEF3C7"/>
              </a:rPr>
              <a:t>S2</a:t>
            </a:r>
          </a:p>
          <a:p>
            <a:pPr algn="ctr"/>
            <a:r>
              <a:rPr lang="en-US" altLang="ko-KR" sz="1100">
                <a:solidFill>
                  <a:srgbClr val="475569"/>
                </a:solidFill>
                <a:latin typeface="FEF3C7"/>
              </a:rPr>
              <a:t>01</a:t>
            </a:r>
            <a:endParaRPr lang="ko-KR" altLang="en-US" sz="1100">
              <a:solidFill>
                <a:srgbClr val="475569"/>
              </a:solidFill>
              <a:latin typeface="FEF3C7"/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83152889-F49F-ED7B-4131-2E208806A44E}"/>
              </a:ext>
            </a:extLst>
          </p:cNvPr>
          <p:cNvSpPr/>
          <p:nvPr/>
        </p:nvSpPr>
        <p:spPr>
          <a:xfrm>
            <a:off x="9467850" y="2514600"/>
            <a:ext cx="1066800" cy="1066800"/>
          </a:xfrm>
          <a:prstGeom prst="ellipse">
            <a:avLst/>
          </a:prstGeom>
          <a:solidFill>
            <a:srgbClr val="EFF6FF"/>
          </a:solidFill>
          <a:ln w="25400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25400" rIns="0" bIns="25400" rtlCol="0" anchor="ctr"/>
          <a:lstStyle/>
          <a:p>
            <a:pPr algn="ctr"/>
            <a:r>
              <a:rPr lang="en-US" altLang="ko-KR" b="1">
                <a:solidFill>
                  <a:srgbClr val="0F172A"/>
                </a:solidFill>
                <a:latin typeface="FEF3C7"/>
              </a:rPr>
              <a:t>S3</a:t>
            </a:r>
          </a:p>
          <a:p>
            <a:pPr algn="ctr"/>
            <a:r>
              <a:rPr lang="en-US" altLang="ko-KR" sz="1100">
                <a:solidFill>
                  <a:srgbClr val="475569"/>
                </a:solidFill>
                <a:latin typeface="FEF3C7"/>
              </a:rPr>
              <a:t>010</a:t>
            </a:r>
            <a:endParaRPr lang="ko-KR" altLang="en-US" sz="1100">
              <a:solidFill>
                <a:srgbClr val="475569"/>
              </a:solidFill>
              <a:latin typeface="FEF3C7"/>
            </a:endParaRP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0B58B1D3-59CF-4B92-B210-56E3D72238BC}"/>
              </a:ext>
            </a:extLst>
          </p:cNvPr>
          <p:cNvCxnSpPr/>
          <p:nvPr/>
        </p:nvCxnSpPr>
        <p:spPr>
          <a:xfrm>
            <a:off x="2247900" y="2971800"/>
            <a:ext cx="1695450" cy="0"/>
          </a:xfrm>
          <a:prstGeom prst="line">
            <a:avLst/>
          </a:prstGeom>
          <a:ln w="25400">
            <a:solidFill>
              <a:srgbClr val="475569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00C27D45-E400-B68B-79A5-CBA68B9CE07E}"/>
              </a:ext>
            </a:extLst>
          </p:cNvPr>
          <p:cNvSpPr txBox="1"/>
          <p:nvPr/>
        </p:nvSpPr>
        <p:spPr>
          <a:xfrm>
            <a:off x="2667000" y="2686050"/>
            <a:ext cx="857250" cy="2095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pPr algn="ctr"/>
            <a:r>
              <a:rPr lang="en-US" altLang="ko-KR" sz="1400" b="1">
                <a:solidFill>
                  <a:srgbClr val="1F2A44"/>
                </a:solidFill>
                <a:latin typeface="FEF3C7"/>
              </a:rPr>
              <a:t>0 / 0</a:t>
            </a:r>
            <a:endParaRPr lang="ko-KR" altLang="en-US" sz="1400" b="1">
              <a:solidFill>
                <a:srgbClr val="1F2A44"/>
              </a:solidFill>
              <a:latin typeface="FEF3C7"/>
            </a:endParaRP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5E2B6264-5B74-0FE7-366A-7E9A5C4AF9BE}"/>
              </a:ext>
            </a:extLst>
          </p:cNvPr>
          <p:cNvCxnSpPr/>
          <p:nvPr/>
        </p:nvCxnSpPr>
        <p:spPr>
          <a:xfrm>
            <a:off x="5010150" y="2971800"/>
            <a:ext cx="1695450" cy="0"/>
          </a:xfrm>
          <a:prstGeom prst="line">
            <a:avLst/>
          </a:prstGeom>
          <a:ln w="25400">
            <a:solidFill>
              <a:srgbClr val="475569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191FD165-84CC-026E-3F6D-0F654A613C7F}"/>
              </a:ext>
            </a:extLst>
          </p:cNvPr>
          <p:cNvSpPr txBox="1"/>
          <p:nvPr/>
        </p:nvSpPr>
        <p:spPr>
          <a:xfrm>
            <a:off x="5429250" y="2686050"/>
            <a:ext cx="857250" cy="2095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pPr algn="ctr"/>
            <a:r>
              <a:rPr lang="en-US" altLang="ko-KR" sz="1400" b="1">
                <a:solidFill>
                  <a:srgbClr val="1F2A44"/>
                </a:solidFill>
                <a:latin typeface="FEF3C7"/>
              </a:rPr>
              <a:t>1 / 0</a:t>
            </a:r>
            <a:endParaRPr lang="ko-KR" altLang="en-US" sz="1400" b="1">
              <a:solidFill>
                <a:srgbClr val="1F2A44"/>
              </a:solidFill>
              <a:latin typeface="FEF3C7"/>
            </a:endParaRPr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FCA32239-9AA9-CEDF-46CA-7F984EF70A75}"/>
              </a:ext>
            </a:extLst>
          </p:cNvPr>
          <p:cNvCxnSpPr/>
          <p:nvPr/>
        </p:nvCxnSpPr>
        <p:spPr>
          <a:xfrm>
            <a:off x="7772400" y="2971800"/>
            <a:ext cx="1695450" cy="0"/>
          </a:xfrm>
          <a:prstGeom prst="line">
            <a:avLst/>
          </a:prstGeom>
          <a:ln w="25400">
            <a:solidFill>
              <a:srgbClr val="475569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53993080-37D2-26DC-49B7-81C881709AB5}"/>
              </a:ext>
            </a:extLst>
          </p:cNvPr>
          <p:cNvSpPr txBox="1"/>
          <p:nvPr/>
        </p:nvSpPr>
        <p:spPr>
          <a:xfrm>
            <a:off x="8191500" y="2686050"/>
            <a:ext cx="857250" cy="2095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pPr algn="ctr"/>
            <a:r>
              <a:rPr lang="en-US" altLang="ko-KR" sz="1400" b="1">
                <a:solidFill>
                  <a:srgbClr val="1F2A44"/>
                </a:solidFill>
                <a:latin typeface="FEF3C7"/>
              </a:rPr>
              <a:t>0 / 0</a:t>
            </a:r>
            <a:endParaRPr lang="ko-KR" altLang="en-US" sz="1400" b="1">
              <a:solidFill>
                <a:srgbClr val="1F2A44"/>
              </a:solidFill>
              <a:latin typeface="FEF3C7"/>
            </a:endParaRPr>
          </a:p>
        </p:txBody>
      </p:sp>
      <p:sp>
        <p:nvSpPr>
          <p:cNvPr id="17" name="자유형: 도형 16">
            <a:extLst>
              <a:ext uri="{FF2B5EF4-FFF2-40B4-BE49-F238E27FC236}">
                <a16:creationId xmlns:a16="http://schemas.microsoft.com/office/drawing/2014/main" id="{CFFED472-0E14-3C10-506C-D7710F1A9199}"/>
              </a:ext>
            </a:extLst>
          </p:cNvPr>
          <p:cNvSpPr/>
          <p:nvPr/>
        </p:nvSpPr>
        <p:spPr>
          <a:xfrm>
            <a:off x="1143000" y="1619250"/>
            <a:ext cx="1143001" cy="923926"/>
          </a:xfrm>
          <a:custGeom>
            <a:avLst/>
            <a:gdLst/>
            <a:ahLst/>
            <a:cxnLst/>
            <a:rect l="0" t="0" r="0" b="0"/>
            <a:pathLst>
              <a:path w="1143001" h="923926">
                <a:moveTo>
                  <a:pt x="400050" y="923925"/>
                </a:moveTo>
                <a:cubicBezTo>
                  <a:pt x="0" y="0"/>
                  <a:pt x="1143000" y="0"/>
                  <a:pt x="742950" y="923925"/>
                </a:cubicBezTo>
              </a:path>
            </a:pathLst>
          </a:custGeom>
          <a:ln w="22225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5DF7539-AFF9-F553-E90E-FC917C0BA680}"/>
              </a:ext>
            </a:extLst>
          </p:cNvPr>
          <p:cNvSpPr txBox="1"/>
          <p:nvPr/>
        </p:nvSpPr>
        <p:spPr>
          <a:xfrm>
            <a:off x="1285875" y="1524000"/>
            <a:ext cx="857250" cy="2095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pPr algn="ctr"/>
            <a:r>
              <a:rPr lang="en-US" altLang="ko-KR" sz="1400" b="1">
                <a:solidFill>
                  <a:srgbClr val="1F2A44"/>
                </a:solidFill>
                <a:latin typeface="FEF3C7"/>
              </a:rPr>
              <a:t>1 / 0</a:t>
            </a:r>
            <a:endParaRPr lang="ko-KR" altLang="en-US" sz="1400" b="1">
              <a:solidFill>
                <a:srgbClr val="1F2A44"/>
              </a:solidFill>
              <a:latin typeface="FEF3C7"/>
            </a:endParaRPr>
          </a:p>
        </p:txBody>
      </p:sp>
      <p:sp>
        <p:nvSpPr>
          <p:cNvPr id="19" name="자유형: 도형 18">
            <a:extLst>
              <a:ext uri="{FF2B5EF4-FFF2-40B4-BE49-F238E27FC236}">
                <a16:creationId xmlns:a16="http://schemas.microsoft.com/office/drawing/2014/main" id="{6603FB8B-7FA6-0BF4-53FC-CA752F2850B7}"/>
              </a:ext>
            </a:extLst>
          </p:cNvPr>
          <p:cNvSpPr/>
          <p:nvPr/>
        </p:nvSpPr>
        <p:spPr>
          <a:xfrm>
            <a:off x="4648200" y="1428750"/>
            <a:ext cx="5181601" cy="1104901"/>
          </a:xfrm>
          <a:custGeom>
            <a:avLst/>
            <a:gdLst/>
            <a:ahLst/>
            <a:cxnLst/>
            <a:rect l="0" t="0" r="0" b="0"/>
            <a:pathLst>
              <a:path w="5181601" h="1104901">
                <a:moveTo>
                  <a:pt x="5181600" y="1104900"/>
                </a:moveTo>
                <a:cubicBezTo>
                  <a:pt x="4876800" y="0"/>
                  <a:pt x="304800" y="0"/>
                  <a:pt x="0" y="1104900"/>
                </a:cubicBezTo>
              </a:path>
            </a:pathLst>
          </a:custGeom>
          <a:ln w="22225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22B19C5-F83D-F9D3-7E8D-45432ECA5FE0}"/>
              </a:ext>
            </a:extLst>
          </p:cNvPr>
          <p:cNvSpPr txBox="1"/>
          <p:nvPr/>
        </p:nvSpPr>
        <p:spPr>
          <a:xfrm>
            <a:off x="6810375" y="1428750"/>
            <a:ext cx="857250" cy="2095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pPr algn="ctr"/>
            <a:r>
              <a:rPr lang="en-US" altLang="ko-KR" sz="1400" b="1">
                <a:solidFill>
                  <a:srgbClr val="1F2A44"/>
                </a:solidFill>
                <a:latin typeface="FEF3C7"/>
              </a:rPr>
              <a:t>0 / 0</a:t>
            </a:r>
            <a:endParaRPr lang="ko-KR" altLang="en-US" sz="1400" b="1">
              <a:solidFill>
                <a:srgbClr val="1F2A44"/>
              </a:solidFill>
              <a:latin typeface="FEF3C7"/>
            </a:endParaRPr>
          </a:p>
        </p:txBody>
      </p:sp>
      <p:sp>
        <p:nvSpPr>
          <p:cNvPr id="21" name="자유형: 도형 20">
            <a:extLst>
              <a:ext uri="{FF2B5EF4-FFF2-40B4-BE49-F238E27FC236}">
                <a16:creationId xmlns:a16="http://schemas.microsoft.com/office/drawing/2014/main" id="{1462C598-2A5E-9573-60AC-69E9D1D7F24C}"/>
              </a:ext>
            </a:extLst>
          </p:cNvPr>
          <p:cNvSpPr/>
          <p:nvPr/>
        </p:nvSpPr>
        <p:spPr>
          <a:xfrm>
            <a:off x="3905250" y="3552825"/>
            <a:ext cx="1143001" cy="733426"/>
          </a:xfrm>
          <a:custGeom>
            <a:avLst/>
            <a:gdLst/>
            <a:ahLst/>
            <a:cxnLst/>
            <a:rect l="0" t="0" r="0" b="0"/>
            <a:pathLst>
              <a:path w="1143001" h="733426">
                <a:moveTo>
                  <a:pt x="400050" y="0"/>
                </a:moveTo>
                <a:cubicBezTo>
                  <a:pt x="0" y="733425"/>
                  <a:pt x="1143000" y="733425"/>
                  <a:pt x="742950" y="0"/>
                </a:cubicBezTo>
              </a:path>
            </a:pathLst>
          </a:custGeom>
          <a:ln w="22225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42B096A-6167-ADA4-B5AB-23E3CE0DB934}"/>
              </a:ext>
            </a:extLst>
          </p:cNvPr>
          <p:cNvSpPr txBox="1"/>
          <p:nvPr/>
        </p:nvSpPr>
        <p:spPr>
          <a:xfrm>
            <a:off x="4867275" y="3905250"/>
            <a:ext cx="857250" cy="2095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pPr algn="ctr"/>
            <a:r>
              <a:rPr lang="en-US" altLang="ko-KR" sz="1400" b="1">
                <a:solidFill>
                  <a:srgbClr val="1F2A44"/>
                </a:solidFill>
                <a:latin typeface="FEF3C7"/>
              </a:rPr>
              <a:t>0 / 0</a:t>
            </a:r>
            <a:endParaRPr lang="ko-KR" altLang="en-US" sz="1400" b="1">
              <a:solidFill>
                <a:srgbClr val="1F2A44"/>
              </a:solidFill>
              <a:latin typeface="FEF3C7"/>
            </a:endParaRPr>
          </a:p>
        </p:txBody>
      </p:sp>
      <p:sp>
        <p:nvSpPr>
          <p:cNvPr id="23" name="자유형: 도형 22">
            <a:extLst>
              <a:ext uri="{FF2B5EF4-FFF2-40B4-BE49-F238E27FC236}">
                <a16:creationId xmlns:a16="http://schemas.microsoft.com/office/drawing/2014/main" id="{00303B31-2D7E-FB95-7FEC-199E799ECB0F}"/>
              </a:ext>
            </a:extLst>
          </p:cNvPr>
          <p:cNvSpPr/>
          <p:nvPr/>
        </p:nvSpPr>
        <p:spPr>
          <a:xfrm>
            <a:off x="1885950" y="3552825"/>
            <a:ext cx="5181601" cy="1209676"/>
          </a:xfrm>
          <a:custGeom>
            <a:avLst/>
            <a:gdLst/>
            <a:ahLst/>
            <a:cxnLst/>
            <a:rect l="0" t="0" r="0" b="0"/>
            <a:pathLst>
              <a:path w="5181601" h="1209676">
                <a:moveTo>
                  <a:pt x="5181600" y="0"/>
                </a:moveTo>
                <a:cubicBezTo>
                  <a:pt x="4972050" y="1209675"/>
                  <a:pt x="209550" y="1209675"/>
                  <a:pt x="0" y="0"/>
                </a:cubicBezTo>
              </a:path>
            </a:pathLst>
          </a:custGeom>
          <a:ln w="22225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CC47359-F713-D584-7CB7-D4358E9C1459}"/>
              </a:ext>
            </a:extLst>
          </p:cNvPr>
          <p:cNvSpPr txBox="1"/>
          <p:nvPr/>
        </p:nvSpPr>
        <p:spPr>
          <a:xfrm>
            <a:off x="4048125" y="4457700"/>
            <a:ext cx="857250" cy="2095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pPr algn="ctr"/>
            <a:r>
              <a:rPr lang="en-US" altLang="ko-KR" sz="1400" b="1">
                <a:solidFill>
                  <a:srgbClr val="1F2A44"/>
                </a:solidFill>
                <a:latin typeface="FEF3C7"/>
              </a:rPr>
              <a:t>1 / 0</a:t>
            </a:r>
            <a:endParaRPr lang="ko-KR" altLang="en-US" sz="1400" b="1">
              <a:solidFill>
                <a:srgbClr val="1F2A44"/>
              </a:solidFill>
              <a:latin typeface="FEF3C7"/>
            </a:endParaRPr>
          </a:p>
        </p:txBody>
      </p:sp>
      <p:sp>
        <p:nvSpPr>
          <p:cNvPr id="25" name="자유형: 도형 24">
            <a:extLst>
              <a:ext uri="{FF2B5EF4-FFF2-40B4-BE49-F238E27FC236}">
                <a16:creationId xmlns:a16="http://schemas.microsoft.com/office/drawing/2014/main" id="{F53582CC-0675-0685-6282-4ABBD470E369}"/>
              </a:ext>
            </a:extLst>
          </p:cNvPr>
          <p:cNvSpPr/>
          <p:nvPr/>
        </p:nvSpPr>
        <p:spPr>
          <a:xfrm>
            <a:off x="1714500" y="3581400"/>
            <a:ext cx="8286751" cy="2133601"/>
          </a:xfrm>
          <a:custGeom>
            <a:avLst/>
            <a:gdLst/>
            <a:ahLst/>
            <a:cxnLst/>
            <a:rect l="0" t="0" r="0" b="0"/>
            <a:pathLst>
              <a:path w="8286751" h="2133601">
                <a:moveTo>
                  <a:pt x="8286750" y="0"/>
                </a:moveTo>
                <a:cubicBezTo>
                  <a:pt x="8096250" y="2133600"/>
                  <a:pt x="95250" y="2133600"/>
                  <a:pt x="0" y="0"/>
                </a:cubicBezTo>
              </a:path>
            </a:pathLst>
          </a:custGeom>
          <a:ln w="34925">
            <a:solidFill>
              <a:srgbClr val="DC262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55C75F8-7F4B-BAC1-4B72-0CA3F3D30BBF}"/>
              </a:ext>
            </a:extLst>
          </p:cNvPr>
          <p:cNvSpPr txBox="1"/>
          <p:nvPr/>
        </p:nvSpPr>
        <p:spPr>
          <a:xfrm>
            <a:off x="5095875" y="5219700"/>
            <a:ext cx="1524000" cy="2095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pPr algn="ctr"/>
            <a:r>
              <a:rPr lang="en-US" altLang="ko-KR" sz="1400" b="1">
                <a:solidFill>
                  <a:srgbClr val="DC2626"/>
                </a:solidFill>
                <a:latin typeface="FEF3C7"/>
              </a:rPr>
              <a:t>1 / 1  (</a:t>
            </a:r>
            <a:r>
              <a:rPr lang="ko-KR" altLang="en-US" sz="1400" b="1">
                <a:solidFill>
                  <a:srgbClr val="DC2626"/>
                </a:solidFill>
                <a:latin typeface="FEF3C7"/>
              </a:rPr>
              <a:t>검출</a:t>
            </a:r>
            <a:r>
              <a:rPr lang="en-US" altLang="ko-KR" sz="1400" b="1">
                <a:solidFill>
                  <a:srgbClr val="DC2626"/>
                </a:solidFill>
                <a:latin typeface="FEF3C7"/>
              </a:rPr>
              <a:t>)</a:t>
            </a:r>
            <a:endParaRPr lang="ko-KR" altLang="en-US" sz="1400" b="1">
              <a:solidFill>
                <a:srgbClr val="DC2626"/>
              </a:solidFill>
              <a:latin typeface="FEF3C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47EBBA0-A076-864D-04C5-D95F87990D5C}"/>
              </a:ext>
            </a:extLst>
          </p:cNvPr>
          <p:cNvSpPr txBox="1"/>
          <p:nvPr/>
        </p:nvSpPr>
        <p:spPr>
          <a:xfrm>
            <a:off x="10668000" y="6591300"/>
            <a:ext cx="1143000" cy="19050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pPr algn="r"/>
            <a:r>
              <a:rPr lang="en-US" altLang="ko-KR" sz="1100">
                <a:solidFill>
                  <a:srgbClr val="94A3B8"/>
                </a:solidFill>
                <a:latin typeface="FEF3C7"/>
              </a:rPr>
              <a:t>15 / 39</a:t>
            </a:r>
            <a:endParaRPr lang="ko-KR" altLang="en-US" sz="1100">
              <a:solidFill>
                <a:srgbClr val="94A3B8"/>
              </a:solidFill>
              <a:latin typeface="FEF3C7"/>
            </a:endParaRPr>
          </a:p>
        </p:txBody>
      </p:sp>
    </p:spTree>
    <p:extLst>
      <p:ext uri="{BB962C8B-B14F-4D97-AF65-F5344CB8AC3E}">
        <p14:creationId xmlns:p14="http://schemas.microsoft.com/office/powerpoint/2010/main" val="30609527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6DAF63B-8DEF-481A-CD99-65F49A5236B2}"/>
              </a:ext>
            </a:extLst>
          </p:cNvPr>
          <p:cNvSpPr txBox="1"/>
          <p:nvPr/>
        </p:nvSpPr>
        <p:spPr>
          <a:xfrm>
            <a:off x="381000" y="133350"/>
            <a:ext cx="9525000" cy="2095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altLang="ko-KR" sz="1300" b="1">
                <a:solidFill>
                  <a:srgbClr val="2563EB"/>
                </a:solidFill>
                <a:latin typeface="FEF3C7"/>
              </a:rPr>
              <a:t>03  ·  Homework-1 </a:t>
            </a:r>
            <a:r>
              <a:rPr lang="ko-KR" altLang="en-US" sz="1300" b="1">
                <a:solidFill>
                  <a:srgbClr val="2563EB"/>
                </a:solidFill>
                <a:latin typeface="FEF3C7"/>
              </a:rPr>
              <a:t>설계  </a:t>
            </a:r>
            <a:r>
              <a:rPr lang="en-US" altLang="ko-KR" sz="1300" b="1">
                <a:solidFill>
                  <a:srgbClr val="2563EB"/>
                </a:solidFill>
                <a:latin typeface="FEF3C7"/>
              </a:rPr>
              <a:t>·  Moore State Diagram</a:t>
            </a:r>
            <a:endParaRPr lang="ko-KR" altLang="en-US" sz="1300" b="1">
              <a:solidFill>
                <a:srgbClr val="2563EB"/>
              </a:solidFill>
              <a:latin typeface="FEF3C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18D236-E366-A406-6945-E8F8E8586426}"/>
              </a:ext>
            </a:extLst>
          </p:cNvPr>
          <p:cNvSpPr txBox="1"/>
          <p:nvPr/>
        </p:nvSpPr>
        <p:spPr>
          <a:xfrm>
            <a:off x="381000" y="342900"/>
            <a:ext cx="10096500" cy="4381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altLang="ko-KR" sz="2600" b="1">
                <a:solidFill>
                  <a:srgbClr val="0F172A"/>
                </a:solidFill>
                <a:latin typeface="FEF3C7"/>
              </a:rPr>
              <a:t>Moore: S4 Holds the Detection, Output Depends on State Only</a:t>
            </a:r>
            <a:endParaRPr lang="ko-KR" altLang="en-US" sz="2600" b="1">
              <a:solidFill>
                <a:srgbClr val="0F172A"/>
              </a:solidFill>
              <a:latin typeface="FEF3C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A4F3CB0-BCFF-C432-8D32-212D7A37D8C6}"/>
              </a:ext>
            </a:extLst>
          </p:cNvPr>
          <p:cNvSpPr/>
          <p:nvPr/>
        </p:nvSpPr>
        <p:spPr>
          <a:xfrm>
            <a:off x="381000" y="819150"/>
            <a:ext cx="666750" cy="381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379B3F-E175-AE69-15A7-2969EF493CFD}"/>
              </a:ext>
            </a:extLst>
          </p:cNvPr>
          <p:cNvSpPr txBox="1"/>
          <p:nvPr/>
        </p:nvSpPr>
        <p:spPr>
          <a:xfrm>
            <a:off x="10572750" y="133350"/>
            <a:ext cx="1238250" cy="60960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pPr algn="r"/>
            <a:r>
              <a:rPr lang="en-US" altLang="ko-KR" sz="4000" b="1">
                <a:solidFill>
                  <a:srgbClr val="BFDBFE"/>
                </a:solidFill>
                <a:latin typeface="FEF3C7"/>
              </a:rPr>
              <a:t>03</a:t>
            </a:r>
            <a:endParaRPr lang="ko-KR" altLang="en-US" sz="4000" b="1">
              <a:solidFill>
                <a:srgbClr val="BFDBFE"/>
              </a:solidFill>
              <a:latin typeface="FEF3C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091775-D74E-715A-415F-F3FE27905F4D}"/>
              </a:ext>
            </a:extLst>
          </p:cNvPr>
          <p:cNvSpPr txBox="1"/>
          <p:nvPr/>
        </p:nvSpPr>
        <p:spPr>
          <a:xfrm>
            <a:off x="8191500" y="952500"/>
            <a:ext cx="3619500" cy="2095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pPr algn="r"/>
            <a:r>
              <a:rPr lang="en-US" altLang="ko-KR" sz="1400">
                <a:solidFill>
                  <a:srgbClr val="64748B"/>
                </a:solidFill>
                <a:latin typeface="FEF3C7"/>
              </a:rPr>
              <a:t>edge label = din_bit</a:t>
            </a:r>
            <a:endParaRPr lang="ko-KR" altLang="en-US" sz="1400">
              <a:solidFill>
                <a:srgbClr val="64748B"/>
              </a:solidFill>
              <a:latin typeface="FEF3C7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18FEA80D-B41F-CFA6-B583-627EF84D2F7E}"/>
              </a:ext>
            </a:extLst>
          </p:cNvPr>
          <p:cNvSpPr/>
          <p:nvPr/>
        </p:nvSpPr>
        <p:spPr>
          <a:xfrm>
            <a:off x="914400" y="2628900"/>
            <a:ext cx="1028700" cy="1028700"/>
          </a:xfrm>
          <a:prstGeom prst="ellipse">
            <a:avLst/>
          </a:prstGeom>
          <a:solidFill>
            <a:srgbClr val="EFF6FF"/>
          </a:solidFill>
          <a:ln w="25400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25400" rIns="0" bIns="25400" rtlCol="0" anchor="ctr"/>
          <a:lstStyle/>
          <a:p>
            <a:pPr algn="ctr"/>
            <a:r>
              <a:rPr lang="en-US" altLang="ko-KR" b="1">
                <a:solidFill>
                  <a:srgbClr val="0F172A"/>
                </a:solidFill>
                <a:latin typeface="FEF3C7"/>
              </a:rPr>
              <a:t>S0</a:t>
            </a:r>
          </a:p>
          <a:p>
            <a:pPr algn="ctr"/>
            <a:r>
              <a:rPr lang="en-US" altLang="ko-KR" sz="1100">
                <a:solidFill>
                  <a:srgbClr val="475569"/>
                </a:solidFill>
                <a:latin typeface="FEF3C7"/>
              </a:rPr>
              <a:t>out 0</a:t>
            </a:r>
            <a:endParaRPr lang="ko-KR" altLang="en-US" sz="1100">
              <a:solidFill>
                <a:srgbClr val="475569"/>
              </a:solidFill>
              <a:latin typeface="FEF3C7"/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E1438C89-C873-847D-2241-F9B67711A03F}"/>
              </a:ext>
            </a:extLst>
          </p:cNvPr>
          <p:cNvSpPr/>
          <p:nvPr/>
        </p:nvSpPr>
        <p:spPr>
          <a:xfrm>
            <a:off x="3200400" y="2628900"/>
            <a:ext cx="1028700" cy="1028700"/>
          </a:xfrm>
          <a:prstGeom prst="ellipse">
            <a:avLst/>
          </a:prstGeom>
          <a:solidFill>
            <a:srgbClr val="EFF6FF"/>
          </a:solidFill>
          <a:ln w="25400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25400" rIns="0" bIns="25400" rtlCol="0" anchor="ctr"/>
          <a:lstStyle/>
          <a:p>
            <a:pPr algn="ctr"/>
            <a:r>
              <a:rPr lang="en-US" altLang="ko-KR" b="1">
                <a:solidFill>
                  <a:srgbClr val="0F172A"/>
                </a:solidFill>
                <a:latin typeface="FEF3C7"/>
              </a:rPr>
              <a:t>S1</a:t>
            </a:r>
          </a:p>
          <a:p>
            <a:pPr algn="ctr"/>
            <a:r>
              <a:rPr lang="en-US" altLang="ko-KR" sz="1100">
                <a:solidFill>
                  <a:srgbClr val="475569"/>
                </a:solidFill>
                <a:latin typeface="FEF3C7"/>
              </a:rPr>
              <a:t>out 0</a:t>
            </a:r>
            <a:endParaRPr lang="ko-KR" altLang="en-US" sz="1100">
              <a:solidFill>
                <a:srgbClr val="475569"/>
              </a:solidFill>
              <a:latin typeface="FEF3C7"/>
            </a:endParaRP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FE075AA5-67A6-FCD1-DD44-AA1490990151}"/>
              </a:ext>
            </a:extLst>
          </p:cNvPr>
          <p:cNvSpPr/>
          <p:nvPr/>
        </p:nvSpPr>
        <p:spPr>
          <a:xfrm>
            <a:off x="5486400" y="2628900"/>
            <a:ext cx="1028700" cy="1028700"/>
          </a:xfrm>
          <a:prstGeom prst="ellipse">
            <a:avLst/>
          </a:prstGeom>
          <a:solidFill>
            <a:srgbClr val="EFF6FF"/>
          </a:solidFill>
          <a:ln w="25400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25400" rIns="0" bIns="25400" rtlCol="0" anchor="ctr"/>
          <a:lstStyle/>
          <a:p>
            <a:pPr algn="ctr"/>
            <a:r>
              <a:rPr lang="en-US" altLang="ko-KR" b="1">
                <a:solidFill>
                  <a:srgbClr val="0F172A"/>
                </a:solidFill>
                <a:latin typeface="FEF3C7"/>
              </a:rPr>
              <a:t>S2</a:t>
            </a:r>
          </a:p>
          <a:p>
            <a:pPr algn="ctr"/>
            <a:r>
              <a:rPr lang="en-US" altLang="ko-KR" sz="1100">
                <a:solidFill>
                  <a:srgbClr val="475569"/>
                </a:solidFill>
                <a:latin typeface="FEF3C7"/>
              </a:rPr>
              <a:t>out 0</a:t>
            </a:r>
            <a:endParaRPr lang="ko-KR" altLang="en-US" sz="1100">
              <a:solidFill>
                <a:srgbClr val="475569"/>
              </a:solidFill>
              <a:latin typeface="FEF3C7"/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2A665772-E1D5-93D4-DFA4-B12C7DF9803A}"/>
              </a:ext>
            </a:extLst>
          </p:cNvPr>
          <p:cNvSpPr/>
          <p:nvPr/>
        </p:nvSpPr>
        <p:spPr>
          <a:xfrm>
            <a:off x="7772400" y="2628900"/>
            <a:ext cx="1028700" cy="1028700"/>
          </a:xfrm>
          <a:prstGeom prst="ellipse">
            <a:avLst/>
          </a:prstGeom>
          <a:solidFill>
            <a:srgbClr val="EFF6FF"/>
          </a:solidFill>
          <a:ln w="25400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25400" rIns="0" bIns="25400" rtlCol="0" anchor="ctr"/>
          <a:lstStyle/>
          <a:p>
            <a:pPr algn="ctr"/>
            <a:r>
              <a:rPr lang="en-US" altLang="ko-KR" b="1">
                <a:solidFill>
                  <a:srgbClr val="0F172A"/>
                </a:solidFill>
                <a:latin typeface="FEF3C7"/>
              </a:rPr>
              <a:t>S3</a:t>
            </a:r>
          </a:p>
          <a:p>
            <a:pPr algn="ctr"/>
            <a:r>
              <a:rPr lang="en-US" altLang="ko-KR" sz="1100">
                <a:solidFill>
                  <a:srgbClr val="475569"/>
                </a:solidFill>
                <a:latin typeface="FEF3C7"/>
              </a:rPr>
              <a:t>out 0</a:t>
            </a:r>
            <a:endParaRPr lang="ko-KR" altLang="en-US" sz="1100">
              <a:solidFill>
                <a:srgbClr val="475569"/>
              </a:solidFill>
              <a:latin typeface="FEF3C7"/>
            </a:endParaRP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A54A29AC-97B8-8A4D-5050-A1072AA8FF91}"/>
              </a:ext>
            </a:extLst>
          </p:cNvPr>
          <p:cNvSpPr/>
          <p:nvPr/>
        </p:nvSpPr>
        <p:spPr>
          <a:xfrm>
            <a:off x="10058400" y="2628900"/>
            <a:ext cx="1028700" cy="1028700"/>
          </a:xfrm>
          <a:prstGeom prst="ellipse">
            <a:avLst/>
          </a:prstGeom>
          <a:solidFill>
            <a:srgbClr val="FEF3C7"/>
          </a:solidFill>
          <a:ln w="25400">
            <a:solidFill>
              <a:srgbClr val="D977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25400" rIns="0" bIns="25400" rtlCol="0" anchor="ctr"/>
          <a:lstStyle/>
          <a:p>
            <a:pPr algn="ctr"/>
            <a:r>
              <a:rPr lang="en-US" altLang="ko-KR" b="1">
                <a:solidFill>
                  <a:srgbClr val="0F172A"/>
                </a:solidFill>
                <a:latin typeface="FEF3C7"/>
              </a:rPr>
              <a:t>S4</a:t>
            </a:r>
          </a:p>
          <a:p>
            <a:pPr algn="ctr"/>
            <a:r>
              <a:rPr lang="en-US" altLang="ko-KR" sz="1100">
                <a:solidFill>
                  <a:srgbClr val="475569"/>
                </a:solidFill>
                <a:latin typeface="FEF3C7"/>
              </a:rPr>
              <a:t>out 1</a:t>
            </a:r>
            <a:endParaRPr lang="ko-KR" altLang="en-US" sz="1100">
              <a:solidFill>
                <a:srgbClr val="475569"/>
              </a:solidFill>
              <a:latin typeface="FEF3C7"/>
            </a:endParaRP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483F935A-0C87-B860-1ABF-ECF333D9D919}"/>
              </a:ext>
            </a:extLst>
          </p:cNvPr>
          <p:cNvCxnSpPr/>
          <p:nvPr/>
        </p:nvCxnSpPr>
        <p:spPr>
          <a:xfrm>
            <a:off x="1943100" y="3067050"/>
            <a:ext cx="1257300" cy="0"/>
          </a:xfrm>
          <a:prstGeom prst="line">
            <a:avLst/>
          </a:prstGeom>
          <a:ln w="25400">
            <a:solidFill>
              <a:srgbClr val="475569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718BF76A-97FA-C597-9E32-44BB63DC3874}"/>
              </a:ext>
            </a:extLst>
          </p:cNvPr>
          <p:cNvSpPr txBox="1"/>
          <p:nvPr/>
        </p:nvSpPr>
        <p:spPr>
          <a:xfrm>
            <a:off x="2143125" y="2781300"/>
            <a:ext cx="857250" cy="2095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pPr algn="ctr"/>
            <a:r>
              <a:rPr lang="en-US" altLang="ko-KR" sz="1400" b="1">
                <a:solidFill>
                  <a:srgbClr val="1F2A44"/>
                </a:solidFill>
                <a:latin typeface="FEF3C7"/>
              </a:rPr>
              <a:t>0</a:t>
            </a:r>
            <a:endParaRPr lang="ko-KR" altLang="en-US" sz="1400" b="1">
              <a:solidFill>
                <a:srgbClr val="1F2A44"/>
              </a:solidFill>
              <a:latin typeface="FEF3C7"/>
            </a:endParaRPr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7326D302-AA6C-5A68-18D0-95DF89434182}"/>
              </a:ext>
            </a:extLst>
          </p:cNvPr>
          <p:cNvCxnSpPr/>
          <p:nvPr/>
        </p:nvCxnSpPr>
        <p:spPr>
          <a:xfrm>
            <a:off x="4229100" y="3067050"/>
            <a:ext cx="1257300" cy="0"/>
          </a:xfrm>
          <a:prstGeom prst="line">
            <a:avLst/>
          </a:prstGeom>
          <a:ln w="25400">
            <a:solidFill>
              <a:srgbClr val="475569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00EB2C1B-EF7B-62F7-739A-B46BF060FD98}"/>
              </a:ext>
            </a:extLst>
          </p:cNvPr>
          <p:cNvSpPr txBox="1"/>
          <p:nvPr/>
        </p:nvSpPr>
        <p:spPr>
          <a:xfrm>
            <a:off x="4429125" y="2781300"/>
            <a:ext cx="857250" cy="2095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pPr algn="ctr"/>
            <a:r>
              <a:rPr lang="en-US" altLang="ko-KR" sz="1400" b="1">
                <a:solidFill>
                  <a:srgbClr val="1F2A44"/>
                </a:solidFill>
                <a:latin typeface="FEF3C7"/>
              </a:rPr>
              <a:t>1</a:t>
            </a:r>
            <a:endParaRPr lang="ko-KR" altLang="en-US" sz="1400" b="1">
              <a:solidFill>
                <a:srgbClr val="1F2A44"/>
              </a:solidFill>
              <a:latin typeface="FEF3C7"/>
            </a:endParaRP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06938217-9FD4-A158-FE46-2F35BE5AD436}"/>
              </a:ext>
            </a:extLst>
          </p:cNvPr>
          <p:cNvCxnSpPr/>
          <p:nvPr/>
        </p:nvCxnSpPr>
        <p:spPr>
          <a:xfrm>
            <a:off x="6515100" y="3067050"/>
            <a:ext cx="1257300" cy="0"/>
          </a:xfrm>
          <a:prstGeom prst="line">
            <a:avLst/>
          </a:prstGeom>
          <a:ln w="25400">
            <a:solidFill>
              <a:srgbClr val="475569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05394140-E51D-3589-B517-596643D4AD94}"/>
              </a:ext>
            </a:extLst>
          </p:cNvPr>
          <p:cNvSpPr txBox="1"/>
          <p:nvPr/>
        </p:nvSpPr>
        <p:spPr>
          <a:xfrm>
            <a:off x="6715125" y="2781300"/>
            <a:ext cx="857250" cy="2095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pPr algn="ctr"/>
            <a:r>
              <a:rPr lang="en-US" altLang="ko-KR" sz="1400" b="1">
                <a:solidFill>
                  <a:srgbClr val="1F2A44"/>
                </a:solidFill>
                <a:latin typeface="FEF3C7"/>
              </a:rPr>
              <a:t>0</a:t>
            </a:r>
            <a:endParaRPr lang="ko-KR" altLang="en-US" sz="1400" b="1">
              <a:solidFill>
                <a:srgbClr val="1F2A44"/>
              </a:solidFill>
              <a:latin typeface="FEF3C7"/>
            </a:endParaRPr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6DF527BD-6A72-70E3-7B5F-24A4686CD562}"/>
              </a:ext>
            </a:extLst>
          </p:cNvPr>
          <p:cNvCxnSpPr/>
          <p:nvPr/>
        </p:nvCxnSpPr>
        <p:spPr>
          <a:xfrm>
            <a:off x="8801100" y="3067050"/>
            <a:ext cx="1257300" cy="0"/>
          </a:xfrm>
          <a:prstGeom prst="line">
            <a:avLst/>
          </a:prstGeom>
          <a:ln w="34925">
            <a:solidFill>
              <a:srgbClr val="D97706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A5E8442F-7C43-8FA7-8953-B19BD8DFFE40}"/>
              </a:ext>
            </a:extLst>
          </p:cNvPr>
          <p:cNvSpPr txBox="1"/>
          <p:nvPr/>
        </p:nvSpPr>
        <p:spPr>
          <a:xfrm>
            <a:off x="9001125" y="2781300"/>
            <a:ext cx="857250" cy="2095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pPr algn="ctr"/>
            <a:r>
              <a:rPr lang="en-US" altLang="ko-KR" sz="1400" b="1">
                <a:solidFill>
                  <a:srgbClr val="D97706"/>
                </a:solidFill>
                <a:latin typeface="FEF3C7"/>
              </a:rPr>
              <a:t>1</a:t>
            </a:r>
            <a:endParaRPr lang="ko-KR" altLang="en-US" sz="1400" b="1">
              <a:solidFill>
                <a:srgbClr val="D97706"/>
              </a:solidFill>
              <a:latin typeface="FEF3C7"/>
            </a:endParaRPr>
          </a:p>
        </p:txBody>
      </p:sp>
      <p:sp>
        <p:nvSpPr>
          <p:cNvPr id="20" name="자유형: 도형 19">
            <a:extLst>
              <a:ext uri="{FF2B5EF4-FFF2-40B4-BE49-F238E27FC236}">
                <a16:creationId xmlns:a16="http://schemas.microsoft.com/office/drawing/2014/main" id="{8BCCF162-9DCB-F09F-D311-BF07AF36F1F2}"/>
              </a:ext>
            </a:extLst>
          </p:cNvPr>
          <p:cNvSpPr/>
          <p:nvPr/>
        </p:nvSpPr>
        <p:spPr>
          <a:xfrm>
            <a:off x="904875" y="1762125"/>
            <a:ext cx="1047751" cy="895351"/>
          </a:xfrm>
          <a:custGeom>
            <a:avLst/>
            <a:gdLst/>
            <a:ahLst/>
            <a:cxnLst/>
            <a:rect l="0" t="0" r="0" b="0"/>
            <a:pathLst>
              <a:path w="1047751" h="895351">
                <a:moveTo>
                  <a:pt x="361950" y="895350"/>
                </a:moveTo>
                <a:cubicBezTo>
                  <a:pt x="0" y="0"/>
                  <a:pt x="1047750" y="0"/>
                  <a:pt x="685800" y="895350"/>
                </a:cubicBezTo>
              </a:path>
            </a:pathLst>
          </a:custGeom>
          <a:ln w="22225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A7A8C85-CA3E-1711-D12B-429B0360B5F8}"/>
              </a:ext>
            </a:extLst>
          </p:cNvPr>
          <p:cNvSpPr txBox="1"/>
          <p:nvPr/>
        </p:nvSpPr>
        <p:spPr>
          <a:xfrm>
            <a:off x="1000125" y="1638300"/>
            <a:ext cx="857250" cy="2095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pPr algn="ctr"/>
            <a:r>
              <a:rPr lang="en-US" altLang="ko-KR" sz="1400" b="1">
                <a:solidFill>
                  <a:srgbClr val="1F2A44"/>
                </a:solidFill>
                <a:latin typeface="FEF3C7"/>
              </a:rPr>
              <a:t>1</a:t>
            </a:r>
            <a:endParaRPr lang="ko-KR" altLang="en-US" sz="1400" b="1">
              <a:solidFill>
                <a:srgbClr val="1F2A44"/>
              </a:solidFill>
              <a:latin typeface="FEF3C7"/>
            </a:endParaRPr>
          </a:p>
        </p:txBody>
      </p:sp>
      <p:sp>
        <p:nvSpPr>
          <p:cNvPr id="22" name="자유형: 도형 21">
            <a:extLst>
              <a:ext uri="{FF2B5EF4-FFF2-40B4-BE49-F238E27FC236}">
                <a16:creationId xmlns:a16="http://schemas.microsoft.com/office/drawing/2014/main" id="{53592716-83C5-7CC6-A4B3-01A82F4FBA61}"/>
              </a:ext>
            </a:extLst>
          </p:cNvPr>
          <p:cNvSpPr/>
          <p:nvPr/>
        </p:nvSpPr>
        <p:spPr>
          <a:xfrm>
            <a:off x="4000500" y="1809750"/>
            <a:ext cx="4124326" cy="914401"/>
          </a:xfrm>
          <a:custGeom>
            <a:avLst/>
            <a:gdLst/>
            <a:ahLst/>
            <a:cxnLst/>
            <a:rect l="0" t="0" r="0" b="0"/>
            <a:pathLst>
              <a:path w="4124326" h="914401">
                <a:moveTo>
                  <a:pt x="4124325" y="847725"/>
                </a:moveTo>
                <a:cubicBezTo>
                  <a:pt x="3905250" y="0"/>
                  <a:pt x="95250" y="0"/>
                  <a:pt x="0" y="914400"/>
                </a:cubicBezTo>
              </a:path>
            </a:pathLst>
          </a:custGeom>
          <a:ln w="22225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B2B6470-60A6-96BB-4F0A-ED3C377361ED}"/>
              </a:ext>
            </a:extLst>
          </p:cNvPr>
          <p:cNvSpPr txBox="1"/>
          <p:nvPr/>
        </p:nvSpPr>
        <p:spPr>
          <a:xfrm>
            <a:off x="5572125" y="1809750"/>
            <a:ext cx="857250" cy="2095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pPr algn="ctr"/>
            <a:r>
              <a:rPr lang="en-US" altLang="ko-KR" sz="1400" b="1">
                <a:solidFill>
                  <a:srgbClr val="1F2A44"/>
                </a:solidFill>
                <a:latin typeface="FEF3C7"/>
              </a:rPr>
              <a:t>0</a:t>
            </a:r>
            <a:endParaRPr lang="ko-KR" altLang="en-US" sz="1400" b="1">
              <a:solidFill>
                <a:srgbClr val="1F2A44"/>
              </a:solidFill>
              <a:latin typeface="FEF3C7"/>
            </a:endParaRPr>
          </a:p>
        </p:txBody>
      </p:sp>
      <p:sp>
        <p:nvSpPr>
          <p:cNvPr id="24" name="자유형: 도형 23">
            <a:extLst>
              <a:ext uri="{FF2B5EF4-FFF2-40B4-BE49-F238E27FC236}">
                <a16:creationId xmlns:a16="http://schemas.microsoft.com/office/drawing/2014/main" id="{121939B1-489B-4FD1-DC96-D757B14381EB}"/>
              </a:ext>
            </a:extLst>
          </p:cNvPr>
          <p:cNvSpPr/>
          <p:nvPr/>
        </p:nvSpPr>
        <p:spPr>
          <a:xfrm>
            <a:off x="3714750" y="1028700"/>
            <a:ext cx="6858001" cy="1600201"/>
          </a:xfrm>
          <a:custGeom>
            <a:avLst/>
            <a:gdLst/>
            <a:ahLst/>
            <a:cxnLst/>
            <a:rect l="0" t="0" r="0" b="0"/>
            <a:pathLst>
              <a:path w="6858001" h="1600201">
                <a:moveTo>
                  <a:pt x="6858000" y="1600200"/>
                </a:moveTo>
                <a:cubicBezTo>
                  <a:pt x="6762750" y="0"/>
                  <a:pt x="0" y="0"/>
                  <a:pt x="0" y="1600200"/>
                </a:cubicBezTo>
              </a:path>
            </a:pathLst>
          </a:custGeom>
          <a:ln w="22225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67064A5-9C47-E749-FD2A-90707E6BBF79}"/>
              </a:ext>
            </a:extLst>
          </p:cNvPr>
          <p:cNvSpPr txBox="1"/>
          <p:nvPr/>
        </p:nvSpPr>
        <p:spPr>
          <a:xfrm>
            <a:off x="6715125" y="1181100"/>
            <a:ext cx="857250" cy="2095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pPr algn="ctr"/>
            <a:r>
              <a:rPr lang="en-US" altLang="ko-KR" sz="1400" b="1">
                <a:solidFill>
                  <a:srgbClr val="1F2A44"/>
                </a:solidFill>
                <a:latin typeface="FEF3C7"/>
              </a:rPr>
              <a:t>0</a:t>
            </a:r>
            <a:endParaRPr lang="ko-KR" altLang="en-US" sz="1400" b="1">
              <a:solidFill>
                <a:srgbClr val="1F2A44"/>
              </a:solidFill>
              <a:latin typeface="FEF3C7"/>
            </a:endParaRPr>
          </a:p>
        </p:txBody>
      </p:sp>
      <p:sp>
        <p:nvSpPr>
          <p:cNvPr id="26" name="자유형: 도형 25">
            <a:extLst>
              <a:ext uri="{FF2B5EF4-FFF2-40B4-BE49-F238E27FC236}">
                <a16:creationId xmlns:a16="http://schemas.microsoft.com/office/drawing/2014/main" id="{6B2C3A21-63AA-9ECB-0873-4736D7ADB048}"/>
              </a:ext>
            </a:extLst>
          </p:cNvPr>
          <p:cNvSpPr/>
          <p:nvPr/>
        </p:nvSpPr>
        <p:spPr>
          <a:xfrm>
            <a:off x="3238500" y="3629025"/>
            <a:ext cx="952501" cy="704851"/>
          </a:xfrm>
          <a:custGeom>
            <a:avLst/>
            <a:gdLst/>
            <a:ahLst/>
            <a:cxnLst/>
            <a:rect l="0" t="0" r="0" b="0"/>
            <a:pathLst>
              <a:path w="952501" h="704851">
                <a:moveTo>
                  <a:pt x="314325" y="0"/>
                </a:moveTo>
                <a:cubicBezTo>
                  <a:pt x="0" y="704850"/>
                  <a:pt x="952500" y="704850"/>
                  <a:pt x="638175" y="0"/>
                </a:cubicBezTo>
              </a:path>
            </a:pathLst>
          </a:custGeom>
          <a:ln w="22225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9FAB472-6B03-28A2-2397-37C2C137B004}"/>
              </a:ext>
            </a:extLst>
          </p:cNvPr>
          <p:cNvSpPr txBox="1"/>
          <p:nvPr/>
        </p:nvSpPr>
        <p:spPr>
          <a:xfrm>
            <a:off x="3876675" y="3905250"/>
            <a:ext cx="857250" cy="2095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pPr algn="ctr"/>
            <a:r>
              <a:rPr lang="en-US" altLang="ko-KR" sz="1400" b="1">
                <a:solidFill>
                  <a:srgbClr val="1F2A44"/>
                </a:solidFill>
                <a:latin typeface="FEF3C7"/>
              </a:rPr>
              <a:t>0</a:t>
            </a:r>
            <a:endParaRPr lang="ko-KR" altLang="en-US" sz="1400" b="1">
              <a:solidFill>
                <a:srgbClr val="1F2A44"/>
              </a:solidFill>
              <a:latin typeface="FEF3C7"/>
            </a:endParaRPr>
          </a:p>
        </p:txBody>
      </p:sp>
      <p:sp>
        <p:nvSpPr>
          <p:cNvPr id="28" name="자유형: 도형 27">
            <a:extLst>
              <a:ext uri="{FF2B5EF4-FFF2-40B4-BE49-F238E27FC236}">
                <a16:creationId xmlns:a16="http://schemas.microsoft.com/office/drawing/2014/main" id="{A45FB17F-E917-008F-50BF-781BE1CE0106}"/>
              </a:ext>
            </a:extLst>
          </p:cNvPr>
          <p:cNvSpPr/>
          <p:nvPr/>
        </p:nvSpPr>
        <p:spPr>
          <a:xfrm>
            <a:off x="1571625" y="3629025"/>
            <a:ext cx="4267201" cy="1038226"/>
          </a:xfrm>
          <a:custGeom>
            <a:avLst/>
            <a:gdLst/>
            <a:ahLst/>
            <a:cxnLst/>
            <a:rect l="0" t="0" r="0" b="0"/>
            <a:pathLst>
              <a:path w="4267201" h="1038226">
                <a:moveTo>
                  <a:pt x="4267200" y="0"/>
                </a:moveTo>
                <a:cubicBezTo>
                  <a:pt x="4048125" y="1038225"/>
                  <a:pt x="95250" y="1038225"/>
                  <a:pt x="0" y="0"/>
                </a:cubicBezTo>
              </a:path>
            </a:pathLst>
          </a:custGeom>
          <a:ln w="22225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E5E4DC9-8878-40B2-474F-2107482A3AA2}"/>
              </a:ext>
            </a:extLst>
          </p:cNvPr>
          <p:cNvSpPr txBox="1"/>
          <p:nvPr/>
        </p:nvSpPr>
        <p:spPr>
          <a:xfrm>
            <a:off x="3286125" y="4400550"/>
            <a:ext cx="857250" cy="2095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pPr algn="ctr"/>
            <a:r>
              <a:rPr lang="en-US" altLang="ko-KR" sz="1400" b="1">
                <a:solidFill>
                  <a:srgbClr val="1F2A44"/>
                </a:solidFill>
                <a:latin typeface="FEF3C7"/>
              </a:rPr>
              <a:t>1</a:t>
            </a:r>
            <a:endParaRPr lang="ko-KR" altLang="en-US" sz="1400" b="1">
              <a:solidFill>
                <a:srgbClr val="1F2A44"/>
              </a:solidFill>
              <a:latin typeface="FEF3C7"/>
            </a:endParaRPr>
          </a:p>
        </p:txBody>
      </p:sp>
      <p:sp>
        <p:nvSpPr>
          <p:cNvPr id="30" name="자유형: 도형 29">
            <a:extLst>
              <a:ext uri="{FF2B5EF4-FFF2-40B4-BE49-F238E27FC236}">
                <a16:creationId xmlns:a16="http://schemas.microsoft.com/office/drawing/2014/main" id="{AFBBCBA8-A2B6-E58F-C069-0E1D4D78EF72}"/>
              </a:ext>
            </a:extLst>
          </p:cNvPr>
          <p:cNvSpPr/>
          <p:nvPr/>
        </p:nvSpPr>
        <p:spPr>
          <a:xfrm>
            <a:off x="1333500" y="3657600"/>
            <a:ext cx="9239251" cy="2152651"/>
          </a:xfrm>
          <a:custGeom>
            <a:avLst/>
            <a:gdLst/>
            <a:ahLst/>
            <a:cxnLst/>
            <a:rect l="0" t="0" r="0" b="0"/>
            <a:pathLst>
              <a:path w="9239251" h="2152651">
                <a:moveTo>
                  <a:pt x="9239250" y="0"/>
                </a:moveTo>
                <a:cubicBezTo>
                  <a:pt x="9048750" y="2152650"/>
                  <a:pt x="95250" y="2152650"/>
                  <a:pt x="0" y="0"/>
                </a:cubicBezTo>
              </a:path>
            </a:pathLst>
          </a:custGeom>
          <a:ln w="22225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3384812-9C1B-0974-BACE-A69333514EAE}"/>
              </a:ext>
            </a:extLst>
          </p:cNvPr>
          <p:cNvSpPr txBox="1"/>
          <p:nvPr/>
        </p:nvSpPr>
        <p:spPr>
          <a:xfrm>
            <a:off x="5572125" y="5353050"/>
            <a:ext cx="857250" cy="2095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pPr algn="ctr"/>
            <a:r>
              <a:rPr lang="en-US" altLang="ko-KR" sz="1400" b="1">
                <a:solidFill>
                  <a:srgbClr val="1F2A44"/>
                </a:solidFill>
                <a:latin typeface="FEF3C7"/>
              </a:rPr>
              <a:t>1</a:t>
            </a:r>
            <a:endParaRPr lang="ko-KR" altLang="en-US" sz="1400" b="1">
              <a:solidFill>
                <a:srgbClr val="1F2A44"/>
              </a:solidFill>
              <a:latin typeface="FEF3C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5AB8680-E606-94FE-A192-9764D9910700}"/>
              </a:ext>
            </a:extLst>
          </p:cNvPr>
          <p:cNvSpPr txBox="1"/>
          <p:nvPr/>
        </p:nvSpPr>
        <p:spPr>
          <a:xfrm>
            <a:off x="10668000" y="6591300"/>
            <a:ext cx="1143000" cy="19050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pPr algn="r"/>
            <a:r>
              <a:rPr lang="en-US" altLang="ko-KR" sz="1100">
                <a:solidFill>
                  <a:srgbClr val="94A3B8"/>
                </a:solidFill>
                <a:latin typeface="FEF3C7"/>
              </a:rPr>
              <a:t>16 / 39</a:t>
            </a:r>
            <a:endParaRPr lang="ko-KR" altLang="en-US" sz="1100">
              <a:solidFill>
                <a:srgbClr val="94A3B8"/>
              </a:solidFill>
              <a:latin typeface="FEF3C7"/>
            </a:endParaRPr>
          </a:p>
        </p:txBody>
      </p:sp>
    </p:spTree>
    <p:extLst>
      <p:ext uri="{BB962C8B-B14F-4D97-AF65-F5344CB8AC3E}">
        <p14:creationId xmlns:p14="http://schemas.microsoft.com/office/powerpoint/2010/main" val="19409538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26DBC7D-25A9-9D36-BBBB-D27CC3E08676}"/>
              </a:ext>
            </a:extLst>
          </p:cNvPr>
          <p:cNvSpPr txBox="1"/>
          <p:nvPr/>
        </p:nvSpPr>
        <p:spPr>
          <a:xfrm>
            <a:off x="381000" y="133350"/>
            <a:ext cx="9525000" cy="2095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altLang="ko-KR" sz="1300" b="1">
                <a:solidFill>
                  <a:srgbClr val="2563EB"/>
                </a:solidFill>
                <a:latin typeface="FEF3C7"/>
              </a:rPr>
              <a:t>04  ·  Homework-1 </a:t>
            </a:r>
            <a:r>
              <a:rPr lang="ko-KR" altLang="en-US" sz="1300" b="1">
                <a:solidFill>
                  <a:srgbClr val="2563EB"/>
                </a:solidFill>
                <a:latin typeface="FEF3C7"/>
              </a:rPr>
              <a:t>시뮬레이션  </a:t>
            </a:r>
            <a:r>
              <a:rPr lang="en-US" altLang="ko-KR" sz="1300" b="1">
                <a:solidFill>
                  <a:srgbClr val="2563EB"/>
                </a:solidFill>
                <a:latin typeface="FEF3C7"/>
              </a:rPr>
              <a:t>·  </a:t>
            </a:r>
            <a:r>
              <a:rPr lang="ko-KR" altLang="en-US" sz="1300" b="1">
                <a:solidFill>
                  <a:srgbClr val="2563EB"/>
                </a:solidFill>
                <a:latin typeface="FEF3C7"/>
              </a:rPr>
              <a:t>시뮬레이션 환경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2C80C8-F592-AF79-49ED-6FD489EA2190}"/>
              </a:ext>
            </a:extLst>
          </p:cNvPr>
          <p:cNvSpPr txBox="1"/>
          <p:nvPr/>
        </p:nvSpPr>
        <p:spPr>
          <a:xfrm>
            <a:off x="381000" y="342900"/>
            <a:ext cx="10096500" cy="4381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altLang="ko-KR" sz="2600" b="1">
                <a:solidFill>
                  <a:srgbClr val="0F172A"/>
                </a:solidFill>
                <a:latin typeface="FEF3C7"/>
              </a:rPr>
              <a:t>Both Machines Receive the Same Serial din_bit</a:t>
            </a:r>
            <a:endParaRPr lang="ko-KR" altLang="en-US" sz="2600" b="1">
              <a:solidFill>
                <a:srgbClr val="0F172A"/>
              </a:solidFill>
              <a:latin typeface="FEF3C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8125B36-A93B-E04D-5C02-FB15EB2ADD6F}"/>
              </a:ext>
            </a:extLst>
          </p:cNvPr>
          <p:cNvSpPr/>
          <p:nvPr/>
        </p:nvSpPr>
        <p:spPr>
          <a:xfrm>
            <a:off x="381000" y="819150"/>
            <a:ext cx="666750" cy="381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7355D1-6944-8795-B66D-02F6F2DAC150}"/>
              </a:ext>
            </a:extLst>
          </p:cNvPr>
          <p:cNvSpPr txBox="1"/>
          <p:nvPr/>
        </p:nvSpPr>
        <p:spPr>
          <a:xfrm>
            <a:off x="10572750" y="133350"/>
            <a:ext cx="1238250" cy="60960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pPr algn="r"/>
            <a:r>
              <a:rPr lang="en-US" altLang="ko-KR" sz="4000" b="1">
                <a:solidFill>
                  <a:srgbClr val="BFDBFE"/>
                </a:solidFill>
                <a:latin typeface="FEF3C7"/>
              </a:rPr>
              <a:t>04</a:t>
            </a:r>
            <a:endParaRPr lang="ko-KR" altLang="en-US" sz="4000" b="1">
              <a:solidFill>
                <a:srgbClr val="BFDBFE"/>
              </a:solidFill>
              <a:latin typeface="FEF3C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D642B98-AEDB-6CB5-F8CA-0B52398A22E9}"/>
              </a:ext>
            </a:extLst>
          </p:cNvPr>
          <p:cNvSpPr/>
          <p:nvPr/>
        </p:nvSpPr>
        <p:spPr>
          <a:xfrm>
            <a:off x="571500" y="1428750"/>
            <a:ext cx="3048000" cy="1238250"/>
          </a:xfrm>
          <a:prstGeom prst="rect">
            <a:avLst/>
          </a:prstGeom>
          <a:solidFill>
            <a:srgbClr val="F1F5F9"/>
          </a:solidFill>
          <a:ln w="12700">
            <a:solidFill>
              <a:srgbClr val="4755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altLang="ko-KR" b="1">
                <a:solidFill>
                  <a:srgbClr val="1F2A44"/>
                </a:solidFill>
                <a:latin typeface="FEF3C7"/>
              </a:rPr>
              <a:t>bit4_driver</a:t>
            </a:r>
          </a:p>
          <a:p>
            <a:pPr algn="ctr"/>
            <a:r>
              <a:rPr lang="en-US" altLang="ko-KR" b="1">
                <a:solidFill>
                  <a:srgbClr val="1F2A44"/>
                </a:solidFill>
                <a:latin typeface="FEF3C7"/>
              </a:rPr>
              <a:t>random 5~8</a:t>
            </a:r>
            <a:endParaRPr lang="ko-KR" altLang="en-US" b="1">
              <a:solidFill>
                <a:srgbClr val="1F2A44"/>
              </a:solidFill>
              <a:latin typeface="FEF3C7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780500A7-5B55-A62C-E1AF-DEC60FD2FEAF}"/>
              </a:ext>
            </a:extLst>
          </p:cNvPr>
          <p:cNvCxnSpPr/>
          <p:nvPr/>
        </p:nvCxnSpPr>
        <p:spPr>
          <a:xfrm>
            <a:off x="3619500" y="2047875"/>
            <a:ext cx="1714500" cy="0"/>
          </a:xfrm>
          <a:prstGeom prst="line">
            <a:avLst/>
          </a:prstGeom>
          <a:ln w="31750">
            <a:solidFill>
              <a:srgbClr val="1F2A44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497EE810-88AB-845E-0C19-9CA2F3B8E8A0}"/>
              </a:ext>
            </a:extLst>
          </p:cNvPr>
          <p:cNvSpPr txBox="1"/>
          <p:nvPr/>
        </p:nvSpPr>
        <p:spPr>
          <a:xfrm>
            <a:off x="3714750" y="1771650"/>
            <a:ext cx="1619250" cy="22860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pPr algn="ctr"/>
            <a:r>
              <a:rPr lang="en-US" altLang="ko-KR" sz="1500" b="1">
                <a:solidFill>
                  <a:srgbClr val="1F2A44"/>
                </a:solidFill>
                <a:latin typeface="FEF3C7"/>
              </a:rPr>
              <a:t>din_bit (serial)</a:t>
            </a:r>
            <a:endParaRPr lang="ko-KR" altLang="en-US" sz="1500" b="1">
              <a:solidFill>
                <a:srgbClr val="1F2A44"/>
              </a:solidFill>
              <a:latin typeface="FEF3C7"/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82CCA716-98C5-117B-3E00-D4F31C267AEC}"/>
              </a:ext>
            </a:extLst>
          </p:cNvPr>
          <p:cNvCxnSpPr/>
          <p:nvPr/>
        </p:nvCxnSpPr>
        <p:spPr>
          <a:xfrm>
            <a:off x="5334000" y="1524000"/>
            <a:ext cx="0" cy="1143000"/>
          </a:xfrm>
          <a:prstGeom prst="line">
            <a:avLst/>
          </a:prstGeom>
          <a:ln w="31750">
            <a:solidFill>
              <a:srgbClr val="1F2A44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6D4C4CBE-077D-6905-9B2C-C1A891B9E2F3}"/>
              </a:ext>
            </a:extLst>
          </p:cNvPr>
          <p:cNvCxnSpPr/>
          <p:nvPr/>
        </p:nvCxnSpPr>
        <p:spPr>
          <a:xfrm>
            <a:off x="5334000" y="1524000"/>
            <a:ext cx="762000" cy="0"/>
          </a:xfrm>
          <a:prstGeom prst="line">
            <a:avLst/>
          </a:prstGeom>
          <a:ln w="31750">
            <a:solidFill>
              <a:srgbClr val="1F2A44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2ED9EE53-53C0-FA2F-7857-C45333F23177}"/>
              </a:ext>
            </a:extLst>
          </p:cNvPr>
          <p:cNvCxnSpPr/>
          <p:nvPr/>
        </p:nvCxnSpPr>
        <p:spPr>
          <a:xfrm>
            <a:off x="5334000" y="2667000"/>
            <a:ext cx="762000" cy="0"/>
          </a:xfrm>
          <a:prstGeom prst="line">
            <a:avLst/>
          </a:prstGeom>
          <a:ln w="31750">
            <a:solidFill>
              <a:srgbClr val="1F2A44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D390D9F-8E83-11E4-713B-BF5DE678F8D6}"/>
              </a:ext>
            </a:extLst>
          </p:cNvPr>
          <p:cNvSpPr/>
          <p:nvPr/>
        </p:nvSpPr>
        <p:spPr>
          <a:xfrm>
            <a:off x="6096000" y="1143000"/>
            <a:ext cx="2857500" cy="762000"/>
          </a:xfrm>
          <a:prstGeom prst="rect">
            <a:avLst/>
          </a:prstGeom>
          <a:solidFill>
            <a:srgbClr val="FDF4FF"/>
          </a:solidFill>
          <a:ln w="12700">
            <a:solidFill>
              <a:srgbClr val="C026D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nb-NO" altLang="ko-KR" sz="1700" b="1">
                <a:solidFill>
                  <a:srgbClr val="1F2A44"/>
                </a:solidFill>
                <a:latin typeface="FEF3C7"/>
              </a:rPr>
              <a:t>seq_det_mealy</a:t>
            </a:r>
          </a:p>
          <a:p>
            <a:pPr algn="ctr"/>
            <a:r>
              <a:rPr lang="nb-NO" altLang="ko-KR" sz="1700" b="1">
                <a:solidFill>
                  <a:srgbClr val="1F2A44"/>
                </a:solidFill>
                <a:latin typeface="FEF3C7"/>
              </a:rPr>
              <a:t>DUT_MEALY</a:t>
            </a:r>
            <a:endParaRPr lang="ko-KR" altLang="en-US" sz="1700" b="1">
              <a:solidFill>
                <a:srgbClr val="1F2A44"/>
              </a:solidFill>
              <a:latin typeface="FEF3C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CA905E6-9082-B19A-8EAC-12DBE80EFCFD}"/>
              </a:ext>
            </a:extLst>
          </p:cNvPr>
          <p:cNvSpPr/>
          <p:nvPr/>
        </p:nvSpPr>
        <p:spPr>
          <a:xfrm>
            <a:off x="6096000" y="2286000"/>
            <a:ext cx="2857500" cy="762000"/>
          </a:xfrm>
          <a:prstGeom prst="rect">
            <a:avLst/>
          </a:prstGeom>
          <a:solidFill>
            <a:srgbClr val="FFFBEB"/>
          </a:solidFill>
          <a:ln w="12700">
            <a:solidFill>
              <a:srgbClr val="D977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altLang="ko-KR" sz="1700" b="1">
                <a:solidFill>
                  <a:srgbClr val="1F2A44"/>
                </a:solidFill>
                <a:latin typeface="FEF3C7"/>
              </a:rPr>
              <a:t>seq_det_moore</a:t>
            </a:r>
          </a:p>
          <a:p>
            <a:pPr algn="ctr"/>
            <a:r>
              <a:rPr lang="en-US" altLang="ko-KR" sz="1700" b="1">
                <a:solidFill>
                  <a:srgbClr val="1F2A44"/>
                </a:solidFill>
                <a:latin typeface="FEF3C7"/>
              </a:rPr>
              <a:t>DUT_MOORE</a:t>
            </a:r>
            <a:endParaRPr lang="ko-KR" altLang="en-US" sz="1700" b="1">
              <a:solidFill>
                <a:srgbClr val="1F2A44"/>
              </a:solidFill>
              <a:latin typeface="FEF3C7"/>
            </a:endParaRPr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C374FDD8-515F-1D9D-387E-91AC2C1ECBA1}"/>
              </a:ext>
            </a:extLst>
          </p:cNvPr>
          <p:cNvCxnSpPr/>
          <p:nvPr/>
        </p:nvCxnSpPr>
        <p:spPr>
          <a:xfrm>
            <a:off x="8953500" y="1524000"/>
            <a:ext cx="762000" cy="0"/>
          </a:xfrm>
          <a:prstGeom prst="line">
            <a:avLst/>
          </a:prstGeom>
          <a:ln w="31750">
            <a:solidFill>
              <a:srgbClr val="C026D3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A9C07BCC-3F62-CD84-9C6A-8C05C6003F80}"/>
              </a:ext>
            </a:extLst>
          </p:cNvPr>
          <p:cNvSpPr txBox="1"/>
          <p:nvPr/>
        </p:nvSpPr>
        <p:spPr>
          <a:xfrm>
            <a:off x="9772650" y="1409700"/>
            <a:ext cx="1524000" cy="22860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en-US" altLang="ko-KR" sz="1700" b="1">
                <a:solidFill>
                  <a:srgbClr val="C026D3"/>
                </a:solidFill>
                <a:latin typeface="FEF3C7"/>
              </a:rPr>
              <a:t>mealy_out</a:t>
            </a:r>
            <a:endParaRPr lang="ko-KR" altLang="en-US" sz="1700" b="1">
              <a:solidFill>
                <a:srgbClr val="C026D3"/>
              </a:solidFill>
              <a:latin typeface="FEF3C7"/>
            </a:endParaRP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B83163F6-3890-040E-2B7F-38F773CA1282}"/>
              </a:ext>
            </a:extLst>
          </p:cNvPr>
          <p:cNvCxnSpPr/>
          <p:nvPr/>
        </p:nvCxnSpPr>
        <p:spPr>
          <a:xfrm>
            <a:off x="8953500" y="2667000"/>
            <a:ext cx="762000" cy="0"/>
          </a:xfrm>
          <a:prstGeom prst="line">
            <a:avLst/>
          </a:prstGeom>
          <a:ln w="31750">
            <a:solidFill>
              <a:srgbClr val="D97706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B663E7E7-5B99-30F7-1C95-4B41F37C50E2}"/>
              </a:ext>
            </a:extLst>
          </p:cNvPr>
          <p:cNvSpPr txBox="1"/>
          <p:nvPr/>
        </p:nvSpPr>
        <p:spPr>
          <a:xfrm>
            <a:off x="9772650" y="2552700"/>
            <a:ext cx="1524000" cy="22860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en-US" altLang="ko-KR" sz="1700" b="1">
                <a:solidFill>
                  <a:srgbClr val="D97706"/>
                </a:solidFill>
                <a:latin typeface="FEF3C7"/>
              </a:rPr>
              <a:t>moore_out</a:t>
            </a:r>
            <a:endParaRPr lang="ko-KR" altLang="en-US" sz="1700" b="1">
              <a:solidFill>
                <a:srgbClr val="D97706"/>
              </a:solidFill>
              <a:latin typeface="FEF3C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4CD8B98C-1A6E-76A7-3B50-5DD01C534394}"/>
              </a:ext>
            </a:extLst>
          </p:cNvPr>
          <p:cNvSpPr/>
          <p:nvPr/>
        </p:nvSpPr>
        <p:spPr>
          <a:xfrm>
            <a:off x="571500" y="3619500"/>
            <a:ext cx="5334000" cy="66675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endParaRPr lang="ko-KR" altLang="en-US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C2E488BB-DC7B-6F53-B959-A58D21C08068}"/>
              </a:ext>
            </a:extLst>
          </p:cNvPr>
          <p:cNvSpPr/>
          <p:nvPr/>
        </p:nvSpPr>
        <p:spPr>
          <a:xfrm>
            <a:off x="685800" y="3829050"/>
            <a:ext cx="247650" cy="247650"/>
          </a:xfrm>
          <a:prstGeom prst="ellipse">
            <a:avLst/>
          </a:prstGeom>
          <a:solidFill>
            <a:srgbClr val="EA580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/>
            <a:r>
              <a:rPr lang="en-US" altLang="ko-KR" sz="1200" b="1">
                <a:solidFill>
                  <a:srgbClr val="FFFFFF"/>
                </a:solidFill>
                <a:latin typeface="FEF3C7"/>
              </a:rPr>
              <a:t>1</a:t>
            </a:r>
            <a:endParaRPr lang="ko-KR" altLang="en-US" sz="1200" b="1">
              <a:solidFill>
                <a:srgbClr val="FFFFFF"/>
              </a:solidFill>
              <a:latin typeface="FEF3C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AC6B7C5-DC00-69F9-7FEB-1D7B36EE39E0}"/>
              </a:ext>
            </a:extLst>
          </p:cNvPr>
          <p:cNvSpPr txBox="1"/>
          <p:nvPr/>
        </p:nvSpPr>
        <p:spPr>
          <a:xfrm>
            <a:off x="1028700" y="3619500"/>
            <a:ext cx="4781550" cy="6667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altLang="ko-KR" sz="1700" b="1">
                <a:solidFill>
                  <a:srgbClr val="1F2A44"/>
                </a:solidFill>
                <a:latin typeface="FEF3C7"/>
              </a:rPr>
              <a:t>clk 10 ns · rst 0~15 ns</a:t>
            </a:r>
            <a:endParaRPr lang="ko-KR" altLang="en-US" sz="1700" b="1">
              <a:solidFill>
                <a:srgbClr val="1F2A44"/>
              </a:solidFill>
              <a:latin typeface="FEF3C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C2416A11-0640-96C1-142E-350DA9F46CC3}"/>
              </a:ext>
            </a:extLst>
          </p:cNvPr>
          <p:cNvSpPr/>
          <p:nvPr/>
        </p:nvSpPr>
        <p:spPr>
          <a:xfrm>
            <a:off x="6286500" y="3619500"/>
            <a:ext cx="5334000" cy="66675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endParaRPr lang="ko-KR" altLang="en-US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3095334E-8602-BC58-1F92-0C8650BB5D3B}"/>
              </a:ext>
            </a:extLst>
          </p:cNvPr>
          <p:cNvSpPr/>
          <p:nvPr/>
        </p:nvSpPr>
        <p:spPr>
          <a:xfrm>
            <a:off x="6400800" y="3829050"/>
            <a:ext cx="247650" cy="247650"/>
          </a:xfrm>
          <a:prstGeom prst="ellipse">
            <a:avLst/>
          </a:prstGeom>
          <a:solidFill>
            <a:srgbClr val="EA580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/>
            <a:r>
              <a:rPr lang="en-US" altLang="ko-KR" sz="1200" b="1">
                <a:solidFill>
                  <a:srgbClr val="FFFFFF"/>
                </a:solidFill>
                <a:latin typeface="FEF3C7"/>
              </a:rPr>
              <a:t>2</a:t>
            </a:r>
            <a:endParaRPr lang="ko-KR" altLang="en-US" sz="1200" b="1">
              <a:solidFill>
                <a:srgbClr val="FFFFFF"/>
              </a:solidFill>
              <a:latin typeface="FEF3C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3D38BA2-5D17-3F50-FDB8-D2001EEACFEE}"/>
              </a:ext>
            </a:extLst>
          </p:cNvPr>
          <p:cNvSpPr txBox="1"/>
          <p:nvPr/>
        </p:nvSpPr>
        <p:spPr>
          <a:xfrm>
            <a:off x="6743700" y="3619500"/>
            <a:ext cx="4781550" cy="6667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altLang="ko-KR" sz="1700" b="1">
                <a:solidFill>
                  <a:srgbClr val="1F2A44"/>
                </a:solidFill>
                <a:latin typeface="FEF3C7"/>
              </a:rPr>
              <a:t>bit4: 0101 · 0110 · 0111 · 1000</a:t>
            </a:r>
            <a:endParaRPr lang="ko-KR" altLang="en-US" sz="1700" b="1">
              <a:solidFill>
                <a:srgbClr val="1F2A44"/>
              </a:solidFill>
              <a:latin typeface="FEF3C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8629F495-F1B2-A351-A09D-4387E51D5C60}"/>
              </a:ext>
            </a:extLst>
          </p:cNvPr>
          <p:cNvSpPr/>
          <p:nvPr/>
        </p:nvSpPr>
        <p:spPr>
          <a:xfrm>
            <a:off x="571500" y="4476750"/>
            <a:ext cx="5334000" cy="66675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endParaRPr lang="ko-KR" altLang="en-US"/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2A7FEF23-B75B-F1A7-EE36-16917534D15C}"/>
              </a:ext>
            </a:extLst>
          </p:cNvPr>
          <p:cNvSpPr/>
          <p:nvPr/>
        </p:nvSpPr>
        <p:spPr>
          <a:xfrm>
            <a:off x="685800" y="4686300"/>
            <a:ext cx="247650" cy="247650"/>
          </a:xfrm>
          <a:prstGeom prst="ellipse">
            <a:avLst/>
          </a:prstGeom>
          <a:solidFill>
            <a:srgbClr val="EA580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/>
            <a:r>
              <a:rPr lang="en-US" altLang="ko-KR" sz="1200" b="1">
                <a:solidFill>
                  <a:srgbClr val="FFFFFF"/>
                </a:solidFill>
                <a:latin typeface="FEF3C7"/>
              </a:rPr>
              <a:t>3</a:t>
            </a:r>
            <a:endParaRPr lang="ko-KR" altLang="en-US" sz="1200" b="1">
              <a:solidFill>
                <a:srgbClr val="FFFFFF"/>
              </a:solidFill>
              <a:latin typeface="FEF3C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497C412-1C6F-D216-CC38-34B8503BFE2D}"/>
              </a:ext>
            </a:extLst>
          </p:cNvPr>
          <p:cNvSpPr txBox="1"/>
          <p:nvPr/>
        </p:nvSpPr>
        <p:spPr>
          <a:xfrm>
            <a:off x="1028700" y="4476750"/>
            <a:ext cx="4781550" cy="6667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altLang="ko-KR" sz="1700" b="1">
                <a:solidFill>
                  <a:srgbClr val="1F2A44"/>
                </a:solidFill>
                <a:latin typeface="FEF3C7"/>
              </a:rPr>
              <a:t>bit4</a:t>
            </a:r>
            <a:r>
              <a:rPr lang="ko-KR" altLang="en-US" sz="1700" b="1">
                <a:solidFill>
                  <a:srgbClr val="1F2A44"/>
                </a:solidFill>
                <a:latin typeface="FEF3C7"/>
              </a:rPr>
              <a:t>를 </a:t>
            </a:r>
            <a:r>
              <a:rPr lang="en-US" altLang="ko-KR" sz="1700" b="1">
                <a:solidFill>
                  <a:srgbClr val="1F2A44"/>
                </a:solidFill>
                <a:latin typeface="FEF3C7"/>
              </a:rPr>
              <a:t>LSB</a:t>
            </a:r>
            <a:r>
              <a:rPr lang="ko-KR" altLang="en-US" sz="1700" b="1">
                <a:solidFill>
                  <a:srgbClr val="1F2A44"/>
                </a:solidFill>
                <a:latin typeface="FEF3C7"/>
              </a:rPr>
              <a:t>부터 </a:t>
            </a:r>
            <a:r>
              <a:rPr lang="en-US" altLang="ko-KR" sz="1700" b="1">
                <a:solidFill>
                  <a:srgbClr val="1F2A44"/>
                </a:solidFill>
                <a:latin typeface="FEF3C7"/>
              </a:rPr>
              <a:t>1 bit</a:t>
            </a:r>
            <a:r>
              <a:rPr lang="ko-KR" altLang="en-US" sz="1700" b="1">
                <a:solidFill>
                  <a:srgbClr val="1F2A44"/>
                </a:solidFill>
                <a:latin typeface="FEF3C7"/>
              </a:rPr>
              <a:t>씩 </a:t>
            </a:r>
            <a:r>
              <a:rPr lang="en-US" altLang="ko-KR" sz="1700" b="1">
                <a:solidFill>
                  <a:srgbClr val="1F2A44"/>
                </a:solidFill>
                <a:latin typeface="FEF3C7"/>
              </a:rPr>
              <a:t>serial </a:t>
            </a:r>
            <a:r>
              <a:rPr lang="ko-KR" altLang="en-US" sz="1700" b="1">
                <a:solidFill>
                  <a:srgbClr val="1F2A44"/>
                </a:solidFill>
                <a:latin typeface="FEF3C7"/>
              </a:rPr>
              <a:t>인가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41875705-94A8-C9C7-6AEC-9357719B6983}"/>
              </a:ext>
            </a:extLst>
          </p:cNvPr>
          <p:cNvSpPr/>
          <p:nvPr/>
        </p:nvSpPr>
        <p:spPr>
          <a:xfrm>
            <a:off x="6286500" y="4476750"/>
            <a:ext cx="5334000" cy="66675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endParaRPr lang="ko-KR" altLang="en-US"/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8F6498CF-3D5C-9657-2C46-DCA4A7422381}"/>
              </a:ext>
            </a:extLst>
          </p:cNvPr>
          <p:cNvSpPr/>
          <p:nvPr/>
        </p:nvSpPr>
        <p:spPr>
          <a:xfrm>
            <a:off x="6400800" y="4686300"/>
            <a:ext cx="247650" cy="247650"/>
          </a:xfrm>
          <a:prstGeom prst="ellipse">
            <a:avLst/>
          </a:prstGeom>
          <a:solidFill>
            <a:srgbClr val="EA580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/>
            <a:r>
              <a:rPr lang="en-US" altLang="ko-KR" sz="1200" b="1">
                <a:solidFill>
                  <a:srgbClr val="FFFFFF"/>
                </a:solidFill>
                <a:latin typeface="FEF3C7"/>
              </a:rPr>
              <a:t>4</a:t>
            </a:r>
            <a:endParaRPr lang="ko-KR" altLang="en-US" sz="1200" b="1">
              <a:solidFill>
                <a:srgbClr val="FFFFFF"/>
              </a:solidFill>
              <a:latin typeface="FEF3C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59CAAED-9CE6-961A-F5B4-EFE756E0121E}"/>
              </a:ext>
            </a:extLst>
          </p:cNvPr>
          <p:cNvSpPr txBox="1"/>
          <p:nvPr/>
        </p:nvSpPr>
        <p:spPr>
          <a:xfrm>
            <a:off x="6743700" y="4476750"/>
            <a:ext cx="4781550" cy="6667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ko-KR" altLang="en-US" sz="1700" b="1">
                <a:solidFill>
                  <a:srgbClr val="1F2A44"/>
                </a:solidFill>
                <a:latin typeface="FEF3C7"/>
              </a:rPr>
              <a:t>동일 </a:t>
            </a:r>
            <a:r>
              <a:rPr lang="en-US" altLang="ko-KR" sz="1700" b="1">
                <a:solidFill>
                  <a:srgbClr val="1F2A44"/>
                </a:solidFill>
                <a:latin typeface="FEF3C7"/>
              </a:rPr>
              <a:t>stream → </a:t>
            </a:r>
            <a:r>
              <a:rPr lang="ko-KR" altLang="en-US" sz="1700" b="1">
                <a:solidFill>
                  <a:srgbClr val="1F2A44"/>
                </a:solidFill>
                <a:latin typeface="FEF3C7"/>
              </a:rPr>
              <a:t>두 </a:t>
            </a:r>
            <a:r>
              <a:rPr lang="en-US" altLang="ko-KR" sz="1700" b="1">
                <a:solidFill>
                  <a:srgbClr val="1F2A44"/>
                </a:solidFill>
                <a:latin typeface="FEF3C7"/>
              </a:rPr>
              <a:t>machine </a:t>
            </a:r>
            <a:r>
              <a:rPr lang="ko-KR" altLang="en-US" sz="1700" b="1">
                <a:solidFill>
                  <a:srgbClr val="1F2A44"/>
                </a:solidFill>
                <a:latin typeface="FEF3C7"/>
              </a:rPr>
              <a:t>동시 비교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14221EF-E8E4-E7CC-2283-D0DF7EEE20AE}"/>
              </a:ext>
            </a:extLst>
          </p:cNvPr>
          <p:cNvSpPr txBox="1"/>
          <p:nvPr/>
        </p:nvSpPr>
        <p:spPr>
          <a:xfrm>
            <a:off x="10668000" y="6591300"/>
            <a:ext cx="1143000" cy="19050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pPr algn="r"/>
            <a:r>
              <a:rPr lang="en-US" altLang="ko-KR" sz="1100">
                <a:solidFill>
                  <a:srgbClr val="94A3B8"/>
                </a:solidFill>
                <a:latin typeface="FEF3C7"/>
              </a:rPr>
              <a:t>18 / 39</a:t>
            </a:r>
            <a:endParaRPr lang="ko-KR" altLang="en-US" sz="1100">
              <a:solidFill>
                <a:srgbClr val="94A3B8"/>
              </a:solidFill>
              <a:latin typeface="FEF3C7"/>
            </a:endParaRPr>
          </a:p>
        </p:txBody>
      </p:sp>
    </p:spTree>
    <p:extLst>
      <p:ext uri="{BB962C8B-B14F-4D97-AF65-F5344CB8AC3E}">
        <p14:creationId xmlns:p14="http://schemas.microsoft.com/office/powerpoint/2010/main" val="9630705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34B52F3-3434-93C3-4425-9E171033BD71}"/>
              </a:ext>
            </a:extLst>
          </p:cNvPr>
          <p:cNvSpPr txBox="1"/>
          <p:nvPr/>
        </p:nvSpPr>
        <p:spPr>
          <a:xfrm>
            <a:off x="381000" y="133350"/>
            <a:ext cx="9525000" cy="2095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altLang="ko-KR" sz="1300" b="1">
                <a:solidFill>
                  <a:srgbClr val="2563EB"/>
                </a:solidFill>
                <a:latin typeface="FEF3C7"/>
              </a:rPr>
              <a:t>04  ·  Homework-1 </a:t>
            </a:r>
            <a:r>
              <a:rPr lang="ko-KR" altLang="en-US" sz="1300" b="1">
                <a:solidFill>
                  <a:srgbClr val="2563EB"/>
                </a:solidFill>
                <a:latin typeface="FEF3C7"/>
              </a:rPr>
              <a:t>시뮬레이션  </a:t>
            </a:r>
            <a:r>
              <a:rPr lang="en-US" altLang="ko-KR" sz="1300" b="1">
                <a:solidFill>
                  <a:srgbClr val="2563EB"/>
                </a:solidFill>
                <a:latin typeface="FEF3C7"/>
              </a:rPr>
              <a:t>·  </a:t>
            </a:r>
            <a:r>
              <a:rPr lang="ko-KR" altLang="en-US" sz="1300" b="1">
                <a:solidFill>
                  <a:srgbClr val="2563EB"/>
                </a:solidFill>
                <a:latin typeface="FEF3C7"/>
              </a:rPr>
              <a:t>입력 </a:t>
            </a:r>
            <a:r>
              <a:rPr lang="en-US" altLang="ko-KR" sz="1300" b="1">
                <a:solidFill>
                  <a:srgbClr val="2563EB"/>
                </a:solidFill>
                <a:latin typeface="FEF3C7"/>
              </a:rPr>
              <a:t>Timing</a:t>
            </a:r>
            <a:endParaRPr lang="ko-KR" altLang="en-US" sz="1300" b="1">
              <a:solidFill>
                <a:srgbClr val="2563EB"/>
              </a:solidFill>
              <a:latin typeface="FEF3C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AF6D74-F04C-1FED-7562-3EC16A93A10F}"/>
              </a:ext>
            </a:extLst>
          </p:cNvPr>
          <p:cNvSpPr txBox="1"/>
          <p:nvPr/>
        </p:nvSpPr>
        <p:spPr>
          <a:xfrm>
            <a:off x="381000" y="342900"/>
            <a:ext cx="10096500" cy="4381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altLang="ko-KR" sz="2600" b="1">
                <a:solidFill>
                  <a:srgbClr val="0F172A"/>
                </a:solidFill>
                <a:latin typeface="FEF3C7"/>
              </a:rPr>
              <a:t>din_bit Changes at negedge + 1 ns, Sampled at posedge</a:t>
            </a:r>
            <a:endParaRPr lang="ko-KR" altLang="en-US" sz="2600" b="1">
              <a:solidFill>
                <a:srgbClr val="0F172A"/>
              </a:solidFill>
              <a:latin typeface="FEF3C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677008A-3F7C-0450-7F8A-8C4E80A05C07}"/>
              </a:ext>
            </a:extLst>
          </p:cNvPr>
          <p:cNvSpPr/>
          <p:nvPr/>
        </p:nvSpPr>
        <p:spPr>
          <a:xfrm>
            <a:off x="381000" y="819150"/>
            <a:ext cx="666750" cy="381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0817B7-3C51-3435-B348-34278340BB7B}"/>
              </a:ext>
            </a:extLst>
          </p:cNvPr>
          <p:cNvSpPr txBox="1"/>
          <p:nvPr/>
        </p:nvSpPr>
        <p:spPr>
          <a:xfrm>
            <a:off x="10572750" y="133350"/>
            <a:ext cx="1238250" cy="60960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pPr algn="r"/>
            <a:r>
              <a:rPr lang="en-US" altLang="ko-KR" sz="4000" b="1">
                <a:solidFill>
                  <a:srgbClr val="BFDBFE"/>
                </a:solidFill>
                <a:latin typeface="FEF3C7"/>
              </a:rPr>
              <a:t>04</a:t>
            </a:r>
            <a:endParaRPr lang="ko-KR" altLang="en-US" sz="4000" b="1">
              <a:solidFill>
                <a:srgbClr val="BFDBFE"/>
              </a:solidFill>
              <a:latin typeface="FEF3C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9F6D70-982C-0DE2-7CC8-C3272DA36506}"/>
              </a:ext>
            </a:extLst>
          </p:cNvPr>
          <p:cNvSpPr txBox="1"/>
          <p:nvPr/>
        </p:nvSpPr>
        <p:spPr>
          <a:xfrm>
            <a:off x="571500" y="1524000"/>
            <a:ext cx="1143000" cy="22860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en-US" altLang="ko-KR" b="1">
                <a:solidFill>
                  <a:srgbClr val="475569"/>
                </a:solidFill>
                <a:latin typeface="FEF3C7"/>
              </a:rPr>
              <a:t>clk</a:t>
            </a:r>
            <a:endParaRPr lang="ko-KR" altLang="en-US" b="1">
              <a:solidFill>
                <a:srgbClr val="475569"/>
              </a:solidFill>
              <a:latin typeface="FEF3C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E59A301-FE76-1AAC-6B50-EB8A03631543}"/>
              </a:ext>
            </a:extLst>
          </p:cNvPr>
          <p:cNvSpPr txBox="1"/>
          <p:nvPr/>
        </p:nvSpPr>
        <p:spPr>
          <a:xfrm>
            <a:off x="571500" y="2571750"/>
            <a:ext cx="1143000" cy="22860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en-US" altLang="ko-KR" b="1">
                <a:solidFill>
                  <a:srgbClr val="1F2A44"/>
                </a:solidFill>
                <a:latin typeface="FEF3C7"/>
              </a:rPr>
              <a:t>din_bit</a:t>
            </a:r>
            <a:endParaRPr lang="ko-KR" altLang="en-US" b="1">
              <a:solidFill>
                <a:srgbClr val="1F2A44"/>
              </a:solidFill>
              <a:latin typeface="FEF3C7"/>
            </a:endParaRPr>
          </a:p>
        </p:txBody>
      </p:sp>
      <p:sp>
        <p:nvSpPr>
          <p:cNvPr id="8" name="자유형: 도형 7">
            <a:extLst>
              <a:ext uri="{FF2B5EF4-FFF2-40B4-BE49-F238E27FC236}">
                <a16:creationId xmlns:a16="http://schemas.microsoft.com/office/drawing/2014/main" id="{AFA67348-AE7B-9A5A-D510-38FDB9461A9D}"/>
              </a:ext>
            </a:extLst>
          </p:cNvPr>
          <p:cNvSpPr/>
          <p:nvPr/>
        </p:nvSpPr>
        <p:spPr>
          <a:xfrm>
            <a:off x="1905000" y="1428750"/>
            <a:ext cx="9906001" cy="381001"/>
          </a:xfrm>
          <a:custGeom>
            <a:avLst/>
            <a:gdLst/>
            <a:ahLst/>
            <a:cxnLst/>
            <a:rect l="0" t="0" r="0" b="0"/>
            <a:pathLst>
              <a:path w="9906001" h="381001">
                <a:moveTo>
                  <a:pt x="0" y="381000"/>
                </a:moveTo>
                <a:lnTo>
                  <a:pt x="762000" y="381000"/>
                </a:lnTo>
                <a:lnTo>
                  <a:pt x="762000" y="0"/>
                </a:lnTo>
                <a:lnTo>
                  <a:pt x="1524000" y="0"/>
                </a:lnTo>
                <a:lnTo>
                  <a:pt x="1524000" y="381000"/>
                </a:lnTo>
                <a:lnTo>
                  <a:pt x="2286000" y="381000"/>
                </a:lnTo>
                <a:lnTo>
                  <a:pt x="2286000" y="0"/>
                </a:lnTo>
                <a:lnTo>
                  <a:pt x="3048000" y="0"/>
                </a:lnTo>
                <a:lnTo>
                  <a:pt x="3048000" y="381000"/>
                </a:lnTo>
                <a:lnTo>
                  <a:pt x="3810000" y="381000"/>
                </a:lnTo>
                <a:lnTo>
                  <a:pt x="3810000" y="0"/>
                </a:lnTo>
                <a:lnTo>
                  <a:pt x="4572000" y="0"/>
                </a:lnTo>
                <a:lnTo>
                  <a:pt x="4572000" y="381000"/>
                </a:lnTo>
                <a:lnTo>
                  <a:pt x="5334000" y="381000"/>
                </a:lnTo>
                <a:lnTo>
                  <a:pt x="5334000" y="0"/>
                </a:lnTo>
                <a:lnTo>
                  <a:pt x="6096000" y="0"/>
                </a:lnTo>
                <a:lnTo>
                  <a:pt x="6096000" y="381000"/>
                </a:lnTo>
                <a:lnTo>
                  <a:pt x="6858000" y="381000"/>
                </a:lnTo>
                <a:lnTo>
                  <a:pt x="6858000" y="0"/>
                </a:lnTo>
                <a:lnTo>
                  <a:pt x="7620000" y="0"/>
                </a:lnTo>
                <a:lnTo>
                  <a:pt x="7620000" y="381000"/>
                </a:lnTo>
                <a:lnTo>
                  <a:pt x="8382000" y="381000"/>
                </a:lnTo>
                <a:lnTo>
                  <a:pt x="8382000" y="0"/>
                </a:lnTo>
                <a:lnTo>
                  <a:pt x="9144000" y="0"/>
                </a:lnTo>
                <a:lnTo>
                  <a:pt x="9144000" y="381000"/>
                </a:lnTo>
                <a:lnTo>
                  <a:pt x="9906000" y="381000"/>
                </a:lnTo>
              </a:path>
            </a:pathLst>
          </a:cu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자유형: 도형 8">
            <a:extLst>
              <a:ext uri="{FF2B5EF4-FFF2-40B4-BE49-F238E27FC236}">
                <a16:creationId xmlns:a16="http://schemas.microsoft.com/office/drawing/2014/main" id="{C8C976FF-626B-0FF5-6A2D-83C7DEC83BDE}"/>
              </a:ext>
            </a:extLst>
          </p:cNvPr>
          <p:cNvSpPr/>
          <p:nvPr/>
        </p:nvSpPr>
        <p:spPr>
          <a:xfrm>
            <a:off x="2019300" y="2495550"/>
            <a:ext cx="6096001" cy="381001"/>
          </a:xfrm>
          <a:custGeom>
            <a:avLst/>
            <a:gdLst/>
            <a:ahLst/>
            <a:cxnLst/>
            <a:rect l="0" t="0" r="0" b="0"/>
            <a:pathLst>
              <a:path w="6096001" h="381001">
                <a:moveTo>
                  <a:pt x="0" y="381000"/>
                </a:moveTo>
                <a:lnTo>
                  <a:pt x="1524000" y="381000"/>
                </a:lnTo>
                <a:lnTo>
                  <a:pt x="1524000" y="0"/>
                </a:lnTo>
                <a:lnTo>
                  <a:pt x="4572000" y="0"/>
                </a:lnTo>
                <a:lnTo>
                  <a:pt x="4572000" y="381000"/>
                </a:lnTo>
                <a:lnTo>
                  <a:pt x="6096000" y="381000"/>
                </a:lnTo>
              </a:path>
            </a:pathLst>
          </a:custGeom>
          <a:ln w="31750">
            <a:solidFill>
              <a:srgbClr val="1F2A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EF0ACE22-8281-EF93-B203-BB82F8C6D9DE}"/>
              </a:ext>
            </a:extLst>
          </p:cNvPr>
          <p:cNvCxnSpPr/>
          <p:nvPr/>
        </p:nvCxnSpPr>
        <p:spPr>
          <a:xfrm>
            <a:off x="2667000" y="1238250"/>
            <a:ext cx="0" cy="1809750"/>
          </a:xfrm>
          <a:prstGeom prst="line">
            <a:avLst/>
          </a:prstGeom>
          <a:ln w="19050">
            <a:solidFill>
              <a:srgbClr val="F9731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4AB9518F-5CF1-812F-992D-D4CEDE0B55F4}"/>
              </a:ext>
            </a:extLst>
          </p:cNvPr>
          <p:cNvCxnSpPr/>
          <p:nvPr/>
        </p:nvCxnSpPr>
        <p:spPr>
          <a:xfrm>
            <a:off x="4191000" y="1238250"/>
            <a:ext cx="0" cy="1809750"/>
          </a:xfrm>
          <a:prstGeom prst="line">
            <a:avLst/>
          </a:prstGeom>
          <a:ln w="19050">
            <a:solidFill>
              <a:srgbClr val="F9731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17170766-1D71-21A0-0EDD-AF7A6D0C9D45}"/>
              </a:ext>
            </a:extLst>
          </p:cNvPr>
          <p:cNvCxnSpPr/>
          <p:nvPr/>
        </p:nvCxnSpPr>
        <p:spPr>
          <a:xfrm>
            <a:off x="5715000" y="1238250"/>
            <a:ext cx="0" cy="1809750"/>
          </a:xfrm>
          <a:prstGeom prst="line">
            <a:avLst/>
          </a:prstGeom>
          <a:ln w="19050">
            <a:solidFill>
              <a:srgbClr val="F9731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46C5BA33-071D-3D79-F841-A5AEAA462960}"/>
              </a:ext>
            </a:extLst>
          </p:cNvPr>
          <p:cNvCxnSpPr/>
          <p:nvPr/>
        </p:nvCxnSpPr>
        <p:spPr>
          <a:xfrm>
            <a:off x="7239000" y="1238250"/>
            <a:ext cx="0" cy="1809750"/>
          </a:xfrm>
          <a:prstGeom prst="line">
            <a:avLst/>
          </a:prstGeom>
          <a:ln w="19050">
            <a:solidFill>
              <a:srgbClr val="F9731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A74FA4A9-5790-79F1-ED59-FC14EB73BD6C}"/>
              </a:ext>
            </a:extLst>
          </p:cNvPr>
          <p:cNvCxnSpPr/>
          <p:nvPr/>
        </p:nvCxnSpPr>
        <p:spPr>
          <a:xfrm>
            <a:off x="8763000" y="1238250"/>
            <a:ext cx="0" cy="1809750"/>
          </a:xfrm>
          <a:prstGeom prst="line">
            <a:avLst/>
          </a:prstGeom>
          <a:ln w="19050">
            <a:solidFill>
              <a:srgbClr val="F9731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6CBF9F37-A465-6601-BD7D-202D23340009}"/>
              </a:ext>
            </a:extLst>
          </p:cNvPr>
          <p:cNvCxnSpPr/>
          <p:nvPr/>
        </p:nvCxnSpPr>
        <p:spPr>
          <a:xfrm>
            <a:off x="3543300" y="2381250"/>
            <a:ext cx="0" cy="628650"/>
          </a:xfrm>
          <a:prstGeom prst="line">
            <a:avLst/>
          </a:prstGeom>
          <a:ln w="50800">
            <a:solidFill>
              <a:srgbClr val="EAB30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88B5D3E7-3D7F-E447-8C10-0F106A4D4F5C}"/>
              </a:ext>
            </a:extLst>
          </p:cNvPr>
          <p:cNvCxnSpPr/>
          <p:nvPr/>
        </p:nvCxnSpPr>
        <p:spPr>
          <a:xfrm>
            <a:off x="5067300" y="2381250"/>
            <a:ext cx="0" cy="628650"/>
          </a:xfrm>
          <a:prstGeom prst="line">
            <a:avLst/>
          </a:prstGeom>
          <a:ln w="50800">
            <a:solidFill>
              <a:srgbClr val="EAB30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7FB02ED4-4176-2E1A-1A88-8B798D106E7F}"/>
              </a:ext>
            </a:extLst>
          </p:cNvPr>
          <p:cNvCxnSpPr/>
          <p:nvPr/>
        </p:nvCxnSpPr>
        <p:spPr>
          <a:xfrm>
            <a:off x="6591300" y="2381250"/>
            <a:ext cx="0" cy="628650"/>
          </a:xfrm>
          <a:prstGeom prst="line">
            <a:avLst/>
          </a:prstGeom>
          <a:ln w="50800">
            <a:solidFill>
              <a:srgbClr val="EAB30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C6828C79-2BF1-5A60-8402-C582E1E34284}"/>
              </a:ext>
            </a:extLst>
          </p:cNvPr>
          <p:cNvSpPr txBox="1"/>
          <p:nvPr/>
        </p:nvSpPr>
        <p:spPr>
          <a:xfrm>
            <a:off x="2857500" y="3143250"/>
            <a:ext cx="1714500" cy="2095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pPr algn="ctr"/>
            <a:r>
              <a:rPr lang="en-US" altLang="ko-KR" sz="1500" b="1">
                <a:solidFill>
                  <a:srgbClr val="CA8A04"/>
                </a:solidFill>
                <a:latin typeface="FEF3C7"/>
              </a:rPr>
              <a:t>din_bit </a:t>
            </a:r>
            <a:r>
              <a:rPr lang="ko-KR" altLang="en-US" sz="1500" b="1">
                <a:solidFill>
                  <a:srgbClr val="CA8A04"/>
                </a:solidFill>
                <a:latin typeface="FEF3C7"/>
              </a:rPr>
              <a:t>변경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073D755-CD20-CA32-85EE-4CC0EC8B24FD}"/>
              </a:ext>
            </a:extLst>
          </p:cNvPr>
          <p:cNvSpPr txBox="1"/>
          <p:nvPr/>
        </p:nvSpPr>
        <p:spPr>
          <a:xfrm>
            <a:off x="3429000" y="1028700"/>
            <a:ext cx="1524000" cy="2095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pPr algn="ctr"/>
            <a:r>
              <a:rPr lang="en-US" altLang="ko-KR" sz="1500" b="1">
                <a:solidFill>
                  <a:srgbClr val="F97316"/>
                </a:solidFill>
                <a:latin typeface="FEF3C7"/>
              </a:rPr>
              <a:t>posedge</a:t>
            </a:r>
            <a:endParaRPr lang="ko-KR" altLang="en-US" sz="1500" b="1">
              <a:solidFill>
                <a:srgbClr val="F97316"/>
              </a:solidFill>
              <a:latin typeface="FEF3C7"/>
            </a:endParaRPr>
          </a:p>
        </p:txBody>
      </p: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252C0994-6421-C1C4-CC89-1451FBF8FF52}"/>
              </a:ext>
            </a:extLst>
          </p:cNvPr>
          <p:cNvCxnSpPr/>
          <p:nvPr/>
        </p:nvCxnSpPr>
        <p:spPr>
          <a:xfrm>
            <a:off x="3543300" y="3429000"/>
            <a:ext cx="647700" cy="0"/>
          </a:xfrm>
          <a:prstGeom prst="line">
            <a:avLst/>
          </a:prstGeom>
          <a:ln w="19050">
            <a:solidFill>
              <a:srgbClr val="1F2A44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807E24FB-B628-1F87-BE5F-029321A5E742}"/>
              </a:ext>
            </a:extLst>
          </p:cNvPr>
          <p:cNvSpPr txBox="1"/>
          <p:nvPr/>
        </p:nvSpPr>
        <p:spPr>
          <a:xfrm>
            <a:off x="3429000" y="3486150"/>
            <a:ext cx="952500" cy="2095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pPr algn="ctr"/>
            <a:r>
              <a:rPr lang="en-US" altLang="ko-KR" sz="1500" b="1">
                <a:solidFill>
                  <a:srgbClr val="1F2A44"/>
                </a:solidFill>
                <a:latin typeface="FEF3C7"/>
              </a:rPr>
              <a:t>4 ns</a:t>
            </a:r>
            <a:endParaRPr lang="ko-KR" altLang="en-US" sz="1500" b="1">
              <a:solidFill>
                <a:srgbClr val="1F2A44"/>
              </a:solidFill>
              <a:latin typeface="FEF3C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DA18339D-4B11-86E0-5EE9-5ECD4B0EDDFF}"/>
              </a:ext>
            </a:extLst>
          </p:cNvPr>
          <p:cNvSpPr/>
          <p:nvPr/>
        </p:nvSpPr>
        <p:spPr>
          <a:xfrm>
            <a:off x="571500" y="4000500"/>
            <a:ext cx="5334000" cy="66675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endParaRPr lang="ko-KR" altLang="en-US"/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81D893BA-B33A-E649-0D17-E1CBEC3A5532}"/>
              </a:ext>
            </a:extLst>
          </p:cNvPr>
          <p:cNvSpPr/>
          <p:nvPr/>
        </p:nvSpPr>
        <p:spPr>
          <a:xfrm>
            <a:off x="685800" y="4210050"/>
            <a:ext cx="247650" cy="247650"/>
          </a:xfrm>
          <a:prstGeom prst="ellipse">
            <a:avLst/>
          </a:prstGeom>
          <a:solidFill>
            <a:srgbClr val="EA580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/>
            <a:r>
              <a:rPr lang="en-US" altLang="ko-KR" sz="1200" b="1">
                <a:solidFill>
                  <a:srgbClr val="FFFFFF"/>
                </a:solidFill>
                <a:latin typeface="FEF3C7"/>
              </a:rPr>
              <a:t>1</a:t>
            </a:r>
            <a:endParaRPr lang="ko-KR" altLang="en-US" sz="1200" b="1">
              <a:solidFill>
                <a:srgbClr val="FFFFFF"/>
              </a:solidFill>
              <a:latin typeface="FEF3C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444933C-565C-D5FC-6E64-F7CFAC28FCFE}"/>
              </a:ext>
            </a:extLst>
          </p:cNvPr>
          <p:cNvSpPr txBox="1"/>
          <p:nvPr/>
        </p:nvSpPr>
        <p:spPr>
          <a:xfrm>
            <a:off x="1028700" y="4000500"/>
            <a:ext cx="4781550" cy="6667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ko-KR" altLang="en-US" sz="1700" b="1">
                <a:solidFill>
                  <a:srgbClr val="1F2A44"/>
                </a:solidFill>
                <a:latin typeface="FEF3C7"/>
              </a:rPr>
              <a:t>변경</a:t>
            </a:r>
            <a:r>
              <a:rPr lang="en-US" altLang="ko-KR" sz="1700" b="1">
                <a:solidFill>
                  <a:srgbClr val="1F2A44"/>
                </a:solidFill>
                <a:latin typeface="FEF3C7"/>
              </a:rPr>
              <a:t>: negedge + 1 ns</a:t>
            </a:r>
            <a:endParaRPr lang="ko-KR" altLang="en-US" sz="1700" b="1">
              <a:solidFill>
                <a:srgbClr val="1F2A44"/>
              </a:solidFill>
              <a:latin typeface="FEF3C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EC1F543B-651B-3E89-D79D-1A3511BC5D0E}"/>
              </a:ext>
            </a:extLst>
          </p:cNvPr>
          <p:cNvSpPr/>
          <p:nvPr/>
        </p:nvSpPr>
        <p:spPr>
          <a:xfrm>
            <a:off x="6286500" y="4000500"/>
            <a:ext cx="5334000" cy="66675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endParaRPr lang="ko-KR" altLang="en-US"/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7BABE3F4-202C-1900-2869-8752200FC40D}"/>
              </a:ext>
            </a:extLst>
          </p:cNvPr>
          <p:cNvSpPr/>
          <p:nvPr/>
        </p:nvSpPr>
        <p:spPr>
          <a:xfrm>
            <a:off x="6400800" y="4210050"/>
            <a:ext cx="247650" cy="247650"/>
          </a:xfrm>
          <a:prstGeom prst="ellipse">
            <a:avLst/>
          </a:prstGeom>
          <a:solidFill>
            <a:srgbClr val="EA580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/>
            <a:r>
              <a:rPr lang="en-US" altLang="ko-KR" sz="1200" b="1">
                <a:solidFill>
                  <a:srgbClr val="FFFFFF"/>
                </a:solidFill>
                <a:latin typeface="FEF3C7"/>
              </a:rPr>
              <a:t>2</a:t>
            </a:r>
            <a:endParaRPr lang="ko-KR" altLang="en-US" sz="1200" b="1">
              <a:solidFill>
                <a:srgbClr val="FFFFFF"/>
              </a:solidFill>
              <a:latin typeface="FEF3C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49B3A92-DFD9-F223-80E3-58F633C68561}"/>
              </a:ext>
            </a:extLst>
          </p:cNvPr>
          <p:cNvSpPr txBox="1"/>
          <p:nvPr/>
        </p:nvSpPr>
        <p:spPr>
          <a:xfrm>
            <a:off x="6743700" y="4000500"/>
            <a:ext cx="4781550" cy="6667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altLang="ko-KR" sz="1700" b="1">
                <a:solidFill>
                  <a:srgbClr val="1F2A44"/>
                </a:solidFill>
                <a:latin typeface="FEF3C7"/>
              </a:rPr>
              <a:t>sampling: posedge</a:t>
            </a:r>
            <a:endParaRPr lang="ko-KR" altLang="en-US" sz="1700" b="1">
              <a:solidFill>
                <a:srgbClr val="1F2A44"/>
              </a:solidFill>
              <a:latin typeface="FEF3C7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E27F44BC-8DB3-1ED9-3532-F70B0892E90E}"/>
              </a:ext>
            </a:extLst>
          </p:cNvPr>
          <p:cNvSpPr/>
          <p:nvPr/>
        </p:nvSpPr>
        <p:spPr>
          <a:xfrm>
            <a:off x="571500" y="4857750"/>
            <a:ext cx="11049000" cy="666750"/>
          </a:xfrm>
          <a:prstGeom prst="rect">
            <a:avLst/>
          </a:prstGeom>
          <a:solidFill>
            <a:srgbClr val="EFF6FF"/>
          </a:solidFill>
          <a:ln w="12700">
            <a:solidFill>
              <a:srgbClr val="93C5F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7FB10A8-E800-5220-B101-44C6AB8E659F}"/>
              </a:ext>
            </a:extLst>
          </p:cNvPr>
          <p:cNvSpPr txBox="1"/>
          <p:nvPr/>
        </p:nvSpPr>
        <p:spPr>
          <a:xfrm>
            <a:off x="704850" y="4857750"/>
            <a:ext cx="10820400" cy="6667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altLang="ko-KR" sz="1700" b="1">
                <a:solidFill>
                  <a:srgbClr val="1E3A8A"/>
                </a:solidFill>
                <a:latin typeface="FEF3C7"/>
              </a:rPr>
              <a:t>posedge </a:t>
            </a:r>
            <a:r>
              <a:rPr lang="ko-KR" altLang="en-US" sz="1700" b="1">
                <a:solidFill>
                  <a:srgbClr val="1E3A8A"/>
                </a:solidFill>
                <a:latin typeface="FEF3C7"/>
              </a:rPr>
              <a:t>기준 </a:t>
            </a:r>
            <a:r>
              <a:rPr lang="en-US" altLang="ko-KR" sz="1700" b="1">
                <a:solidFill>
                  <a:srgbClr val="1E3A8A"/>
                </a:solidFill>
                <a:latin typeface="FEF3C7"/>
              </a:rPr>
              <a:t>setup </a:t>
            </a:r>
            <a:r>
              <a:rPr lang="ko-KR" altLang="en-US" sz="1700" b="1">
                <a:solidFill>
                  <a:srgbClr val="1E3A8A"/>
                </a:solidFill>
                <a:latin typeface="FEF3C7"/>
              </a:rPr>
              <a:t>여유 </a:t>
            </a:r>
            <a:r>
              <a:rPr lang="en-US" altLang="ko-KR" sz="1700" b="1">
                <a:solidFill>
                  <a:srgbClr val="1E3A8A"/>
                </a:solidFill>
                <a:latin typeface="FEF3C7"/>
              </a:rPr>
              <a:t>4 ns → </a:t>
            </a:r>
            <a:r>
              <a:rPr lang="ko-KR" altLang="en-US" sz="1700" b="1">
                <a:solidFill>
                  <a:srgbClr val="1E3A8A"/>
                </a:solidFill>
                <a:latin typeface="FEF3C7"/>
              </a:rPr>
              <a:t>안정된 값 </a:t>
            </a:r>
            <a:r>
              <a:rPr lang="en-US" altLang="ko-KR" sz="1700" b="1">
                <a:solidFill>
                  <a:srgbClr val="1E3A8A"/>
                </a:solidFill>
                <a:latin typeface="FEF3C7"/>
              </a:rPr>
              <a:t>sampling</a:t>
            </a:r>
            <a:endParaRPr lang="ko-KR" altLang="en-US" sz="1700" b="1">
              <a:solidFill>
                <a:srgbClr val="1E3A8A"/>
              </a:solidFill>
              <a:latin typeface="FEF3C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16451AF-E40C-D528-F32D-1FD01DFD8AB6}"/>
              </a:ext>
            </a:extLst>
          </p:cNvPr>
          <p:cNvSpPr txBox="1"/>
          <p:nvPr/>
        </p:nvSpPr>
        <p:spPr>
          <a:xfrm>
            <a:off x="10668000" y="6591300"/>
            <a:ext cx="1143000" cy="19050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pPr algn="r"/>
            <a:r>
              <a:rPr lang="en-US" altLang="ko-KR" sz="1100">
                <a:solidFill>
                  <a:srgbClr val="94A3B8"/>
                </a:solidFill>
                <a:latin typeface="FEF3C7"/>
              </a:rPr>
              <a:t>19 / 39</a:t>
            </a:r>
            <a:endParaRPr lang="ko-KR" altLang="en-US" sz="1100">
              <a:solidFill>
                <a:srgbClr val="94A3B8"/>
              </a:solidFill>
              <a:latin typeface="FEF3C7"/>
            </a:endParaRPr>
          </a:p>
        </p:txBody>
      </p:sp>
    </p:spTree>
    <p:extLst>
      <p:ext uri="{BB962C8B-B14F-4D97-AF65-F5344CB8AC3E}">
        <p14:creationId xmlns:p14="http://schemas.microsoft.com/office/powerpoint/2010/main" val="29047015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177665D-99ED-70AD-D465-C755E8BCE1EF}"/>
              </a:ext>
            </a:extLst>
          </p:cNvPr>
          <p:cNvSpPr txBox="1"/>
          <p:nvPr/>
        </p:nvSpPr>
        <p:spPr>
          <a:xfrm>
            <a:off x="381000" y="133350"/>
            <a:ext cx="9525000" cy="2095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altLang="ko-KR" sz="1300" b="1">
                <a:solidFill>
                  <a:srgbClr val="2563EB"/>
                </a:solidFill>
                <a:latin typeface="FEF3C7"/>
              </a:rPr>
              <a:t>04  ·  Homework-1 </a:t>
            </a:r>
            <a:r>
              <a:rPr lang="ko-KR" altLang="en-US" sz="1300" b="1">
                <a:solidFill>
                  <a:srgbClr val="2563EB"/>
                </a:solidFill>
                <a:latin typeface="FEF3C7"/>
              </a:rPr>
              <a:t>시뮬레이션  </a:t>
            </a:r>
            <a:r>
              <a:rPr lang="en-US" altLang="ko-KR" sz="1300" b="1">
                <a:solidFill>
                  <a:srgbClr val="2563EB"/>
                </a:solidFill>
                <a:latin typeface="FEF3C7"/>
              </a:rPr>
              <a:t>·  </a:t>
            </a:r>
            <a:r>
              <a:rPr lang="ko-KR" altLang="en-US" sz="1300" b="1">
                <a:solidFill>
                  <a:srgbClr val="2563EB"/>
                </a:solidFill>
                <a:latin typeface="FEF3C7"/>
              </a:rPr>
              <a:t>패턴 검출 </a:t>
            </a:r>
            <a:r>
              <a:rPr lang="en-US" altLang="ko-KR" sz="1300" b="1">
                <a:solidFill>
                  <a:srgbClr val="2563EB"/>
                </a:solidFill>
                <a:latin typeface="FEF3C7"/>
              </a:rPr>
              <a:t>· Mealy</a:t>
            </a:r>
            <a:endParaRPr lang="ko-KR" altLang="en-US" sz="1300" b="1">
              <a:solidFill>
                <a:srgbClr val="2563EB"/>
              </a:solidFill>
              <a:latin typeface="FEF3C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0A5957-09CD-A32B-FE4B-CF8938C99755}"/>
              </a:ext>
            </a:extLst>
          </p:cNvPr>
          <p:cNvSpPr txBox="1"/>
          <p:nvPr/>
        </p:nvSpPr>
        <p:spPr>
          <a:xfrm>
            <a:off x="381000" y="342900"/>
            <a:ext cx="10096500" cy="4381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altLang="ko-KR" sz="2600" b="1">
                <a:solidFill>
                  <a:srgbClr val="0F172A"/>
                </a:solidFill>
                <a:latin typeface="FEF3C7"/>
              </a:rPr>
              <a:t>Mealy: Output Rises the Moment the Last 1 Arrives</a:t>
            </a:r>
            <a:endParaRPr lang="ko-KR" altLang="en-US" sz="2600" b="1">
              <a:solidFill>
                <a:srgbClr val="0F172A"/>
              </a:solidFill>
              <a:latin typeface="FEF3C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C1795EA-F086-7D4B-E106-575B744432C4}"/>
              </a:ext>
            </a:extLst>
          </p:cNvPr>
          <p:cNvSpPr/>
          <p:nvPr/>
        </p:nvSpPr>
        <p:spPr>
          <a:xfrm>
            <a:off x="381000" y="819150"/>
            <a:ext cx="666750" cy="381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E99AF5-B543-ED69-3EB7-799D8251687E}"/>
              </a:ext>
            </a:extLst>
          </p:cNvPr>
          <p:cNvSpPr txBox="1"/>
          <p:nvPr/>
        </p:nvSpPr>
        <p:spPr>
          <a:xfrm>
            <a:off x="10572750" y="133350"/>
            <a:ext cx="1238250" cy="60960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pPr algn="r"/>
            <a:r>
              <a:rPr lang="en-US" altLang="ko-KR" sz="4000" b="1">
                <a:solidFill>
                  <a:srgbClr val="BFDBFE"/>
                </a:solidFill>
                <a:latin typeface="FEF3C7"/>
              </a:rPr>
              <a:t>04</a:t>
            </a:r>
            <a:endParaRPr lang="ko-KR" altLang="en-US" sz="4000" b="1">
              <a:solidFill>
                <a:srgbClr val="BFDBFE"/>
              </a:solidFill>
              <a:latin typeface="FEF3C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76F7F60-A600-AC4E-B64D-C3A3096E99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552" y="1257300"/>
            <a:ext cx="10384896" cy="2376881"/>
          </a:xfrm>
          <a:prstGeom prst="rect">
            <a:avLst/>
          </a:prstGeom>
        </p:spPr>
      </p:pic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C90E38CF-88AB-1D50-0ED3-F5ADEA249ECB}"/>
              </a:ext>
            </a:extLst>
          </p:cNvPr>
          <p:cNvCxnSpPr/>
          <p:nvPr/>
        </p:nvCxnSpPr>
        <p:spPr>
          <a:xfrm>
            <a:off x="4855766" y="1786467"/>
            <a:ext cx="0" cy="1852083"/>
          </a:xfrm>
          <a:prstGeom prst="line">
            <a:avLst/>
          </a:prstGeom>
          <a:ln w="25400">
            <a:solidFill>
              <a:srgbClr val="F9731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타원 8">
            <a:extLst>
              <a:ext uri="{FF2B5EF4-FFF2-40B4-BE49-F238E27FC236}">
                <a16:creationId xmlns:a16="http://schemas.microsoft.com/office/drawing/2014/main" id="{C0F6B2B3-8E18-3DDF-61B9-6D5736A060CF}"/>
              </a:ext>
            </a:extLst>
          </p:cNvPr>
          <p:cNvSpPr/>
          <p:nvPr/>
        </p:nvSpPr>
        <p:spPr>
          <a:xfrm>
            <a:off x="4750991" y="990600"/>
            <a:ext cx="209550" cy="209550"/>
          </a:xfrm>
          <a:prstGeom prst="ellipse">
            <a:avLst/>
          </a:prstGeom>
          <a:solidFill>
            <a:srgbClr val="EA580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/>
            <a:r>
              <a:rPr lang="en-US" altLang="ko-KR" sz="1100" b="1">
                <a:solidFill>
                  <a:srgbClr val="FFFFFF"/>
                </a:solidFill>
                <a:latin typeface="FEF3C7"/>
              </a:rPr>
              <a:t>1</a:t>
            </a:r>
            <a:endParaRPr lang="ko-KR" altLang="en-US" sz="1100" b="1">
              <a:solidFill>
                <a:srgbClr val="FFFFFF"/>
              </a:solidFill>
              <a:latin typeface="FEF3C7"/>
            </a:endParaRP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B448F2CB-E403-C8A1-91D3-1212E3ECB0C7}"/>
              </a:ext>
            </a:extLst>
          </p:cNvPr>
          <p:cNvCxnSpPr/>
          <p:nvPr/>
        </p:nvCxnSpPr>
        <p:spPr>
          <a:xfrm>
            <a:off x="6443266" y="1786467"/>
            <a:ext cx="0" cy="1852083"/>
          </a:xfrm>
          <a:prstGeom prst="line">
            <a:avLst/>
          </a:prstGeom>
          <a:ln w="25400">
            <a:solidFill>
              <a:srgbClr val="F9731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타원 10">
            <a:extLst>
              <a:ext uri="{FF2B5EF4-FFF2-40B4-BE49-F238E27FC236}">
                <a16:creationId xmlns:a16="http://schemas.microsoft.com/office/drawing/2014/main" id="{73B7E34B-5F94-108A-A9AB-EC9A4B6D74A7}"/>
              </a:ext>
            </a:extLst>
          </p:cNvPr>
          <p:cNvSpPr/>
          <p:nvPr/>
        </p:nvSpPr>
        <p:spPr>
          <a:xfrm>
            <a:off x="6338491" y="990600"/>
            <a:ext cx="209550" cy="209550"/>
          </a:xfrm>
          <a:prstGeom prst="ellipse">
            <a:avLst/>
          </a:prstGeom>
          <a:solidFill>
            <a:srgbClr val="EA580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/>
            <a:r>
              <a:rPr lang="en-US" altLang="ko-KR" sz="1100" b="1">
                <a:solidFill>
                  <a:srgbClr val="FFFFFF"/>
                </a:solidFill>
                <a:latin typeface="FEF3C7"/>
              </a:rPr>
              <a:t>2</a:t>
            </a:r>
            <a:endParaRPr lang="ko-KR" altLang="en-US" sz="1100" b="1">
              <a:solidFill>
                <a:srgbClr val="FFFFFF"/>
              </a:solidFill>
              <a:latin typeface="FEF3C7"/>
            </a:endParaRP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AC79706E-6E82-EB50-AD98-9738BC20F107}"/>
              </a:ext>
            </a:extLst>
          </p:cNvPr>
          <p:cNvCxnSpPr/>
          <p:nvPr/>
        </p:nvCxnSpPr>
        <p:spPr>
          <a:xfrm>
            <a:off x="8047302" y="1786467"/>
            <a:ext cx="0" cy="1852083"/>
          </a:xfrm>
          <a:prstGeom prst="line">
            <a:avLst/>
          </a:prstGeom>
          <a:ln w="25400">
            <a:solidFill>
              <a:srgbClr val="F9731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타원 12">
            <a:extLst>
              <a:ext uri="{FF2B5EF4-FFF2-40B4-BE49-F238E27FC236}">
                <a16:creationId xmlns:a16="http://schemas.microsoft.com/office/drawing/2014/main" id="{B3ECFA46-E02A-3C60-8B16-0D8C70DE566C}"/>
              </a:ext>
            </a:extLst>
          </p:cNvPr>
          <p:cNvSpPr/>
          <p:nvPr/>
        </p:nvSpPr>
        <p:spPr>
          <a:xfrm>
            <a:off x="7942527" y="990600"/>
            <a:ext cx="209550" cy="209550"/>
          </a:xfrm>
          <a:prstGeom prst="ellipse">
            <a:avLst/>
          </a:prstGeom>
          <a:solidFill>
            <a:srgbClr val="EA580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/>
            <a:r>
              <a:rPr lang="en-US" altLang="ko-KR" sz="1100" b="1">
                <a:solidFill>
                  <a:srgbClr val="FFFFFF"/>
                </a:solidFill>
                <a:latin typeface="FEF3C7"/>
              </a:rPr>
              <a:t>3</a:t>
            </a:r>
            <a:endParaRPr lang="ko-KR" altLang="en-US" sz="1100" b="1">
              <a:solidFill>
                <a:srgbClr val="FFFFFF"/>
              </a:solidFill>
              <a:latin typeface="FEF3C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46F87CF-5002-EDFF-CC61-0FEE7B6757D9}"/>
              </a:ext>
            </a:extLst>
          </p:cNvPr>
          <p:cNvSpPr/>
          <p:nvPr/>
        </p:nvSpPr>
        <p:spPr>
          <a:xfrm>
            <a:off x="7369308" y="3175529"/>
            <a:ext cx="711067" cy="463021"/>
          </a:xfrm>
          <a:prstGeom prst="rect">
            <a:avLst/>
          </a:prstGeom>
          <a:noFill/>
          <a:ln w="31750" cap="flat" cmpd="sng" algn="ctr">
            <a:solidFill>
              <a:srgbClr val="EF4444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35A123A-D6D8-EB69-52F3-4205D5137B76}"/>
              </a:ext>
            </a:extLst>
          </p:cNvPr>
          <p:cNvSpPr txBox="1"/>
          <p:nvPr/>
        </p:nvSpPr>
        <p:spPr>
          <a:xfrm>
            <a:off x="8179594" y="3311790"/>
            <a:ext cx="1905000" cy="19050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en-US" altLang="ko-KR" sz="1300" b="1">
                <a:solidFill>
                  <a:srgbClr val="FCA5A5"/>
                </a:solidFill>
                <a:latin typeface="FEF3C7"/>
              </a:rPr>
              <a:t>221 ns</a:t>
            </a:r>
            <a:endParaRPr lang="ko-KR" altLang="en-US" sz="1300" b="1">
              <a:solidFill>
                <a:srgbClr val="FCA5A5"/>
              </a:solidFill>
              <a:latin typeface="FEF3C7"/>
            </a:endParaRP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74D8F8E0-AD36-2519-4028-914CFB72997E}"/>
              </a:ext>
            </a:extLst>
          </p:cNvPr>
          <p:cNvSpPr/>
          <p:nvPr/>
        </p:nvSpPr>
        <p:spPr>
          <a:xfrm>
            <a:off x="1600200" y="4152900"/>
            <a:ext cx="609600" cy="609600"/>
          </a:xfrm>
          <a:prstGeom prst="ellipse">
            <a:avLst/>
          </a:prstGeom>
          <a:solidFill>
            <a:srgbClr val="EFF6FF"/>
          </a:solidFill>
          <a:ln w="25400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altLang="ko-KR" sz="1700" b="1">
                <a:solidFill>
                  <a:srgbClr val="0F172A"/>
                </a:solidFill>
                <a:latin typeface="EFF6FF"/>
              </a:rPr>
              <a:t>S1</a:t>
            </a:r>
            <a:endParaRPr lang="ko-KR" altLang="en-US" sz="1700" b="1">
              <a:solidFill>
                <a:srgbClr val="0F172A"/>
              </a:solidFill>
              <a:latin typeface="EFF6FF"/>
            </a:endParaRP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9D7163C9-5CE3-4EA5-C70E-1C091F532171}"/>
              </a:ext>
            </a:extLst>
          </p:cNvPr>
          <p:cNvCxnSpPr/>
          <p:nvPr/>
        </p:nvCxnSpPr>
        <p:spPr>
          <a:xfrm>
            <a:off x="2247900" y="4457700"/>
            <a:ext cx="1790700" cy="0"/>
          </a:xfrm>
          <a:prstGeom prst="line">
            <a:avLst/>
          </a:prstGeom>
          <a:ln w="25400">
            <a:solidFill>
              <a:srgbClr val="1F2A44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27B1C10E-9BF9-25EE-9254-829AA9B3CD57}"/>
              </a:ext>
            </a:extLst>
          </p:cNvPr>
          <p:cNvSpPr txBox="1"/>
          <p:nvPr/>
        </p:nvSpPr>
        <p:spPr>
          <a:xfrm>
            <a:off x="2095500" y="4076700"/>
            <a:ext cx="2095500" cy="22860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pPr algn="ctr"/>
            <a:r>
              <a:rPr lang="en-US" altLang="ko-KR" sz="1500" b="1">
                <a:solidFill>
                  <a:srgbClr val="1F2A44"/>
                </a:solidFill>
                <a:latin typeface="EFF6FF"/>
              </a:rPr>
              <a:t>① din 1</a:t>
            </a:r>
            <a:endParaRPr lang="ko-KR" altLang="en-US" sz="1500" b="1">
              <a:solidFill>
                <a:srgbClr val="1F2A44"/>
              </a:solidFill>
              <a:latin typeface="EFF6FF"/>
            </a:endParaRPr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4A875967-5476-3A6D-C7EE-12071AA1AB96}"/>
              </a:ext>
            </a:extLst>
          </p:cNvPr>
          <p:cNvSpPr/>
          <p:nvPr/>
        </p:nvSpPr>
        <p:spPr>
          <a:xfrm>
            <a:off x="4076700" y="4152900"/>
            <a:ext cx="609600" cy="609600"/>
          </a:xfrm>
          <a:prstGeom prst="ellipse">
            <a:avLst/>
          </a:prstGeom>
          <a:solidFill>
            <a:srgbClr val="EFF6FF"/>
          </a:solidFill>
          <a:ln w="25400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altLang="ko-KR" sz="1700" b="1">
                <a:solidFill>
                  <a:srgbClr val="0F172A"/>
                </a:solidFill>
                <a:latin typeface="EFF6FF"/>
              </a:rPr>
              <a:t>S2</a:t>
            </a:r>
            <a:endParaRPr lang="ko-KR" altLang="en-US" sz="1700" b="1">
              <a:solidFill>
                <a:srgbClr val="0F172A"/>
              </a:solidFill>
              <a:latin typeface="EFF6FF"/>
            </a:endParaRPr>
          </a:p>
        </p:txBody>
      </p: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7B40F57C-B93B-17A0-7C75-600FF602B5E1}"/>
              </a:ext>
            </a:extLst>
          </p:cNvPr>
          <p:cNvCxnSpPr/>
          <p:nvPr/>
        </p:nvCxnSpPr>
        <p:spPr>
          <a:xfrm>
            <a:off x="4724400" y="4457700"/>
            <a:ext cx="1790700" cy="0"/>
          </a:xfrm>
          <a:prstGeom prst="line">
            <a:avLst/>
          </a:prstGeom>
          <a:ln w="25400">
            <a:solidFill>
              <a:srgbClr val="1F2A44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9FAFBA6B-FAFA-2BBA-D8BD-68DBA485E2C7}"/>
              </a:ext>
            </a:extLst>
          </p:cNvPr>
          <p:cNvSpPr txBox="1"/>
          <p:nvPr/>
        </p:nvSpPr>
        <p:spPr>
          <a:xfrm>
            <a:off x="4572000" y="4076700"/>
            <a:ext cx="2095500" cy="22860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pPr algn="ctr"/>
            <a:r>
              <a:rPr lang="en-US" altLang="ko-KR" sz="1500" b="1">
                <a:solidFill>
                  <a:srgbClr val="1F2A44"/>
                </a:solidFill>
                <a:latin typeface="EFF6FF"/>
              </a:rPr>
              <a:t>② din 0</a:t>
            </a:r>
            <a:endParaRPr lang="ko-KR" altLang="en-US" sz="1500" b="1">
              <a:solidFill>
                <a:srgbClr val="1F2A44"/>
              </a:solidFill>
              <a:latin typeface="EFF6FF"/>
            </a:endParaRPr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91DA3892-8E59-1F3A-7AA7-4894AFE7956C}"/>
              </a:ext>
            </a:extLst>
          </p:cNvPr>
          <p:cNvSpPr/>
          <p:nvPr/>
        </p:nvSpPr>
        <p:spPr>
          <a:xfrm>
            <a:off x="6553200" y="4152900"/>
            <a:ext cx="609600" cy="609600"/>
          </a:xfrm>
          <a:prstGeom prst="ellipse">
            <a:avLst/>
          </a:prstGeom>
          <a:solidFill>
            <a:srgbClr val="EFF6FF"/>
          </a:solidFill>
          <a:ln w="25400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altLang="ko-KR" sz="1700" b="1">
                <a:solidFill>
                  <a:srgbClr val="0F172A"/>
                </a:solidFill>
                <a:latin typeface="EFF6FF"/>
              </a:rPr>
              <a:t>S3</a:t>
            </a:r>
            <a:endParaRPr lang="ko-KR" altLang="en-US" sz="1700" b="1">
              <a:solidFill>
                <a:srgbClr val="0F172A"/>
              </a:solidFill>
              <a:latin typeface="EFF6FF"/>
            </a:endParaRPr>
          </a:p>
        </p:txBody>
      </p: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3F29C603-C4C6-0CE6-2F39-77725AFD5BBB}"/>
              </a:ext>
            </a:extLst>
          </p:cNvPr>
          <p:cNvCxnSpPr/>
          <p:nvPr/>
        </p:nvCxnSpPr>
        <p:spPr>
          <a:xfrm>
            <a:off x="7200900" y="4457700"/>
            <a:ext cx="1790700" cy="0"/>
          </a:xfrm>
          <a:prstGeom prst="line">
            <a:avLst/>
          </a:prstGeom>
          <a:ln w="25400">
            <a:solidFill>
              <a:srgbClr val="1F2A44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23BA5809-7AAC-A2A7-1FBA-247FFD4CDD27}"/>
              </a:ext>
            </a:extLst>
          </p:cNvPr>
          <p:cNvSpPr txBox="1"/>
          <p:nvPr/>
        </p:nvSpPr>
        <p:spPr>
          <a:xfrm>
            <a:off x="7048500" y="4076700"/>
            <a:ext cx="2095500" cy="22860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pPr algn="ctr"/>
            <a:r>
              <a:rPr lang="en-US" altLang="ko-KR" sz="1500" b="1">
                <a:solidFill>
                  <a:srgbClr val="1F2A44"/>
                </a:solidFill>
                <a:latin typeface="EFF6FF"/>
              </a:rPr>
              <a:t>③ din 1</a:t>
            </a:r>
            <a:endParaRPr lang="ko-KR" altLang="en-US" sz="1500" b="1">
              <a:solidFill>
                <a:srgbClr val="1F2A44"/>
              </a:solidFill>
              <a:latin typeface="EFF6FF"/>
            </a:endParaRPr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6EC6B8CE-BA4C-1CA4-5165-7F135D97255A}"/>
              </a:ext>
            </a:extLst>
          </p:cNvPr>
          <p:cNvSpPr/>
          <p:nvPr/>
        </p:nvSpPr>
        <p:spPr>
          <a:xfrm>
            <a:off x="9029700" y="4152900"/>
            <a:ext cx="609600" cy="609600"/>
          </a:xfrm>
          <a:prstGeom prst="ellipse">
            <a:avLst/>
          </a:prstGeom>
          <a:solidFill>
            <a:srgbClr val="FEE2E2"/>
          </a:solidFill>
          <a:ln w="25400">
            <a:solidFill>
              <a:srgbClr val="4755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altLang="ko-KR" sz="1700" b="1">
                <a:solidFill>
                  <a:srgbClr val="0F172A"/>
                </a:solidFill>
                <a:latin typeface="FEE2E2"/>
              </a:rPr>
              <a:t>S0</a:t>
            </a:r>
            <a:endParaRPr lang="ko-KR" altLang="en-US" sz="1700" b="1">
              <a:solidFill>
                <a:srgbClr val="0F172A"/>
              </a:solidFill>
              <a:latin typeface="FEE2E2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B86ED754-0AD7-100D-6689-D54189BD14DF}"/>
              </a:ext>
            </a:extLst>
          </p:cNvPr>
          <p:cNvSpPr/>
          <p:nvPr/>
        </p:nvSpPr>
        <p:spPr>
          <a:xfrm>
            <a:off x="381000" y="5219700"/>
            <a:ext cx="11430000" cy="609600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endParaRPr lang="ko-KR" altLang="en-US"/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8E0B28C0-BCC1-1D0A-26A5-51D3E2C2DF95}"/>
              </a:ext>
            </a:extLst>
          </p:cNvPr>
          <p:cNvSpPr/>
          <p:nvPr/>
        </p:nvSpPr>
        <p:spPr>
          <a:xfrm>
            <a:off x="495300" y="5400675"/>
            <a:ext cx="247650" cy="247650"/>
          </a:xfrm>
          <a:prstGeom prst="ellipse">
            <a:avLst/>
          </a:prstGeom>
          <a:solidFill>
            <a:srgbClr val="EA580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/>
            <a:r>
              <a:rPr lang="en-US" altLang="ko-KR" sz="1200" b="1">
                <a:solidFill>
                  <a:srgbClr val="FFFFFF"/>
                </a:solidFill>
                <a:latin typeface="FEF3C7"/>
              </a:rPr>
              <a:t>!</a:t>
            </a:r>
            <a:endParaRPr lang="ko-KR" altLang="en-US" sz="1200" b="1">
              <a:solidFill>
                <a:srgbClr val="FFFFFF"/>
              </a:solidFill>
              <a:latin typeface="FEF3C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013ED97-568A-312E-7EC1-564A88498282}"/>
              </a:ext>
            </a:extLst>
          </p:cNvPr>
          <p:cNvSpPr txBox="1"/>
          <p:nvPr/>
        </p:nvSpPr>
        <p:spPr>
          <a:xfrm>
            <a:off x="838200" y="5219700"/>
            <a:ext cx="10877550" cy="60960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altLang="ko-KR" sz="1700" b="1">
                <a:solidFill>
                  <a:srgbClr val="DC2626"/>
                </a:solidFill>
                <a:latin typeface="FEF3C7"/>
              </a:rPr>
              <a:t>mealy_out = 1: S3</a:t>
            </a:r>
            <a:r>
              <a:rPr lang="ko-KR" altLang="en-US" sz="1700" b="1">
                <a:solidFill>
                  <a:srgbClr val="DC2626"/>
                </a:solidFill>
                <a:latin typeface="FEF3C7"/>
              </a:rPr>
              <a:t>에서 </a:t>
            </a:r>
            <a:r>
              <a:rPr lang="en-US" altLang="ko-KR" sz="1700" b="1">
                <a:solidFill>
                  <a:srgbClr val="DC2626"/>
                </a:solidFill>
                <a:latin typeface="FEF3C7"/>
              </a:rPr>
              <a:t>din_bit = 1 </a:t>
            </a:r>
            <a:r>
              <a:rPr lang="ko-KR" altLang="en-US" sz="1700" b="1">
                <a:solidFill>
                  <a:srgbClr val="DC2626"/>
                </a:solidFill>
                <a:latin typeface="FEF3C7"/>
              </a:rPr>
              <a:t>도착 즉시 </a:t>
            </a:r>
            <a:r>
              <a:rPr lang="en-US" altLang="ko-KR" sz="1700" b="1">
                <a:solidFill>
                  <a:srgbClr val="DC2626"/>
                </a:solidFill>
                <a:latin typeface="FEF3C7"/>
              </a:rPr>
              <a:t>(221 ns, posedge 225 ns </a:t>
            </a:r>
            <a:r>
              <a:rPr lang="ko-KR" altLang="en-US" sz="1700" b="1">
                <a:solidFill>
                  <a:srgbClr val="DC2626"/>
                </a:solidFill>
                <a:latin typeface="FEF3C7"/>
              </a:rPr>
              <a:t>이전</a:t>
            </a:r>
            <a:r>
              <a:rPr lang="en-US" altLang="ko-KR" sz="1700" b="1">
                <a:solidFill>
                  <a:srgbClr val="DC2626"/>
                </a:solidFill>
                <a:latin typeface="FEF3C7"/>
              </a:rPr>
              <a:t>)</a:t>
            </a:r>
            <a:endParaRPr lang="ko-KR" altLang="en-US" sz="1700" b="1">
              <a:solidFill>
                <a:srgbClr val="DC2626"/>
              </a:solidFill>
              <a:latin typeface="FEF3C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8D96487-0003-EF04-D4F4-DC4CECBD08A3}"/>
              </a:ext>
            </a:extLst>
          </p:cNvPr>
          <p:cNvSpPr txBox="1"/>
          <p:nvPr/>
        </p:nvSpPr>
        <p:spPr>
          <a:xfrm>
            <a:off x="10668000" y="6591300"/>
            <a:ext cx="1143000" cy="19050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pPr algn="r"/>
            <a:r>
              <a:rPr lang="en-US" altLang="ko-KR" sz="1100">
                <a:solidFill>
                  <a:srgbClr val="94A3B8"/>
                </a:solidFill>
                <a:latin typeface="FEF3C7"/>
              </a:rPr>
              <a:t>20 / 39</a:t>
            </a:r>
            <a:endParaRPr lang="ko-KR" altLang="en-US" sz="1100">
              <a:solidFill>
                <a:srgbClr val="94A3B8"/>
              </a:solidFill>
              <a:latin typeface="FEF3C7"/>
            </a:endParaRPr>
          </a:p>
        </p:txBody>
      </p:sp>
    </p:spTree>
    <p:extLst>
      <p:ext uri="{BB962C8B-B14F-4D97-AF65-F5344CB8AC3E}">
        <p14:creationId xmlns:p14="http://schemas.microsoft.com/office/powerpoint/2010/main" val="28035915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0D16AA8-4A7B-5372-170B-601DCB040AF1}"/>
              </a:ext>
            </a:extLst>
          </p:cNvPr>
          <p:cNvSpPr txBox="1"/>
          <p:nvPr/>
        </p:nvSpPr>
        <p:spPr>
          <a:xfrm>
            <a:off x="381000" y="133350"/>
            <a:ext cx="9525000" cy="2095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altLang="ko-KR" sz="1300" b="1">
                <a:solidFill>
                  <a:srgbClr val="2563EB"/>
                </a:solidFill>
                <a:latin typeface="FEF3C7"/>
              </a:rPr>
              <a:t>04  ·  Homework-1 </a:t>
            </a:r>
            <a:r>
              <a:rPr lang="ko-KR" altLang="en-US" sz="1300" b="1">
                <a:solidFill>
                  <a:srgbClr val="2563EB"/>
                </a:solidFill>
                <a:latin typeface="FEF3C7"/>
              </a:rPr>
              <a:t>시뮬레이션  </a:t>
            </a:r>
            <a:r>
              <a:rPr lang="en-US" altLang="ko-KR" sz="1300" b="1">
                <a:solidFill>
                  <a:srgbClr val="2563EB"/>
                </a:solidFill>
                <a:latin typeface="FEF3C7"/>
              </a:rPr>
              <a:t>·  </a:t>
            </a:r>
            <a:r>
              <a:rPr lang="ko-KR" altLang="en-US" sz="1300" b="1">
                <a:solidFill>
                  <a:srgbClr val="2563EB"/>
                </a:solidFill>
                <a:latin typeface="FEF3C7"/>
              </a:rPr>
              <a:t>패턴 검출 </a:t>
            </a:r>
            <a:r>
              <a:rPr lang="en-US" altLang="ko-KR" sz="1300" b="1">
                <a:solidFill>
                  <a:srgbClr val="2563EB"/>
                </a:solidFill>
                <a:latin typeface="FEF3C7"/>
              </a:rPr>
              <a:t>· Moore</a:t>
            </a:r>
            <a:endParaRPr lang="ko-KR" altLang="en-US" sz="1300" b="1">
              <a:solidFill>
                <a:srgbClr val="2563EB"/>
              </a:solidFill>
              <a:latin typeface="FEF3C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86B41D-6616-98F3-0A05-ECF360C21CFE}"/>
              </a:ext>
            </a:extLst>
          </p:cNvPr>
          <p:cNvSpPr txBox="1"/>
          <p:nvPr/>
        </p:nvSpPr>
        <p:spPr>
          <a:xfrm>
            <a:off x="381000" y="342900"/>
            <a:ext cx="10096500" cy="4381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altLang="ko-KR" sz="2600" b="1">
                <a:solidFill>
                  <a:srgbClr val="0F172A"/>
                </a:solidFill>
                <a:latin typeface="FEF3C7"/>
              </a:rPr>
              <a:t>Moore: Output Rises One Clock Later in S4</a:t>
            </a:r>
            <a:endParaRPr lang="ko-KR" altLang="en-US" sz="2600" b="1">
              <a:solidFill>
                <a:srgbClr val="0F172A"/>
              </a:solidFill>
              <a:latin typeface="FEF3C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7ABF7F4-2CC2-FE4E-8286-161AC0DF1970}"/>
              </a:ext>
            </a:extLst>
          </p:cNvPr>
          <p:cNvSpPr/>
          <p:nvPr/>
        </p:nvSpPr>
        <p:spPr>
          <a:xfrm>
            <a:off x="381000" y="819150"/>
            <a:ext cx="666750" cy="381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586E8A-0B41-0352-82E3-0B37B777BDE6}"/>
              </a:ext>
            </a:extLst>
          </p:cNvPr>
          <p:cNvSpPr txBox="1"/>
          <p:nvPr/>
        </p:nvSpPr>
        <p:spPr>
          <a:xfrm>
            <a:off x="10572750" y="133350"/>
            <a:ext cx="1238250" cy="60960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pPr algn="r"/>
            <a:r>
              <a:rPr lang="en-US" altLang="ko-KR" sz="4000" b="1">
                <a:solidFill>
                  <a:srgbClr val="BFDBFE"/>
                </a:solidFill>
                <a:latin typeface="FEF3C7"/>
              </a:rPr>
              <a:t>04</a:t>
            </a:r>
            <a:endParaRPr lang="ko-KR" altLang="en-US" sz="4000" b="1">
              <a:solidFill>
                <a:srgbClr val="BFDBFE"/>
              </a:solidFill>
              <a:latin typeface="FEF3C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A9D46F1-36AB-58C4-EE25-E072DCEF45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552" y="1257300"/>
            <a:ext cx="10384896" cy="2376881"/>
          </a:xfrm>
          <a:prstGeom prst="rect">
            <a:avLst/>
          </a:prstGeom>
        </p:spPr>
      </p:pic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B6A6FF1F-4A69-0875-7F5B-76F3E0E3D982}"/>
              </a:ext>
            </a:extLst>
          </p:cNvPr>
          <p:cNvCxnSpPr/>
          <p:nvPr/>
        </p:nvCxnSpPr>
        <p:spPr>
          <a:xfrm>
            <a:off x="4855766" y="1786467"/>
            <a:ext cx="0" cy="1852083"/>
          </a:xfrm>
          <a:prstGeom prst="line">
            <a:avLst/>
          </a:prstGeom>
          <a:ln w="25400">
            <a:solidFill>
              <a:srgbClr val="F9731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타원 8">
            <a:extLst>
              <a:ext uri="{FF2B5EF4-FFF2-40B4-BE49-F238E27FC236}">
                <a16:creationId xmlns:a16="http://schemas.microsoft.com/office/drawing/2014/main" id="{21BED2ED-D523-4D98-1129-528321AFE8F9}"/>
              </a:ext>
            </a:extLst>
          </p:cNvPr>
          <p:cNvSpPr/>
          <p:nvPr/>
        </p:nvSpPr>
        <p:spPr>
          <a:xfrm>
            <a:off x="4750991" y="990600"/>
            <a:ext cx="209550" cy="209550"/>
          </a:xfrm>
          <a:prstGeom prst="ellipse">
            <a:avLst/>
          </a:prstGeom>
          <a:solidFill>
            <a:srgbClr val="EA580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/>
            <a:r>
              <a:rPr lang="en-US" altLang="ko-KR" sz="1100" b="1">
                <a:solidFill>
                  <a:srgbClr val="FFFFFF"/>
                </a:solidFill>
                <a:latin typeface="FEF3C7"/>
              </a:rPr>
              <a:t>1</a:t>
            </a:r>
            <a:endParaRPr lang="ko-KR" altLang="en-US" sz="1100" b="1">
              <a:solidFill>
                <a:srgbClr val="FFFFFF"/>
              </a:solidFill>
              <a:latin typeface="FEF3C7"/>
            </a:endParaRP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4066FFA0-BEDC-B427-CEC3-F5F628A59B70}"/>
              </a:ext>
            </a:extLst>
          </p:cNvPr>
          <p:cNvCxnSpPr/>
          <p:nvPr/>
        </p:nvCxnSpPr>
        <p:spPr>
          <a:xfrm>
            <a:off x="6443266" y="1786467"/>
            <a:ext cx="0" cy="1852083"/>
          </a:xfrm>
          <a:prstGeom prst="line">
            <a:avLst/>
          </a:prstGeom>
          <a:ln w="25400">
            <a:solidFill>
              <a:srgbClr val="F9731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타원 10">
            <a:extLst>
              <a:ext uri="{FF2B5EF4-FFF2-40B4-BE49-F238E27FC236}">
                <a16:creationId xmlns:a16="http://schemas.microsoft.com/office/drawing/2014/main" id="{3EACE0FA-A3EE-2ADB-0AE4-58A097CFB80F}"/>
              </a:ext>
            </a:extLst>
          </p:cNvPr>
          <p:cNvSpPr/>
          <p:nvPr/>
        </p:nvSpPr>
        <p:spPr>
          <a:xfrm>
            <a:off x="6338491" y="990600"/>
            <a:ext cx="209550" cy="209550"/>
          </a:xfrm>
          <a:prstGeom prst="ellipse">
            <a:avLst/>
          </a:prstGeom>
          <a:solidFill>
            <a:srgbClr val="EA580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/>
            <a:r>
              <a:rPr lang="en-US" altLang="ko-KR" sz="1100" b="1">
                <a:solidFill>
                  <a:srgbClr val="FFFFFF"/>
                </a:solidFill>
                <a:latin typeface="FEF3C7"/>
              </a:rPr>
              <a:t>2</a:t>
            </a:r>
            <a:endParaRPr lang="ko-KR" altLang="en-US" sz="1100" b="1">
              <a:solidFill>
                <a:srgbClr val="FFFFFF"/>
              </a:solidFill>
              <a:latin typeface="FEF3C7"/>
            </a:endParaRP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E24D6ED8-A006-F942-DD6C-158381FAB151}"/>
              </a:ext>
            </a:extLst>
          </p:cNvPr>
          <p:cNvCxnSpPr/>
          <p:nvPr/>
        </p:nvCxnSpPr>
        <p:spPr>
          <a:xfrm>
            <a:off x="8047302" y="1786467"/>
            <a:ext cx="0" cy="1852083"/>
          </a:xfrm>
          <a:prstGeom prst="line">
            <a:avLst/>
          </a:prstGeom>
          <a:ln w="25400">
            <a:solidFill>
              <a:srgbClr val="F9731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타원 12">
            <a:extLst>
              <a:ext uri="{FF2B5EF4-FFF2-40B4-BE49-F238E27FC236}">
                <a16:creationId xmlns:a16="http://schemas.microsoft.com/office/drawing/2014/main" id="{5954640C-8268-4906-D032-DA907CDE14A9}"/>
              </a:ext>
            </a:extLst>
          </p:cNvPr>
          <p:cNvSpPr/>
          <p:nvPr/>
        </p:nvSpPr>
        <p:spPr>
          <a:xfrm>
            <a:off x="7942527" y="990600"/>
            <a:ext cx="209550" cy="209550"/>
          </a:xfrm>
          <a:prstGeom prst="ellipse">
            <a:avLst/>
          </a:prstGeom>
          <a:solidFill>
            <a:srgbClr val="EA580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/>
            <a:r>
              <a:rPr lang="en-US" altLang="ko-KR" sz="1100" b="1">
                <a:solidFill>
                  <a:srgbClr val="FFFFFF"/>
                </a:solidFill>
                <a:latin typeface="FEF3C7"/>
              </a:rPr>
              <a:t>3</a:t>
            </a:r>
            <a:endParaRPr lang="ko-KR" altLang="en-US" sz="1100" b="1">
              <a:solidFill>
                <a:srgbClr val="FFFFFF"/>
              </a:solidFill>
              <a:latin typeface="FEF3C7"/>
            </a:endParaRPr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A7CC3E95-15E5-1214-737C-5A870057ED1C}"/>
              </a:ext>
            </a:extLst>
          </p:cNvPr>
          <p:cNvCxnSpPr/>
          <p:nvPr/>
        </p:nvCxnSpPr>
        <p:spPr>
          <a:xfrm>
            <a:off x="9634802" y="1786467"/>
            <a:ext cx="0" cy="1852083"/>
          </a:xfrm>
          <a:prstGeom prst="line">
            <a:avLst/>
          </a:prstGeom>
          <a:ln w="25400">
            <a:solidFill>
              <a:srgbClr val="F9731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타원 14">
            <a:extLst>
              <a:ext uri="{FF2B5EF4-FFF2-40B4-BE49-F238E27FC236}">
                <a16:creationId xmlns:a16="http://schemas.microsoft.com/office/drawing/2014/main" id="{A250167B-E0DD-BD18-555E-8A06A86CB1F1}"/>
              </a:ext>
            </a:extLst>
          </p:cNvPr>
          <p:cNvSpPr/>
          <p:nvPr/>
        </p:nvSpPr>
        <p:spPr>
          <a:xfrm>
            <a:off x="9530027" y="990600"/>
            <a:ext cx="209550" cy="209550"/>
          </a:xfrm>
          <a:prstGeom prst="ellipse">
            <a:avLst/>
          </a:prstGeom>
          <a:solidFill>
            <a:srgbClr val="EA580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/>
            <a:r>
              <a:rPr lang="en-US" altLang="ko-KR" sz="1100" b="1">
                <a:solidFill>
                  <a:srgbClr val="FFFFFF"/>
                </a:solidFill>
                <a:latin typeface="FEF3C7"/>
              </a:rPr>
              <a:t>4</a:t>
            </a:r>
            <a:endParaRPr lang="ko-KR" altLang="en-US" sz="1100" b="1">
              <a:solidFill>
                <a:srgbClr val="FFFFFF"/>
              </a:solidFill>
              <a:latin typeface="FEF3C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299DA9F-0B0A-B4FD-2225-FAC4B4DFD65B}"/>
              </a:ext>
            </a:extLst>
          </p:cNvPr>
          <p:cNvSpPr/>
          <p:nvPr/>
        </p:nvSpPr>
        <p:spPr>
          <a:xfrm>
            <a:off x="8014229" y="3175529"/>
            <a:ext cx="1653646" cy="463021"/>
          </a:xfrm>
          <a:prstGeom prst="rect">
            <a:avLst/>
          </a:prstGeom>
          <a:noFill/>
          <a:ln w="31750" cap="flat" cmpd="sng" algn="ctr">
            <a:solidFill>
              <a:srgbClr val="F59E0B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FAB14C2-C129-B8BB-0C90-654F84B82B99}"/>
              </a:ext>
            </a:extLst>
          </p:cNvPr>
          <p:cNvSpPr txBox="1"/>
          <p:nvPr/>
        </p:nvSpPr>
        <p:spPr>
          <a:xfrm>
            <a:off x="9734021" y="3311790"/>
            <a:ext cx="1905000" cy="19050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en-US" altLang="ko-KR" sz="1300" b="1">
                <a:solidFill>
                  <a:srgbClr val="FDE68A"/>
                </a:solidFill>
                <a:latin typeface="FEF3C7"/>
              </a:rPr>
              <a:t>225~235 ns</a:t>
            </a:r>
            <a:endParaRPr lang="ko-KR" altLang="en-US" sz="1300" b="1">
              <a:solidFill>
                <a:srgbClr val="FDE68A"/>
              </a:solidFill>
              <a:latin typeface="FEF3C7"/>
            </a:endParaRP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F30C9990-CFE6-9091-6D8D-80A33CBC7EBD}"/>
              </a:ext>
            </a:extLst>
          </p:cNvPr>
          <p:cNvSpPr/>
          <p:nvPr/>
        </p:nvSpPr>
        <p:spPr>
          <a:xfrm>
            <a:off x="1123950" y="4152900"/>
            <a:ext cx="609600" cy="609600"/>
          </a:xfrm>
          <a:prstGeom prst="ellipse">
            <a:avLst/>
          </a:prstGeom>
          <a:solidFill>
            <a:srgbClr val="EFF6FF"/>
          </a:solidFill>
          <a:ln w="25400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altLang="ko-KR" sz="1700" b="1">
                <a:solidFill>
                  <a:srgbClr val="0F172A"/>
                </a:solidFill>
                <a:latin typeface="EFF6FF"/>
              </a:rPr>
              <a:t>S1</a:t>
            </a:r>
            <a:endParaRPr lang="ko-KR" altLang="en-US" sz="1700" b="1">
              <a:solidFill>
                <a:srgbClr val="0F172A"/>
              </a:solidFill>
              <a:latin typeface="EFF6FF"/>
            </a:endParaRPr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2317E559-4169-BD1A-969D-EE8217F541BC}"/>
              </a:ext>
            </a:extLst>
          </p:cNvPr>
          <p:cNvCxnSpPr/>
          <p:nvPr/>
        </p:nvCxnSpPr>
        <p:spPr>
          <a:xfrm>
            <a:off x="1771650" y="4457700"/>
            <a:ext cx="1600200" cy="0"/>
          </a:xfrm>
          <a:prstGeom prst="line">
            <a:avLst/>
          </a:prstGeom>
          <a:ln w="25400">
            <a:solidFill>
              <a:srgbClr val="1F2A44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6D09EAA7-8BDB-6D72-35A9-CE3C1C7C48B6}"/>
              </a:ext>
            </a:extLst>
          </p:cNvPr>
          <p:cNvSpPr txBox="1"/>
          <p:nvPr/>
        </p:nvSpPr>
        <p:spPr>
          <a:xfrm>
            <a:off x="1524000" y="4076700"/>
            <a:ext cx="2095500" cy="22860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pPr algn="ctr"/>
            <a:r>
              <a:rPr lang="en-US" altLang="ko-KR" sz="1500" b="1">
                <a:solidFill>
                  <a:srgbClr val="1F2A44"/>
                </a:solidFill>
                <a:latin typeface="EFF6FF"/>
              </a:rPr>
              <a:t>① din 1</a:t>
            </a:r>
            <a:endParaRPr lang="ko-KR" altLang="en-US" sz="1500" b="1">
              <a:solidFill>
                <a:srgbClr val="1F2A44"/>
              </a:solidFill>
              <a:latin typeface="EFF6FF"/>
            </a:endParaRPr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66C7B5A0-37CD-63E2-C6CB-1CE8CF8B523C}"/>
              </a:ext>
            </a:extLst>
          </p:cNvPr>
          <p:cNvSpPr/>
          <p:nvPr/>
        </p:nvSpPr>
        <p:spPr>
          <a:xfrm>
            <a:off x="3409950" y="4152900"/>
            <a:ext cx="609600" cy="609600"/>
          </a:xfrm>
          <a:prstGeom prst="ellipse">
            <a:avLst/>
          </a:prstGeom>
          <a:solidFill>
            <a:srgbClr val="EFF6FF"/>
          </a:solidFill>
          <a:ln w="25400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altLang="ko-KR" sz="1700" b="1">
                <a:solidFill>
                  <a:srgbClr val="0F172A"/>
                </a:solidFill>
                <a:latin typeface="EFF6FF"/>
              </a:rPr>
              <a:t>S2</a:t>
            </a:r>
            <a:endParaRPr lang="ko-KR" altLang="en-US" sz="1700" b="1">
              <a:solidFill>
                <a:srgbClr val="0F172A"/>
              </a:solidFill>
              <a:latin typeface="EFF6FF"/>
            </a:endParaRPr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8D803809-87D0-03F3-2C75-AFE38EE07505}"/>
              </a:ext>
            </a:extLst>
          </p:cNvPr>
          <p:cNvCxnSpPr/>
          <p:nvPr/>
        </p:nvCxnSpPr>
        <p:spPr>
          <a:xfrm>
            <a:off x="4057650" y="4457700"/>
            <a:ext cx="1600200" cy="0"/>
          </a:xfrm>
          <a:prstGeom prst="line">
            <a:avLst/>
          </a:prstGeom>
          <a:ln w="25400">
            <a:solidFill>
              <a:srgbClr val="1F2A44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F1FDF67F-6485-D4B8-D294-C34D494EE58A}"/>
              </a:ext>
            </a:extLst>
          </p:cNvPr>
          <p:cNvSpPr txBox="1"/>
          <p:nvPr/>
        </p:nvSpPr>
        <p:spPr>
          <a:xfrm>
            <a:off x="3810000" y="4076700"/>
            <a:ext cx="2095500" cy="22860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pPr algn="ctr"/>
            <a:r>
              <a:rPr lang="en-US" altLang="ko-KR" sz="1500" b="1">
                <a:solidFill>
                  <a:srgbClr val="1F2A44"/>
                </a:solidFill>
                <a:latin typeface="EFF6FF"/>
              </a:rPr>
              <a:t>② din 0</a:t>
            </a:r>
            <a:endParaRPr lang="ko-KR" altLang="en-US" sz="1500" b="1">
              <a:solidFill>
                <a:srgbClr val="1F2A44"/>
              </a:solidFill>
              <a:latin typeface="EFF6FF"/>
            </a:endParaRPr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4FE6D871-A747-BB0D-8229-AB80CBD5CCE9}"/>
              </a:ext>
            </a:extLst>
          </p:cNvPr>
          <p:cNvSpPr/>
          <p:nvPr/>
        </p:nvSpPr>
        <p:spPr>
          <a:xfrm>
            <a:off x="5695950" y="4152900"/>
            <a:ext cx="609600" cy="609600"/>
          </a:xfrm>
          <a:prstGeom prst="ellipse">
            <a:avLst/>
          </a:prstGeom>
          <a:solidFill>
            <a:srgbClr val="EFF6FF"/>
          </a:solidFill>
          <a:ln w="25400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altLang="ko-KR" sz="1700" b="1">
                <a:solidFill>
                  <a:srgbClr val="0F172A"/>
                </a:solidFill>
                <a:latin typeface="EFF6FF"/>
              </a:rPr>
              <a:t>S3</a:t>
            </a:r>
            <a:endParaRPr lang="ko-KR" altLang="en-US" sz="1700" b="1">
              <a:solidFill>
                <a:srgbClr val="0F172A"/>
              </a:solidFill>
              <a:latin typeface="EFF6FF"/>
            </a:endParaRPr>
          </a:p>
        </p:txBody>
      </p: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E6AA499F-E361-BA08-028D-38595C4B2A98}"/>
              </a:ext>
            </a:extLst>
          </p:cNvPr>
          <p:cNvCxnSpPr/>
          <p:nvPr/>
        </p:nvCxnSpPr>
        <p:spPr>
          <a:xfrm>
            <a:off x="6343650" y="4457700"/>
            <a:ext cx="1600200" cy="0"/>
          </a:xfrm>
          <a:prstGeom prst="line">
            <a:avLst/>
          </a:prstGeom>
          <a:ln w="25400">
            <a:solidFill>
              <a:srgbClr val="1F2A44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B7833A7C-8A93-647B-B40D-89CF477DD75F}"/>
              </a:ext>
            </a:extLst>
          </p:cNvPr>
          <p:cNvSpPr txBox="1"/>
          <p:nvPr/>
        </p:nvSpPr>
        <p:spPr>
          <a:xfrm>
            <a:off x="6096000" y="4076700"/>
            <a:ext cx="2095500" cy="22860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pPr algn="ctr"/>
            <a:r>
              <a:rPr lang="en-US" altLang="ko-KR" sz="1500" b="1">
                <a:solidFill>
                  <a:srgbClr val="1F2A44"/>
                </a:solidFill>
                <a:latin typeface="EFF6FF"/>
              </a:rPr>
              <a:t>③ din 1</a:t>
            </a:r>
            <a:endParaRPr lang="ko-KR" altLang="en-US" sz="1500" b="1">
              <a:solidFill>
                <a:srgbClr val="1F2A44"/>
              </a:solidFill>
              <a:latin typeface="EFF6FF"/>
            </a:endParaRPr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2218C148-AB38-39A8-2179-9E784F249A4A}"/>
              </a:ext>
            </a:extLst>
          </p:cNvPr>
          <p:cNvSpPr/>
          <p:nvPr/>
        </p:nvSpPr>
        <p:spPr>
          <a:xfrm>
            <a:off x="7981950" y="4152900"/>
            <a:ext cx="609600" cy="609600"/>
          </a:xfrm>
          <a:prstGeom prst="ellipse">
            <a:avLst/>
          </a:prstGeom>
          <a:solidFill>
            <a:srgbClr val="FEF3C7"/>
          </a:solidFill>
          <a:ln w="25400">
            <a:solidFill>
              <a:srgbClr val="4755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altLang="ko-KR" sz="1700" b="1">
                <a:solidFill>
                  <a:srgbClr val="0F172A"/>
                </a:solidFill>
                <a:latin typeface="FEF3C7"/>
              </a:rPr>
              <a:t>S4</a:t>
            </a:r>
            <a:endParaRPr lang="ko-KR" altLang="en-US" sz="1700" b="1">
              <a:solidFill>
                <a:srgbClr val="0F172A"/>
              </a:solidFill>
              <a:latin typeface="FEF3C7"/>
            </a:endParaRPr>
          </a:p>
        </p:txBody>
      </p: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F8088545-6536-16A5-E7F9-0FEB14F8063A}"/>
              </a:ext>
            </a:extLst>
          </p:cNvPr>
          <p:cNvCxnSpPr/>
          <p:nvPr/>
        </p:nvCxnSpPr>
        <p:spPr>
          <a:xfrm>
            <a:off x="8629650" y="4457700"/>
            <a:ext cx="1600200" cy="0"/>
          </a:xfrm>
          <a:prstGeom prst="line">
            <a:avLst/>
          </a:prstGeom>
          <a:ln w="25400">
            <a:solidFill>
              <a:srgbClr val="1F2A44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22B8A4A2-CEF0-4055-9AB0-1E2D02CAE628}"/>
              </a:ext>
            </a:extLst>
          </p:cNvPr>
          <p:cNvSpPr txBox="1"/>
          <p:nvPr/>
        </p:nvSpPr>
        <p:spPr>
          <a:xfrm>
            <a:off x="8382000" y="4076700"/>
            <a:ext cx="2095500" cy="22860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pPr algn="ctr"/>
            <a:r>
              <a:rPr lang="en-US" altLang="ko-KR" sz="1500" b="1">
                <a:solidFill>
                  <a:srgbClr val="1F2A44"/>
                </a:solidFill>
                <a:latin typeface="FEF3C7"/>
              </a:rPr>
              <a:t>④ din 1</a:t>
            </a:r>
            <a:endParaRPr lang="ko-KR" altLang="en-US" sz="1500" b="1">
              <a:solidFill>
                <a:srgbClr val="1F2A44"/>
              </a:solidFill>
              <a:latin typeface="FEF3C7"/>
            </a:endParaRPr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36750DF0-72B4-C1FE-C5E4-D38E880CE7FF}"/>
              </a:ext>
            </a:extLst>
          </p:cNvPr>
          <p:cNvSpPr/>
          <p:nvPr/>
        </p:nvSpPr>
        <p:spPr>
          <a:xfrm>
            <a:off x="10267950" y="4152900"/>
            <a:ext cx="609600" cy="609600"/>
          </a:xfrm>
          <a:prstGeom prst="ellipse">
            <a:avLst/>
          </a:prstGeom>
          <a:solidFill>
            <a:srgbClr val="EFF6FF"/>
          </a:solidFill>
          <a:ln w="25400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altLang="ko-KR" sz="1700" b="1">
                <a:solidFill>
                  <a:srgbClr val="0F172A"/>
                </a:solidFill>
                <a:latin typeface="EFF6FF"/>
              </a:rPr>
              <a:t>S0</a:t>
            </a:r>
            <a:endParaRPr lang="ko-KR" altLang="en-US" sz="1700" b="1">
              <a:solidFill>
                <a:srgbClr val="0F172A"/>
              </a:solidFill>
              <a:latin typeface="EFF6FF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8CD299C9-CDEF-6196-FF72-5BC33826F095}"/>
              </a:ext>
            </a:extLst>
          </p:cNvPr>
          <p:cNvSpPr/>
          <p:nvPr/>
        </p:nvSpPr>
        <p:spPr>
          <a:xfrm>
            <a:off x="381000" y="5219700"/>
            <a:ext cx="11430000" cy="609600"/>
          </a:xfrm>
          <a:prstGeom prst="rect">
            <a:avLst/>
          </a:prstGeom>
          <a:solidFill>
            <a:srgbClr val="FFFBEB"/>
          </a:solidFill>
          <a:ln w="12700">
            <a:solidFill>
              <a:srgbClr val="FCD3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endParaRPr lang="ko-KR" altLang="en-US"/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340D14D5-3A68-2E55-F361-E01436249EBC}"/>
              </a:ext>
            </a:extLst>
          </p:cNvPr>
          <p:cNvSpPr/>
          <p:nvPr/>
        </p:nvSpPr>
        <p:spPr>
          <a:xfrm>
            <a:off x="495300" y="5400675"/>
            <a:ext cx="247650" cy="247650"/>
          </a:xfrm>
          <a:prstGeom prst="ellipse">
            <a:avLst/>
          </a:prstGeom>
          <a:solidFill>
            <a:srgbClr val="EA580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/>
            <a:r>
              <a:rPr lang="en-US" altLang="ko-KR" sz="1200" b="1">
                <a:solidFill>
                  <a:srgbClr val="FFFFFF"/>
                </a:solidFill>
                <a:latin typeface="FEF3C7"/>
              </a:rPr>
              <a:t>!</a:t>
            </a:r>
            <a:endParaRPr lang="ko-KR" altLang="en-US" sz="1200" b="1">
              <a:solidFill>
                <a:srgbClr val="FFFFFF"/>
              </a:solidFill>
              <a:latin typeface="FEF3C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0083320-FF12-9D14-A2E8-4C2C8FF2073E}"/>
              </a:ext>
            </a:extLst>
          </p:cNvPr>
          <p:cNvSpPr txBox="1"/>
          <p:nvPr/>
        </p:nvSpPr>
        <p:spPr>
          <a:xfrm>
            <a:off x="838200" y="5219700"/>
            <a:ext cx="10877550" cy="60960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altLang="ko-KR" sz="1700" b="1">
                <a:solidFill>
                  <a:srgbClr val="B45309"/>
                </a:solidFill>
                <a:latin typeface="FEF3C7"/>
              </a:rPr>
              <a:t>moore_out = 1: posedge 225 ns</a:t>
            </a:r>
            <a:r>
              <a:rPr lang="ko-KR" altLang="en-US" sz="1700" b="1">
                <a:solidFill>
                  <a:srgbClr val="B45309"/>
                </a:solidFill>
                <a:latin typeface="FEF3C7"/>
              </a:rPr>
              <a:t>에 </a:t>
            </a:r>
            <a:r>
              <a:rPr lang="en-US" altLang="ko-KR" sz="1700" b="1">
                <a:solidFill>
                  <a:srgbClr val="B45309"/>
                </a:solidFill>
                <a:latin typeface="FEF3C7"/>
              </a:rPr>
              <a:t>S4 </a:t>
            </a:r>
            <a:r>
              <a:rPr lang="ko-KR" altLang="en-US" sz="1700" b="1">
                <a:solidFill>
                  <a:srgbClr val="B45309"/>
                </a:solidFill>
                <a:latin typeface="FEF3C7"/>
              </a:rPr>
              <a:t>진입 후 </a:t>
            </a:r>
            <a:r>
              <a:rPr lang="en-US" altLang="ko-KR" sz="1700" b="1">
                <a:solidFill>
                  <a:srgbClr val="B45309"/>
                </a:solidFill>
                <a:latin typeface="FEF3C7"/>
              </a:rPr>
              <a:t>1 clock </a:t>
            </a:r>
            <a:r>
              <a:rPr lang="ko-KR" altLang="en-US" sz="1700" b="1">
                <a:solidFill>
                  <a:srgbClr val="B45309"/>
                </a:solidFill>
                <a:latin typeface="FEF3C7"/>
              </a:rPr>
              <a:t>유지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57DF7FD-C146-E843-0DBD-886FCA0331F1}"/>
              </a:ext>
            </a:extLst>
          </p:cNvPr>
          <p:cNvSpPr txBox="1"/>
          <p:nvPr/>
        </p:nvSpPr>
        <p:spPr>
          <a:xfrm>
            <a:off x="10668000" y="6591300"/>
            <a:ext cx="1143000" cy="19050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pPr algn="r"/>
            <a:r>
              <a:rPr lang="en-US" altLang="ko-KR" sz="1100">
                <a:solidFill>
                  <a:srgbClr val="94A3B8"/>
                </a:solidFill>
                <a:latin typeface="FEF3C7"/>
              </a:rPr>
              <a:t>21 / 39</a:t>
            </a:r>
            <a:endParaRPr lang="ko-KR" altLang="en-US" sz="1100">
              <a:solidFill>
                <a:srgbClr val="94A3B8"/>
              </a:solidFill>
              <a:latin typeface="FEF3C7"/>
            </a:endParaRPr>
          </a:p>
        </p:txBody>
      </p:sp>
    </p:spTree>
    <p:extLst>
      <p:ext uri="{BB962C8B-B14F-4D97-AF65-F5344CB8AC3E}">
        <p14:creationId xmlns:p14="http://schemas.microsoft.com/office/powerpoint/2010/main" val="15147966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6EDB25A-ABFA-9E3A-D477-8C8EFB55114A}"/>
              </a:ext>
            </a:extLst>
          </p:cNvPr>
          <p:cNvSpPr txBox="1"/>
          <p:nvPr/>
        </p:nvSpPr>
        <p:spPr>
          <a:xfrm>
            <a:off x="381000" y="133350"/>
            <a:ext cx="9525000" cy="2095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altLang="ko-KR" sz="1300" b="1">
                <a:solidFill>
                  <a:srgbClr val="2563EB"/>
                </a:solidFill>
                <a:latin typeface="FEF3C7"/>
              </a:rPr>
              <a:t>04  ·  Homework-1 </a:t>
            </a:r>
            <a:r>
              <a:rPr lang="ko-KR" altLang="en-US" sz="1300" b="1">
                <a:solidFill>
                  <a:srgbClr val="2563EB"/>
                </a:solidFill>
                <a:latin typeface="FEF3C7"/>
              </a:rPr>
              <a:t>시뮬레이션  </a:t>
            </a:r>
            <a:r>
              <a:rPr lang="en-US" altLang="ko-KR" sz="1300" b="1">
                <a:solidFill>
                  <a:srgbClr val="2563EB"/>
                </a:solidFill>
                <a:latin typeface="FEF3C7"/>
              </a:rPr>
              <a:t>·  </a:t>
            </a:r>
            <a:r>
              <a:rPr lang="ko-KR" altLang="en-US" sz="1300" b="1">
                <a:solidFill>
                  <a:srgbClr val="2563EB"/>
                </a:solidFill>
                <a:latin typeface="FEF3C7"/>
              </a:rPr>
              <a:t>출력 비교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42A78D-1147-653E-3CC8-0839E4CD3C85}"/>
              </a:ext>
            </a:extLst>
          </p:cNvPr>
          <p:cNvSpPr txBox="1"/>
          <p:nvPr/>
        </p:nvSpPr>
        <p:spPr>
          <a:xfrm>
            <a:off x="381000" y="342900"/>
            <a:ext cx="10096500" cy="4381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altLang="ko-KR" sz="2600" b="1">
                <a:solidFill>
                  <a:srgbClr val="0F172A"/>
                </a:solidFill>
                <a:latin typeface="FEF3C7"/>
              </a:rPr>
              <a:t>Mealy Asserts 4 ns Earlier, Moore Holds a Full Clock</a:t>
            </a:r>
            <a:endParaRPr lang="ko-KR" altLang="en-US" sz="2600" b="1">
              <a:solidFill>
                <a:srgbClr val="0F172A"/>
              </a:solidFill>
              <a:latin typeface="FEF3C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E26DE60-55CB-6762-FC55-EC7F44267B98}"/>
              </a:ext>
            </a:extLst>
          </p:cNvPr>
          <p:cNvSpPr/>
          <p:nvPr/>
        </p:nvSpPr>
        <p:spPr>
          <a:xfrm>
            <a:off x="381000" y="819150"/>
            <a:ext cx="666750" cy="381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D171A6-2153-28B1-94E2-90050643CDE4}"/>
              </a:ext>
            </a:extLst>
          </p:cNvPr>
          <p:cNvSpPr txBox="1"/>
          <p:nvPr/>
        </p:nvSpPr>
        <p:spPr>
          <a:xfrm>
            <a:off x="10572750" y="133350"/>
            <a:ext cx="1238250" cy="60960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pPr algn="r"/>
            <a:r>
              <a:rPr lang="en-US" altLang="ko-KR" sz="4000" b="1">
                <a:solidFill>
                  <a:srgbClr val="BFDBFE"/>
                </a:solidFill>
                <a:latin typeface="FEF3C7"/>
              </a:rPr>
              <a:t>04</a:t>
            </a:r>
            <a:endParaRPr lang="ko-KR" altLang="en-US" sz="4000" b="1">
              <a:solidFill>
                <a:srgbClr val="BFDBFE"/>
              </a:solidFill>
              <a:latin typeface="FEF3C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3D8FF8F-B59B-9035-DF86-AA7564FE6A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552" y="1257300"/>
            <a:ext cx="10384896" cy="2376881"/>
          </a:xfrm>
          <a:prstGeom prst="rect">
            <a:avLst/>
          </a:prstGeom>
        </p:spPr>
      </p:pic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39900A5D-4338-656A-C8CF-D564793D08E1}"/>
              </a:ext>
            </a:extLst>
          </p:cNvPr>
          <p:cNvCxnSpPr/>
          <p:nvPr/>
        </p:nvCxnSpPr>
        <p:spPr>
          <a:xfrm>
            <a:off x="7402380" y="1786467"/>
            <a:ext cx="0" cy="1852083"/>
          </a:xfrm>
          <a:prstGeom prst="line">
            <a:avLst/>
          </a:prstGeom>
          <a:ln w="31750">
            <a:solidFill>
              <a:srgbClr val="FACC1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19A5C960-6CE9-98C8-5164-16311F05BF27}"/>
              </a:ext>
            </a:extLst>
          </p:cNvPr>
          <p:cNvCxnSpPr/>
          <p:nvPr/>
        </p:nvCxnSpPr>
        <p:spPr>
          <a:xfrm>
            <a:off x="8047302" y="1786467"/>
            <a:ext cx="0" cy="1852083"/>
          </a:xfrm>
          <a:prstGeom prst="line">
            <a:avLst/>
          </a:prstGeom>
          <a:ln w="25400">
            <a:solidFill>
              <a:srgbClr val="F9731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타원 9">
            <a:extLst>
              <a:ext uri="{FF2B5EF4-FFF2-40B4-BE49-F238E27FC236}">
                <a16:creationId xmlns:a16="http://schemas.microsoft.com/office/drawing/2014/main" id="{3AC2C821-574B-AE12-D4AF-1011E7FFF842}"/>
              </a:ext>
            </a:extLst>
          </p:cNvPr>
          <p:cNvSpPr/>
          <p:nvPr/>
        </p:nvSpPr>
        <p:spPr>
          <a:xfrm>
            <a:off x="7297605" y="990600"/>
            <a:ext cx="209550" cy="209550"/>
          </a:xfrm>
          <a:prstGeom prst="ellipse">
            <a:avLst/>
          </a:prstGeom>
          <a:solidFill>
            <a:srgbClr val="CA8A0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/>
            <a:r>
              <a:rPr lang="en-US" altLang="ko-KR" sz="1100" b="1">
                <a:solidFill>
                  <a:srgbClr val="FFFFFF"/>
                </a:solidFill>
                <a:latin typeface="FEF3C7"/>
              </a:rPr>
              <a:t>A</a:t>
            </a:r>
            <a:endParaRPr lang="ko-KR" altLang="en-US" sz="1100" b="1">
              <a:solidFill>
                <a:srgbClr val="FFFFFF"/>
              </a:solidFill>
              <a:latin typeface="FEF3C7"/>
            </a:endParaRP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44EAE9E9-C457-F096-C4AF-59E5C05F6692}"/>
              </a:ext>
            </a:extLst>
          </p:cNvPr>
          <p:cNvSpPr/>
          <p:nvPr/>
        </p:nvSpPr>
        <p:spPr>
          <a:xfrm>
            <a:off x="7942527" y="990600"/>
            <a:ext cx="209550" cy="209550"/>
          </a:xfrm>
          <a:prstGeom prst="ellipse">
            <a:avLst/>
          </a:prstGeom>
          <a:solidFill>
            <a:srgbClr val="EA580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/>
            <a:r>
              <a:rPr lang="en-US" altLang="ko-KR" sz="1100" b="1">
                <a:solidFill>
                  <a:srgbClr val="FFFFFF"/>
                </a:solidFill>
                <a:latin typeface="FEF3C7"/>
              </a:rPr>
              <a:t>B</a:t>
            </a:r>
            <a:endParaRPr lang="ko-KR" altLang="en-US" sz="1100" b="1">
              <a:solidFill>
                <a:srgbClr val="FFFFFF"/>
              </a:solidFill>
              <a:latin typeface="FEF3C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E0C4C47-2DB6-86E1-1B75-17C150962BA3}"/>
              </a:ext>
            </a:extLst>
          </p:cNvPr>
          <p:cNvSpPr/>
          <p:nvPr/>
        </p:nvSpPr>
        <p:spPr>
          <a:xfrm>
            <a:off x="7369308" y="2712508"/>
            <a:ext cx="711067" cy="463021"/>
          </a:xfrm>
          <a:prstGeom prst="rect">
            <a:avLst/>
          </a:prstGeom>
          <a:noFill/>
          <a:ln w="31750" cap="flat" cmpd="sng" algn="ctr">
            <a:solidFill>
              <a:srgbClr val="EF4444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44E2425-BDFF-2919-95A9-8E0CEA578B0A}"/>
              </a:ext>
            </a:extLst>
          </p:cNvPr>
          <p:cNvSpPr/>
          <p:nvPr/>
        </p:nvSpPr>
        <p:spPr>
          <a:xfrm>
            <a:off x="8014229" y="3175529"/>
            <a:ext cx="1653646" cy="463021"/>
          </a:xfrm>
          <a:prstGeom prst="rect">
            <a:avLst/>
          </a:prstGeom>
          <a:noFill/>
          <a:ln w="31750" cap="flat" cmpd="sng" algn="ctr">
            <a:solidFill>
              <a:srgbClr val="F59E0B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74E8C76-2E7A-EA94-8E95-E32D63EAE178}"/>
              </a:ext>
            </a:extLst>
          </p:cNvPr>
          <p:cNvSpPr/>
          <p:nvPr/>
        </p:nvSpPr>
        <p:spPr>
          <a:xfrm>
            <a:off x="381000" y="3924300"/>
            <a:ext cx="5619750" cy="76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endParaRPr lang="ko-KR" altLang="en-US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1CC0EC34-A839-40CA-F216-84BE48357B9B}"/>
              </a:ext>
            </a:extLst>
          </p:cNvPr>
          <p:cNvSpPr/>
          <p:nvPr/>
        </p:nvSpPr>
        <p:spPr>
          <a:xfrm>
            <a:off x="495300" y="4181475"/>
            <a:ext cx="247650" cy="247650"/>
          </a:xfrm>
          <a:prstGeom prst="ellipse">
            <a:avLst/>
          </a:prstGeom>
          <a:solidFill>
            <a:srgbClr val="EA580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/>
            <a:r>
              <a:rPr lang="en-US" altLang="ko-KR" sz="1200" b="1">
                <a:solidFill>
                  <a:srgbClr val="FFFFFF"/>
                </a:solidFill>
                <a:latin typeface="FEF3C7"/>
              </a:rPr>
              <a:t>A</a:t>
            </a:r>
            <a:endParaRPr lang="ko-KR" altLang="en-US" sz="1200" b="1">
              <a:solidFill>
                <a:srgbClr val="FFFFFF"/>
              </a:solidFill>
              <a:latin typeface="FEF3C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1A1FF04-7C82-6286-0D30-E769140437A5}"/>
              </a:ext>
            </a:extLst>
          </p:cNvPr>
          <p:cNvSpPr txBox="1"/>
          <p:nvPr/>
        </p:nvSpPr>
        <p:spPr>
          <a:xfrm>
            <a:off x="838200" y="3924300"/>
            <a:ext cx="5067300" cy="76200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altLang="ko-KR" sz="1700" b="1">
                <a:solidFill>
                  <a:srgbClr val="DC2626"/>
                </a:solidFill>
                <a:latin typeface="FEF3C7"/>
              </a:rPr>
              <a:t>Mealy: 221 ns, din_bit </a:t>
            </a:r>
            <a:r>
              <a:rPr lang="ko-KR" altLang="en-US" sz="1700" b="1">
                <a:solidFill>
                  <a:srgbClr val="DC2626"/>
                </a:solidFill>
                <a:latin typeface="FEF3C7"/>
              </a:rPr>
              <a:t>도착 즉시</a:t>
            </a:r>
          </a:p>
          <a:p>
            <a:r>
              <a:rPr lang="ko-KR" altLang="en-US" sz="1700" b="1">
                <a:solidFill>
                  <a:srgbClr val="DC2626"/>
                </a:solidFill>
                <a:latin typeface="FEF3C7"/>
              </a:rPr>
              <a:t>폭 </a:t>
            </a:r>
            <a:r>
              <a:rPr lang="en-US" altLang="ko-KR" sz="1700" b="1">
                <a:solidFill>
                  <a:srgbClr val="DC2626"/>
                </a:solidFill>
                <a:latin typeface="FEF3C7"/>
              </a:rPr>
              <a:t>4 ns = din_bit </a:t>
            </a:r>
            <a:r>
              <a:rPr lang="ko-KR" altLang="en-US" sz="1700" b="1">
                <a:solidFill>
                  <a:srgbClr val="DC2626"/>
                </a:solidFill>
                <a:latin typeface="FEF3C7"/>
              </a:rPr>
              <a:t>유지 구간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10A9E48A-E147-0240-5E41-7FAB0EEFAFF2}"/>
              </a:ext>
            </a:extLst>
          </p:cNvPr>
          <p:cNvSpPr/>
          <p:nvPr/>
        </p:nvSpPr>
        <p:spPr>
          <a:xfrm>
            <a:off x="6191250" y="3924300"/>
            <a:ext cx="5619750" cy="76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endParaRPr lang="ko-KR" altLang="en-US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584DD567-A6CB-258A-5090-2615DE4AB39F}"/>
              </a:ext>
            </a:extLst>
          </p:cNvPr>
          <p:cNvSpPr/>
          <p:nvPr/>
        </p:nvSpPr>
        <p:spPr>
          <a:xfrm>
            <a:off x="6305550" y="4181475"/>
            <a:ext cx="247650" cy="247650"/>
          </a:xfrm>
          <a:prstGeom prst="ellipse">
            <a:avLst/>
          </a:prstGeom>
          <a:solidFill>
            <a:srgbClr val="EA580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/>
            <a:r>
              <a:rPr lang="en-US" altLang="ko-KR" sz="1200" b="1">
                <a:solidFill>
                  <a:srgbClr val="FFFFFF"/>
                </a:solidFill>
                <a:latin typeface="FEF3C7"/>
              </a:rPr>
              <a:t>B</a:t>
            </a:r>
            <a:endParaRPr lang="ko-KR" altLang="en-US" sz="1200" b="1">
              <a:solidFill>
                <a:srgbClr val="FFFFFF"/>
              </a:solidFill>
              <a:latin typeface="FEF3C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4F60900-F8A6-AD95-6DEF-0D029E862546}"/>
              </a:ext>
            </a:extLst>
          </p:cNvPr>
          <p:cNvSpPr txBox="1"/>
          <p:nvPr/>
        </p:nvSpPr>
        <p:spPr>
          <a:xfrm>
            <a:off x="6648450" y="3924300"/>
            <a:ext cx="5067300" cy="76200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altLang="ko-KR" sz="1700" b="1">
                <a:solidFill>
                  <a:srgbClr val="B45309"/>
                </a:solidFill>
                <a:latin typeface="FEF3C7"/>
              </a:rPr>
              <a:t>Moore: 225 ns, posedge </a:t>
            </a:r>
            <a:r>
              <a:rPr lang="ko-KR" altLang="en-US" sz="1700" b="1">
                <a:solidFill>
                  <a:srgbClr val="B45309"/>
                </a:solidFill>
                <a:latin typeface="FEF3C7"/>
              </a:rPr>
              <a:t>이후</a:t>
            </a:r>
          </a:p>
          <a:p>
            <a:r>
              <a:rPr lang="ko-KR" altLang="en-US" sz="1700" b="1">
                <a:solidFill>
                  <a:srgbClr val="B45309"/>
                </a:solidFill>
                <a:latin typeface="FEF3C7"/>
              </a:rPr>
              <a:t>폭 </a:t>
            </a:r>
            <a:r>
              <a:rPr lang="en-US" altLang="ko-KR" sz="1700" b="1">
                <a:solidFill>
                  <a:srgbClr val="B45309"/>
                </a:solidFill>
                <a:latin typeface="FEF3C7"/>
              </a:rPr>
              <a:t>10 ns = 1 clock</a:t>
            </a:r>
            <a:endParaRPr lang="ko-KR" altLang="en-US" sz="1700" b="1">
              <a:solidFill>
                <a:srgbClr val="B45309"/>
              </a:solidFill>
              <a:latin typeface="FEF3C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2067550B-F6BE-3E2D-9CC3-CC446ADD6D84}"/>
              </a:ext>
            </a:extLst>
          </p:cNvPr>
          <p:cNvSpPr/>
          <p:nvPr/>
        </p:nvSpPr>
        <p:spPr>
          <a:xfrm>
            <a:off x="381000" y="4876800"/>
            <a:ext cx="11430000" cy="609600"/>
          </a:xfrm>
          <a:prstGeom prst="rect">
            <a:avLst/>
          </a:prstGeom>
          <a:solidFill>
            <a:srgbClr val="EFF6FF"/>
          </a:solidFill>
          <a:ln w="12700">
            <a:solidFill>
              <a:srgbClr val="93C5F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96635AA-BECD-45E2-70F1-A82DEE6C9B23}"/>
              </a:ext>
            </a:extLst>
          </p:cNvPr>
          <p:cNvSpPr txBox="1"/>
          <p:nvPr/>
        </p:nvSpPr>
        <p:spPr>
          <a:xfrm>
            <a:off x="514350" y="4876800"/>
            <a:ext cx="11201400" cy="60960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altLang="ko-KR" sz="1700" b="1">
                <a:solidFill>
                  <a:srgbClr val="1E3A8A"/>
                </a:solidFill>
                <a:latin typeface="FEF3C7"/>
              </a:rPr>
              <a:t>Mealy = combinational </a:t>
            </a:r>
            <a:r>
              <a:rPr lang="ko-KR" altLang="en-US" sz="1700" b="1">
                <a:solidFill>
                  <a:srgbClr val="1E3A8A"/>
                </a:solidFill>
                <a:latin typeface="FEF3C7"/>
              </a:rPr>
              <a:t>출력 </a:t>
            </a:r>
            <a:r>
              <a:rPr lang="en-US" altLang="ko-KR" sz="1700" b="1">
                <a:solidFill>
                  <a:srgbClr val="1E3A8A"/>
                </a:solidFill>
                <a:latin typeface="FEF3C7"/>
              </a:rPr>
              <a:t>(state + input)  ·  Moore = register </a:t>
            </a:r>
            <a:r>
              <a:rPr lang="ko-KR" altLang="en-US" sz="1700" b="1">
                <a:solidFill>
                  <a:srgbClr val="1E3A8A"/>
                </a:solidFill>
                <a:latin typeface="FEF3C7"/>
              </a:rPr>
              <a:t>출력 </a:t>
            </a:r>
            <a:r>
              <a:rPr lang="en-US" altLang="ko-KR" sz="1700" b="1">
                <a:solidFill>
                  <a:srgbClr val="1E3A8A"/>
                </a:solidFill>
                <a:latin typeface="FEF3C7"/>
              </a:rPr>
              <a:t>(state)</a:t>
            </a:r>
            <a:endParaRPr lang="ko-KR" altLang="en-US" sz="1700" b="1">
              <a:solidFill>
                <a:srgbClr val="1E3A8A"/>
              </a:solidFill>
              <a:latin typeface="FEF3C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3746826-2624-C270-0696-BCA649DC9242}"/>
              </a:ext>
            </a:extLst>
          </p:cNvPr>
          <p:cNvSpPr txBox="1"/>
          <p:nvPr/>
        </p:nvSpPr>
        <p:spPr>
          <a:xfrm>
            <a:off x="10668000" y="6591300"/>
            <a:ext cx="1143000" cy="19050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pPr algn="r"/>
            <a:r>
              <a:rPr lang="en-US" altLang="ko-KR" sz="1100">
                <a:solidFill>
                  <a:srgbClr val="94A3B8"/>
                </a:solidFill>
                <a:latin typeface="FEF3C7"/>
              </a:rPr>
              <a:t>22 / 39</a:t>
            </a:r>
            <a:endParaRPr lang="ko-KR" altLang="en-US" sz="1100">
              <a:solidFill>
                <a:srgbClr val="94A3B8"/>
              </a:solidFill>
              <a:latin typeface="FEF3C7"/>
            </a:endParaRPr>
          </a:p>
        </p:txBody>
      </p:sp>
    </p:spTree>
    <p:extLst>
      <p:ext uri="{BB962C8B-B14F-4D97-AF65-F5344CB8AC3E}">
        <p14:creationId xmlns:p14="http://schemas.microsoft.com/office/powerpoint/2010/main" val="30671416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24B8EAE-E310-F3C9-FB39-8802189929A5}"/>
              </a:ext>
            </a:extLst>
          </p:cNvPr>
          <p:cNvSpPr txBox="1"/>
          <p:nvPr/>
        </p:nvSpPr>
        <p:spPr>
          <a:xfrm>
            <a:off x="381000" y="133350"/>
            <a:ext cx="9525000" cy="2095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altLang="ko-KR" sz="1300" b="1">
                <a:solidFill>
                  <a:srgbClr val="2563EB"/>
                </a:solidFill>
                <a:latin typeface="FEF3C7"/>
              </a:rPr>
              <a:t>04  ·  Homework-1 </a:t>
            </a:r>
            <a:r>
              <a:rPr lang="ko-KR" altLang="en-US" sz="1300" b="1">
                <a:solidFill>
                  <a:srgbClr val="2563EB"/>
                </a:solidFill>
                <a:latin typeface="FEF3C7"/>
              </a:rPr>
              <a:t>시뮬레이션  </a:t>
            </a:r>
            <a:r>
              <a:rPr lang="en-US" altLang="ko-KR" sz="1300" b="1">
                <a:solidFill>
                  <a:srgbClr val="2563EB"/>
                </a:solidFill>
                <a:latin typeface="FEF3C7"/>
              </a:rPr>
              <a:t>·  </a:t>
            </a:r>
            <a:r>
              <a:rPr lang="ko-KR" altLang="en-US" sz="1300" b="1">
                <a:solidFill>
                  <a:srgbClr val="2563EB"/>
                </a:solidFill>
                <a:latin typeface="FEF3C7"/>
              </a:rPr>
              <a:t>패턴 없음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47CCDC-4D64-8D17-EA83-DCBC2C8D3E9B}"/>
              </a:ext>
            </a:extLst>
          </p:cNvPr>
          <p:cNvSpPr txBox="1"/>
          <p:nvPr/>
        </p:nvSpPr>
        <p:spPr>
          <a:xfrm>
            <a:off x="381000" y="342900"/>
            <a:ext cx="10096500" cy="4381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altLang="ko-KR" sz="2600" b="1">
                <a:solidFill>
                  <a:srgbClr val="0F172A"/>
                </a:solidFill>
                <a:latin typeface="FEF3C7"/>
              </a:rPr>
              <a:t>Without 0101, Both Machines Stay in S0–S2 with Output 0</a:t>
            </a:r>
            <a:endParaRPr lang="ko-KR" altLang="en-US" sz="2600" b="1">
              <a:solidFill>
                <a:srgbClr val="0F172A"/>
              </a:solidFill>
              <a:latin typeface="FEF3C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65C08E5-F526-BC43-B5A8-ABB01DD082D6}"/>
              </a:ext>
            </a:extLst>
          </p:cNvPr>
          <p:cNvSpPr/>
          <p:nvPr/>
        </p:nvSpPr>
        <p:spPr>
          <a:xfrm>
            <a:off x="381000" y="819150"/>
            <a:ext cx="666750" cy="381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A143F8-EF82-418F-8523-11B84B11A2A4}"/>
              </a:ext>
            </a:extLst>
          </p:cNvPr>
          <p:cNvSpPr txBox="1"/>
          <p:nvPr/>
        </p:nvSpPr>
        <p:spPr>
          <a:xfrm>
            <a:off x="10572750" y="133350"/>
            <a:ext cx="1238250" cy="60960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pPr algn="r"/>
            <a:r>
              <a:rPr lang="en-US" altLang="ko-KR" sz="4000" b="1">
                <a:solidFill>
                  <a:srgbClr val="BFDBFE"/>
                </a:solidFill>
                <a:latin typeface="FEF3C7"/>
              </a:rPr>
              <a:t>04</a:t>
            </a:r>
            <a:endParaRPr lang="ko-KR" altLang="en-US" sz="4000" b="1">
              <a:solidFill>
                <a:srgbClr val="BFDBFE"/>
              </a:solidFill>
              <a:latin typeface="FEF3C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3D1F97A-45A7-4F1C-F2D4-3226A7A78F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999" y="1257300"/>
            <a:ext cx="11430000" cy="2308287"/>
          </a:xfrm>
          <a:prstGeom prst="rect">
            <a:avLst/>
          </a:prstGeom>
        </p:spPr>
      </p:pic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5FE3EF37-E40C-7E49-2AB0-AF4EFC215554}"/>
              </a:ext>
            </a:extLst>
          </p:cNvPr>
          <p:cNvCxnSpPr/>
          <p:nvPr/>
        </p:nvCxnSpPr>
        <p:spPr>
          <a:xfrm>
            <a:off x="7031182" y="1768852"/>
            <a:ext cx="0" cy="1790434"/>
          </a:xfrm>
          <a:prstGeom prst="line">
            <a:avLst/>
          </a:prstGeom>
          <a:ln w="25400">
            <a:solidFill>
              <a:srgbClr val="F9731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타원 8">
            <a:extLst>
              <a:ext uri="{FF2B5EF4-FFF2-40B4-BE49-F238E27FC236}">
                <a16:creationId xmlns:a16="http://schemas.microsoft.com/office/drawing/2014/main" id="{90589114-5DD8-04C7-85E0-96D74B3074DB}"/>
              </a:ext>
            </a:extLst>
          </p:cNvPr>
          <p:cNvSpPr/>
          <p:nvPr/>
        </p:nvSpPr>
        <p:spPr>
          <a:xfrm>
            <a:off x="6926407" y="990600"/>
            <a:ext cx="209550" cy="209550"/>
          </a:xfrm>
          <a:prstGeom prst="ellipse">
            <a:avLst/>
          </a:prstGeom>
          <a:solidFill>
            <a:srgbClr val="EA580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/>
            <a:r>
              <a:rPr lang="en-US" altLang="ko-KR" sz="1100" b="1">
                <a:solidFill>
                  <a:srgbClr val="FFFFFF"/>
                </a:solidFill>
                <a:latin typeface="FEF3C7"/>
              </a:rPr>
              <a:t>1</a:t>
            </a:r>
            <a:endParaRPr lang="ko-KR" altLang="en-US" sz="1100" b="1">
              <a:solidFill>
                <a:srgbClr val="FFFFFF"/>
              </a:solidFill>
              <a:latin typeface="FEF3C7"/>
            </a:endParaRP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BC395E45-E4E1-2F63-7846-AFABFB6AFC38}"/>
              </a:ext>
            </a:extLst>
          </p:cNvPr>
          <p:cNvCxnSpPr/>
          <p:nvPr/>
        </p:nvCxnSpPr>
        <p:spPr>
          <a:xfrm>
            <a:off x="7830483" y="1768852"/>
            <a:ext cx="0" cy="1790434"/>
          </a:xfrm>
          <a:prstGeom prst="line">
            <a:avLst/>
          </a:prstGeom>
          <a:ln w="25400">
            <a:solidFill>
              <a:srgbClr val="F9731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타원 10">
            <a:extLst>
              <a:ext uri="{FF2B5EF4-FFF2-40B4-BE49-F238E27FC236}">
                <a16:creationId xmlns:a16="http://schemas.microsoft.com/office/drawing/2014/main" id="{458624B1-A59E-B449-9DDC-330BFE0E9F0B}"/>
              </a:ext>
            </a:extLst>
          </p:cNvPr>
          <p:cNvSpPr/>
          <p:nvPr/>
        </p:nvSpPr>
        <p:spPr>
          <a:xfrm>
            <a:off x="7725708" y="990600"/>
            <a:ext cx="209550" cy="209550"/>
          </a:xfrm>
          <a:prstGeom prst="ellipse">
            <a:avLst/>
          </a:prstGeom>
          <a:solidFill>
            <a:srgbClr val="EA580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/>
            <a:r>
              <a:rPr lang="en-US" altLang="ko-KR" sz="1100" b="1">
                <a:solidFill>
                  <a:srgbClr val="FFFFFF"/>
                </a:solidFill>
                <a:latin typeface="FEF3C7"/>
              </a:rPr>
              <a:t>2</a:t>
            </a:r>
            <a:endParaRPr lang="ko-KR" altLang="en-US" sz="1100" b="1">
              <a:solidFill>
                <a:srgbClr val="FFFFFF"/>
              </a:solidFill>
              <a:latin typeface="FEF3C7"/>
            </a:endParaRP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5FE804C9-2EAE-891F-4061-D4CB15542C6C}"/>
              </a:ext>
            </a:extLst>
          </p:cNvPr>
          <p:cNvCxnSpPr/>
          <p:nvPr/>
        </p:nvCxnSpPr>
        <p:spPr>
          <a:xfrm>
            <a:off x="11027685" y="1768852"/>
            <a:ext cx="0" cy="1790434"/>
          </a:xfrm>
          <a:prstGeom prst="line">
            <a:avLst/>
          </a:prstGeom>
          <a:ln w="25400">
            <a:solidFill>
              <a:srgbClr val="F9731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타원 12">
            <a:extLst>
              <a:ext uri="{FF2B5EF4-FFF2-40B4-BE49-F238E27FC236}">
                <a16:creationId xmlns:a16="http://schemas.microsoft.com/office/drawing/2014/main" id="{F4E2C8B2-9BE8-481A-BAE8-E1F33AD54108}"/>
              </a:ext>
            </a:extLst>
          </p:cNvPr>
          <p:cNvSpPr/>
          <p:nvPr/>
        </p:nvSpPr>
        <p:spPr>
          <a:xfrm>
            <a:off x="10922910" y="990600"/>
            <a:ext cx="209550" cy="209550"/>
          </a:xfrm>
          <a:prstGeom prst="ellipse">
            <a:avLst/>
          </a:prstGeom>
          <a:solidFill>
            <a:srgbClr val="EA580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/>
            <a:r>
              <a:rPr lang="en-US" altLang="ko-KR" sz="1100" b="1">
                <a:solidFill>
                  <a:srgbClr val="FFFFFF"/>
                </a:solidFill>
                <a:latin typeface="FEF3C7"/>
              </a:rPr>
              <a:t>3</a:t>
            </a:r>
            <a:endParaRPr lang="ko-KR" altLang="en-US" sz="1100" b="1">
              <a:solidFill>
                <a:srgbClr val="FFFFFF"/>
              </a:solidFill>
              <a:latin typeface="FEF3C7"/>
            </a:endParaRP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50A309D9-899D-075A-CF24-EC5EEB5ED782}"/>
              </a:ext>
            </a:extLst>
          </p:cNvPr>
          <p:cNvSpPr/>
          <p:nvPr/>
        </p:nvSpPr>
        <p:spPr>
          <a:xfrm>
            <a:off x="1981200" y="4152900"/>
            <a:ext cx="609600" cy="609600"/>
          </a:xfrm>
          <a:prstGeom prst="ellipse">
            <a:avLst/>
          </a:prstGeom>
          <a:solidFill>
            <a:srgbClr val="EFF6FF"/>
          </a:solidFill>
          <a:ln w="25400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altLang="ko-KR" sz="1700" b="1">
                <a:solidFill>
                  <a:srgbClr val="0F172A"/>
                </a:solidFill>
                <a:latin typeface="EFF6FF"/>
              </a:rPr>
              <a:t>S1</a:t>
            </a:r>
            <a:endParaRPr lang="ko-KR" altLang="en-US" sz="1700" b="1">
              <a:solidFill>
                <a:srgbClr val="0F172A"/>
              </a:solidFill>
              <a:latin typeface="EFF6FF"/>
            </a:endParaRPr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A13C599D-9E9A-AA57-83C3-CA20B3A1BBF1}"/>
              </a:ext>
            </a:extLst>
          </p:cNvPr>
          <p:cNvCxnSpPr/>
          <p:nvPr/>
        </p:nvCxnSpPr>
        <p:spPr>
          <a:xfrm>
            <a:off x="2628900" y="4457700"/>
            <a:ext cx="1790700" cy="0"/>
          </a:xfrm>
          <a:prstGeom prst="line">
            <a:avLst/>
          </a:prstGeom>
          <a:ln w="25400">
            <a:solidFill>
              <a:srgbClr val="1F2A44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76BFF4EA-D3D3-34BA-6A6B-4CB759C3CA16}"/>
              </a:ext>
            </a:extLst>
          </p:cNvPr>
          <p:cNvSpPr txBox="1"/>
          <p:nvPr/>
        </p:nvSpPr>
        <p:spPr>
          <a:xfrm>
            <a:off x="2476500" y="4076700"/>
            <a:ext cx="2095500" cy="22860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pPr algn="ctr"/>
            <a:r>
              <a:rPr lang="en-US" altLang="ko-KR" sz="1500" b="1">
                <a:solidFill>
                  <a:srgbClr val="1F2A44"/>
                </a:solidFill>
                <a:latin typeface="EFF6FF"/>
              </a:rPr>
              <a:t>① din 1</a:t>
            </a:r>
            <a:endParaRPr lang="ko-KR" altLang="en-US" sz="1500" b="1">
              <a:solidFill>
                <a:srgbClr val="1F2A44"/>
              </a:solidFill>
              <a:latin typeface="EFF6FF"/>
            </a:endParaRP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B1D812D2-79F3-052C-744D-DBCB1C69EDBC}"/>
              </a:ext>
            </a:extLst>
          </p:cNvPr>
          <p:cNvSpPr/>
          <p:nvPr/>
        </p:nvSpPr>
        <p:spPr>
          <a:xfrm>
            <a:off x="4457700" y="4152900"/>
            <a:ext cx="609600" cy="609600"/>
          </a:xfrm>
          <a:prstGeom prst="ellipse">
            <a:avLst/>
          </a:prstGeom>
          <a:solidFill>
            <a:srgbClr val="EFF6FF"/>
          </a:solidFill>
          <a:ln w="25400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altLang="ko-KR" sz="1700" b="1">
                <a:solidFill>
                  <a:srgbClr val="0F172A"/>
                </a:solidFill>
                <a:latin typeface="EFF6FF"/>
              </a:rPr>
              <a:t>S2</a:t>
            </a:r>
            <a:endParaRPr lang="ko-KR" altLang="en-US" sz="1700" b="1">
              <a:solidFill>
                <a:srgbClr val="0F172A"/>
              </a:solidFill>
              <a:latin typeface="EFF6FF"/>
            </a:endParaRPr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09168029-3909-C851-EF3D-12E60D52DA1B}"/>
              </a:ext>
            </a:extLst>
          </p:cNvPr>
          <p:cNvCxnSpPr/>
          <p:nvPr/>
        </p:nvCxnSpPr>
        <p:spPr>
          <a:xfrm>
            <a:off x="5105400" y="4457700"/>
            <a:ext cx="1790700" cy="0"/>
          </a:xfrm>
          <a:prstGeom prst="line">
            <a:avLst/>
          </a:prstGeom>
          <a:ln w="25400">
            <a:solidFill>
              <a:srgbClr val="1F2A44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95F361E6-4FC4-EA83-25F1-ADD71A94DAC3}"/>
              </a:ext>
            </a:extLst>
          </p:cNvPr>
          <p:cNvSpPr txBox="1"/>
          <p:nvPr/>
        </p:nvSpPr>
        <p:spPr>
          <a:xfrm>
            <a:off x="4953000" y="4076700"/>
            <a:ext cx="2095500" cy="22860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pPr algn="ctr"/>
            <a:r>
              <a:rPr lang="en-US" altLang="ko-KR" sz="1500" b="1">
                <a:solidFill>
                  <a:srgbClr val="1F2A44"/>
                </a:solidFill>
                <a:latin typeface="EFF6FF"/>
              </a:rPr>
              <a:t>② din 1</a:t>
            </a:r>
            <a:endParaRPr lang="ko-KR" altLang="en-US" sz="1500" b="1">
              <a:solidFill>
                <a:srgbClr val="1F2A44"/>
              </a:solidFill>
              <a:latin typeface="EFF6FF"/>
            </a:endParaRPr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F8E5755C-A8B3-533A-6938-D008326F6D14}"/>
              </a:ext>
            </a:extLst>
          </p:cNvPr>
          <p:cNvSpPr/>
          <p:nvPr/>
        </p:nvSpPr>
        <p:spPr>
          <a:xfrm>
            <a:off x="6934200" y="4152900"/>
            <a:ext cx="609600" cy="609600"/>
          </a:xfrm>
          <a:prstGeom prst="ellipse">
            <a:avLst/>
          </a:prstGeom>
          <a:solidFill>
            <a:srgbClr val="EFF6FF"/>
          </a:solidFill>
          <a:ln w="25400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altLang="ko-KR" sz="1700" b="1">
                <a:solidFill>
                  <a:srgbClr val="0F172A"/>
                </a:solidFill>
                <a:latin typeface="EFF6FF"/>
              </a:rPr>
              <a:t>S0</a:t>
            </a:r>
            <a:endParaRPr lang="ko-KR" altLang="en-US" sz="1700" b="1">
              <a:solidFill>
                <a:srgbClr val="0F172A"/>
              </a:solidFill>
              <a:latin typeface="EFF6FF"/>
            </a:endParaRPr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63609CA5-DF59-CED3-8565-6EFF4DF99FB1}"/>
              </a:ext>
            </a:extLst>
          </p:cNvPr>
          <p:cNvCxnSpPr/>
          <p:nvPr/>
        </p:nvCxnSpPr>
        <p:spPr>
          <a:xfrm>
            <a:off x="7581900" y="4457700"/>
            <a:ext cx="1790700" cy="0"/>
          </a:xfrm>
          <a:prstGeom prst="line">
            <a:avLst/>
          </a:prstGeom>
          <a:ln w="25400">
            <a:solidFill>
              <a:srgbClr val="1F2A44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2AC9E77A-F21D-3091-DBE8-88D7659B95AF}"/>
              </a:ext>
            </a:extLst>
          </p:cNvPr>
          <p:cNvSpPr txBox="1"/>
          <p:nvPr/>
        </p:nvSpPr>
        <p:spPr>
          <a:xfrm>
            <a:off x="7429500" y="4076700"/>
            <a:ext cx="2095500" cy="22860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pPr algn="ctr"/>
            <a:r>
              <a:rPr lang="en-US" altLang="ko-KR" sz="1500" b="1">
                <a:solidFill>
                  <a:srgbClr val="1F2A44"/>
                </a:solidFill>
                <a:latin typeface="EFF6FF"/>
              </a:rPr>
              <a:t>③ din 0</a:t>
            </a:r>
            <a:endParaRPr lang="ko-KR" altLang="en-US" sz="1500" b="1">
              <a:solidFill>
                <a:srgbClr val="1F2A44"/>
              </a:solidFill>
              <a:latin typeface="EFF6FF"/>
            </a:endParaRP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A61D0423-F95A-1167-24A5-34AFBD6C9963}"/>
              </a:ext>
            </a:extLst>
          </p:cNvPr>
          <p:cNvSpPr/>
          <p:nvPr/>
        </p:nvSpPr>
        <p:spPr>
          <a:xfrm>
            <a:off x="9410700" y="4152900"/>
            <a:ext cx="609600" cy="609600"/>
          </a:xfrm>
          <a:prstGeom prst="ellipse">
            <a:avLst/>
          </a:prstGeom>
          <a:solidFill>
            <a:srgbClr val="EFF6FF"/>
          </a:solidFill>
          <a:ln w="25400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altLang="ko-KR" sz="1700" b="1">
                <a:solidFill>
                  <a:srgbClr val="0F172A"/>
                </a:solidFill>
                <a:latin typeface="EFF6FF"/>
              </a:rPr>
              <a:t>S1</a:t>
            </a:r>
            <a:endParaRPr lang="ko-KR" altLang="en-US" sz="1700" b="1">
              <a:solidFill>
                <a:srgbClr val="0F172A"/>
              </a:solidFill>
              <a:latin typeface="EFF6FF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60F6ED17-D91A-3235-EFA8-E5E7FA50D0EF}"/>
              </a:ext>
            </a:extLst>
          </p:cNvPr>
          <p:cNvSpPr/>
          <p:nvPr/>
        </p:nvSpPr>
        <p:spPr>
          <a:xfrm>
            <a:off x="381000" y="5219700"/>
            <a:ext cx="11430000" cy="609600"/>
          </a:xfrm>
          <a:prstGeom prst="rect">
            <a:avLst/>
          </a:prstGeom>
          <a:solidFill>
            <a:srgbClr val="EFF6FF"/>
          </a:solidFill>
          <a:ln w="12700">
            <a:solidFill>
              <a:srgbClr val="93C5F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661DAE6-CFB4-21A3-A511-E22A97A7A059}"/>
              </a:ext>
            </a:extLst>
          </p:cNvPr>
          <p:cNvSpPr txBox="1"/>
          <p:nvPr/>
        </p:nvSpPr>
        <p:spPr>
          <a:xfrm>
            <a:off x="514350" y="5219700"/>
            <a:ext cx="11201400" cy="60960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altLang="ko-KR" sz="1700" b="1">
                <a:solidFill>
                  <a:srgbClr val="1E3A8A"/>
                </a:solidFill>
                <a:latin typeface="FEF3C7"/>
              </a:rPr>
              <a:t>"011" → 0101 </a:t>
            </a:r>
            <a:r>
              <a:rPr lang="ko-KR" altLang="en-US" sz="1700" b="1">
                <a:solidFill>
                  <a:srgbClr val="1E3A8A"/>
                </a:solidFill>
                <a:latin typeface="FEF3C7"/>
              </a:rPr>
              <a:t>진행 불가 → </a:t>
            </a:r>
            <a:r>
              <a:rPr lang="en-US" altLang="ko-KR" sz="1700" b="1">
                <a:solidFill>
                  <a:srgbClr val="1E3A8A"/>
                </a:solidFill>
                <a:latin typeface="FEF3C7"/>
              </a:rPr>
              <a:t>S0 </a:t>
            </a:r>
            <a:r>
              <a:rPr lang="ko-KR" altLang="en-US" sz="1700" b="1">
                <a:solidFill>
                  <a:srgbClr val="1E3A8A"/>
                </a:solidFill>
                <a:latin typeface="FEF3C7"/>
              </a:rPr>
              <a:t>초기화  </a:t>
            </a:r>
            <a:r>
              <a:rPr lang="en-US" altLang="ko-KR" sz="1700" b="1">
                <a:solidFill>
                  <a:srgbClr val="1E3A8A"/>
                </a:solidFill>
                <a:latin typeface="FEF3C7"/>
              </a:rPr>
              <a:t>·  S3 </a:t>
            </a:r>
            <a:r>
              <a:rPr lang="ko-KR" altLang="en-US" sz="1700" b="1">
                <a:solidFill>
                  <a:srgbClr val="1E3A8A"/>
                </a:solidFill>
                <a:latin typeface="FEF3C7"/>
              </a:rPr>
              <a:t>미도달 → 출력 </a:t>
            </a:r>
            <a:r>
              <a:rPr lang="en-US" altLang="ko-KR" sz="1700" b="1">
                <a:solidFill>
                  <a:srgbClr val="1E3A8A"/>
                </a:solidFill>
                <a:latin typeface="FEF3C7"/>
              </a:rPr>
              <a:t>0</a:t>
            </a:r>
            <a:endParaRPr lang="ko-KR" altLang="en-US" sz="1700" b="1">
              <a:solidFill>
                <a:srgbClr val="1E3A8A"/>
              </a:solidFill>
              <a:latin typeface="FEF3C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4E68CFB-B2D3-3301-DE77-6CAAA96053B2}"/>
              </a:ext>
            </a:extLst>
          </p:cNvPr>
          <p:cNvSpPr txBox="1"/>
          <p:nvPr/>
        </p:nvSpPr>
        <p:spPr>
          <a:xfrm>
            <a:off x="10668000" y="6591300"/>
            <a:ext cx="1143000" cy="19050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pPr algn="r"/>
            <a:r>
              <a:rPr lang="en-US" altLang="ko-KR" sz="1100">
                <a:solidFill>
                  <a:srgbClr val="94A3B8"/>
                </a:solidFill>
                <a:latin typeface="FEF3C7"/>
              </a:rPr>
              <a:t>23 / 39</a:t>
            </a:r>
            <a:endParaRPr lang="ko-KR" altLang="en-US" sz="1100">
              <a:solidFill>
                <a:srgbClr val="94A3B8"/>
              </a:solidFill>
              <a:latin typeface="FEF3C7"/>
            </a:endParaRPr>
          </a:p>
        </p:txBody>
      </p:sp>
    </p:spTree>
    <p:extLst>
      <p:ext uri="{BB962C8B-B14F-4D97-AF65-F5344CB8AC3E}">
        <p14:creationId xmlns:p14="http://schemas.microsoft.com/office/powerpoint/2010/main" val="32187906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9BF9772-37B0-1CFE-F34D-F3C9EA3D7B39}"/>
              </a:ext>
            </a:extLst>
          </p:cNvPr>
          <p:cNvSpPr txBox="1"/>
          <p:nvPr/>
        </p:nvSpPr>
        <p:spPr>
          <a:xfrm>
            <a:off x="381000" y="133350"/>
            <a:ext cx="9525000" cy="2095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altLang="ko-KR" sz="1300" b="1">
                <a:solidFill>
                  <a:srgbClr val="2563EB"/>
                </a:solidFill>
                <a:latin typeface="FEF3C7"/>
              </a:rPr>
              <a:t>04  ·  Homework-1 </a:t>
            </a:r>
            <a:r>
              <a:rPr lang="ko-KR" altLang="en-US" sz="1300" b="1">
                <a:solidFill>
                  <a:srgbClr val="2563EB"/>
                </a:solidFill>
                <a:latin typeface="FEF3C7"/>
              </a:rPr>
              <a:t>시뮬레이션  </a:t>
            </a:r>
            <a:r>
              <a:rPr lang="en-US" altLang="ko-KR" sz="1300" b="1">
                <a:solidFill>
                  <a:srgbClr val="2563EB"/>
                </a:solidFill>
                <a:latin typeface="FEF3C7"/>
              </a:rPr>
              <a:t>·  next logic</a:t>
            </a:r>
            <a:endParaRPr lang="ko-KR" altLang="en-US" sz="1300" b="1">
              <a:solidFill>
                <a:srgbClr val="2563EB"/>
              </a:solidFill>
              <a:latin typeface="FEF3C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4BF685-F7CC-4592-9AFB-DB8F8921AF07}"/>
              </a:ext>
            </a:extLst>
          </p:cNvPr>
          <p:cNvSpPr txBox="1"/>
          <p:nvPr/>
        </p:nvSpPr>
        <p:spPr>
          <a:xfrm>
            <a:off x="381000" y="342900"/>
            <a:ext cx="10096500" cy="4381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altLang="ko-KR" sz="2600" b="1">
                <a:solidFill>
                  <a:srgbClr val="0F172A"/>
                </a:solidFill>
                <a:latin typeface="FEF3C7"/>
              </a:rPr>
              <a:t>Next-state Logic Differs Only at S3 with din_bit = 1</a:t>
            </a:r>
            <a:endParaRPr lang="ko-KR" altLang="en-US" sz="2600" b="1">
              <a:solidFill>
                <a:srgbClr val="0F172A"/>
              </a:solidFill>
              <a:latin typeface="FEF3C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512227C-9B80-3AC8-6475-139D11E8D86E}"/>
              </a:ext>
            </a:extLst>
          </p:cNvPr>
          <p:cNvSpPr/>
          <p:nvPr/>
        </p:nvSpPr>
        <p:spPr>
          <a:xfrm>
            <a:off x="381000" y="819150"/>
            <a:ext cx="666750" cy="381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872D00-A7D0-0C3E-BCF2-5185112B8159}"/>
              </a:ext>
            </a:extLst>
          </p:cNvPr>
          <p:cNvSpPr txBox="1"/>
          <p:nvPr/>
        </p:nvSpPr>
        <p:spPr>
          <a:xfrm>
            <a:off x="10572750" y="133350"/>
            <a:ext cx="1238250" cy="60960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pPr algn="r"/>
            <a:r>
              <a:rPr lang="en-US" altLang="ko-KR" sz="4000" b="1">
                <a:solidFill>
                  <a:srgbClr val="BFDBFE"/>
                </a:solidFill>
                <a:latin typeface="FEF3C7"/>
              </a:rPr>
              <a:t>04</a:t>
            </a:r>
            <a:endParaRPr lang="ko-KR" altLang="en-US" sz="4000" b="1">
              <a:solidFill>
                <a:srgbClr val="BFDBFE"/>
              </a:solidFill>
              <a:latin typeface="FEF3C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8E33996-B4A1-2926-ECBE-0A32C96796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7347" y="1257300"/>
            <a:ext cx="9357306" cy="2376991"/>
          </a:xfrm>
          <a:prstGeom prst="rect">
            <a:avLst/>
          </a:prstGeom>
        </p:spPr>
      </p:pic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BE7D082E-8E3C-4EB6-F109-BBD9A3D2FF35}"/>
              </a:ext>
            </a:extLst>
          </p:cNvPr>
          <p:cNvCxnSpPr/>
          <p:nvPr/>
        </p:nvCxnSpPr>
        <p:spPr>
          <a:xfrm>
            <a:off x="4905375" y="1760381"/>
            <a:ext cx="0" cy="1878169"/>
          </a:xfrm>
          <a:prstGeom prst="line">
            <a:avLst/>
          </a:prstGeom>
          <a:ln w="25400">
            <a:solidFill>
              <a:srgbClr val="F9731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타원 8">
            <a:extLst>
              <a:ext uri="{FF2B5EF4-FFF2-40B4-BE49-F238E27FC236}">
                <a16:creationId xmlns:a16="http://schemas.microsoft.com/office/drawing/2014/main" id="{1502297E-AD48-EABF-ADCF-8E9C079327BE}"/>
              </a:ext>
            </a:extLst>
          </p:cNvPr>
          <p:cNvSpPr/>
          <p:nvPr/>
        </p:nvSpPr>
        <p:spPr>
          <a:xfrm>
            <a:off x="4800600" y="990600"/>
            <a:ext cx="209550" cy="209550"/>
          </a:xfrm>
          <a:prstGeom prst="ellipse">
            <a:avLst/>
          </a:prstGeom>
          <a:solidFill>
            <a:srgbClr val="EA580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/>
            <a:r>
              <a:rPr lang="en-US" altLang="ko-KR" sz="1100" b="1">
                <a:solidFill>
                  <a:srgbClr val="FFFFFF"/>
                </a:solidFill>
                <a:latin typeface="FEF3C7"/>
              </a:rPr>
              <a:t>1</a:t>
            </a:r>
            <a:endParaRPr lang="ko-KR" altLang="en-US" sz="1100" b="1">
              <a:solidFill>
                <a:srgbClr val="FFFFFF"/>
              </a:solidFill>
              <a:latin typeface="FEF3C7"/>
            </a:endParaRP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1C400E67-6100-57C0-6C50-8898D85CCCE5}"/>
              </a:ext>
            </a:extLst>
          </p:cNvPr>
          <p:cNvCxnSpPr/>
          <p:nvPr/>
        </p:nvCxnSpPr>
        <p:spPr>
          <a:xfrm>
            <a:off x="6582311" y="1760381"/>
            <a:ext cx="0" cy="1878169"/>
          </a:xfrm>
          <a:prstGeom prst="line">
            <a:avLst/>
          </a:prstGeom>
          <a:ln w="25400">
            <a:solidFill>
              <a:srgbClr val="F9731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타원 10">
            <a:extLst>
              <a:ext uri="{FF2B5EF4-FFF2-40B4-BE49-F238E27FC236}">
                <a16:creationId xmlns:a16="http://schemas.microsoft.com/office/drawing/2014/main" id="{7A5CBB26-399B-DBD4-CC9C-C620D35FDFEB}"/>
              </a:ext>
            </a:extLst>
          </p:cNvPr>
          <p:cNvSpPr/>
          <p:nvPr/>
        </p:nvSpPr>
        <p:spPr>
          <a:xfrm>
            <a:off x="6477537" y="990600"/>
            <a:ext cx="209549" cy="209550"/>
          </a:xfrm>
          <a:prstGeom prst="ellipse">
            <a:avLst/>
          </a:prstGeom>
          <a:solidFill>
            <a:srgbClr val="EA580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/>
            <a:r>
              <a:rPr lang="en-US" altLang="ko-KR" sz="1100" b="1">
                <a:solidFill>
                  <a:srgbClr val="FFFFFF"/>
                </a:solidFill>
                <a:latin typeface="FEF3C7"/>
              </a:rPr>
              <a:t>2</a:t>
            </a:r>
            <a:endParaRPr lang="ko-KR" altLang="en-US" sz="1100" b="1">
              <a:solidFill>
                <a:srgbClr val="FFFFFF"/>
              </a:solidFill>
              <a:latin typeface="FEF3C7"/>
            </a:endParaRP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50F635B2-1027-42D2-AC3A-6301ED5E7E17}"/>
              </a:ext>
            </a:extLst>
          </p:cNvPr>
          <p:cNvCxnSpPr/>
          <p:nvPr/>
        </p:nvCxnSpPr>
        <p:spPr>
          <a:xfrm>
            <a:off x="8259249" y="1760381"/>
            <a:ext cx="0" cy="1878169"/>
          </a:xfrm>
          <a:prstGeom prst="line">
            <a:avLst/>
          </a:prstGeom>
          <a:ln w="25400">
            <a:solidFill>
              <a:srgbClr val="F9731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타원 12">
            <a:extLst>
              <a:ext uri="{FF2B5EF4-FFF2-40B4-BE49-F238E27FC236}">
                <a16:creationId xmlns:a16="http://schemas.microsoft.com/office/drawing/2014/main" id="{A710ADFC-24A7-1542-5FC1-FE7916D9D614}"/>
              </a:ext>
            </a:extLst>
          </p:cNvPr>
          <p:cNvSpPr/>
          <p:nvPr/>
        </p:nvSpPr>
        <p:spPr>
          <a:xfrm>
            <a:off x="8154474" y="990600"/>
            <a:ext cx="209550" cy="209550"/>
          </a:xfrm>
          <a:prstGeom prst="ellipse">
            <a:avLst/>
          </a:prstGeom>
          <a:solidFill>
            <a:srgbClr val="EA580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/>
            <a:r>
              <a:rPr lang="en-US" altLang="ko-KR" sz="1100" b="1">
                <a:solidFill>
                  <a:srgbClr val="FFFFFF"/>
                </a:solidFill>
                <a:latin typeface="FEF3C7"/>
              </a:rPr>
              <a:t>3</a:t>
            </a:r>
            <a:endParaRPr lang="ko-KR" altLang="en-US" sz="1100" b="1">
              <a:solidFill>
                <a:srgbClr val="FFFFFF"/>
              </a:solidFill>
              <a:latin typeface="FEF3C7"/>
            </a:endParaRPr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3915D970-071F-C726-1A96-FEA45DA06DFF}"/>
              </a:ext>
            </a:extLst>
          </p:cNvPr>
          <p:cNvCxnSpPr/>
          <p:nvPr/>
        </p:nvCxnSpPr>
        <p:spPr>
          <a:xfrm>
            <a:off x="9936185" y="1760381"/>
            <a:ext cx="0" cy="1878169"/>
          </a:xfrm>
          <a:prstGeom prst="line">
            <a:avLst/>
          </a:prstGeom>
          <a:ln w="25400">
            <a:solidFill>
              <a:srgbClr val="F9731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타원 14">
            <a:extLst>
              <a:ext uri="{FF2B5EF4-FFF2-40B4-BE49-F238E27FC236}">
                <a16:creationId xmlns:a16="http://schemas.microsoft.com/office/drawing/2014/main" id="{5C88522D-800E-E3A5-7343-2BEFF853E61F}"/>
              </a:ext>
            </a:extLst>
          </p:cNvPr>
          <p:cNvSpPr/>
          <p:nvPr/>
        </p:nvSpPr>
        <p:spPr>
          <a:xfrm>
            <a:off x="9831410" y="990600"/>
            <a:ext cx="209550" cy="209550"/>
          </a:xfrm>
          <a:prstGeom prst="ellipse">
            <a:avLst/>
          </a:prstGeom>
          <a:solidFill>
            <a:srgbClr val="EA580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/>
            <a:r>
              <a:rPr lang="en-US" altLang="ko-KR" sz="1100" b="1">
                <a:solidFill>
                  <a:srgbClr val="FFFFFF"/>
                </a:solidFill>
                <a:latin typeface="FEF3C7"/>
              </a:rPr>
              <a:t>4</a:t>
            </a:r>
            <a:endParaRPr lang="ko-KR" altLang="en-US" sz="1100" b="1">
              <a:solidFill>
                <a:srgbClr val="FFFFFF"/>
              </a:solidFill>
              <a:latin typeface="FEF3C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E191C56-ECEB-0623-F309-4BAA8FE897B6}"/>
              </a:ext>
            </a:extLst>
          </p:cNvPr>
          <p:cNvSpPr/>
          <p:nvPr/>
        </p:nvSpPr>
        <p:spPr>
          <a:xfrm>
            <a:off x="7521396" y="2699465"/>
            <a:ext cx="771391" cy="469543"/>
          </a:xfrm>
          <a:prstGeom prst="rect">
            <a:avLst/>
          </a:prstGeom>
          <a:noFill/>
          <a:ln w="31750" cap="flat" cmpd="sng" algn="ctr">
            <a:solidFill>
              <a:srgbClr val="EF4444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D7181667-6ADD-D9B5-1304-AD44FC1A2E1F}"/>
              </a:ext>
            </a:extLst>
          </p:cNvPr>
          <p:cNvSpPr/>
          <p:nvPr/>
        </p:nvSpPr>
        <p:spPr>
          <a:xfrm>
            <a:off x="7521396" y="3169008"/>
            <a:ext cx="771391" cy="469542"/>
          </a:xfrm>
          <a:prstGeom prst="rect">
            <a:avLst/>
          </a:prstGeom>
          <a:noFill/>
          <a:ln w="31750" cap="flat" cmpd="sng" algn="ctr">
            <a:solidFill>
              <a:srgbClr val="EF4444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AC0D1D1-059B-C474-AF18-742A81277036}"/>
              </a:ext>
            </a:extLst>
          </p:cNvPr>
          <p:cNvSpPr/>
          <p:nvPr/>
        </p:nvSpPr>
        <p:spPr>
          <a:xfrm>
            <a:off x="381000" y="3924300"/>
            <a:ext cx="5619750" cy="76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1C7F0F7-076A-5955-6507-B5D84F39FBFE}"/>
              </a:ext>
            </a:extLst>
          </p:cNvPr>
          <p:cNvSpPr txBox="1"/>
          <p:nvPr/>
        </p:nvSpPr>
        <p:spPr>
          <a:xfrm>
            <a:off x="514350" y="3924300"/>
            <a:ext cx="5391150" cy="76200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altLang="ko-KR" sz="1700" b="1">
                <a:solidFill>
                  <a:srgbClr val="C026D3"/>
                </a:solidFill>
                <a:latin typeface="FEF3C7"/>
              </a:rPr>
              <a:t>Mealy next = S0</a:t>
            </a:r>
          </a:p>
          <a:p>
            <a:r>
              <a:rPr lang="ko-KR" altLang="en-US" sz="1700" b="1">
                <a:solidFill>
                  <a:srgbClr val="C026D3"/>
                </a:solidFill>
                <a:latin typeface="FEF3C7"/>
              </a:rPr>
              <a:t>검출 → 출력 </a:t>
            </a:r>
            <a:r>
              <a:rPr lang="en-US" altLang="ko-KR" sz="1700" b="1">
                <a:solidFill>
                  <a:srgbClr val="C026D3"/>
                </a:solidFill>
                <a:latin typeface="FEF3C7"/>
              </a:rPr>
              <a:t>logic</a:t>
            </a:r>
            <a:r>
              <a:rPr lang="ko-KR" altLang="en-US" sz="1700" b="1">
                <a:solidFill>
                  <a:srgbClr val="C026D3"/>
                </a:solidFill>
                <a:latin typeface="FEF3C7"/>
              </a:rPr>
              <a:t>이 담당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2CCBC71F-C1A9-6BDC-7B4C-1DB6BF474AD6}"/>
              </a:ext>
            </a:extLst>
          </p:cNvPr>
          <p:cNvSpPr/>
          <p:nvPr/>
        </p:nvSpPr>
        <p:spPr>
          <a:xfrm>
            <a:off x="6191250" y="3924300"/>
            <a:ext cx="5619750" cy="76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C93F6C1-01BE-9D67-DD24-9D780C200A4C}"/>
              </a:ext>
            </a:extLst>
          </p:cNvPr>
          <p:cNvSpPr txBox="1"/>
          <p:nvPr/>
        </p:nvSpPr>
        <p:spPr>
          <a:xfrm>
            <a:off x="6324600" y="3924300"/>
            <a:ext cx="5391150" cy="76200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altLang="ko-KR" sz="1700" b="1">
                <a:solidFill>
                  <a:srgbClr val="B45309"/>
                </a:solidFill>
                <a:latin typeface="FEF3C7"/>
              </a:rPr>
              <a:t>Moore next = S4</a:t>
            </a:r>
          </a:p>
          <a:p>
            <a:r>
              <a:rPr lang="ko-KR" altLang="en-US" sz="1700" b="1">
                <a:solidFill>
                  <a:srgbClr val="B45309"/>
                </a:solidFill>
                <a:latin typeface="FEF3C7"/>
              </a:rPr>
              <a:t>검출 → </a:t>
            </a:r>
            <a:r>
              <a:rPr lang="en-US" altLang="ko-KR" sz="1700" b="1">
                <a:solidFill>
                  <a:srgbClr val="B45309"/>
                </a:solidFill>
                <a:latin typeface="FEF3C7"/>
              </a:rPr>
              <a:t>state</a:t>
            </a:r>
            <a:r>
              <a:rPr lang="ko-KR" altLang="en-US" sz="1700" b="1">
                <a:solidFill>
                  <a:srgbClr val="B45309"/>
                </a:solidFill>
                <a:latin typeface="FEF3C7"/>
              </a:rPr>
              <a:t>로 저장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1B3F1072-EA14-F829-5A66-78FDD5A5CE53}"/>
              </a:ext>
            </a:extLst>
          </p:cNvPr>
          <p:cNvSpPr/>
          <p:nvPr/>
        </p:nvSpPr>
        <p:spPr>
          <a:xfrm>
            <a:off x="381000" y="4876800"/>
            <a:ext cx="11430000" cy="609600"/>
          </a:xfrm>
          <a:prstGeom prst="rect">
            <a:avLst/>
          </a:prstGeom>
          <a:solidFill>
            <a:srgbClr val="EFF6FF"/>
          </a:solidFill>
          <a:ln w="12700">
            <a:solidFill>
              <a:srgbClr val="93C5F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828BB49-8057-AAD6-51E4-9A2598D9192B}"/>
              </a:ext>
            </a:extLst>
          </p:cNvPr>
          <p:cNvSpPr txBox="1"/>
          <p:nvPr/>
        </p:nvSpPr>
        <p:spPr>
          <a:xfrm>
            <a:off x="514350" y="4876800"/>
            <a:ext cx="11201400" cy="60960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altLang="ko-KR" sz="1600" b="1">
                <a:solidFill>
                  <a:srgbClr val="1E3A8A"/>
                </a:solidFill>
                <a:latin typeface="FEF3C7"/>
              </a:rPr>
              <a:t>next </a:t>
            </a:r>
            <a:r>
              <a:rPr lang="ko-KR" altLang="en-US" sz="1600" b="1">
                <a:solidFill>
                  <a:srgbClr val="1E3A8A"/>
                </a:solidFill>
                <a:latin typeface="FEF3C7"/>
              </a:rPr>
              <a:t>값은 </a:t>
            </a:r>
            <a:r>
              <a:rPr lang="en-US" altLang="ko-KR" sz="1600" b="1">
                <a:solidFill>
                  <a:srgbClr val="1E3A8A"/>
                </a:solidFill>
                <a:latin typeface="FEF3C7"/>
              </a:rPr>
              <a:t>cycle </a:t>
            </a:r>
            <a:r>
              <a:rPr lang="ko-KR" altLang="en-US" sz="1600" b="1">
                <a:solidFill>
                  <a:srgbClr val="1E3A8A"/>
                </a:solidFill>
                <a:latin typeface="FEF3C7"/>
              </a:rPr>
              <a:t>중간 </a:t>
            </a:r>
            <a:r>
              <a:rPr lang="en-US" altLang="ko-KR" sz="1600" b="1">
                <a:solidFill>
                  <a:srgbClr val="1E3A8A"/>
                </a:solidFill>
                <a:latin typeface="FEF3C7"/>
              </a:rPr>
              <a:t>din_bit </a:t>
            </a:r>
            <a:r>
              <a:rPr lang="ko-KR" altLang="en-US" sz="1600" b="1">
                <a:solidFill>
                  <a:srgbClr val="1E3A8A"/>
                </a:solidFill>
                <a:latin typeface="FEF3C7"/>
              </a:rPr>
              <a:t>변화를 따라감 → </a:t>
            </a:r>
            <a:r>
              <a:rPr lang="en-US" altLang="ko-KR" sz="1600" b="1">
                <a:solidFill>
                  <a:srgbClr val="1E3A8A"/>
                </a:solidFill>
                <a:latin typeface="FEF3C7"/>
              </a:rPr>
              <a:t>posedge </a:t>
            </a:r>
            <a:r>
              <a:rPr lang="ko-KR" altLang="en-US" sz="1600" b="1">
                <a:solidFill>
                  <a:srgbClr val="1E3A8A"/>
                </a:solidFill>
                <a:latin typeface="FEF3C7"/>
              </a:rPr>
              <a:t>순간 값만 </a:t>
            </a:r>
            <a:r>
              <a:rPr lang="en-US" altLang="ko-KR" sz="1600" b="1">
                <a:solidFill>
                  <a:srgbClr val="1E3A8A"/>
                </a:solidFill>
                <a:latin typeface="FEF3C7"/>
              </a:rPr>
              <a:t>state</a:t>
            </a:r>
            <a:r>
              <a:rPr lang="ko-KR" altLang="en-US" sz="1600" b="1">
                <a:solidFill>
                  <a:srgbClr val="1E3A8A"/>
                </a:solidFill>
                <a:latin typeface="FEF3C7"/>
              </a:rPr>
              <a:t>로 반영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495F555-35D8-AB47-CF74-A0DF1ABE2A20}"/>
              </a:ext>
            </a:extLst>
          </p:cNvPr>
          <p:cNvSpPr txBox="1"/>
          <p:nvPr/>
        </p:nvSpPr>
        <p:spPr>
          <a:xfrm>
            <a:off x="10668000" y="6591300"/>
            <a:ext cx="1143000" cy="19050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pPr algn="r"/>
            <a:r>
              <a:rPr lang="en-US" altLang="ko-KR" sz="1100">
                <a:solidFill>
                  <a:srgbClr val="94A3B8"/>
                </a:solidFill>
                <a:latin typeface="FEF3C7"/>
              </a:rPr>
              <a:t>24 / 39</a:t>
            </a:r>
            <a:endParaRPr lang="ko-KR" altLang="en-US" sz="1100">
              <a:solidFill>
                <a:srgbClr val="94A3B8"/>
              </a:solidFill>
              <a:latin typeface="FEF3C7"/>
            </a:endParaRPr>
          </a:p>
        </p:txBody>
      </p:sp>
    </p:spTree>
    <p:extLst>
      <p:ext uri="{BB962C8B-B14F-4D97-AF65-F5344CB8AC3E}">
        <p14:creationId xmlns:p14="http://schemas.microsoft.com/office/powerpoint/2010/main" val="17281794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CDA2F3C-EFE9-1645-A4DB-319969B735FB}"/>
              </a:ext>
            </a:extLst>
          </p:cNvPr>
          <p:cNvSpPr txBox="1"/>
          <p:nvPr/>
        </p:nvSpPr>
        <p:spPr>
          <a:xfrm>
            <a:off x="381000" y="133350"/>
            <a:ext cx="9525000" cy="2095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altLang="ko-KR" sz="1300" b="1">
                <a:solidFill>
                  <a:srgbClr val="2563EB"/>
                </a:solidFill>
                <a:latin typeface="FEF3C7"/>
              </a:rPr>
              <a:t>04  ·  Homework-1 </a:t>
            </a:r>
            <a:r>
              <a:rPr lang="ko-KR" altLang="en-US" sz="1300" b="1">
                <a:solidFill>
                  <a:srgbClr val="2563EB"/>
                </a:solidFill>
                <a:latin typeface="FEF3C7"/>
              </a:rPr>
              <a:t>시뮬레이션  </a:t>
            </a:r>
            <a:r>
              <a:rPr lang="en-US" altLang="ko-KR" sz="1300" b="1">
                <a:solidFill>
                  <a:srgbClr val="2563EB"/>
                </a:solidFill>
                <a:latin typeface="FEF3C7"/>
              </a:rPr>
              <a:t>·  S3 · din_bit = 0</a:t>
            </a:r>
            <a:endParaRPr lang="ko-KR" altLang="en-US" sz="1300" b="1">
              <a:solidFill>
                <a:srgbClr val="2563EB"/>
              </a:solidFill>
              <a:latin typeface="FEF3C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F4144E-614B-9300-855A-C8F46184323F}"/>
              </a:ext>
            </a:extLst>
          </p:cNvPr>
          <p:cNvSpPr txBox="1"/>
          <p:nvPr/>
        </p:nvSpPr>
        <p:spPr>
          <a:xfrm>
            <a:off x="381000" y="342900"/>
            <a:ext cx="10096500" cy="4381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altLang="ko-KR" sz="2600" b="1">
                <a:solidFill>
                  <a:srgbClr val="0F172A"/>
                </a:solidFill>
                <a:latin typeface="FEF3C7"/>
              </a:rPr>
              <a:t>S3 with din_bit = 0 Returns Both Machines to S1</a:t>
            </a:r>
            <a:endParaRPr lang="ko-KR" altLang="en-US" sz="2600" b="1">
              <a:solidFill>
                <a:srgbClr val="0F172A"/>
              </a:solidFill>
              <a:latin typeface="FEF3C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76B1FF6-A23D-B479-BB30-829E37EAD555}"/>
              </a:ext>
            </a:extLst>
          </p:cNvPr>
          <p:cNvSpPr/>
          <p:nvPr/>
        </p:nvSpPr>
        <p:spPr>
          <a:xfrm>
            <a:off x="381000" y="819150"/>
            <a:ext cx="666750" cy="381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2F945B-D212-FD81-EA62-6B492D1002EC}"/>
              </a:ext>
            </a:extLst>
          </p:cNvPr>
          <p:cNvSpPr txBox="1"/>
          <p:nvPr/>
        </p:nvSpPr>
        <p:spPr>
          <a:xfrm>
            <a:off x="10572750" y="133350"/>
            <a:ext cx="1238250" cy="60960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pPr algn="r"/>
            <a:r>
              <a:rPr lang="en-US" altLang="ko-KR" sz="4000" b="1">
                <a:solidFill>
                  <a:srgbClr val="BFDBFE"/>
                </a:solidFill>
                <a:latin typeface="FEF3C7"/>
              </a:rPr>
              <a:t>04</a:t>
            </a:r>
            <a:endParaRPr lang="ko-KR" altLang="en-US" sz="4000" b="1">
              <a:solidFill>
                <a:srgbClr val="BFDBFE"/>
              </a:solidFill>
              <a:latin typeface="FEF3C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3FF00AD9-25F4-A3B0-06FC-B066039959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146" y="1257300"/>
            <a:ext cx="10101709" cy="2386488"/>
          </a:xfrm>
          <a:prstGeom prst="rect">
            <a:avLst/>
          </a:prstGeom>
        </p:spPr>
      </p:pic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07305946-3A1A-29E8-E2AC-3F4353E5C8D5}"/>
              </a:ext>
            </a:extLst>
          </p:cNvPr>
          <p:cNvCxnSpPr/>
          <p:nvPr/>
        </p:nvCxnSpPr>
        <p:spPr>
          <a:xfrm>
            <a:off x="4542606" y="1852613"/>
            <a:ext cx="0" cy="1785937"/>
          </a:xfrm>
          <a:prstGeom prst="line">
            <a:avLst/>
          </a:prstGeom>
          <a:ln w="25400">
            <a:solidFill>
              <a:srgbClr val="F9731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타원 8">
            <a:extLst>
              <a:ext uri="{FF2B5EF4-FFF2-40B4-BE49-F238E27FC236}">
                <a16:creationId xmlns:a16="http://schemas.microsoft.com/office/drawing/2014/main" id="{8C92CBC7-F01A-4CEA-E94A-EA5DE01A9C50}"/>
              </a:ext>
            </a:extLst>
          </p:cNvPr>
          <p:cNvSpPr/>
          <p:nvPr/>
        </p:nvSpPr>
        <p:spPr>
          <a:xfrm>
            <a:off x="4437831" y="990600"/>
            <a:ext cx="209550" cy="209550"/>
          </a:xfrm>
          <a:prstGeom prst="ellipse">
            <a:avLst/>
          </a:prstGeom>
          <a:solidFill>
            <a:srgbClr val="EA580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/>
            <a:r>
              <a:rPr lang="en-US" altLang="ko-KR" sz="1100" b="1">
                <a:solidFill>
                  <a:srgbClr val="FFFFFF"/>
                </a:solidFill>
                <a:latin typeface="FEF3C7"/>
              </a:rPr>
              <a:t>1</a:t>
            </a:r>
            <a:endParaRPr lang="ko-KR" altLang="en-US" sz="1100" b="1">
              <a:solidFill>
                <a:srgbClr val="FFFFFF"/>
              </a:solidFill>
              <a:latin typeface="FEF3C7"/>
            </a:endParaRP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2EA1E7DE-8433-13DE-C59C-419CC268A90C}"/>
              </a:ext>
            </a:extLst>
          </p:cNvPr>
          <p:cNvCxnSpPr/>
          <p:nvPr/>
        </p:nvCxnSpPr>
        <p:spPr>
          <a:xfrm>
            <a:off x="6179716" y="1852613"/>
            <a:ext cx="0" cy="1785937"/>
          </a:xfrm>
          <a:prstGeom prst="line">
            <a:avLst/>
          </a:prstGeom>
          <a:ln w="25400">
            <a:solidFill>
              <a:srgbClr val="F9731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타원 10">
            <a:extLst>
              <a:ext uri="{FF2B5EF4-FFF2-40B4-BE49-F238E27FC236}">
                <a16:creationId xmlns:a16="http://schemas.microsoft.com/office/drawing/2014/main" id="{9A639C57-0AC2-2500-27F2-9C7BA43F7C52}"/>
              </a:ext>
            </a:extLst>
          </p:cNvPr>
          <p:cNvSpPr/>
          <p:nvPr/>
        </p:nvSpPr>
        <p:spPr>
          <a:xfrm>
            <a:off x="6074941" y="990600"/>
            <a:ext cx="209550" cy="209550"/>
          </a:xfrm>
          <a:prstGeom prst="ellipse">
            <a:avLst/>
          </a:prstGeom>
          <a:solidFill>
            <a:srgbClr val="EA580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/>
            <a:r>
              <a:rPr lang="en-US" altLang="ko-KR" sz="1100" b="1">
                <a:solidFill>
                  <a:srgbClr val="FFFFFF"/>
                </a:solidFill>
                <a:latin typeface="FEF3C7"/>
              </a:rPr>
              <a:t>2</a:t>
            </a:r>
            <a:endParaRPr lang="ko-KR" altLang="en-US" sz="1100" b="1">
              <a:solidFill>
                <a:srgbClr val="FFFFFF"/>
              </a:solidFill>
              <a:latin typeface="FEF3C7"/>
            </a:endParaRP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548BD053-1BDA-329E-C98C-D8719B92E182}"/>
              </a:ext>
            </a:extLst>
          </p:cNvPr>
          <p:cNvCxnSpPr/>
          <p:nvPr/>
        </p:nvCxnSpPr>
        <p:spPr>
          <a:xfrm>
            <a:off x="7798222" y="1852613"/>
            <a:ext cx="0" cy="1785937"/>
          </a:xfrm>
          <a:prstGeom prst="line">
            <a:avLst/>
          </a:prstGeom>
          <a:ln w="25400">
            <a:solidFill>
              <a:srgbClr val="F9731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타원 12">
            <a:extLst>
              <a:ext uri="{FF2B5EF4-FFF2-40B4-BE49-F238E27FC236}">
                <a16:creationId xmlns:a16="http://schemas.microsoft.com/office/drawing/2014/main" id="{1EFCBD3A-333F-2258-7FFA-BD08263E3B83}"/>
              </a:ext>
            </a:extLst>
          </p:cNvPr>
          <p:cNvSpPr/>
          <p:nvPr/>
        </p:nvSpPr>
        <p:spPr>
          <a:xfrm>
            <a:off x="7693447" y="990600"/>
            <a:ext cx="209550" cy="209550"/>
          </a:xfrm>
          <a:prstGeom prst="ellipse">
            <a:avLst/>
          </a:prstGeom>
          <a:solidFill>
            <a:srgbClr val="EA580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/>
            <a:r>
              <a:rPr lang="en-US" altLang="ko-KR" sz="1100" b="1">
                <a:solidFill>
                  <a:srgbClr val="FFFFFF"/>
                </a:solidFill>
                <a:latin typeface="FEF3C7"/>
              </a:rPr>
              <a:t>3</a:t>
            </a:r>
            <a:endParaRPr lang="ko-KR" altLang="en-US" sz="1100" b="1">
              <a:solidFill>
                <a:srgbClr val="FFFFFF"/>
              </a:solidFill>
              <a:latin typeface="FEF3C7"/>
            </a:endParaRPr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A5207FCD-DE6B-6CD2-1349-3EBCC1998892}"/>
              </a:ext>
            </a:extLst>
          </p:cNvPr>
          <p:cNvCxnSpPr/>
          <p:nvPr/>
        </p:nvCxnSpPr>
        <p:spPr>
          <a:xfrm>
            <a:off x="9435331" y="1852613"/>
            <a:ext cx="0" cy="1785937"/>
          </a:xfrm>
          <a:prstGeom prst="line">
            <a:avLst/>
          </a:prstGeom>
          <a:ln w="25400">
            <a:solidFill>
              <a:srgbClr val="F9731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타원 14">
            <a:extLst>
              <a:ext uri="{FF2B5EF4-FFF2-40B4-BE49-F238E27FC236}">
                <a16:creationId xmlns:a16="http://schemas.microsoft.com/office/drawing/2014/main" id="{6342B557-B375-5BFF-FF23-331F31C6446B}"/>
              </a:ext>
            </a:extLst>
          </p:cNvPr>
          <p:cNvSpPr/>
          <p:nvPr/>
        </p:nvSpPr>
        <p:spPr>
          <a:xfrm>
            <a:off x="9330556" y="990600"/>
            <a:ext cx="209550" cy="209550"/>
          </a:xfrm>
          <a:prstGeom prst="ellipse">
            <a:avLst/>
          </a:prstGeom>
          <a:solidFill>
            <a:srgbClr val="EA580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/>
            <a:r>
              <a:rPr lang="en-US" altLang="ko-KR" sz="1100" b="1">
                <a:solidFill>
                  <a:srgbClr val="FFFFFF"/>
                </a:solidFill>
                <a:latin typeface="FEF3C7"/>
              </a:rPr>
              <a:t>4</a:t>
            </a:r>
            <a:endParaRPr lang="ko-KR" altLang="en-US" sz="1100" b="1">
              <a:solidFill>
                <a:srgbClr val="FFFFFF"/>
              </a:solidFill>
              <a:latin typeface="FEF3C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ACE13C9-AF14-B7B0-6B5D-2674A6DB470F}"/>
              </a:ext>
            </a:extLst>
          </p:cNvPr>
          <p:cNvSpPr/>
          <p:nvPr/>
        </p:nvSpPr>
        <p:spPr>
          <a:xfrm>
            <a:off x="7798222" y="2745581"/>
            <a:ext cx="1599902" cy="446485"/>
          </a:xfrm>
          <a:prstGeom prst="rect">
            <a:avLst/>
          </a:prstGeom>
          <a:noFill/>
          <a:ln w="31750" cap="flat" cmpd="sng" algn="ctr">
            <a:solidFill>
              <a:srgbClr val="22C55E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F6B81CA-227E-5247-E3BD-9C638B557C08}"/>
              </a:ext>
            </a:extLst>
          </p:cNvPr>
          <p:cNvSpPr/>
          <p:nvPr/>
        </p:nvSpPr>
        <p:spPr>
          <a:xfrm>
            <a:off x="7798222" y="3192066"/>
            <a:ext cx="1599902" cy="446484"/>
          </a:xfrm>
          <a:prstGeom prst="rect">
            <a:avLst/>
          </a:prstGeom>
          <a:noFill/>
          <a:ln w="31750" cap="flat" cmpd="sng" algn="ctr">
            <a:solidFill>
              <a:srgbClr val="22C55E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/>
            <a:endParaRPr lang="ko-KR" altLang="en-US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1BBBE80D-F0E4-02E6-E635-F021E9C03453}"/>
              </a:ext>
            </a:extLst>
          </p:cNvPr>
          <p:cNvSpPr/>
          <p:nvPr/>
        </p:nvSpPr>
        <p:spPr>
          <a:xfrm>
            <a:off x="1123950" y="4152900"/>
            <a:ext cx="609600" cy="609600"/>
          </a:xfrm>
          <a:prstGeom prst="ellipse">
            <a:avLst/>
          </a:prstGeom>
          <a:solidFill>
            <a:srgbClr val="EFF6FF"/>
          </a:solidFill>
          <a:ln w="25400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altLang="ko-KR" sz="1700" b="1">
                <a:solidFill>
                  <a:srgbClr val="0F172A"/>
                </a:solidFill>
                <a:latin typeface="EFF6FF"/>
              </a:rPr>
              <a:t>S0</a:t>
            </a:r>
            <a:endParaRPr lang="ko-KR" altLang="en-US" sz="1700" b="1">
              <a:solidFill>
                <a:srgbClr val="0F172A"/>
              </a:solidFill>
              <a:latin typeface="EFF6FF"/>
            </a:endParaRPr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1134B8BF-B267-E18A-C1D1-4554987D33DC}"/>
              </a:ext>
            </a:extLst>
          </p:cNvPr>
          <p:cNvCxnSpPr/>
          <p:nvPr/>
        </p:nvCxnSpPr>
        <p:spPr>
          <a:xfrm>
            <a:off x="1771650" y="4457700"/>
            <a:ext cx="1600200" cy="0"/>
          </a:xfrm>
          <a:prstGeom prst="line">
            <a:avLst/>
          </a:prstGeom>
          <a:ln w="25400">
            <a:solidFill>
              <a:srgbClr val="1F2A44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90193590-4AFE-A89B-B893-30285D0056F6}"/>
              </a:ext>
            </a:extLst>
          </p:cNvPr>
          <p:cNvSpPr txBox="1"/>
          <p:nvPr/>
        </p:nvSpPr>
        <p:spPr>
          <a:xfrm>
            <a:off x="1524000" y="4076700"/>
            <a:ext cx="2095500" cy="22860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pPr algn="ctr"/>
            <a:r>
              <a:rPr lang="en-US" altLang="ko-KR" sz="1500" b="1">
                <a:solidFill>
                  <a:srgbClr val="1F2A44"/>
                </a:solidFill>
                <a:latin typeface="EFF6FF"/>
              </a:rPr>
              <a:t>① din 0</a:t>
            </a:r>
            <a:endParaRPr lang="ko-KR" altLang="en-US" sz="1500" b="1">
              <a:solidFill>
                <a:srgbClr val="1F2A44"/>
              </a:solidFill>
              <a:latin typeface="EFF6FF"/>
            </a:endParaRPr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A22DF713-FD59-802B-42EC-EF71C0CA2131}"/>
              </a:ext>
            </a:extLst>
          </p:cNvPr>
          <p:cNvSpPr/>
          <p:nvPr/>
        </p:nvSpPr>
        <p:spPr>
          <a:xfrm>
            <a:off x="3409950" y="4152900"/>
            <a:ext cx="609600" cy="609600"/>
          </a:xfrm>
          <a:prstGeom prst="ellipse">
            <a:avLst/>
          </a:prstGeom>
          <a:solidFill>
            <a:srgbClr val="EFF6FF"/>
          </a:solidFill>
          <a:ln w="25400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altLang="ko-KR" sz="1700" b="1">
                <a:solidFill>
                  <a:srgbClr val="0F172A"/>
                </a:solidFill>
                <a:latin typeface="EFF6FF"/>
              </a:rPr>
              <a:t>S1</a:t>
            </a:r>
            <a:endParaRPr lang="ko-KR" altLang="en-US" sz="1700" b="1">
              <a:solidFill>
                <a:srgbClr val="0F172A"/>
              </a:solidFill>
              <a:latin typeface="EFF6FF"/>
            </a:endParaRPr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C4E87500-9223-1F93-A30F-670F298448AA}"/>
              </a:ext>
            </a:extLst>
          </p:cNvPr>
          <p:cNvCxnSpPr/>
          <p:nvPr/>
        </p:nvCxnSpPr>
        <p:spPr>
          <a:xfrm>
            <a:off x="4057650" y="4457700"/>
            <a:ext cx="1600200" cy="0"/>
          </a:xfrm>
          <a:prstGeom prst="line">
            <a:avLst/>
          </a:prstGeom>
          <a:ln w="25400">
            <a:solidFill>
              <a:srgbClr val="1F2A44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4BE6B305-9146-CA53-02E6-B539A72827F3}"/>
              </a:ext>
            </a:extLst>
          </p:cNvPr>
          <p:cNvSpPr txBox="1"/>
          <p:nvPr/>
        </p:nvSpPr>
        <p:spPr>
          <a:xfrm>
            <a:off x="3810000" y="4076700"/>
            <a:ext cx="2095500" cy="22860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pPr algn="ctr"/>
            <a:r>
              <a:rPr lang="en-US" altLang="ko-KR" sz="1500" b="1">
                <a:solidFill>
                  <a:srgbClr val="1F2A44"/>
                </a:solidFill>
                <a:latin typeface="EFF6FF"/>
              </a:rPr>
              <a:t>② din 1</a:t>
            </a:r>
            <a:endParaRPr lang="ko-KR" altLang="en-US" sz="1500" b="1">
              <a:solidFill>
                <a:srgbClr val="1F2A44"/>
              </a:solidFill>
              <a:latin typeface="EFF6FF"/>
            </a:endParaRPr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3003846C-0356-89C8-161D-62DA2A9CB801}"/>
              </a:ext>
            </a:extLst>
          </p:cNvPr>
          <p:cNvSpPr/>
          <p:nvPr/>
        </p:nvSpPr>
        <p:spPr>
          <a:xfrm>
            <a:off x="5695950" y="4152900"/>
            <a:ext cx="609600" cy="609600"/>
          </a:xfrm>
          <a:prstGeom prst="ellipse">
            <a:avLst/>
          </a:prstGeom>
          <a:solidFill>
            <a:srgbClr val="EFF6FF"/>
          </a:solidFill>
          <a:ln w="25400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altLang="ko-KR" sz="1700" b="1">
                <a:solidFill>
                  <a:srgbClr val="0F172A"/>
                </a:solidFill>
                <a:latin typeface="EFF6FF"/>
              </a:rPr>
              <a:t>S2</a:t>
            </a:r>
            <a:endParaRPr lang="ko-KR" altLang="en-US" sz="1700" b="1">
              <a:solidFill>
                <a:srgbClr val="0F172A"/>
              </a:solidFill>
              <a:latin typeface="EFF6FF"/>
            </a:endParaRPr>
          </a:p>
        </p:txBody>
      </p: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C99865B6-2739-CF06-AF0D-137B112B20DB}"/>
              </a:ext>
            </a:extLst>
          </p:cNvPr>
          <p:cNvCxnSpPr/>
          <p:nvPr/>
        </p:nvCxnSpPr>
        <p:spPr>
          <a:xfrm>
            <a:off x="6343650" y="4457700"/>
            <a:ext cx="1600200" cy="0"/>
          </a:xfrm>
          <a:prstGeom prst="line">
            <a:avLst/>
          </a:prstGeom>
          <a:ln w="25400">
            <a:solidFill>
              <a:srgbClr val="1F2A44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D5D199D2-CF90-6237-385E-630532B903CA}"/>
              </a:ext>
            </a:extLst>
          </p:cNvPr>
          <p:cNvSpPr txBox="1"/>
          <p:nvPr/>
        </p:nvSpPr>
        <p:spPr>
          <a:xfrm>
            <a:off x="6096000" y="4076700"/>
            <a:ext cx="2095500" cy="22860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pPr algn="ctr"/>
            <a:r>
              <a:rPr lang="en-US" altLang="ko-KR" sz="1500" b="1">
                <a:solidFill>
                  <a:srgbClr val="1F2A44"/>
                </a:solidFill>
                <a:latin typeface="EFF6FF"/>
              </a:rPr>
              <a:t>③ din 0</a:t>
            </a:r>
            <a:endParaRPr lang="ko-KR" altLang="en-US" sz="1500" b="1">
              <a:solidFill>
                <a:srgbClr val="1F2A44"/>
              </a:solidFill>
              <a:latin typeface="EFF6FF"/>
            </a:endParaRPr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58050789-278A-A09A-32CB-FB9687D24C6C}"/>
              </a:ext>
            </a:extLst>
          </p:cNvPr>
          <p:cNvSpPr/>
          <p:nvPr/>
        </p:nvSpPr>
        <p:spPr>
          <a:xfrm>
            <a:off x="7981950" y="4152900"/>
            <a:ext cx="609600" cy="609600"/>
          </a:xfrm>
          <a:prstGeom prst="ellipse">
            <a:avLst/>
          </a:prstGeom>
          <a:solidFill>
            <a:srgbClr val="EFF6FF"/>
          </a:solidFill>
          <a:ln w="25400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altLang="ko-KR" sz="1700" b="1">
                <a:solidFill>
                  <a:srgbClr val="0F172A"/>
                </a:solidFill>
                <a:latin typeface="EFF6FF"/>
              </a:rPr>
              <a:t>S3</a:t>
            </a:r>
            <a:endParaRPr lang="ko-KR" altLang="en-US" sz="1700" b="1">
              <a:solidFill>
                <a:srgbClr val="0F172A"/>
              </a:solidFill>
              <a:latin typeface="EFF6FF"/>
            </a:endParaRPr>
          </a:p>
        </p:txBody>
      </p: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E4D0D7F3-863B-88C6-2B8D-096C80B3628B}"/>
              </a:ext>
            </a:extLst>
          </p:cNvPr>
          <p:cNvCxnSpPr/>
          <p:nvPr/>
        </p:nvCxnSpPr>
        <p:spPr>
          <a:xfrm>
            <a:off x="8629650" y="4457700"/>
            <a:ext cx="1600200" cy="0"/>
          </a:xfrm>
          <a:prstGeom prst="line">
            <a:avLst/>
          </a:prstGeom>
          <a:ln w="25400">
            <a:solidFill>
              <a:srgbClr val="1F2A44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3282488B-DE49-0F17-4899-2DC043F3430C}"/>
              </a:ext>
            </a:extLst>
          </p:cNvPr>
          <p:cNvSpPr txBox="1"/>
          <p:nvPr/>
        </p:nvSpPr>
        <p:spPr>
          <a:xfrm>
            <a:off x="8382000" y="4076700"/>
            <a:ext cx="2095500" cy="22860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pPr algn="ctr"/>
            <a:r>
              <a:rPr lang="en-US" altLang="ko-KR" sz="1500" b="1">
                <a:solidFill>
                  <a:srgbClr val="1F2A44"/>
                </a:solidFill>
                <a:latin typeface="EFF6FF"/>
              </a:rPr>
              <a:t>④ din 0</a:t>
            </a:r>
            <a:endParaRPr lang="ko-KR" altLang="en-US" sz="1500" b="1">
              <a:solidFill>
                <a:srgbClr val="1F2A44"/>
              </a:solidFill>
              <a:latin typeface="EFF6FF"/>
            </a:endParaRPr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1C7E4F87-2C6D-B4D5-1871-EB8137B1AA0A}"/>
              </a:ext>
            </a:extLst>
          </p:cNvPr>
          <p:cNvSpPr/>
          <p:nvPr/>
        </p:nvSpPr>
        <p:spPr>
          <a:xfrm>
            <a:off x="10267950" y="4152900"/>
            <a:ext cx="609600" cy="609600"/>
          </a:xfrm>
          <a:prstGeom prst="ellipse">
            <a:avLst/>
          </a:prstGeom>
          <a:solidFill>
            <a:srgbClr val="EFF6FF"/>
          </a:solidFill>
          <a:ln w="25400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altLang="ko-KR" sz="1700" b="1">
                <a:solidFill>
                  <a:srgbClr val="0F172A"/>
                </a:solidFill>
                <a:latin typeface="EFF6FF"/>
              </a:rPr>
              <a:t>S1</a:t>
            </a:r>
            <a:endParaRPr lang="ko-KR" altLang="en-US" sz="1700" b="1">
              <a:solidFill>
                <a:srgbClr val="0F172A"/>
              </a:solidFill>
              <a:latin typeface="EFF6FF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7F0A5BF0-D387-F694-C524-A3A1BFE227DE}"/>
              </a:ext>
            </a:extLst>
          </p:cNvPr>
          <p:cNvSpPr/>
          <p:nvPr/>
        </p:nvSpPr>
        <p:spPr>
          <a:xfrm>
            <a:off x="381000" y="5219700"/>
            <a:ext cx="11430000" cy="609600"/>
          </a:xfrm>
          <a:prstGeom prst="rect">
            <a:avLst/>
          </a:prstGeom>
          <a:solidFill>
            <a:srgbClr val="EFF6FF"/>
          </a:solidFill>
          <a:ln w="12700">
            <a:solidFill>
              <a:srgbClr val="93C5F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endParaRPr lang="ko-KR" alt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A9C6BB2-7531-29BD-7105-5E9BEDCAC757}"/>
              </a:ext>
            </a:extLst>
          </p:cNvPr>
          <p:cNvSpPr txBox="1"/>
          <p:nvPr/>
        </p:nvSpPr>
        <p:spPr>
          <a:xfrm>
            <a:off x="514350" y="5219700"/>
            <a:ext cx="11201400" cy="60960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altLang="ko-KR" sz="1700" b="1">
                <a:solidFill>
                  <a:srgbClr val="1E3A8A"/>
                </a:solidFill>
                <a:latin typeface="FEF3C7"/>
              </a:rPr>
              <a:t>"0100"</a:t>
            </a:r>
            <a:r>
              <a:rPr lang="ko-KR" altLang="en-US" sz="1700" b="1">
                <a:solidFill>
                  <a:srgbClr val="1E3A8A"/>
                </a:solidFill>
                <a:latin typeface="FEF3C7"/>
              </a:rPr>
              <a:t>의 마지막 </a:t>
            </a:r>
            <a:r>
              <a:rPr lang="en-US" altLang="ko-KR" sz="1700" b="1">
                <a:solidFill>
                  <a:srgbClr val="1E3A8A"/>
                </a:solidFill>
                <a:latin typeface="FEF3C7"/>
              </a:rPr>
              <a:t>0 = </a:t>
            </a:r>
            <a:r>
              <a:rPr lang="ko-KR" altLang="en-US" sz="1700" b="1">
                <a:solidFill>
                  <a:srgbClr val="1E3A8A"/>
                </a:solidFill>
                <a:latin typeface="FEF3C7"/>
              </a:rPr>
              <a:t>새 시작 </a:t>
            </a:r>
            <a:r>
              <a:rPr lang="en-US" altLang="ko-KR" sz="1700" b="1">
                <a:solidFill>
                  <a:srgbClr val="1E3A8A"/>
                </a:solidFill>
                <a:latin typeface="FEF3C7"/>
              </a:rPr>
              <a:t>bit → Mealy · Moore </a:t>
            </a:r>
            <a:r>
              <a:rPr lang="ko-KR" altLang="en-US" sz="1700" b="1">
                <a:solidFill>
                  <a:srgbClr val="1E3A8A"/>
                </a:solidFill>
                <a:latin typeface="FEF3C7"/>
              </a:rPr>
              <a:t>모두 </a:t>
            </a:r>
            <a:r>
              <a:rPr lang="en-US" altLang="ko-KR" sz="1700" b="1">
                <a:solidFill>
                  <a:srgbClr val="1E3A8A"/>
                </a:solidFill>
                <a:latin typeface="FEF3C7"/>
              </a:rPr>
              <a:t>S1</a:t>
            </a:r>
            <a:endParaRPr lang="ko-KR" altLang="en-US" sz="1700" b="1">
              <a:solidFill>
                <a:srgbClr val="1E3A8A"/>
              </a:solidFill>
              <a:latin typeface="FEF3C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6B58C84-D2BB-8179-0158-9374F064C2DB}"/>
              </a:ext>
            </a:extLst>
          </p:cNvPr>
          <p:cNvSpPr txBox="1"/>
          <p:nvPr/>
        </p:nvSpPr>
        <p:spPr>
          <a:xfrm>
            <a:off x="10668000" y="6591300"/>
            <a:ext cx="1143000" cy="19050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pPr algn="r"/>
            <a:r>
              <a:rPr lang="en-US" altLang="ko-KR" sz="1100">
                <a:solidFill>
                  <a:srgbClr val="94A3B8"/>
                </a:solidFill>
                <a:latin typeface="FEF3C7"/>
              </a:rPr>
              <a:t>25 / 39</a:t>
            </a:r>
            <a:endParaRPr lang="ko-KR" altLang="en-US" sz="1100">
              <a:solidFill>
                <a:srgbClr val="94A3B8"/>
              </a:solidFill>
              <a:latin typeface="FEF3C7"/>
            </a:endParaRPr>
          </a:p>
        </p:txBody>
      </p:sp>
    </p:spTree>
    <p:extLst>
      <p:ext uri="{BB962C8B-B14F-4D97-AF65-F5344CB8AC3E}">
        <p14:creationId xmlns:p14="http://schemas.microsoft.com/office/powerpoint/2010/main" val="9960737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AD5DD27-BDCF-BAA6-3AB7-750B11175A39}"/>
              </a:ext>
            </a:extLst>
          </p:cNvPr>
          <p:cNvSpPr txBox="1"/>
          <p:nvPr/>
        </p:nvSpPr>
        <p:spPr>
          <a:xfrm>
            <a:off x="381000" y="133350"/>
            <a:ext cx="9525000" cy="2095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altLang="ko-KR" sz="1300" b="1">
                <a:solidFill>
                  <a:srgbClr val="2563EB"/>
                </a:solidFill>
                <a:latin typeface="FEF3C7"/>
              </a:rPr>
              <a:t>04  ·  Homework-1 </a:t>
            </a:r>
            <a:r>
              <a:rPr lang="ko-KR" altLang="en-US" sz="1300" b="1">
                <a:solidFill>
                  <a:srgbClr val="2563EB"/>
                </a:solidFill>
                <a:latin typeface="FEF3C7"/>
              </a:rPr>
              <a:t>시뮬레이션  </a:t>
            </a:r>
            <a:r>
              <a:rPr lang="en-US" altLang="ko-KR" sz="1300" b="1">
                <a:solidFill>
                  <a:srgbClr val="2563EB"/>
                </a:solidFill>
                <a:latin typeface="FEF3C7"/>
              </a:rPr>
              <a:t>·  Mealy vs Moore</a:t>
            </a:r>
            <a:endParaRPr lang="ko-KR" altLang="en-US" sz="1300" b="1">
              <a:solidFill>
                <a:srgbClr val="2563EB"/>
              </a:solidFill>
              <a:latin typeface="FEF3C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25F3D6B-6D04-E89B-719A-7D65F62D4998}"/>
              </a:ext>
            </a:extLst>
          </p:cNvPr>
          <p:cNvSpPr txBox="1"/>
          <p:nvPr/>
        </p:nvSpPr>
        <p:spPr>
          <a:xfrm>
            <a:off x="381000" y="342900"/>
            <a:ext cx="10096500" cy="4381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altLang="ko-KR" sz="2600" b="1">
                <a:solidFill>
                  <a:srgbClr val="0F172A"/>
                </a:solidFill>
                <a:latin typeface="FEF3C7"/>
              </a:rPr>
              <a:t>Mealy Responds Faster, Moore Gives a Clock-aligned Output</a:t>
            </a:r>
            <a:endParaRPr lang="ko-KR" altLang="en-US" sz="2600" b="1">
              <a:solidFill>
                <a:srgbClr val="0F172A"/>
              </a:solidFill>
              <a:latin typeface="FEF3C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F44D4B0-5FDB-0CE4-2C2A-287CC078AEE7}"/>
              </a:ext>
            </a:extLst>
          </p:cNvPr>
          <p:cNvSpPr/>
          <p:nvPr/>
        </p:nvSpPr>
        <p:spPr>
          <a:xfrm>
            <a:off x="381000" y="819150"/>
            <a:ext cx="666750" cy="381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773A40-AD46-C2C9-12A9-9B28A5AFD24D}"/>
              </a:ext>
            </a:extLst>
          </p:cNvPr>
          <p:cNvSpPr txBox="1"/>
          <p:nvPr/>
        </p:nvSpPr>
        <p:spPr>
          <a:xfrm>
            <a:off x="10572750" y="133350"/>
            <a:ext cx="1238250" cy="60960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pPr algn="r"/>
            <a:r>
              <a:rPr lang="en-US" altLang="ko-KR" sz="4000" b="1">
                <a:solidFill>
                  <a:srgbClr val="BFDBFE"/>
                </a:solidFill>
                <a:latin typeface="FEF3C7"/>
              </a:rPr>
              <a:t>04</a:t>
            </a:r>
            <a:endParaRPr lang="ko-KR" altLang="en-US" sz="4000" b="1">
              <a:solidFill>
                <a:srgbClr val="BFDBFE"/>
              </a:solidFill>
              <a:latin typeface="FEF3C7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94184A64-1EFA-6C62-309F-01D7FEA0F3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6473987"/>
              </p:ext>
            </p:extLst>
          </p:nvPr>
        </p:nvGraphicFramePr>
        <p:xfrm>
          <a:off x="381000" y="1143000"/>
          <a:ext cx="11430000" cy="3771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76500">
                  <a:extLst>
                    <a:ext uri="{9D8B030D-6E8A-4147-A177-3AD203B41FA5}">
                      <a16:colId xmlns:a16="http://schemas.microsoft.com/office/drawing/2014/main" val="134721639"/>
                    </a:ext>
                  </a:extLst>
                </a:gridCol>
                <a:gridCol w="4476750">
                  <a:extLst>
                    <a:ext uri="{9D8B030D-6E8A-4147-A177-3AD203B41FA5}">
                      <a16:colId xmlns:a16="http://schemas.microsoft.com/office/drawing/2014/main" val="406746008"/>
                    </a:ext>
                  </a:extLst>
                </a:gridCol>
                <a:gridCol w="4476750">
                  <a:extLst>
                    <a:ext uri="{9D8B030D-6E8A-4147-A177-3AD203B41FA5}">
                      <a16:colId xmlns:a16="http://schemas.microsoft.com/office/drawing/2014/main" val="2283613648"/>
                    </a:ext>
                  </a:extLst>
                </a:gridCol>
              </a:tblGrid>
              <a:tr h="62865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1">
                          <a:solidFill>
                            <a:srgbClr val="FFFFFF"/>
                          </a:solidFill>
                          <a:latin typeface="FEF3C7"/>
                        </a:rPr>
                        <a:t>항목</a:t>
                      </a:r>
                    </a:p>
                  </a:txBody>
                  <a:tcPr marT="25400" marB="25400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1">
                          <a:solidFill>
                            <a:srgbClr val="FFFFFF"/>
                          </a:solidFill>
                          <a:latin typeface="FEF3C7"/>
                        </a:rPr>
                        <a:t>Mealy</a:t>
                      </a:r>
                      <a:endParaRPr lang="ko-KR" altLang="en-US" sz="1800" b="1">
                        <a:solidFill>
                          <a:srgbClr val="FFFFFF"/>
                        </a:solidFill>
                        <a:latin typeface="FEF3C7"/>
                      </a:endParaRPr>
                    </a:p>
                  </a:txBody>
                  <a:tcPr marT="25400" marB="25400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1">
                          <a:solidFill>
                            <a:srgbClr val="FFFFFF"/>
                          </a:solidFill>
                          <a:latin typeface="FEF3C7"/>
                        </a:rPr>
                        <a:t>Moore</a:t>
                      </a:r>
                      <a:endParaRPr lang="ko-KR" altLang="en-US" sz="1800" b="1">
                        <a:solidFill>
                          <a:srgbClr val="FFFFFF"/>
                        </a:solidFill>
                        <a:latin typeface="FEF3C7"/>
                      </a:endParaRPr>
                    </a:p>
                  </a:txBody>
                  <a:tcPr marT="25400" marB="25400" anchor="ctr">
                    <a:solidFill>
                      <a:srgbClr val="1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5488710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>
                          <a:solidFill>
                            <a:srgbClr val="1F2A44"/>
                          </a:solidFill>
                          <a:latin typeface="FEF3C7"/>
                        </a:rPr>
                        <a:t>State </a:t>
                      </a:r>
                      <a:r>
                        <a:rPr lang="ko-KR" altLang="en-US" sz="1800" b="0">
                          <a:solidFill>
                            <a:srgbClr val="1F2A44"/>
                          </a:solidFill>
                          <a:latin typeface="FEF3C7"/>
                        </a:rPr>
                        <a:t>수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>
                          <a:solidFill>
                            <a:srgbClr val="1F2A44"/>
                          </a:solidFill>
                          <a:latin typeface="FEF3C7"/>
                        </a:rPr>
                        <a:t>4</a:t>
                      </a:r>
                      <a:endParaRPr lang="ko-KR" altLang="en-US" sz="1800" b="0">
                        <a:solidFill>
                          <a:srgbClr val="1F2A44"/>
                        </a:solidFill>
                        <a:latin typeface="FEF3C7"/>
                      </a:endParaRP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>
                          <a:solidFill>
                            <a:srgbClr val="1F2A44"/>
                          </a:solidFill>
                          <a:latin typeface="FEF3C7"/>
                        </a:rPr>
                        <a:t>5  (S4 </a:t>
                      </a:r>
                      <a:r>
                        <a:rPr lang="ko-KR" altLang="en-US" sz="1800" b="0">
                          <a:solidFill>
                            <a:srgbClr val="1F2A44"/>
                          </a:solidFill>
                          <a:latin typeface="FEF3C7"/>
                        </a:rPr>
                        <a:t>추가</a:t>
                      </a:r>
                      <a:r>
                        <a:rPr lang="en-US" altLang="ko-KR" sz="1800" b="0">
                          <a:solidFill>
                            <a:srgbClr val="1F2A44"/>
                          </a:solidFill>
                          <a:latin typeface="FEF3C7"/>
                        </a:rPr>
                        <a:t>)</a:t>
                      </a:r>
                      <a:endParaRPr lang="ko-KR" altLang="en-US" sz="1800" b="0">
                        <a:solidFill>
                          <a:srgbClr val="1F2A44"/>
                        </a:solidFill>
                        <a:latin typeface="FEF3C7"/>
                      </a:endParaRP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2908024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0">
                          <a:solidFill>
                            <a:srgbClr val="1F2A44"/>
                          </a:solidFill>
                          <a:latin typeface="FEF3C7"/>
                        </a:rPr>
                        <a:t>출력 결정</a:t>
                      </a:r>
                    </a:p>
                  </a:txBody>
                  <a:tcPr marT="25400" marB="254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>
                          <a:solidFill>
                            <a:srgbClr val="1F2A44"/>
                          </a:solidFill>
                          <a:latin typeface="FEF3C7"/>
                        </a:rPr>
                        <a:t>state + din_bit</a:t>
                      </a:r>
                      <a:endParaRPr lang="ko-KR" altLang="en-US" sz="1800" b="0">
                        <a:solidFill>
                          <a:srgbClr val="1F2A44"/>
                        </a:solidFill>
                        <a:latin typeface="FEF3C7"/>
                      </a:endParaRPr>
                    </a:p>
                  </a:txBody>
                  <a:tcPr marT="25400" marB="254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>
                          <a:solidFill>
                            <a:srgbClr val="1F2A44"/>
                          </a:solidFill>
                          <a:latin typeface="FEF3C7"/>
                        </a:rPr>
                        <a:t>state only</a:t>
                      </a:r>
                      <a:endParaRPr lang="ko-KR" altLang="en-US" sz="1800" b="0">
                        <a:solidFill>
                          <a:srgbClr val="1F2A44"/>
                        </a:solidFill>
                        <a:latin typeface="FEF3C7"/>
                      </a:endParaRPr>
                    </a:p>
                  </a:txBody>
                  <a:tcPr marT="25400" marB="25400"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5330535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0">
                          <a:solidFill>
                            <a:srgbClr val="1F2A44"/>
                          </a:solidFill>
                          <a:latin typeface="FEF3C7"/>
                        </a:rPr>
                        <a:t>출력 시점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>
                          <a:solidFill>
                            <a:srgbClr val="1F2A44"/>
                          </a:solidFill>
                          <a:latin typeface="FEF3C7"/>
                        </a:rPr>
                        <a:t>221 ns  (din_bit </a:t>
                      </a:r>
                      <a:r>
                        <a:rPr lang="ko-KR" altLang="en-US" sz="1800" b="0">
                          <a:solidFill>
                            <a:srgbClr val="1F2A44"/>
                          </a:solidFill>
                          <a:latin typeface="FEF3C7"/>
                        </a:rPr>
                        <a:t>도착 즉시</a:t>
                      </a:r>
                      <a:r>
                        <a:rPr lang="en-US" altLang="ko-KR" sz="1800" b="0">
                          <a:solidFill>
                            <a:srgbClr val="1F2A44"/>
                          </a:solidFill>
                          <a:latin typeface="FEF3C7"/>
                        </a:rPr>
                        <a:t>)</a:t>
                      </a:r>
                      <a:endParaRPr lang="ko-KR" altLang="en-US" sz="1800" b="0">
                        <a:solidFill>
                          <a:srgbClr val="1F2A44"/>
                        </a:solidFill>
                        <a:latin typeface="FEF3C7"/>
                      </a:endParaRP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>
                          <a:solidFill>
                            <a:srgbClr val="1F2A44"/>
                          </a:solidFill>
                          <a:latin typeface="FEF3C7"/>
                        </a:rPr>
                        <a:t>225 ns  (posedge </a:t>
                      </a:r>
                      <a:r>
                        <a:rPr lang="ko-KR" altLang="en-US" sz="1800" b="0">
                          <a:solidFill>
                            <a:srgbClr val="1F2A44"/>
                          </a:solidFill>
                          <a:latin typeface="FEF3C7"/>
                        </a:rPr>
                        <a:t>이후</a:t>
                      </a:r>
                      <a:r>
                        <a:rPr lang="en-US" altLang="ko-KR" sz="1800" b="0">
                          <a:solidFill>
                            <a:srgbClr val="1F2A44"/>
                          </a:solidFill>
                          <a:latin typeface="FEF3C7"/>
                        </a:rPr>
                        <a:t>)</a:t>
                      </a:r>
                      <a:endParaRPr lang="ko-KR" altLang="en-US" sz="1800" b="0">
                        <a:solidFill>
                          <a:srgbClr val="1F2A44"/>
                        </a:solidFill>
                        <a:latin typeface="FEF3C7"/>
                      </a:endParaRP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0069186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0">
                          <a:solidFill>
                            <a:srgbClr val="1F2A44"/>
                          </a:solidFill>
                          <a:latin typeface="FEF3C7"/>
                        </a:rPr>
                        <a:t>출력 폭</a:t>
                      </a:r>
                    </a:p>
                  </a:txBody>
                  <a:tcPr marT="25400" marB="254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>
                          <a:solidFill>
                            <a:srgbClr val="1F2A44"/>
                          </a:solidFill>
                          <a:latin typeface="FEF3C7"/>
                        </a:rPr>
                        <a:t>4 ns  (din_bit </a:t>
                      </a:r>
                      <a:r>
                        <a:rPr lang="ko-KR" altLang="en-US" sz="1800" b="0">
                          <a:solidFill>
                            <a:srgbClr val="1F2A44"/>
                          </a:solidFill>
                          <a:latin typeface="FEF3C7"/>
                        </a:rPr>
                        <a:t>유지 구간</a:t>
                      </a:r>
                      <a:r>
                        <a:rPr lang="en-US" altLang="ko-KR" sz="1800" b="0">
                          <a:solidFill>
                            <a:srgbClr val="1F2A44"/>
                          </a:solidFill>
                          <a:latin typeface="FEF3C7"/>
                        </a:rPr>
                        <a:t>)</a:t>
                      </a:r>
                      <a:endParaRPr lang="ko-KR" altLang="en-US" sz="1800" b="0">
                        <a:solidFill>
                          <a:srgbClr val="1F2A44"/>
                        </a:solidFill>
                        <a:latin typeface="FEF3C7"/>
                      </a:endParaRPr>
                    </a:p>
                  </a:txBody>
                  <a:tcPr marT="25400" marB="254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>
                          <a:solidFill>
                            <a:srgbClr val="1F2A44"/>
                          </a:solidFill>
                          <a:latin typeface="FEF3C7"/>
                        </a:rPr>
                        <a:t>10 ns  (1 clock)</a:t>
                      </a:r>
                      <a:endParaRPr lang="ko-KR" altLang="en-US" sz="1800" b="0">
                        <a:solidFill>
                          <a:srgbClr val="1F2A44"/>
                        </a:solidFill>
                        <a:latin typeface="FEF3C7"/>
                      </a:endParaRPr>
                    </a:p>
                  </a:txBody>
                  <a:tcPr marT="25400" marB="25400"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760648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>
                          <a:solidFill>
                            <a:srgbClr val="1F2A44"/>
                          </a:solidFill>
                          <a:latin typeface="FEF3C7"/>
                        </a:rPr>
                        <a:t>Input glitch</a:t>
                      </a:r>
                      <a:endParaRPr lang="ko-KR" altLang="en-US" sz="1800" b="0">
                        <a:solidFill>
                          <a:srgbClr val="1F2A44"/>
                        </a:solidFill>
                        <a:latin typeface="FEF3C7"/>
                      </a:endParaRP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0">
                          <a:solidFill>
                            <a:srgbClr val="1F2A44"/>
                          </a:solidFill>
                          <a:latin typeface="FEF3C7"/>
                        </a:rPr>
                        <a:t>출력에 전달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>
                          <a:solidFill>
                            <a:srgbClr val="1F2A44"/>
                          </a:solidFill>
                          <a:latin typeface="FEF3C7"/>
                        </a:rPr>
                        <a:t>state FF</a:t>
                      </a:r>
                      <a:r>
                        <a:rPr lang="ko-KR" altLang="en-US" sz="1800" b="0">
                          <a:solidFill>
                            <a:srgbClr val="1F2A44"/>
                          </a:solidFill>
                          <a:latin typeface="FEF3C7"/>
                        </a:rPr>
                        <a:t>에서 차단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780048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05CE4C3E-5F26-B77C-02A0-26F65AE3723B}"/>
              </a:ext>
            </a:extLst>
          </p:cNvPr>
          <p:cNvSpPr txBox="1"/>
          <p:nvPr/>
        </p:nvSpPr>
        <p:spPr>
          <a:xfrm>
            <a:off x="10668000" y="6591300"/>
            <a:ext cx="1143000" cy="19050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pPr algn="r"/>
            <a:r>
              <a:rPr lang="en-US" altLang="ko-KR" sz="1100">
                <a:solidFill>
                  <a:srgbClr val="94A3B8"/>
                </a:solidFill>
                <a:latin typeface="FEF3C7"/>
              </a:rPr>
              <a:t>26 / 39</a:t>
            </a:r>
            <a:endParaRPr lang="ko-KR" altLang="en-US" sz="1100">
              <a:solidFill>
                <a:srgbClr val="94A3B8"/>
              </a:solidFill>
              <a:latin typeface="FEF3C7"/>
            </a:endParaRPr>
          </a:p>
        </p:txBody>
      </p:sp>
    </p:spTree>
    <p:extLst>
      <p:ext uri="{BB962C8B-B14F-4D97-AF65-F5344CB8AC3E}">
        <p14:creationId xmlns:p14="http://schemas.microsoft.com/office/powerpoint/2010/main" val="1108021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2834BF6-03F2-2E9C-BA6A-53AD86057C7C}"/>
              </a:ext>
            </a:extLst>
          </p:cNvPr>
          <p:cNvSpPr txBox="1"/>
          <p:nvPr/>
        </p:nvSpPr>
        <p:spPr>
          <a:xfrm>
            <a:off x="381000" y="133350"/>
            <a:ext cx="9525000" cy="2095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altLang="ko-KR" sz="1300" b="1">
                <a:solidFill>
                  <a:srgbClr val="2563EB"/>
                </a:solidFill>
                <a:latin typeface="FEF3C7"/>
              </a:rPr>
              <a:t>05  ·  Homework-2 </a:t>
            </a:r>
            <a:r>
              <a:rPr lang="ko-KR" altLang="en-US" sz="1300" b="1">
                <a:solidFill>
                  <a:srgbClr val="2563EB"/>
                </a:solidFill>
                <a:latin typeface="FEF3C7"/>
              </a:rPr>
              <a:t>설계  </a:t>
            </a:r>
            <a:r>
              <a:rPr lang="en-US" altLang="ko-KR" sz="1300" b="1">
                <a:solidFill>
                  <a:srgbClr val="2563EB"/>
                </a:solidFill>
                <a:latin typeface="FEF3C7"/>
              </a:rPr>
              <a:t>·  Switch → Button</a:t>
            </a:r>
            <a:endParaRPr lang="ko-KR" altLang="en-US" sz="1300" b="1">
              <a:solidFill>
                <a:srgbClr val="2563EB"/>
              </a:solidFill>
              <a:latin typeface="FEF3C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6691E1-635D-5BC0-19F0-AF9070A90FEA}"/>
              </a:ext>
            </a:extLst>
          </p:cNvPr>
          <p:cNvSpPr txBox="1"/>
          <p:nvPr/>
        </p:nvSpPr>
        <p:spPr>
          <a:xfrm>
            <a:off x="381000" y="342900"/>
            <a:ext cx="10096500" cy="4381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altLang="ko-KR" sz="2600" b="1">
                <a:solidFill>
                  <a:srgbClr val="0F172A"/>
                </a:solidFill>
                <a:latin typeface="FEF3C7"/>
              </a:rPr>
              <a:t>Buttons Return to 0 on Release, Unlike Switches</a:t>
            </a:r>
            <a:endParaRPr lang="ko-KR" altLang="en-US" sz="2600" b="1">
              <a:solidFill>
                <a:srgbClr val="0F172A"/>
              </a:solidFill>
              <a:latin typeface="FEF3C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37EB1CC-736F-3FEB-4001-3111EFB9BAB4}"/>
              </a:ext>
            </a:extLst>
          </p:cNvPr>
          <p:cNvSpPr/>
          <p:nvPr/>
        </p:nvSpPr>
        <p:spPr>
          <a:xfrm>
            <a:off x="381000" y="819150"/>
            <a:ext cx="666750" cy="381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34361A-8ABE-B795-42F1-99BAECBF9651}"/>
              </a:ext>
            </a:extLst>
          </p:cNvPr>
          <p:cNvSpPr txBox="1"/>
          <p:nvPr/>
        </p:nvSpPr>
        <p:spPr>
          <a:xfrm>
            <a:off x="10572750" y="133350"/>
            <a:ext cx="1238250" cy="60960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pPr algn="r"/>
            <a:r>
              <a:rPr lang="en-US" altLang="ko-KR" sz="4000" b="1">
                <a:solidFill>
                  <a:srgbClr val="BFDBFE"/>
                </a:solidFill>
                <a:latin typeface="FEF3C7"/>
              </a:rPr>
              <a:t>05</a:t>
            </a:r>
            <a:endParaRPr lang="ko-KR" altLang="en-US" sz="4000" b="1">
              <a:solidFill>
                <a:srgbClr val="BFDBFE"/>
              </a:solidFill>
              <a:latin typeface="FEF3C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EB13F7B-0680-0E32-6FD9-7ED42E51E676}"/>
              </a:ext>
            </a:extLst>
          </p:cNvPr>
          <p:cNvSpPr txBox="1"/>
          <p:nvPr/>
        </p:nvSpPr>
        <p:spPr>
          <a:xfrm>
            <a:off x="381000" y="1524000"/>
            <a:ext cx="1428750" cy="4762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en-US" altLang="ko-KR" b="1">
                <a:solidFill>
                  <a:srgbClr val="1F2A44"/>
                </a:solidFill>
                <a:latin typeface="FEF3C7"/>
              </a:rPr>
              <a:t>Switch</a:t>
            </a:r>
            <a:endParaRPr lang="ko-KR" altLang="en-US" b="1">
              <a:solidFill>
                <a:srgbClr val="1F2A44"/>
              </a:solidFill>
              <a:latin typeface="FEF3C7"/>
            </a:endParaRPr>
          </a:p>
        </p:txBody>
      </p:sp>
      <p:sp>
        <p:nvSpPr>
          <p:cNvPr id="7" name="자유형: 도형 6">
            <a:extLst>
              <a:ext uri="{FF2B5EF4-FFF2-40B4-BE49-F238E27FC236}">
                <a16:creationId xmlns:a16="http://schemas.microsoft.com/office/drawing/2014/main" id="{E7040A83-2C0C-7E7D-0022-183601998D11}"/>
              </a:ext>
            </a:extLst>
          </p:cNvPr>
          <p:cNvSpPr/>
          <p:nvPr/>
        </p:nvSpPr>
        <p:spPr>
          <a:xfrm>
            <a:off x="1905000" y="1428750"/>
            <a:ext cx="9334501" cy="476251"/>
          </a:xfrm>
          <a:custGeom>
            <a:avLst/>
            <a:gdLst/>
            <a:ahLst/>
            <a:cxnLst/>
            <a:rect l="0" t="0" r="0" b="0"/>
            <a:pathLst>
              <a:path w="9334501" h="476251">
                <a:moveTo>
                  <a:pt x="0" y="476250"/>
                </a:moveTo>
                <a:lnTo>
                  <a:pt x="1066800" y="476250"/>
                </a:lnTo>
                <a:lnTo>
                  <a:pt x="1066800" y="0"/>
                </a:lnTo>
                <a:lnTo>
                  <a:pt x="7734300" y="0"/>
                </a:lnTo>
                <a:lnTo>
                  <a:pt x="7734300" y="476250"/>
                </a:lnTo>
                <a:lnTo>
                  <a:pt x="9334500" y="476250"/>
                </a:lnTo>
              </a:path>
            </a:pathLst>
          </a:custGeom>
          <a:ln w="31750">
            <a:solidFill>
              <a:srgbClr val="1F2A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CD6AC6-53F5-9190-7F75-9FC157E23CF0}"/>
              </a:ext>
            </a:extLst>
          </p:cNvPr>
          <p:cNvSpPr txBox="1"/>
          <p:nvPr/>
        </p:nvSpPr>
        <p:spPr>
          <a:xfrm>
            <a:off x="381000" y="2667000"/>
            <a:ext cx="1428750" cy="4762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en-US" altLang="ko-KR" b="1">
                <a:solidFill>
                  <a:srgbClr val="1F2A44"/>
                </a:solidFill>
                <a:latin typeface="FEF3C7"/>
              </a:rPr>
              <a:t>Button</a:t>
            </a:r>
            <a:endParaRPr lang="ko-KR" altLang="en-US" b="1">
              <a:solidFill>
                <a:srgbClr val="1F2A44"/>
              </a:solidFill>
              <a:latin typeface="FEF3C7"/>
            </a:endParaRPr>
          </a:p>
        </p:txBody>
      </p:sp>
      <p:sp>
        <p:nvSpPr>
          <p:cNvPr id="9" name="자유형: 도형 8">
            <a:extLst>
              <a:ext uri="{FF2B5EF4-FFF2-40B4-BE49-F238E27FC236}">
                <a16:creationId xmlns:a16="http://schemas.microsoft.com/office/drawing/2014/main" id="{A465C0B7-C611-8D73-7418-53E2E0097BC7}"/>
              </a:ext>
            </a:extLst>
          </p:cNvPr>
          <p:cNvSpPr/>
          <p:nvPr/>
        </p:nvSpPr>
        <p:spPr>
          <a:xfrm>
            <a:off x="1905000" y="2571750"/>
            <a:ext cx="9334501" cy="476251"/>
          </a:xfrm>
          <a:custGeom>
            <a:avLst/>
            <a:gdLst/>
            <a:ahLst/>
            <a:cxnLst/>
            <a:rect l="0" t="0" r="0" b="0"/>
            <a:pathLst>
              <a:path w="9334501" h="476251">
                <a:moveTo>
                  <a:pt x="0" y="476250"/>
                </a:moveTo>
                <a:lnTo>
                  <a:pt x="1066800" y="476250"/>
                </a:lnTo>
                <a:lnTo>
                  <a:pt x="1066800" y="0"/>
                </a:lnTo>
                <a:lnTo>
                  <a:pt x="1200150" y="0"/>
                </a:lnTo>
                <a:lnTo>
                  <a:pt x="1200150" y="476250"/>
                </a:lnTo>
                <a:lnTo>
                  <a:pt x="1333500" y="476250"/>
                </a:lnTo>
                <a:lnTo>
                  <a:pt x="1333500" y="0"/>
                </a:lnTo>
                <a:lnTo>
                  <a:pt x="1466850" y="0"/>
                </a:lnTo>
                <a:lnTo>
                  <a:pt x="1466850" y="476250"/>
                </a:lnTo>
                <a:lnTo>
                  <a:pt x="1733550" y="476250"/>
                </a:lnTo>
                <a:lnTo>
                  <a:pt x="1733550" y="0"/>
                </a:lnTo>
                <a:lnTo>
                  <a:pt x="3867150" y="0"/>
                </a:lnTo>
                <a:lnTo>
                  <a:pt x="3867150" y="476250"/>
                </a:lnTo>
                <a:lnTo>
                  <a:pt x="4000500" y="476250"/>
                </a:lnTo>
                <a:lnTo>
                  <a:pt x="4000500" y="0"/>
                </a:lnTo>
                <a:lnTo>
                  <a:pt x="4267200" y="0"/>
                </a:lnTo>
                <a:lnTo>
                  <a:pt x="4267200" y="476250"/>
                </a:lnTo>
                <a:lnTo>
                  <a:pt x="4400550" y="476250"/>
                </a:lnTo>
                <a:lnTo>
                  <a:pt x="4400550" y="0"/>
                </a:lnTo>
                <a:lnTo>
                  <a:pt x="4533900" y="0"/>
                </a:lnTo>
                <a:lnTo>
                  <a:pt x="4533900" y="476250"/>
                </a:lnTo>
                <a:lnTo>
                  <a:pt x="9334500" y="476250"/>
                </a:lnTo>
              </a:path>
            </a:pathLst>
          </a:custGeom>
          <a:ln w="31750">
            <a:solidFill>
              <a:srgbClr val="1F2A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43FEE59E-2F75-84E7-F3F9-488A840FBFB3}"/>
              </a:ext>
            </a:extLst>
          </p:cNvPr>
          <p:cNvSpPr/>
          <p:nvPr/>
        </p:nvSpPr>
        <p:spPr>
          <a:xfrm>
            <a:off x="2876550" y="2400300"/>
            <a:ext cx="1047750" cy="819150"/>
          </a:xfrm>
          <a:prstGeom prst="roundRect">
            <a:avLst/>
          </a:prstGeom>
          <a:noFill/>
          <a:ln w="25400" cap="flat" cmpd="sng" algn="ctr">
            <a:solidFill>
              <a:srgbClr val="DC2626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/>
            <a:endParaRPr lang="ko-KR" altLang="en-US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D14C1D6F-53D7-E420-5558-B5ACD01A41E7}"/>
              </a:ext>
            </a:extLst>
          </p:cNvPr>
          <p:cNvSpPr/>
          <p:nvPr/>
        </p:nvSpPr>
        <p:spPr>
          <a:xfrm>
            <a:off x="5676900" y="2400300"/>
            <a:ext cx="1047750" cy="819150"/>
          </a:xfrm>
          <a:prstGeom prst="roundRect">
            <a:avLst/>
          </a:prstGeom>
          <a:noFill/>
          <a:ln w="25400" cap="flat" cmpd="sng" algn="ctr">
            <a:solidFill>
              <a:srgbClr val="DC2626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B45E041-58C2-6B38-1746-9D8F7653890A}"/>
              </a:ext>
            </a:extLst>
          </p:cNvPr>
          <p:cNvSpPr txBox="1"/>
          <p:nvPr/>
        </p:nvSpPr>
        <p:spPr>
          <a:xfrm>
            <a:off x="6953250" y="2762250"/>
            <a:ext cx="2857500" cy="22860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1600" b="1">
                <a:solidFill>
                  <a:srgbClr val="475569"/>
                </a:solidFill>
                <a:latin typeface="FEF3C7"/>
              </a:rPr>
              <a:t>뗀 이후 </a:t>
            </a:r>
            <a:r>
              <a:rPr lang="en-US" altLang="ko-KR" sz="1600" b="1">
                <a:solidFill>
                  <a:srgbClr val="475569"/>
                </a:solidFill>
                <a:latin typeface="FEF3C7"/>
              </a:rPr>
              <a:t>0 </a:t>
            </a:r>
            <a:r>
              <a:rPr lang="ko-KR" altLang="en-US" sz="1600" b="1">
                <a:solidFill>
                  <a:srgbClr val="475569"/>
                </a:solidFill>
                <a:latin typeface="FEF3C7"/>
              </a:rPr>
              <a:t>유지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5CE5AE3-543F-56D8-E2AF-B56F8E49F214}"/>
              </a:ext>
            </a:extLst>
          </p:cNvPr>
          <p:cNvSpPr txBox="1"/>
          <p:nvPr/>
        </p:nvSpPr>
        <p:spPr>
          <a:xfrm>
            <a:off x="7905750" y="1524000"/>
            <a:ext cx="2857500" cy="22860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en-US" altLang="ko-KR" sz="1600" b="1">
                <a:solidFill>
                  <a:srgbClr val="475569"/>
                </a:solidFill>
                <a:latin typeface="FEF3C7"/>
              </a:rPr>
              <a:t>ON </a:t>
            </a:r>
            <a:r>
              <a:rPr lang="ko-KR" altLang="en-US" sz="1600" b="1">
                <a:solidFill>
                  <a:srgbClr val="475569"/>
                </a:solidFill>
                <a:latin typeface="FEF3C7"/>
              </a:rPr>
              <a:t>동안 </a:t>
            </a:r>
            <a:r>
              <a:rPr lang="en-US" altLang="ko-KR" sz="1600" b="1">
                <a:solidFill>
                  <a:srgbClr val="475569"/>
                </a:solidFill>
                <a:latin typeface="FEF3C7"/>
              </a:rPr>
              <a:t>1 </a:t>
            </a:r>
            <a:r>
              <a:rPr lang="ko-KR" altLang="en-US" sz="1600" b="1">
                <a:solidFill>
                  <a:srgbClr val="475569"/>
                </a:solidFill>
                <a:latin typeface="FEF3C7"/>
              </a:rPr>
              <a:t>유지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525F790-B052-A92E-98D2-F0F3CA615253}"/>
              </a:ext>
            </a:extLst>
          </p:cNvPr>
          <p:cNvSpPr/>
          <p:nvPr/>
        </p:nvSpPr>
        <p:spPr>
          <a:xfrm>
            <a:off x="381000" y="3810000"/>
            <a:ext cx="5619750" cy="76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endParaRPr lang="ko-KR" altLang="en-US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E6DC2A32-9B14-6BC5-B4C1-51DAB63526C9}"/>
              </a:ext>
            </a:extLst>
          </p:cNvPr>
          <p:cNvSpPr/>
          <p:nvPr/>
        </p:nvSpPr>
        <p:spPr>
          <a:xfrm>
            <a:off x="495300" y="4067175"/>
            <a:ext cx="247650" cy="247650"/>
          </a:xfrm>
          <a:prstGeom prst="ellipse">
            <a:avLst/>
          </a:prstGeom>
          <a:solidFill>
            <a:srgbClr val="EA580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/>
            <a:r>
              <a:rPr lang="en-US" altLang="ko-KR" sz="1200" b="1">
                <a:solidFill>
                  <a:srgbClr val="FFFFFF"/>
                </a:solidFill>
                <a:latin typeface="FEF3C7"/>
              </a:rPr>
              <a:t>1</a:t>
            </a:r>
            <a:endParaRPr lang="ko-KR" altLang="en-US" sz="1200" b="1">
              <a:solidFill>
                <a:srgbClr val="FFFFFF"/>
              </a:solidFill>
              <a:latin typeface="FEF3C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E910A14-43AB-F8FA-ED98-82B7FC400F63}"/>
              </a:ext>
            </a:extLst>
          </p:cNvPr>
          <p:cNvSpPr txBox="1"/>
          <p:nvPr/>
        </p:nvSpPr>
        <p:spPr>
          <a:xfrm>
            <a:off x="838200" y="3810000"/>
            <a:ext cx="5067300" cy="76200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altLang="ko-KR" sz="1700" b="1">
                <a:solidFill>
                  <a:srgbClr val="1F2A44"/>
                </a:solidFill>
                <a:latin typeface="FEF3C7"/>
              </a:rPr>
              <a:t>FSM </a:t>
            </a:r>
            <a:r>
              <a:rPr lang="ko-KR" altLang="en-US" sz="1700" b="1">
                <a:solidFill>
                  <a:srgbClr val="1F2A44"/>
                </a:solidFill>
                <a:latin typeface="FEF3C7"/>
              </a:rPr>
              <a:t>입력 방식 변경</a:t>
            </a:r>
          </a:p>
          <a:p>
            <a:r>
              <a:rPr lang="en-US" altLang="ko-KR" sz="1700" b="1">
                <a:solidFill>
                  <a:srgbClr val="1F2A44"/>
                </a:solidFill>
                <a:latin typeface="FEF3C7"/>
              </a:rPr>
              <a:t>level → 1 cycle tick</a:t>
            </a:r>
            <a:endParaRPr lang="ko-KR" altLang="en-US" sz="1700" b="1">
              <a:solidFill>
                <a:srgbClr val="1F2A44"/>
              </a:solidFill>
              <a:latin typeface="FEF3C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3FE184F-3864-3673-2CCC-34DF436EB592}"/>
              </a:ext>
            </a:extLst>
          </p:cNvPr>
          <p:cNvSpPr/>
          <p:nvPr/>
        </p:nvSpPr>
        <p:spPr>
          <a:xfrm>
            <a:off x="6191250" y="3810000"/>
            <a:ext cx="5619750" cy="76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endParaRPr lang="ko-KR" altLang="en-US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30F4C218-F9BC-E2E3-E5FB-C4FC07A9C2C4}"/>
              </a:ext>
            </a:extLst>
          </p:cNvPr>
          <p:cNvSpPr/>
          <p:nvPr/>
        </p:nvSpPr>
        <p:spPr>
          <a:xfrm>
            <a:off x="6305550" y="4067175"/>
            <a:ext cx="247650" cy="247650"/>
          </a:xfrm>
          <a:prstGeom prst="ellipse">
            <a:avLst/>
          </a:prstGeom>
          <a:solidFill>
            <a:srgbClr val="EA580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/>
            <a:r>
              <a:rPr lang="en-US" altLang="ko-KR" sz="1200" b="1">
                <a:solidFill>
                  <a:srgbClr val="FFFFFF"/>
                </a:solidFill>
                <a:latin typeface="FEF3C7"/>
              </a:rPr>
              <a:t>2</a:t>
            </a:r>
            <a:endParaRPr lang="ko-KR" altLang="en-US" sz="1200" b="1">
              <a:solidFill>
                <a:srgbClr val="FFFFFF"/>
              </a:solidFill>
              <a:latin typeface="FEF3C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B73514F-A153-2122-0CE8-D241E3B88133}"/>
              </a:ext>
            </a:extLst>
          </p:cNvPr>
          <p:cNvSpPr txBox="1"/>
          <p:nvPr/>
        </p:nvSpPr>
        <p:spPr>
          <a:xfrm>
            <a:off x="6648450" y="3810000"/>
            <a:ext cx="5067300" cy="76200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altLang="ko-KR" sz="1700" b="1">
                <a:solidFill>
                  <a:srgbClr val="1F2A44"/>
                </a:solidFill>
                <a:latin typeface="FEF3C7"/>
              </a:rPr>
              <a:t>Debouncer </a:t>
            </a:r>
            <a:r>
              <a:rPr lang="ko-KR" altLang="en-US" sz="1700" b="1">
                <a:solidFill>
                  <a:srgbClr val="1F2A44"/>
                </a:solidFill>
                <a:latin typeface="FEF3C7"/>
              </a:rPr>
              <a:t>추가</a:t>
            </a:r>
          </a:p>
          <a:p>
            <a:r>
              <a:rPr lang="en-US" altLang="ko-KR" sz="1700" b="1">
                <a:solidFill>
                  <a:srgbClr val="1F2A44"/>
                </a:solidFill>
                <a:latin typeface="FEF3C7"/>
              </a:rPr>
              <a:t>Push · Pop bounce </a:t>
            </a:r>
            <a:r>
              <a:rPr lang="ko-KR" altLang="en-US" sz="1700" b="1">
                <a:solidFill>
                  <a:srgbClr val="1F2A44"/>
                </a:solidFill>
                <a:latin typeface="FEF3C7"/>
              </a:rPr>
              <a:t>제거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E53E85E-DEF8-ED36-E2C0-729DBA27DD45}"/>
              </a:ext>
            </a:extLst>
          </p:cNvPr>
          <p:cNvSpPr txBox="1"/>
          <p:nvPr/>
        </p:nvSpPr>
        <p:spPr>
          <a:xfrm>
            <a:off x="10668000" y="6591300"/>
            <a:ext cx="1143000" cy="19050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pPr algn="r"/>
            <a:r>
              <a:rPr lang="en-US" altLang="ko-KR" sz="1100">
                <a:solidFill>
                  <a:srgbClr val="94A3B8"/>
                </a:solidFill>
                <a:latin typeface="FEF3C7"/>
              </a:rPr>
              <a:t>27 / 39</a:t>
            </a:r>
            <a:endParaRPr lang="ko-KR" altLang="en-US" sz="1100">
              <a:solidFill>
                <a:srgbClr val="94A3B8"/>
              </a:solidFill>
              <a:latin typeface="FEF3C7"/>
            </a:endParaRPr>
          </a:p>
        </p:txBody>
      </p:sp>
    </p:spTree>
    <p:extLst>
      <p:ext uri="{BB962C8B-B14F-4D97-AF65-F5344CB8AC3E}">
        <p14:creationId xmlns:p14="http://schemas.microsoft.com/office/powerpoint/2010/main" val="40916173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AB8AB41-DC2B-5655-F613-4DCE2790DDEE}"/>
              </a:ext>
            </a:extLst>
          </p:cNvPr>
          <p:cNvSpPr txBox="1"/>
          <p:nvPr/>
        </p:nvSpPr>
        <p:spPr>
          <a:xfrm>
            <a:off x="381000" y="133350"/>
            <a:ext cx="9525000" cy="2095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altLang="ko-KR" sz="1300" b="1">
                <a:solidFill>
                  <a:srgbClr val="2563EB"/>
                </a:solidFill>
                <a:latin typeface="FEF3C7"/>
              </a:rPr>
              <a:t>05  ·  Homework-2 </a:t>
            </a:r>
            <a:r>
              <a:rPr lang="ko-KR" altLang="en-US" sz="1300" b="1">
                <a:solidFill>
                  <a:srgbClr val="2563EB"/>
                </a:solidFill>
                <a:latin typeface="FEF3C7"/>
              </a:rPr>
              <a:t>설계  </a:t>
            </a:r>
            <a:r>
              <a:rPr lang="en-US" altLang="ko-KR" sz="1300" b="1">
                <a:solidFill>
                  <a:srgbClr val="2563EB"/>
                </a:solidFill>
                <a:latin typeface="FEF3C7"/>
              </a:rPr>
              <a:t>·  Block Diagram</a:t>
            </a:r>
            <a:endParaRPr lang="ko-KR" altLang="en-US" sz="1300" b="1">
              <a:solidFill>
                <a:srgbClr val="2563EB"/>
              </a:solidFill>
              <a:latin typeface="FEF3C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44370F-702B-E334-3A7A-D4C883A4C0F9}"/>
              </a:ext>
            </a:extLst>
          </p:cNvPr>
          <p:cNvSpPr txBox="1"/>
          <p:nvPr/>
        </p:nvSpPr>
        <p:spPr>
          <a:xfrm>
            <a:off x="381000" y="342900"/>
            <a:ext cx="10096500" cy="4381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altLang="ko-KR" sz="2600" b="1">
                <a:solidFill>
                  <a:srgbClr val="0F172A"/>
                </a:solidFill>
                <a:latin typeface="FEF3C7"/>
              </a:rPr>
              <a:t>counter_10000_v2: Debounced Buttons Drive FSM_RUN_STOP</a:t>
            </a:r>
            <a:endParaRPr lang="ko-KR" altLang="en-US" sz="2600" b="1">
              <a:solidFill>
                <a:srgbClr val="0F172A"/>
              </a:solidFill>
              <a:latin typeface="FEF3C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737F854-90F6-5AA5-BF5B-87571F00CB16}"/>
              </a:ext>
            </a:extLst>
          </p:cNvPr>
          <p:cNvSpPr/>
          <p:nvPr/>
        </p:nvSpPr>
        <p:spPr>
          <a:xfrm>
            <a:off x="381000" y="819150"/>
            <a:ext cx="666750" cy="381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59F937-EEEA-F30E-DE9A-0B0A3024B93D}"/>
              </a:ext>
            </a:extLst>
          </p:cNvPr>
          <p:cNvSpPr txBox="1"/>
          <p:nvPr/>
        </p:nvSpPr>
        <p:spPr>
          <a:xfrm>
            <a:off x="10572750" y="133350"/>
            <a:ext cx="1238250" cy="60960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pPr algn="r"/>
            <a:r>
              <a:rPr lang="en-US" altLang="ko-KR" sz="4000" b="1">
                <a:solidFill>
                  <a:srgbClr val="BFDBFE"/>
                </a:solidFill>
                <a:latin typeface="FEF3C7"/>
              </a:rPr>
              <a:t>05</a:t>
            </a:r>
            <a:endParaRPr lang="ko-KR" altLang="en-US" sz="4000" b="1">
              <a:solidFill>
                <a:srgbClr val="BFDBFE"/>
              </a:solidFill>
              <a:latin typeface="FEF3C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82E704-32ED-62C1-5EE3-A499A68E7CA5}"/>
              </a:ext>
            </a:extLst>
          </p:cNvPr>
          <p:cNvSpPr txBox="1"/>
          <p:nvPr/>
        </p:nvSpPr>
        <p:spPr>
          <a:xfrm>
            <a:off x="381000" y="1428750"/>
            <a:ext cx="666750" cy="19050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en-US" altLang="ko-KR" sz="1400" b="1">
                <a:solidFill>
                  <a:srgbClr val="1F2A44"/>
                </a:solidFill>
                <a:latin typeface="FEF3C7"/>
              </a:rPr>
              <a:t>i_btn_L</a:t>
            </a:r>
            <a:endParaRPr lang="ko-KR" altLang="en-US" sz="1400" b="1">
              <a:solidFill>
                <a:srgbClr val="1F2A44"/>
              </a:solidFill>
              <a:latin typeface="FEF3C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C95BFB-C3D4-0214-23F4-793B076BCAF8}"/>
              </a:ext>
            </a:extLst>
          </p:cNvPr>
          <p:cNvSpPr txBox="1"/>
          <p:nvPr/>
        </p:nvSpPr>
        <p:spPr>
          <a:xfrm>
            <a:off x="381000" y="2476500"/>
            <a:ext cx="666750" cy="19050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en-US" altLang="ko-KR" sz="1400" b="1">
                <a:solidFill>
                  <a:srgbClr val="1F2A44"/>
                </a:solidFill>
                <a:latin typeface="FEF3C7"/>
              </a:rPr>
              <a:t>i_btn_R</a:t>
            </a:r>
            <a:endParaRPr lang="ko-KR" altLang="en-US" sz="1400" b="1">
              <a:solidFill>
                <a:srgbClr val="1F2A44"/>
              </a:solidFill>
              <a:latin typeface="FEF3C7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9CFB14C4-95A9-6605-CDF4-90DA53F55D03}"/>
              </a:ext>
            </a:extLst>
          </p:cNvPr>
          <p:cNvCxnSpPr/>
          <p:nvPr/>
        </p:nvCxnSpPr>
        <p:spPr>
          <a:xfrm>
            <a:off x="381000" y="1638300"/>
            <a:ext cx="666750" cy="0"/>
          </a:xfrm>
          <a:prstGeom prst="line">
            <a:avLst/>
          </a:prstGeom>
          <a:ln w="22225">
            <a:solidFill>
              <a:srgbClr val="1F2A44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0CB455E8-2527-2085-D1B2-E103BB87C5FD}"/>
              </a:ext>
            </a:extLst>
          </p:cNvPr>
          <p:cNvCxnSpPr/>
          <p:nvPr/>
        </p:nvCxnSpPr>
        <p:spPr>
          <a:xfrm>
            <a:off x="381000" y="2686050"/>
            <a:ext cx="666750" cy="0"/>
          </a:xfrm>
          <a:prstGeom prst="line">
            <a:avLst/>
          </a:prstGeom>
          <a:ln w="22225">
            <a:solidFill>
              <a:srgbClr val="1F2A44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7F824A0-69B1-38E3-EF90-AC029BF71EAA}"/>
              </a:ext>
            </a:extLst>
          </p:cNvPr>
          <p:cNvSpPr/>
          <p:nvPr/>
        </p:nvSpPr>
        <p:spPr>
          <a:xfrm>
            <a:off x="1047750" y="1333500"/>
            <a:ext cx="1571625" cy="609600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altLang="ko-KR" sz="1300" b="1">
                <a:solidFill>
                  <a:srgbClr val="1F2A44"/>
                </a:solidFill>
                <a:latin typeface="FEF3C7"/>
              </a:rPr>
              <a:t>button_debouncer</a:t>
            </a:r>
          </a:p>
          <a:p>
            <a:pPr algn="ctr"/>
            <a:r>
              <a:rPr lang="en-US" altLang="ko-KR" sz="1300" b="1">
                <a:solidFill>
                  <a:srgbClr val="1F2A44"/>
                </a:solidFill>
                <a:latin typeface="FEF3C7"/>
              </a:rPr>
              <a:t>DUT_BTN_L</a:t>
            </a:r>
            <a:endParaRPr lang="ko-KR" altLang="en-US" sz="1300" b="1">
              <a:solidFill>
                <a:srgbClr val="1F2A44"/>
              </a:solidFill>
              <a:latin typeface="FEF3C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25C32EA-9B65-14BC-A2ED-2CFDBA889A08}"/>
              </a:ext>
            </a:extLst>
          </p:cNvPr>
          <p:cNvSpPr/>
          <p:nvPr/>
        </p:nvSpPr>
        <p:spPr>
          <a:xfrm>
            <a:off x="1047750" y="2381250"/>
            <a:ext cx="1571625" cy="609600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altLang="ko-KR" sz="1300" b="1">
                <a:solidFill>
                  <a:srgbClr val="1F2A44"/>
                </a:solidFill>
                <a:latin typeface="FEF3C7"/>
              </a:rPr>
              <a:t>button_debouncer</a:t>
            </a:r>
          </a:p>
          <a:p>
            <a:pPr algn="ctr"/>
            <a:r>
              <a:rPr lang="en-US" altLang="ko-KR" sz="1300" b="1">
                <a:solidFill>
                  <a:srgbClr val="1F2A44"/>
                </a:solidFill>
                <a:latin typeface="FEF3C7"/>
              </a:rPr>
              <a:t>DUT_BTN_R</a:t>
            </a:r>
            <a:endParaRPr lang="ko-KR" altLang="en-US" sz="1300" b="1">
              <a:solidFill>
                <a:srgbClr val="1F2A44"/>
              </a:solidFill>
              <a:latin typeface="FEF3C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0FC5552-7E86-DAD3-560D-DCCD37E5A507}"/>
              </a:ext>
            </a:extLst>
          </p:cNvPr>
          <p:cNvSpPr/>
          <p:nvPr/>
        </p:nvSpPr>
        <p:spPr>
          <a:xfrm>
            <a:off x="3429000" y="1524000"/>
            <a:ext cx="1619250" cy="123825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altLang="ko-KR" sz="1500" b="1">
                <a:solidFill>
                  <a:srgbClr val="1F2A44"/>
                </a:solidFill>
                <a:latin typeface="FEF3C7"/>
              </a:rPr>
              <a:t>FSM_RUN_STOP</a:t>
            </a:r>
          </a:p>
          <a:p>
            <a:pPr algn="ctr"/>
            <a:r>
              <a:rPr lang="en-US" altLang="ko-KR" sz="1500" b="1">
                <a:solidFill>
                  <a:srgbClr val="1F2A44"/>
                </a:solidFill>
                <a:latin typeface="FEF3C7"/>
              </a:rPr>
              <a:t>uut</a:t>
            </a:r>
            <a:endParaRPr lang="ko-KR" altLang="en-US" sz="1500" b="1">
              <a:solidFill>
                <a:srgbClr val="1F2A44"/>
              </a:solidFill>
              <a:latin typeface="FEF3C7"/>
            </a:endParaRPr>
          </a:p>
        </p:txBody>
      </p:sp>
      <p:sp>
        <p:nvSpPr>
          <p:cNvPr id="13" name="자유형: 도형 12">
            <a:extLst>
              <a:ext uri="{FF2B5EF4-FFF2-40B4-BE49-F238E27FC236}">
                <a16:creationId xmlns:a16="http://schemas.microsoft.com/office/drawing/2014/main" id="{9FE0D945-48DD-E18C-F261-671EB4A3911B}"/>
              </a:ext>
            </a:extLst>
          </p:cNvPr>
          <p:cNvSpPr/>
          <p:nvPr/>
        </p:nvSpPr>
        <p:spPr>
          <a:xfrm>
            <a:off x="2619375" y="1638300"/>
            <a:ext cx="809626" cy="266701"/>
          </a:xfrm>
          <a:custGeom>
            <a:avLst/>
            <a:gdLst/>
            <a:ahLst/>
            <a:cxnLst/>
            <a:rect l="0" t="0" r="0" b="0"/>
            <a:pathLst>
              <a:path w="809626" h="266701">
                <a:moveTo>
                  <a:pt x="0" y="0"/>
                </a:moveTo>
                <a:lnTo>
                  <a:pt x="381000" y="0"/>
                </a:lnTo>
                <a:lnTo>
                  <a:pt x="381000" y="266700"/>
                </a:lnTo>
                <a:lnTo>
                  <a:pt x="809625" y="266700"/>
                </a:lnTo>
              </a:path>
            </a:pathLst>
          </a:custGeom>
          <a:ln w="22225">
            <a:solidFill>
              <a:srgbClr val="1F2A4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자유형: 도형 13">
            <a:extLst>
              <a:ext uri="{FF2B5EF4-FFF2-40B4-BE49-F238E27FC236}">
                <a16:creationId xmlns:a16="http://schemas.microsoft.com/office/drawing/2014/main" id="{6D38F20B-CFE3-8396-FEAA-D71E3500C0BA}"/>
              </a:ext>
            </a:extLst>
          </p:cNvPr>
          <p:cNvSpPr/>
          <p:nvPr/>
        </p:nvSpPr>
        <p:spPr>
          <a:xfrm>
            <a:off x="2619375" y="2381250"/>
            <a:ext cx="809626" cy="304801"/>
          </a:xfrm>
          <a:custGeom>
            <a:avLst/>
            <a:gdLst/>
            <a:ahLst/>
            <a:cxnLst/>
            <a:rect l="0" t="0" r="0" b="0"/>
            <a:pathLst>
              <a:path w="809626" h="304801">
                <a:moveTo>
                  <a:pt x="0" y="304800"/>
                </a:moveTo>
                <a:lnTo>
                  <a:pt x="381000" y="304800"/>
                </a:lnTo>
                <a:lnTo>
                  <a:pt x="381000" y="0"/>
                </a:lnTo>
                <a:lnTo>
                  <a:pt x="809625" y="0"/>
                </a:lnTo>
              </a:path>
            </a:pathLst>
          </a:custGeom>
          <a:ln w="22225">
            <a:solidFill>
              <a:srgbClr val="1F2A4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74EAF80-3B8D-9B69-DFD4-E098EF434ECC}"/>
              </a:ext>
            </a:extLst>
          </p:cNvPr>
          <p:cNvSpPr txBox="1"/>
          <p:nvPr/>
        </p:nvSpPr>
        <p:spPr>
          <a:xfrm>
            <a:off x="2647950" y="1428750"/>
            <a:ext cx="714375" cy="1714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en-US" altLang="ko-KR" sz="1200" b="1">
                <a:solidFill>
                  <a:srgbClr val="2563EB"/>
                </a:solidFill>
                <a:latin typeface="FEF3C7"/>
              </a:rPr>
              <a:t>w_btn_L</a:t>
            </a:r>
            <a:endParaRPr lang="ko-KR" altLang="en-US" sz="1200" b="1">
              <a:solidFill>
                <a:srgbClr val="2563EB"/>
              </a:solidFill>
              <a:latin typeface="FEF3C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EA60981-945B-8543-C414-ED9E20223D0B}"/>
              </a:ext>
            </a:extLst>
          </p:cNvPr>
          <p:cNvSpPr txBox="1"/>
          <p:nvPr/>
        </p:nvSpPr>
        <p:spPr>
          <a:xfrm>
            <a:off x="2647950" y="2724150"/>
            <a:ext cx="714375" cy="1714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en-US" altLang="ko-KR" sz="1200" b="1">
                <a:solidFill>
                  <a:srgbClr val="2563EB"/>
                </a:solidFill>
                <a:latin typeface="FEF3C7"/>
              </a:rPr>
              <a:t>w_btn_R</a:t>
            </a:r>
            <a:endParaRPr lang="ko-KR" altLang="en-US" sz="1200" b="1">
              <a:solidFill>
                <a:srgbClr val="2563EB"/>
              </a:solidFill>
              <a:latin typeface="FEF3C7"/>
            </a:endParaRP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1D271CC4-D93B-82FA-3A53-0B632144E837}"/>
              </a:ext>
            </a:extLst>
          </p:cNvPr>
          <p:cNvCxnSpPr/>
          <p:nvPr/>
        </p:nvCxnSpPr>
        <p:spPr>
          <a:xfrm flipV="1">
            <a:off x="4238625" y="2781300"/>
            <a:ext cx="0" cy="457200"/>
          </a:xfrm>
          <a:prstGeom prst="line">
            <a:avLst/>
          </a:prstGeom>
          <a:ln w="19050">
            <a:solidFill>
              <a:srgbClr val="94A3B8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B945A8F7-AA90-DF5F-AF27-54C79DF36C7D}"/>
              </a:ext>
            </a:extLst>
          </p:cNvPr>
          <p:cNvSpPr txBox="1"/>
          <p:nvPr/>
        </p:nvSpPr>
        <p:spPr>
          <a:xfrm>
            <a:off x="3667125" y="3257550"/>
            <a:ext cx="1143000" cy="1714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pPr algn="ctr"/>
            <a:r>
              <a:rPr lang="en-US" altLang="ko-KR" sz="1200" b="1">
                <a:solidFill>
                  <a:srgbClr val="94A3B8"/>
                </a:solidFill>
                <a:latin typeface="FEF3C7"/>
              </a:rPr>
              <a:t>i_sw (</a:t>
            </a:r>
            <a:r>
              <a:rPr lang="ko-KR" altLang="en-US" sz="1200" b="1">
                <a:solidFill>
                  <a:srgbClr val="94A3B8"/>
                </a:solidFill>
                <a:latin typeface="FEF3C7"/>
              </a:rPr>
              <a:t>미사용</a:t>
            </a:r>
            <a:r>
              <a:rPr lang="en-US" altLang="ko-KR" sz="1200" b="1">
                <a:solidFill>
                  <a:srgbClr val="94A3B8"/>
                </a:solidFill>
                <a:latin typeface="FEF3C7"/>
              </a:rPr>
              <a:t>)</a:t>
            </a:r>
            <a:endParaRPr lang="ko-KR" altLang="en-US" sz="1200" b="1">
              <a:solidFill>
                <a:srgbClr val="94A3B8"/>
              </a:solidFill>
              <a:latin typeface="FEF3C7"/>
            </a:endParaRPr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E99C4665-9E83-FDB1-8011-EC5AFC43A790}"/>
              </a:ext>
            </a:extLst>
          </p:cNvPr>
          <p:cNvCxnSpPr/>
          <p:nvPr/>
        </p:nvCxnSpPr>
        <p:spPr>
          <a:xfrm>
            <a:off x="5048250" y="2143125"/>
            <a:ext cx="762000" cy="0"/>
          </a:xfrm>
          <a:prstGeom prst="line">
            <a:avLst/>
          </a:prstGeom>
          <a:ln w="31750">
            <a:solidFill>
              <a:srgbClr val="1F2A44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D1DC9BF4-9A73-B9B8-F1AB-5F1A0C034C8B}"/>
              </a:ext>
            </a:extLst>
          </p:cNvPr>
          <p:cNvSpPr txBox="1"/>
          <p:nvPr/>
        </p:nvSpPr>
        <p:spPr>
          <a:xfrm>
            <a:off x="5048250" y="1924050"/>
            <a:ext cx="762000" cy="1714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pPr algn="ctr"/>
            <a:r>
              <a:rPr lang="en-US" altLang="ko-KR" sz="1200" b="1">
                <a:solidFill>
                  <a:srgbClr val="D97706"/>
                </a:solidFill>
                <a:latin typeface="FEF3C7"/>
              </a:rPr>
              <a:t>o_sw[2:0]</a:t>
            </a:r>
            <a:endParaRPr lang="ko-KR" altLang="en-US" sz="1200" b="1">
              <a:solidFill>
                <a:srgbClr val="D97706"/>
              </a:solidFill>
              <a:latin typeface="FEF3C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32468202-C634-5787-F6D8-224C0B458293}"/>
              </a:ext>
            </a:extLst>
          </p:cNvPr>
          <p:cNvSpPr/>
          <p:nvPr/>
        </p:nvSpPr>
        <p:spPr>
          <a:xfrm>
            <a:off x="5810250" y="1333500"/>
            <a:ext cx="2190750" cy="1619250"/>
          </a:xfrm>
          <a:prstGeom prst="rect">
            <a:avLst/>
          </a:prstGeom>
          <a:solidFill>
            <a:srgbClr val="F8FAFC"/>
          </a:solidFill>
          <a:ln w="12700">
            <a:solidFill>
              <a:srgbClr val="4755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t"/>
          <a:lstStyle/>
          <a:p>
            <a:pPr algn="ctr"/>
            <a:r>
              <a:rPr lang="en-US" altLang="ko-KR" sz="1300" b="1">
                <a:solidFill>
                  <a:srgbClr val="1F2A44"/>
                </a:solidFill>
                <a:latin typeface="FEF3C7"/>
              </a:rPr>
              <a:t>counter_datapath_v2</a:t>
            </a:r>
          </a:p>
          <a:p>
            <a:pPr algn="ctr"/>
            <a:r>
              <a:rPr lang="en-US" altLang="ko-KR" sz="1300" b="1">
                <a:solidFill>
                  <a:srgbClr val="1F2A44"/>
                </a:solidFill>
                <a:latin typeface="FEF3C7"/>
              </a:rPr>
              <a:t>U_CNT_DATA</a:t>
            </a:r>
            <a:endParaRPr lang="ko-KR" altLang="en-US" sz="1300" b="1">
              <a:solidFill>
                <a:srgbClr val="1F2A44"/>
              </a:solidFill>
              <a:latin typeface="FEF3C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7DF1F00B-3126-F0A0-0C38-0980F98C31FB}"/>
              </a:ext>
            </a:extLst>
          </p:cNvPr>
          <p:cNvSpPr/>
          <p:nvPr/>
        </p:nvSpPr>
        <p:spPr>
          <a:xfrm>
            <a:off x="5905500" y="1952625"/>
            <a:ext cx="95250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altLang="ko-KR" sz="1200" b="1">
                <a:solidFill>
                  <a:srgbClr val="1F2A44"/>
                </a:solidFill>
                <a:latin typeface="FEF3C7"/>
              </a:rPr>
              <a:t>tick_gen</a:t>
            </a:r>
          </a:p>
          <a:p>
            <a:pPr algn="ctr"/>
            <a:r>
              <a:rPr lang="en-US" altLang="ko-KR" sz="1200" b="1">
                <a:solidFill>
                  <a:srgbClr val="1F2A44"/>
                </a:solidFill>
                <a:latin typeface="FEF3C7"/>
              </a:rPr>
              <a:t>GEN</a:t>
            </a:r>
            <a:endParaRPr lang="ko-KR" altLang="en-US" sz="1200" b="1">
              <a:solidFill>
                <a:srgbClr val="1F2A44"/>
              </a:solidFill>
              <a:latin typeface="FEF3C7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4163F9E4-AE1B-B529-DADD-F0904AD0BFAF}"/>
              </a:ext>
            </a:extLst>
          </p:cNvPr>
          <p:cNvSpPr/>
          <p:nvPr/>
        </p:nvSpPr>
        <p:spPr>
          <a:xfrm>
            <a:off x="6953250" y="1952625"/>
            <a:ext cx="95250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altLang="ko-KR" sz="1200" b="1">
                <a:solidFill>
                  <a:srgbClr val="1F2A44"/>
                </a:solidFill>
                <a:latin typeface="FEF3C7"/>
              </a:rPr>
              <a:t>tick_counter</a:t>
            </a:r>
          </a:p>
          <a:p>
            <a:pPr algn="ctr"/>
            <a:r>
              <a:rPr lang="en-US" altLang="ko-KR" sz="1200" b="1">
                <a:solidFill>
                  <a:srgbClr val="1F2A44"/>
                </a:solidFill>
                <a:latin typeface="FEF3C7"/>
              </a:rPr>
              <a:t>TICK</a:t>
            </a:r>
            <a:endParaRPr lang="ko-KR" altLang="en-US" sz="1200" b="1">
              <a:solidFill>
                <a:srgbClr val="1F2A44"/>
              </a:solidFill>
              <a:latin typeface="FEF3C7"/>
            </a:endParaRP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0AE23E04-B607-F3B5-F933-58A353A701BE}"/>
              </a:ext>
            </a:extLst>
          </p:cNvPr>
          <p:cNvCxnSpPr/>
          <p:nvPr/>
        </p:nvCxnSpPr>
        <p:spPr>
          <a:xfrm>
            <a:off x="6858000" y="2219325"/>
            <a:ext cx="95250" cy="0"/>
          </a:xfrm>
          <a:prstGeom prst="line">
            <a:avLst/>
          </a:prstGeom>
          <a:ln w="15875">
            <a:solidFill>
              <a:srgbClr val="1F2A44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E228485E-472A-23D0-674B-77D858373183}"/>
              </a:ext>
            </a:extLst>
          </p:cNvPr>
          <p:cNvSpPr txBox="1"/>
          <p:nvPr/>
        </p:nvSpPr>
        <p:spPr>
          <a:xfrm>
            <a:off x="5905500" y="2552700"/>
            <a:ext cx="2000250" cy="1714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pPr algn="ctr"/>
            <a:r>
              <a:rPr lang="en-US" altLang="ko-KR" sz="1200">
                <a:solidFill>
                  <a:srgbClr val="475569"/>
                </a:solidFill>
                <a:latin typeface="FEF3C7"/>
              </a:rPr>
              <a:t>tick: 0.1 s </a:t>
            </a:r>
            <a:r>
              <a:rPr lang="ko-KR" altLang="en-US" sz="1200">
                <a:solidFill>
                  <a:srgbClr val="475569"/>
                </a:solidFill>
                <a:latin typeface="FEF3C7"/>
              </a:rPr>
              <a:t>주기</a:t>
            </a:r>
          </a:p>
        </p:txBody>
      </p: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8D2B53E1-9DBB-2A79-7BF7-65A4C9893FCA}"/>
              </a:ext>
            </a:extLst>
          </p:cNvPr>
          <p:cNvCxnSpPr/>
          <p:nvPr/>
        </p:nvCxnSpPr>
        <p:spPr>
          <a:xfrm>
            <a:off x="8001000" y="2143125"/>
            <a:ext cx="762000" cy="0"/>
          </a:xfrm>
          <a:prstGeom prst="line">
            <a:avLst/>
          </a:prstGeom>
          <a:ln w="31750">
            <a:solidFill>
              <a:srgbClr val="1F2A44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C07BB015-5E39-9AF3-4E9F-99CD0D98CF0E}"/>
              </a:ext>
            </a:extLst>
          </p:cNvPr>
          <p:cNvSpPr txBox="1"/>
          <p:nvPr/>
        </p:nvSpPr>
        <p:spPr>
          <a:xfrm>
            <a:off x="8001000" y="1924050"/>
            <a:ext cx="762000" cy="1714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pPr algn="ctr"/>
            <a:r>
              <a:rPr lang="en-US" altLang="ko-KR" sz="1200" b="1">
                <a:solidFill>
                  <a:srgbClr val="2563EB"/>
                </a:solidFill>
                <a:latin typeface="FEF3C7"/>
              </a:rPr>
              <a:t>w_counter</a:t>
            </a:r>
            <a:endParaRPr lang="ko-KR" altLang="en-US" sz="1200" b="1">
              <a:solidFill>
                <a:srgbClr val="2563EB"/>
              </a:solidFill>
              <a:latin typeface="FEF3C7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81675665-BA06-F3E7-B4D6-15542383A5DB}"/>
              </a:ext>
            </a:extLst>
          </p:cNvPr>
          <p:cNvSpPr/>
          <p:nvPr/>
        </p:nvSpPr>
        <p:spPr>
          <a:xfrm>
            <a:off x="8763000" y="1666875"/>
            <a:ext cx="1524000" cy="952500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altLang="ko-KR" sz="1300" b="1">
                <a:solidFill>
                  <a:srgbClr val="1F2A44"/>
                </a:solidFill>
                <a:latin typeface="FEF3C7"/>
              </a:rPr>
              <a:t>digit_splitter</a:t>
            </a:r>
          </a:p>
          <a:p>
            <a:pPr algn="ctr"/>
            <a:r>
              <a:rPr lang="en-US" altLang="ko-KR" sz="1300" b="1">
                <a:solidFill>
                  <a:srgbClr val="1F2A44"/>
                </a:solidFill>
                <a:latin typeface="FEF3C7"/>
              </a:rPr>
              <a:t>U_SPLIT</a:t>
            </a:r>
            <a:endParaRPr lang="ko-KR" altLang="en-US" sz="1300" b="1">
              <a:solidFill>
                <a:srgbClr val="1F2A44"/>
              </a:solidFill>
              <a:latin typeface="FEF3C7"/>
            </a:endParaRPr>
          </a:p>
        </p:txBody>
      </p: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391C90B8-00B6-7BCF-8053-A233E4C9D081}"/>
              </a:ext>
            </a:extLst>
          </p:cNvPr>
          <p:cNvCxnSpPr/>
          <p:nvPr/>
        </p:nvCxnSpPr>
        <p:spPr>
          <a:xfrm>
            <a:off x="9525000" y="2619375"/>
            <a:ext cx="0" cy="1381125"/>
          </a:xfrm>
          <a:prstGeom prst="line">
            <a:avLst/>
          </a:prstGeom>
          <a:ln w="31750">
            <a:solidFill>
              <a:srgbClr val="1F2A44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34CFF9FC-38F3-3F47-6BD3-7DA138C873AC}"/>
              </a:ext>
            </a:extLst>
          </p:cNvPr>
          <p:cNvSpPr txBox="1"/>
          <p:nvPr/>
        </p:nvSpPr>
        <p:spPr>
          <a:xfrm>
            <a:off x="9620250" y="3143250"/>
            <a:ext cx="2095500" cy="1714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en-US" altLang="ko-KR" sz="1200" b="1">
                <a:solidFill>
                  <a:srgbClr val="2563EB"/>
                </a:solidFill>
                <a:latin typeface="FEF3C7"/>
              </a:rPr>
              <a:t>digit 1 · 10 · 100 · 1000</a:t>
            </a:r>
            <a:endParaRPr lang="ko-KR" altLang="en-US" sz="1200" b="1">
              <a:solidFill>
                <a:srgbClr val="2563EB"/>
              </a:solidFill>
              <a:latin typeface="FEF3C7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680DB0B2-63F6-B3BB-7AEE-35D77AFC7CBF}"/>
              </a:ext>
            </a:extLst>
          </p:cNvPr>
          <p:cNvSpPr/>
          <p:nvPr/>
        </p:nvSpPr>
        <p:spPr>
          <a:xfrm>
            <a:off x="6096000" y="4191000"/>
            <a:ext cx="1714500" cy="666750"/>
          </a:xfrm>
          <a:prstGeom prst="rect">
            <a:avLst/>
          </a:prstGeom>
          <a:solidFill>
            <a:srgbClr val="F1F5F9"/>
          </a:solidFill>
          <a:ln w="12700">
            <a:solidFill>
              <a:srgbClr val="4755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pl-PL" altLang="ko-KR" sz="1300" b="1">
                <a:solidFill>
                  <a:srgbClr val="1F2A44"/>
                </a:solidFill>
                <a:latin typeface="FEF3C7"/>
              </a:rPr>
              <a:t>clock_div</a:t>
            </a:r>
          </a:p>
          <a:p>
            <a:pPr algn="ctr"/>
            <a:r>
              <a:rPr lang="pl-PL" altLang="ko-KR" sz="1300" b="1">
                <a:solidFill>
                  <a:srgbClr val="1F2A44"/>
                </a:solidFill>
                <a:latin typeface="FEF3C7"/>
              </a:rPr>
              <a:t>U_CLK_DIV</a:t>
            </a:r>
            <a:endParaRPr lang="ko-KR" altLang="en-US" sz="1300" b="1">
              <a:solidFill>
                <a:srgbClr val="1F2A44"/>
              </a:solidFill>
              <a:latin typeface="FEF3C7"/>
            </a:endParaRPr>
          </a:p>
        </p:txBody>
      </p: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84980B05-8EC2-0C9E-FDF4-233044CBFF4E}"/>
              </a:ext>
            </a:extLst>
          </p:cNvPr>
          <p:cNvCxnSpPr/>
          <p:nvPr/>
        </p:nvCxnSpPr>
        <p:spPr>
          <a:xfrm>
            <a:off x="7810500" y="4524375"/>
            <a:ext cx="952500" cy="0"/>
          </a:xfrm>
          <a:prstGeom prst="line">
            <a:avLst/>
          </a:prstGeom>
          <a:ln w="22225">
            <a:solidFill>
              <a:srgbClr val="1F2A44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B670DC85-3CF4-5360-274E-3ACF3307F3F9}"/>
              </a:ext>
            </a:extLst>
          </p:cNvPr>
          <p:cNvSpPr txBox="1"/>
          <p:nvPr/>
        </p:nvSpPr>
        <p:spPr>
          <a:xfrm>
            <a:off x="7810500" y="4305300"/>
            <a:ext cx="952500" cy="1714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pPr algn="ctr"/>
            <a:r>
              <a:rPr lang="en-US" altLang="ko-KR" sz="1200" b="1">
                <a:solidFill>
                  <a:srgbClr val="2563EB"/>
                </a:solidFill>
                <a:latin typeface="FEF3C7"/>
              </a:rPr>
              <a:t>w_clk_1kHz</a:t>
            </a:r>
            <a:endParaRPr lang="ko-KR" altLang="en-US" sz="1200" b="1">
              <a:solidFill>
                <a:srgbClr val="2563EB"/>
              </a:solidFill>
              <a:latin typeface="FEF3C7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47578C20-A10F-66ED-512F-13FBCB2649F8}"/>
              </a:ext>
            </a:extLst>
          </p:cNvPr>
          <p:cNvSpPr/>
          <p:nvPr/>
        </p:nvSpPr>
        <p:spPr>
          <a:xfrm>
            <a:off x="8763000" y="4000500"/>
            <a:ext cx="1524000" cy="1047750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s-ES" altLang="ko-KR" sz="1300" b="1">
                <a:solidFill>
                  <a:srgbClr val="1F2A44"/>
                </a:solidFill>
                <a:latin typeface="FEF3C7"/>
              </a:rPr>
              <a:t>Fnd_Controller</a:t>
            </a:r>
          </a:p>
          <a:p>
            <a:pPr algn="ctr"/>
            <a:r>
              <a:rPr lang="es-ES" altLang="ko-KR" sz="1300" b="1">
                <a:solidFill>
                  <a:srgbClr val="1F2A44"/>
                </a:solidFill>
                <a:latin typeface="FEF3C7"/>
              </a:rPr>
              <a:t>U_FND_CON</a:t>
            </a:r>
            <a:endParaRPr lang="ko-KR" altLang="en-US" sz="1300" b="1">
              <a:solidFill>
                <a:srgbClr val="1F2A44"/>
              </a:solidFill>
              <a:latin typeface="FEF3C7"/>
            </a:endParaRPr>
          </a:p>
        </p:txBody>
      </p: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1E3F376D-3093-5F53-8E1E-130180AEDBB6}"/>
              </a:ext>
            </a:extLst>
          </p:cNvPr>
          <p:cNvCxnSpPr/>
          <p:nvPr/>
        </p:nvCxnSpPr>
        <p:spPr>
          <a:xfrm>
            <a:off x="10287000" y="4524375"/>
            <a:ext cx="476250" cy="0"/>
          </a:xfrm>
          <a:prstGeom prst="line">
            <a:avLst/>
          </a:prstGeom>
          <a:ln w="22225">
            <a:solidFill>
              <a:srgbClr val="1F2A44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A4544634-8800-8EC5-3D7E-380E590E5DB8}"/>
              </a:ext>
            </a:extLst>
          </p:cNvPr>
          <p:cNvSpPr txBox="1"/>
          <p:nvPr/>
        </p:nvSpPr>
        <p:spPr>
          <a:xfrm>
            <a:off x="10267950" y="4305300"/>
            <a:ext cx="514350" cy="1714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pPr algn="ctr"/>
            <a:r>
              <a:rPr lang="en-US" altLang="ko-KR" sz="1200" b="1">
                <a:solidFill>
                  <a:srgbClr val="2563EB"/>
                </a:solidFill>
                <a:latin typeface="FEF3C7"/>
              </a:rPr>
              <a:t>w_hex</a:t>
            </a:r>
            <a:endParaRPr lang="ko-KR" altLang="en-US" sz="1200" b="1">
              <a:solidFill>
                <a:srgbClr val="2563EB"/>
              </a:solidFill>
              <a:latin typeface="FEF3C7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3CF74804-F2B9-71D8-3B8F-75305B71CBA7}"/>
              </a:ext>
            </a:extLst>
          </p:cNvPr>
          <p:cNvSpPr/>
          <p:nvPr/>
        </p:nvSpPr>
        <p:spPr>
          <a:xfrm>
            <a:off x="10763250" y="4191000"/>
            <a:ext cx="1143000" cy="666750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de-DE" altLang="ko-KR" sz="1300" b="1">
                <a:solidFill>
                  <a:srgbClr val="1F2A44"/>
                </a:solidFill>
                <a:latin typeface="FEF3C7"/>
              </a:rPr>
              <a:t>fnd_decoder</a:t>
            </a:r>
          </a:p>
          <a:p>
            <a:pPr algn="ctr"/>
            <a:r>
              <a:rPr lang="de-DE" altLang="ko-KR" sz="1300" b="1">
                <a:solidFill>
                  <a:srgbClr val="1F2A44"/>
                </a:solidFill>
                <a:latin typeface="FEF3C7"/>
              </a:rPr>
              <a:t>U_FND_DEC</a:t>
            </a:r>
            <a:endParaRPr lang="ko-KR" altLang="en-US" sz="1300" b="1">
              <a:solidFill>
                <a:srgbClr val="1F2A44"/>
              </a:solidFill>
              <a:latin typeface="FEF3C7"/>
            </a:endParaRPr>
          </a:p>
        </p:txBody>
      </p: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A857091B-DE84-86FC-F43F-A2294F64673B}"/>
              </a:ext>
            </a:extLst>
          </p:cNvPr>
          <p:cNvCxnSpPr/>
          <p:nvPr/>
        </p:nvCxnSpPr>
        <p:spPr>
          <a:xfrm>
            <a:off x="11334750" y="4857750"/>
            <a:ext cx="0" cy="438150"/>
          </a:xfrm>
          <a:prstGeom prst="line">
            <a:avLst/>
          </a:prstGeom>
          <a:ln w="22225">
            <a:solidFill>
              <a:srgbClr val="1F2A44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A81EBBA5-D3DD-B88F-C479-532861D40319}"/>
              </a:ext>
            </a:extLst>
          </p:cNvPr>
          <p:cNvSpPr txBox="1"/>
          <p:nvPr/>
        </p:nvSpPr>
        <p:spPr>
          <a:xfrm>
            <a:off x="10668000" y="5314950"/>
            <a:ext cx="1428750" cy="1714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pPr algn="ctr"/>
            <a:r>
              <a:rPr lang="en-US" altLang="ko-KR" sz="1300" b="1">
                <a:solidFill>
                  <a:srgbClr val="1F2A44"/>
                </a:solidFill>
                <a:latin typeface="FEF3C7"/>
              </a:rPr>
              <a:t>o_fnd_data[7:0]</a:t>
            </a:r>
            <a:endParaRPr lang="ko-KR" altLang="en-US" sz="1300" b="1">
              <a:solidFill>
                <a:srgbClr val="1F2A44"/>
              </a:solidFill>
              <a:latin typeface="FEF3C7"/>
            </a:endParaRPr>
          </a:p>
        </p:txBody>
      </p: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BFB7077F-4DDF-7BBF-D417-F1818724C365}"/>
              </a:ext>
            </a:extLst>
          </p:cNvPr>
          <p:cNvCxnSpPr/>
          <p:nvPr/>
        </p:nvCxnSpPr>
        <p:spPr>
          <a:xfrm>
            <a:off x="9525000" y="5048250"/>
            <a:ext cx="0" cy="247650"/>
          </a:xfrm>
          <a:prstGeom prst="line">
            <a:avLst/>
          </a:prstGeom>
          <a:ln w="22225">
            <a:solidFill>
              <a:srgbClr val="1F2A44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BBDA44CB-D4C3-1E73-FF88-A987471FAD97}"/>
              </a:ext>
            </a:extLst>
          </p:cNvPr>
          <p:cNvSpPr txBox="1"/>
          <p:nvPr/>
        </p:nvSpPr>
        <p:spPr>
          <a:xfrm>
            <a:off x="8858250" y="5314950"/>
            <a:ext cx="1333500" cy="1714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pPr algn="ctr"/>
            <a:r>
              <a:rPr lang="en-US" altLang="ko-KR" sz="1300" b="1">
                <a:solidFill>
                  <a:srgbClr val="1F2A44"/>
                </a:solidFill>
                <a:latin typeface="FEF3C7"/>
              </a:rPr>
              <a:t>o_fnd_com[3:0]</a:t>
            </a:r>
            <a:endParaRPr lang="ko-KR" altLang="en-US" sz="1300" b="1">
              <a:solidFill>
                <a:srgbClr val="1F2A44"/>
              </a:solidFill>
              <a:latin typeface="FEF3C7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23C8EDC-A755-16AB-3E2D-05A2532DBF03}"/>
              </a:ext>
            </a:extLst>
          </p:cNvPr>
          <p:cNvSpPr txBox="1"/>
          <p:nvPr/>
        </p:nvSpPr>
        <p:spPr>
          <a:xfrm>
            <a:off x="381000" y="4476750"/>
            <a:ext cx="5143500" cy="19050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en-US" altLang="ko-KR" sz="1300" b="1">
                <a:solidFill>
                  <a:srgbClr val="475569"/>
                </a:solidFill>
                <a:latin typeface="FEF3C7"/>
              </a:rPr>
              <a:t>i_clk (100 MHz) · i_reset → </a:t>
            </a:r>
            <a:r>
              <a:rPr lang="ko-KR" altLang="en-US" sz="1300" b="1">
                <a:solidFill>
                  <a:srgbClr val="475569"/>
                </a:solidFill>
                <a:latin typeface="FEF3C7"/>
              </a:rPr>
              <a:t>전 </a:t>
            </a:r>
            <a:r>
              <a:rPr lang="en-US" altLang="ko-KR" sz="1300" b="1">
                <a:solidFill>
                  <a:srgbClr val="475569"/>
                </a:solidFill>
                <a:latin typeface="FEF3C7"/>
              </a:rPr>
              <a:t>module </a:t>
            </a:r>
            <a:r>
              <a:rPr lang="ko-KR" altLang="en-US" sz="1300" b="1">
                <a:solidFill>
                  <a:srgbClr val="475569"/>
                </a:solidFill>
                <a:latin typeface="FEF3C7"/>
              </a:rPr>
              <a:t>공통</a:t>
            </a:r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35114379-611B-EA2E-8FC4-CCE15F577721}"/>
              </a:ext>
            </a:extLst>
          </p:cNvPr>
          <p:cNvSpPr/>
          <p:nvPr/>
        </p:nvSpPr>
        <p:spPr>
          <a:xfrm>
            <a:off x="942975" y="1219200"/>
            <a:ext cx="209550" cy="209550"/>
          </a:xfrm>
          <a:prstGeom prst="ellipse">
            <a:avLst/>
          </a:prstGeom>
          <a:solidFill>
            <a:srgbClr val="EA580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/>
            <a:r>
              <a:rPr lang="en-US" altLang="ko-KR" sz="1100" b="1">
                <a:solidFill>
                  <a:srgbClr val="FFFFFF"/>
                </a:solidFill>
                <a:latin typeface="FEF3C7"/>
              </a:rPr>
              <a:t>1</a:t>
            </a:r>
            <a:endParaRPr lang="ko-KR" altLang="en-US" sz="1100" b="1">
              <a:solidFill>
                <a:srgbClr val="FFFFFF"/>
              </a:solidFill>
              <a:latin typeface="FEF3C7"/>
            </a:endParaRPr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81B884E6-2355-EA96-2C50-06E349B3DC6E}"/>
              </a:ext>
            </a:extLst>
          </p:cNvPr>
          <p:cNvSpPr/>
          <p:nvPr/>
        </p:nvSpPr>
        <p:spPr>
          <a:xfrm>
            <a:off x="4943475" y="1409700"/>
            <a:ext cx="209550" cy="209550"/>
          </a:xfrm>
          <a:prstGeom prst="ellipse">
            <a:avLst/>
          </a:prstGeom>
          <a:solidFill>
            <a:srgbClr val="EA580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/>
            <a:r>
              <a:rPr lang="en-US" altLang="ko-KR" sz="1100" b="1">
                <a:solidFill>
                  <a:srgbClr val="FFFFFF"/>
                </a:solidFill>
                <a:latin typeface="FEF3C7"/>
              </a:rPr>
              <a:t>2</a:t>
            </a:r>
            <a:endParaRPr lang="ko-KR" altLang="en-US" sz="1100" b="1">
              <a:solidFill>
                <a:srgbClr val="FFFFFF"/>
              </a:solidFill>
              <a:latin typeface="FEF3C7"/>
            </a:endParaRPr>
          </a:p>
        </p:txBody>
      </p:sp>
      <p:sp>
        <p:nvSpPr>
          <p:cNvPr id="45" name="타원 44">
            <a:extLst>
              <a:ext uri="{FF2B5EF4-FFF2-40B4-BE49-F238E27FC236}">
                <a16:creationId xmlns:a16="http://schemas.microsoft.com/office/drawing/2014/main" id="{964E598F-5ED0-E23A-4603-214F013FEAFB}"/>
              </a:ext>
            </a:extLst>
          </p:cNvPr>
          <p:cNvSpPr/>
          <p:nvPr/>
        </p:nvSpPr>
        <p:spPr>
          <a:xfrm>
            <a:off x="7896225" y="1219200"/>
            <a:ext cx="209550" cy="209550"/>
          </a:xfrm>
          <a:prstGeom prst="ellipse">
            <a:avLst/>
          </a:prstGeom>
          <a:solidFill>
            <a:srgbClr val="EA580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/>
            <a:r>
              <a:rPr lang="en-US" altLang="ko-KR" sz="1100" b="1">
                <a:solidFill>
                  <a:srgbClr val="FFFFFF"/>
                </a:solidFill>
                <a:latin typeface="FEF3C7"/>
              </a:rPr>
              <a:t>3</a:t>
            </a:r>
            <a:endParaRPr lang="ko-KR" altLang="en-US" sz="1100" b="1">
              <a:solidFill>
                <a:srgbClr val="FFFFFF"/>
              </a:solidFill>
              <a:latin typeface="FEF3C7"/>
            </a:endParaRPr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7DA59090-8072-0FDC-9D2E-1F23FFBDDFB4}"/>
              </a:ext>
            </a:extLst>
          </p:cNvPr>
          <p:cNvSpPr/>
          <p:nvPr/>
        </p:nvSpPr>
        <p:spPr>
          <a:xfrm>
            <a:off x="10182225" y="1552575"/>
            <a:ext cx="209550" cy="209550"/>
          </a:xfrm>
          <a:prstGeom prst="ellipse">
            <a:avLst/>
          </a:prstGeom>
          <a:solidFill>
            <a:srgbClr val="EA580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/>
            <a:r>
              <a:rPr lang="en-US" altLang="ko-KR" sz="1100" b="1">
                <a:solidFill>
                  <a:srgbClr val="FFFFFF"/>
                </a:solidFill>
                <a:latin typeface="FEF3C7"/>
              </a:rPr>
              <a:t>4</a:t>
            </a:r>
            <a:endParaRPr lang="ko-KR" altLang="en-US" sz="1100" b="1">
              <a:solidFill>
                <a:srgbClr val="FFFFFF"/>
              </a:solidFill>
              <a:latin typeface="FEF3C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BCB303A-B40C-ADB7-C6C6-B601F7546203}"/>
              </a:ext>
            </a:extLst>
          </p:cNvPr>
          <p:cNvSpPr txBox="1"/>
          <p:nvPr/>
        </p:nvSpPr>
        <p:spPr>
          <a:xfrm>
            <a:off x="381000" y="5715000"/>
            <a:ext cx="5715000" cy="8572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en-US" altLang="ko-KR" sz="1500">
                <a:solidFill>
                  <a:srgbClr val="1F2A44"/>
                </a:solidFill>
                <a:latin typeface="FEF3C7"/>
              </a:rPr>
              <a:t>① button_debouncer: bounce </a:t>
            </a:r>
            <a:r>
              <a:rPr lang="ko-KR" altLang="en-US" sz="1500">
                <a:solidFill>
                  <a:srgbClr val="1F2A44"/>
                </a:solidFill>
                <a:latin typeface="FEF3C7"/>
              </a:rPr>
              <a:t>제거 </a:t>
            </a:r>
            <a:r>
              <a:rPr lang="en-US" altLang="ko-KR" sz="1500">
                <a:solidFill>
                  <a:srgbClr val="1F2A44"/>
                </a:solidFill>
                <a:latin typeface="FEF3C7"/>
              </a:rPr>
              <a:t>+ 1 cycle tick</a:t>
            </a:r>
          </a:p>
          <a:p>
            <a:r>
              <a:rPr lang="en-US" altLang="ko-KR" sz="1500">
                <a:solidFill>
                  <a:srgbClr val="1F2A44"/>
                </a:solidFill>
                <a:latin typeface="FEF3C7"/>
              </a:rPr>
              <a:t>② FSM_RUN_STOP: tick → STOP · RUN · CLEAR</a:t>
            </a:r>
            <a:endParaRPr lang="ko-KR" altLang="en-US" sz="1500">
              <a:solidFill>
                <a:srgbClr val="1F2A44"/>
              </a:solidFill>
              <a:latin typeface="FEF3C7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61549E8-3AAF-96AC-BA66-271B70E17864}"/>
              </a:ext>
            </a:extLst>
          </p:cNvPr>
          <p:cNvSpPr txBox="1"/>
          <p:nvPr/>
        </p:nvSpPr>
        <p:spPr>
          <a:xfrm>
            <a:off x="6191250" y="5715000"/>
            <a:ext cx="5715000" cy="8572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en-US" altLang="ko-KR" sz="1500">
                <a:solidFill>
                  <a:srgbClr val="1F2A44"/>
                </a:solidFill>
                <a:latin typeface="FEF3C7"/>
              </a:rPr>
              <a:t>③ counter_datapath_v2: o_sw</a:t>
            </a:r>
            <a:r>
              <a:rPr lang="ko-KR" altLang="en-US" sz="1500">
                <a:solidFill>
                  <a:srgbClr val="1F2A44"/>
                </a:solidFill>
                <a:latin typeface="FEF3C7"/>
              </a:rPr>
              <a:t>에 따라 </a:t>
            </a:r>
            <a:r>
              <a:rPr lang="en-US" altLang="ko-KR" sz="1500">
                <a:solidFill>
                  <a:srgbClr val="1F2A44"/>
                </a:solidFill>
                <a:latin typeface="FEF3C7"/>
              </a:rPr>
              <a:t>HOLD · CLEAR · count</a:t>
            </a:r>
          </a:p>
          <a:p>
            <a:r>
              <a:rPr lang="en-US" altLang="ko-KR" sz="1500">
                <a:solidFill>
                  <a:srgbClr val="1F2A44"/>
                </a:solidFill>
                <a:latin typeface="FEF3C7"/>
              </a:rPr>
              <a:t>④ digit_splitter → Fnd_Controller → fnd_decoder</a:t>
            </a:r>
            <a:endParaRPr lang="ko-KR" altLang="en-US" sz="1500">
              <a:solidFill>
                <a:srgbClr val="1F2A44"/>
              </a:solidFill>
              <a:latin typeface="FEF3C7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AF0CE96-46EE-8EE2-0983-A75F1BC2D2E4}"/>
              </a:ext>
            </a:extLst>
          </p:cNvPr>
          <p:cNvSpPr txBox="1"/>
          <p:nvPr/>
        </p:nvSpPr>
        <p:spPr>
          <a:xfrm>
            <a:off x="10668000" y="6591300"/>
            <a:ext cx="1143000" cy="19050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pPr algn="r"/>
            <a:r>
              <a:rPr lang="en-US" altLang="ko-KR" sz="1100">
                <a:solidFill>
                  <a:srgbClr val="94A3B8"/>
                </a:solidFill>
                <a:latin typeface="FEF3C7"/>
              </a:rPr>
              <a:t>28 / 39</a:t>
            </a:r>
            <a:endParaRPr lang="ko-KR" altLang="en-US" sz="1100">
              <a:solidFill>
                <a:srgbClr val="94A3B8"/>
              </a:solidFill>
              <a:latin typeface="FEF3C7"/>
            </a:endParaRPr>
          </a:p>
        </p:txBody>
      </p:sp>
    </p:spTree>
    <p:extLst>
      <p:ext uri="{BB962C8B-B14F-4D97-AF65-F5344CB8AC3E}">
        <p14:creationId xmlns:p14="http://schemas.microsoft.com/office/powerpoint/2010/main" val="5987742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9D27A11-83DA-CA86-1DB4-5E8C02A99E4C}"/>
              </a:ext>
            </a:extLst>
          </p:cNvPr>
          <p:cNvSpPr txBox="1"/>
          <p:nvPr/>
        </p:nvSpPr>
        <p:spPr>
          <a:xfrm>
            <a:off x="381000" y="133350"/>
            <a:ext cx="9525000" cy="2095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altLang="ko-KR" sz="1300" b="1">
                <a:solidFill>
                  <a:srgbClr val="2563EB"/>
                </a:solidFill>
                <a:latin typeface="FEF3C7"/>
              </a:rPr>
              <a:t>05  ·  Homework-2 </a:t>
            </a:r>
            <a:r>
              <a:rPr lang="ko-KR" altLang="en-US" sz="1300" b="1">
                <a:solidFill>
                  <a:srgbClr val="2563EB"/>
                </a:solidFill>
                <a:latin typeface="FEF3C7"/>
              </a:rPr>
              <a:t>설계  </a:t>
            </a:r>
            <a:r>
              <a:rPr lang="en-US" altLang="ko-KR" sz="1300" b="1">
                <a:solidFill>
                  <a:srgbClr val="2563EB"/>
                </a:solidFill>
                <a:latin typeface="FEF3C7"/>
              </a:rPr>
              <a:t>·  State Diagram</a:t>
            </a:r>
            <a:endParaRPr lang="ko-KR" altLang="en-US" sz="1300" b="1">
              <a:solidFill>
                <a:srgbClr val="2563EB"/>
              </a:solidFill>
              <a:latin typeface="FEF3C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0F6929-56BA-CDA8-6D0B-5423CE9A1B3B}"/>
              </a:ext>
            </a:extLst>
          </p:cNvPr>
          <p:cNvSpPr txBox="1"/>
          <p:nvPr/>
        </p:nvSpPr>
        <p:spPr>
          <a:xfrm>
            <a:off x="381000" y="342900"/>
            <a:ext cx="10096500" cy="4381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altLang="ko-KR" sz="2600" b="1">
                <a:solidFill>
                  <a:srgbClr val="0F172A"/>
                </a:solidFill>
                <a:latin typeface="FEF3C7"/>
              </a:rPr>
              <a:t>FSM_RUN_STOP: btn_R Toggles RUN / STOP, btn_L Clears</a:t>
            </a:r>
            <a:endParaRPr lang="ko-KR" altLang="en-US" sz="2600" b="1">
              <a:solidFill>
                <a:srgbClr val="0F172A"/>
              </a:solidFill>
              <a:latin typeface="FEF3C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342C251-F0D5-FF48-602A-0FBB00995709}"/>
              </a:ext>
            </a:extLst>
          </p:cNvPr>
          <p:cNvSpPr/>
          <p:nvPr/>
        </p:nvSpPr>
        <p:spPr>
          <a:xfrm>
            <a:off x="381000" y="819150"/>
            <a:ext cx="666750" cy="381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0D6E30-6846-36A4-E9B8-4E678FDB315B}"/>
              </a:ext>
            </a:extLst>
          </p:cNvPr>
          <p:cNvSpPr txBox="1"/>
          <p:nvPr/>
        </p:nvSpPr>
        <p:spPr>
          <a:xfrm>
            <a:off x="10572750" y="133350"/>
            <a:ext cx="1238250" cy="60960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pPr algn="r"/>
            <a:r>
              <a:rPr lang="en-US" altLang="ko-KR" sz="4000" b="1">
                <a:solidFill>
                  <a:srgbClr val="BFDBFE"/>
                </a:solidFill>
                <a:latin typeface="FEF3C7"/>
              </a:rPr>
              <a:t>05</a:t>
            </a:r>
            <a:endParaRPr lang="ko-KR" altLang="en-US" sz="4000" b="1">
              <a:solidFill>
                <a:srgbClr val="BFDBFE"/>
              </a:solidFill>
              <a:latin typeface="FEF3C7"/>
            </a:endParaRP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33A6DBDC-9CB6-AD39-7B2E-3DF260B15C43}"/>
              </a:ext>
            </a:extLst>
          </p:cNvPr>
          <p:cNvSpPr/>
          <p:nvPr/>
        </p:nvSpPr>
        <p:spPr>
          <a:xfrm>
            <a:off x="1314450" y="2552700"/>
            <a:ext cx="1181100" cy="1181100"/>
          </a:xfrm>
          <a:prstGeom prst="ellipse">
            <a:avLst/>
          </a:prstGeom>
          <a:solidFill>
            <a:srgbClr val="F1F5F9"/>
          </a:solidFill>
          <a:ln w="25400">
            <a:solidFill>
              <a:srgbClr val="4755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25400" rIns="0" bIns="25400" rtlCol="0" anchor="ctr"/>
          <a:lstStyle/>
          <a:p>
            <a:pPr algn="ctr"/>
            <a:r>
              <a:rPr lang="en-US" altLang="ko-KR" b="1">
                <a:solidFill>
                  <a:srgbClr val="0F172A"/>
                </a:solidFill>
                <a:latin typeface="FEF3C7"/>
              </a:rPr>
              <a:t>CLEAR</a:t>
            </a:r>
          </a:p>
          <a:p>
            <a:pPr algn="ctr"/>
            <a:r>
              <a:rPr lang="en-US" altLang="ko-KR" sz="1100">
                <a:solidFill>
                  <a:srgbClr val="475569"/>
                </a:solidFill>
                <a:latin typeface="FEF3C7"/>
              </a:rPr>
              <a:t>o_sw 010</a:t>
            </a:r>
            <a:endParaRPr lang="ko-KR" altLang="en-US" sz="1100">
              <a:solidFill>
                <a:srgbClr val="475569"/>
              </a:solidFill>
              <a:latin typeface="FEF3C7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E9AC6A7D-248F-0E6C-11C6-50AC90393D0F}"/>
              </a:ext>
            </a:extLst>
          </p:cNvPr>
          <p:cNvSpPr/>
          <p:nvPr/>
        </p:nvSpPr>
        <p:spPr>
          <a:xfrm>
            <a:off x="3695700" y="2552700"/>
            <a:ext cx="1181100" cy="1181100"/>
          </a:xfrm>
          <a:prstGeom prst="ellipse">
            <a:avLst/>
          </a:prstGeom>
          <a:solidFill>
            <a:srgbClr val="FEF3C7"/>
          </a:solidFill>
          <a:ln w="25400">
            <a:solidFill>
              <a:srgbClr val="D977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25400" rIns="0" bIns="25400" rtlCol="0" anchor="ctr"/>
          <a:lstStyle/>
          <a:p>
            <a:pPr algn="ctr"/>
            <a:r>
              <a:rPr lang="en-US" altLang="ko-KR" b="1">
                <a:solidFill>
                  <a:srgbClr val="0F172A"/>
                </a:solidFill>
                <a:latin typeface="FEF3C7"/>
              </a:rPr>
              <a:t>STOP</a:t>
            </a:r>
          </a:p>
          <a:p>
            <a:pPr algn="ctr"/>
            <a:r>
              <a:rPr lang="en-US" altLang="ko-KR" sz="1100">
                <a:solidFill>
                  <a:srgbClr val="475569"/>
                </a:solidFill>
                <a:latin typeface="FEF3C7"/>
              </a:rPr>
              <a:t>o_sw 001</a:t>
            </a:r>
            <a:endParaRPr lang="ko-KR" altLang="en-US" sz="1100">
              <a:solidFill>
                <a:srgbClr val="475569"/>
              </a:solidFill>
              <a:latin typeface="FEF3C7"/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2F702DEE-38F5-AF3B-76F6-A91781E357DD}"/>
              </a:ext>
            </a:extLst>
          </p:cNvPr>
          <p:cNvSpPr/>
          <p:nvPr/>
        </p:nvSpPr>
        <p:spPr>
          <a:xfrm>
            <a:off x="6076950" y="2552700"/>
            <a:ext cx="1181100" cy="1181100"/>
          </a:xfrm>
          <a:prstGeom prst="ellipse">
            <a:avLst/>
          </a:prstGeom>
          <a:solidFill>
            <a:srgbClr val="DCFCE7"/>
          </a:solidFill>
          <a:ln w="25400">
            <a:solidFill>
              <a:srgbClr val="16A3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25400" rIns="0" bIns="25400" rtlCol="0" anchor="ctr"/>
          <a:lstStyle/>
          <a:p>
            <a:pPr algn="ctr"/>
            <a:r>
              <a:rPr lang="en-US" altLang="ko-KR" b="1">
                <a:solidFill>
                  <a:srgbClr val="0F172A"/>
                </a:solidFill>
                <a:latin typeface="FEF3C7"/>
              </a:rPr>
              <a:t>RUN</a:t>
            </a:r>
          </a:p>
          <a:p>
            <a:pPr algn="ctr"/>
            <a:r>
              <a:rPr lang="en-US" altLang="ko-KR" sz="1100">
                <a:solidFill>
                  <a:srgbClr val="475569"/>
                </a:solidFill>
                <a:latin typeface="FEF3C7"/>
              </a:rPr>
              <a:t>o_sw 000</a:t>
            </a:r>
            <a:endParaRPr lang="ko-KR" altLang="en-US" sz="1100">
              <a:solidFill>
                <a:srgbClr val="475569"/>
              </a:solidFill>
              <a:latin typeface="FEF3C7"/>
            </a:endParaRPr>
          </a:p>
        </p:txBody>
      </p:sp>
      <p:sp>
        <p:nvSpPr>
          <p:cNvPr id="9" name="자유형: 도형 8">
            <a:extLst>
              <a:ext uri="{FF2B5EF4-FFF2-40B4-BE49-F238E27FC236}">
                <a16:creationId xmlns:a16="http://schemas.microsoft.com/office/drawing/2014/main" id="{0432477C-9C15-F7A1-A480-76C6C679AD8A}"/>
              </a:ext>
            </a:extLst>
          </p:cNvPr>
          <p:cNvSpPr/>
          <p:nvPr/>
        </p:nvSpPr>
        <p:spPr>
          <a:xfrm>
            <a:off x="4552950" y="1809750"/>
            <a:ext cx="1847851" cy="800101"/>
          </a:xfrm>
          <a:custGeom>
            <a:avLst/>
            <a:gdLst/>
            <a:ahLst/>
            <a:cxnLst/>
            <a:rect l="0" t="0" r="0" b="0"/>
            <a:pathLst>
              <a:path w="1847851" h="800101">
                <a:moveTo>
                  <a:pt x="0" y="800100"/>
                </a:moveTo>
                <a:cubicBezTo>
                  <a:pt x="400050" y="0"/>
                  <a:pt x="1352550" y="0"/>
                  <a:pt x="1847850" y="800100"/>
                </a:cubicBezTo>
              </a:path>
            </a:pathLst>
          </a:custGeom>
          <a:ln w="22225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5538B15-FABC-3951-153A-0CBC28E9C396}"/>
              </a:ext>
            </a:extLst>
          </p:cNvPr>
          <p:cNvSpPr txBox="1"/>
          <p:nvPr/>
        </p:nvSpPr>
        <p:spPr>
          <a:xfrm>
            <a:off x="4905375" y="1638300"/>
            <a:ext cx="1143000" cy="2095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pPr algn="ctr"/>
            <a:r>
              <a:rPr lang="en-US" altLang="ko-KR" sz="1400" b="1">
                <a:solidFill>
                  <a:srgbClr val="1F2A44"/>
                </a:solidFill>
                <a:latin typeface="FEF3C7"/>
              </a:rPr>
              <a:t>btn_R tick</a:t>
            </a:r>
            <a:endParaRPr lang="ko-KR" altLang="en-US" sz="1400" b="1">
              <a:solidFill>
                <a:srgbClr val="1F2A44"/>
              </a:solidFill>
              <a:latin typeface="FEF3C7"/>
            </a:endParaRPr>
          </a:p>
        </p:txBody>
      </p:sp>
      <p:sp>
        <p:nvSpPr>
          <p:cNvPr id="11" name="자유형: 도형 10">
            <a:extLst>
              <a:ext uri="{FF2B5EF4-FFF2-40B4-BE49-F238E27FC236}">
                <a16:creationId xmlns:a16="http://schemas.microsoft.com/office/drawing/2014/main" id="{3161B2BE-3415-AB61-B769-27C1A57979A8}"/>
              </a:ext>
            </a:extLst>
          </p:cNvPr>
          <p:cNvSpPr/>
          <p:nvPr/>
        </p:nvSpPr>
        <p:spPr>
          <a:xfrm>
            <a:off x="4552950" y="3676650"/>
            <a:ext cx="1847851" cy="800101"/>
          </a:xfrm>
          <a:custGeom>
            <a:avLst/>
            <a:gdLst/>
            <a:ahLst/>
            <a:cxnLst/>
            <a:rect l="0" t="0" r="0" b="0"/>
            <a:pathLst>
              <a:path w="1847851" h="800101">
                <a:moveTo>
                  <a:pt x="1847850" y="0"/>
                </a:moveTo>
                <a:cubicBezTo>
                  <a:pt x="1352550" y="800100"/>
                  <a:pt x="400050" y="800100"/>
                  <a:pt x="0" y="0"/>
                </a:cubicBezTo>
              </a:path>
            </a:pathLst>
          </a:custGeom>
          <a:ln w="22225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5A80ED9-FF35-78EA-B1B0-14C8C4CCEDF1}"/>
              </a:ext>
            </a:extLst>
          </p:cNvPr>
          <p:cNvSpPr txBox="1"/>
          <p:nvPr/>
        </p:nvSpPr>
        <p:spPr>
          <a:xfrm>
            <a:off x="4905375" y="4400550"/>
            <a:ext cx="1143000" cy="2095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pPr algn="ctr"/>
            <a:r>
              <a:rPr lang="en-US" altLang="ko-KR" sz="1400" b="1">
                <a:solidFill>
                  <a:srgbClr val="1F2A44"/>
                </a:solidFill>
                <a:latin typeface="FEF3C7"/>
              </a:rPr>
              <a:t>btn_R tick</a:t>
            </a:r>
            <a:endParaRPr lang="ko-KR" altLang="en-US" sz="1400" b="1">
              <a:solidFill>
                <a:srgbClr val="1F2A44"/>
              </a:solidFill>
              <a:latin typeface="FEF3C7"/>
            </a:endParaRPr>
          </a:p>
        </p:txBody>
      </p:sp>
      <p:sp>
        <p:nvSpPr>
          <p:cNvPr id="13" name="자유형: 도형 12">
            <a:extLst>
              <a:ext uri="{FF2B5EF4-FFF2-40B4-BE49-F238E27FC236}">
                <a16:creationId xmlns:a16="http://schemas.microsoft.com/office/drawing/2014/main" id="{00279361-31BD-E10C-B45B-DE888071E7DD}"/>
              </a:ext>
            </a:extLst>
          </p:cNvPr>
          <p:cNvSpPr/>
          <p:nvPr/>
        </p:nvSpPr>
        <p:spPr>
          <a:xfrm>
            <a:off x="2171700" y="1809750"/>
            <a:ext cx="1847851" cy="800101"/>
          </a:xfrm>
          <a:custGeom>
            <a:avLst/>
            <a:gdLst/>
            <a:ahLst/>
            <a:cxnLst/>
            <a:rect l="0" t="0" r="0" b="0"/>
            <a:pathLst>
              <a:path w="1847851" h="800101">
                <a:moveTo>
                  <a:pt x="1847850" y="800100"/>
                </a:moveTo>
                <a:cubicBezTo>
                  <a:pt x="1447800" y="0"/>
                  <a:pt x="495300" y="0"/>
                  <a:pt x="0" y="800100"/>
                </a:cubicBezTo>
              </a:path>
            </a:pathLst>
          </a:custGeom>
          <a:ln w="22225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7366580-A68F-1773-1CC3-9D0C9CE3E533}"/>
              </a:ext>
            </a:extLst>
          </p:cNvPr>
          <p:cNvSpPr txBox="1"/>
          <p:nvPr/>
        </p:nvSpPr>
        <p:spPr>
          <a:xfrm>
            <a:off x="2524125" y="1638300"/>
            <a:ext cx="1143000" cy="2095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pPr algn="ctr"/>
            <a:r>
              <a:rPr lang="en-US" altLang="ko-KR" sz="1400" b="1">
                <a:solidFill>
                  <a:srgbClr val="1F2A44"/>
                </a:solidFill>
                <a:latin typeface="FEF3C7"/>
              </a:rPr>
              <a:t>btn_L tick</a:t>
            </a:r>
            <a:endParaRPr lang="ko-KR" altLang="en-US" sz="1400" b="1">
              <a:solidFill>
                <a:srgbClr val="1F2A44"/>
              </a:solidFill>
              <a:latin typeface="FEF3C7"/>
            </a:endParaRPr>
          </a:p>
        </p:txBody>
      </p:sp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0CB3EBFA-7AAA-D2D1-1F5F-7F4B3B7845EF}"/>
              </a:ext>
            </a:extLst>
          </p:cNvPr>
          <p:cNvSpPr/>
          <p:nvPr/>
        </p:nvSpPr>
        <p:spPr>
          <a:xfrm>
            <a:off x="2171700" y="3676650"/>
            <a:ext cx="1847851" cy="800101"/>
          </a:xfrm>
          <a:custGeom>
            <a:avLst/>
            <a:gdLst/>
            <a:ahLst/>
            <a:cxnLst/>
            <a:rect l="0" t="0" r="0" b="0"/>
            <a:pathLst>
              <a:path w="1847851" h="800101">
                <a:moveTo>
                  <a:pt x="0" y="0"/>
                </a:moveTo>
                <a:cubicBezTo>
                  <a:pt x="495300" y="800100"/>
                  <a:pt x="1447800" y="800100"/>
                  <a:pt x="1847850" y="0"/>
                </a:cubicBezTo>
              </a:path>
            </a:pathLst>
          </a:custGeom>
          <a:ln w="22225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995AF10-0D32-D716-9571-A61D4DD1A46E}"/>
              </a:ext>
            </a:extLst>
          </p:cNvPr>
          <p:cNvSpPr txBox="1"/>
          <p:nvPr/>
        </p:nvSpPr>
        <p:spPr>
          <a:xfrm>
            <a:off x="2524125" y="4400550"/>
            <a:ext cx="1143000" cy="2095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pPr algn="ctr"/>
            <a:r>
              <a:rPr lang="en-US" altLang="ko-KR" sz="1400" b="1">
                <a:solidFill>
                  <a:srgbClr val="1F2A44"/>
                </a:solidFill>
                <a:latin typeface="FEF3C7"/>
              </a:rPr>
              <a:t>next clk</a:t>
            </a:r>
            <a:endParaRPr lang="ko-KR" altLang="en-US" sz="1400" b="1">
              <a:solidFill>
                <a:srgbClr val="1F2A44"/>
              </a:solidFill>
              <a:latin typeface="FEF3C7"/>
            </a:endParaRPr>
          </a:p>
        </p:txBody>
      </p:sp>
      <p:sp>
        <p:nvSpPr>
          <p:cNvPr id="17" name="자유형: 도형 16">
            <a:extLst>
              <a:ext uri="{FF2B5EF4-FFF2-40B4-BE49-F238E27FC236}">
                <a16:creationId xmlns:a16="http://schemas.microsoft.com/office/drawing/2014/main" id="{2B276CC9-9ACD-8A20-7C6A-7B44035B31B8}"/>
              </a:ext>
            </a:extLst>
          </p:cNvPr>
          <p:cNvSpPr/>
          <p:nvPr/>
        </p:nvSpPr>
        <p:spPr>
          <a:xfrm>
            <a:off x="3857625" y="1428750"/>
            <a:ext cx="857251" cy="1143001"/>
          </a:xfrm>
          <a:custGeom>
            <a:avLst/>
            <a:gdLst/>
            <a:ahLst/>
            <a:cxnLst/>
            <a:rect l="0" t="0" r="0" b="0"/>
            <a:pathLst>
              <a:path w="857251" h="1143001">
                <a:moveTo>
                  <a:pt x="295275" y="1143000"/>
                </a:moveTo>
                <a:cubicBezTo>
                  <a:pt x="0" y="0"/>
                  <a:pt x="857250" y="0"/>
                  <a:pt x="561975" y="1143000"/>
                </a:cubicBezTo>
              </a:path>
            </a:pathLst>
          </a:custGeom>
          <a:ln w="22225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B948A52-F903-ED5E-CA89-ED5CAD350743}"/>
              </a:ext>
            </a:extLst>
          </p:cNvPr>
          <p:cNvSpPr txBox="1"/>
          <p:nvPr/>
        </p:nvSpPr>
        <p:spPr>
          <a:xfrm>
            <a:off x="3714750" y="1219200"/>
            <a:ext cx="1143000" cy="2095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pPr algn="ctr"/>
            <a:r>
              <a:rPr lang="en-US" altLang="ko-KR" sz="1400" b="1">
                <a:solidFill>
                  <a:srgbClr val="475569"/>
                </a:solidFill>
                <a:latin typeface="FEF3C7"/>
              </a:rPr>
              <a:t>tick </a:t>
            </a:r>
            <a:r>
              <a:rPr lang="ko-KR" altLang="en-US" sz="1400" b="1">
                <a:solidFill>
                  <a:srgbClr val="475569"/>
                </a:solidFill>
                <a:latin typeface="FEF3C7"/>
              </a:rPr>
              <a:t>없음</a:t>
            </a:r>
          </a:p>
        </p:txBody>
      </p:sp>
      <p:sp>
        <p:nvSpPr>
          <p:cNvPr id="19" name="자유형: 도형 18">
            <a:extLst>
              <a:ext uri="{FF2B5EF4-FFF2-40B4-BE49-F238E27FC236}">
                <a16:creationId xmlns:a16="http://schemas.microsoft.com/office/drawing/2014/main" id="{4C810811-46DF-4CA1-BDB5-3C8DE3EB22F4}"/>
              </a:ext>
            </a:extLst>
          </p:cNvPr>
          <p:cNvSpPr/>
          <p:nvPr/>
        </p:nvSpPr>
        <p:spPr>
          <a:xfrm>
            <a:off x="7239000" y="2571750"/>
            <a:ext cx="1047751" cy="1143001"/>
          </a:xfrm>
          <a:custGeom>
            <a:avLst/>
            <a:gdLst/>
            <a:ahLst/>
            <a:cxnLst/>
            <a:rect l="0" t="0" r="0" b="0"/>
            <a:pathLst>
              <a:path w="1047751" h="1143001">
                <a:moveTo>
                  <a:pt x="0" y="381000"/>
                </a:moveTo>
                <a:cubicBezTo>
                  <a:pt x="1047750" y="0"/>
                  <a:pt x="1047750" y="1143000"/>
                  <a:pt x="0" y="762000"/>
                </a:cubicBezTo>
              </a:path>
            </a:pathLst>
          </a:custGeom>
          <a:ln w="34925">
            <a:solidFill>
              <a:srgbClr val="16A34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E21ACFA-03F1-31CF-AC57-8B8E8FE7ECD4}"/>
              </a:ext>
            </a:extLst>
          </p:cNvPr>
          <p:cNvSpPr txBox="1"/>
          <p:nvPr/>
        </p:nvSpPr>
        <p:spPr>
          <a:xfrm>
            <a:off x="7620000" y="3848100"/>
            <a:ext cx="1143000" cy="2095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pPr algn="ctr"/>
            <a:r>
              <a:rPr lang="en-US" altLang="ko-KR" sz="1400" b="1">
                <a:solidFill>
                  <a:srgbClr val="16A34A"/>
                </a:solidFill>
                <a:latin typeface="FEF3C7"/>
              </a:rPr>
              <a:t>btn_R </a:t>
            </a:r>
            <a:r>
              <a:rPr lang="ko-KR" altLang="en-US" sz="1400" b="1">
                <a:solidFill>
                  <a:srgbClr val="16A34A"/>
                </a:solidFill>
                <a:latin typeface="FEF3C7"/>
              </a:rPr>
              <a:t>없음</a:t>
            </a:r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AF10B9E0-5305-648B-92D0-3140B4ADDC8F}"/>
              </a:ext>
            </a:extLst>
          </p:cNvPr>
          <p:cNvCxnSpPr/>
          <p:nvPr/>
        </p:nvCxnSpPr>
        <p:spPr>
          <a:xfrm flipV="1">
            <a:off x="4286250" y="3743325"/>
            <a:ext cx="0" cy="1590675"/>
          </a:xfrm>
          <a:prstGeom prst="line">
            <a:avLst/>
          </a:prstGeom>
          <a:ln w="22225">
            <a:solidFill>
              <a:srgbClr val="1F2A44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13F931DE-D349-5521-77F5-DB669060E8C3}"/>
              </a:ext>
            </a:extLst>
          </p:cNvPr>
          <p:cNvSpPr txBox="1"/>
          <p:nvPr/>
        </p:nvSpPr>
        <p:spPr>
          <a:xfrm>
            <a:off x="4381500" y="5048250"/>
            <a:ext cx="952500" cy="19050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en-US" altLang="ko-KR" sz="1400" b="1">
                <a:solidFill>
                  <a:srgbClr val="475569"/>
                </a:solidFill>
                <a:latin typeface="FEF3C7"/>
              </a:rPr>
              <a:t>i_reset</a:t>
            </a:r>
            <a:endParaRPr lang="ko-KR" altLang="en-US" sz="1400" b="1">
              <a:solidFill>
                <a:srgbClr val="475569"/>
              </a:solidFill>
              <a:latin typeface="FEF3C7"/>
            </a:endParaRPr>
          </a:p>
        </p:txBody>
      </p:sp>
      <p:graphicFrame>
        <p:nvGraphicFramePr>
          <p:cNvPr id="23" name="표 22">
            <a:extLst>
              <a:ext uri="{FF2B5EF4-FFF2-40B4-BE49-F238E27FC236}">
                <a16:creationId xmlns:a16="http://schemas.microsoft.com/office/drawing/2014/main" id="{A727FC21-8A73-1891-BD50-0E9FA4A1F6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8797260"/>
              </p:ext>
            </p:extLst>
          </p:nvPr>
        </p:nvGraphicFramePr>
        <p:xfrm>
          <a:off x="8763000" y="1714500"/>
          <a:ext cx="3048000" cy="190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2500">
                  <a:extLst>
                    <a:ext uri="{9D8B030D-6E8A-4147-A177-3AD203B41FA5}">
                      <a16:colId xmlns:a16="http://schemas.microsoft.com/office/drawing/2014/main" val="807157339"/>
                    </a:ext>
                  </a:extLst>
                </a:gridCol>
                <a:gridCol w="1047750">
                  <a:extLst>
                    <a:ext uri="{9D8B030D-6E8A-4147-A177-3AD203B41FA5}">
                      <a16:colId xmlns:a16="http://schemas.microsoft.com/office/drawing/2014/main" val="3108063322"/>
                    </a:ext>
                  </a:extLst>
                </a:gridCol>
                <a:gridCol w="1047750">
                  <a:extLst>
                    <a:ext uri="{9D8B030D-6E8A-4147-A177-3AD203B41FA5}">
                      <a16:colId xmlns:a16="http://schemas.microsoft.com/office/drawing/2014/main" val="1901198556"/>
                    </a:ext>
                  </a:extLst>
                </a:gridCol>
              </a:tblGrid>
              <a:tr h="47625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>
                          <a:solidFill>
                            <a:srgbClr val="FFFFFF"/>
                          </a:solidFill>
                          <a:latin typeface="FEF3C7"/>
                        </a:rPr>
                        <a:t>State</a:t>
                      </a:r>
                      <a:endParaRPr lang="ko-KR" altLang="en-US" sz="1600" b="1">
                        <a:solidFill>
                          <a:srgbClr val="FFFFFF"/>
                        </a:solidFill>
                        <a:latin typeface="FEF3C7"/>
                      </a:endParaRPr>
                    </a:p>
                  </a:txBody>
                  <a:tcPr marT="25400" marB="25400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>
                          <a:solidFill>
                            <a:srgbClr val="FFFFFF"/>
                          </a:solidFill>
                          <a:latin typeface="FEF3C7"/>
                        </a:rPr>
                        <a:t>o_sw[2:0]</a:t>
                      </a:r>
                      <a:endParaRPr lang="ko-KR" altLang="en-US" sz="1600" b="1">
                        <a:solidFill>
                          <a:srgbClr val="FFFFFF"/>
                        </a:solidFill>
                        <a:latin typeface="FEF3C7"/>
                      </a:endParaRPr>
                    </a:p>
                  </a:txBody>
                  <a:tcPr marT="25400" marB="25400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>
                          <a:solidFill>
                            <a:srgbClr val="FFFFFF"/>
                          </a:solidFill>
                          <a:latin typeface="FEF3C7"/>
                        </a:rPr>
                        <a:t>동작</a:t>
                      </a:r>
                    </a:p>
                  </a:txBody>
                  <a:tcPr marT="25400" marB="25400" anchor="ctr">
                    <a:solidFill>
                      <a:srgbClr val="1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9202623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>
                          <a:solidFill>
                            <a:srgbClr val="1F2A44"/>
                          </a:solidFill>
                          <a:latin typeface="FEF3C7"/>
                        </a:rPr>
                        <a:t>STOP</a:t>
                      </a:r>
                      <a:endParaRPr lang="ko-KR" altLang="en-US" sz="1600" b="0">
                        <a:solidFill>
                          <a:srgbClr val="1F2A44"/>
                        </a:solidFill>
                        <a:latin typeface="FEF3C7"/>
                      </a:endParaRP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>
                          <a:solidFill>
                            <a:srgbClr val="1F2A44"/>
                          </a:solidFill>
                          <a:latin typeface="FEF3C7"/>
                        </a:rPr>
                        <a:t>001</a:t>
                      </a:r>
                      <a:endParaRPr lang="ko-KR" altLang="en-US" sz="1600" b="0">
                        <a:solidFill>
                          <a:srgbClr val="1F2A44"/>
                        </a:solidFill>
                        <a:latin typeface="FEF3C7"/>
                      </a:endParaRP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>
                          <a:solidFill>
                            <a:srgbClr val="1F2A44"/>
                          </a:solidFill>
                          <a:latin typeface="FEF3C7"/>
                        </a:rPr>
                        <a:t>HOLD</a:t>
                      </a:r>
                      <a:endParaRPr lang="ko-KR" altLang="en-US" sz="1600" b="0">
                        <a:solidFill>
                          <a:srgbClr val="1F2A44"/>
                        </a:solidFill>
                        <a:latin typeface="FEF3C7"/>
                      </a:endParaRP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005982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>
                          <a:solidFill>
                            <a:srgbClr val="1F2A44"/>
                          </a:solidFill>
                          <a:latin typeface="FEF3C7"/>
                        </a:rPr>
                        <a:t>CLEAR</a:t>
                      </a:r>
                      <a:endParaRPr lang="ko-KR" altLang="en-US" sz="1600" b="0">
                        <a:solidFill>
                          <a:srgbClr val="1F2A44"/>
                        </a:solidFill>
                        <a:latin typeface="FEF3C7"/>
                      </a:endParaRPr>
                    </a:p>
                  </a:txBody>
                  <a:tcPr marT="25400" marB="254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>
                          <a:solidFill>
                            <a:srgbClr val="1F2A44"/>
                          </a:solidFill>
                          <a:latin typeface="FEF3C7"/>
                        </a:rPr>
                        <a:t>010</a:t>
                      </a:r>
                      <a:endParaRPr lang="ko-KR" altLang="en-US" sz="1600" b="0">
                        <a:solidFill>
                          <a:srgbClr val="1F2A44"/>
                        </a:solidFill>
                        <a:latin typeface="FEF3C7"/>
                      </a:endParaRPr>
                    </a:p>
                  </a:txBody>
                  <a:tcPr marT="25400" marB="254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>
                          <a:solidFill>
                            <a:srgbClr val="1F2A44"/>
                          </a:solidFill>
                          <a:latin typeface="FEF3C7"/>
                        </a:rPr>
                        <a:t>0 </a:t>
                      </a:r>
                      <a:r>
                        <a:rPr lang="ko-KR" altLang="en-US" sz="1600" b="0">
                          <a:solidFill>
                            <a:srgbClr val="1F2A44"/>
                          </a:solidFill>
                          <a:latin typeface="FEF3C7"/>
                        </a:rPr>
                        <a:t>로드</a:t>
                      </a:r>
                    </a:p>
                  </a:txBody>
                  <a:tcPr marT="25400" marB="25400"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5293176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>
                          <a:solidFill>
                            <a:srgbClr val="1F2A44"/>
                          </a:solidFill>
                          <a:latin typeface="FEF3C7"/>
                        </a:rPr>
                        <a:t>RUN</a:t>
                      </a:r>
                      <a:endParaRPr lang="ko-KR" altLang="en-US" sz="1600" b="0">
                        <a:solidFill>
                          <a:srgbClr val="1F2A44"/>
                        </a:solidFill>
                        <a:latin typeface="FEF3C7"/>
                      </a:endParaRP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>
                          <a:solidFill>
                            <a:srgbClr val="1F2A44"/>
                          </a:solidFill>
                          <a:latin typeface="FEF3C7"/>
                        </a:rPr>
                        <a:t>000</a:t>
                      </a:r>
                      <a:endParaRPr lang="ko-KR" altLang="en-US" sz="1600" b="0">
                        <a:solidFill>
                          <a:srgbClr val="1F2A44"/>
                        </a:solidFill>
                        <a:latin typeface="FEF3C7"/>
                      </a:endParaRP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>
                          <a:solidFill>
                            <a:srgbClr val="1F2A44"/>
                          </a:solidFill>
                          <a:latin typeface="FEF3C7"/>
                        </a:rPr>
                        <a:t>count up</a:t>
                      </a:r>
                      <a:endParaRPr lang="ko-KR" altLang="en-US" sz="1600" b="0">
                        <a:solidFill>
                          <a:srgbClr val="1F2A44"/>
                        </a:solidFill>
                        <a:latin typeface="FEF3C7"/>
                      </a:endParaRP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8825159"/>
                  </a:ext>
                </a:extLst>
              </a:tr>
            </a:tbl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11408F70-42E7-1DCD-E9EA-FE0773FDCBFE}"/>
              </a:ext>
            </a:extLst>
          </p:cNvPr>
          <p:cNvSpPr txBox="1"/>
          <p:nvPr/>
        </p:nvSpPr>
        <p:spPr>
          <a:xfrm>
            <a:off x="10668000" y="6591300"/>
            <a:ext cx="1143000" cy="19050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pPr algn="r"/>
            <a:r>
              <a:rPr lang="en-US" altLang="ko-KR" sz="1100">
                <a:solidFill>
                  <a:srgbClr val="94A3B8"/>
                </a:solidFill>
                <a:latin typeface="FEF3C7"/>
              </a:rPr>
              <a:t>29 / 39</a:t>
            </a:r>
            <a:endParaRPr lang="ko-KR" altLang="en-US" sz="1100">
              <a:solidFill>
                <a:srgbClr val="94A3B8"/>
              </a:solidFill>
              <a:latin typeface="FEF3C7"/>
            </a:endParaRPr>
          </a:p>
        </p:txBody>
      </p:sp>
    </p:spTree>
    <p:extLst>
      <p:ext uri="{BB962C8B-B14F-4D97-AF65-F5344CB8AC3E}">
        <p14:creationId xmlns:p14="http://schemas.microsoft.com/office/powerpoint/2010/main" val="20825142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093792B-DBBE-FE78-6382-FA0FF0A66004}"/>
              </a:ext>
            </a:extLst>
          </p:cNvPr>
          <p:cNvSpPr txBox="1"/>
          <p:nvPr/>
        </p:nvSpPr>
        <p:spPr>
          <a:xfrm>
            <a:off x="381000" y="133350"/>
            <a:ext cx="9525000" cy="2095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altLang="ko-KR" sz="1300" b="1">
                <a:solidFill>
                  <a:srgbClr val="2563EB"/>
                </a:solidFill>
                <a:latin typeface="FEF3C7"/>
              </a:rPr>
              <a:t>05  ·  Homework-2 </a:t>
            </a:r>
            <a:r>
              <a:rPr lang="ko-KR" altLang="en-US" sz="1300" b="1">
                <a:solidFill>
                  <a:srgbClr val="2563EB"/>
                </a:solidFill>
                <a:latin typeface="FEF3C7"/>
              </a:rPr>
              <a:t>설계  </a:t>
            </a:r>
            <a:r>
              <a:rPr lang="en-US" altLang="ko-KR" sz="1300" b="1">
                <a:solidFill>
                  <a:srgbClr val="2563EB"/>
                </a:solidFill>
                <a:latin typeface="FEF3C7"/>
              </a:rPr>
              <a:t>·  Debouncer </a:t>
            </a:r>
            <a:r>
              <a:rPr lang="ko-KR" altLang="en-US" sz="1300" b="1">
                <a:solidFill>
                  <a:srgbClr val="2563EB"/>
                </a:solidFill>
                <a:latin typeface="FEF3C7"/>
              </a:rPr>
              <a:t>내부 구조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24300AA-8591-2A5B-40BD-0DB5F1B8403F}"/>
              </a:ext>
            </a:extLst>
          </p:cNvPr>
          <p:cNvSpPr txBox="1"/>
          <p:nvPr/>
        </p:nvSpPr>
        <p:spPr>
          <a:xfrm>
            <a:off x="381000" y="342900"/>
            <a:ext cx="10096500" cy="4381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altLang="ko-KR" sz="2600" b="1">
                <a:solidFill>
                  <a:srgbClr val="0F172A"/>
                </a:solidFill>
                <a:latin typeface="FEF3C7"/>
              </a:rPr>
              <a:t>button_debouncer: Sample, Check, Delay, Edge-detect</a:t>
            </a:r>
            <a:endParaRPr lang="ko-KR" altLang="en-US" sz="2600" b="1">
              <a:solidFill>
                <a:srgbClr val="0F172A"/>
              </a:solidFill>
              <a:latin typeface="FEF3C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02267EB-50D9-72D6-54C6-37669F8A8264}"/>
              </a:ext>
            </a:extLst>
          </p:cNvPr>
          <p:cNvSpPr/>
          <p:nvPr/>
        </p:nvSpPr>
        <p:spPr>
          <a:xfrm>
            <a:off x="381000" y="819150"/>
            <a:ext cx="666750" cy="381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14315D-961E-7A09-DF88-437D20700E5F}"/>
              </a:ext>
            </a:extLst>
          </p:cNvPr>
          <p:cNvSpPr txBox="1"/>
          <p:nvPr/>
        </p:nvSpPr>
        <p:spPr>
          <a:xfrm>
            <a:off x="10572750" y="133350"/>
            <a:ext cx="1238250" cy="60960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pPr algn="r"/>
            <a:r>
              <a:rPr lang="en-US" altLang="ko-KR" sz="4000" b="1">
                <a:solidFill>
                  <a:srgbClr val="BFDBFE"/>
                </a:solidFill>
                <a:latin typeface="FEF3C7"/>
              </a:rPr>
              <a:t>05</a:t>
            </a:r>
            <a:endParaRPr lang="ko-KR" altLang="en-US" sz="4000" b="1">
              <a:solidFill>
                <a:srgbClr val="BFDBFE"/>
              </a:solidFill>
              <a:latin typeface="FEF3C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9B4F72-041E-5B3A-335F-8F1BF23020BB}"/>
              </a:ext>
            </a:extLst>
          </p:cNvPr>
          <p:cNvSpPr txBox="1"/>
          <p:nvPr/>
        </p:nvSpPr>
        <p:spPr>
          <a:xfrm>
            <a:off x="381000" y="1666875"/>
            <a:ext cx="666750" cy="2095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en-US" altLang="ko-KR" sz="1500" b="1">
                <a:solidFill>
                  <a:srgbClr val="1F2A44"/>
                </a:solidFill>
                <a:latin typeface="FEF3C7"/>
              </a:rPr>
              <a:t>i_btn</a:t>
            </a:r>
            <a:endParaRPr lang="ko-KR" altLang="en-US" sz="1500" b="1">
              <a:solidFill>
                <a:srgbClr val="1F2A44"/>
              </a:solidFill>
              <a:latin typeface="FEF3C7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B1CEE4F0-6038-13A8-80A7-9186D1A2C696}"/>
              </a:ext>
            </a:extLst>
          </p:cNvPr>
          <p:cNvCxnSpPr/>
          <p:nvPr/>
        </p:nvCxnSpPr>
        <p:spPr>
          <a:xfrm>
            <a:off x="476250" y="1905000"/>
            <a:ext cx="666750" cy="0"/>
          </a:xfrm>
          <a:prstGeom prst="line">
            <a:avLst/>
          </a:prstGeom>
          <a:ln w="25400">
            <a:solidFill>
              <a:srgbClr val="1F2A44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906ABD66-71EA-CD61-8029-594908FC81A0}"/>
              </a:ext>
            </a:extLst>
          </p:cNvPr>
          <p:cNvSpPr txBox="1"/>
          <p:nvPr/>
        </p:nvSpPr>
        <p:spPr>
          <a:xfrm>
            <a:off x="1143000" y="1257300"/>
            <a:ext cx="6705600" cy="22860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pPr algn="ctr"/>
            <a:r>
              <a:rPr lang="en-US" altLang="ko-KR" sz="1400" b="1">
                <a:solidFill>
                  <a:srgbClr val="475569"/>
                </a:solidFill>
                <a:latin typeface="FEF3C7"/>
              </a:rPr>
              <a:t>i_clk posedge</a:t>
            </a:r>
            <a:r>
              <a:rPr lang="ko-KR" altLang="en-US" sz="1400" b="1">
                <a:solidFill>
                  <a:srgbClr val="475569"/>
                </a:solidFill>
                <a:latin typeface="FEF3C7"/>
              </a:rPr>
              <a:t>마다 </a:t>
            </a:r>
            <a:r>
              <a:rPr lang="en-US" altLang="ko-KR" sz="1400" b="1">
                <a:solidFill>
                  <a:srgbClr val="475569"/>
                </a:solidFill>
                <a:latin typeface="FEF3C7"/>
              </a:rPr>
              <a:t>right shift  (MSB ← i_btn)</a:t>
            </a:r>
            <a:endParaRPr lang="ko-KR" altLang="en-US" sz="1400" b="1">
              <a:solidFill>
                <a:srgbClr val="475569"/>
              </a:solidFill>
              <a:latin typeface="FEF3C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824DAAA-BCCD-37A1-48EB-A9F37752D6C7}"/>
              </a:ext>
            </a:extLst>
          </p:cNvPr>
          <p:cNvSpPr/>
          <p:nvPr/>
        </p:nvSpPr>
        <p:spPr>
          <a:xfrm>
            <a:off x="1143000" y="1571625"/>
            <a:ext cx="666750" cy="666750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altLang="ko-KR" sz="1300" b="1">
                <a:solidFill>
                  <a:srgbClr val="1F2A44"/>
                </a:solidFill>
                <a:latin typeface="FEF3C7"/>
              </a:rPr>
              <a:t>q_reg</a:t>
            </a:r>
          </a:p>
          <a:p>
            <a:pPr algn="ctr"/>
            <a:r>
              <a:rPr lang="en-US" altLang="ko-KR" sz="1300" b="1">
                <a:solidFill>
                  <a:srgbClr val="1F2A44"/>
                </a:solidFill>
                <a:latin typeface="FEF3C7"/>
              </a:rPr>
              <a:t>[7]</a:t>
            </a:r>
            <a:endParaRPr lang="ko-KR" altLang="en-US" sz="1300" b="1">
              <a:solidFill>
                <a:srgbClr val="1F2A44"/>
              </a:solidFill>
              <a:latin typeface="FEF3C7"/>
            </a:endParaRP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B12B648C-F2CE-81D2-E630-ABE18EFC5569}"/>
              </a:ext>
            </a:extLst>
          </p:cNvPr>
          <p:cNvCxnSpPr/>
          <p:nvPr/>
        </p:nvCxnSpPr>
        <p:spPr>
          <a:xfrm>
            <a:off x="1809750" y="1905000"/>
            <a:ext cx="171450" cy="0"/>
          </a:xfrm>
          <a:prstGeom prst="line">
            <a:avLst/>
          </a:prstGeom>
          <a:ln w="19050">
            <a:solidFill>
              <a:srgbClr val="1F2A44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9B764AE4-8C53-0A24-A55D-6F747BA9E9C9}"/>
              </a:ext>
            </a:extLst>
          </p:cNvPr>
          <p:cNvCxnSpPr/>
          <p:nvPr/>
        </p:nvCxnSpPr>
        <p:spPr>
          <a:xfrm>
            <a:off x="1476375" y="2238375"/>
            <a:ext cx="0" cy="809625"/>
          </a:xfrm>
          <a:prstGeom prst="line">
            <a:avLst/>
          </a:prstGeom>
          <a:ln w="15875">
            <a:solidFill>
              <a:srgbClr val="2563EB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7860CE8-987F-7637-E528-C7CD6745A178}"/>
              </a:ext>
            </a:extLst>
          </p:cNvPr>
          <p:cNvSpPr/>
          <p:nvPr/>
        </p:nvSpPr>
        <p:spPr>
          <a:xfrm>
            <a:off x="1981200" y="1571625"/>
            <a:ext cx="666750" cy="666750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altLang="ko-KR" sz="1300" b="1">
                <a:solidFill>
                  <a:srgbClr val="1F2A44"/>
                </a:solidFill>
                <a:latin typeface="FEF3C7"/>
              </a:rPr>
              <a:t>q_reg</a:t>
            </a:r>
          </a:p>
          <a:p>
            <a:pPr algn="ctr"/>
            <a:r>
              <a:rPr lang="en-US" altLang="ko-KR" sz="1300" b="1">
                <a:solidFill>
                  <a:srgbClr val="1F2A44"/>
                </a:solidFill>
                <a:latin typeface="FEF3C7"/>
              </a:rPr>
              <a:t>[6]</a:t>
            </a:r>
            <a:endParaRPr lang="ko-KR" altLang="en-US" sz="1300" b="1">
              <a:solidFill>
                <a:srgbClr val="1F2A44"/>
              </a:solidFill>
              <a:latin typeface="FEF3C7"/>
            </a:endParaRP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E94838E0-3BE9-0412-E97F-9DD47ABB5B6F}"/>
              </a:ext>
            </a:extLst>
          </p:cNvPr>
          <p:cNvCxnSpPr/>
          <p:nvPr/>
        </p:nvCxnSpPr>
        <p:spPr>
          <a:xfrm>
            <a:off x="2647950" y="1905000"/>
            <a:ext cx="171450" cy="0"/>
          </a:xfrm>
          <a:prstGeom prst="line">
            <a:avLst/>
          </a:prstGeom>
          <a:ln w="19050">
            <a:solidFill>
              <a:srgbClr val="1F2A44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188B3572-4A89-0998-3DEE-4A3AA6B72F41}"/>
              </a:ext>
            </a:extLst>
          </p:cNvPr>
          <p:cNvCxnSpPr/>
          <p:nvPr/>
        </p:nvCxnSpPr>
        <p:spPr>
          <a:xfrm>
            <a:off x="2314575" y="2238375"/>
            <a:ext cx="0" cy="809625"/>
          </a:xfrm>
          <a:prstGeom prst="line">
            <a:avLst/>
          </a:prstGeom>
          <a:ln w="15875">
            <a:solidFill>
              <a:srgbClr val="2563EB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F61ED9F-13DF-5926-7F12-4F04347719D8}"/>
              </a:ext>
            </a:extLst>
          </p:cNvPr>
          <p:cNvSpPr/>
          <p:nvPr/>
        </p:nvSpPr>
        <p:spPr>
          <a:xfrm>
            <a:off x="2819400" y="1571625"/>
            <a:ext cx="666750" cy="666750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altLang="ko-KR" sz="1300" b="1">
                <a:solidFill>
                  <a:srgbClr val="1F2A44"/>
                </a:solidFill>
                <a:latin typeface="FEF3C7"/>
              </a:rPr>
              <a:t>q_reg</a:t>
            </a:r>
          </a:p>
          <a:p>
            <a:pPr algn="ctr"/>
            <a:r>
              <a:rPr lang="en-US" altLang="ko-KR" sz="1300" b="1">
                <a:solidFill>
                  <a:srgbClr val="1F2A44"/>
                </a:solidFill>
                <a:latin typeface="FEF3C7"/>
              </a:rPr>
              <a:t>[5]</a:t>
            </a:r>
            <a:endParaRPr lang="ko-KR" altLang="en-US" sz="1300" b="1">
              <a:solidFill>
                <a:srgbClr val="1F2A44"/>
              </a:solidFill>
              <a:latin typeface="FEF3C7"/>
            </a:endParaRP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9EF6FB08-152E-1233-D691-E3F4D9309BFA}"/>
              </a:ext>
            </a:extLst>
          </p:cNvPr>
          <p:cNvCxnSpPr/>
          <p:nvPr/>
        </p:nvCxnSpPr>
        <p:spPr>
          <a:xfrm>
            <a:off x="3486150" y="1905000"/>
            <a:ext cx="171450" cy="0"/>
          </a:xfrm>
          <a:prstGeom prst="line">
            <a:avLst/>
          </a:prstGeom>
          <a:ln w="19050">
            <a:solidFill>
              <a:srgbClr val="1F2A44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C098CD16-4E50-6061-C743-5D7151ED7070}"/>
              </a:ext>
            </a:extLst>
          </p:cNvPr>
          <p:cNvCxnSpPr/>
          <p:nvPr/>
        </p:nvCxnSpPr>
        <p:spPr>
          <a:xfrm>
            <a:off x="3152775" y="2238375"/>
            <a:ext cx="0" cy="809625"/>
          </a:xfrm>
          <a:prstGeom prst="line">
            <a:avLst/>
          </a:prstGeom>
          <a:ln w="15875">
            <a:solidFill>
              <a:srgbClr val="2563EB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EC6A1948-1AB6-2E89-9FDE-53F62D689093}"/>
              </a:ext>
            </a:extLst>
          </p:cNvPr>
          <p:cNvSpPr/>
          <p:nvPr/>
        </p:nvSpPr>
        <p:spPr>
          <a:xfrm>
            <a:off x="3657600" y="1571625"/>
            <a:ext cx="666750" cy="666750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altLang="ko-KR" sz="1300" b="1">
                <a:solidFill>
                  <a:srgbClr val="1F2A44"/>
                </a:solidFill>
                <a:latin typeface="FEF3C7"/>
              </a:rPr>
              <a:t>q_reg</a:t>
            </a:r>
          </a:p>
          <a:p>
            <a:pPr algn="ctr"/>
            <a:r>
              <a:rPr lang="en-US" altLang="ko-KR" sz="1300" b="1">
                <a:solidFill>
                  <a:srgbClr val="1F2A44"/>
                </a:solidFill>
                <a:latin typeface="FEF3C7"/>
              </a:rPr>
              <a:t>[4]</a:t>
            </a:r>
            <a:endParaRPr lang="ko-KR" altLang="en-US" sz="1300" b="1">
              <a:solidFill>
                <a:srgbClr val="1F2A44"/>
              </a:solidFill>
              <a:latin typeface="FEF3C7"/>
            </a:endParaRPr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B12B2606-65D9-F700-9422-275D1C1F591F}"/>
              </a:ext>
            </a:extLst>
          </p:cNvPr>
          <p:cNvCxnSpPr/>
          <p:nvPr/>
        </p:nvCxnSpPr>
        <p:spPr>
          <a:xfrm>
            <a:off x="4324350" y="1905000"/>
            <a:ext cx="171450" cy="0"/>
          </a:xfrm>
          <a:prstGeom prst="line">
            <a:avLst/>
          </a:prstGeom>
          <a:ln w="19050">
            <a:solidFill>
              <a:srgbClr val="1F2A44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ED0BE60C-BE25-96DC-7DB8-3915122AA383}"/>
              </a:ext>
            </a:extLst>
          </p:cNvPr>
          <p:cNvCxnSpPr/>
          <p:nvPr/>
        </p:nvCxnSpPr>
        <p:spPr>
          <a:xfrm>
            <a:off x="3990975" y="2238375"/>
            <a:ext cx="0" cy="809625"/>
          </a:xfrm>
          <a:prstGeom prst="line">
            <a:avLst/>
          </a:prstGeom>
          <a:ln w="15875">
            <a:solidFill>
              <a:srgbClr val="2563EB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B1E2BEDC-A2E6-E7BD-1493-CFCD05FFFB11}"/>
              </a:ext>
            </a:extLst>
          </p:cNvPr>
          <p:cNvSpPr/>
          <p:nvPr/>
        </p:nvSpPr>
        <p:spPr>
          <a:xfrm>
            <a:off x="4495800" y="1571625"/>
            <a:ext cx="666750" cy="666750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altLang="ko-KR" sz="1300" b="1">
                <a:solidFill>
                  <a:srgbClr val="1F2A44"/>
                </a:solidFill>
                <a:latin typeface="FEF3C7"/>
              </a:rPr>
              <a:t>q_reg</a:t>
            </a:r>
          </a:p>
          <a:p>
            <a:pPr algn="ctr"/>
            <a:r>
              <a:rPr lang="en-US" altLang="ko-KR" sz="1300" b="1">
                <a:solidFill>
                  <a:srgbClr val="1F2A44"/>
                </a:solidFill>
                <a:latin typeface="FEF3C7"/>
              </a:rPr>
              <a:t>[3]</a:t>
            </a:r>
            <a:endParaRPr lang="ko-KR" altLang="en-US" sz="1300" b="1">
              <a:solidFill>
                <a:srgbClr val="1F2A44"/>
              </a:solidFill>
              <a:latin typeface="FEF3C7"/>
            </a:endParaRPr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E8ED92BF-F994-C204-C568-CB5216B10629}"/>
              </a:ext>
            </a:extLst>
          </p:cNvPr>
          <p:cNvCxnSpPr/>
          <p:nvPr/>
        </p:nvCxnSpPr>
        <p:spPr>
          <a:xfrm>
            <a:off x="5162550" y="1905000"/>
            <a:ext cx="171450" cy="0"/>
          </a:xfrm>
          <a:prstGeom prst="line">
            <a:avLst/>
          </a:prstGeom>
          <a:ln w="19050">
            <a:solidFill>
              <a:srgbClr val="1F2A44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B2C507CB-F890-820B-0778-49CC39DE1871}"/>
              </a:ext>
            </a:extLst>
          </p:cNvPr>
          <p:cNvCxnSpPr/>
          <p:nvPr/>
        </p:nvCxnSpPr>
        <p:spPr>
          <a:xfrm>
            <a:off x="4829175" y="2238375"/>
            <a:ext cx="0" cy="809625"/>
          </a:xfrm>
          <a:prstGeom prst="line">
            <a:avLst/>
          </a:prstGeom>
          <a:ln w="15875">
            <a:solidFill>
              <a:srgbClr val="2563EB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C0B90043-4687-09B3-5581-C8A77E126C59}"/>
              </a:ext>
            </a:extLst>
          </p:cNvPr>
          <p:cNvSpPr/>
          <p:nvPr/>
        </p:nvSpPr>
        <p:spPr>
          <a:xfrm>
            <a:off x="5334000" y="1571625"/>
            <a:ext cx="666750" cy="666750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altLang="ko-KR" sz="1300" b="1">
                <a:solidFill>
                  <a:srgbClr val="1F2A44"/>
                </a:solidFill>
                <a:latin typeface="FEF3C7"/>
              </a:rPr>
              <a:t>q_reg</a:t>
            </a:r>
          </a:p>
          <a:p>
            <a:pPr algn="ctr"/>
            <a:r>
              <a:rPr lang="en-US" altLang="ko-KR" sz="1300" b="1">
                <a:solidFill>
                  <a:srgbClr val="1F2A44"/>
                </a:solidFill>
                <a:latin typeface="FEF3C7"/>
              </a:rPr>
              <a:t>[2]</a:t>
            </a:r>
            <a:endParaRPr lang="ko-KR" altLang="en-US" sz="1300" b="1">
              <a:solidFill>
                <a:srgbClr val="1F2A44"/>
              </a:solidFill>
              <a:latin typeface="FEF3C7"/>
            </a:endParaRPr>
          </a:p>
        </p:txBody>
      </p: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1E0BD4A9-7D78-1870-0280-4F69D8CA2B11}"/>
              </a:ext>
            </a:extLst>
          </p:cNvPr>
          <p:cNvCxnSpPr/>
          <p:nvPr/>
        </p:nvCxnSpPr>
        <p:spPr>
          <a:xfrm>
            <a:off x="6000750" y="1905000"/>
            <a:ext cx="171450" cy="0"/>
          </a:xfrm>
          <a:prstGeom prst="line">
            <a:avLst/>
          </a:prstGeom>
          <a:ln w="19050">
            <a:solidFill>
              <a:srgbClr val="1F2A44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980425E7-BCED-DB92-0731-2B488E490964}"/>
              </a:ext>
            </a:extLst>
          </p:cNvPr>
          <p:cNvCxnSpPr/>
          <p:nvPr/>
        </p:nvCxnSpPr>
        <p:spPr>
          <a:xfrm>
            <a:off x="5667375" y="2238375"/>
            <a:ext cx="0" cy="809625"/>
          </a:xfrm>
          <a:prstGeom prst="line">
            <a:avLst/>
          </a:prstGeom>
          <a:ln w="15875">
            <a:solidFill>
              <a:srgbClr val="2563EB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8D3793A7-9DA6-F694-46B0-EE699B1C0710}"/>
              </a:ext>
            </a:extLst>
          </p:cNvPr>
          <p:cNvSpPr/>
          <p:nvPr/>
        </p:nvSpPr>
        <p:spPr>
          <a:xfrm>
            <a:off x="6172200" y="1571625"/>
            <a:ext cx="666750" cy="666750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altLang="ko-KR" sz="1300" b="1">
                <a:solidFill>
                  <a:srgbClr val="1F2A44"/>
                </a:solidFill>
                <a:latin typeface="FEF3C7"/>
              </a:rPr>
              <a:t>q_reg</a:t>
            </a:r>
          </a:p>
          <a:p>
            <a:pPr algn="ctr"/>
            <a:r>
              <a:rPr lang="en-US" altLang="ko-KR" sz="1300" b="1">
                <a:solidFill>
                  <a:srgbClr val="1F2A44"/>
                </a:solidFill>
                <a:latin typeface="FEF3C7"/>
              </a:rPr>
              <a:t>[1]</a:t>
            </a:r>
            <a:endParaRPr lang="ko-KR" altLang="en-US" sz="1300" b="1">
              <a:solidFill>
                <a:srgbClr val="1F2A44"/>
              </a:solidFill>
              <a:latin typeface="FEF3C7"/>
            </a:endParaRPr>
          </a:p>
        </p:txBody>
      </p: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4152DCF8-EC88-30B6-DE75-59AD242D39FE}"/>
              </a:ext>
            </a:extLst>
          </p:cNvPr>
          <p:cNvCxnSpPr/>
          <p:nvPr/>
        </p:nvCxnSpPr>
        <p:spPr>
          <a:xfrm>
            <a:off x="6838950" y="1905000"/>
            <a:ext cx="171450" cy="0"/>
          </a:xfrm>
          <a:prstGeom prst="line">
            <a:avLst/>
          </a:prstGeom>
          <a:ln w="19050">
            <a:solidFill>
              <a:srgbClr val="1F2A44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70B11B23-E4CD-EBCD-20B5-EC6219D41D30}"/>
              </a:ext>
            </a:extLst>
          </p:cNvPr>
          <p:cNvCxnSpPr/>
          <p:nvPr/>
        </p:nvCxnSpPr>
        <p:spPr>
          <a:xfrm>
            <a:off x="6505575" y="2238375"/>
            <a:ext cx="0" cy="809625"/>
          </a:xfrm>
          <a:prstGeom prst="line">
            <a:avLst/>
          </a:prstGeom>
          <a:ln w="15875">
            <a:solidFill>
              <a:srgbClr val="2563EB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98D05D85-C5EF-CAA1-DDA7-DCACECFA5EB9}"/>
              </a:ext>
            </a:extLst>
          </p:cNvPr>
          <p:cNvSpPr/>
          <p:nvPr/>
        </p:nvSpPr>
        <p:spPr>
          <a:xfrm>
            <a:off x="7010400" y="1571625"/>
            <a:ext cx="666750" cy="666750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altLang="ko-KR" sz="1300" b="1">
                <a:solidFill>
                  <a:srgbClr val="1F2A44"/>
                </a:solidFill>
                <a:latin typeface="FEF3C7"/>
              </a:rPr>
              <a:t>q_reg</a:t>
            </a:r>
          </a:p>
          <a:p>
            <a:pPr algn="ctr"/>
            <a:r>
              <a:rPr lang="en-US" altLang="ko-KR" sz="1300" b="1">
                <a:solidFill>
                  <a:srgbClr val="1F2A44"/>
                </a:solidFill>
                <a:latin typeface="FEF3C7"/>
              </a:rPr>
              <a:t>[0]</a:t>
            </a:r>
            <a:endParaRPr lang="ko-KR" altLang="en-US" sz="1300" b="1">
              <a:solidFill>
                <a:srgbClr val="1F2A44"/>
              </a:solidFill>
              <a:latin typeface="FEF3C7"/>
            </a:endParaRPr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20A717BA-E185-DA8D-FF49-8AF12B4D7772}"/>
              </a:ext>
            </a:extLst>
          </p:cNvPr>
          <p:cNvCxnSpPr/>
          <p:nvPr/>
        </p:nvCxnSpPr>
        <p:spPr>
          <a:xfrm>
            <a:off x="7343775" y="2238375"/>
            <a:ext cx="0" cy="809625"/>
          </a:xfrm>
          <a:prstGeom prst="line">
            <a:avLst/>
          </a:prstGeom>
          <a:ln w="15875">
            <a:solidFill>
              <a:srgbClr val="2563EB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BE5C0985-8DBF-D549-C128-BB522AD56F7A}"/>
              </a:ext>
            </a:extLst>
          </p:cNvPr>
          <p:cNvSpPr/>
          <p:nvPr/>
        </p:nvSpPr>
        <p:spPr>
          <a:xfrm>
            <a:off x="1143000" y="3048000"/>
            <a:ext cx="6705600" cy="53340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altLang="ko-KR" sz="1700" b="1">
                <a:solidFill>
                  <a:srgbClr val="1F2A44"/>
                </a:solidFill>
                <a:latin typeface="FEF3C7"/>
              </a:rPr>
              <a:t>8-input AND   ( &amp;q_reg )</a:t>
            </a:r>
            <a:endParaRPr lang="ko-KR" altLang="en-US" sz="1700" b="1">
              <a:solidFill>
                <a:srgbClr val="1F2A44"/>
              </a:solidFill>
              <a:latin typeface="FEF3C7"/>
            </a:endParaRP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ECC99999-00B1-01B6-293C-5C3C7A4E043E}"/>
              </a:ext>
            </a:extLst>
          </p:cNvPr>
          <p:cNvCxnSpPr/>
          <p:nvPr/>
        </p:nvCxnSpPr>
        <p:spPr>
          <a:xfrm>
            <a:off x="7848600" y="3314700"/>
            <a:ext cx="438150" cy="0"/>
          </a:xfrm>
          <a:prstGeom prst="line">
            <a:avLst/>
          </a:prstGeom>
          <a:ln w="25400">
            <a:solidFill>
              <a:srgbClr val="1F2A44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B1E5ED23-BB7A-121F-FFDD-8572E4BA5C5D}"/>
              </a:ext>
            </a:extLst>
          </p:cNvPr>
          <p:cNvSpPr txBox="1"/>
          <p:nvPr/>
        </p:nvSpPr>
        <p:spPr>
          <a:xfrm>
            <a:off x="7810500" y="3067050"/>
            <a:ext cx="857250" cy="19050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pPr algn="ctr"/>
            <a:r>
              <a:rPr lang="en-US" altLang="ko-KR" sz="1300" b="1">
                <a:solidFill>
                  <a:srgbClr val="2563EB"/>
                </a:solidFill>
                <a:latin typeface="FEF3C7"/>
              </a:rPr>
              <a:t>debounce</a:t>
            </a:r>
            <a:endParaRPr lang="ko-KR" altLang="en-US" sz="1300" b="1">
              <a:solidFill>
                <a:srgbClr val="2563EB"/>
              </a:solidFill>
              <a:latin typeface="FEF3C7"/>
            </a:endParaRPr>
          </a:p>
        </p:txBody>
      </p: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929DFBF3-1992-8285-F93F-2CF9EE9477D4}"/>
              </a:ext>
            </a:extLst>
          </p:cNvPr>
          <p:cNvCxnSpPr/>
          <p:nvPr/>
        </p:nvCxnSpPr>
        <p:spPr>
          <a:xfrm>
            <a:off x="8286750" y="3314700"/>
            <a:ext cx="476250" cy="0"/>
          </a:xfrm>
          <a:prstGeom prst="line">
            <a:avLst/>
          </a:prstGeom>
          <a:ln w="25400">
            <a:solidFill>
              <a:srgbClr val="1F2A44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타원 35">
            <a:extLst>
              <a:ext uri="{FF2B5EF4-FFF2-40B4-BE49-F238E27FC236}">
                <a16:creationId xmlns:a16="http://schemas.microsoft.com/office/drawing/2014/main" id="{CB870A53-E36B-B6AA-1935-DCC5CD9FBD36}"/>
              </a:ext>
            </a:extLst>
          </p:cNvPr>
          <p:cNvSpPr/>
          <p:nvPr/>
        </p:nvSpPr>
        <p:spPr>
          <a:xfrm>
            <a:off x="8248650" y="3276600"/>
            <a:ext cx="76200" cy="76200"/>
          </a:xfrm>
          <a:prstGeom prst="ellipse">
            <a:avLst/>
          </a:prstGeom>
          <a:solidFill>
            <a:srgbClr val="1F2A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/>
            <a:endParaRPr lang="ko-KR" altLang="en-US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1070FF70-8983-EF13-8FA0-A7CB31045838}"/>
              </a:ext>
            </a:extLst>
          </p:cNvPr>
          <p:cNvSpPr/>
          <p:nvPr/>
        </p:nvSpPr>
        <p:spPr>
          <a:xfrm>
            <a:off x="8763000" y="3009900"/>
            <a:ext cx="1047750" cy="60960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altLang="ko-KR" sz="1400" b="1">
                <a:solidFill>
                  <a:srgbClr val="1F2A44"/>
                </a:solidFill>
                <a:latin typeface="FEF3C7"/>
              </a:rPr>
              <a:t>edge_reg</a:t>
            </a:r>
          </a:p>
          <a:p>
            <a:pPr algn="ctr"/>
            <a:r>
              <a:rPr lang="en-US" altLang="ko-KR" sz="1400" b="1">
                <a:solidFill>
                  <a:srgbClr val="1F2A44"/>
                </a:solidFill>
                <a:latin typeface="FEF3C7"/>
              </a:rPr>
              <a:t>(FF)</a:t>
            </a:r>
            <a:endParaRPr lang="ko-KR" altLang="en-US" sz="1400" b="1">
              <a:solidFill>
                <a:srgbClr val="1F2A44"/>
              </a:solidFill>
              <a:latin typeface="FEF3C7"/>
            </a:endParaRPr>
          </a:p>
        </p:txBody>
      </p: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FD62C565-2BBD-03BE-4C0A-55141A71FF21}"/>
              </a:ext>
            </a:extLst>
          </p:cNvPr>
          <p:cNvCxnSpPr/>
          <p:nvPr/>
        </p:nvCxnSpPr>
        <p:spPr>
          <a:xfrm>
            <a:off x="9810750" y="3314700"/>
            <a:ext cx="152400" cy="0"/>
          </a:xfrm>
          <a:prstGeom prst="line">
            <a:avLst/>
          </a:prstGeom>
          <a:ln w="25400">
            <a:solidFill>
              <a:srgbClr val="1F2A44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84A61AAD-5214-4309-D0E5-1E1AE33483A3}"/>
              </a:ext>
            </a:extLst>
          </p:cNvPr>
          <p:cNvSpPr/>
          <p:nvPr/>
        </p:nvSpPr>
        <p:spPr>
          <a:xfrm>
            <a:off x="9963150" y="3162300"/>
            <a:ext cx="628650" cy="30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755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altLang="ko-KR" sz="1100" b="1">
                <a:solidFill>
                  <a:srgbClr val="1F2A44"/>
                </a:solidFill>
                <a:latin typeface="FEF3C7"/>
              </a:rPr>
              <a:t>inverter</a:t>
            </a:r>
            <a:endParaRPr lang="ko-KR" altLang="en-US" sz="1100" b="1">
              <a:solidFill>
                <a:srgbClr val="1F2A44"/>
              </a:solidFill>
              <a:latin typeface="FEF3C7"/>
            </a:endParaRPr>
          </a:p>
        </p:txBody>
      </p:sp>
      <p:sp>
        <p:nvSpPr>
          <p:cNvPr id="40" name="자유형: 도형 39">
            <a:extLst>
              <a:ext uri="{FF2B5EF4-FFF2-40B4-BE49-F238E27FC236}">
                <a16:creationId xmlns:a16="http://schemas.microsoft.com/office/drawing/2014/main" id="{50DCB6D0-C55C-0B4F-99C5-1B6FC37201F5}"/>
              </a:ext>
            </a:extLst>
          </p:cNvPr>
          <p:cNvSpPr/>
          <p:nvPr/>
        </p:nvSpPr>
        <p:spPr>
          <a:xfrm>
            <a:off x="10591800" y="3314700"/>
            <a:ext cx="361951" cy="495301"/>
          </a:xfrm>
          <a:custGeom>
            <a:avLst/>
            <a:gdLst/>
            <a:ahLst/>
            <a:cxnLst/>
            <a:rect l="0" t="0" r="0" b="0"/>
            <a:pathLst>
              <a:path w="361951" h="495301">
                <a:moveTo>
                  <a:pt x="0" y="0"/>
                </a:moveTo>
                <a:lnTo>
                  <a:pt x="123825" y="0"/>
                </a:lnTo>
                <a:lnTo>
                  <a:pt x="123825" y="495300"/>
                </a:lnTo>
                <a:lnTo>
                  <a:pt x="361950" y="495300"/>
                </a:lnTo>
              </a:path>
            </a:pathLst>
          </a:custGeom>
          <a:ln w="25400">
            <a:solidFill>
              <a:srgbClr val="1F2A4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자유형: 도형 40">
            <a:extLst>
              <a:ext uri="{FF2B5EF4-FFF2-40B4-BE49-F238E27FC236}">
                <a16:creationId xmlns:a16="http://schemas.microsoft.com/office/drawing/2014/main" id="{E41B6721-7090-DD3D-64B9-33B1A2AE8687}"/>
              </a:ext>
            </a:extLst>
          </p:cNvPr>
          <p:cNvSpPr/>
          <p:nvPr/>
        </p:nvSpPr>
        <p:spPr>
          <a:xfrm>
            <a:off x="8286750" y="3314700"/>
            <a:ext cx="2667001" cy="838201"/>
          </a:xfrm>
          <a:custGeom>
            <a:avLst/>
            <a:gdLst/>
            <a:ahLst/>
            <a:cxnLst/>
            <a:rect l="0" t="0" r="0" b="0"/>
            <a:pathLst>
              <a:path w="2667001" h="838201">
                <a:moveTo>
                  <a:pt x="0" y="0"/>
                </a:moveTo>
                <a:lnTo>
                  <a:pt x="0" y="838200"/>
                </a:lnTo>
                <a:lnTo>
                  <a:pt x="2667000" y="838200"/>
                </a:lnTo>
              </a:path>
            </a:pathLst>
          </a:custGeom>
          <a:ln w="25400">
            <a:solidFill>
              <a:srgbClr val="1F2A4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순서도: 다른 페이지 연결선 41">
            <a:extLst>
              <a:ext uri="{FF2B5EF4-FFF2-40B4-BE49-F238E27FC236}">
                <a16:creationId xmlns:a16="http://schemas.microsoft.com/office/drawing/2014/main" id="{B54EAA77-A39F-1BDC-F4B8-DF1369E3EFBA}"/>
              </a:ext>
            </a:extLst>
          </p:cNvPr>
          <p:cNvSpPr/>
          <p:nvPr/>
        </p:nvSpPr>
        <p:spPr>
          <a:xfrm>
            <a:off x="10953750" y="3657600"/>
            <a:ext cx="571500" cy="647700"/>
          </a:xfrm>
          <a:prstGeom prst="flowChartOffpageConnector">
            <a:avLst/>
          </a:prstGeom>
          <a:solidFill>
            <a:srgbClr val="FFFFFF"/>
          </a:solidFill>
          <a:ln w="25400">
            <a:solidFill>
              <a:srgbClr val="16A3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altLang="ko-KR" sz="1400" b="1">
                <a:solidFill>
                  <a:srgbClr val="1F2A44"/>
                </a:solidFill>
                <a:latin typeface="FEF3C7"/>
              </a:rPr>
              <a:t>AND</a:t>
            </a:r>
            <a:endParaRPr lang="ko-KR" altLang="en-US" sz="1400" b="1">
              <a:solidFill>
                <a:srgbClr val="1F2A44"/>
              </a:solidFill>
              <a:latin typeface="FEF3C7"/>
            </a:endParaRPr>
          </a:p>
        </p:txBody>
      </p: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65EEF78F-A544-863C-6EB4-437258FCCC61}"/>
              </a:ext>
            </a:extLst>
          </p:cNvPr>
          <p:cNvCxnSpPr/>
          <p:nvPr/>
        </p:nvCxnSpPr>
        <p:spPr>
          <a:xfrm>
            <a:off x="11525250" y="3981450"/>
            <a:ext cx="381000" cy="0"/>
          </a:xfrm>
          <a:prstGeom prst="line">
            <a:avLst/>
          </a:prstGeom>
          <a:ln w="31750">
            <a:solidFill>
              <a:srgbClr val="16A34A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C04AFE29-B1CE-8593-6F18-F93B3FE1FAE0}"/>
              </a:ext>
            </a:extLst>
          </p:cNvPr>
          <p:cNvSpPr txBox="1"/>
          <p:nvPr/>
        </p:nvSpPr>
        <p:spPr>
          <a:xfrm>
            <a:off x="11487150" y="3714750"/>
            <a:ext cx="666750" cy="19050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en-US" altLang="ko-KR" sz="1400" b="1">
                <a:solidFill>
                  <a:srgbClr val="16A34A"/>
                </a:solidFill>
                <a:latin typeface="FEF3C7"/>
              </a:rPr>
              <a:t>o_btn</a:t>
            </a:r>
            <a:endParaRPr lang="ko-KR" altLang="en-US" sz="1400" b="1">
              <a:solidFill>
                <a:srgbClr val="16A34A"/>
              </a:solidFill>
              <a:latin typeface="FEF3C7"/>
            </a:endParaRPr>
          </a:p>
        </p:txBody>
      </p:sp>
      <p:sp>
        <p:nvSpPr>
          <p:cNvPr id="45" name="타원 44">
            <a:extLst>
              <a:ext uri="{FF2B5EF4-FFF2-40B4-BE49-F238E27FC236}">
                <a16:creationId xmlns:a16="http://schemas.microsoft.com/office/drawing/2014/main" id="{33114ED1-6139-03E6-B026-154A8A20008B}"/>
              </a:ext>
            </a:extLst>
          </p:cNvPr>
          <p:cNvSpPr/>
          <p:nvPr/>
        </p:nvSpPr>
        <p:spPr>
          <a:xfrm>
            <a:off x="885825" y="1447800"/>
            <a:ext cx="209550" cy="209550"/>
          </a:xfrm>
          <a:prstGeom prst="ellipse">
            <a:avLst/>
          </a:prstGeom>
          <a:solidFill>
            <a:srgbClr val="EA580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/>
            <a:r>
              <a:rPr lang="en-US" altLang="ko-KR" sz="1100" b="1">
                <a:solidFill>
                  <a:srgbClr val="FFFFFF"/>
                </a:solidFill>
                <a:latin typeface="FEF3C7"/>
              </a:rPr>
              <a:t>1</a:t>
            </a:r>
            <a:endParaRPr lang="ko-KR" altLang="en-US" sz="1100" b="1">
              <a:solidFill>
                <a:srgbClr val="FFFFFF"/>
              </a:solidFill>
              <a:latin typeface="FEF3C7"/>
            </a:endParaRPr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642FDEA6-BB2D-2308-71AE-573BD2E4FD22}"/>
              </a:ext>
            </a:extLst>
          </p:cNvPr>
          <p:cNvSpPr/>
          <p:nvPr/>
        </p:nvSpPr>
        <p:spPr>
          <a:xfrm>
            <a:off x="885825" y="2952750"/>
            <a:ext cx="209550" cy="209550"/>
          </a:xfrm>
          <a:prstGeom prst="ellipse">
            <a:avLst/>
          </a:prstGeom>
          <a:solidFill>
            <a:srgbClr val="EA580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/>
            <a:r>
              <a:rPr lang="en-US" altLang="ko-KR" sz="1100" b="1">
                <a:solidFill>
                  <a:srgbClr val="FFFFFF"/>
                </a:solidFill>
                <a:latin typeface="FEF3C7"/>
              </a:rPr>
              <a:t>2</a:t>
            </a:r>
            <a:endParaRPr lang="ko-KR" altLang="en-US" sz="1100" b="1">
              <a:solidFill>
                <a:srgbClr val="FFFFFF"/>
              </a:solidFill>
              <a:latin typeface="FEF3C7"/>
            </a:endParaRPr>
          </a:p>
        </p:txBody>
      </p:sp>
      <p:sp>
        <p:nvSpPr>
          <p:cNvPr id="47" name="타원 46">
            <a:extLst>
              <a:ext uri="{FF2B5EF4-FFF2-40B4-BE49-F238E27FC236}">
                <a16:creationId xmlns:a16="http://schemas.microsoft.com/office/drawing/2014/main" id="{CAEDB298-9DC3-564D-B6DE-CCD6609CB899}"/>
              </a:ext>
            </a:extLst>
          </p:cNvPr>
          <p:cNvSpPr/>
          <p:nvPr/>
        </p:nvSpPr>
        <p:spPr>
          <a:xfrm>
            <a:off x="8620125" y="2876550"/>
            <a:ext cx="209550" cy="209550"/>
          </a:xfrm>
          <a:prstGeom prst="ellipse">
            <a:avLst/>
          </a:prstGeom>
          <a:solidFill>
            <a:srgbClr val="EA580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/>
            <a:r>
              <a:rPr lang="en-US" altLang="ko-KR" sz="1100" b="1">
                <a:solidFill>
                  <a:srgbClr val="FFFFFF"/>
                </a:solidFill>
                <a:latin typeface="FEF3C7"/>
              </a:rPr>
              <a:t>3</a:t>
            </a:r>
            <a:endParaRPr lang="ko-KR" altLang="en-US" sz="1100" b="1">
              <a:solidFill>
                <a:srgbClr val="FFFFFF"/>
              </a:solidFill>
              <a:latin typeface="FEF3C7"/>
            </a:endParaRPr>
          </a:p>
        </p:txBody>
      </p:sp>
      <p:sp>
        <p:nvSpPr>
          <p:cNvPr id="48" name="타원 47">
            <a:extLst>
              <a:ext uri="{FF2B5EF4-FFF2-40B4-BE49-F238E27FC236}">
                <a16:creationId xmlns:a16="http://schemas.microsoft.com/office/drawing/2014/main" id="{140D9A40-EC54-FFCD-7A5D-81C207D3B07C}"/>
              </a:ext>
            </a:extLst>
          </p:cNvPr>
          <p:cNvSpPr/>
          <p:nvPr/>
        </p:nvSpPr>
        <p:spPr>
          <a:xfrm>
            <a:off x="10810875" y="3524250"/>
            <a:ext cx="209550" cy="209550"/>
          </a:xfrm>
          <a:prstGeom prst="ellipse">
            <a:avLst/>
          </a:prstGeom>
          <a:solidFill>
            <a:srgbClr val="EA580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/>
            <a:r>
              <a:rPr lang="en-US" altLang="ko-KR" sz="1100" b="1">
                <a:solidFill>
                  <a:srgbClr val="FFFFFF"/>
                </a:solidFill>
                <a:latin typeface="FEF3C7"/>
              </a:rPr>
              <a:t>4</a:t>
            </a:r>
            <a:endParaRPr lang="ko-KR" altLang="en-US" sz="1100" b="1">
              <a:solidFill>
                <a:srgbClr val="FFFFFF"/>
              </a:solidFill>
              <a:latin typeface="FEF3C7"/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FB592166-1CE1-9F76-39D3-67EFC4A8CCBC}"/>
              </a:ext>
            </a:extLst>
          </p:cNvPr>
          <p:cNvSpPr/>
          <p:nvPr/>
        </p:nvSpPr>
        <p:spPr>
          <a:xfrm>
            <a:off x="381000" y="4762500"/>
            <a:ext cx="11430000" cy="666750"/>
          </a:xfrm>
          <a:prstGeom prst="rect">
            <a:avLst/>
          </a:prstGeom>
          <a:solidFill>
            <a:srgbClr val="EFF6FF"/>
          </a:solidFill>
          <a:ln w="12700">
            <a:solidFill>
              <a:srgbClr val="93C5F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endParaRPr lang="ko-KR" alt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9F3AC30-E2FA-E8E6-EF2D-D037867E17E6}"/>
              </a:ext>
            </a:extLst>
          </p:cNvPr>
          <p:cNvSpPr txBox="1"/>
          <p:nvPr/>
        </p:nvSpPr>
        <p:spPr>
          <a:xfrm>
            <a:off x="514350" y="4762500"/>
            <a:ext cx="11201400" cy="6667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altLang="ko-KR" sz="1700" b="1">
                <a:solidFill>
                  <a:srgbClr val="1E3A8A"/>
                </a:solidFill>
                <a:latin typeface="FEF3C7"/>
              </a:rPr>
              <a:t>i_btn → ① sample 8</a:t>
            </a:r>
            <a:r>
              <a:rPr lang="ko-KR" altLang="en-US" sz="1700" b="1">
                <a:solidFill>
                  <a:srgbClr val="1E3A8A"/>
                </a:solidFill>
                <a:latin typeface="FEF3C7"/>
              </a:rPr>
              <a:t>개 저장 → ② 모두 </a:t>
            </a:r>
            <a:r>
              <a:rPr lang="en-US" altLang="ko-KR" sz="1700" b="1">
                <a:solidFill>
                  <a:srgbClr val="1E3A8A"/>
                </a:solidFill>
                <a:latin typeface="FEF3C7"/>
              </a:rPr>
              <a:t>1</a:t>
            </a:r>
            <a:r>
              <a:rPr lang="ko-KR" altLang="en-US" sz="1700" b="1">
                <a:solidFill>
                  <a:srgbClr val="1E3A8A"/>
                </a:solidFill>
                <a:latin typeface="FEF3C7"/>
              </a:rPr>
              <a:t>인지 판정 → ③ </a:t>
            </a:r>
            <a:r>
              <a:rPr lang="en-US" altLang="ko-KR" sz="1700" b="1">
                <a:solidFill>
                  <a:srgbClr val="1E3A8A"/>
                </a:solidFill>
                <a:latin typeface="FEF3C7"/>
              </a:rPr>
              <a:t>1 cycle </a:t>
            </a:r>
            <a:r>
              <a:rPr lang="ko-KR" altLang="en-US" sz="1700" b="1">
                <a:solidFill>
                  <a:srgbClr val="1E3A8A"/>
                </a:solidFill>
                <a:latin typeface="FEF3C7"/>
              </a:rPr>
              <a:t>지연 → ④ </a:t>
            </a:r>
            <a:r>
              <a:rPr lang="en-US" altLang="ko-KR" sz="1700" b="1">
                <a:solidFill>
                  <a:srgbClr val="1E3A8A"/>
                </a:solidFill>
                <a:latin typeface="FEF3C7"/>
              </a:rPr>
              <a:t>rising edge</a:t>
            </a:r>
            <a:r>
              <a:rPr lang="ko-KR" altLang="en-US" sz="1700" b="1">
                <a:solidFill>
                  <a:srgbClr val="1E3A8A"/>
                </a:solidFill>
                <a:latin typeface="FEF3C7"/>
              </a:rPr>
              <a:t>만 출력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DB258BC-1450-0921-9600-203CDCF9FD2C}"/>
              </a:ext>
            </a:extLst>
          </p:cNvPr>
          <p:cNvSpPr txBox="1"/>
          <p:nvPr/>
        </p:nvSpPr>
        <p:spPr>
          <a:xfrm>
            <a:off x="10668000" y="6591300"/>
            <a:ext cx="1143000" cy="19050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pPr algn="r"/>
            <a:r>
              <a:rPr lang="en-US" altLang="ko-KR" sz="1100">
                <a:solidFill>
                  <a:srgbClr val="94A3B8"/>
                </a:solidFill>
                <a:latin typeface="FEF3C7"/>
              </a:rPr>
              <a:t>31 / 39</a:t>
            </a:r>
            <a:endParaRPr lang="ko-KR" altLang="en-US" sz="1100">
              <a:solidFill>
                <a:srgbClr val="94A3B8"/>
              </a:solidFill>
              <a:latin typeface="FEF3C7"/>
            </a:endParaRPr>
          </a:p>
        </p:txBody>
      </p:sp>
    </p:spTree>
    <p:extLst>
      <p:ext uri="{BB962C8B-B14F-4D97-AF65-F5344CB8AC3E}">
        <p14:creationId xmlns:p14="http://schemas.microsoft.com/office/powerpoint/2010/main" val="32047224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4BA2941-5074-8190-1802-AEB71B6636AD}"/>
              </a:ext>
            </a:extLst>
          </p:cNvPr>
          <p:cNvSpPr txBox="1"/>
          <p:nvPr/>
        </p:nvSpPr>
        <p:spPr>
          <a:xfrm>
            <a:off x="381000" y="133350"/>
            <a:ext cx="9525000" cy="2095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altLang="ko-KR" sz="1300" b="1">
                <a:solidFill>
                  <a:srgbClr val="2563EB"/>
                </a:solidFill>
                <a:latin typeface="FEF3C7"/>
              </a:rPr>
              <a:t>06  ·  Homework-2 </a:t>
            </a:r>
            <a:r>
              <a:rPr lang="ko-KR" altLang="en-US" sz="1300" b="1">
                <a:solidFill>
                  <a:srgbClr val="2563EB"/>
                </a:solidFill>
                <a:latin typeface="FEF3C7"/>
              </a:rPr>
              <a:t>시뮬레이션  </a:t>
            </a:r>
            <a:r>
              <a:rPr lang="en-US" altLang="ko-KR" sz="1300" b="1">
                <a:solidFill>
                  <a:srgbClr val="2563EB"/>
                </a:solidFill>
                <a:latin typeface="FEF3C7"/>
              </a:rPr>
              <a:t>·  </a:t>
            </a:r>
            <a:r>
              <a:rPr lang="ko-KR" altLang="en-US" sz="1300" b="1">
                <a:solidFill>
                  <a:srgbClr val="2563EB"/>
                </a:solidFill>
                <a:latin typeface="FEF3C7"/>
              </a:rPr>
              <a:t>짧은 </a:t>
            </a:r>
            <a:r>
              <a:rPr lang="en-US" altLang="ko-KR" sz="1300" b="1">
                <a:solidFill>
                  <a:srgbClr val="2563EB"/>
                </a:solidFill>
                <a:latin typeface="FEF3C7"/>
              </a:rPr>
              <a:t>Pulse</a:t>
            </a:r>
            <a:endParaRPr lang="ko-KR" altLang="en-US" sz="1300" b="1">
              <a:solidFill>
                <a:srgbClr val="2563EB"/>
              </a:solidFill>
              <a:latin typeface="FEF3C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49152F-A3F8-FE18-8E69-EA6871DD0D7E}"/>
              </a:ext>
            </a:extLst>
          </p:cNvPr>
          <p:cNvSpPr txBox="1"/>
          <p:nvPr/>
        </p:nvSpPr>
        <p:spPr>
          <a:xfrm>
            <a:off x="381000" y="342900"/>
            <a:ext cx="10096500" cy="4381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altLang="ko-KR" sz="2600" b="1">
                <a:solidFill>
                  <a:srgbClr val="0F172A"/>
                </a:solidFill>
                <a:latin typeface="FEF3C7"/>
              </a:rPr>
              <a:t>A 40 ns Pulse Never Fills q_reg, So No Tick</a:t>
            </a:r>
            <a:endParaRPr lang="ko-KR" altLang="en-US" sz="2600" b="1">
              <a:solidFill>
                <a:srgbClr val="0F172A"/>
              </a:solidFill>
              <a:latin typeface="FEF3C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B80C49C-A155-5E38-5C95-2E402002A39F}"/>
              </a:ext>
            </a:extLst>
          </p:cNvPr>
          <p:cNvSpPr/>
          <p:nvPr/>
        </p:nvSpPr>
        <p:spPr>
          <a:xfrm>
            <a:off x="381000" y="819150"/>
            <a:ext cx="666750" cy="381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AB2D67-8235-798F-F60B-C4EC5321EAFB}"/>
              </a:ext>
            </a:extLst>
          </p:cNvPr>
          <p:cNvSpPr txBox="1"/>
          <p:nvPr/>
        </p:nvSpPr>
        <p:spPr>
          <a:xfrm>
            <a:off x="10572750" y="133350"/>
            <a:ext cx="1238250" cy="60960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pPr algn="r"/>
            <a:r>
              <a:rPr lang="en-US" altLang="ko-KR" sz="4000" b="1">
                <a:solidFill>
                  <a:srgbClr val="BFDBFE"/>
                </a:solidFill>
                <a:latin typeface="FEF3C7"/>
              </a:rPr>
              <a:t>06</a:t>
            </a:r>
            <a:endParaRPr lang="ko-KR" altLang="en-US" sz="4000" b="1">
              <a:solidFill>
                <a:srgbClr val="BFDBFE"/>
              </a:solidFill>
              <a:latin typeface="FEF3C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1D55049-F1C4-9122-27E6-AD7C481BFE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8454" y="1257300"/>
            <a:ext cx="8055093" cy="2378685"/>
          </a:xfrm>
          <a:prstGeom prst="rect">
            <a:avLst/>
          </a:prstGeom>
        </p:spPr>
      </p:pic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42BF8ECC-C064-8EB8-6362-6DB4F33E91BF}"/>
              </a:ext>
            </a:extLst>
          </p:cNvPr>
          <p:cNvCxnSpPr/>
          <p:nvPr/>
        </p:nvCxnSpPr>
        <p:spPr>
          <a:xfrm>
            <a:off x="5713824" y="1727670"/>
            <a:ext cx="0" cy="1910880"/>
          </a:xfrm>
          <a:prstGeom prst="line">
            <a:avLst/>
          </a:prstGeom>
          <a:ln w="25400">
            <a:solidFill>
              <a:srgbClr val="F9731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타원 8">
            <a:extLst>
              <a:ext uri="{FF2B5EF4-FFF2-40B4-BE49-F238E27FC236}">
                <a16:creationId xmlns:a16="http://schemas.microsoft.com/office/drawing/2014/main" id="{11677A7D-4DF7-FA38-1C84-C4282DEE9C11}"/>
              </a:ext>
            </a:extLst>
          </p:cNvPr>
          <p:cNvSpPr/>
          <p:nvPr/>
        </p:nvSpPr>
        <p:spPr>
          <a:xfrm>
            <a:off x="5609049" y="990600"/>
            <a:ext cx="209550" cy="209550"/>
          </a:xfrm>
          <a:prstGeom prst="ellipse">
            <a:avLst/>
          </a:prstGeom>
          <a:solidFill>
            <a:srgbClr val="EA580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/>
            <a:r>
              <a:rPr lang="en-US" altLang="ko-KR" sz="1100" b="1">
                <a:solidFill>
                  <a:srgbClr val="FFFFFF"/>
                </a:solidFill>
                <a:latin typeface="FEF3C7"/>
              </a:rPr>
              <a:t>1</a:t>
            </a:r>
            <a:endParaRPr lang="ko-KR" altLang="en-US" sz="1100" b="1">
              <a:solidFill>
                <a:srgbClr val="FFFFFF"/>
              </a:solidFill>
              <a:latin typeface="FEF3C7"/>
            </a:endParaRP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4FFEB46C-8671-5FC9-D969-F9D08B953876}"/>
              </a:ext>
            </a:extLst>
          </p:cNvPr>
          <p:cNvCxnSpPr/>
          <p:nvPr/>
        </p:nvCxnSpPr>
        <p:spPr>
          <a:xfrm>
            <a:off x="6389982" y="1727670"/>
            <a:ext cx="0" cy="1910880"/>
          </a:xfrm>
          <a:prstGeom prst="line">
            <a:avLst/>
          </a:prstGeom>
          <a:ln w="25400">
            <a:solidFill>
              <a:srgbClr val="F9731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타원 10">
            <a:extLst>
              <a:ext uri="{FF2B5EF4-FFF2-40B4-BE49-F238E27FC236}">
                <a16:creationId xmlns:a16="http://schemas.microsoft.com/office/drawing/2014/main" id="{62AE9334-57BE-E609-4FD1-4114E0532A98}"/>
              </a:ext>
            </a:extLst>
          </p:cNvPr>
          <p:cNvSpPr/>
          <p:nvPr/>
        </p:nvSpPr>
        <p:spPr>
          <a:xfrm>
            <a:off x="6285207" y="990600"/>
            <a:ext cx="209550" cy="209550"/>
          </a:xfrm>
          <a:prstGeom prst="ellipse">
            <a:avLst/>
          </a:prstGeom>
          <a:solidFill>
            <a:srgbClr val="EA580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/>
            <a:r>
              <a:rPr lang="en-US" altLang="ko-KR" sz="1100" b="1">
                <a:solidFill>
                  <a:srgbClr val="FFFFFF"/>
                </a:solidFill>
                <a:latin typeface="FEF3C7"/>
              </a:rPr>
              <a:t>2</a:t>
            </a:r>
            <a:endParaRPr lang="ko-KR" altLang="en-US" sz="1100" b="1">
              <a:solidFill>
                <a:srgbClr val="FFFFFF"/>
              </a:solidFill>
              <a:latin typeface="FEF3C7"/>
            </a:endParaRP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9D633B2B-573C-D962-7B0F-AFC2D6C747C0}"/>
              </a:ext>
            </a:extLst>
          </p:cNvPr>
          <p:cNvCxnSpPr/>
          <p:nvPr/>
        </p:nvCxnSpPr>
        <p:spPr>
          <a:xfrm>
            <a:off x="7066139" y="1727670"/>
            <a:ext cx="0" cy="1910880"/>
          </a:xfrm>
          <a:prstGeom prst="line">
            <a:avLst/>
          </a:prstGeom>
          <a:ln w="25400">
            <a:solidFill>
              <a:srgbClr val="F9731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타원 12">
            <a:extLst>
              <a:ext uri="{FF2B5EF4-FFF2-40B4-BE49-F238E27FC236}">
                <a16:creationId xmlns:a16="http://schemas.microsoft.com/office/drawing/2014/main" id="{9FAED1BB-4DD2-6A7F-BD16-0CD41EAE4000}"/>
              </a:ext>
            </a:extLst>
          </p:cNvPr>
          <p:cNvSpPr/>
          <p:nvPr/>
        </p:nvSpPr>
        <p:spPr>
          <a:xfrm>
            <a:off x="6961364" y="990600"/>
            <a:ext cx="209550" cy="209550"/>
          </a:xfrm>
          <a:prstGeom prst="ellipse">
            <a:avLst/>
          </a:prstGeom>
          <a:solidFill>
            <a:srgbClr val="EA580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/>
            <a:r>
              <a:rPr lang="en-US" altLang="ko-KR" sz="1100" b="1">
                <a:solidFill>
                  <a:srgbClr val="FFFFFF"/>
                </a:solidFill>
                <a:latin typeface="FEF3C7"/>
              </a:rPr>
              <a:t>3</a:t>
            </a:r>
            <a:endParaRPr lang="ko-KR" altLang="en-US" sz="1100" b="1">
              <a:solidFill>
                <a:srgbClr val="FFFFFF"/>
              </a:solidFill>
              <a:latin typeface="FEF3C7"/>
            </a:endParaRPr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A190A41E-8BCD-6E16-A2A4-D938901B9A8F}"/>
              </a:ext>
            </a:extLst>
          </p:cNvPr>
          <p:cNvCxnSpPr/>
          <p:nvPr/>
        </p:nvCxnSpPr>
        <p:spPr>
          <a:xfrm>
            <a:off x="7742296" y="1727670"/>
            <a:ext cx="0" cy="1910880"/>
          </a:xfrm>
          <a:prstGeom prst="line">
            <a:avLst/>
          </a:prstGeom>
          <a:ln w="25400">
            <a:solidFill>
              <a:srgbClr val="F9731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타원 14">
            <a:extLst>
              <a:ext uri="{FF2B5EF4-FFF2-40B4-BE49-F238E27FC236}">
                <a16:creationId xmlns:a16="http://schemas.microsoft.com/office/drawing/2014/main" id="{D5FAB1BA-9108-CB88-5072-330646B90E04}"/>
              </a:ext>
            </a:extLst>
          </p:cNvPr>
          <p:cNvSpPr/>
          <p:nvPr/>
        </p:nvSpPr>
        <p:spPr>
          <a:xfrm>
            <a:off x="7637521" y="990600"/>
            <a:ext cx="209550" cy="209550"/>
          </a:xfrm>
          <a:prstGeom prst="ellipse">
            <a:avLst/>
          </a:prstGeom>
          <a:solidFill>
            <a:srgbClr val="EA580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/>
            <a:r>
              <a:rPr lang="en-US" altLang="ko-KR" sz="1100" b="1">
                <a:solidFill>
                  <a:srgbClr val="FFFFFF"/>
                </a:solidFill>
                <a:latin typeface="FEF3C7"/>
              </a:rPr>
              <a:t>4</a:t>
            </a:r>
            <a:endParaRPr lang="ko-KR" altLang="en-US" sz="1100" b="1">
              <a:solidFill>
                <a:srgbClr val="FFFFFF"/>
              </a:solidFill>
              <a:latin typeface="FEF3C7"/>
            </a:endParaRP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45F0BE9D-9110-CCAA-6C23-9DFABB205738}"/>
              </a:ext>
            </a:extLst>
          </p:cNvPr>
          <p:cNvCxnSpPr/>
          <p:nvPr/>
        </p:nvCxnSpPr>
        <p:spPr>
          <a:xfrm>
            <a:off x="8418454" y="1727670"/>
            <a:ext cx="0" cy="1910880"/>
          </a:xfrm>
          <a:prstGeom prst="line">
            <a:avLst/>
          </a:prstGeom>
          <a:ln w="25400">
            <a:solidFill>
              <a:srgbClr val="F9731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타원 16">
            <a:extLst>
              <a:ext uri="{FF2B5EF4-FFF2-40B4-BE49-F238E27FC236}">
                <a16:creationId xmlns:a16="http://schemas.microsoft.com/office/drawing/2014/main" id="{357008CC-9B95-D960-8141-04D09266F385}"/>
              </a:ext>
            </a:extLst>
          </p:cNvPr>
          <p:cNvSpPr/>
          <p:nvPr/>
        </p:nvSpPr>
        <p:spPr>
          <a:xfrm>
            <a:off x="8313679" y="990600"/>
            <a:ext cx="209550" cy="209550"/>
          </a:xfrm>
          <a:prstGeom prst="ellipse">
            <a:avLst/>
          </a:prstGeom>
          <a:solidFill>
            <a:srgbClr val="EA580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/>
            <a:r>
              <a:rPr lang="en-US" altLang="ko-KR" sz="1100" b="1">
                <a:solidFill>
                  <a:srgbClr val="FFFFFF"/>
                </a:solidFill>
                <a:latin typeface="FEF3C7"/>
              </a:rPr>
              <a:t>5</a:t>
            </a:r>
            <a:endParaRPr lang="ko-KR" altLang="en-US" sz="1100" b="1">
              <a:solidFill>
                <a:srgbClr val="FFFFFF"/>
              </a:solidFill>
              <a:latin typeface="FEF3C7"/>
            </a:endParaRP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3DE952AC-B58E-3F24-4AE4-951C554233FB}"/>
              </a:ext>
            </a:extLst>
          </p:cNvPr>
          <p:cNvSpPr/>
          <p:nvPr/>
        </p:nvSpPr>
        <p:spPr>
          <a:xfrm>
            <a:off x="1219200" y="4171950"/>
            <a:ext cx="609600" cy="609600"/>
          </a:xfrm>
          <a:prstGeom prst="ellipse">
            <a:avLst/>
          </a:prstGeom>
          <a:solidFill>
            <a:srgbClr val="EFF6FF"/>
          </a:solidFill>
          <a:ln w="25400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altLang="ko-KR" sz="1700" b="1">
                <a:solidFill>
                  <a:srgbClr val="0F172A"/>
                </a:solidFill>
                <a:latin typeface="EFF6FF"/>
              </a:rPr>
              <a:t>80</a:t>
            </a:r>
            <a:endParaRPr lang="ko-KR" altLang="en-US" sz="1700" b="1">
              <a:solidFill>
                <a:srgbClr val="0F172A"/>
              </a:solidFill>
              <a:latin typeface="EFF6FF"/>
            </a:endParaRPr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8F8FF2FD-6E51-E5B3-4817-89768FCD8A61}"/>
              </a:ext>
            </a:extLst>
          </p:cNvPr>
          <p:cNvCxnSpPr/>
          <p:nvPr/>
        </p:nvCxnSpPr>
        <p:spPr>
          <a:xfrm>
            <a:off x="1866900" y="4476750"/>
            <a:ext cx="1600200" cy="0"/>
          </a:xfrm>
          <a:prstGeom prst="line">
            <a:avLst/>
          </a:prstGeom>
          <a:ln w="25400">
            <a:solidFill>
              <a:srgbClr val="1F2A44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5FD76B6B-C78D-FF43-6C47-9A33E64942C1}"/>
              </a:ext>
            </a:extLst>
          </p:cNvPr>
          <p:cNvSpPr txBox="1"/>
          <p:nvPr/>
        </p:nvSpPr>
        <p:spPr>
          <a:xfrm>
            <a:off x="1619250" y="4095750"/>
            <a:ext cx="2095500" cy="22860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pPr algn="ctr"/>
            <a:r>
              <a:rPr lang="ko-KR" altLang="en-US" sz="1500" b="1">
                <a:solidFill>
                  <a:srgbClr val="1F2A44"/>
                </a:solidFill>
                <a:latin typeface="EFF6FF"/>
              </a:rPr>
              <a:t>②</a:t>
            </a:r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B00355BE-AEF5-7605-83A3-402054FD5A31}"/>
              </a:ext>
            </a:extLst>
          </p:cNvPr>
          <p:cNvSpPr/>
          <p:nvPr/>
        </p:nvSpPr>
        <p:spPr>
          <a:xfrm>
            <a:off x="3505200" y="4171950"/>
            <a:ext cx="609600" cy="609600"/>
          </a:xfrm>
          <a:prstGeom prst="ellipse">
            <a:avLst/>
          </a:prstGeom>
          <a:solidFill>
            <a:srgbClr val="EFF6FF"/>
          </a:solidFill>
          <a:ln w="25400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altLang="ko-KR" sz="1700" b="1">
                <a:solidFill>
                  <a:srgbClr val="0F172A"/>
                </a:solidFill>
                <a:latin typeface="EFF6FF"/>
              </a:rPr>
              <a:t>c0</a:t>
            </a:r>
            <a:endParaRPr lang="ko-KR" altLang="en-US" sz="1700" b="1">
              <a:solidFill>
                <a:srgbClr val="0F172A"/>
              </a:solidFill>
              <a:latin typeface="EFF6FF"/>
            </a:endParaRPr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66005BD4-E3ED-8FDE-7309-9D49FFA609DA}"/>
              </a:ext>
            </a:extLst>
          </p:cNvPr>
          <p:cNvCxnSpPr/>
          <p:nvPr/>
        </p:nvCxnSpPr>
        <p:spPr>
          <a:xfrm>
            <a:off x="4152900" y="4476750"/>
            <a:ext cx="1600200" cy="0"/>
          </a:xfrm>
          <a:prstGeom prst="line">
            <a:avLst/>
          </a:prstGeom>
          <a:ln w="25400">
            <a:solidFill>
              <a:srgbClr val="1F2A44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70DD4A00-493C-BB9D-4D02-92854A32FEAB}"/>
              </a:ext>
            </a:extLst>
          </p:cNvPr>
          <p:cNvSpPr txBox="1"/>
          <p:nvPr/>
        </p:nvSpPr>
        <p:spPr>
          <a:xfrm>
            <a:off x="3905250" y="4095750"/>
            <a:ext cx="2095500" cy="22860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pPr algn="ctr"/>
            <a:r>
              <a:rPr lang="ko-KR" altLang="en-US" sz="1500" b="1">
                <a:solidFill>
                  <a:srgbClr val="1F2A44"/>
                </a:solidFill>
                <a:latin typeface="EFF6FF"/>
              </a:rPr>
              <a:t>③</a:t>
            </a:r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189BE669-102E-D451-9C27-B60B0535D0B0}"/>
              </a:ext>
            </a:extLst>
          </p:cNvPr>
          <p:cNvSpPr/>
          <p:nvPr/>
        </p:nvSpPr>
        <p:spPr>
          <a:xfrm>
            <a:off x="5791200" y="4171950"/>
            <a:ext cx="609600" cy="609600"/>
          </a:xfrm>
          <a:prstGeom prst="ellipse">
            <a:avLst/>
          </a:prstGeom>
          <a:solidFill>
            <a:srgbClr val="EFF6FF"/>
          </a:solidFill>
          <a:ln w="25400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altLang="ko-KR" sz="1700" b="1">
                <a:solidFill>
                  <a:srgbClr val="0F172A"/>
                </a:solidFill>
                <a:latin typeface="EFF6FF"/>
              </a:rPr>
              <a:t>e0</a:t>
            </a:r>
            <a:endParaRPr lang="ko-KR" altLang="en-US" sz="1700" b="1">
              <a:solidFill>
                <a:srgbClr val="0F172A"/>
              </a:solidFill>
              <a:latin typeface="EFF6FF"/>
            </a:endParaRPr>
          </a:p>
        </p:txBody>
      </p: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7DB7429F-C8B2-4CC3-65F1-366983252A97}"/>
              </a:ext>
            </a:extLst>
          </p:cNvPr>
          <p:cNvCxnSpPr/>
          <p:nvPr/>
        </p:nvCxnSpPr>
        <p:spPr>
          <a:xfrm>
            <a:off x="6438900" y="4476750"/>
            <a:ext cx="1600200" cy="0"/>
          </a:xfrm>
          <a:prstGeom prst="line">
            <a:avLst/>
          </a:prstGeom>
          <a:ln w="25400">
            <a:solidFill>
              <a:srgbClr val="1F2A44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2D4915BA-85D1-7DF4-8DCB-50FAF01A5339}"/>
              </a:ext>
            </a:extLst>
          </p:cNvPr>
          <p:cNvSpPr txBox="1"/>
          <p:nvPr/>
        </p:nvSpPr>
        <p:spPr>
          <a:xfrm>
            <a:off x="6191250" y="4095750"/>
            <a:ext cx="2095500" cy="22860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pPr algn="ctr"/>
            <a:r>
              <a:rPr lang="ko-KR" altLang="en-US" sz="1500" b="1">
                <a:solidFill>
                  <a:srgbClr val="1F2A44"/>
                </a:solidFill>
                <a:latin typeface="EFF6FF"/>
              </a:rPr>
              <a:t>④</a:t>
            </a:r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99A289CF-AAA2-B374-204F-6E2B7DC9C114}"/>
              </a:ext>
            </a:extLst>
          </p:cNvPr>
          <p:cNvSpPr/>
          <p:nvPr/>
        </p:nvSpPr>
        <p:spPr>
          <a:xfrm>
            <a:off x="8077200" y="4171950"/>
            <a:ext cx="609600" cy="609600"/>
          </a:xfrm>
          <a:prstGeom prst="ellipse">
            <a:avLst/>
          </a:prstGeom>
          <a:solidFill>
            <a:srgbClr val="EFF6FF"/>
          </a:solidFill>
          <a:ln w="25400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altLang="ko-KR" sz="1700" b="1">
                <a:solidFill>
                  <a:srgbClr val="0F172A"/>
                </a:solidFill>
                <a:latin typeface="EFF6FF"/>
              </a:rPr>
              <a:t>f0</a:t>
            </a:r>
            <a:endParaRPr lang="ko-KR" altLang="en-US" sz="1700" b="1">
              <a:solidFill>
                <a:srgbClr val="0F172A"/>
              </a:solidFill>
              <a:latin typeface="EFF6FF"/>
            </a:endParaRPr>
          </a:p>
        </p:txBody>
      </p: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6F252BED-07EB-0331-FA80-1B69FC6D8257}"/>
              </a:ext>
            </a:extLst>
          </p:cNvPr>
          <p:cNvCxnSpPr/>
          <p:nvPr/>
        </p:nvCxnSpPr>
        <p:spPr>
          <a:xfrm>
            <a:off x="8724900" y="4476750"/>
            <a:ext cx="1600200" cy="0"/>
          </a:xfrm>
          <a:prstGeom prst="line">
            <a:avLst/>
          </a:prstGeom>
          <a:ln w="25400">
            <a:solidFill>
              <a:srgbClr val="1F2A44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E9064221-71E2-4CE5-5F5C-5BF25ECFF7A8}"/>
              </a:ext>
            </a:extLst>
          </p:cNvPr>
          <p:cNvSpPr txBox="1"/>
          <p:nvPr/>
        </p:nvSpPr>
        <p:spPr>
          <a:xfrm>
            <a:off x="8477250" y="4095750"/>
            <a:ext cx="2095500" cy="22860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pPr algn="ctr"/>
            <a:r>
              <a:rPr lang="ko-KR" altLang="en-US" sz="1500" b="1">
                <a:solidFill>
                  <a:srgbClr val="1F2A44"/>
                </a:solidFill>
                <a:latin typeface="EFF6FF"/>
              </a:rPr>
              <a:t>⑤ </a:t>
            </a:r>
            <a:r>
              <a:rPr lang="en-US" altLang="ko-KR" sz="1500" b="1">
                <a:solidFill>
                  <a:srgbClr val="1F2A44"/>
                </a:solidFill>
                <a:latin typeface="EFF6FF"/>
              </a:rPr>
              <a:t>0 </a:t>
            </a:r>
            <a:r>
              <a:rPr lang="ko-KR" altLang="en-US" sz="1500" b="1">
                <a:solidFill>
                  <a:srgbClr val="1F2A44"/>
                </a:solidFill>
                <a:latin typeface="EFF6FF"/>
              </a:rPr>
              <a:t>유입</a:t>
            </a:r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62631F63-7BB7-2DE4-5188-5C36AC4C445C}"/>
              </a:ext>
            </a:extLst>
          </p:cNvPr>
          <p:cNvSpPr/>
          <p:nvPr/>
        </p:nvSpPr>
        <p:spPr>
          <a:xfrm>
            <a:off x="10363200" y="4171950"/>
            <a:ext cx="609600" cy="609600"/>
          </a:xfrm>
          <a:prstGeom prst="ellipse">
            <a:avLst/>
          </a:prstGeom>
          <a:solidFill>
            <a:srgbClr val="FEE2E2"/>
          </a:solidFill>
          <a:ln w="25400">
            <a:solidFill>
              <a:srgbClr val="4755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altLang="ko-KR" sz="1700" b="1">
                <a:solidFill>
                  <a:srgbClr val="0F172A"/>
                </a:solidFill>
                <a:latin typeface="FEE2E2"/>
              </a:rPr>
              <a:t>78</a:t>
            </a:r>
            <a:endParaRPr lang="ko-KR" altLang="en-US" sz="1700" b="1">
              <a:solidFill>
                <a:srgbClr val="0F172A"/>
              </a:solidFill>
              <a:latin typeface="FEE2E2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2BCCC977-9C65-0DE2-1EA8-1F45609F8CE7}"/>
              </a:ext>
            </a:extLst>
          </p:cNvPr>
          <p:cNvSpPr/>
          <p:nvPr/>
        </p:nvSpPr>
        <p:spPr>
          <a:xfrm>
            <a:off x="381000" y="5143500"/>
            <a:ext cx="11430000" cy="571500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endParaRPr lang="ko-KR" alt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7D2D665-1F4D-22FC-2636-4799360D7C1F}"/>
              </a:ext>
            </a:extLst>
          </p:cNvPr>
          <p:cNvSpPr txBox="1"/>
          <p:nvPr/>
        </p:nvSpPr>
        <p:spPr>
          <a:xfrm>
            <a:off x="514350" y="5143500"/>
            <a:ext cx="11201400" cy="57150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altLang="ko-KR" sz="1700" b="1">
                <a:solidFill>
                  <a:srgbClr val="DC2626"/>
                </a:solidFill>
                <a:latin typeface="FEF3C7"/>
              </a:rPr>
              <a:t>i_btn </a:t>
            </a:r>
            <a:r>
              <a:rPr lang="ko-KR" altLang="en-US" sz="1700" b="1">
                <a:solidFill>
                  <a:srgbClr val="DC2626"/>
                </a:solidFill>
                <a:latin typeface="FEF3C7"/>
              </a:rPr>
              <a:t>약 </a:t>
            </a:r>
            <a:r>
              <a:rPr lang="en-US" altLang="ko-KR" sz="1700" b="1">
                <a:solidFill>
                  <a:srgbClr val="DC2626"/>
                </a:solidFill>
                <a:latin typeface="FEF3C7"/>
              </a:rPr>
              <a:t>40 ns → 1 sample 4</a:t>
            </a:r>
            <a:r>
              <a:rPr lang="ko-KR" altLang="en-US" sz="1700" b="1">
                <a:solidFill>
                  <a:srgbClr val="DC2626"/>
                </a:solidFill>
                <a:latin typeface="FEF3C7"/>
              </a:rPr>
              <a:t>개 → </a:t>
            </a:r>
            <a:r>
              <a:rPr lang="en-US" altLang="ko-KR" sz="1700" b="1">
                <a:solidFill>
                  <a:srgbClr val="DC2626"/>
                </a:solidFill>
                <a:latin typeface="FEF3C7"/>
              </a:rPr>
              <a:t>AND = 0 → o_btn </a:t>
            </a:r>
            <a:r>
              <a:rPr lang="ko-KR" altLang="en-US" sz="1700" b="1">
                <a:solidFill>
                  <a:srgbClr val="DC2626"/>
                </a:solidFill>
                <a:latin typeface="FEF3C7"/>
              </a:rPr>
              <a:t>없음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A1BCDDD-5E4B-CD2F-7AB5-7DAB99FFBE19}"/>
              </a:ext>
            </a:extLst>
          </p:cNvPr>
          <p:cNvSpPr txBox="1"/>
          <p:nvPr/>
        </p:nvSpPr>
        <p:spPr>
          <a:xfrm>
            <a:off x="10668000" y="6591300"/>
            <a:ext cx="1143000" cy="19050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pPr algn="r"/>
            <a:r>
              <a:rPr lang="en-US" altLang="ko-KR" sz="1100">
                <a:solidFill>
                  <a:srgbClr val="94A3B8"/>
                </a:solidFill>
                <a:latin typeface="FEF3C7"/>
              </a:rPr>
              <a:t>33 / 39</a:t>
            </a:r>
            <a:endParaRPr lang="ko-KR" altLang="en-US" sz="1100">
              <a:solidFill>
                <a:srgbClr val="94A3B8"/>
              </a:solidFill>
              <a:latin typeface="FEF3C7"/>
            </a:endParaRPr>
          </a:p>
        </p:txBody>
      </p:sp>
    </p:spTree>
    <p:extLst>
      <p:ext uri="{BB962C8B-B14F-4D97-AF65-F5344CB8AC3E}">
        <p14:creationId xmlns:p14="http://schemas.microsoft.com/office/powerpoint/2010/main" val="151969672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F75DE5E-FC0D-91F8-DD6E-1315E91F1D36}"/>
              </a:ext>
            </a:extLst>
          </p:cNvPr>
          <p:cNvSpPr txBox="1"/>
          <p:nvPr/>
        </p:nvSpPr>
        <p:spPr>
          <a:xfrm>
            <a:off x="381000" y="133350"/>
            <a:ext cx="9525000" cy="2095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altLang="ko-KR" sz="1300" b="1">
                <a:solidFill>
                  <a:srgbClr val="2563EB"/>
                </a:solidFill>
                <a:latin typeface="FEF3C7"/>
              </a:rPr>
              <a:t>06  ·  Homework-2 </a:t>
            </a:r>
            <a:r>
              <a:rPr lang="ko-KR" altLang="en-US" sz="1300" b="1">
                <a:solidFill>
                  <a:srgbClr val="2563EB"/>
                </a:solidFill>
                <a:latin typeface="FEF3C7"/>
              </a:rPr>
              <a:t>시뮬레이션  </a:t>
            </a:r>
            <a:r>
              <a:rPr lang="en-US" altLang="ko-KR" sz="1300" b="1">
                <a:solidFill>
                  <a:srgbClr val="2563EB"/>
                </a:solidFill>
                <a:latin typeface="FEF3C7"/>
              </a:rPr>
              <a:t>·  Shift </a:t>
            </a:r>
            <a:r>
              <a:rPr lang="ko-KR" altLang="en-US" sz="1300" b="1">
                <a:solidFill>
                  <a:srgbClr val="2563EB"/>
                </a:solidFill>
                <a:latin typeface="FEF3C7"/>
              </a:rPr>
              <a:t>동작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394EF3-A2DF-2727-CC50-A5E95E6C8AF9}"/>
              </a:ext>
            </a:extLst>
          </p:cNvPr>
          <p:cNvSpPr txBox="1"/>
          <p:nvPr/>
        </p:nvSpPr>
        <p:spPr>
          <a:xfrm>
            <a:off x="381000" y="342900"/>
            <a:ext cx="10096500" cy="4381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altLang="ko-KR" sz="2600" b="1">
                <a:solidFill>
                  <a:srgbClr val="0F172A"/>
                </a:solidFill>
                <a:latin typeface="FEF3C7"/>
              </a:rPr>
              <a:t>o_btn Rises 70 ns After the First Sample and Lasts One Clock</a:t>
            </a:r>
            <a:endParaRPr lang="ko-KR" altLang="en-US" sz="2600" b="1">
              <a:solidFill>
                <a:srgbClr val="0F172A"/>
              </a:solidFill>
              <a:latin typeface="FEF3C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291DE7C-F9C6-00A6-E761-BB28BCCCD8D8}"/>
              </a:ext>
            </a:extLst>
          </p:cNvPr>
          <p:cNvSpPr/>
          <p:nvPr/>
        </p:nvSpPr>
        <p:spPr>
          <a:xfrm>
            <a:off x="381000" y="819150"/>
            <a:ext cx="666750" cy="381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388255-E9AE-3B5C-14FB-EAEC08F87AB5}"/>
              </a:ext>
            </a:extLst>
          </p:cNvPr>
          <p:cNvSpPr txBox="1"/>
          <p:nvPr/>
        </p:nvSpPr>
        <p:spPr>
          <a:xfrm>
            <a:off x="10572750" y="133350"/>
            <a:ext cx="1238250" cy="60960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pPr algn="r"/>
            <a:r>
              <a:rPr lang="en-US" altLang="ko-KR" sz="4000" b="1">
                <a:solidFill>
                  <a:srgbClr val="BFDBFE"/>
                </a:solidFill>
                <a:latin typeface="FEF3C7"/>
              </a:rPr>
              <a:t>06</a:t>
            </a:r>
            <a:endParaRPr lang="ko-KR" altLang="en-US" sz="4000" b="1">
              <a:solidFill>
                <a:srgbClr val="BFDBFE"/>
              </a:solidFill>
              <a:latin typeface="FEF3C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11EAA12-6C52-2D2A-C648-8DEBD356D6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5468" y="1257300"/>
            <a:ext cx="7701064" cy="2384771"/>
          </a:xfrm>
          <a:prstGeom prst="rect">
            <a:avLst/>
          </a:prstGeom>
        </p:spPr>
      </p:pic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92A5EFEC-9E99-43D9-9621-D220C2A7370D}"/>
              </a:ext>
            </a:extLst>
          </p:cNvPr>
          <p:cNvCxnSpPr/>
          <p:nvPr/>
        </p:nvCxnSpPr>
        <p:spPr>
          <a:xfrm>
            <a:off x="4715382" y="1662619"/>
            <a:ext cx="0" cy="1975931"/>
          </a:xfrm>
          <a:prstGeom prst="line">
            <a:avLst/>
          </a:prstGeom>
          <a:ln w="25400">
            <a:solidFill>
              <a:srgbClr val="F9731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타원 8">
            <a:extLst>
              <a:ext uri="{FF2B5EF4-FFF2-40B4-BE49-F238E27FC236}">
                <a16:creationId xmlns:a16="http://schemas.microsoft.com/office/drawing/2014/main" id="{6F88978F-7C2C-B744-ADA8-FC34E2FA36B3}"/>
              </a:ext>
            </a:extLst>
          </p:cNvPr>
          <p:cNvSpPr/>
          <p:nvPr/>
        </p:nvSpPr>
        <p:spPr>
          <a:xfrm>
            <a:off x="4610607" y="990600"/>
            <a:ext cx="209550" cy="209550"/>
          </a:xfrm>
          <a:prstGeom prst="ellipse">
            <a:avLst/>
          </a:prstGeom>
          <a:solidFill>
            <a:srgbClr val="EA580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/>
            <a:r>
              <a:rPr lang="en-US" altLang="ko-KR" sz="1100" b="1">
                <a:solidFill>
                  <a:srgbClr val="FFFFFF"/>
                </a:solidFill>
                <a:latin typeface="FEF3C7"/>
              </a:rPr>
              <a:t>1</a:t>
            </a:r>
            <a:endParaRPr lang="ko-KR" altLang="en-US" sz="1100" b="1">
              <a:solidFill>
                <a:srgbClr val="FFFFFF"/>
              </a:solidFill>
              <a:latin typeface="FEF3C7"/>
            </a:endParaRP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6CEA3070-CD9D-F9F4-010D-841CFD710268}"/>
              </a:ext>
            </a:extLst>
          </p:cNvPr>
          <p:cNvCxnSpPr/>
          <p:nvPr/>
        </p:nvCxnSpPr>
        <p:spPr>
          <a:xfrm>
            <a:off x="8781239" y="1662619"/>
            <a:ext cx="0" cy="1975931"/>
          </a:xfrm>
          <a:prstGeom prst="line">
            <a:avLst/>
          </a:prstGeom>
          <a:ln w="25400">
            <a:solidFill>
              <a:srgbClr val="F9731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타원 10">
            <a:extLst>
              <a:ext uri="{FF2B5EF4-FFF2-40B4-BE49-F238E27FC236}">
                <a16:creationId xmlns:a16="http://schemas.microsoft.com/office/drawing/2014/main" id="{CE0CA10C-472A-FFE4-3749-0DB460845D89}"/>
              </a:ext>
            </a:extLst>
          </p:cNvPr>
          <p:cNvSpPr/>
          <p:nvPr/>
        </p:nvSpPr>
        <p:spPr>
          <a:xfrm>
            <a:off x="8676464" y="990600"/>
            <a:ext cx="209550" cy="209550"/>
          </a:xfrm>
          <a:prstGeom prst="ellipse">
            <a:avLst/>
          </a:prstGeom>
          <a:solidFill>
            <a:srgbClr val="EA580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/>
            <a:r>
              <a:rPr lang="en-US" altLang="ko-KR" sz="1100" b="1">
                <a:solidFill>
                  <a:srgbClr val="FFFFFF"/>
                </a:solidFill>
                <a:latin typeface="FEF3C7"/>
              </a:rPr>
              <a:t>2</a:t>
            </a:r>
            <a:endParaRPr lang="ko-KR" altLang="en-US" sz="1100" b="1">
              <a:solidFill>
                <a:srgbClr val="FFFFFF"/>
              </a:solidFill>
              <a:latin typeface="FEF3C7"/>
            </a:endParaRP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F7EED49C-4158-8527-6BD0-4C1C437A325A}"/>
              </a:ext>
            </a:extLst>
          </p:cNvPr>
          <p:cNvCxnSpPr/>
          <p:nvPr/>
        </p:nvCxnSpPr>
        <p:spPr>
          <a:xfrm>
            <a:off x="9363886" y="1662619"/>
            <a:ext cx="0" cy="1975931"/>
          </a:xfrm>
          <a:prstGeom prst="line">
            <a:avLst/>
          </a:prstGeom>
          <a:ln w="25400">
            <a:solidFill>
              <a:srgbClr val="F9731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타원 12">
            <a:extLst>
              <a:ext uri="{FF2B5EF4-FFF2-40B4-BE49-F238E27FC236}">
                <a16:creationId xmlns:a16="http://schemas.microsoft.com/office/drawing/2014/main" id="{611A3D4F-3BE5-88AE-BBDC-E4889CCC54DC}"/>
              </a:ext>
            </a:extLst>
          </p:cNvPr>
          <p:cNvSpPr/>
          <p:nvPr/>
        </p:nvSpPr>
        <p:spPr>
          <a:xfrm>
            <a:off x="9259111" y="990600"/>
            <a:ext cx="209550" cy="209550"/>
          </a:xfrm>
          <a:prstGeom prst="ellipse">
            <a:avLst/>
          </a:prstGeom>
          <a:solidFill>
            <a:srgbClr val="EA580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/>
            <a:r>
              <a:rPr lang="en-US" altLang="ko-KR" sz="1100" b="1">
                <a:solidFill>
                  <a:srgbClr val="FFFFFF"/>
                </a:solidFill>
                <a:latin typeface="FEF3C7"/>
              </a:rPr>
              <a:t>3</a:t>
            </a:r>
            <a:endParaRPr lang="ko-KR" altLang="en-US" sz="1100" b="1">
              <a:solidFill>
                <a:srgbClr val="FFFFFF"/>
              </a:solidFill>
              <a:latin typeface="FEF3C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920497A-5312-A64F-873B-DE0B9380B871}"/>
              </a:ext>
            </a:extLst>
          </p:cNvPr>
          <p:cNvSpPr/>
          <p:nvPr/>
        </p:nvSpPr>
        <p:spPr>
          <a:xfrm>
            <a:off x="381000" y="4476750"/>
            <a:ext cx="3714750" cy="85725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endParaRPr lang="ko-KR" altLang="en-US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2EFC48CC-58A4-FD68-BBC2-C611961AFB50}"/>
              </a:ext>
            </a:extLst>
          </p:cNvPr>
          <p:cNvSpPr/>
          <p:nvPr/>
        </p:nvSpPr>
        <p:spPr>
          <a:xfrm>
            <a:off x="495300" y="4781550"/>
            <a:ext cx="247650" cy="247650"/>
          </a:xfrm>
          <a:prstGeom prst="ellipse">
            <a:avLst/>
          </a:prstGeom>
          <a:solidFill>
            <a:srgbClr val="EA580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/>
            <a:r>
              <a:rPr lang="en-US" altLang="ko-KR" sz="1200" b="1">
                <a:solidFill>
                  <a:srgbClr val="FFFFFF"/>
                </a:solidFill>
                <a:latin typeface="FEF3C7"/>
              </a:rPr>
              <a:t>1</a:t>
            </a:r>
            <a:endParaRPr lang="ko-KR" altLang="en-US" sz="1200" b="1">
              <a:solidFill>
                <a:srgbClr val="FFFFFF"/>
              </a:solidFill>
              <a:latin typeface="FEF3C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ABE2322-CD97-8392-33BE-6C25D6A49605}"/>
              </a:ext>
            </a:extLst>
          </p:cNvPr>
          <p:cNvSpPr txBox="1"/>
          <p:nvPr/>
        </p:nvSpPr>
        <p:spPr>
          <a:xfrm>
            <a:off x="838200" y="4476750"/>
            <a:ext cx="3162300" cy="8572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altLang="ko-KR" sz="1700" b="1">
                <a:solidFill>
                  <a:srgbClr val="1F2A44"/>
                </a:solidFill>
                <a:latin typeface="FEF3C7"/>
              </a:rPr>
              <a:t>175 ns</a:t>
            </a:r>
          </a:p>
          <a:p>
            <a:r>
              <a:rPr lang="ko-KR" altLang="en-US" sz="1700" b="1">
                <a:solidFill>
                  <a:srgbClr val="1F2A44"/>
                </a:solidFill>
                <a:latin typeface="FEF3C7"/>
              </a:rPr>
              <a:t>첫 </a:t>
            </a:r>
            <a:r>
              <a:rPr lang="en-US" altLang="ko-KR" sz="1700" b="1">
                <a:solidFill>
                  <a:srgbClr val="1F2A44"/>
                </a:solidFill>
                <a:latin typeface="FEF3C7"/>
              </a:rPr>
              <a:t>sample → 80</a:t>
            </a:r>
            <a:endParaRPr lang="ko-KR" altLang="en-US" sz="1700" b="1">
              <a:solidFill>
                <a:srgbClr val="1F2A44"/>
              </a:solidFill>
              <a:latin typeface="FEF3C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21EE4227-E020-572E-766F-C2D7A60C61AE}"/>
              </a:ext>
            </a:extLst>
          </p:cNvPr>
          <p:cNvSpPr/>
          <p:nvPr/>
        </p:nvSpPr>
        <p:spPr>
          <a:xfrm>
            <a:off x="4238625" y="4476750"/>
            <a:ext cx="3714750" cy="85725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endParaRPr lang="ko-KR" altLang="en-US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99E05B24-E009-A2F1-E8A4-51B0A6A794B5}"/>
              </a:ext>
            </a:extLst>
          </p:cNvPr>
          <p:cNvSpPr/>
          <p:nvPr/>
        </p:nvSpPr>
        <p:spPr>
          <a:xfrm>
            <a:off x="4352925" y="4781550"/>
            <a:ext cx="247650" cy="247650"/>
          </a:xfrm>
          <a:prstGeom prst="ellipse">
            <a:avLst/>
          </a:prstGeom>
          <a:solidFill>
            <a:srgbClr val="EA580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/>
            <a:r>
              <a:rPr lang="en-US" altLang="ko-KR" sz="1200" b="1">
                <a:solidFill>
                  <a:srgbClr val="FFFFFF"/>
                </a:solidFill>
                <a:latin typeface="FEF3C7"/>
              </a:rPr>
              <a:t>2</a:t>
            </a:r>
            <a:endParaRPr lang="ko-KR" altLang="en-US" sz="1200" b="1">
              <a:solidFill>
                <a:srgbClr val="FFFFFF"/>
              </a:solidFill>
              <a:latin typeface="FEF3C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F4339EC-71E2-F548-5FC8-919DFC78B174}"/>
              </a:ext>
            </a:extLst>
          </p:cNvPr>
          <p:cNvSpPr txBox="1"/>
          <p:nvPr/>
        </p:nvSpPr>
        <p:spPr>
          <a:xfrm>
            <a:off x="4695825" y="4476750"/>
            <a:ext cx="3162300" cy="8572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pt-BR" altLang="ko-KR" sz="1700" b="1">
                <a:solidFill>
                  <a:srgbClr val="16A34A"/>
                </a:solidFill>
                <a:latin typeface="FEF3C7"/>
              </a:rPr>
              <a:t>245 ns (+70 ns)</a:t>
            </a:r>
          </a:p>
          <a:p>
            <a:r>
              <a:rPr lang="pt-BR" altLang="ko-KR" sz="1700" b="1">
                <a:solidFill>
                  <a:srgbClr val="16A34A"/>
                </a:solidFill>
                <a:latin typeface="FEF3C7"/>
              </a:rPr>
              <a:t>ff → o_btn 1</a:t>
            </a:r>
            <a:endParaRPr lang="ko-KR" altLang="en-US" sz="1700" b="1">
              <a:solidFill>
                <a:srgbClr val="16A34A"/>
              </a:solidFill>
              <a:latin typeface="FEF3C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17FBEA0C-B2BC-F4B2-B5BF-882A584AB0C0}"/>
              </a:ext>
            </a:extLst>
          </p:cNvPr>
          <p:cNvSpPr/>
          <p:nvPr/>
        </p:nvSpPr>
        <p:spPr>
          <a:xfrm>
            <a:off x="8096250" y="4476750"/>
            <a:ext cx="3714750" cy="85725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endParaRPr lang="ko-KR" altLang="en-US"/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B29C11EE-7ED6-E0D3-5440-366E03F8F4AD}"/>
              </a:ext>
            </a:extLst>
          </p:cNvPr>
          <p:cNvSpPr/>
          <p:nvPr/>
        </p:nvSpPr>
        <p:spPr>
          <a:xfrm>
            <a:off x="8210550" y="4781550"/>
            <a:ext cx="247650" cy="247650"/>
          </a:xfrm>
          <a:prstGeom prst="ellipse">
            <a:avLst/>
          </a:prstGeom>
          <a:solidFill>
            <a:srgbClr val="EA580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/>
            <a:r>
              <a:rPr lang="en-US" altLang="ko-KR" sz="1200" b="1">
                <a:solidFill>
                  <a:srgbClr val="FFFFFF"/>
                </a:solidFill>
                <a:latin typeface="FEF3C7"/>
              </a:rPr>
              <a:t>3</a:t>
            </a:r>
            <a:endParaRPr lang="ko-KR" altLang="en-US" sz="1200" b="1">
              <a:solidFill>
                <a:srgbClr val="FFFFFF"/>
              </a:solidFill>
              <a:latin typeface="FEF3C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B5B5CA3-0E69-CDAA-F452-A204B539D376}"/>
              </a:ext>
            </a:extLst>
          </p:cNvPr>
          <p:cNvSpPr txBox="1"/>
          <p:nvPr/>
        </p:nvSpPr>
        <p:spPr>
          <a:xfrm>
            <a:off x="8553450" y="4476750"/>
            <a:ext cx="3162300" cy="8572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pt-BR" altLang="ko-KR" sz="1700" b="1">
                <a:solidFill>
                  <a:srgbClr val="B45309"/>
                </a:solidFill>
                <a:latin typeface="FEF3C7"/>
              </a:rPr>
              <a:t>255 ns (+80 ns)</a:t>
            </a:r>
          </a:p>
          <a:p>
            <a:r>
              <a:rPr lang="pt-BR" altLang="ko-KR" sz="1700" b="1">
                <a:solidFill>
                  <a:srgbClr val="B45309"/>
                </a:solidFill>
                <a:latin typeface="FEF3C7"/>
              </a:rPr>
              <a:t>edge_reg 1 → o_btn 0</a:t>
            </a:r>
            <a:endParaRPr lang="ko-KR" altLang="en-US" sz="1700" b="1">
              <a:solidFill>
                <a:srgbClr val="B45309"/>
              </a:solidFill>
              <a:latin typeface="FEF3C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2E2F0AE-976D-90FB-AF95-A8693F2A8E00}"/>
              </a:ext>
            </a:extLst>
          </p:cNvPr>
          <p:cNvSpPr txBox="1"/>
          <p:nvPr/>
        </p:nvSpPr>
        <p:spPr>
          <a:xfrm>
            <a:off x="10668000" y="6591300"/>
            <a:ext cx="1143000" cy="19050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pPr algn="r"/>
            <a:r>
              <a:rPr lang="en-US" altLang="ko-KR" sz="1100">
                <a:solidFill>
                  <a:srgbClr val="94A3B8"/>
                </a:solidFill>
                <a:latin typeface="FEF3C7"/>
              </a:rPr>
              <a:t>34 / 39</a:t>
            </a:r>
            <a:endParaRPr lang="ko-KR" altLang="en-US" sz="1100">
              <a:solidFill>
                <a:srgbClr val="94A3B8"/>
              </a:solidFill>
              <a:latin typeface="FEF3C7"/>
            </a:endParaRPr>
          </a:p>
        </p:txBody>
      </p:sp>
    </p:spTree>
    <p:extLst>
      <p:ext uri="{BB962C8B-B14F-4D97-AF65-F5344CB8AC3E}">
        <p14:creationId xmlns:p14="http://schemas.microsoft.com/office/powerpoint/2010/main" val="363152664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949554C-6FF8-DBAF-1C8C-1CADEDC10F27}"/>
              </a:ext>
            </a:extLst>
          </p:cNvPr>
          <p:cNvSpPr txBox="1"/>
          <p:nvPr/>
        </p:nvSpPr>
        <p:spPr>
          <a:xfrm>
            <a:off x="381000" y="133350"/>
            <a:ext cx="9525000" cy="2095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altLang="ko-KR" sz="1300" b="1">
                <a:solidFill>
                  <a:srgbClr val="2563EB"/>
                </a:solidFill>
                <a:latin typeface="FEF3C7"/>
              </a:rPr>
              <a:t>06  ·  Homework-2 </a:t>
            </a:r>
            <a:r>
              <a:rPr lang="ko-KR" altLang="en-US" sz="1300" b="1">
                <a:solidFill>
                  <a:srgbClr val="2563EB"/>
                </a:solidFill>
                <a:latin typeface="FEF3C7"/>
              </a:rPr>
              <a:t>시뮬레이션  </a:t>
            </a:r>
            <a:r>
              <a:rPr lang="en-US" altLang="ko-KR" sz="1300" b="1">
                <a:solidFill>
                  <a:srgbClr val="2563EB"/>
                </a:solidFill>
                <a:latin typeface="FEF3C7"/>
              </a:rPr>
              <a:t>·  </a:t>
            </a:r>
            <a:r>
              <a:rPr lang="ko-KR" altLang="en-US" sz="1300" b="1">
                <a:solidFill>
                  <a:srgbClr val="2563EB"/>
                </a:solidFill>
                <a:latin typeface="FEF3C7"/>
              </a:rPr>
              <a:t>비동기 입력 </a:t>
            </a:r>
            <a:r>
              <a:rPr lang="en-US" altLang="ko-KR" sz="1300" b="1">
                <a:solidFill>
                  <a:srgbClr val="2563EB"/>
                </a:solidFill>
                <a:latin typeface="FEF3C7"/>
              </a:rPr>
              <a:t>Sampling</a:t>
            </a:r>
            <a:endParaRPr lang="ko-KR" altLang="en-US" sz="1300" b="1">
              <a:solidFill>
                <a:srgbClr val="2563EB"/>
              </a:solidFill>
              <a:latin typeface="FEF3C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5E507B-3F37-8459-4AEE-79C9091FB2ED}"/>
              </a:ext>
            </a:extLst>
          </p:cNvPr>
          <p:cNvSpPr txBox="1"/>
          <p:nvPr/>
        </p:nvSpPr>
        <p:spPr>
          <a:xfrm>
            <a:off x="381000" y="342900"/>
            <a:ext cx="10096500" cy="4381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altLang="ko-KR" sz="2600" b="1">
                <a:solidFill>
                  <a:srgbClr val="0F172A"/>
                </a:solidFill>
                <a:latin typeface="FEF3C7"/>
              </a:rPr>
              <a:t>An Off-grid Edge Is Captured at the Next posedge</a:t>
            </a:r>
            <a:endParaRPr lang="ko-KR" altLang="en-US" sz="2600" b="1">
              <a:solidFill>
                <a:srgbClr val="0F172A"/>
              </a:solidFill>
              <a:latin typeface="FEF3C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A70478D-F4D0-0B23-EDC3-E2DB20C86440}"/>
              </a:ext>
            </a:extLst>
          </p:cNvPr>
          <p:cNvSpPr/>
          <p:nvPr/>
        </p:nvSpPr>
        <p:spPr>
          <a:xfrm>
            <a:off x="381000" y="819150"/>
            <a:ext cx="666750" cy="381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799F19-B4B6-E107-94A5-2C231F39E0E6}"/>
              </a:ext>
            </a:extLst>
          </p:cNvPr>
          <p:cNvSpPr txBox="1"/>
          <p:nvPr/>
        </p:nvSpPr>
        <p:spPr>
          <a:xfrm>
            <a:off x="10572750" y="133350"/>
            <a:ext cx="1238250" cy="60960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pPr algn="r"/>
            <a:r>
              <a:rPr lang="en-US" altLang="ko-KR" sz="4000" b="1">
                <a:solidFill>
                  <a:srgbClr val="BFDBFE"/>
                </a:solidFill>
                <a:latin typeface="FEF3C7"/>
              </a:rPr>
              <a:t>06</a:t>
            </a:r>
            <a:endParaRPr lang="ko-KR" altLang="en-US" sz="4000" b="1">
              <a:solidFill>
                <a:srgbClr val="BFDBFE"/>
              </a:solidFill>
              <a:latin typeface="FEF3C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FBD3F91-CB1A-24FD-A971-C461A7C503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1257300"/>
            <a:ext cx="11430000" cy="1713096"/>
          </a:xfrm>
          <a:prstGeom prst="rect">
            <a:avLst/>
          </a:prstGeom>
        </p:spPr>
      </p:pic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E5C22959-BDA2-A3ED-08FB-1CB0E612250F}"/>
              </a:ext>
            </a:extLst>
          </p:cNvPr>
          <p:cNvCxnSpPr/>
          <p:nvPr/>
        </p:nvCxnSpPr>
        <p:spPr>
          <a:xfrm>
            <a:off x="3084361" y="1731574"/>
            <a:ext cx="0" cy="1233112"/>
          </a:xfrm>
          <a:prstGeom prst="line">
            <a:avLst/>
          </a:prstGeom>
          <a:ln w="38100">
            <a:solidFill>
              <a:srgbClr val="FACC1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타원 8">
            <a:extLst>
              <a:ext uri="{FF2B5EF4-FFF2-40B4-BE49-F238E27FC236}">
                <a16:creationId xmlns:a16="http://schemas.microsoft.com/office/drawing/2014/main" id="{FFBBC977-D8DE-7272-1FBD-6C638D826716}"/>
              </a:ext>
            </a:extLst>
          </p:cNvPr>
          <p:cNvSpPr/>
          <p:nvPr/>
        </p:nvSpPr>
        <p:spPr>
          <a:xfrm>
            <a:off x="2979586" y="990600"/>
            <a:ext cx="209550" cy="209550"/>
          </a:xfrm>
          <a:prstGeom prst="ellipse">
            <a:avLst/>
          </a:prstGeom>
          <a:solidFill>
            <a:srgbClr val="CA8A0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/>
            <a:r>
              <a:rPr lang="en-US" altLang="ko-KR" sz="1100" b="1">
                <a:solidFill>
                  <a:srgbClr val="FFFFFF"/>
                </a:solidFill>
                <a:latin typeface="FEF3C7"/>
              </a:rPr>
              <a:t>1</a:t>
            </a:r>
            <a:endParaRPr lang="ko-KR" altLang="en-US" sz="1100" b="1">
              <a:solidFill>
                <a:srgbClr val="FFFFFF"/>
              </a:solidFill>
              <a:latin typeface="FEF3C7"/>
            </a:endParaRP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81AB182C-7819-1346-1B52-71DEB05B47CB}"/>
              </a:ext>
            </a:extLst>
          </p:cNvPr>
          <p:cNvCxnSpPr/>
          <p:nvPr/>
        </p:nvCxnSpPr>
        <p:spPr>
          <a:xfrm>
            <a:off x="5329257" y="1731574"/>
            <a:ext cx="0" cy="1233112"/>
          </a:xfrm>
          <a:prstGeom prst="line">
            <a:avLst/>
          </a:prstGeom>
          <a:ln w="25400">
            <a:solidFill>
              <a:srgbClr val="F9731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타원 10">
            <a:extLst>
              <a:ext uri="{FF2B5EF4-FFF2-40B4-BE49-F238E27FC236}">
                <a16:creationId xmlns:a16="http://schemas.microsoft.com/office/drawing/2014/main" id="{FEA3049B-8EFE-12B1-6C87-0E3CC9EA9B02}"/>
              </a:ext>
            </a:extLst>
          </p:cNvPr>
          <p:cNvSpPr/>
          <p:nvPr/>
        </p:nvSpPr>
        <p:spPr>
          <a:xfrm>
            <a:off x="5224482" y="990600"/>
            <a:ext cx="209550" cy="209550"/>
          </a:xfrm>
          <a:prstGeom prst="ellipse">
            <a:avLst/>
          </a:prstGeom>
          <a:solidFill>
            <a:srgbClr val="EA580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/>
            <a:r>
              <a:rPr lang="en-US" altLang="ko-KR" sz="1100" b="1">
                <a:solidFill>
                  <a:srgbClr val="FFFFFF"/>
                </a:solidFill>
                <a:latin typeface="FEF3C7"/>
              </a:rPr>
              <a:t>2</a:t>
            </a:r>
            <a:endParaRPr lang="ko-KR" altLang="en-US" sz="1100" b="1">
              <a:solidFill>
                <a:srgbClr val="FFFFFF"/>
              </a:solidFill>
              <a:latin typeface="FEF3C7"/>
            </a:endParaRP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911DD1F4-C882-BBC9-5161-9791A4F61F98}"/>
              </a:ext>
            </a:extLst>
          </p:cNvPr>
          <p:cNvCxnSpPr/>
          <p:nvPr/>
        </p:nvCxnSpPr>
        <p:spPr>
          <a:xfrm>
            <a:off x="8127473" y="1731574"/>
            <a:ext cx="0" cy="1233112"/>
          </a:xfrm>
          <a:prstGeom prst="line">
            <a:avLst/>
          </a:prstGeom>
          <a:ln w="25400">
            <a:solidFill>
              <a:srgbClr val="F9731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타원 12">
            <a:extLst>
              <a:ext uri="{FF2B5EF4-FFF2-40B4-BE49-F238E27FC236}">
                <a16:creationId xmlns:a16="http://schemas.microsoft.com/office/drawing/2014/main" id="{F4B775A8-4BAD-4A3D-60AC-08EC6ADA91BB}"/>
              </a:ext>
            </a:extLst>
          </p:cNvPr>
          <p:cNvSpPr/>
          <p:nvPr/>
        </p:nvSpPr>
        <p:spPr>
          <a:xfrm>
            <a:off x="8022698" y="990600"/>
            <a:ext cx="209550" cy="209550"/>
          </a:xfrm>
          <a:prstGeom prst="ellipse">
            <a:avLst/>
          </a:prstGeom>
          <a:solidFill>
            <a:srgbClr val="EA580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/>
            <a:r>
              <a:rPr lang="en-US" altLang="ko-KR" sz="1100" b="1">
                <a:solidFill>
                  <a:srgbClr val="FFFFFF"/>
                </a:solidFill>
                <a:latin typeface="FEF3C7"/>
              </a:rPr>
              <a:t>3</a:t>
            </a:r>
            <a:endParaRPr lang="ko-KR" altLang="en-US" sz="1100" b="1">
              <a:solidFill>
                <a:srgbClr val="FFFFFF"/>
              </a:solidFill>
              <a:latin typeface="FEF3C7"/>
            </a:endParaRPr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FBFECAA5-C2B3-3EAF-B364-41D5ADD7FF95}"/>
              </a:ext>
            </a:extLst>
          </p:cNvPr>
          <p:cNvCxnSpPr/>
          <p:nvPr/>
        </p:nvCxnSpPr>
        <p:spPr>
          <a:xfrm>
            <a:off x="10941498" y="1731574"/>
            <a:ext cx="0" cy="1233112"/>
          </a:xfrm>
          <a:prstGeom prst="line">
            <a:avLst/>
          </a:prstGeom>
          <a:ln w="25400">
            <a:solidFill>
              <a:srgbClr val="F9731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타원 14">
            <a:extLst>
              <a:ext uri="{FF2B5EF4-FFF2-40B4-BE49-F238E27FC236}">
                <a16:creationId xmlns:a16="http://schemas.microsoft.com/office/drawing/2014/main" id="{1E38B263-9F6B-7295-1C2C-975D18A39BE5}"/>
              </a:ext>
            </a:extLst>
          </p:cNvPr>
          <p:cNvSpPr/>
          <p:nvPr/>
        </p:nvSpPr>
        <p:spPr>
          <a:xfrm>
            <a:off x="10836723" y="990600"/>
            <a:ext cx="209550" cy="209550"/>
          </a:xfrm>
          <a:prstGeom prst="ellipse">
            <a:avLst/>
          </a:prstGeom>
          <a:solidFill>
            <a:srgbClr val="EA580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/>
            <a:r>
              <a:rPr lang="en-US" altLang="ko-KR" sz="1100" b="1">
                <a:solidFill>
                  <a:srgbClr val="FFFFFF"/>
                </a:solidFill>
                <a:latin typeface="FEF3C7"/>
              </a:rPr>
              <a:t>4</a:t>
            </a:r>
            <a:endParaRPr lang="ko-KR" altLang="en-US" sz="1100" b="1">
              <a:solidFill>
                <a:srgbClr val="FFFFFF"/>
              </a:solidFill>
              <a:latin typeface="FEF3C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851E66E-9EB6-3F01-AB7A-2BCD08CFBDA4}"/>
              </a:ext>
            </a:extLst>
          </p:cNvPr>
          <p:cNvSpPr/>
          <p:nvPr/>
        </p:nvSpPr>
        <p:spPr>
          <a:xfrm>
            <a:off x="381000" y="4000500"/>
            <a:ext cx="2762250" cy="85725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endParaRPr lang="ko-KR" altLang="en-US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DB410501-75BB-5C0E-9B1E-2782F06BB384}"/>
              </a:ext>
            </a:extLst>
          </p:cNvPr>
          <p:cNvSpPr/>
          <p:nvPr/>
        </p:nvSpPr>
        <p:spPr>
          <a:xfrm>
            <a:off x="495300" y="4305300"/>
            <a:ext cx="247650" cy="247650"/>
          </a:xfrm>
          <a:prstGeom prst="ellipse">
            <a:avLst/>
          </a:prstGeom>
          <a:solidFill>
            <a:srgbClr val="EA580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/>
            <a:r>
              <a:rPr lang="en-US" altLang="ko-KR" sz="1200" b="1">
                <a:solidFill>
                  <a:srgbClr val="FFFFFF"/>
                </a:solidFill>
                <a:latin typeface="FEF3C7"/>
              </a:rPr>
              <a:t>1</a:t>
            </a:r>
            <a:endParaRPr lang="ko-KR" altLang="en-US" sz="1200" b="1">
              <a:solidFill>
                <a:srgbClr val="FFFFFF"/>
              </a:solidFill>
              <a:latin typeface="FEF3C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83B721E-DEF2-5653-3B53-515BD482B759}"/>
              </a:ext>
            </a:extLst>
          </p:cNvPr>
          <p:cNvSpPr txBox="1"/>
          <p:nvPr/>
        </p:nvSpPr>
        <p:spPr>
          <a:xfrm>
            <a:off x="838200" y="4000500"/>
            <a:ext cx="2209800" cy="8572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altLang="ko-KR" sz="1700" b="1">
                <a:solidFill>
                  <a:srgbClr val="CA8A04"/>
                </a:solidFill>
                <a:latin typeface="FEF3C7"/>
              </a:rPr>
              <a:t>167 ns</a:t>
            </a:r>
          </a:p>
          <a:p>
            <a:r>
              <a:rPr lang="en-US" altLang="ko-KR" sz="1700" b="1">
                <a:solidFill>
                  <a:srgbClr val="CA8A04"/>
                </a:solidFill>
                <a:latin typeface="FEF3C7"/>
              </a:rPr>
              <a:t>i_btn 0 → 1</a:t>
            </a:r>
            <a:endParaRPr lang="ko-KR" altLang="en-US" sz="1700" b="1">
              <a:solidFill>
                <a:srgbClr val="CA8A04"/>
              </a:solidFill>
              <a:latin typeface="FEF3C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40EA6F8D-8517-DD11-5A5C-A5B9990BD245}"/>
              </a:ext>
            </a:extLst>
          </p:cNvPr>
          <p:cNvSpPr/>
          <p:nvPr/>
        </p:nvSpPr>
        <p:spPr>
          <a:xfrm>
            <a:off x="3267075" y="4000500"/>
            <a:ext cx="2762250" cy="85725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endParaRPr lang="ko-KR" altLang="en-US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FC044D70-CD7A-0410-2D73-F4C2793279F7}"/>
              </a:ext>
            </a:extLst>
          </p:cNvPr>
          <p:cNvSpPr/>
          <p:nvPr/>
        </p:nvSpPr>
        <p:spPr>
          <a:xfrm>
            <a:off x="3381375" y="4305300"/>
            <a:ext cx="247650" cy="247650"/>
          </a:xfrm>
          <a:prstGeom prst="ellipse">
            <a:avLst/>
          </a:prstGeom>
          <a:solidFill>
            <a:srgbClr val="EA580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/>
            <a:r>
              <a:rPr lang="en-US" altLang="ko-KR" sz="1200" b="1">
                <a:solidFill>
                  <a:srgbClr val="FFFFFF"/>
                </a:solidFill>
                <a:latin typeface="FEF3C7"/>
              </a:rPr>
              <a:t>2</a:t>
            </a:r>
            <a:endParaRPr lang="ko-KR" altLang="en-US" sz="1200" b="1">
              <a:solidFill>
                <a:srgbClr val="FFFFFF"/>
              </a:solidFill>
              <a:latin typeface="FEF3C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86B36E9-0CC5-80C4-5DF2-18103FF3C362}"/>
              </a:ext>
            </a:extLst>
          </p:cNvPr>
          <p:cNvSpPr txBox="1"/>
          <p:nvPr/>
        </p:nvSpPr>
        <p:spPr>
          <a:xfrm>
            <a:off x="3724275" y="4000500"/>
            <a:ext cx="2209800" cy="8572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nn-NO" altLang="ko-KR" sz="1700" b="1">
                <a:solidFill>
                  <a:srgbClr val="1F2A44"/>
                </a:solidFill>
                <a:latin typeface="FEF3C7"/>
              </a:rPr>
              <a:t>175 ns</a:t>
            </a:r>
          </a:p>
          <a:p>
            <a:r>
              <a:rPr lang="nn-NO" altLang="ko-KR" sz="1700" b="1">
                <a:solidFill>
                  <a:srgbClr val="1F2A44"/>
                </a:solidFill>
                <a:latin typeface="FEF3C7"/>
              </a:rPr>
              <a:t>q_reg = 80</a:t>
            </a:r>
            <a:endParaRPr lang="ko-KR" altLang="en-US" sz="1700" b="1">
              <a:solidFill>
                <a:srgbClr val="1F2A44"/>
              </a:solidFill>
              <a:latin typeface="FEF3C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14EB6697-CDF8-55B8-86D3-24535E227470}"/>
              </a:ext>
            </a:extLst>
          </p:cNvPr>
          <p:cNvSpPr/>
          <p:nvPr/>
        </p:nvSpPr>
        <p:spPr>
          <a:xfrm>
            <a:off x="6153150" y="4000500"/>
            <a:ext cx="2762250" cy="85725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endParaRPr lang="ko-KR" altLang="en-US"/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12E01434-4EAE-F275-BFBD-52E30FD91142}"/>
              </a:ext>
            </a:extLst>
          </p:cNvPr>
          <p:cNvSpPr/>
          <p:nvPr/>
        </p:nvSpPr>
        <p:spPr>
          <a:xfrm>
            <a:off x="6267450" y="4305300"/>
            <a:ext cx="247650" cy="247650"/>
          </a:xfrm>
          <a:prstGeom prst="ellipse">
            <a:avLst/>
          </a:prstGeom>
          <a:solidFill>
            <a:srgbClr val="EA580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/>
            <a:r>
              <a:rPr lang="en-US" altLang="ko-KR" sz="1200" b="1">
                <a:solidFill>
                  <a:srgbClr val="FFFFFF"/>
                </a:solidFill>
                <a:latin typeface="FEF3C7"/>
              </a:rPr>
              <a:t>3</a:t>
            </a:r>
            <a:endParaRPr lang="ko-KR" altLang="en-US" sz="1200" b="1">
              <a:solidFill>
                <a:srgbClr val="FFFFFF"/>
              </a:solidFill>
              <a:latin typeface="FEF3C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0FB68C0-E20A-135F-A9AA-AAD8A4C49ECD}"/>
              </a:ext>
            </a:extLst>
          </p:cNvPr>
          <p:cNvSpPr txBox="1"/>
          <p:nvPr/>
        </p:nvSpPr>
        <p:spPr>
          <a:xfrm>
            <a:off x="6610350" y="4000500"/>
            <a:ext cx="2209800" cy="8572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nn-NO" altLang="ko-KR" sz="1700" b="1">
                <a:solidFill>
                  <a:srgbClr val="1F2A44"/>
                </a:solidFill>
                <a:latin typeface="FEF3C7"/>
              </a:rPr>
              <a:t>185 ns</a:t>
            </a:r>
          </a:p>
          <a:p>
            <a:r>
              <a:rPr lang="nn-NO" altLang="ko-KR" sz="1700" b="1">
                <a:solidFill>
                  <a:srgbClr val="1F2A44"/>
                </a:solidFill>
                <a:latin typeface="FEF3C7"/>
              </a:rPr>
              <a:t>q_reg = c0</a:t>
            </a:r>
            <a:endParaRPr lang="ko-KR" altLang="en-US" sz="1700" b="1">
              <a:solidFill>
                <a:srgbClr val="1F2A44"/>
              </a:solidFill>
              <a:latin typeface="FEF3C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4DD8C855-A2F8-FE9A-1DE1-0E86EEB35AE1}"/>
              </a:ext>
            </a:extLst>
          </p:cNvPr>
          <p:cNvSpPr/>
          <p:nvPr/>
        </p:nvSpPr>
        <p:spPr>
          <a:xfrm>
            <a:off x="9048750" y="4000500"/>
            <a:ext cx="2762250" cy="85725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endParaRPr lang="ko-KR" altLang="en-US"/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794AEFCF-0590-57F4-B2AC-20D2936D59D9}"/>
              </a:ext>
            </a:extLst>
          </p:cNvPr>
          <p:cNvSpPr/>
          <p:nvPr/>
        </p:nvSpPr>
        <p:spPr>
          <a:xfrm>
            <a:off x="9163050" y="4305300"/>
            <a:ext cx="247650" cy="247650"/>
          </a:xfrm>
          <a:prstGeom prst="ellipse">
            <a:avLst/>
          </a:prstGeom>
          <a:solidFill>
            <a:srgbClr val="EA580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/>
            <a:r>
              <a:rPr lang="en-US" altLang="ko-KR" sz="1200" b="1">
                <a:solidFill>
                  <a:srgbClr val="FFFFFF"/>
                </a:solidFill>
                <a:latin typeface="FEF3C7"/>
              </a:rPr>
              <a:t>4</a:t>
            </a:r>
            <a:endParaRPr lang="ko-KR" altLang="en-US" sz="1200" b="1">
              <a:solidFill>
                <a:srgbClr val="FFFFFF"/>
              </a:solidFill>
              <a:latin typeface="FEF3C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F8D9663-36CB-EAB8-D8C7-F36C1C6BCFF2}"/>
              </a:ext>
            </a:extLst>
          </p:cNvPr>
          <p:cNvSpPr txBox="1"/>
          <p:nvPr/>
        </p:nvSpPr>
        <p:spPr>
          <a:xfrm>
            <a:off x="9505950" y="4000500"/>
            <a:ext cx="2209800" cy="8572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pt-BR" altLang="ko-KR" sz="1700" b="1">
                <a:solidFill>
                  <a:srgbClr val="1F2A44"/>
                </a:solidFill>
                <a:latin typeface="FEF3C7"/>
              </a:rPr>
              <a:t>195 ns</a:t>
            </a:r>
          </a:p>
          <a:p>
            <a:r>
              <a:rPr lang="pt-BR" altLang="ko-KR" sz="1700" b="1">
                <a:solidFill>
                  <a:srgbClr val="1F2A44"/>
                </a:solidFill>
                <a:latin typeface="FEF3C7"/>
              </a:rPr>
              <a:t>q_reg = e0</a:t>
            </a:r>
            <a:endParaRPr lang="ko-KR" altLang="en-US" sz="1700" b="1">
              <a:solidFill>
                <a:srgbClr val="1F2A44"/>
              </a:solidFill>
              <a:latin typeface="FEF3C7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AF60CF47-7D27-E07C-BC0C-6A5A58C27221}"/>
              </a:ext>
            </a:extLst>
          </p:cNvPr>
          <p:cNvSpPr/>
          <p:nvPr/>
        </p:nvSpPr>
        <p:spPr>
          <a:xfrm>
            <a:off x="381000" y="5048250"/>
            <a:ext cx="11430000" cy="571500"/>
          </a:xfrm>
          <a:prstGeom prst="rect">
            <a:avLst/>
          </a:prstGeom>
          <a:solidFill>
            <a:srgbClr val="EFF6FF"/>
          </a:solidFill>
          <a:ln w="12700">
            <a:solidFill>
              <a:srgbClr val="93C5F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FDB66E5-66A8-3869-F754-5B56C59DA6F1}"/>
              </a:ext>
            </a:extLst>
          </p:cNvPr>
          <p:cNvSpPr txBox="1"/>
          <p:nvPr/>
        </p:nvSpPr>
        <p:spPr>
          <a:xfrm>
            <a:off x="514350" y="5048250"/>
            <a:ext cx="11201400" cy="57150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altLang="ko-KR" sz="1700" b="1">
                <a:solidFill>
                  <a:srgbClr val="1E3A8A"/>
                </a:solidFill>
                <a:latin typeface="FEF3C7"/>
              </a:rPr>
              <a:t>edge </a:t>
            </a:r>
            <a:r>
              <a:rPr lang="ko-KR" altLang="en-US" sz="1700" b="1">
                <a:solidFill>
                  <a:srgbClr val="1E3A8A"/>
                </a:solidFill>
                <a:latin typeface="FEF3C7"/>
              </a:rPr>
              <a:t>사이 변화 → 다음 </a:t>
            </a:r>
            <a:r>
              <a:rPr lang="en-US" altLang="ko-KR" sz="1700" b="1">
                <a:solidFill>
                  <a:srgbClr val="1E3A8A"/>
                </a:solidFill>
                <a:latin typeface="FEF3C7"/>
              </a:rPr>
              <a:t>posedge</a:t>
            </a:r>
            <a:r>
              <a:rPr lang="ko-KR" altLang="en-US" sz="1700" b="1">
                <a:solidFill>
                  <a:srgbClr val="1E3A8A"/>
                </a:solidFill>
                <a:latin typeface="FEF3C7"/>
              </a:rPr>
              <a:t>에서 </a:t>
            </a:r>
            <a:r>
              <a:rPr lang="en-US" altLang="ko-KR" sz="1700" b="1">
                <a:solidFill>
                  <a:srgbClr val="1E3A8A"/>
                </a:solidFill>
                <a:latin typeface="FEF3C7"/>
              </a:rPr>
              <a:t>q_reg[7]</a:t>
            </a:r>
            <a:r>
              <a:rPr lang="ko-KR" altLang="en-US" sz="1700" b="1">
                <a:solidFill>
                  <a:srgbClr val="1E3A8A"/>
                </a:solidFill>
                <a:latin typeface="FEF3C7"/>
              </a:rPr>
              <a:t>로 </a:t>
            </a:r>
            <a:r>
              <a:rPr lang="en-US" altLang="ko-KR" sz="1700" b="1">
                <a:solidFill>
                  <a:srgbClr val="1E3A8A"/>
                </a:solidFill>
                <a:latin typeface="FEF3C7"/>
              </a:rPr>
              <a:t>sampling, MSB</a:t>
            </a:r>
            <a:r>
              <a:rPr lang="ko-KR" altLang="en-US" sz="1700" b="1">
                <a:solidFill>
                  <a:srgbClr val="1E3A8A"/>
                </a:solidFill>
                <a:latin typeface="FEF3C7"/>
              </a:rPr>
              <a:t>부터 </a:t>
            </a:r>
            <a:r>
              <a:rPr lang="en-US" altLang="ko-KR" sz="1700" b="1">
                <a:solidFill>
                  <a:srgbClr val="1E3A8A"/>
                </a:solidFill>
                <a:latin typeface="FEF3C7"/>
              </a:rPr>
              <a:t>1 </a:t>
            </a:r>
            <a:r>
              <a:rPr lang="ko-KR" altLang="en-US" sz="1700" b="1">
                <a:solidFill>
                  <a:srgbClr val="1E3A8A"/>
                </a:solidFill>
                <a:latin typeface="FEF3C7"/>
              </a:rPr>
              <a:t>누적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34DF312-707E-72A0-B5F0-3E004D1D71B4}"/>
              </a:ext>
            </a:extLst>
          </p:cNvPr>
          <p:cNvSpPr txBox="1"/>
          <p:nvPr/>
        </p:nvSpPr>
        <p:spPr>
          <a:xfrm>
            <a:off x="10668000" y="6591300"/>
            <a:ext cx="1143000" cy="19050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pPr algn="r"/>
            <a:r>
              <a:rPr lang="en-US" altLang="ko-KR" sz="1100">
                <a:solidFill>
                  <a:srgbClr val="94A3B8"/>
                </a:solidFill>
                <a:latin typeface="FEF3C7"/>
              </a:rPr>
              <a:t>36 / 39</a:t>
            </a:r>
            <a:endParaRPr lang="ko-KR" altLang="en-US" sz="1100">
              <a:solidFill>
                <a:srgbClr val="94A3B8"/>
              </a:solidFill>
              <a:latin typeface="FEF3C7"/>
            </a:endParaRPr>
          </a:p>
        </p:txBody>
      </p:sp>
    </p:spTree>
    <p:extLst>
      <p:ext uri="{BB962C8B-B14F-4D97-AF65-F5344CB8AC3E}">
        <p14:creationId xmlns:p14="http://schemas.microsoft.com/office/powerpoint/2010/main" val="182313556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633E1C8-AB39-53A4-EF64-09A60413F0CF}"/>
              </a:ext>
            </a:extLst>
          </p:cNvPr>
          <p:cNvSpPr txBox="1"/>
          <p:nvPr/>
        </p:nvSpPr>
        <p:spPr>
          <a:xfrm>
            <a:off x="381000" y="133350"/>
            <a:ext cx="9525000" cy="2095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altLang="ko-KR" sz="1300" b="1">
                <a:solidFill>
                  <a:srgbClr val="2563EB"/>
                </a:solidFill>
                <a:latin typeface="FEF3C7"/>
              </a:rPr>
              <a:t>06  ·  Homework-2 </a:t>
            </a:r>
            <a:r>
              <a:rPr lang="ko-KR" altLang="en-US" sz="1300" b="1">
                <a:solidFill>
                  <a:srgbClr val="2563EB"/>
                </a:solidFill>
                <a:latin typeface="FEF3C7"/>
              </a:rPr>
              <a:t>시뮬레이션  </a:t>
            </a:r>
            <a:r>
              <a:rPr lang="en-US" altLang="ko-KR" sz="1300" b="1">
                <a:solidFill>
                  <a:srgbClr val="2563EB"/>
                </a:solidFill>
                <a:latin typeface="FEF3C7"/>
              </a:rPr>
              <a:t>·  </a:t>
            </a:r>
            <a:r>
              <a:rPr lang="ko-KR" altLang="en-US" sz="1300" b="1">
                <a:solidFill>
                  <a:srgbClr val="2563EB"/>
                </a:solidFill>
                <a:latin typeface="FEF3C7"/>
              </a:rPr>
              <a:t>최소 유지 시간 </a:t>
            </a:r>
            <a:r>
              <a:rPr lang="en-US" altLang="ko-KR" sz="1300" b="1">
                <a:solidFill>
                  <a:srgbClr val="2563EB"/>
                </a:solidFill>
                <a:latin typeface="FEF3C7"/>
              </a:rPr>
              <a:t>· </a:t>
            </a:r>
            <a:r>
              <a:rPr lang="ko-KR" altLang="en-US" sz="1300" b="1">
                <a:solidFill>
                  <a:srgbClr val="2563EB"/>
                </a:solidFill>
                <a:latin typeface="FEF3C7"/>
              </a:rPr>
              <a:t>실측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F64E8E-AFE4-AB4A-85FD-18AEC96DEC2A}"/>
              </a:ext>
            </a:extLst>
          </p:cNvPr>
          <p:cNvSpPr txBox="1"/>
          <p:nvPr/>
        </p:nvSpPr>
        <p:spPr>
          <a:xfrm>
            <a:off x="381000" y="342900"/>
            <a:ext cx="10096500" cy="4381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altLang="ko-KR" sz="2600" b="1">
                <a:solidFill>
                  <a:srgbClr val="0F172A"/>
                </a:solidFill>
                <a:latin typeface="FEF3C7"/>
              </a:rPr>
              <a:t>Pulses of 40 ns and 60 ns Are Rejected, 83 ns and Longer Pass</a:t>
            </a:r>
            <a:endParaRPr lang="ko-KR" altLang="en-US" sz="2600" b="1">
              <a:solidFill>
                <a:srgbClr val="0F172A"/>
              </a:solidFill>
              <a:latin typeface="FEF3C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E11826C-13E0-764F-619C-AD01A347E89D}"/>
              </a:ext>
            </a:extLst>
          </p:cNvPr>
          <p:cNvSpPr/>
          <p:nvPr/>
        </p:nvSpPr>
        <p:spPr>
          <a:xfrm>
            <a:off x="381000" y="819150"/>
            <a:ext cx="666750" cy="381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04F640-BEF2-0A30-4512-F91A4B01CBBF}"/>
              </a:ext>
            </a:extLst>
          </p:cNvPr>
          <p:cNvSpPr txBox="1"/>
          <p:nvPr/>
        </p:nvSpPr>
        <p:spPr>
          <a:xfrm>
            <a:off x="10572750" y="133350"/>
            <a:ext cx="1238250" cy="60960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pPr algn="r"/>
            <a:r>
              <a:rPr lang="en-US" altLang="ko-KR" sz="4000" b="1">
                <a:solidFill>
                  <a:srgbClr val="BFDBFE"/>
                </a:solidFill>
                <a:latin typeface="FEF3C7"/>
              </a:rPr>
              <a:t>06</a:t>
            </a:r>
            <a:endParaRPr lang="ko-KR" altLang="en-US" sz="4000" b="1">
              <a:solidFill>
                <a:srgbClr val="BFDBFE"/>
              </a:solidFill>
              <a:latin typeface="FEF3C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EC1713C-C411-3E2D-6079-21BB3C951E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7301" y="1028700"/>
            <a:ext cx="8917398" cy="123599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7D5306D-458B-1A30-6056-DF9A31E0C43B}"/>
              </a:ext>
            </a:extLst>
          </p:cNvPr>
          <p:cNvSpPr txBox="1"/>
          <p:nvPr/>
        </p:nvSpPr>
        <p:spPr>
          <a:xfrm>
            <a:off x="2797969" y="2305050"/>
            <a:ext cx="1333500" cy="22860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pPr algn="ctr"/>
            <a:r>
              <a:rPr lang="ko-KR" altLang="en-US" sz="1600" b="1">
                <a:solidFill>
                  <a:srgbClr val="DC2626"/>
                </a:solidFill>
                <a:latin typeface="FEF3C7"/>
              </a:rPr>
              <a:t>약 </a:t>
            </a:r>
            <a:r>
              <a:rPr lang="en-US" altLang="ko-KR" sz="1600" b="1">
                <a:solidFill>
                  <a:srgbClr val="DC2626"/>
                </a:solidFill>
                <a:latin typeface="FEF3C7"/>
              </a:rPr>
              <a:t>40 ns ✗</a:t>
            </a:r>
            <a:endParaRPr lang="ko-KR" altLang="en-US" sz="1600" b="1">
              <a:solidFill>
                <a:srgbClr val="DC2626"/>
              </a:solidFill>
              <a:latin typeface="FEF3C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A47F56B-698B-85DB-5F9E-77B3E6D3381C}"/>
              </a:ext>
            </a:extLst>
          </p:cNvPr>
          <p:cNvSpPr txBox="1"/>
          <p:nvPr/>
        </p:nvSpPr>
        <p:spPr>
          <a:xfrm>
            <a:off x="6053368" y="2305050"/>
            <a:ext cx="1333500" cy="22860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pPr algn="ctr"/>
            <a:r>
              <a:rPr lang="ko-KR" altLang="en-US" sz="1600" b="1">
                <a:solidFill>
                  <a:srgbClr val="16A34A"/>
                </a:solidFill>
                <a:latin typeface="FEF3C7"/>
              </a:rPr>
              <a:t> </a:t>
            </a:r>
            <a:r>
              <a:rPr lang="en-US" altLang="ko-KR" sz="1600" b="1">
                <a:solidFill>
                  <a:srgbClr val="16A34A"/>
                </a:solidFill>
                <a:latin typeface="FEF3C7"/>
              </a:rPr>
              <a:t>131 ns ✓</a:t>
            </a:r>
            <a:endParaRPr lang="ko-KR" altLang="en-US" sz="1600" b="1">
              <a:solidFill>
                <a:srgbClr val="16A34A"/>
              </a:solidFill>
              <a:latin typeface="FEF3C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0ED183D-E49C-78B9-7BA3-3D2DBCD8D33F}"/>
              </a:ext>
            </a:extLst>
          </p:cNvPr>
          <p:cNvSpPr txBox="1"/>
          <p:nvPr/>
        </p:nvSpPr>
        <p:spPr>
          <a:xfrm>
            <a:off x="9638302" y="2305050"/>
            <a:ext cx="1333500" cy="22860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pPr algn="ctr"/>
            <a:r>
              <a:rPr lang="ko-KR" altLang="en-US" sz="1600" b="1">
                <a:solidFill>
                  <a:srgbClr val="16A34A"/>
                </a:solidFill>
                <a:latin typeface="FEF3C7"/>
              </a:rPr>
              <a:t> </a:t>
            </a:r>
            <a:r>
              <a:rPr lang="en-US" altLang="ko-KR" sz="1600" b="1">
                <a:solidFill>
                  <a:srgbClr val="16A34A"/>
                </a:solidFill>
                <a:latin typeface="FEF3C7"/>
              </a:rPr>
              <a:t>83 ns ✓</a:t>
            </a:r>
            <a:endParaRPr lang="ko-KR" altLang="en-US" sz="1600" b="1">
              <a:solidFill>
                <a:srgbClr val="16A34A"/>
              </a:solidFill>
              <a:latin typeface="FEF3C7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5E798251-9EF7-A3D4-B431-2CC2FAE1AF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2266" y="2762250"/>
            <a:ext cx="8867468" cy="123597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97542F6-3C60-CAF8-D906-0764D8507FB9}"/>
              </a:ext>
            </a:extLst>
          </p:cNvPr>
          <p:cNvSpPr txBox="1"/>
          <p:nvPr/>
        </p:nvSpPr>
        <p:spPr>
          <a:xfrm>
            <a:off x="4870040" y="4038600"/>
            <a:ext cx="1333500" cy="22860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pPr algn="ctr"/>
            <a:r>
              <a:rPr lang="en-US" altLang="ko-KR" sz="1600" b="1">
                <a:solidFill>
                  <a:srgbClr val="DC2626"/>
                </a:solidFill>
                <a:latin typeface="FEF3C7"/>
              </a:rPr>
              <a:t>60 ns ✗</a:t>
            </a:r>
            <a:endParaRPr lang="ko-KR" altLang="en-US" sz="1600" b="1">
              <a:solidFill>
                <a:srgbClr val="DC2626"/>
              </a:solidFill>
              <a:latin typeface="FEF3C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AC47B44-10F3-6683-2D65-37CC972A1AB5}"/>
              </a:ext>
            </a:extLst>
          </p:cNvPr>
          <p:cNvSpPr txBox="1"/>
          <p:nvPr/>
        </p:nvSpPr>
        <p:spPr>
          <a:xfrm>
            <a:off x="8265242" y="4038600"/>
            <a:ext cx="1333500" cy="22860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pPr algn="ctr"/>
            <a:r>
              <a:rPr lang="ko-KR" altLang="en-US" sz="1600" b="1">
                <a:solidFill>
                  <a:srgbClr val="16A34A"/>
                </a:solidFill>
                <a:latin typeface="FEF3C7"/>
              </a:rPr>
              <a:t> </a:t>
            </a:r>
            <a:r>
              <a:rPr lang="en-US" altLang="ko-KR" sz="1600" b="1">
                <a:solidFill>
                  <a:srgbClr val="16A34A"/>
                </a:solidFill>
                <a:latin typeface="FEF3C7"/>
              </a:rPr>
              <a:t>131 ns ✓</a:t>
            </a:r>
            <a:endParaRPr lang="ko-KR" altLang="en-US" sz="1600" b="1">
              <a:solidFill>
                <a:srgbClr val="16A34A"/>
              </a:solidFill>
              <a:latin typeface="FEF3C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031B66A-54FC-CBEA-1611-6F2F72C78A39}"/>
              </a:ext>
            </a:extLst>
          </p:cNvPr>
          <p:cNvSpPr/>
          <p:nvPr/>
        </p:nvSpPr>
        <p:spPr>
          <a:xfrm>
            <a:off x="381000" y="4572000"/>
            <a:ext cx="5619750" cy="762000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1668314-F258-9C9A-79C2-294B379E3906}"/>
              </a:ext>
            </a:extLst>
          </p:cNvPr>
          <p:cNvSpPr txBox="1"/>
          <p:nvPr/>
        </p:nvSpPr>
        <p:spPr>
          <a:xfrm>
            <a:off x="514350" y="4572000"/>
            <a:ext cx="5391150" cy="76200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altLang="ko-KR" sz="1700" b="1">
                <a:solidFill>
                  <a:srgbClr val="DC2626"/>
                </a:solidFill>
                <a:latin typeface="FEF3C7"/>
              </a:rPr>
              <a:t>o_btn </a:t>
            </a:r>
            <a:r>
              <a:rPr lang="ko-KR" altLang="en-US" sz="1700" b="1">
                <a:solidFill>
                  <a:srgbClr val="DC2626"/>
                </a:solidFill>
                <a:latin typeface="FEF3C7"/>
              </a:rPr>
              <a:t>없음</a:t>
            </a:r>
          </a:p>
          <a:p>
            <a:r>
              <a:rPr lang="ko-KR" altLang="en-US" sz="1700" b="1">
                <a:solidFill>
                  <a:srgbClr val="DC2626"/>
                </a:solidFill>
                <a:latin typeface="FEF3C7"/>
              </a:rPr>
              <a:t> </a:t>
            </a:r>
            <a:r>
              <a:rPr lang="en-US" altLang="ko-KR" sz="1700" b="1">
                <a:solidFill>
                  <a:srgbClr val="DC2626"/>
                </a:solidFill>
                <a:latin typeface="FEF3C7"/>
              </a:rPr>
              <a:t>40 ns · 60 ns </a:t>
            </a:r>
            <a:endParaRPr lang="ko-KR" altLang="en-US" sz="1700" b="1">
              <a:solidFill>
                <a:srgbClr val="DC2626"/>
              </a:solidFill>
              <a:latin typeface="FEF3C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755B5C73-28CD-9353-A27E-4439F1E3470F}"/>
              </a:ext>
            </a:extLst>
          </p:cNvPr>
          <p:cNvSpPr/>
          <p:nvPr/>
        </p:nvSpPr>
        <p:spPr>
          <a:xfrm>
            <a:off x="6191250" y="4572000"/>
            <a:ext cx="5619750" cy="76200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A0C477A-71DC-341C-0770-E455F3FD3F1E}"/>
              </a:ext>
            </a:extLst>
          </p:cNvPr>
          <p:cNvSpPr txBox="1"/>
          <p:nvPr/>
        </p:nvSpPr>
        <p:spPr>
          <a:xfrm>
            <a:off x="6324600" y="4572000"/>
            <a:ext cx="5391150" cy="76200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altLang="ko-KR" sz="1700" b="1">
                <a:solidFill>
                  <a:srgbClr val="16A34A"/>
                </a:solidFill>
                <a:latin typeface="FEF3C7"/>
              </a:rPr>
              <a:t>o_btn 1 tick</a:t>
            </a:r>
          </a:p>
          <a:p>
            <a:r>
              <a:rPr lang="ko-KR" altLang="en-US" sz="1700" b="1">
                <a:solidFill>
                  <a:srgbClr val="16A34A"/>
                </a:solidFill>
                <a:latin typeface="FEF3C7"/>
              </a:rPr>
              <a:t> </a:t>
            </a:r>
            <a:r>
              <a:rPr lang="en-US" altLang="ko-KR" sz="1700" b="1">
                <a:solidFill>
                  <a:srgbClr val="16A34A"/>
                </a:solidFill>
                <a:latin typeface="FEF3C7"/>
              </a:rPr>
              <a:t>83 ns · 131 ns</a:t>
            </a:r>
            <a:endParaRPr lang="ko-KR" altLang="en-US" sz="1700" b="1">
              <a:solidFill>
                <a:srgbClr val="16A34A"/>
              </a:solidFill>
              <a:latin typeface="FEF3C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1A87979-C2E1-4B29-CB90-3BC9F1B52018}"/>
              </a:ext>
            </a:extLst>
          </p:cNvPr>
          <p:cNvSpPr txBox="1"/>
          <p:nvPr/>
        </p:nvSpPr>
        <p:spPr>
          <a:xfrm>
            <a:off x="10668000" y="6591300"/>
            <a:ext cx="1143000" cy="19050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pPr algn="r"/>
            <a:r>
              <a:rPr lang="en-US" altLang="ko-KR" sz="1100">
                <a:solidFill>
                  <a:srgbClr val="94A3B8"/>
                </a:solidFill>
                <a:latin typeface="FEF3C7"/>
              </a:rPr>
              <a:t>37 / 39</a:t>
            </a:r>
            <a:endParaRPr lang="ko-KR" altLang="en-US" sz="1100">
              <a:solidFill>
                <a:srgbClr val="94A3B8"/>
              </a:solidFill>
              <a:latin typeface="FEF3C7"/>
            </a:endParaRPr>
          </a:p>
        </p:txBody>
      </p:sp>
    </p:spTree>
    <p:extLst>
      <p:ext uri="{BB962C8B-B14F-4D97-AF65-F5344CB8AC3E}">
        <p14:creationId xmlns:p14="http://schemas.microsoft.com/office/powerpoint/2010/main" val="220119884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F78009C-7DCB-3E6B-D2DC-B18FE96C1C46}"/>
              </a:ext>
            </a:extLst>
          </p:cNvPr>
          <p:cNvSpPr txBox="1"/>
          <p:nvPr/>
        </p:nvSpPr>
        <p:spPr>
          <a:xfrm>
            <a:off x="381000" y="133350"/>
            <a:ext cx="9525000" cy="2095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altLang="ko-KR" sz="1300" b="1">
                <a:solidFill>
                  <a:srgbClr val="2563EB"/>
                </a:solidFill>
                <a:latin typeface="FEF3C7"/>
              </a:rPr>
              <a:t>06  ·  Homework-2 </a:t>
            </a:r>
            <a:r>
              <a:rPr lang="ko-KR" altLang="en-US" sz="1300" b="1">
                <a:solidFill>
                  <a:srgbClr val="2563EB"/>
                </a:solidFill>
                <a:latin typeface="FEF3C7"/>
              </a:rPr>
              <a:t>시뮬레이션  </a:t>
            </a:r>
            <a:r>
              <a:rPr lang="en-US" altLang="ko-KR" sz="1300" b="1">
                <a:solidFill>
                  <a:srgbClr val="2563EB"/>
                </a:solidFill>
                <a:latin typeface="FEF3C7"/>
              </a:rPr>
              <a:t>·  </a:t>
            </a:r>
            <a:r>
              <a:rPr lang="ko-KR" altLang="en-US" sz="1300" b="1">
                <a:solidFill>
                  <a:srgbClr val="2563EB"/>
                </a:solidFill>
                <a:latin typeface="FEF3C7"/>
              </a:rPr>
              <a:t>최소 유지 시간 </a:t>
            </a:r>
            <a:r>
              <a:rPr lang="en-US" altLang="ko-KR" sz="1300" b="1">
                <a:solidFill>
                  <a:srgbClr val="2563EB"/>
                </a:solidFill>
                <a:latin typeface="FEF3C7"/>
              </a:rPr>
              <a:t>· </a:t>
            </a:r>
            <a:r>
              <a:rPr lang="ko-KR" altLang="en-US" sz="1300" b="1">
                <a:solidFill>
                  <a:srgbClr val="2563EB"/>
                </a:solidFill>
                <a:latin typeface="FEF3C7"/>
              </a:rPr>
              <a:t>조건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CEBE20-C298-FEAE-202C-65AA0DD75664}"/>
              </a:ext>
            </a:extLst>
          </p:cNvPr>
          <p:cNvSpPr txBox="1"/>
          <p:nvPr/>
        </p:nvSpPr>
        <p:spPr>
          <a:xfrm>
            <a:off x="381000" y="342900"/>
            <a:ext cx="10096500" cy="4381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altLang="ko-KR" sz="2600" b="1">
                <a:solidFill>
                  <a:srgbClr val="0F172A"/>
                </a:solidFill>
                <a:latin typeface="FEF3C7"/>
              </a:rPr>
              <a:t>A Tick Needs i_btn High Across 8 Rising Edges</a:t>
            </a:r>
            <a:endParaRPr lang="ko-KR" altLang="en-US" sz="2600" b="1">
              <a:solidFill>
                <a:srgbClr val="0F172A"/>
              </a:solidFill>
              <a:latin typeface="FEF3C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3573B46-CCDF-0417-39BF-FFCE43772290}"/>
              </a:ext>
            </a:extLst>
          </p:cNvPr>
          <p:cNvSpPr/>
          <p:nvPr/>
        </p:nvSpPr>
        <p:spPr>
          <a:xfrm>
            <a:off x="381000" y="819150"/>
            <a:ext cx="666750" cy="381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8475A9-1F7F-463E-5583-4A886EDF02A3}"/>
              </a:ext>
            </a:extLst>
          </p:cNvPr>
          <p:cNvSpPr txBox="1"/>
          <p:nvPr/>
        </p:nvSpPr>
        <p:spPr>
          <a:xfrm>
            <a:off x="10572750" y="133350"/>
            <a:ext cx="1238250" cy="60960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pPr algn="r"/>
            <a:r>
              <a:rPr lang="en-US" altLang="ko-KR" sz="4000" b="1">
                <a:solidFill>
                  <a:srgbClr val="BFDBFE"/>
                </a:solidFill>
                <a:latin typeface="FEF3C7"/>
              </a:rPr>
              <a:t>06</a:t>
            </a:r>
            <a:endParaRPr lang="ko-KR" altLang="en-US" sz="4000" b="1">
              <a:solidFill>
                <a:srgbClr val="BFDBFE"/>
              </a:solidFill>
              <a:latin typeface="FEF3C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ECFB270-C5B6-360E-04E8-9AA374A39299}"/>
              </a:ext>
            </a:extLst>
          </p:cNvPr>
          <p:cNvSpPr txBox="1"/>
          <p:nvPr/>
        </p:nvSpPr>
        <p:spPr>
          <a:xfrm>
            <a:off x="381000" y="1447800"/>
            <a:ext cx="762000" cy="2095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en-US" altLang="ko-KR" sz="1600" b="1">
                <a:solidFill>
                  <a:srgbClr val="475569"/>
                </a:solidFill>
                <a:latin typeface="FEF3C7"/>
              </a:rPr>
              <a:t>clk</a:t>
            </a:r>
            <a:endParaRPr lang="ko-KR" altLang="en-US" sz="1600" b="1">
              <a:solidFill>
                <a:srgbClr val="475569"/>
              </a:solidFill>
              <a:latin typeface="FEF3C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C70FC7-18B3-FCAE-594A-06C866711914}"/>
              </a:ext>
            </a:extLst>
          </p:cNvPr>
          <p:cNvSpPr txBox="1"/>
          <p:nvPr/>
        </p:nvSpPr>
        <p:spPr>
          <a:xfrm>
            <a:off x="381000" y="2114550"/>
            <a:ext cx="762000" cy="2095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en-US" altLang="ko-KR" sz="1600" b="1">
                <a:solidFill>
                  <a:srgbClr val="DC2626"/>
                </a:solidFill>
                <a:latin typeface="FEF3C7"/>
              </a:rPr>
              <a:t>60 ns</a:t>
            </a:r>
            <a:endParaRPr lang="ko-KR" altLang="en-US" sz="1600" b="1">
              <a:solidFill>
                <a:srgbClr val="DC2626"/>
              </a:solidFill>
              <a:latin typeface="FEF3C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D440B9-1531-A72B-E386-E8A2401DA7CD}"/>
              </a:ext>
            </a:extLst>
          </p:cNvPr>
          <p:cNvSpPr txBox="1"/>
          <p:nvPr/>
        </p:nvSpPr>
        <p:spPr>
          <a:xfrm>
            <a:off x="381000" y="2781300"/>
            <a:ext cx="762000" cy="2095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en-US" altLang="ko-KR" sz="1600" b="1">
                <a:solidFill>
                  <a:srgbClr val="16A34A"/>
                </a:solidFill>
                <a:latin typeface="FEF3C7"/>
              </a:rPr>
              <a:t>83 ns</a:t>
            </a:r>
            <a:endParaRPr lang="ko-KR" altLang="en-US" sz="1600" b="1">
              <a:solidFill>
                <a:srgbClr val="16A34A"/>
              </a:solidFill>
              <a:latin typeface="FEF3C7"/>
            </a:endParaRPr>
          </a:p>
        </p:txBody>
      </p:sp>
      <p:sp>
        <p:nvSpPr>
          <p:cNvPr id="9" name="자유형: 도형 8">
            <a:extLst>
              <a:ext uri="{FF2B5EF4-FFF2-40B4-BE49-F238E27FC236}">
                <a16:creationId xmlns:a16="http://schemas.microsoft.com/office/drawing/2014/main" id="{BCDC809A-14C0-ABEA-77C6-EE4BE7CCBB0F}"/>
              </a:ext>
            </a:extLst>
          </p:cNvPr>
          <p:cNvSpPr/>
          <p:nvPr/>
        </p:nvSpPr>
        <p:spPr>
          <a:xfrm>
            <a:off x="1333500" y="1428750"/>
            <a:ext cx="8229601" cy="266701"/>
          </a:xfrm>
          <a:custGeom>
            <a:avLst/>
            <a:gdLst/>
            <a:ahLst/>
            <a:cxnLst/>
            <a:rect l="0" t="0" r="0" b="0"/>
            <a:pathLst>
              <a:path w="8229601" h="266701">
                <a:moveTo>
                  <a:pt x="0" y="266700"/>
                </a:moveTo>
                <a:lnTo>
                  <a:pt x="342900" y="266700"/>
                </a:lnTo>
                <a:lnTo>
                  <a:pt x="342900" y="0"/>
                </a:lnTo>
                <a:lnTo>
                  <a:pt x="685800" y="0"/>
                </a:lnTo>
                <a:lnTo>
                  <a:pt x="685800" y="266700"/>
                </a:lnTo>
                <a:lnTo>
                  <a:pt x="1028700" y="266700"/>
                </a:lnTo>
                <a:lnTo>
                  <a:pt x="1028700" y="0"/>
                </a:lnTo>
                <a:lnTo>
                  <a:pt x="1371600" y="0"/>
                </a:lnTo>
                <a:lnTo>
                  <a:pt x="1371600" y="266700"/>
                </a:lnTo>
                <a:lnTo>
                  <a:pt x="1714500" y="266700"/>
                </a:lnTo>
                <a:lnTo>
                  <a:pt x="1714500" y="0"/>
                </a:lnTo>
                <a:lnTo>
                  <a:pt x="2057400" y="0"/>
                </a:lnTo>
                <a:lnTo>
                  <a:pt x="2057400" y="266700"/>
                </a:lnTo>
                <a:lnTo>
                  <a:pt x="2400300" y="266700"/>
                </a:lnTo>
                <a:lnTo>
                  <a:pt x="2400300" y="0"/>
                </a:lnTo>
                <a:lnTo>
                  <a:pt x="2743200" y="0"/>
                </a:lnTo>
                <a:lnTo>
                  <a:pt x="2743200" y="266700"/>
                </a:lnTo>
                <a:lnTo>
                  <a:pt x="3086100" y="266700"/>
                </a:lnTo>
                <a:lnTo>
                  <a:pt x="3086100" y="0"/>
                </a:lnTo>
                <a:lnTo>
                  <a:pt x="3429000" y="0"/>
                </a:lnTo>
                <a:lnTo>
                  <a:pt x="3429000" y="266700"/>
                </a:lnTo>
                <a:lnTo>
                  <a:pt x="3771900" y="266700"/>
                </a:lnTo>
                <a:lnTo>
                  <a:pt x="3771900" y="0"/>
                </a:lnTo>
                <a:lnTo>
                  <a:pt x="4114800" y="0"/>
                </a:lnTo>
                <a:lnTo>
                  <a:pt x="4114800" y="266700"/>
                </a:lnTo>
                <a:lnTo>
                  <a:pt x="4457700" y="266700"/>
                </a:lnTo>
                <a:lnTo>
                  <a:pt x="4457700" y="0"/>
                </a:lnTo>
                <a:lnTo>
                  <a:pt x="4800600" y="0"/>
                </a:lnTo>
                <a:lnTo>
                  <a:pt x="4800600" y="266700"/>
                </a:lnTo>
                <a:lnTo>
                  <a:pt x="5143500" y="266700"/>
                </a:lnTo>
                <a:lnTo>
                  <a:pt x="5143500" y="0"/>
                </a:lnTo>
                <a:lnTo>
                  <a:pt x="5486400" y="0"/>
                </a:lnTo>
                <a:lnTo>
                  <a:pt x="5486400" y="266700"/>
                </a:lnTo>
                <a:lnTo>
                  <a:pt x="5829300" y="266700"/>
                </a:lnTo>
                <a:lnTo>
                  <a:pt x="5829300" y="0"/>
                </a:lnTo>
                <a:lnTo>
                  <a:pt x="6172200" y="0"/>
                </a:lnTo>
                <a:lnTo>
                  <a:pt x="6172200" y="266700"/>
                </a:lnTo>
                <a:lnTo>
                  <a:pt x="6515100" y="266700"/>
                </a:lnTo>
                <a:lnTo>
                  <a:pt x="6515100" y="0"/>
                </a:lnTo>
                <a:lnTo>
                  <a:pt x="6858000" y="0"/>
                </a:lnTo>
                <a:lnTo>
                  <a:pt x="6858000" y="266700"/>
                </a:lnTo>
                <a:lnTo>
                  <a:pt x="7200900" y="266700"/>
                </a:lnTo>
                <a:lnTo>
                  <a:pt x="7200900" y="0"/>
                </a:lnTo>
                <a:lnTo>
                  <a:pt x="7543800" y="0"/>
                </a:lnTo>
                <a:lnTo>
                  <a:pt x="7543800" y="266700"/>
                </a:lnTo>
                <a:lnTo>
                  <a:pt x="7886700" y="266700"/>
                </a:lnTo>
                <a:lnTo>
                  <a:pt x="7886700" y="0"/>
                </a:lnTo>
                <a:lnTo>
                  <a:pt x="8229600" y="0"/>
                </a:lnTo>
              </a:path>
            </a:pathLst>
          </a:cu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4194A653-76BA-93CE-CE6A-736D280FF84E}"/>
              </a:ext>
            </a:extLst>
          </p:cNvPr>
          <p:cNvCxnSpPr/>
          <p:nvPr/>
        </p:nvCxnSpPr>
        <p:spPr>
          <a:xfrm>
            <a:off x="1676400" y="1333500"/>
            <a:ext cx="0" cy="1809750"/>
          </a:xfrm>
          <a:prstGeom prst="line">
            <a:avLst/>
          </a:prstGeom>
          <a:ln w="12700">
            <a:solidFill>
              <a:srgbClr val="CBD5E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1F75ADB-B781-D11D-B41C-25D4E6F67E07}"/>
              </a:ext>
            </a:extLst>
          </p:cNvPr>
          <p:cNvSpPr txBox="1"/>
          <p:nvPr/>
        </p:nvSpPr>
        <p:spPr>
          <a:xfrm>
            <a:off x="1562100" y="1143000"/>
            <a:ext cx="228600" cy="1714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pPr algn="ctr"/>
            <a:r>
              <a:rPr lang="en-US" altLang="ko-KR" sz="1300" b="1">
                <a:solidFill>
                  <a:srgbClr val="475569"/>
                </a:solidFill>
                <a:latin typeface="FEF3C7"/>
              </a:rPr>
              <a:t>1</a:t>
            </a:r>
            <a:endParaRPr lang="ko-KR" altLang="en-US" sz="1300" b="1">
              <a:solidFill>
                <a:srgbClr val="475569"/>
              </a:solidFill>
              <a:latin typeface="FEF3C7"/>
            </a:endParaRP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01EE5EF8-1D8D-C8D6-05F0-92F14DAA920B}"/>
              </a:ext>
            </a:extLst>
          </p:cNvPr>
          <p:cNvCxnSpPr/>
          <p:nvPr/>
        </p:nvCxnSpPr>
        <p:spPr>
          <a:xfrm>
            <a:off x="2362200" y="1333500"/>
            <a:ext cx="0" cy="1809750"/>
          </a:xfrm>
          <a:prstGeom prst="line">
            <a:avLst/>
          </a:prstGeom>
          <a:ln w="12700">
            <a:solidFill>
              <a:srgbClr val="CBD5E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4E9F862-29B0-9B13-52D8-152D959CFBEB}"/>
              </a:ext>
            </a:extLst>
          </p:cNvPr>
          <p:cNvSpPr txBox="1"/>
          <p:nvPr/>
        </p:nvSpPr>
        <p:spPr>
          <a:xfrm>
            <a:off x="2247900" y="1143000"/>
            <a:ext cx="228600" cy="1714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pPr algn="ctr"/>
            <a:r>
              <a:rPr lang="en-US" altLang="ko-KR" sz="1300" b="1">
                <a:solidFill>
                  <a:srgbClr val="475569"/>
                </a:solidFill>
                <a:latin typeface="FEF3C7"/>
              </a:rPr>
              <a:t>2</a:t>
            </a:r>
            <a:endParaRPr lang="ko-KR" altLang="en-US" sz="1300" b="1">
              <a:solidFill>
                <a:srgbClr val="475569"/>
              </a:solidFill>
              <a:latin typeface="FEF3C7"/>
            </a:endParaRPr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F2B879E6-CBE0-EA3B-FB92-02C340CBB60B}"/>
              </a:ext>
            </a:extLst>
          </p:cNvPr>
          <p:cNvCxnSpPr/>
          <p:nvPr/>
        </p:nvCxnSpPr>
        <p:spPr>
          <a:xfrm>
            <a:off x="3048000" y="1333500"/>
            <a:ext cx="0" cy="1809750"/>
          </a:xfrm>
          <a:prstGeom prst="line">
            <a:avLst/>
          </a:prstGeom>
          <a:ln w="12700">
            <a:solidFill>
              <a:srgbClr val="CBD5E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2682D2CC-077A-AD3A-AE43-B84C68B65153}"/>
              </a:ext>
            </a:extLst>
          </p:cNvPr>
          <p:cNvSpPr txBox="1"/>
          <p:nvPr/>
        </p:nvSpPr>
        <p:spPr>
          <a:xfrm>
            <a:off x="2933700" y="1143000"/>
            <a:ext cx="228600" cy="1714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pPr algn="ctr"/>
            <a:r>
              <a:rPr lang="en-US" altLang="ko-KR" sz="1300" b="1">
                <a:solidFill>
                  <a:srgbClr val="475569"/>
                </a:solidFill>
                <a:latin typeface="FEF3C7"/>
              </a:rPr>
              <a:t>3</a:t>
            </a:r>
            <a:endParaRPr lang="ko-KR" altLang="en-US" sz="1300" b="1">
              <a:solidFill>
                <a:srgbClr val="475569"/>
              </a:solidFill>
              <a:latin typeface="FEF3C7"/>
            </a:endParaRP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A53A13A3-D181-199B-D6D1-39360D5D1C0A}"/>
              </a:ext>
            </a:extLst>
          </p:cNvPr>
          <p:cNvCxnSpPr/>
          <p:nvPr/>
        </p:nvCxnSpPr>
        <p:spPr>
          <a:xfrm>
            <a:off x="3733800" y="1333500"/>
            <a:ext cx="0" cy="1809750"/>
          </a:xfrm>
          <a:prstGeom prst="line">
            <a:avLst/>
          </a:prstGeom>
          <a:ln w="12700">
            <a:solidFill>
              <a:srgbClr val="CBD5E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41BF4043-0667-A74D-0230-9FC345738FFE}"/>
              </a:ext>
            </a:extLst>
          </p:cNvPr>
          <p:cNvSpPr txBox="1"/>
          <p:nvPr/>
        </p:nvSpPr>
        <p:spPr>
          <a:xfrm>
            <a:off x="3619500" y="1143000"/>
            <a:ext cx="228600" cy="1714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pPr algn="ctr"/>
            <a:r>
              <a:rPr lang="en-US" altLang="ko-KR" sz="1300" b="1">
                <a:solidFill>
                  <a:srgbClr val="475569"/>
                </a:solidFill>
                <a:latin typeface="FEF3C7"/>
              </a:rPr>
              <a:t>4</a:t>
            </a:r>
            <a:endParaRPr lang="ko-KR" altLang="en-US" sz="1300" b="1">
              <a:solidFill>
                <a:srgbClr val="475569"/>
              </a:solidFill>
              <a:latin typeface="FEF3C7"/>
            </a:endParaRPr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A85B591F-BAF2-BDA8-0CE2-D023E9ACE436}"/>
              </a:ext>
            </a:extLst>
          </p:cNvPr>
          <p:cNvCxnSpPr/>
          <p:nvPr/>
        </p:nvCxnSpPr>
        <p:spPr>
          <a:xfrm>
            <a:off x="4419600" y="1333500"/>
            <a:ext cx="0" cy="1809750"/>
          </a:xfrm>
          <a:prstGeom prst="line">
            <a:avLst/>
          </a:prstGeom>
          <a:ln w="12700">
            <a:solidFill>
              <a:srgbClr val="CBD5E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BB26BD0A-0C32-C688-4BC7-DE925AFB9658}"/>
              </a:ext>
            </a:extLst>
          </p:cNvPr>
          <p:cNvSpPr txBox="1"/>
          <p:nvPr/>
        </p:nvSpPr>
        <p:spPr>
          <a:xfrm>
            <a:off x="4305300" y="1143000"/>
            <a:ext cx="228600" cy="1714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pPr algn="ctr"/>
            <a:r>
              <a:rPr lang="en-US" altLang="ko-KR" sz="1300" b="1">
                <a:solidFill>
                  <a:srgbClr val="475569"/>
                </a:solidFill>
                <a:latin typeface="FEF3C7"/>
              </a:rPr>
              <a:t>5</a:t>
            </a:r>
            <a:endParaRPr lang="ko-KR" altLang="en-US" sz="1300" b="1">
              <a:solidFill>
                <a:srgbClr val="475569"/>
              </a:solidFill>
              <a:latin typeface="FEF3C7"/>
            </a:endParaRPr>
          </a:p>
        </p:txBody>
      </p: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9ED16378-4053-606F-3339-A76AA5B60258}"/>
              </a:ext>
            </a:extLst>
          </p:cNvPr>
          <p:cNvCxnSpPr/>
          <p:nvPr/>
        </p:nvCxnSpPr>
        <p:spPr>
          <a:xfrm>
            <a:off x="5105400" y="1333500"/>
            <a:ext cx="0" cy="1809750"/>
          </a:xfrm>
          <a:prstGeom prst="line">
            <a:avLst/>
          </a:prstGeom>
          <a:ln w="12700">
            <a:solidFill>
              <a:srgbClr val="CBD5E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8BC446ED-0986-2271-7FCD-DF598282A388}"/>
              </a:ext>
            </a:extLst>
          </p:cNvPr>
          <p:cNvSpPr txBox="1"/>
          <p:nvPr/>
        </p:nvSpPr>
        <p:spPr>
          <a:xfrm>
            <a:off x="4991100" y="1143000"/>
            <a:ext cx="228600" cy="1714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pPr algn="ctr"/>
            <a:r>
              <a:rPr lang="en-US" altLang="ko-KR" sz="1300" b="1">
                <a:solidFill>
                  <a:srgbClr val="475569"/>
                </a:solidFill>
                <a:latin typeface="FEF3C7"/>
              </a:rPr>
              <a:t>6</a:t>
            </a:r>
            <a:endParaRPr lang="ko-KR" altLang="en-US" sz="1300" b="1">
              <a:solidFill>
                <a:srgbClr val="475569"/>
              </a:solidFill>
              <a:latin typeface="FEF3C7"/>
            </a:endParaRPr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0AF239D1-6AF3-D3F2-1F0B-85F93510F3AA}"/>
              </a:ext>
            </a:extLst>
          </p:cNvPr>
          <p:cNvCxnSpPr/>
          <p:nvPr/>
        </p:nvCxnSpPr>
        <p:spPr>
          <a:xfrm>
            <a:off x="5791200" y="1333500"/>
            <a:ext cx="0" cy="1809750"/>
          </a:xfrm>
          <a:prstGeom prst="line">
            <a:avLst/>
          </a:prstGeom>
          <a:ln w="12700">
            <a:solidFill>
              <a:srgbClr val="CBD5E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58118F06-253E-1753-D02E-BC1925433F1C}"/>
              </a:ext>
            </a:extLst>
          </p:cNvPr>
          <p:cNvSpPr txBox="1"/>
          <p:nvPr/>
        </p:nvSpPr>
        <p:spPr>
          <a:xfrm>
            <a:off x="5676900" y="1143000"/>
            <a:ext cx="228600" cy="1714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pPr algn="ctr"/>
            <a:r>
              <a:rPr lang="en-US" altLang="ko-KR" sz="1300" b="1">
                <a:solidFill>
                  <a:srgbClr val="475569"/>
                </a:solidFill>
                <a:latin typeface="FEF3C7"/>
              </a:rPr>
              <a:t>7</a:t>
            </a:r>
            <a:endParaRPr lang="ko-KR" altLang="en-US" sz="1300" b="1">
              <a:solidFill>
                <a:srgbClr val="475569"/>
              </a:solidFill>
              <a:latin typeface="FEF3C7"/>
            </a:endParaRP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B5AB7E45-274D-F5CD-9AA1-853CBB2CED7E}"/>
              </a:ext>
            </a:extLst>
          </p:cNvPr>
          <p:cNvCxnSpPr/>
          <p:nvPr/>
        </p:nvCxnSpPr>
        <p:spPr>
          <a:xfrm>
            <a:off x="6477000" y="1333500"/>
            <a:ext cx="0" cy="1809750"/>
          </a:xfrm>
          <a:prstGeom prst="line">
            <a:avLst/>
          </a:prstGeom>
          <a:ln w="12700">
            <a:solidFill>
              <a:srgbClr val="CBD5E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89BB3F39-5DED-D5A6-3B00-5054CF40D4C8}"/>
              </a:ext>
            </a:extLst>
          </p:cNvPr>
          <p:cNvSpPr txBox="1"/>
          <p:nvPr/>
        </p:nvSpPr>
        <p:spPr>
          <a:xfrm>
            <a:off x="6362700" y="1143000"/>
            <a:ext cx="228600" cy="1714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pPr algn="ctr"/>
            <a:r>
              <a:rPr lang="en-US" altLang="ko-KR" sz="1300" b="1">
                <a:solidFill>
                  <a:srgbClr val="475569"/>
                </a:solidFill>
                <a:latin typeface="FEF3C7"/>
              </a:rPr>
              <a:t>8</a:t>
            </a:r>
            <a:endParaRPr lang="ko-KR" altLang="en-US" sz="1300" b="1">
              <a:solidFill>
                <a:srgbClr val="475569"/>
              </a:solidFill>
              <a:latin typeface="FEF3C7"/>
            </a:endParaRPr>
          </a:p>
        </p:txBody>
      </p: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A2F0055E-67D5-30E8-1BD7-B71822833AFA}"/>
              </a:ext>
            </a:extLst>
          </p:cNvPr>
          <p:cNvCxnSpPr/>
          <p:nvPr/>
        </p:nvCxnSpPr>
        <p:spPr>
          <a:xfrm>
            <a:off x="7162800" y="1333500"/>
            <a:ext cx="0" cy="1809750"/>
          </a:xfrm>
          <a:prstGeom prst="line">
            <a:avLst/>
          </a:prstGeom>
          <a:ln w="12700">
            <a:solidFill>
              <a:srgbClr val="CBD5E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자유형: 도형 26">
            <a:extLst>
              <a:ext uri="{FF2B5EF4-FFF2-40B4-BE49-F238E27FC236}">
                <a16:creationId xmlns:a16="http://schemas.microsoft.com/office/drawing/2014/main" id="{1F9F2813-5EA3-9537-7D8B-72E7F8F8DE7C}"/>
              </a:ext>
            </a:extLst>
          </p:cNvPr>
          <p:cNvSpPr/>
          <p:nvPr/>
        </p:nvSpPr>
        <p:spPr>
          <a:xfrm>
            <a:off x="1238250" y="2057400"/>
            <a:ext cx="7334251" cy="323851"/>
          </a:xfrm>
          <a:custGeom>
            <a:avLst/>
            <a:gdLst/>
            <a:ahLst/>
            <a:cxnLst/>
            <a:rect l="0" t="0" r="0" b="0"/>
            <a:pathLst>
              <a:path w="7334251" h="323851">
                <a:moveTo>
                  <a:pt x="0" y="323850"/>
                </a:moveTo>
                <a:lnTo>
                  <a:pt x="228600" y="323850"/>
                </a:lnTo>
                <a:lnTo>
                  <a:pt x="228600" y="0"/>
                </a:lnTo>
                <a:lnTo>
                  <a:pt x="4343400" y="0"/>
                </a:lnTo>
                <a:lnTo>
                  <a:pt x="4343400" y="323850"/>
                </a:lnTo>
                <a:lnTo>
                  <a:pt x="7334250" y="323850"/>
                </a:lnTo>
              </a:path>
            </a:pathLst>
          </a:custGeom>
          <a:ln w="31750">
            <a:solidFill>
              <a:srgbClr val="DC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자유형: 도형 27">
            <a:extLst>
              <a:ext uri="{FF2B5EF4-FFF2-40B4-BE49-F238E27FC236}">
                <a16:creationId xmlns:a16="http://schemas.microsoft.com/office/drawing/2014/main" id="{8D6B37F9-9D07-A091-3912-DFF88DFF985F}"/>
              </a:ext>
            </a:extLst>
          </p:cNvPr>
          <p:cNvSpPr/>
          <p:nvPr/>
        </p:nvSpPr>
        <p:spPr>
          <a:xfrm>
            <a:off x="1238250" y="2724150"/>
            <a:ext cx="7334251" cy="323851"/>
          </a:xfrm>
          <a:custGeom>
            <a:avLst/>
            <a:gdLst/>
            <a:ahLst/>
            <a:cxnLst/>
            <a:rect l="0" t="0" r="0" b="0"/>
            <a:pathLst>
              <a:path w="7334251" h="323851">
                <a:moveTo>
                  <a:pt x="0" y="323850"/>
                </a:moveTo>
                <a:lnTo>
                  <a:pt x="228600" y="323850"/>
                </a:lnTo>
                <a:lnTo>
                  <a:pt x="228600" y="0"/>
                </a:lnTo>
                <a:lnTo>
                  <a:pt x="5924550" y="0"/>
                </a:lnTo>
                <a:lnTo>
                  <a:pt x="5924550" y="323850"/>
                </a:lnTo>
                <a:lnTo>
                  <a:pt x="7334250" y="323850"/>
                </a:lnTo>
              </a:path>
            </a:pathLst>
          </a:custGeom>
          <a:ln w="3175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3EE8289-A4CB-30CD-E23A-B8C92FE4BFD3}"/>
              </a:ext>
            </a:extLst>
          </p:cNvPr>
          <p:cNvSpPr txBox="1"/>
          <p:nvPr/>
        </p:nvSpPr>
        <p:spPr>
          <a:xfrm>
            <a:off x="8763000" y="2114550"/>
            <a:ext cx="3048000" cy="22860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en-US" altLang="ko-KR" sz="1700" b="1">
                <a:solidFill>
                  <a:srgbClr val="DC2626"/>
                </a:solidFill>
                <a:latin typeface="FEF3C7"/>
              </a:rPr>
              <a:t>posedge 6</a:t>
            </a:r>
            <a:r>
              <a:rPr lang="ko-KR" altLang="en-US" sz="1700" b="1">
                <a:solidFill>
                  <a:srgbClr val="DC2626"/>
                </a:solidFill>
                <a:latin typeface="FEF3C7"/>
              </a:rPr>
              <a:t>개 → 제거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6A147CE-3D78-18E3-1DD0-C58840687420}"/>
              </a:ext>
            </a:extLst>
          </p:cNvPr>
          <p:cNvSpPr txBox="1"/>
          <p:nvPr/>
        </p:nvSpPr>
        <p:spPr>
          <a:xfrm>
            <a:off x="8763000" y="2781300"/>
            <a:ext cx="3048000" cy="22860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en-US" altLang="ko-KR" sz="1700" b="1">
                <a:solidFill>
                  <a:srgbClr val="16A34A"/>
                </a:solidFill>
                <a:latin typeface="FEF3C7"/>
              </a:rPr>
              <a:t>posedge 8</a:t>
            </a:r>
            <a:r>
              <a:rPr lang="ko-KR" altLang="en-US" sz="1700" b="1">
                <a:solidFill>
                  <a:srgbClr val="16A34A"/>
                </a:solidFill>
                <a:latin typeface="FEF3C7"/>
              </a:rPr>
              <a:t>개 → </a:t>
            </a:r>
            <a:r>
              <a:rPr lang="en-US" altLang="ko-KR" sz="1700" b="1">
                <a:solidFill>
                  <a:srgbClr val="16A34A"/>
                </a:solidFill>
                <a:latin typeface="FEF3C7"/>
              </a:rPr>
              <a:t>tick</a:t>
            </a:r>
            <a:endParaRPr lang="ko-KR" altLang="en-US" sz="1700" b="1">
              <a:solidFill>
                <a:srgbClr val="16A34A"/>
              </a:solidFill>
              <a:latin typeface="FEF3C7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164D9A65-AF24-1151-C0C9-B7AD9A80FCD8}"/>
              </a:ext>
            </a:extLst>
          </p:cNvPr>
          <p:cNvSpPr/>
          <p:nvPr/>
        </p:nvSpPr>
        <p:spPr>
          <a:xfrm>
            <a:off x="381000" y="3619500"/>
            <a:ext cx="3714750" cy="857250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endParaRPr lang="ko-KR" alt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6BB9CFD-28BB-3659-13E2-D438B85B8779}"/>
              </a:ext>
            </a:extLst>
          </p:cNvPr>
          <p:cNvSpPr txBox="1"/>
          <p:nvPr/>
        </p:nvSpPr>
        <p:spPr>
          <a:xfrm>
            <a:off x="514350" y="3619500"/>
            <a:ext cx="3486150" cy="8572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altLang="ko-KR" b="1">
                <a:solidFill>
                  <a:srgbClr val="DC2626"/>
                </a:solidFill>
                <a:latin typeface="FEF3C7"/>
              </a:rPr>
              <a:t>70 ns </a:t>
            </a:r>
            <a:r>
              <a:rPr lang="ko-KR" altLang="en-US" b="1">
                <a:solidFill>
                  <a:srgbClr val="DC2626"/>
                </a:solidFill>
                <a:latin typeface="FEF3C7"/>
              </a:rPr>
              <a:t>미만</a:t>
            </a:r>
          </a:p>
          <a:p>
            <a:r>
              <a:rPr lang="ko-KR" altLang="en-US" b="1">
                <a:solidFill>
                  <a:srgbClr val="DC2626"/>
                </a:solidFill>
                <a:latin typeface="FEF3C7"/>
              </a:rPr>
              <a:t>항상 제거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4588A78D-CBAA-1514-E787-18267C6C52CC}"/>
              </a:ext>
            </a:extLst>
          </p:cNvPr>
          <p:cNvSpPr/>
          <p:nvPr/>
        </p:nvSpPr>
        <p:spPr>
          <a:xfrm>
            <a:off x="4238625" y="3619500"/>
            <a:ext cx="3714750" cy="857250"/>
          </a:xfrm>
          <a:prstGeom prst="rect">
            <a:avLst/>
          </a:prstGeom>
          <a:solidFill>
            <a:srgbClr val="FFFBEB"/>
          </a:solidFill>
          <a:ln w="12700">
            <a:solidFill>
              <a:srgbClr val="FCD3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endParaRPr lang="ko-KR" alt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97A592B-ABCF-2BA0-CF42-13740D85F270}"/>
              </a:ext>
            </a:extLst>
          </p:cNvPr>
          <p:cNvSpPr txBox="1"/>
          <p:nvPr/>
        </p:nvSpPr>
        <p:spPr>
          <a:xfrm>
            <a:off x="4371975" y="3619500"/>
            <a:ext cx="3486150" cy="8572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altLang="ko-KR" b="1">
                <a:solidFill>
                  <a:srgbClr val="B45309"/>
                </a:solidFill>
                <a:latin typeface="FEF3C7"/>
              </a:rPr>
              <a:t>70 ~ 80 ns</a:t>
            </a:r>
          </a:p>
          <a:p>
            <a:r>
              <a:rPr lang="en-US" altLang="ko-KR" b="1">
                <a:solidFill>
                  <a:srgbClr val="B45309"/>
                </a:solidFill>
                <a:latin typeface="FEF3C7"/>
              </a:rPr>
              <a:t>edge </a:t>
            </a:r>
            <a:r>
              <a:rPr lang="ko-KR" altLang="en-US" b="1">
                <a:solidFill>
                  <a:srgbClr val="B45309"/>
                </a:solidFill>
                <a:latin typeface="FEF3C7"/>
              </a:rPr>
              <a:t>정렬에 의존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D2941EE7-B9CC-C49A-2DFC-0D7185B028E7}"/>
              </a:ext>
            </a:extLst>
          </p:cNvPr>
          <p:cNvSpPr/>
          <p:nvPr/>
        </p:nvSpPr>
        <p:spPr>
          <a:xfrm>
            <a:off x="8096250" y="3619500"/>
            <a:ext cx="3714750" cy="85725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endParaRPr lang="ko-KR" alt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3A10F3C-9F87-F4C8-46F8-56A3A9C6D458}"/>
              </a:ext>
            </a:extLst>
          </p:cNvPr>
          <p:cNvSpPr txBox="1"/>
          <p:nvPr/>
        </p:nvSpPr>
        <p:spPr>
          <a:xfrm>
            <a:off x="8229600" y="3619500"/>
            <a:ext cx="3486150" cy="8572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altLang="ko-KR" b="1">
                <a:solidFill>
                  <a:srgbClr val="16A34A"/>
                </a:solidFill>
                <a:latin typeface="FEF3C7"/>
              </a:rPr>
              <a:t>80 ns </a:t>
            </a:r>
            <a:r>
              <a:rPr lang="ko-KR" altLang="en-US" b="1">
                <a:solidFill>
                  <a:srgbClr val="16A34A"/>
                </a:solidFill>
                <a:latin typeface="FEF3C7"/>
              </a:rPr>
              <a:t>이상</a:t>
            </a:r>
          </a:p>
          <a:p>
            <a:r>
              <a:rPr lang="ko-KR" altLang="en-US" b="1">
                <a:solidFill>
                  <a:srgbClr val="16A34A"/>
                </a:solidFill>
                <a:latin typeface="FEF3C7"/>
              </a:rPr>
              <a:t>항상 통과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3E700F21-B3B2-043C-3CE9-2B5F12AA66FE}"/>
              </a:ext>
            </a:extLst>
          </p:cNvPr>
          <p:cNvSpPr/>
          <p:nvPr/>
        </p:nvSpPr>
        <p:spPr>
          <a:xfrm>
            <a:off x="381000" y="4762500"/>
            <a:ext cx="11430000" cy="609600"/>
          </a:xfrm>
          <a:prstGeom prst="rect">
            <a:avLst/>
          </a:prstGeom>
          <a:solidFill>
            <a:srgbClr val="EFF6FF"/>
          </a:solidFill>
          <a:ln w="12700">
            <a:solidFill>
              <a:srgbClr val="93C5F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endParaRPr lang="ko-KR" alt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77B3B0A-DF2F-9CFB-EBC2-DE7298EDEF22}"/>
              </a:ext>
            </a:extLst>
          </p:cNvPr>
          <p:cNvSpPr txBox="1"/>
          <p:nvPr/>
        </p:nvSpPr>
        <p:spPr>
          <a:xfrm>
            <a:off x="514350" y="4762500"/>
            <a:ext cx="11201400" cy="60960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ko-KR" altLang="en-US" sz="1700" b="1">
                <a:solidFill>
                  <a:srgbClr val="1E3A8A"/>
                </a:solidFill>
                <a:latin typeface="FEF3C7"/>
              </a:rPr>
              <a:t>첫 </a:t>
            </a:r>
            <a:r>
              <a:rPr lang="en-US" altLang="ko-KR" sz="1700" b="1">
                <a:solidFill>
                  <a:srgbClr val="1E3A8A"/>
                </a:solidFill>
                <a:latin typeface="FEF3C7"/>
              </a:rPr>
              <a:t>sampling edge </a:t>
            </a:r>
            <a:r>
              <a:rPr lang="ko-KR" altLang="en-US" sz="1700" b="1">
                <a:solidFill>
                  <a:srgbClr val="1E3A8A"/>
                </a:solidFill>
                <a:latin typeface="FEF3C7"/>
              </a:rPr>
              <a:t>이후 </a:t>
            </a:r>
            <a:r>
              <a:rPr lang="en-US" altLang="ko-KR" sz="1700" b="1">
                <a:solidFill>
                  <a:srgbClr val="1E3A8A"/>
                </a:solidFill>
                <a:latin typeface="FEF3C7"/>
              </a:rPr>
              <a:t>70 ns </a:t>
            </a:r>
            <a:r>
              <a:rPr lang="ko-KR" altLang="en-US" sz="1700" b="1">
                <a:solidFill>
                  <a:srgbClr val="1E3A8A"/>
                </a:solidFill>
                <a:latin typeface="FEF3C7"/>
              </a:rPr>
              <a:t>이상 유지 필요 </a:t>
            </a:r>
            <a:r>
              <a:rPr lang="en-US" altLang="ko-KR" sz="1700" b="1">
                <a:solidFill>
                  <a:srgbClr val="1E3A8A"/>
                </a:solidFill>
                <a:latin typeface="FEF3C7"/>
              </a:rPr>
              <a:t>(8 posedge </a:t>
            </a:r>
            <a:r>
              <a:rPr lang="ko-KR" altLang="en-US" sz="1700" b="1">
                <a:solidFill>
                  <a:srgbClr val="1E3A8A"/>
                </a:solidFill>
                <a:latin typeface="FEF3C7"/>
              </a:rPr>
              <a:t>연속 </a:t>
            </a:r>
            <a:r>
              <a:rPr lang="en-US" altLang="ko-KR" sz="1700" b="1">
                <a:solidFill>
                  <a:srgbClr val="1E3A8A"/>
                </a:solidFill>
                <a:latin typeface="FEF3C7"/>
              </a:rPr>
              <a:t>1)</a:t>
            </a:r>
            <a:endParaRPr lang="ko-KR" altLang="en-US" sz="1700" b="1">
              <a:solidFill>
                <a:srgbClr val="1E3A8A"/>
              </a:solidFill>
              <a:latin typeface="FEF3C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FD45BE5-9153-F360-2C4B-0DFF7DDF86DA}"/>
              </a:ext>
            </a:extLst>
          </p:cNvPr>
          <p:cNvSpPr txBox="1"/>
          <p:nvPr/>
        </p:nvSpPr>
        <p:spPr>
          <a:xfrm>
            <a:off x="10668000" y="6591300"/>
            <a:ext cx="1143000" cy="19050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pPr algn="r"/>
            <a:r>
              <a:rPr lang="en-US" altLang="ko-KR" sz="1100">
                <a:solidFill>
                  <a:srgbClr val="94A3B8"/>
                </a:solidFill>
                <a:latin typeface="FEF3C7"/>
              </a:rPr>
              <a:t>38 / 39</a:t>
            </a:r>
            <a:endParaRPr lang="ko-KR" altLang="en-US" sz="1100">
              <a:solidFill>
                <a:srgbClr val="94A3B8"/>
              </a:solidFill>
              <a:latin typeface="FEF3C7"/>
            </a:endParaRPr>
          </a:p>
        </p:txBody>
      </p:sp>
    </p:spTree>
    <p:extLst>
      <p:ext uri="{BB962C8B-B14F-4D97-AF65-F5344CB8AC3E}">
        <p14:creationId xmlns:p14="http://schemas.microsoft.com/office/powerpoint/2010/main" val="188976047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1227B81-9BCB-BF2D-C6C6-232F057FC8E9}"/>
              </a:ext>
            </a:extLst>
          </p:cNvPr>
          <p:cNvSpPr txBox="1"/>
          <p:nvPr/>
        </p:nvSpPr>
        <p:spPr>
          <a:xfrm>
            <a:off x="381000" y="133350"/>
            <a:ext cx="9525000" cy="2095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altLang="ko-KR" sz="1300" b="1">
                <a:solidFill>
                  <a:srgbClr val="2563EB"/>
                </a:solidFill>
                <a:latin typeface="FEF3C7"/>
              </a:rPr>
              <a:t>07  ·  </a:t>
            </a:r>
            <a:r>
              <a:rPr lang="ko-KR" altLang="en-US" sz="1300" b="1">
                <a:solidFill>
                  <a:srgbClr val="2563EB"/>
                </a:solidFill>
                <a:latin typeface="FEF3C7"/>
              </a:rPr>
              <a:t>결론  </a:t>
            </a:r>
            <a:r>
              <a:rPr lang="en-US" altLang="ko-KR" sz="1300" b="1">
                <a:solidFill>
                  <a:srgbClr val="2563EB"/>
                </a:solidFill>
                <a:latin typeface="FEF3C7"/>
              </a:rPr>
              <a:t>·  </a:t>
            </a:r>
            <a:r>
              <a:rPr lang="ko-KR" altLang="en-US" sz="1300" b="1">
                <a:solidFill>
                  <a:srgbClr val="2563EB"/>
                </a:solidFill>
                <a:latin typeface="FEF3C7"/>
              </a:rPr>
              <a:t>설계 결과 </a:t>
            </a:r>
            <a:r>
              <a:rPr lang="en-US" altLang="ko-KR" sz="1300" b="1">
                <a:solidFill>
                  <a:srgbClr val="2563EB"/>
                </a:solidFill>
                <a:latin typeface="FEF3C7"/>
              </a:rPr>
              <a:t>· </a:t>
            </a:r>
            <a:r>
              <a:rPr lang="ko-KR" altLang="en-US" sz="1300" b="1">
                <a:solidFill>
                  <a:srgbClr val="2563EB"/>
                </a:solidFill>
                <a:latin typeface="FEF3C7"/>
              </a:rPr>
              <a:t>고찰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A4E0391-3435-136E-40F0-FBCA23CA1416}"/>
              </a:ext>
            </a:extLst>
          </p:cNvPr>
          <p:cNvSpPr txBox="1"/>
          <p:nvPr/>
        </p:nvSpPr>
        <p:spPr>
          <a:xfrm>
            <a:off x="381000" y="342900"/>
            <a:ext cx="10096500" cy="43815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altLang="ko-KR" sz="2600" b="1">
                <a:solidFill>
                  <a:srgbClr val="0F172A"/>
                </a:solidFill>
                <a:latin typeface="FEF3C7"/>
              </a:rPr>
              <a:t>Conclusion</a:t>
            </a:r>
            <a:endParaRPr lang="ko-KR" altLang="en-US" sz="2600" b="1">
              <a:solidFill>
                <a:srgbClr val="0F172A"/>
              </a:solidFill>
              <a:latin typeface="FEF3C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24FE64A-1785-27D7-123C-3E4F3AF6EE97}"/>
              </a:ext>
            </a:extLst>
          </p:cNvPr>
          <p:cNvSpPr/>
          <p:nvPr/>
        </p:nvSpPr>
        <p:spPr>
          <a:xfrm>
            <a:off x="381000" y="819150"/>
            <a:ext cx="666750" cy="381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C7DCE0-B65C-C678-F718-1324A1B88C13}"/>
              </a:ext>
            </a:extLst>
          </p:cNvPr>
          <p:cNvSpPr txBox="1"/>
          <p:nvPr/>
        </p:nvSpPr>
        <p:spPr>
          <a:xfrm>
            <a:off x="10572750" y="133350"/>
            <a:ext cx="1238250" cy="60960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pPr algn="r"/>
            <a:r>
              <a:rPr lang="en-US" altLang="ko-KR" sz="4000" b="1">
                <a:solidFill>
                  <a:srgbClr val="BFDBFE"/>
                </a:solidFill>
                <a:latin typeface="FEF3C7"/>
              </a:rPr>
              <a:t>07</a:t>
            </a:r>
            <a:endParaRPr lang="ko-KR" altLang="en-US" sz="4000" b="1">
              <a:solidFill>
                <a:srgbClr val="BFDBFE"/>
              </a:solidFill>
              <a:latin typeface="FEF3C7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72CB4686-D070-44B5-2A2A-530E4D3F07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1083168"/>
              </p:ext>
            </p:extLst>
          </p:nvPr>
        </p:nvGraphicFramePr>
        <p:xfrm>
          <a:off x="381000" y="1143000"/>
          <a:ext cx="11430000" cy="4667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5500">
                  <a:extLst>
                    <a:ext uri="{9D8B030D-6E8A-4147-A177-3AD203B41FA5}">
                      <a16:colId xmlns:a16="http://schemas.microsoft.com/office/drawing/2014/main" val="3326140362"/>
                    </a:ext>
                  </a:extLst>
                </a:gridCol>
                <a:gridCol w="9334500">
                  <a:extLst>
                    <a:ext uri="{9D8B030D-6E8A-4147-A177-3AD203B41FA5}">
                      <a16:colId xmlns:a16="http://schemas.microsoft.com/office/drawing/2014/main" val="3650289852"/>
                    </a:ext>
                  </a:extLst>
                </a:gridCol>
              </a:tblGrid>
              <a:tr h="66675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b="1">
                          <a:solidFill>
                            <a:srgbClr val="FFFFFF"/>
                          </a:solidFill>
                          <a:latin typeface="FEF3C7"/>
                        </a:rPr>
                        <a:t>구분</a:t>
                      </a:r>
                    </a:p>
                  </a:txBody>
                  <a:tcPr marT="25400" marB="25400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b="1">
                          <a:solidFill>
                            <a:srgbClr val="FFFFFF"/>
                          </a:solidFill>
                          <a:latin typeface="FEF3C7"/>
                        </a:rPr>
                        <a:t>결과</a:t>
                      </a:r>
                    </a:p>
                  </a:txBody>
                  <a:tcPr marT="25400" marB="25400" anchor="ctr">
                    <a:solidFill>
                      <a:srgbClr val="1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9991105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700" b="0">
                          <a:solidFill>
                            <a:srgbClr val="1F2A44"/>
                          </a:solidFill>
                          <a:latin typeface="FEF3C7"/>
                        </a:rPr>
                        <a:t>Homework-1</a:t>
                      </a:r>
                      <a:endParaRPr lang="ko-KR" altLang="en-US" sz="1700" b="0">
                        <a:solidFill>
                          <a:srgbClr val="1F2A44"/>
                        </a:solidFill>
                        <a:latin typeface="FEF3C7"/>
                      </a:endParaRP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700" b="0">
                          <a:solidFill>
                            <a:srgbClr val="1F2A44"/>
                          </a:solidFill>
                          <a:latin typeface="FEF3C7"/>
                        </a:rPr>
                        <a:t>Mealy: din_bit </a:t>
                      </a:r>
                      <a:r>
                        <a:rPr lang="ko-KR" altLang="en-US" sz="1700" b="0">
                          <a:solidFill>
                            <a:srgbClr val="1F2A44"/>
                          </a:solidFill>
                          <a:latin typeface="FEF3C7"/>
                        </a:rPr>
                        <a:t>도착 즉시 출력 </a:t>
                      </a:r>
                      <a:r>
                        <a:rPr lang="en-US" altLang="ko-KR" sz="1700" b="0">
                          <a:solidFill>
                            <a:srgbClr val="1F2A44"/>
                          </a:solidFill>
                          <a:latin typeface="FEF3C7"/>
                        </a:rPr>
                        <a:t>(221 ns)  ·  Moore: 1 clock </a:t>
                      </a:r>
                      <a:r>
                        <a:rPr lang="ko-KR" altLang="en-US" sz="1700" b="0">
                          <a:solidFill>
                            <a:srgbClr val="1F2A44"/>
                          </a:solidFill>
                          <a:latin typeface="FEF3C7"/>
                        </a:rPr>
                        <a:t>뒤 </a:t>
                      </a:r>
                      <a:r>
                        <a:rPr lang="en-US" altLang="ko-KR" sz="1700" b="0">
                          <a:solidFill>
                            <a:srgbClr val="1F2A44"/>
                          </a:solidFill>
                          <a:latin typeface="FEF3C7"/>
                        </a:rPr>
                        <a:t>S4 </a:t>
                      </a:r>
                      <a:r>
                        <a:rPr lang="ko-KR" altLang="en-US" sz="1700" b="0">
                          <a:solidFill>
                            <a:srgbClr val="1F2A44"/>
                          </a:solidFill>
                          <a:latin typeface="FEF3C7"/>
                        </a:rPr>
                        <a:t>출력 </a:t>
                      </a:r>
                      <a:r>
                        <a:rPr lang="en-US" altLang="ko-KR" sz="1700" b="0">
                          <a:solidFill>
                            <a:srgbClr val="1F2A44"/>
                          </a:solidFill>
                          <a:latin typeface="FEF3C7"/>
                        </a:rPr>
                        <a:t>(225 ns)</a:t>
                      </a:r>
                      <a:endParaRPr lang="ko-KR" altLang="en-US" sz="1700" b="0">
                        <a:solidFill>
                          <a:srgbClr val="1F2A44"/>
                        </a:solidFill>
                        <a:latin typeface="FEF3C7"/>
                      </a:endParaRP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2585032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700" b="0">
                          <a:solidFill>
                            <a:srgbClr val="1F2A44"/>
                          </a:solidFill>
                          <a:latin typeface="FEF3C7"/>
                        </a:rPr>
                        <a:t>Homework-1</a:t>
                      </a:r>
                      <a:endParaRPr lang="ko-KR" altLang="en-US" sz="1700" b="0">
                        <a:solidFill>
                          <a:srgbClr val="1F2A44"/>
                        </a:solidFill>
                        <a:latin typeface="FEF3C7"/>
                      </a:endParaRPr>
                    </a:p>
                  </a:txBody>
                  <a:tcPr marT="25400" marB="254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700" b="0">
                          <a:solidFill>
                            <a:srgbClr val="1F2A44"/>
                          </a:solidFill>
                          <a:latin typeface="FEF3C7"/>
                        </a:rPr>
                        <a:t>next logic </a:t>
                      </a:r>
                      <a:r>
                        <a:rPr lang="ko-KR" altLang="en-US" sz="1700" b="0">
                          <a:solidFill>
                            <a:srgbClr val="1F2A44"/>
                          </a:solidFill>
                          <a:latin typeface="FEF3C7"/>
                        </a:rPr>
                        <a:t>차이 </a:t>
                      </a:r>
                      <a:r>
                        <a:rPr lang="en-US" altLang="ko-KR" sz="1700" b="0">
                          <a:solidFill>
                            <a:srgbClr val="1F2A44"/>
                          </a:solidFill>
                          <a:latin typeface="FEF3C7"/>
                        </a:rPr>
                        <a:t>= S3 · din_bit = 1 </a:t>
                      </a:r>
                      <a:r>
                        <a:rPr lang="ko-KR" altLang="en-US" sz="1700" b="0">
                          <a:solidFill>
                            <a:srgbClr val="1F2A44"/>
                          </a:solidFill>
                          <a:latin typeface="FEF3C7"/>
                        </a:rPr>
                        <a:t>한 경우뿐</a:t>
                      </a:r>
                    </a:p>
                  </a:txBody>
                  <a:tcPr marT="25400" marB="25400"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41224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700" b="0">
                          <a:solidFill>
                            <a:srgbClr val="1F2A44"/>
                          </a:solidFill>
                          <a:latin typeface="FEF3C7"/>
                        </a:rPr>
                        <a:t>Homework-2</a:t>
                      </a:r>
                      <a:endParaRPr lang="ko-KR" altLang="en-US" sz="1700" b="0">
                        <a:solidFill>
                          <a:srgbClr val="1F2A44"/>
                        </a:solidFill>
                        <a:latin typeface="FEF3C7"/>
                      </a:endParaRP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700" b="0">
                          <a:solidFill>
                            <a:srgbClr val="1F2A44"/>
                          </a:solidFill>
                          <a:latin typeface="FEF3C7"/>
                        </a:rPr>
                        <a:t>8 sample </a:t>
                      </a:r>
                      <a:r>
                        <a:rPr lang="ko-KR" altLang="en-US" sz="1700" b="0">
                          <a:solidFill>
                            <a:srgbClr val="1F2A44"/>
                          </a:solidFill>
                          <a:latin typeface="FEF3C7"/>
                        </a:rPr>
                        <a:t>연속 </a:t>
                      </a:r>
                      <a:r>
                        <a:rPr lang="en-US" altLang="ko-KR" sz="1700" b="0">
                          <a:solidFill>
                            <a:srgbClr val="1F2A44"/>
                          </a:solidFill>
                          <a:latin typeface="FEF3C7"/>
                        </a:rPr>
                        <a:t>1 + rising edge → </a:t>
                      </a:r>
                      <a:r>
                        <a:rPr lang="ko-KR" altLang="en-US" sz="1700" b="0">
                          <a:solidFill>
                            <a:srgbClr val="1F2A44"/>
                          </a:solidFill>
                          <a:latin typeface="FEF3C7"/>
                        </a:rPr>
                        <a:t>누름 </a:t>
                      </a:r>
                      <a:r>
                        <a:rPr lang="en-US" altLang="ko-KR" sz="1700" b="0">
                          <a:solidFill>
                            <a:srgbClr val="1F2A44"/>
                          </a:solidFill>
                          <a:latin typeface="FEF3C7"/>
                        </a:rPr>
                        <a:t>1</a:t>
                      </a:r>
                      <a:r>
                        <a:rPr lang="ko-KR" altLang="en-US" sz="1700" b="0">
                          <a:solidFill>
                            <a:srgbClr val="1F2A44"/>
                          </a:solidFill>
                          <a:latin typeface="FEF3C7"/>
                        </a:rPr>
                        <a:t>회 </a:t>
                      </a:r>
                      <a:r>
                        <a:rPr lang="en-US" altLang="ko-KR" sz="1700" b="0">
                          <a:solidFill>
                            <a:srgbClr val="1F2A44"/>
                          </a:solidFill>
                          <a:latin typeface="FEF3C7"/>
                        </a:rPr>
                        <a:t>= o_btn 1 tick (70 ns </a:t>
                      </a:r>
                      <a:r>
                        <a:rPr lang="ko-KR" altLang="en-US" sz="1700" b="0">
                          <a:solidFill>
                            <a:srgbClr val="1F2A44"/>
                          </a:solidFill>
                          <a:latin typeface="FEF3C7"/>
                        </a:rPr>
                        <a:t>뒤</a:t>
                      </a:r>
                      <a:r>
                        <a:rPr lang="en-US" altLang="ko-KR" sz="1700" b="0">
                          <a:solidFill>
                            <a:srgbClr val="1F2A44"/>
                          </a:solidFill>
                          <a:latin typeface="FEF3C7"/>
                        </a:rPr>
                        <a:t>)</a:t>
                      </a:r>
                      <a:endParaRPr lang="ko-KR" altLang="en-US" sz="1700" b="0">
                        <a:solidFill>
                          <a:srgbClr val="1F2A44"/>
                        </a:solidFill>
                        <a:latin typeface="FEF3C7"/>
                      </a:endParaRP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8302555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700" b="0">
                          <a:solidFill>
                            <a:srgbClr val="1F2A44"/>
                          </a:solidFill>
                          <a:latin typeface="FEF3C7"/>
                        </a:rPr>
                        <a:t>Homework-2</a:t>
                      </a:r>
                      <a:endParaRPr lang="ko-KR" altLang="en-US" sz="1700" b="0">
                        <a:solidFill>
                          <a:srgbClr val="1F2A44"/>
                        </a:solidFill>
                        <a:latin typeface="FEF3C7"/>
                      </a:endParaRPr>
                    </a:p>
                  </a:txBody>
                  <a:tcPr marT="25400" marB="254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700" b="0">
                          <a:solidFill>
                            <a:srgbClr val="1F2A44"/>
                          </a:solidFill>
                          <a:latin typeface="FEF3C7"/>
                        </a:rPr>
                        <a:t>60 ns </a:t>
                      </a:r>
                      <a:r>
                        <a:rPr lang="ko-KR" altLang="en-US" sz="1700" b="0">
                          <a:solidFill>
                            <a:srgbClr val="1F2A44"/>
                          </a:solidFill>
                          <a:latin typeface="FEF3C7"/>
                        </a:rPr>
                        <a:t>이하 </a:t>
                      </a:r>
                      <a:r>
                        <a:rPr lang="en-US" altLang="ko-KR" sz="1700" b="0">
                          <a:solidFill>
                            <a:srgbClr val="1F2A44"/>
                          </a:solidFill>
                          <a:latin typeface="FEF3C7"/>
                        </a:rPr>
                        <a:t>pulse </a:t>
                      </a:r>
                      <a:r>
                        <a:rPr lang="ko-KR" altLang="en-US" sz="1700" b="0">
                          <a:solidFill>
                            <a:srgbClr val="1F2A44"/>
                          </a:solidFill>
                          <a:latin typeface="FEF3C7"/>
                        </a:rPr>
                        <a:t>제거  </a:t>
                      </a:r>
                      <a:r>
                        <a:rPr lang="en-US" altLang="ko-KR" sz="1700" b="0">
                          <a:solidFill>
                            <a:srgbClr val="1F2A44"/>
                          </a:solidFill>
                          <a:latin typeface="FEF3C7"/>
                        </a:rPr>
                        <a:t>·  RUN </a:t>
                      </a:r>
                      <a:r>
                        <a:rPr lang="ko-KR" altLang="en-US" sz="1700" b="0">
                          <a:solidFill>
                            <a:srgbClr val="1F2A44"/>
                          </a:solidFill>
                          <a:latin typeface="FEF3C7"/>
                        </a:rPr>
                        <a:t>유지 조건 누락 수정</a:t>
                      </a:r>
                    </a:p>
                  </a:txBody>
                  <a:tcPr marT="25400" marB="25400"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398603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b="0">
                          <a:solidFill>
                            <a:srgbClr val="1F2A44"/>
                          </a:solidFill>
                          <a:latin typeface="FEF3C7"/>
                        </a:rPr>
                        <a:t>고찰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700" b="0">
                          <a:solidFill>
                            <a:srgbClr val="1F2A44"/>
                          </a:solidFill>
                          <a:latin typeface="FEF3C7"/>
                        </a:rPr>
                        <a:t>Button = event </a:t>
                      </a:r>
                      <a:r>
                        <a:rPr lang="ko-KR" altLang="en-US" sz="1700" b="0">
                          <a:solidFill>
                            <a:srgbClr val="1F2A44"/>
                          </a:solidFill>
                          <a:latin typeface="FEF3C7"/>
                        </a:rPr>
                        <a:t>입력 → </a:t>
                      </a:r>
                      <a:r>
                        <a:rPr lang="en-US" altLang="ko-KR" sz="1700" b="0">
                          <a:solidFill>
                            <a:srgbClr val="1F2A44"/>
                          </a:solidFill>
                          <a:latin typeface="FEF3C7"/>
                        </a:rPr>
                        <a:t>tick </a:t>
                      </a:r>
                      <a:r>
                        <a:rPr lang="ko-KR" altLang="en-US" sz="1700" b="0">
                          <a:solidFill>
                            <a:srgbClr val="1F2A44"/>
                          </a:solidFill>
                          <a:latin typeface="FEF3C7"/>
                        </a:rPr>
                        <a:t>변환이 </a:t>
                      </a:r>
                      <a:r>
                        <a:rPr lang="en-US" altLang="ko-KR" sz="1700" b="0">
                          <a:solidFill>
                            <a:srgbClr val="1F2A44"/>
                          </a:solidFill>
                          <a:latin typeface="FEF3C7"/>
                        </a:rPr>
                        <a:t>FSM </a:t>
                      </a:r>
                      <a:r>
                        <a:rPr lang="ko-KR" altLang="en-US" sz="1700" b="0">
                          <a:solidFill>
                            <a:srgbClr val="1F2A44"/>
                          </a:solidFill>
                          <a:latin typeface="FEF3C7"/>
                        </a:rPr>
                        <a:t>입력의 전제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8915544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b="0">
                          <a:solidFill>
                            <a:srgbClr val="1F2A44"/>
                          </a:solidFill>
                          <a:latin typeface="FEF3C7"/>
                        </a:rPr>
                        <a:t>고찰</a:t>
                      </a:r>
                    </a:p>
                  </a:txBody>
                  <a:tcPr marT="25400" marB="254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700" b="0">
                          <a:solidFill>
                            <a:srgbClr val="1F2A44"/>
                          </a:solidFill>
                          <a:latin typeface="FEF3C7"/>
                        </a:rPr>
                        <a:t>80 ns window → ms </a:t>
                      </a:r>
                      <a:r>
                        <a:rPr lang="ko-KR" altLang="en-US" sz="1700" b="0">
                          <a:solidFill>
                            <a:srgbClr val="1F2A44"/>
                          </a:solidFill>
                          <a:latin typeface="FEF3C7"/>
                        </a:rPr>
                        <a:t>단위 </a:t>
                      </a:r>
                      <a:r>
                        <a:rPr lang="en-US" altLang="ko-KR" sz="1700" b="0">
                          <a:solidFill>
                            <a:srgbClr val="1F2A44"/>
                          </a:solidFill>
                          <a:latin typeface="FEF3C7"/>
                        </a:rPr>
                        <a:t>bounce </a:t>
                      </a:r>
                      <a:r>
                        <a:rPr lang="ko-KR" altLang="en-US" sz="1700" b="0">
                          <a:solidFill>
                            <a:srgbClr val="1F2A44"/>
                          </a:solidFill>
                          <a:latin typeface="FEF3C7"/>
                        </a:rPr>
                        <a:t>대응 시 </a:t>
                      </a:r>
                      <a:r>
                        <a:rPr lang="en-US" altLang="ko-KR" sz="1700" b="0">
                          <a:solidFill>
                            <a:srgbClr val="1F2A44"/>
                          </a:solidFill>
                          <a:latin typeface="FEF3C7"/>
                        </a:rPr>
                        <a:t>sampling </a:t>
                      </a:r>
                      <a:r>
                        <a:rPr lang="ko-KR" altLang="en-US" sz="1700" b="0">
                          <a:solidFill>
                            <a:srgbClr val="1F2A44"/>
                          </a:solidFill>
                          <a:latin typeface="FEF3C7"/>
                        </a:rPr>
                        <a:t>주기 확대 필요</a:t>
                      </a:r>
                    </a:p>
                  </a:txBody>
                  <a:tcPr marT="25400" marB="25400"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735670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037AC886-4C55-7D41-0447-88AEBFAF5312}"/>
              </a:ext>
            </a:extLst>
          </p:cNvPr>
          <p:cNvSpPr txBox="1"/>
          <p:nvPr/>
        </p:nvSpPr>
        <p:spPr>
          <a:xfrm>
            <a:off x="10668000" y="6591300"/>
            <a:ext cx="1143000" cy="19050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pPr algn="r"/>
            <a:r>
              <a:rPr lang="en-US" altLang="ko-KR" sz="1100">
                <a:solidFill>
                  <a:srgbClr val="94A3B8"/>
                </a:solidFill>
                <a:latin typeface="FEF3C7"/>
              </a:rPr>
              <a:t>39 / 39</a:t>
            </a:r>
            <a:endParaRPr lang="ko-KR" altLang="en-US" sz="1100">
              <a:solidFill>
                <a:srgbClr val="94A3B8"/>
              </a:solidFill>
              <a:latin typeface="FEF3C7"/>
            </a:endParaRPr>
          </a:p>
        </p:txBody>
      </p:sp>
    </p:spTree>
    <p:extLst>
      <p:ext uri="{BB962C8B-B14F-4D97-AF65-F5344CB8AC3E}">
        <p14:creationId xmlns:p14="http://schemas.microsoft.com/office/powerpoint/2010/main" val="33608389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2745</Words>
  <Application>Microsoft Office PowerPoint</Application>
  <PresentationFormat>와이드스크린</PresentationFormat>
  <Paragraphs>777</Paragraphs>
  <Slides>33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33</vt:i4>
      </vt:variant>
    </vt:vector>
  </HeadingPairs>
  <TitlesOfParts>
    <vt:vector size="40" baseType="lpstr">
      <vt:lpstr>DCFCE7</vt:lpstr>
      <vt:lpstr>EFF6FF</vt:lpstr>
      <vt:lpstr>FEE2E2</vt:lpstr>
      <vt:lpstr>FEF3C7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안성 정</dc:creator>
  <cp:lastModifiedBy>안성 정</cp:lastModifiedBy>
  <cp:revision>2</cp:revision>
  <dcterms:created xsi:type="dcterms:W3CDTF">2026-10-12T12:22:13Z</dcterms:created>
  <dcterms:modified xsi:type="dcterms:W3CDTF">2026-10-12T12:34:30Z</dcterms:modified>
</cp:coreProperties>
</file>