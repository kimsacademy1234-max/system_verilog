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53" y="15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11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VERILOG · HOMEWORK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Sequence Detector</a:t>
            </a:r>
            <a:endParaRPr lang="en-US" sz="4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Button Debouncer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FSM   /   button_debouncer   /   FSM_RUN_STOP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 ·   2026.10.12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 ·  목차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목차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 정리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· 검증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9436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개념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버튼 회로 · Bounce · 현업 해결 방법 · SIPO · Tick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 – 11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59436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· Filter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train · Spectrum 복사 · Aliasing · |H(f)| · AND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– 18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40080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설계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State Diagram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p.19 – 20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640080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시뮬레이션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· Timing · 패턴 검출 · 패턴 없음 · next logic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p.21 – 29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438144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400800" y="3438144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5295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설계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3867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 → Button · Block Diagram · FSM · Debouncer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3438144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p.30 – 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4379976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400800" y="4379976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47141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시뮬레이션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809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Pulse · Shift · 비동기 입력 · 최소 유지 시간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4379976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p.35 – 40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5321808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6400800" y="53218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541324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178040" y="5751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결과 · 고찰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5321808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FPGA 버튼 회로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Pulls the FPGA Pin High Through a Contact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30936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Input Circuit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783080" y="1984248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03120" y="1984248"/>
            <a:ext cx="0" cy="39319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048256" y="237744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048256" y="301752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10512" y="2633472"/>
            <a:ext cx="0" cy="237744"/>
          </a:xfrm>
          <a:prstGeom prst="line">
            <a:avLst/>
          </a:prstGeom>
          <a:noFill/>
          <a:ln w="317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 flipH="1">
            <a:off x="1536192" y="2752344"/>
            <a:ext cx="2743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536192" y="2651760"/>
            <a:ext cx="0" cy="201168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664208" y="2286000"/>
            <a:ext cx="685800" cy="960120"/>
          </a:xfrm>
          <a:prstGeom prst="roundRect">
            <a:avLst>
              <a:gd name="adj" fmla="val 10667"/>
            </a:avLst>
          </a:prstGeom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5760" y="23957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</a:t>
            </a:r>
            <a:endParaRPr lang="en-US" sz="1300" dirty="0"/>
          </a:p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지점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27248"/>
            <a:ext cx="0" cy="71323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048256" y="3785616"/>
            <a:ext cx="109728" cy="109728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103120" y="3730752"/>
            <a:ext cx="2880360" cy="219456"/>
          </a:xfrm>
          <a:custGeom>
            <a:avLst/>
            <a:gdLst/>
            <a:ahLst/>
            <a:cxnLst/>
            <a:rect l="l" t="t" r="r" b="b"/>
            <a:pathLst>
              <a:path w="2880360" h="219456">
                <a:moveTo>
                  <a:pt x="0" y="109728"/>
                </a:moveTo>
                <a:lnTo>
                  <a:pt x="1005840" y="109728"/>
                </a:lnTo>
                <a:lnTo>
                  <a:pt x="1051560" y="0"/>
                </a:lnTo>
                <a:lnTo>
                  <a:pt x="1143000" y="219456"/>
                </a:lnTo>
                <a:lnTo>
                  <a:pt x="1234440" y="0"/>
                </a:lnTo>
                <a:lnTo>
                  <a:pt x="1325880" y="219456"/>
                </a:lnTo>
                <a:lnTo>
                  <a:pt x="1417320" y="0"/>
                </a:lnTo>
                <a:lnTo>
                  <a:pt x="1508760" y="219456"/>
                </a:lnTo>
                <a:lnTo>
                  <a:pt x="1600200" y="109728"/>
                </a:lnTo>
                <a:lnTo>
                  <a:pt x="2880360" y="109728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97180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(series)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83480" y="34747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8348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pin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93392" y="3840480"/>
            <a:ext cx="219456" cy="1554480"/>
          </a:xfrm>
          <a:custGeom>
            <a:avLst/>
            <a:gdLst/>
            <a:ahLst/>
            <a:cxnLst/>
            <a:rect l="l" t="t" r="r" b="b"/>
            <a:pathLst>
              <a:path w="219456" h="1554480">
                <a:moveTo>
                  <a:pt x="109728" y="0"/>
                </a:moveTo>
                <a:lnTo>
                  <a:pt x="109728" y="502920"/>
                </a:lnTo>
                <a:lnTo>
                  <a:pt x="0" y="548640"/>
                </a:lnTo>
                <a:lnTo>
                  <a:pt x="219456" y="640080"/>
                </a:lnTo>
                <a:lnTo>
                  <a:pt x="0" y="731520"/>
                </a:lnTo>
                <a:lnTo>
                  <a:pt x="219456" y="822960"/>
                </a:lnTo>
                <a:lnTo>
                  <a:pt x="0" y="914400"/>
                </a:lnTo>
                <a:lnTo>
                  <a:pt x="219456" y="1005840"/>
                </a:lnTo>
                <a:lnTo>
                  <a:pt x="109728" y="1097280"/>
                </a:lnTo>
                <a:lnTo>
                  <a:pt x="109728" y="1554480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77440" y="4526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(pull-down)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783080" y="5394960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901952" y="5486400"/>
            <a:ext cx="40233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011680" y="5577840"/>
            <a:ext cx="1828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1737360" y="5650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949440" y="118872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077456" y="14859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077456" y="14859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461504" y="118872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연결 → pin = VCC → 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949440" y="219456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7077456" y="24917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077456" y="2491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461504" y="219456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분리 → pull-down R 경유 GND → 0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949440" y="320040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077456" y="34975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77456" y="34975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461504" y="320040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Series R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pin 유입 전류 제한 · 보호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949440" y="4251960"/>
            <a:ext cx="4846320" cy="2103120"/>
          </a:xfrm>
          <a:prstGeom prst="roundRect">
            <a:avLst>
              <a:gd name="adj" fmla="val 217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7178040" y="44074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= 금속 판의 기계적 충돌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484632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 순간 탄성 반발 → 붙었다 떨어짐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순간에도 진동 → 0 / 1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pin = 이 전압 변화를 그대로 수신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Bounce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Contact Bounce Repeats 0 / 1 at Push and Pop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 Voltage → FPGA Input Level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17320" y="1810512"/>
            <a:ext cx="6400800" cy="292608"/>
          </a:xfrm>
          <a:custGeom>
            <a:avLst/>
            <a:gdLst/>
            <a:ahLst/>
            <a:cxnLst/>
            <a:rect l="l" t="t" r="r" b="b"/>
            <a:pathLst>
              <a:path w="6400800" h="292608">
                <a:moveTo>
                  <a:pt x="0" y="292608"/>
                </a:moveTo>
                <a:lnTo>
                  <a:pt x="640080" y="292608"/>
                </a:lnTo>
                <a:lnTo>
                  <a:pt x="640080" y="0"/>
                </a:lnTo>
                <a:lnTo>
                  <a:pt x="4480560" y="0"/>
                </a:lnTo>
                <a:lnTo>
                  <a:pt x="4480560" y="292608"/>
                </a:lnTo>
                <a:lnTo>
                  <a:pt x="6400800" y="292608"/>
                </a:lnTo>
              </a:path>
            </a:pathLst>
          </a:custGeom>
          <a:ln w="222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Voltage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17320" y="2866644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417320" y="3396996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863840" y="27477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2781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17320" y="2468880"/>
            <a:ext cx="6394399" cy="1325880"/>
          </a:xfrm>
          <a:custGeom>
            <a:avLst/>
            <a:gdLst/>
            <a:ahLst/>
            <a:cxnLst/>
            <a:rect l="l" t="t" r="r" b="b"/>
            <a:pathLst>
              <a:path w="6394399" h="1325880">
                <a:moveTo>
                  <a:pt x="0" y="1325880"/>
                </a:moveTo>
                <a:lnTo>
                  <a:pt x="6401" y="1325880"/>
                </a:lnTo>
                <a:lnTo>
                  <a:pt x="12802" y="1325880"/>
                </a:lnTo>
                <a:lnTo>
                  <a:pt x="19202" y="1325880"/>
                </a:lnTo>
                <a:lnTo>
                  <a:pt x="25603" y="1325880"/>
                </a:lnTo>
                <a:lnTo>
                  <a:pt x="32004" y="1325880"/>
                </a:lnTo>
                <a:lnTo>
                  <a:pt x="38405" y="1325880"/>
                </a:lnTo>
                <a:lnTo>
                  <a:pt x="44806" y="1325880"/>
                </a:lnTo>
                <a:lnTo>
                  <a:pt x="51206" y="1325880"/>
                </a:lnTo>
                <a:lnTo>
                  <a:pt x="57607" y="1325880"/>
                </a:lnTo>
                <a:lnTo>
                  <a:pt x="64008" y="1325880"/>
                </a:lnTo>
                <a:lnTo>
                  <a:pt x="70409" y="1325880"/>
                </a:lnTo>
                <a:lnTo>
                  <a:pt x="76810" y="1325880"/>
                </a:lnTo>
                <a:lnTo>
                  <a:pt x="83210" y="1325880"/>
                </a:lnTo>
                <a:lnTo>
                  <a:pt x="89611" y="1325880"/>
                </a:lnTo>
                <a:lnTo>
                  <a:pt x="96012" y="1325880"/>
                </a:lnTo>
                <a:lnTo>
                  <a:pt x="102413" y="1325880"/>
                </a:lnTo>
                <a:lnTo>
                  <a:pt x="108814" y="1325880"/>
                </a:lnTo>
                <a:lnTo>
                  <a:pt x="115214" y="1325880"/>
                </a:lnTo>
                <a:lnTo>
                  <a:pt x="121615" y="1325880"/>
                </a:lnTo>
                <a:lnTo>
                  <a:pt x="128016" y="1325880"/>
                </a:lnTo>
                <a:lnTo>
                  <a:pt x="134417" y="1325880"/>
                </a:lnTo>
                <a:lnTo>
                  <a:pt x="140818" y="1325880"/>
                </a:lnTo>
                <a:lnTo>
                  <a:pt x="147218" y="1325880"/>
                </a:lnTo>
                <a:lnTo>
                  <a:pt x="153619" y="1325880"/>
                </a:lnTo>
                <a:lnTo>
                  <a:pt x="160020" y="1325880"/>
                </a:lnTo>
                <a:lnTo>
                  <a:pt x="166421" y="1325880"/>
                </a:lnTo>
                <a:lnTo>
                  <a:pt x="172822" y="1325880"/>
                </a:lnTo>
                <a:lnTo>
                  <a:pt x="179222" y="1325880"/>
                </a:lnTo>
                <a:lnTo>
                  <a:pt x="185623" y="1325880"/>
                </a:lnTo>
                <a:lnTo>
                  <a:pt x="192024" y="1325880"/>
                </a:lnTo>
                <a:lnTo>
                  <a:pt x="198425" y="1325880"/>
                </a:lnTo>
                <a:lnTo>
                  <a:pt x="204826" y="1325880"/>
                </a:lnTo>
                <a:lnTo>
                  <a:pt x="211226" y="1325880"/>
                </a:lnTo>
                <a:lnTo>
                  <a:pt x="217627" y="1325880"/>
                </a:lnTo>
                <a:lnTo>
                  <a:pt x="224028" y="1325880"/>
                </a:lnTo>
                <a:lnTo>
                  <a:pt x="230429" y="1325880"/>
                </a:lnTo>
                <a:lnTo>
                  <a:pt x="236830" y="1325880"/>
                </a:lnTo>
                <a:lnTo>
                  <a:pt x="243230" y="1325880"/>
                </a:lnTo>
                <a:lnTo>
                  <a:pt x="249631" y="1325880"/>
                </a:lnTo>
                <a:lnTo>
                  <a:pt x="256032" y="1325880"/>
                </a:lnTo>
                <a:lnTo>
                  <a:pt x="262433" y="1325880"/>
                </a:lnTo>
                <a:lnTo>
                  <a:pt x="268834" y="1325880"/>
                </a:lnTo>
                <a:lnTo>
                  <a:pt x="275234" y="1325880"/>
                </a:lnTo>
                <a:lnTo>
                  <a:pt x="281635" y="1325880"/>
                </a:lnTo>
                <a:lnTo>
                  <a:pt x="288036" y="1325880"/>
                </a:lnTo>
                <a:lnTo>
                  <a:pt x="294437" y="1325880"/>
                </a:lnTo>
                <a:lnTo>
                  <a:pt x="300838" y="1325880"/>
                </a:lnTo>
                <a:lnTo>
                  <a:pt x="307238" y="1325880"/>
                </a:lnTo>
                <a:lnTo>
                  <a:pt x="313639" y="1325880"/>
                </a:lnTo>
                <a:lnTo>
                  <a:pt x="320040" y="1325880"/>
                </a:lnTo>
                <a:lnTo>
                  <a:pt x="326441" y="1325880"/>
                </a:lnTo>
                <a:lnTo>
                  <a:pt x="332842" y="1325880"/>
                </a:lnTo>
                <a:lnTo>
                  <a:pt x="339242" y="1325880"/>
                </a:lnTo>
                <a:lnTo>
                  <a:pt x="345643" y="1325880"/>
                </a:lnTo>
                <a:lnTo>
                  <a:pt x="352044" y="1325880"/>
                </a:lnTo>
                <a:lnTo>
                  <a:pt x="358445" y="1325880"/>
                </a:lnTo>
                <a:lnTo>
                  <a:pt x="364846" y="1325880"/>
                </a:lnTo>
                <a:lnTo>
                  <a:pt x="371246" y="1325880"/>
                </a:lnTo>
                <a:lnTo>
                  <a:pt x="377647" y="1325880"/>
                </a:lnTo>
                <a:lnTo>
                  <a:pt x="384048" y="1325880"/>
                </a:lnTo>
                <a:lnTo>
                  <a:pt x="390449" y="1325880"/>
                </a:lnTo>
                <a:lnTo>
                  <a:pt x="396850" y="1325880"/>
                </a:lnTo>
                <a:lnTo>
                  <a:pt x="403250" y="1325880"/>
                </a:lnTo>
                <a:lnTo>
                  <a:pt x="409651" y="1325880"/>
                </a:lnTo>
                <a:lnTo>
                  <a:pt x="416052" y="1325880"/>
                </a:lnTo>
                <a:lnTo>
                  <a:pt x="422453" y="1325880"/>
                </a:lnTo>
                <a:lnTo>
                  <a:pt x="428854" y="1325880"/>
                </a:lnTo>
                <a:lnTo>
                  <a:pt x="435254" y="1325880"/>
                </a:lnTo>
                <a:lnTo>
                  <a:pt x="441655" y="1325880"/>
                </a:lnTo>
                <a:lnTo>
                  <a:pt x="448056" y="1325880"/>
                </a:lnTo>
                <a:lnTo>
                  <a:pt x="454457" y="1325880"/>
                </a:lnTo>
                <a:lnTo>
                  <a:pt x="460858" y="1325880"/>
                </a:lnTo>
                <a:lnTo>
                  <a:pt x="467258" y="1325880"/>
                </a:lnTo>
                <a:lnTo>
                  <a:pt x="473659" y="1325880"/>
                </a:lnTo>
                <a:lnTo>
                  <a:pt x="480060" y="1325880"/>
                </a:lnTo>
                <a:lnTo>
                  <a:pt x="486461" y="1325880"/>
                </a:lnTo>
                <a:lnTo>
                  <a:pt x="492862" y="1325880"/>
                </a:lnTo>
                <a:lnTo>
                  <a:pt x="499262" y="1325880"/>
                </a:lnTo>
                <a:lnTo>
                  <a:pt x="505663" y="1325880"/>
                </a:lnTo>
                <a:lnTo>
                  <a:pt x="512064" y="1325880"/>
                </a:lnTo>
                <a:lnTo>
                  <a:pt x="518465" y="1325880"/>
                </a:lnTo>
                <a:lnTo>
                  <a:pt x="524866" y="1325880"/>
                </a:lnTo>
                <a:lnTo>
                  <a:pt x="531266" y="1325880"/>
                </a:lnTo>
                <a:lnTo>
                  <a:pt x="537667" y="1325880"/>
                </a:lnTo>
                <a:lnTo>
                  <a:pt x="544068" y="1325880"/>
                </a:lnTo>
                <a:lnTo>
                  <a:pt x="550469" y="1325880"/>
                </a:lnTo>
                <a:lnTo>
                  <a:pt x="556870" y="1325880"/>
                </a:lnTo>
                <a:lnTo>
                  <a:pt x="563270" y="1325880"/>
                </a:lnTo>
                <a:lnTo>
                  <a:pt x="569671" y="1325880"/>
                </a:lnTo>
                <a:lnTo>
                  <a:pt x="576072" y="1325880"/>
                </a:lnTo>
                <a:lnTo>
                  <a:pt x="582473" y="1325880"/>
                </a:lnTo>
                <a:lnTo>
                  <a:pt x="588874" y="1325880"/>
                </a:lnTo>
                <a:lnTo>
                  <a:pt x="595274" y="1325880"/>
                </a:lnTo>
                <a:lnTo>
                  <a:pt x="601675" y="1325880"/>
                </a:lnTo>
                <a:lnTo>
                  <a:pt x="608076" y="1325880"/>
                </a:lnTo>
                <a:lnTo>
                  <a:pt x="614477" y="1325880"/>
                </a:lnTo>
                <a:lnTo>
                  <a:pt x="620878" y="1325880"/>
                </a:lnTo>
                <a:lnTo>
                  <a:pt x="627278" y="1325880"/>
                </a:lnTo>
                <a:lnTo>
                  <a:pt x="633679" y="1325880"/>
                </a:lnTo>
                <a:lnTo>
                  <a:pt x="640080" y="1060704"/>
                </a:lnTo>
                <a:lnTo>
                  <a:pt x="646481" y="678851"/>
                </a:lnTo>
                <a:lnTo>
                  <a:pt x="652882" y="434464"/>
                </a:lnTo>
                <a:lnTo>
                  <a:pt x="659282" y="278057"/>
                </a:lnTo>
                <a:lnTo>
                  <a:pt x="665683" y="177957"/>
                </a:lnTo>
                <a:lnTo>
                  <a:pt x="672084" y="113892"/>
                </a:lnTo>
                <a:lnTo>
                  <a:pt x="678485" y="72891"/>
                </a:lnTo>
                <a:lnTo>
                  <a:pt x="684886" y="46650"/>
                </a:lnTo>
                <a:lnTo>
                  <a:pt x="691286" y="29856"/>
                </a:lnTo>
                <a:lnTo>
                  <a:pt x="697687" y="19108"/>
                </a:lnTo>
                <a:lnTo>
                  <a:pt x="704088" y="12229"/>
                </a:lnTo>
                <a:lnTo>
                  <a:pt x="710489" y="7827"/>
                </a:lnTo>
                <a:lnTo>
                  <a:pt x="716890" y="5009"/>
                </a:lnTo>
                <a:lnTo>
                  <a:pt x="723290" y="3206"/>
                </a:lnTo>
                <a:lnTo>
                  <a:pt x="729691" y="2052"/>
                </a:lnTo>
                <a:lnTo>
                  <a:pt x="736092" y="1313"/>
                </a:lnTo>
                <a:lnTo>
                  <a:pt x="742493" y="840"/>
                </a:lnTo>
                <a:lnTo>
                  <a:pt x="748894" y="538"/>
                </a:lnTo>
                <a:lnTo>
                  <a:pt x="755294" y="344"/>
                </a:lnTo>
                <a:lnTo>
                  <a:pt x="761695" y="220"/>
                </a:lnTo>
                <a:lnTo>
                  <a:pt x="768096" y="141"/>
                </a:lnTo>
                <a:lnTo>
                  <a:pt x="774497" y="90"/>
                </a:lnTo>
                <a:lnTo>
                  <a:pt x="780898" y="58"/>
                </a:lnTo>
                <a:lnTo>
                  <a:pt x="787298" y="310797"/>
                </a:lnTo>
                <a:lnTo>
                  <a:pt x="793699" y="548707"/>
                </a:lnTo>
                <a:lnTo>
                  <a:pt x="800100" y="730857"/>
                </a:lnTo>
                <a:lnTo>
                  <a:pt x="806501" y="870316"/>
                </a:lnTo>
                <a:lnTo>
                  <a:pt x="812902" y="977089"/>
                </a:lnTo>
                <a:lnTo>
                  <a:pt x="819302" y="1058837"/>
                </a:lnTo>
                <a:lnTo>
                  <a:pt x="825703" y="1121425"/>
                </a:lnTo>
                <a:lnTo>
                  <a:pt x="832104" y="1169344"/>
                </a:lnTo>
                <a:lnTo>
                  <a:pt x="838505" y="1206032"/>
                </a:lnTo>
                <a:lnTo>
                  <a:pt x="844906" y="1234121"/>
                </a:lnTo>
                <a:lnTo>
                  <a:pt x="851306" y="1255627"/>
                </a:lnTo>
                <a:lnTo>
                  <a:pt x="857707" y="1272093"/>
                </a:lnTo>
                <a:lnTo>
                  <a:pt x="864108" y="1284699"/>
                </a:lnTo>
                <a:lnTo>
                  <a:pt x="870509" y="1294351"/>
                </a:lnTo>
                <a:lnTo>
                  <a:pt x="876910" y="828385"/>
                </a:lnTo>
                <a:lnTo>
                  <a:pt x="883310" y="530166"/>
                </a:lnTo>
                <a:lnTo>
                  <a:pt x="889711" y="339306"/>
                </a:lnTo>
                <a:lnTo>
                  <a:pt x="896112" y="217156"/>
                </a:lnTo>
                <a:lnTo>
                  <a:pt x="902513" y="138980"/>
                </a:lnTo>
                <a:lnTo>
                  <a:pt x="908914" y="88947"/>
                </a:lnTo>
                <a:lnTo>
                  <a:pt x="915314" y="56926"/>
                </a:lnTo>
                <a:lnTo>
                  <a:pt x="921715" y="36433"/>
                </a:lnTo>
                <a:lnTo>
                  <a:pt x="928116" y="23317"/>
                </a:lnTo>
                <a:lnTo>
                  <a:pt x="934517" y="14923"/>
                </a:lnTo>
                <a:lnTo>
                  <a:pt x="940918" y="9551"/>
                </a:lnTo>
                <a:lnTo>
                  <a:pt x="947318" y="6112"/>
                </a:lnTo>
                <a:lnTo>
                  <a:pt x="953719" y="3912"/>
                </a:lnTo>
                <a:lnTo>
                  <a:pt x="960120" y="2504"/>
                </a:lnTo>
                <a:lnTo>
                  <a:pt x="966521" y="1602"/>
                </a:lnTo>
                <a:lnTo>
                  <a:pt x="972922" y="1025"/>
                </a:lnTo>
                <a:lnTo>
                  <a:pt x="979322" y="311538"/>
                </a:lnTo>
                <a:lnTo>
                  <a:pt x="985723" y="549275"/>
                </a:lnTo>
                <a:lnTo>
                  <a:pt x="992124" y="731291"/>
                </a:lnTo>
                <a:lnTo>
                  <a:pt x="998525" y="870648"/>
                </a:lnTo>
                <a:lnTo>
                  <a:pt x="1004926" y="977343"/>
                </a:lnTo>
                <a:lnTo>
                  <a:pt x="1011326" y="1059031"/>
                </a:lnTo>
                <a:lnTo>
                  <a:pt x="1017727" y="1121574"/>
                </a:lnTo>
                <a:lnTo>
                  <a:pt x="1024128" y="1169458"/>
                </a:lnTo>
                <a:lnTo>
                  <a:pt x="1030529" y="1206120"/>
                </a:lnTo>
                <a:lnTo>
                  <a:pt x="1036930" y="1234188"/>
                </a:lnTo>
                <a:lnTo>
                  <a:pt x="1043330" y="1255679"/>
                </a:lnTo>
                <a:lnTo>
                  <a:pt x="1049731" y="803634"/>
                </a:lnTo>
                <a:lnTo>
                  <a:pt x="1056132" y="514326"/>
                </a:lnTo>
                <a:lnTo>
                  <a:pt x="1062533" y="329169"/>
                </a:lnTo>
                <a:lnTo>
                  <a:pt x="1068934" y="210668"/>
                </a:lnTo>
                <a:lnTo>
                  <a:pt x="1075334" y="134827"/>
                </a:lnTo>
                <a:lnTo>
                  <a:pt x="1081735" y="86290"/>
                </a:lnTo>
                <a:lnTo>
                  <a:pt x="1088136" y="55225"/>
                </a:lnTo>
                <a:lnTo>
                  <a:pt x="1094537" y="35344"/>
                </a:lnTo>
                <a:lnTo>
                  <a:pt x="1100938" y="22620"/>
                </a:lnTo>
                <a:lnTo>
                  <a:pt x="1107338" y="14477"/>
                </a:lnTo>
                <a:lnTo>
                  <a:pt x="1113739" y="321837"/>
                </a:lnTo>
                <a:lnTo>
                  <a:pt x="1120140" y="557160"/>
                </a:lnTo>
                <a:lnTo>
                  <a:pt x="1126541" y="737328"/>
                </a:lnTo>
                <a:lnTo>
                  <a:pt x="1132942" y="875270"/>
                </a:lnTo>
                <a:lnTo>
                  <a:pt x="1139342" y="980882"/>
                </a:lnTo>
                <a:lnTo>
                  <a:pt x="1145743" y="1061741"/>
                </a:lnTo>
                <a:lnTo>
                  <a:pt x="1152144" y="1123648"/>
                </a:lnTo>
                <a:lnTo>
                  <a:pt x="1158545" y="1171046"/>
                </a:lnTo>
                <a:lnTo>
                  <a:pt x="1164946" y="1207336"/>
                </a:lnTo>
                <a:lnTo>
                  <a:pt x="1171346" y="772695"/>
                </a:lnTo>
                <a:lnTo>
                  <a:pt x="1177747" y="494525"/>
                </a:lnTo>
                <a:lnTo>
                  <a:pt x="1184148" y="316496"/>
                </a:lnTo>
                <a:lnTo>
                  <a:pt x="1190549" y="202557"/>
                </a:lnTo>
                <a:lnTo>
                  <a:pt x="1196950" y="129637"/>
                </a:lnTo>
                <a:lnTo>
                  <a:pt x="1203350" y="82967"/>
                </a:lnTo>
                <a:lnTo>
                  <a:pt x="1209751" y="374275"/>
                </a:lnTo>
                <a:lnTo>
                  <a:pt x="1216152" y="597307"/>
                </a:lnTo>
                <a:lnTo>
                  <a:pt x="1222553" y="768067"/>
                </a:lnTo>
                <a:lnTo>
                  <a:pt x="1228954" y="898804"/>
                </a:lnTo>
                <a:lnTo>
                  <a:pt x="1235354" y="998900"/>
                </a:lnTo>
                <a:lnTo>
                  <a:pt x="1241755" y="1075536"/>
                </a:lnTo>
                <a:lnTo>
                  <a:pt x="1248156" y="1134210"/>
                </a:lnTo>
                <a:lnTo>
                  <a:pt x="1254557" y="725895"/>
                </a:lnTo>
                <a:lnTo>
                  <a:pt x="1260958" y="464573"/>
                </a:lnTo>
                <a:lnTo>
                  <a:pt x="1267358" y="297326"/>
                </a:lnTo>
                <a:lnTo>
                  <a:pt x="1273759" y="190289"/>
                </a:lnTo>
                <a:lnTo>
                  <a:pt x="1280160" y="121785"/>
                </a:lnTo>
                <a:lnTo>
                  <a:pt x="1286561" y="77942"/>
                </a:lnTo>
                <a:lnTo>
                  <a:pt x="1292962" y="49883"/>
                </a:lnTo>
                <a:lnTo>
                  <a:pt x="1299362" y="31925"/>
                </a:lnTo>
                <a:lnTo>
                  <a:pt x="1305763" y="20432"/>
                </a:lnTo>
                <a:lnTo>
                  <a:pt x="1312164" y="13077"/>
                </a:lnTo>
                <a:lnTo>
                  <a:pt x="1318565" y="8369"/>
                </a:lnTo>
                <a:lnTo>
                  <a:pt x="1324966" y="5356"/>
                </a:lnTo>
                <a:lnTo>
                  <a:pt x="1331366" y="3428"/>
                </a:lnTo>
                <a:lnTo>
                  <a:pt x="1337767" y="2194"/>
                </a:lnTo>
                <a:lnTo>
                  <a:pt x="1344168" y="1404"/>
                </a:lnTo>
                <a:lnTo>
                  <a:pt x="1350569" y="899"/>
                </a:lnTo>
                <a:lnTo>
                  <a:pt x="1356970" y="575"/>
                </a:lnTo>
                <a:lnTo>
                  <a:pt x="1363370" y="368"/>
                </a:lnTo>
                <a:lnTo>
                  <a:pt x="1369771" y="236"/>
                </a:lnTo>
                <a:lnTo>
                  <a:pt x="1376172" y="151"/>
                </a:lnTo>
                <a:lnTo>
                  <a:pt x="1382573" y="96"/>
                </a:lnTo>
                <a:lnTo>
                  <a:pt x="1388974" y="62"/>
                </a:lnTo>
                <a:lnTo>
                  <a:pt x="1395374" y="40"/>
                </a:lnTo>
                <a:lnTo>
                  <a:pt x="1401775" y="25"/>
                </a:lnTo>
                <a:lnTo>
                  <a:pt x="1408176" y="16"/>
                </a:lnTo>
                <a:lnTo>
                  <a:pt x="1414577" y="10"/>
                </a:lnTo>
                <a:lnTo>
                  <a:pt x="1420978" y="7"/>
                </a:lnTo>
                <a:lnTo>
                  <a:pt x="1427378" y="4"/>
                </a:lnTo>
                <a:lnTo>
                  <a:pt x="1433779" y="3"/>
                </a:lnTo>
                <a:lnTo>
                  <a:pt x="1440180" y="2"/>
                </a:lnTo>
                <a:lnTo>
                  <a:pt x="1446581" y="1"/>
                </a:lnTo>
                <a:lnTo>
                  <a:pt x="1452982" y="1"/>
                </a:lnTo>
                <a:lnTo>
                  <a:pt x="1459382" y="0"/>
                </a:lnTo>
                <a:lnTo>
                  <a:pt x="1465783" y="0"/>
                </a:lnTo>
                <a:lnTo>
                  <a:pt x="1472184" y="0"/>
                </a:lnTo>
                <a:lnTo>
                  <a:pt x="1478585" y="0"/>
                </a:lnTo>
                <a:lnTo>
                  <a:pt x="1484986" y="0"/>
                </a:lnTo>
                <a:lnTo>
                  <a:pt x="1491386" y="0"/>
                </a:lnTo>
                <a:lnTo>
                  <a:pt x="1497787" y="0"/>
                </a:lnTo>
                <a:lnTo>
                  <a:pt x="1504188" y="0"/>
                </a:lnTo>
                <a:lnTo>
                  <a:pt x="1510589" y="0"/>
                </a:lnTo>
                <a:lnTo>
                  <a:pt x="1516990" y="0"/>
                </a:lnTo>
                <a:lnTo>
                  <a:pt x="1523390" y="0"/>
                </a:lnTo>
                <a:lnTo>
                  <a:pt x="1529791" y="0"/>
                </a:lnTo>
                <a:lnTo>
                  <a:pt x="1536192" y="0"/>
                </a:lnTo>
                <a:lnTo>
                  <a:pt x="1542593" y="0"/>
                </a:lnTo>
                <a:lnTo>
                  <a:pt x="1548994" y="0"/>
                </a:lnTo>
                <a:lnTo>
                  <a:pt x="1555394" y="0"/>
                </a:lnTo>
                <a:lnTo>
                  <a:pt x="1561795" y="0"/>
                </a:lnTo>
                <a:lnTo>
                  <a:pt x="1568196" y="0"/>
                </a:lnTo>
                <a:lnTo>
                  <a:pt x="1574597" y="0"/>
                </a:lnTo>
                <a:lnTo>
                  <a:pt x="1580998" y="0"/>
                </a:lnTo>
                <a:lnTo>
                  <a:pt x="1587398" y="0"/>
                </a:lnTo>
                <a:lnTo>
                  <a:pt x="1593799" y="0"/>
                </a:lnTo>
                <a:lnTo>
                  <a:pt x="1600200" y="0"/>
                </a:lnTo>
                <a:lnTo>
                  <a:pt x="1606601" y="0"/>
                </a:lnTo>
                <a:lnTo>
                  <a:pt x="1613002" y="0"/>
                </a:lnTo>
                <a:lnTo>
                  <a:pt x="1619402" y="0"/>
                </a:lnTo>
                <a:lnTo>
                  <a:pt x="1625803" y="0"/>
                </a:lnTo>
                <a:lnTo>
                  <a:pt x="1632204" y="0"/>
                </a:lnTo>
                <a:lnTo>
                  <a:pt x="1638605" y="0"/>
                </a:lnTo>
                <a:lnTo>
                  <a:pt x="1645006" y="0"/>
                </a:lnTo>
                <a:lnTo>
                  <a:pt x="1651406" y="0"/>
                </a:lnTo>
                <a:lnTo>
                  <a:pt x="1657807" y="0"/>
                </a:lnTo>
                <a:lnTo>
                  <a:pt x="1664208" y="0"/>
                </a:lnTo>
                <a:lnTo>
                  <a:pt x="1670609" y="0"/>
                </a:lnTo>
                <a:lnTo>
                  <a:pt x="1677010" y="0"/>
                </a:lnTo>
                <a:lnTo>
                  <a:pt x="1683410" y="0"/>
                </a:lnTo>
                <a:lnTo>
                  <a:pt x="1689811" y="0"/>
                </a:lnTo>
                <a:lnTo>
                  <a:pt x="1696212" y="0"/>
                </a:lnTo>
                <a:lnTo>
                  <a:pt x="1702613" y="0"/>
                </a:lnTo>
                <a:lnTo>
                  <a:pt x="1709014" y="0"/>
                </a:lnTo>
                <a:lnTo>
                  <a:pt x="1715414" y="0"/>
                </a:lnTo>
                <a:lnTo>
                  <a:pt x="1721815" y="0"/>
                </a:lnTo>
                <a:lnTo>
                  <a:pt x="1728216" y="0"/>
                </a:lnTo>
                <a:lnTo>
                  <a:pt x="1734617" y="0"/>
                </a:lnTo>
                <a:lnTo>
                  <a:pt x="1741018" y="0"/>
                </a:lnTo>
                <a:lnTo>
                  <a:pt x="1747418" y="0"/>
                </a:lnTo>
                <a:lnTo>
                  <a:pt x="1753819" y="0"/>
                </a:lnTo>
                <a:lnTo>
                  <a:pt x="1760220" y="0"/>
                </a:lnTo>
                <a:lnTo>
                  <a:pt x="1766621" y="0"/>
                </a:lnTo>
                <a:lnTo>
                  <a:pt x="1773022" y="0"/>
                </a:lnTo>
                <a:lnTo>
                  <a:pt x="1779422" y="0"/>
                </a:lnTo>
                <a:lnTo>
                  <a:pt x="1785823" y="0"/>
                </a:lnTo>
                <a:lnTo>
                  <a:pt x="1792224" y="0"/>
                </a:lnTo>
                <a:lnTo>
                  <a:pt x="1798625" y="0"/>
                </a:lnTo>
                <a:lnTo>
                  <a:pt x="1805026" y="0"/>
                </a:lnTo>
                <a:lnTo>
                  <a:pt x="1811426" y="0"/>
                </a:lnTo>
                <a:lnTo>
                  <a:pt x="1817827" y="0"/>
                </a:lnTo>
                <a:lnTo>
                  <a:pt x="1824228" y="0"/>
                </a:lnTo>
                <a:lnTo>
                  <a:pt x="1830629" y="0"/>
                </a:lnTo>
                <a:lnTo>
                  <a:pt x="1837030" y="0"/>
                </a:lnTo>
                <a:lnTo>
                  <a:pt x="1843430" y="0"/>
                </a:lnTo>
                <a:lnTo>
                  <a:pt x="1849831" y="0"/>
                </a:lnTo>
                <a:lnTo>
                  <a:pt x="1856232" y="0"/>
                </a:lnTo>
                <a:lnTo>
                  <a:pt x="1862633" y="0"/>
                </a:lnTo>
                <a:lnTo>
                  <a:pt x="1869034" y="0"/>
                </a:lnTo>
                <a:lnTo>
                  <a:pt x="1875434" y="0"/>
                </a:lnTo>
                <a:lnTo>
                  <a:pt x="1881835" y="0"/>
                </a:lnTo>
                <a:lnTo>
                  <a:pt x="1888236" y="0"/>
                </a:lnTo>
                <a:lnTo>
                  <a:pt x="1894637" y="0"/>
                </a:lnTo>
                <a:lnTo>
                  <a:pt x="1901038" y="0"/>
                </a:lnTo>
                <a:lnTo>
                  <a:pt x="1907438" y="0"/>
                </a:lnTo>
                <a:lnTo>
                  <a:pt x="1913839" y="0"/>
                </a:lnTo>
                <a:lnTo>
                  <a:pt x="1920240" y="0"/>
                </a:lnTo>
                <a:lnTo>
                  <a:pt x="1926641" y="0"/>
                </a:lnTo>
                <a:lnTo>
                  <a:pt x="1933042" y="0"/>
                </a:lnTo>
                <a:lnTo>
                  <a:pt x="1939442" y="0"/>
                </a:lnTo>
                <a:lnTo>
                  <a:pt x="1945843" y="0"/>
                </a:lnTo>
                <a:lnTo>
                  <a:pt x="1952244" y="0"/>
                </a:lnTo>
                <a:lnTo>
                  <a:pt x="1958645" y="0"/>
                </a:lnTo>
                <a:lnTo>
                  <a:pt x="1965046" y="0"/>
                </a:lnTo>
                <a:lnTo>
                  <a:pt x="1971446" y="0"/>
                </a:lnTo>
                <a:lnTo>
                  <a:pt x="1977847" y="0"/>
                </a:lnTo>
                <a:lnTo>
                  <a:pt x="1984248" y="0"/>
                </a:lnTo>
                <a:lnTo>
                  <a:pt x="1990649" y="0"/>
                </a:lnTo>
                <a:lnTo>
                  <a:pt x="1997050" y="0"/>
                </a:lnTo>
                <a:lnTo>
                  <a:pt x="2003450" y="0"/>
                </a:lnTo>
                <a:lnTo>
                  <a:pt x="2009851" y="0"/>
                </a:lnTo>
                <a:lnTo>
                  <a:pt x="2016252" y="0"/>
                </a:lnTo>
                <a:lnTo>
                  <a:pt x="2022653" y="0"/>
                </a:lnTo>
                <a:lnTo>
                  <a:pt x="2029054" y="0"/>
                </a:lnTo>
                <a:lnTo>
                  <a:pt x="2035454" y="0"/>
                </a:lnTo>
                <a:lnTo>
                  <a:pt x="2041855" y="0"/>
                </a:lnTo>
                <a:lnTo>
                  <a:pt x="2048256" y="0"/>
                </a:lnTo>
                <a:lnTo>
                  <a:pt x="2054657" y="0"/>
                </a:lnTo>
                <a:lnTo>
                  <a:pt x="2061058" y="0"/>
                </a:lnTo>
                <a:lnTo>
                  <a:pt x="2067458" y="0"/>
                </a:lnTo>
                <a:lnTo>
                  <a:pt x="2073859" y="0"/>
                </a:lnTo>
                <a:lnTo>
                  <a:pt x="2080260" y="0"/>
                </a:lnTo>
                <a:lnTo>
                  <a:pt x="2086661" y="0"/>
                </a:lnTo>
                <a:lnTo>
                  <a:pt x="2093062" y="0"/>
                </a:lnTo>
                <a:lnTo>
                  <a:pt x="2099462" y="0"/>
                </a:lnTo>
                <a:lnTo>
                  <a:pt x="2105863" y="0"/>
                </a:lnTo>
                <a:lnTo>
                  <a:pt x="2112264" y="0"/>
                </a:lnTo>
                <a:lnTo>
                  <a:pt x="2118665" y="0"/>
                </a:lnTo>
                <a:lnTo>
                  <a:pt x="2125066" y="0"/>
                </a:lnTo>
                <a:lnTo>
                  <a:pt x="2131466" y="0"/>
                </a:lnTo>
                <a:lnTo>
                  <a:pt x="2137867" y="0"/>
                </a:lnTo>
                <a:lnTo>
                  <a:pt x="2144268" y="0"/>
                </a:lnTo>
                <a:lnTo>
                  <a:pt x="2150669" y="0"/>
                </a:lnTo>
                <a:lnTo>
                  <a:pt x="2157070" y="0"/>
                </a:lnTo>
                <a:lnTo>
                  <a:pt x="2163470" y="0"/>
                </a:lnTo>
                <a:lnTo>
                  <a:pt x="2169871" y="0"/>
                </a:lnTo>
                <a:lnTo>
                  <a:pt x="2176272" y="0"/>
                </a:lnTo>
                <a:lnTo>
                  <a:pt x="2182673" y="0"/>
                </a:lnTo>
                <a:lnTo>
                  <a:pt x="2189074" y="0"/>
                </a:lnTo>
                <a:lnTo>
                  <a:pt x="2195474" y="0"/>
                </a:lnTo>
                <a:lnTo>
                  <a:pt x="2201875" y="0"/>
                </a:lnTo>
                <a:lnTo>
                  <a:pt x="2208276" y="0"/>
                </a:lnTo>
                <a:lnTo>
                  <a:pt x="2214677" y="0"/>
                </a:lnTo>
                <a:lnTo>
                  <a:pt x="2221078" y="0"/>
                </a:lnTo>
                <a:lnTo>
                  <a:pt x="2227478" y="0"/>
                </a:lnTo>
                <a:lnTo>
                  <a:pt x="2233879" y="0"/>
                </a:lnTo>
                <a:lnTo>
                  <a:pt x="2240280" y="0"/>
                </a:lnTo>
                <a:lnTo>
                  <a:pt x="2246681" y="0"/>
                </a:lnTo>
                <a:lnTo>
                  <a:pt x="2253082" y="0"/>
                </a:lnTo>
                <a:lnTo>
                  <a:pt x="2259482" y="0"/>
                </a:lnTo>
                <a:lnTo>
                  <a:pt x="2265883" y="0"/>
                </a:lnTo>
                <a:lnTo>
                  <a:pt x="2272284" y="0"/>
                </a:lnTo>
                <a:lnTo>
                  <a:pt x="2278685" y="0"/>
                </a:lnTo>
                <a:lnTo>
                  <a:pt x="2285086" y="0"/>
                </a:lnTo>
                <a:lnTo>
                  <a:pt x="2291486" y="0"/>
                </a:lnTo>
                <a:lnTo>
                  <a:pt x="2297887" y="0"/>
                </a:lnTo>
                <a:lnTo>
                  <a:pt x="2304288" y="0"/>
                </a:lnTo>
                <a:lnTo>
                  <a:pt x="2310689" y="0"/>
                </a:lnTo>
                <a:lnTo>
                  <a:pt x="2317090" y="0"/>
                </a:lnTo>
                <a:lnTo>
                  <a:pt x="2323490" y="0"/>
                </a:lnTo>
                <a:lnTo>
                  <a:pt x="2329891" y="0"/>
                </a:lnTo>
                <a:lnTo>
                  <a:pt x="2336292" y="0"/>
                </a:lnTo>
                <a:lnTo>
                  <a:pt x="2342693" y="0"/>
                </a:lnTo>
                <a:lnTo>
                  <a:pt x="2349094" y="0"/>
                </a:lnTo>
                <a:lnTo>
                  <a:pt x="2355494" y="0"/>
                </a:lnTo>
                <a:lnTo>
                  <a:pt x="2361895" y="0"/>
                </a:lnTo>
                <a:lnTo>
                  <a:pt x="2368296" y="0"/>
                </a:lnTo>
                <a:lnTo>
                  <a:pt x="2374697" y="0"/>
                </a:lnTo>
                <a:lnTo>
                  <a:pt x="2381098" y="0"/>
                </a:lnTo>
                <a:lnTo>
                  <a:pt x="2387498" y="0"/>
                </a:lnTo>
                <a:lnTo>
                  <a:pt x="2393899" y="0"/>
                </a:lnTo>
                <a:lnTo>
                  <a:pt x="2400300" y="0"/>
                </a:lnTo>
                <a:lnTo>
                  <a:pt x="2406701" y="0"/>
                </a:lnTo>
                <a:lnTo>
                  <a:pt x="2413102" y="0"/>
                </a:lnTo>
                <a:lnTo>
                  <a:pt x="2419502" y="0"/>
                </a:lnTo>
                <a:lnTo>
                  <a:pt x="2425903" y="0"/>
                </a:lnTo>
                <a:lnTo>
                  <a:pt x="2432304" y="0"/>
                </a:lnTo>
                <a:lnTo>
                  <a:pt x="2438705" y="0"/>
                </a:lnTo>
                <a:lnTo>
                  <a:pt x="2445106" y="0"/>
                </a:lnTo>
                <a:lnTo>
                  <a:pt x="2451506" y="0"/>
                </a:lnTo>
                <a:lnTo>
                  <a:pt x="2457907" y="0"/>
                </a:lnTo>
                <a:lnTo>
                  <a:pt x="2464308" y="0"/>
                </a:lnTo>
                <a:lnTo>
                  <a:pt x="2470709" y="0"/>
                </a:lnTo>
                <a:lnTo>
                  <a:pt x="2477110" y="0"/>
                </a:lnTo>
                <a:lnTo>
                  <a:pt x="2483510" y="0"/>
                </a:lnTo>
                <a:lnTo>
                  <a:pt x="2489911" y="0"/>
                </a:lnTo>
                <a:lnTo>
                  <a:pt x="2496312" y="0"/>
                </a:lnTo>
                <a:lnTo>
                  <a:pt x="2502713" y="0"/>
                </a:lnTo>
                <a:lnTo>
                  <a:pt x="2509114" y="0"/>
                </a:lnTo>
                <a:lnTo>
                  <a:pt x="2515514" y="0"/>
                </a:lnTo>
                <a:lnTo>
                  <a:pt x="2521915" y="0"/>
                </a:lnTo>
                <a:lnTo>
                  <a:pt x="2528316" y="0"/>
                </a:lnTo>
                <a:lnTo>
                  <a:pt x="2534717" y="0"/>
                </a:lnTo>
                <a:lnTo>
                  <a:pt x="2541118" y="0"/>
                </a:lnTo>
                <a:lnTo>
                  <a:pt x="2547518" y="0"/>
                </a:lnTo>
                <a:lnTo>
                  <a:pt x="2553919" y="0"/>
                </a:lnTo>
                <a:lnTo>
                  <a:pt x="2560320" y="0"/>
                </a:lnTo>
                <a:lnTo>
                  <a:pt x="2566721" y="0"/>
                </a:lnTo>
                <a:lnTo>
                  <a:pt x="2573122" y="0"/>
                </a:lnTo>
                <a:lnTo>
                  <a:pt x="2579522" y="0"/>
                </a:lnTo>
                <a:lnTo>
                  <a:pt x="2585923" y="0"/>
                </a:lnTo>
                <a:lnTo>
                  <a:pt x="2592324" y="0"/>
                </a:lnTo>
                <a:lnTo>
                  <a:pt x="2598725" y="0"/>
                </a:lnTo>
                <a:lnTo>
                  <a:pt x="2605126" y="0"/>
                </a:lnTo>
                <a:lnTo>
                  <a:pt x="2611526" y="0"/>
                </a:lnTo>
                <a:lnTo>
                  <a:pt x="2617927" y="0"/>
                </a:lnTo>
                <a:lnTo>
                  <a:pt x="2624328" y="0"/>
                </a:lnTo>
                <a:lnTo>
                  <a:pt x="2630729" y="0"/>
                </a:lnTo>
                <a:lnTo>
                  <a:pt x="2637130" y="0"/>
                </a:lnTo>
                <a:lnTo>
                  <a:pt x="2643530" y="0"/>
                </a:lnTo>
                <a:lnTo>
                  <a:pt x="2649931" y="0"/>
                </a:lnTo>
                <a:lnTo>
                  <a:pt x="2656332" y="0"/>
                </a:lnTo>
                <a:lnTo>
                  <a:pt x="2662733" y="0"/>
                </a:lnTo>
                <a:lnTo>
                  <a:pt x="2669134" y="0"/>
                </a:lnTo>
                <a:lnTo>
                  <a:pt x="2675534" y="0"/>
                </a:lnTo>
                <a:lnTo>
                  <a:pt x="2681935" y="0"/>
                </a:lnTo>
                <a:lnTo>
                  <a:pt x="2688336" y="0"/>
                </a:lnTo>
                <a:lnTo>
                  <a:pt x="2694737" y="0"/>
                </a:lnTo>
                <a:lnTo>
                  <a:pt x="2701138" y="0"/>
                </a:lnTo>
                <a:lnTo>
                  <a:pt x="2707538" y="0"/>
                </a:lnTo>
                <a:lnTo>
                  <a:pt x="2713939" y="0"/>
                </a:lnTo>
                <a:lnTo>
                  <a:pt x="2720340" y="0"/>
                </a:lnTo>
                <a:lnTo>
                  <a:pt x="2726741" y="0"/>
                </a:lnTo>
                <a:lnTo>
                  <a:pt x="2733142" y="0"/>
                </a:lnTo>
                <a:lnTo>
                  <a:pt x="2739542" y="0"/>
                </a:lnTo>
                <a:lnTo>
                  <a:pt x="2745943" y="0"/>
                </a:lnTo>
                <a:lnTo>
                  <a:pt x="2752344" y="0"/>
                </a:lnTo>
                <a:lnTo>
                  <a:pt x="2758745" y="0"/>
                </a:lnTo>
                <a:lnTo>
                  <a:pt x="2765146" y="0"/>
                </a:lnTo>
                <a:lnTo>
                  <a:pt x="2771546" y="0"/>
                </a:lnTo>
                <a:lnTo>
                  <a:pt x="2777947" y="0"/>
                </a:lnTo>
                <a:lnTo>
                  <a:pt x="2784348" y="0"/>
                </a:lnTo>
                <a:lnTo>
                  <a:pt x="2790749" y="0"/>
                </a:lnTo>
                <a:lnTo>
                  <a:pt x="2797150" y="0"/>
                </a:lnTo>
                <a:lnTo>
                  <a:pt x="2803550" y="0"/>
                </a:lnTo>
                <a:lnTo>
                  <a:pt x="2809951" y="0"/>
                </a:lnTo>
                <a:lnTo>
                  <a:pt x="2816352" y="0"/>
                </a:lnTo>
                <a:lnTo>
                  <a:pt x="2822753" y="0"/>
                </a:lnTo>
                <a:lnTo>
                  <a:pt x="2829154" y="0"/>
                </a:lnTo>
                <a:lnTo>
                  <a:pt x="2835554" y="0"/>
                </a:lnTo>
                <a:lnTo>
                  <a:pt x="2841955" y="0"/>
                </a:lnTo>
                <a:lnTo>
                  <a:pt x="2848356" y="0"/>
                </a:lnTo>
                <a:lnTo>
                  <a:pt x="2854757" y="0"/>
                </a:lnTo>
                <a:lnTo>
                  <a:pt x="2861158" y="0"/>
                </a:lnTo>
                <a:lnTo>
                  <a:pt x="2867558" y="0"/>
                </a:lnTo>
                <a:lnTo>
                  <a:pt x="2873959" y="0"/>
                </a:lnTo>
                <a:lnTo>
                  <a:pt x="2880360" y="0"/>
                </a:lnTo>
                <a:lnTo>
                  <a:pt x="2886761" y="0"/>
                </a:lnTo>
                <a:lnTo>
                  <a:pt x="2893162" y="0"/>
                </a:lnTo>
                <a:lnTo>
                  <a:pt x="2899562" y="0"/>
                </a:lnTo>
                <a:lnTo>
                  <a:pt x="2905963" y="0"/>
                </a:lnTo>
                <a:lnTo>
                  <a:pt x="2912364" y="0"/>
                </a:lnTo>
                <a:lnTo>
                  <a:pt x="2918765" y="0"/>
                </a:lnTo>
                <a:lnTo>
                  <a:pt x="2925166" y="0"/>
                </a:lnTo>
                <a:lnTo>
                  <a:pt x="2931566" y="0"/>
                </a:lnTo>
                <a:lnTo>
                  <a:pt x="2937967" y="0"/>
                </a:lnTo>
                <a:lnTo>
                  <a:pt x="2944368" y="0"/>
                </a:lnTo>
                <a:lnTo>
                  <a:pt x="2950769" y="0"/>
                </a:lnTo>
                <a:lnTo>
                  <a:pt x="2957170" y="0"/>
                </a:lnTo>
                <a:lnTo>
                  <a:pt x="2963570" y="0"/>
                </a:lnTo>
                <a:lnTo>
                  <a:pt x="2969971" y="0"/>
                </a:lnTo>
                <a:lnTo>
                  <a:pt x="2976372" y="0"/>
                </a:lnTo>
                <a:lnTo>
                  <a:pt x="2982773" y="0"/>
                </a:lnTo>
                <a:lnTo>
                  <a:pt x="2989174" y="0"/>
                </a:lnTo>
                <a:lnTo>
                  <a:pt x="2995574" y="0"/>
                </a:lnTo>
                <a:lnTo>
                  <a:pt x="3001975" y="0"/>
                </a:lnTo>
                <a:lnTo>
                  <a:pt x="3008376" y="0"/>
                </a:lnTo>
                <a:lnTo>
                  <a:pt x="3014777" y="0"/>
                </a:lnTo>
                <a:lnTo>
                  <a:pt x="3021178" y="0"/>
                </a:lnTo>
                <a:lnTo>
                  <a:pt x="3027578" y="0"/>
                </a:lnTo>
                <a:lnTo>
                  <a:pt x="3033979" y="0"/>
                </a:lnTo>
                <a:lnTo>
                  <a:pt x="3040380" y="0"/>
                </a:lnTo>
                <a:lnTo>
                  <a:pt x="3046781" y="0"/>
                </a:lnTo>
                <a:lnTo>
                  <a:pt x="3053182" y="0"/>
                </a:lnTo>
                <a:lnTo>
                  <a:pt x="3059582" y="0"/>
                </a:lnTo>
                <a:lnTo>
                  <a:pt x="3065983" y="0"/>
                </a:lnTo>
                <a:lnTo>
                  <a:pt x="3072384" y="0"/>
                </a:lnTo>
                <a:lnTo>
                  <a:pt x="3078785" y="0"/>
                </a:lnTo>
                <a:lnTo>
                  <a:pt x="3085186" y="0"/>
                </a:lnTo>
                <a:lnTo>
                  <a:pt x="3091586" y="0"/>
                </a:lnTo>
                <a:lnTo>
                  <a:pt x="3097987" y="0"/>
                </a:lnTo>
                <a:lnTo>
                  <a:pt x="3104388" y="0"/>
                </a:lnTo>
                <a:lnTo>
                  <a:pt x="3110789" y="0"/>
                </a:lnTo>
                <a:lnTo>
                  <a:pt x="3117190" y="0"/>
                </a:lnTo>
                <a:lnTo>
                  <a:pt x="3123590" y="0"/>
                </a:lnTo>
                <a:lnTo>
                  <a:pt x="3129991" y="0"/>
                </a:lnTo>
                <a:lnTo>
                  <a:pt x="3136392" y="0"/>
                </a:lnTo>
                <a:lnTo>
                  <a:pt x="3142793" y="0"/>
                </a:lnTo>
                <a:lnTo>
                  <a:pt x="3149194" y="0"/>
                </a:lnTo>
                <a:lnTo>
                  <a:pt x="3155594" y="0"/>
                </a:lnTo>
                <a:lnTo>
                  <a:pt x="3161995" y="0"/>
                </a:lnTo>
                <a:lnTo>
                  <a:pt x="3168396" y="0"/>
                </a:lnTo>
                <a:lnTo>
                  <a:pt x="3174797" y="0"/>
                </a:lnTo>
                <a:lnTo>
                  <a:pt x="3181198" y="0"/>
                </a:lnTo>
                <a:lnTo>
                  <a:pt x="3187598" y="0"/>
                </a:lnTo>
                <a:lnTo>
                  <a:pt x="3193999" y="0"/>
                </a:lnTo>
                <a:lnTo>
                  <a:pt x="3200400" y="0"/>
                </a:lnTo>
                <a:lnTo>
                  <a:pt x="3206801" y="0"/>
                </a:lnTo>
                <a:lnTo>
                  <a:pt x="3213202" y="0"/>
                </a:lnTo>
                <a:lnTo>
                  <a:pt x="3219602" y="0"/>
                </a:lnTo>
                <a:lnTo>
                  <a:pt x="3226003" y="0"/>
                </a:lnTo>
                <a:lnTo>
                  <a:pt x="3232404" y="0"/>
                </a:lnTo>
                <a:lnTo>
                  <a:pt x="3238805" y="0"/>
                </a:lnTo>
                <a:lnTo>
                  <a:pt x="3245206" y="0"/>
                </a:lnTo>
                <a:lnTo>
                  <a:pt x="3251606" y="0"/>
                </a:lnTo>
                <a:lnTo>
                  <a:pt x="3258007" y="0"/>
                </a:lnTo>
                <a:lnTo>
                  <a:pt x="3264408" y="0"/>
                </a:lnTo>
                <a:lnTo>
                  <a:pt x="3270809" y="0"/>
                </a:lnTo>
                <a:lnTo>
                  <a:pt x="3277210" y="0"/>
                </a:lnTo>
                <a:lnTo>
                  <a:pt x="3283610" y="0"/>
                </a:lnTo>
                <a:lnTo>
                  <a:pt x="3290011" y="0"/>
                </a:lnTo>
                <a:lnTo>
                  <a:pt x="3296412" y="0"/>
                </a:lnTo>
                <a:lnTo>
                  <a:pt x="3302813" y="0"/>
                </a:lnTo>
                <a:lnTo>
                  <a:pt x="3309214" y="0"/>
                </a:lnTo>
                <a:lnTo>
                  <a:pt x="3315614" y="0"/>
                </a:lnTo>
                <a:lnTo>
                  <a:pt x="3322015" y="0"/>
                </a:lnTo>
                <a:lnTo>
                  <a:pt x="3328416" y="0"/>
                </a:lnTo>
                <a:lnTo>
                  <a:pt x="3334817" y="0"/>
                </a:lnTo>
                <a:lnTo>
                  <a:pt x="3341218" y="0"/>
                </a:lnTo>
                <a:lnTo>
                  <a:pt x="3347618" y="0"/>
                </a:lnTo>
                <a:lnTo>
                  <a:pt x="3354019" y="0"/>
                </a:lnTo>
                <a:lnTo>
                  <a:pt x="3360420" y="0"/>
                </a:lnTo>
                <a:lnTo>
                  <a:pt x="3366821" y="0"/>
                </a:lnTo>
                <a:lnTo>
                  <a:pt x="3373222" y="0"/>
                </a:lnTo>
                <a:lnTo>
                  <a:pt x="3379622" y="0"/>
                </a:lnTo>
                <a:lnTo>
                  <a:pt x="3386023" y="0"/>
                </a:lnTo>
                <a:lnTo>
                  <a:pt x="3392424" y="0"/>
                </a:lnTo>
                <a:lnTo>
                  <a:pt x="3398825" y="0"/>
                </a:lnTo>
                <a:lnTo>
                  <a:pt x="3405226" y="0"/>
                </a:lnTo>
                <a:lnTo>
                  <a:pt x="3411626" y="0"/>
                </a:lnTo>
                <a:lnTo>
                  <a:pt x="3418027" y="0"/>
                </a:lnTo>
                <a:lnTo>
                  <a:pt x="3424428" y="0"/>
                </a:lnTo>
                <a:lnTo>
                  <a:pt x="3430829" y="0"/>
                </a:lnTo>
                <a:lnTo>
                  <a:pt x="3437230" y="0"/>
                </a:lnTo>
                <a:lnTo>
                  <a:pt x="3443630" y="0"/>
                </a:lnTo>
                <a:lnTo>
                  <a:pt x="3450031" y="0"/>
                </a:lnTo>
                <a:lnTo>
                  <a:pt x="3456432" y="0"/>
                </a:lnTo>
                <a:lnTo>
                  <a:pt x="3462833" y="0"/>
                </a:lnTo>
                <a:lnTo>
                  <a:pt x="3469234" y="0"/>
                </a:lnTo>
                <a:lnTo>
                  <a:pt x="3475634" y="0"/>
                </a:lnTo>
                <a:lnTo>
                  <a:pt x="3482035" y="0"/>
                </a:lnTo>
                <a:lnTo>
                  <a:pt x="3488436" y="0"/>
                </a:lnTo>
                <a:lnTo>
                  <a:pt x="3494837" y="0"/>
                </a:lnTo>
                <a:lnTo>
                  <a:pt x="3501238" y="0"/>
                </a:lnTo>
                <a:lnTo>
                  <a:pt x="3507638" y="0"/>
                </a:lnTo>
                <a:lnTo>
                  <a:pt x="3514039" y="0"/>
                </a:lnTo>
                <a:lnTo>
                  <a:pt x="3520440" y="0"/>
                </a:lnTo>
                <a:lnTo>
                  <a:pt x="3526841" y="0"/>
                </a:lnTo>
                <a:lnTo>
                  <a:pt x="3533242" y="0"/>
                </a:lnTo>
                <a:lnTo>
                  <a:pt x="3539642" y="0"/>
                </a:lnTo>
                <a:lnTo>
                  <a:pt x="3546043" y="0"/>
                </a:lnTo>
                <a:lnTo>
                  <a:pt x="3552444" y="0"/>
                </a:lnTo>
                <a:lnTo>
                  <a:pt x="3558845" y="0"/>
                </a:lnTo>
                <a:lnTo>
                  <a:pt x="3565246" y="0"/>
                </a:lnTo>
                <a:lnTo>
                  <a:pt x="3571646" y="0"/>
                </a:lnTo>
                <a:lnTo>
                  <a:pt x="3578047" y="0"/>
                </a:lnTo>
                <a:lnTo>
                  <a:pt x="3584448" y="0"/>
                </a:lnTo>
                <a:lnTo>
                  <a:pt x="3590849" y="0"/>
                </a:lnTo>
                <a:lnTo>
                  <a:pt x="3597250" y="0"/>
                </a:lnTo>
                <a:lnTo>
                  <a:pt x="3603650" y="0"/>
                </a:lnTo>
                <a:lnTo>
                  <a:pt x="3610051" y="0"/>
                </a:lnTo>
                <a:lnTo>
                  <a:pt x="3616452" y="0"/>
                </a:lnTo>
                <a:lnTo>
                  <a:pt x="3622853" y="0"/>
                </a:lnTo>
                <a:lnTo>
                  <a:pt x="3629254" y="0"/>
                </a:lnTo>
                <a:lnTo>
                  <a:pt x="3635654" y="0"/>
                </a:lnTo>
                <a:lnTo>
                  <a:pt x="3642055" y="0"/>
                </a:lnTo>
                <a:lnTo>
                  <a:pt x="3648456" y="0"/>
                </a:lnTo>
                <a:lnTo>
                  <a:pt x="3654857" y="0"/>
                </a:lnTo>
                <a:lnTo>
                  <a:pt x="3661258" y="0"/>
                </a:lnTo>
                <a:lnTo>
                  <a:pt x="3667658" y="0"/>
                </a:lnTo>
                <a:lnTo>
                  <a:pt x="3674059" y="0"/>
                </a:lnTo>
                <a:lnTo>
                  <a:pt x="3680460" y="0"/>
                </a:lnTo>
                <a:lnTo>
                  <a:pt x="3686861" y="0"/>
                </a:lnTo>
                <a:lnTo>
                  <a:pt x="3693262" y="0"/>
                </a:lnTo>
                <a:lnTo>
                  <a:pt x="3699662" y="0"/>
                </a:lnTo>
                <a:lnTo>
                  <a:pt x="3706063" y="0"/>
                </a:lnTo>
                <a:lnTo>
                  <a:pt x="3712464" y="0"/>
                </a:lnTo>
                <a:lnTo>
                  <a:pt x="3718865" y="0"/>
                </a:lnTo>
                <a:lnTo>
                  <a:pt x="3725266" y="0"/>
                </a:lnTo>
                <a:lnTo>
                  <a:pt x="3731666" y="0"/>
                </a:lnTo>
                <a:lnTo>
                  <a:pt x="3738067" y="0"/>
                </a:lnTo>
                <a:lnTo>
                  <a:pt x="3744468" y="0"/>
                </a:lnTo>
                <a:lnTo>
                  <a:pt x="3750869" y="0"/>
                </a:lnTo>
                <a:lnTo>
                  <a:pt x="3757270" y="0"/>
                </a:lnTo>
                <a:lnTo>
                  <a:pt x="3763670" y="0"/>
                </a:lnTo>
                <a:lnTo>
                  <a:pt x="3770071" y="0"/>
                </a:lnTo>
                <a:lnTo>
                  <a:pt x="3776472" y="0"/>
                </a:lnTo>
                <a:lnTo>
                  <a:pt x="3782873" y="0"/>
                </a:lnTo>
                <a:lnTo>
                  <a:pt x="3789274" y="0"/>
                </a:lnTo>
                <a:lnTo>
                  <a:pt x="3795674" y="0"/>
                </a:lnTo>
                <a:lnTo>
                  <a:pt x="3802075" y="0"/>
                </a:lnTo>
                <a:lnTo>
                  <a:pt x="3808476" y="0"/>
                </a:lnTo>
                <a:lnTo>
                  <a:pt x="3814877" y="0"/>
                </a:lnTo>
                <a:lnTo>
                  <a:pt x="3821278" y="0"/>
                </a:lnTo>
                <a:lnTo>
                  <a:pt x="3827678" y="0"/>
                </a:lnTo>
                <a:lnTo>
                  <a:pt x="3834079" y="0"/>
                </a:lnTo>
                <a:lnTo>
                  <a:pt x="3840480" y="0"/>
                </a:lnTo>
                <a:lnTo>
                  <a:pt x="3846881" y="0"/>
                </a:lnTo>
                <a:lnTo>
                  <a:pt x="3853282" y="0"/>
                </a:lnTo>
                <a:lnTo>
                  <a:pt x="3859682" y="0"/>
                </a:lnTo>
                <a:lnTo>
                  <a:pt x="3866083" y="0"/>
                </a:lnTo>
                <a:lnTo>
                  <a:pt x="3872484" y="0"/>
                </a:lnTo>
                <a:lnTo>
                  <a:pt x="3878885" y="0"/>
                </a:lnTo>
                <a:lnTo>
                  <a:pt x="3885286" y="0"/>
                </a:lnTo>
                <a:lnTo>
                  <a:pt x="3891686" y="0"/>
                </a:lnTo>
                <a:lnTo>
                  <a:pt x="3898087" y="0"/>
                </a:lnTo>
                <a:lnTo>
                  <a:pt x="3904488" y="0"/>
                </a:lnTo>
                <a:lnTo>
                  <a:pt x="3910889" y="0"/>
                </a:lnTo>
                <a:lnTo>
                  <a:pt x="3917290" y="0"/>
                </a:lnTo>
                <a:lnTo>
                  <a:pt x="3923690" y="0"/>
                </a:lnTo>
                <a:lnTo>
                  <a:pt x="3930091" y="0"/>
                </a:lnTo>
                <a:lnTo>
                  <a:pt x="3936492" y="0"/>
                </a:lnTo>
                <a:lnTo>
                  <a:pt x="3942893" y="0"/>
                </a:lnTo>
                <a:lnTo>
                  <a:pt x="3949294" y="0"/>
                </a:lnTo>
                <a:lnTo>
                  <a:pt x="3955694" y="0"/>
                </a:lnTo>
                <a:lnTo>
                  <a:pt x="3962095" y="0"/>
                </a:lnTo>
                <a:lnTo>
                  <a:pt x="3968496" y="0"/>
                </a:lnTo>
                <a:lnTo>
                  <a:pt x="3974897" y="0"/>
                </a:lnTo>
                <a:lnTo>
                  <a:pt x="3981298" y="0"/>
                </a:lnTo>
                <a:lnTo>
                  <a:pt x="3987698" y="0"/>
                </a:lnTo>
                <a:lnTo>
                  <a:pt x="3994099" y="0"/>
                </a:lnTo>
                <a:lnTo>
                  <a:pt x="4000500" y="0"/>
                </a:lnTo>
                <a:lnTo>
                  <a:pt x="4006901" y="0"/>
                </a:lnTo>
                <a:lnTo>
                  <a:pt x="4013302" y="0"/>
                </a:lnTo>
                <a:lnTo>
                  <a:pt x="4019702" y="0"/>
                </a:lnTo>
                <a:lnTo>
                  <a:pt x="4026103" y="0"/>
                </a:lnTo>
                <a:lnTo>
                  <a:pt x="4032504" y="0"/>
                </a:lnTo>
                <a:lnTo>
                  <a:pt x="4038905" y="0"/>
                </a:lnTo>
                <a:lnTo>
                  <a:pt x="4045306" y="0"/>
                </a:lnTo>
                <a:lnTo>
                  <a:pt x="4051706" y="0"/>
                </a:lnTo>
                <a:lnTo>
                  <a:pt x="4058107" y="0"/>
                </a:lnTo>
                <a:lnTo>
                  <a:pt x="4064508" y="0"/>
                </a:lnTo>
                <a:lnTo>
                  <a:pt x="4070909" y="0"/>
                </a:lnTo>
                <a:lnTo>
                  <a:pt x="4077310" y="0"/>
                </a:lnTo>
                <a:lnTo>
                  <a:pt x="4083710" y="0"/>
                </a:lnTo>
                <a:lnTo>
                  <a:pt x="4090111" y="0"/>
                </a:lnTo>
                <a:lnTo>
                  <a:pt x="4096512" y="0"/>
                </a:lnTo>
                <a:lnTo>
                  <a:pt x="4102913" y="0"/>
                </a:lnTo>
                <a:lnTo>
                  <a:pt x="4109314" y="0"/>
                </a:lnTo>
                <a:lnTo>
                  <a:pt x="4115714" y="0"/>
                </a:lnTo>
                <a:lnTo>
                  <a:pt x="4122115" y="0"/>
                </a:lnTo>
                <a:lnTo>
                  <a:pt x="4128516" y="0"/>
                </a:lnTo>
                <a:lnTo>
                  <a:pt x="4134917" y="0"/>
                </a:lnTo>
                <a:lnTo>
                  <a:pt x="4141318" y="0"/>
                </a:lnTo>
                <a:lnTo>
                  <a:pt x="4147718" y="0"/>
                </a:lnTo>
                <a:lnTo>
                  <a:pt x="4154119" y="0"/>
                </a:lnTo>
                <a:lnTo>
                  <a:pt x="4160520" y="0"/>
                </a:lnTo>
                <a:lnTo>
                  <a:pt x="4166921" y="0"/>
                </a:lnTo>
                <a:lnTo>
                  <a:pt x="4173322" y="0"/>
                </a:lnTo>
                <a:lnTo>
                  <a:pt x="4179722" y="0"/>
                </a:lnTo>
                <a:lnTo>
                  <a:pt x="4186123" y="0"/>
                </a:lnTo>
                <a:lnTo>
                  <a:pt x="4192524" y="0"/>
                </a:lnTo>
                <a:lnTo>
                  <a:pt x="4198925" y="0"/>
                </a:lnTo>
                <a:lnTo>
                  <a:pt x="4205326" y="0"/>
                </a:lnTo>
                <a:lnTo>
                  <a:pt x="4211726" y="0"/>
                </a:lnTo>
                <a:lnTo>
                  <a:pt x="4218127" y="0"/>
                </a:lnTo>
                <a:lnTo>
                  <a:pt x="4224528" y="0"/>
                </a:lnTo>
                <a:lnTo>
                  <a:pt x="4230929" y="0"/>
                </a:lnTo>
                <a:lnTo>
                  <a:pt x="4237330" y="0"/>
                </a:lnTo>
                <a:lnTo>
                  <a:pt x="4243730" y="0"/>
                </a:lnTo>
                <a:lnTo>
                  <a:pt x="4250131" y="0"/>
                </a:lnTo>
                <a:lnTo>
                  <a:pt x="4256532" y="0"/>
                </a:lnTo>
                <a:lnTo>
                  <a:pt x="4262933" y="0"/>
                </a:lnTo>
                <a:lnTo>
                  <a:pt x="4269334" y="0"/>
                </a:lnTo>
                <a:lnTo>
                  <a:pt x="4275734" y="0"/>
                </a:lnTo>
                <a:lnTo>
                  <a:pt x="4282135" y="0"/>
                </a:lnTo>
                <a:lnTo>
                  <a:pt x="4288536" y="0"/>
                </a:lnTo>
                <a:lnTo>
                  <a:pt x="4294937" y="0"/>
                </a:lnTo>
                <a:lnTo>
                  <a:pt x="4301338" y="0"/>
                </a:lnTo>
                <a:lnTo>
                  <a:pt x="4307738" y="0"/>
                </a:lnTo>
                <a:lnTo>
                  <a:pt x="4314139" y="0"/>
                </a:lnTo>
                <a:lnTo>
                  <a:pt x="4320540" y="0"/>
                </a:lnTo>
                <a:lnTo>
                  <a:pt x="4326941" y="0"/>
                </a:lnTo>
                <a:lnTo>
                  <a:pt x="4333342" y="0"/>
                </a:lnTo>
                <a:lnTo>
                  <a:pt x="4339742" y="0"/>
                </a:lnTo>
                <a:lnTo>
                  <a:pt x="4346143" y="0"/>
                </a:lnTo>
                <a:lnTo>
                  <a:pt x="4352544" y="0"/>
                </a:lnTo>
                <a:lnTo>
                  <a:pt x="4358945" y="0"/>
                </a:lnTo>
                <a:lnTo>
                  <a:pt x="4365346" y="0"/>
                </a:lnTo>
                <a:lnTo>
                  <a:pt x="4371746" y="0"/>
                </a:lnTo>
                <a:lnTo>
                  <a:pt x="4378147" y="0"/>
                </a:lnTo>
                <a:lnTo>
                  <a:pt x="4384548" y="0"/>
                </a:lnTo>
                <a:lnTo>
                  <a:pt x="4390949" y="0"/>
                </a:lnTo>
                <a:lnTo>
                  <a:pt x="4397350" y="0"/>
                </a:lnTo>
                <a:lnTo>
                  <a:pt x="4403750" y="0"/>
                </a:lnTo>
                <a:lnTo>
                  <a:pt x="4410151" y="0"/>
                </a:lnTo>
                <a:lnTo>
                  <a:pt x="4416552" y="0"/>
                </a:lnTo>
                <a:lnTo>
                  <a:pt x="4422953" y="0"/>
                </a:lnTo>
                <a:lnTo>
                  <a:pt x="4429354" y="0"/>
                </a:lnTo>
                <a:lnTo>
                  <a:pt x="4435754" y="0"/>
                </a:lnTo>
                <a:lnTo>
                  <a:pt x="4442155" y="0"/>
                </a:lnTo>
                <a:lnTo>
                  <a:pt x="4448556" y="0"/>
                </a:lnTo>
                <a:lnTo>
                  <a:pt x="4454957" y="0"/>
                </a:lnTo>
                <a:lnTo>
                  <a:pt x="4461358" y="0"/>
                </a:lnTo>
                <a:lnTo>
                  <a:pt x="4467758" y="0"/>
                </a:lnTo>
                <a:lnTo>
                  <a:pt x="4474159" y="0"/>
                </a:lnTo>
                <a:lnTo>
                  <a:pt x="4480560" y="0"/>
                </a:lnTo>
                <a:lnTo>
                  <a:pt x="4486961" y="310753"/>
                </a:lnTo>
                <a:lnTo>
                  <a:pt x="4493362" y="548673"/>
                </a:lnTo>
                <a:lnTo>
                  <a:pt x="4499762" y="730831"/>
                </a:lnTo>
                <a:lnTo>
                  <a:pt x="4506163" y="870296"/>
                </a:lnTo>
                <a:lnTo>
                  <a:pt x="4512564" y="977073"/>
                </a:lnTo>
                <a:lnTo>
                  <a:pt x="4518965" y="1058825"/>
                </a:lnTo>
                <a:lnTo>
                  <a:pt x="4525366" y="1121416"/>
                </a:lnTo>
                <a:lnTo>
                  <a:pt x="4531766" y="1169337"/>
                </a:lnTo>
                <a:lnTo>
                  <a:pt x="4538167" y="1206027"/>
                </a:lnTo>
                <a:lnTo>
                  <a:pt x="4544568" y="1234117"/>
                </a:lnTo>
                <a:lnTo>
                  <a:pt x="4550969" y="1255624"/>
                </a:lnTo>
                <a:lnTo>
                  <a:pt x="4557370" y="1272091"/>
                </a:lnTo>
                <a:lnTo>
                  <a:pt x="4563770" y="814138"/>
                </a:lnTo>
                <a:lnTo>
                  <a:pt x="4570171" y="521048"/>
                </a:lnTo>
                <a:lnTo>
                  <a:pt x="4576572" y="333471"/>
                </a:lnTo>
                <a:lnTo>
                  <a:pt x="4582973" y="213421"/>
                </a:lnTo>
                <a:lnTo>
                  <a:pt x="4589374" y="136590"/>
                </a:lnTo>
                <a:lnTo>
                  <a:pt x="4595774" y="87417"/>
                </a:lnTo>
                <a:lnTo>
                  <a:pt x="4602175" y="55947"/>
                </a:lnTo>
                <a:lnTo>
                  <a:pt x="4608576" y="35806"/>
                </a:lnTo>
                <a:lnTo>
                  <a:pt x="4614977" y="22916"/>
                </a:lnTo>
                <a:lnTo>
                  <a:pt x="4621378" y="14666"/>
                </a:lnTo>
                <a:lnTo>
                  <a:pt x="4627778" y="321982"/>
                </a:lnTo>
                <a:lnTo>
                  <a:pt x="4634179" y="557271"/>
                </a:lnTo>
                <a:lnTo>
                  <a:pt x="4640580" y="737413"/>
                </a:lnTo>
                <a:lnTo>
                  <a:pt x="4646981" y="875335"/>
                </a:lnTo>
                <a:lnTo>
                  <a:pt x="4653382" y="980932"/>
                </a:lnTo>
                <a:lnTo>
                  <a:pt x="4659782" y="1061779"/>
                </a:lnTo>
                <a:lnTo>
                  <a:pt x="4666183" y="1123678"/>
                </a:lnTo>
                <a:lnTo>
                  <a:pt x="4672584" y="1171069"/>
                </a:lnTo>
                <a:lnTo>
                  <a:pt x="4678985" y="1207353"/>
                </a:lnTo>
                <a:lnTo>
                  <a:pt x="4685386" y="1235133"/>
                </a:lnTo>
                <a:lnTo>
                  <a:pt x="4691786" y="1256401"/>
                </a:lnTo>
                <a:lnTo>
                  <a:pt x="4698187" y="1272685"/>
                </a:lnTo>
                <a:lnTo>
                  <a:pt x="4704588" y="814519"/>
                </a:lnTo>
                <a:lnTo>
                  <a:pt x="4710989" y="521292"/>
                </a:lnTo>
                <a:lnTo>
                  <a:pt x="4717390" y="333627"/>
                </a:lnTo>
                <a:lnTo>
                  <a:pt x="4723790" y="213521"/>
                </a:lnTo>
                <a:lnTo>
                  <a:pt x="4730191" y="136654"/>
                </a:lnTo>
                <a:lnTo>
                  <a:pt x="4736592" y="87458"/>
                </a:lnTo>
                <a:lnTo>
                  <a:pt x="4742993" y="377713"/>
                </a:lnTo>
                <a:lnTo>
                  <a:pt x="4749394" y="599940"/>
                </a:lnTo>
                <a:lnTo>
                  <a:pt x="4755794" y="770082"/>
                </a:lnTo>
                <a:lnTo>
                  <a:pt x="4762195" y="900347"/>
                </a:lnTo>
                <a:lnTo>
                  <a:pt x="4768596" y="1000081"/>
                </a:lnTo>
                <a:lnTo>
                  <a:pt x="4774997" y="1076441"/>
                </a:lnTo>
                <a:lnTo>
                  <a:pt x="4781398" y="1134903"/>
                </a:lnTo>
                <a:lnTo>
                  <a:pt x="4787798" y="1179663"/>
                </a:lnTo>
                <a:lnTo>
                  <a:pt x="4794199" y="1213933"/>
                </a:lnTo>
                <a:lnTo>
                  <a:pt x="4800600" y="1240170"/>
                </a:lnTo>
                <a:lnTo>
                  <a:pt x="4807001" y="1260259"/>
                </a:lnTo>
                <a:lnTo>
                  <a:pt x="4813402" y="1275639"/>
                </a:lnTo>
                <a:lnTo>
                  <a:pt x="4819802" y="1287414"/>
                </a:lnTo>
                <a:lnTo>
                  <a:pt x="4826203" y="1296429"/>
                </a:lnTo>
                <a:lnTo>
                  <a:pt x="4832604" y="1303332"/>
                </a:lnTo>
                <a:lnTo>
                  <a:pt x="4839005" y="1308617"/>
                </a:lnTo>
                <a:lnTo>
                  <a:pt x="4845406" y="1312663"/>
                </a:lnTo>
                <a:lnTo>
                  <a:pt x="4851806" y="1315761"/>
                </a:lnTo>
                <a:lnTo>
                  <a:pt x="4858207" y="1318132"/>
                </a:lnTo>
                <a:lnTo>
                  <a:pt x="4864608" y="1319948"/>
                </a:lnTo>
                <a:lnTo>
                  <a:pt x="4871009" y="1321338"/>
                </a:lnTo>
                <a:lnTo>
                  <a:pt x="4877410" y="1322403"/>
                </a:lnTo>
                <a:lnTo>
                  <a:pt x="4883810" y="1323218"/>
                </a:lnTo>
                <a:lnTo>
                  <a:pt x="4890211" y="1323842"/>
                </a:lnTo>
                <a:lnTo>
                  <a:pt x="4896612" y="1324319"/>
                </a:lnTo>
                <a:lnTo>
                  <a:pt x="4903013" y="1324685"/>
                </a:lnTo>
                <a:lnTo>
                  <a:pt x="4909414" y="1324965"/>
                </a:lnTo>
                <a:lnTo>
                  <a:pt x="4915814" y="1325180"/>
                </a:lnTo>
                <a:lnTo>
                  <a:pt x="4922215" y="1325344"/>
                </a:lnTo>
                <a:lnTo>
                  <a:pt x="4928616" y="1325469"/>
                </a:lnTo>
                <a:lnTo>
                  <a:pt x="4935017" y="1325566"/>
                </a:lnTo>
                <a:lnTo>
                  <a:pt x="4941418" y="1325639"/>
                </a:lnTo>
                <a:lnTo>
                  <a:pt x="4947818" y="1325696"/>
                </a:lnTo>
                <a:lnTo>
                  <a:pt x="4954219" y="1325739"/>
                </a:lnTo>
                <a:lnTo>
                  <a:pt x="4960620" y="1325772"/>
                </a:lnTo>
                <a:lnTo>
                  <a:pt x="4967021" y="1325797"/>
                </a:lnTo>
                <a:lnTo>
                  <a:pt x="4973422" y="1325817"/>
                </a:lnTo>
                <a:lnTo>
                  <a:pt x="4979822" y="1325832"/>
                </a:lnTo>
                <a:lnTo>
                  <a:pt x="4986223" y="1325843"/>
                </a:lnTo>
                <a:lnTo>
                  <a:pt x="4992624" y="1325852"/>
                </a:lnTo>
                <a:lnTo>
                  <a:pt x="4999025" y="1325858"/>
                </a:lnTo>
                <a:lnTo>
                  <a:pt x="5005426" y="1325863"/>
                </a:lnTo>
                <a:lnTo>
                  <a:pt x="5011826" y="1325867"/>
                </a:lnTo>
                <a:lnTo>
                  <a:pt x="5018227" y="1325870"/>
                </a:lnTo>
                <a:lnTo>
                  <a:pt x="5024628" y="1325873"/>
                </a:lnTo>
                <a:lnTo>
                  <a:pt x="5031029" y="1325874"/>
                </a:lnTo>
                <a:lnTo>
                  <a:pt x="5037430" y="1325876"/>
                </a:lnTo>
                <a:lnTo>
                  <a:pt x="5043830" y="1325877"/>
                </a:lnTo>
                <a:lnTo>
                  <a:pt x="5050231" y="1325877"/>
                </a:lnTo>
                <a:lnTo>
                  <a:pt x="5056632" y="1325878"/>
                </a:lnTo>
                <a:lnTo>
                  <a:pt x="5063033" y="1325878"/>
                </a:lnTo>
                <a:lnTo>
                  <a:pt x="5069434" y="1325879"/>
                </a:lnTo>
                <a:lnTo>
                  <a:pt x="5075834" y="1325879"/>
                </a:lnTo>
                <a:lnTo>
                  <a:pt x="5082235" y="1325879"/>
                </a:lnTo>
                <a:lnTo>
                  <a:pt x="5088636" y="1325879"/>
                </a:lnTo>
                <a:lnTo>
                  <a:pt x="5095037" y="1325880"/>
                </a:lnTo>
                <a:lnTo>
                  <a:pt x="5101438" y="1325880"/>
                </a:lnTo>
                <a:lnTo>
                  <a:pt x="5107838" y="1325880"/>
                </a:lnTo>
                <a:lnTo>
                  <a:pt x="5114239" y="1325880"/>
                </a:lnTo>
                <a:lnTo>
                  <a:pt x="5120640" y="1325880"/>
                </a:lnTo>
                <a:lnTo>
                  <a:pt x="5127041" y="1325880"/>
                </a:lnTo>
                <a:lnTo>
                  <a:pt x="5133442" y="1325880"/>
                </a:lnTo>
                <a:lnTo>
                  <a:pt x="5139842" y="1325880"/>
                </a:lnTo>
                <a:lnTo>
                  <a:pt x="5146243" y="1325880"/>
                </a:lnTo>
                <a:lnTo>
                  <a:pt x="5152644" y="1325880"/>
                </a:lnTo>
                <a:lnTo>
                  <a:pt x="5159045" y="1325880"/>
                </a:lnTo>
                <a:lnTo>
                  <a:pt x="5165446" y="1325880"/>
                </a:lnTo>
                <a:lnTo>
                  <a:pt x="5171846" y="1325880"/>
                </a:lnTo>
                <a:lnTo>
                  <a:pt x="5178247" y="1325880"/>
                </a:lnTo>
                <a:lnTo>
                  <a:pt x="5184648" y="1325880"/>
                </a:lnTo>
                <a:lnTo>
                  <a:pt x="5191049" y="1325880"/>
                </a:lnTo>
                <a:lnTo>
                  <a:pt x="5197450" y="1325880"/>
                </a:lnTo>
                <a:lnTo>
                  <a:pt x="5203850" y="1325880"/>
                </a:lnTo>
                <a:lnTo>
                  <a:pt x="5210251" y="1325880"/>
                </a:lnTo>
                <a:lnTo>
                  <a:pt x="5216652" y="1325880"/>
                </a:lnTo>
                <a:lnTo>
                  <a:pt x="5223053" y="1325880"/>
                </a:lnTo>
                <a:lnTo>
                  <a:pt x="5229454" y="1325880"/>
                </a:lnTo>
                <a:lnTo>
                  <a:pt x="5235854" y="1325880"/>
                </a:lnTo>
                <a:lnTo>
                  <a:pt x="5242255" y="1325880"/>
                </a:lnTo>
                <a:lnTo>
                  <a:pt x="5248656" y="1325880"/>
                </a:lnTo>
                <a:lnTo>
                  <a:pt x="5255057" y="1325880"/>
                </a:lnTo>
                <a:lnTo>
                  <a:pt x="5261458" y="1325880"/>
                </a:lnTo>
                <a:lnTo>
                  <a:pt x="5267858" y="1325880"/>
                </a:lnTo>
                <a:lnTo>
                  <a:pt x="5274259" y="1325880"/>
                </a:lnTo>
                <a:lnTo>
                  <a:pt x="5280660" y="1325880"/>
                </a:lnTo>
                <a:lnTo>
                  <a:pt x="5287061" y="1325880"/>
                </a:lnTo>
                <a:lnTo>
                  <a:pt x="5293462" y="1325880"/>
                </a:lnTo>
                <a:lnTo>
                  <a:pt x="5299862" y="1325880"/>
                </a:lnTo>
                <a:lnTo>
                  <a:pt x="5306263" y="1325880"/>
                </a:lnTo>
                <a:lnTo>
                  <a:pt x="5312664" y="1325880"/>
                </a:lnTo>
                <a:lnTo>
                  <a:pt x="5319065" y="1325880"/>
                </a:lnTo>
                <a:lnTo>
                  <a:pt x="5325466" y="1325880"/>
                </a:lnTo>
                <a:lnTo>
                  <a:pt x="5331866" y="1325880"/>
                </a:lnTo>
                <a:lnTo>
                  <a:pt x="5338267" y="1325880"/>
                </a:lnTo>
                <a:lnTo>
                  <a:pt x="5344668" y="1325880"/>
                </a:lnTo>
                <a:lnTo>
                  <a:pt x="5351069" y="1325880"/>
                </a:lnTo>
                <a:lnTo>
                  <a:pt x="5357470" y="1325880"/>
                </a:lnTo>
                <a:lnTo>
                  <a:pt x="5363870" y="1325880"/>
                </a:lnTo>
                <a:lnTo>
                  <a:pt x="5370271" y="1325880"/>
                </a:lnTo>
                <a:lnTo>
                  <a:pt x="5376672" y="1325880"/>
                </a:lnTo>
                <a:lnTo>
                  <a:pt x="5383073" y="1325880"/>
                </a:lnTo>
                <a:lnTo>
                  <a:pt x="5389474" y="1325880"/>
                </a:lnTo>
                <a:lnTo>
                  <a:pt x="5395874" y="1325880"/>
                </a:lnTo>
                <a:lnTo>
                  <a:pt x="5402275" y="1325880"/>
                </a:lnTo>
                <a:lnTo>
                  <a:pt x="5408676" y="1325880"/>
                </a:lnTo>
                <a:lnTo>
                  <a:pt x="5415077" y="1325880"/>
                </a:lnTo>
                <a:lnTo>
                  <a:pt x="5421478" y="1325880"/>
                </a:lnTo>
                <a:lnTo>
                  <a:pt x="5427878" y="1325880"/>
                </a:lnTo>
                <a:lnTo>
                  <a:pt x="5434279" y="1325880"/>
                </a:lnTo>
                <a:lnTo>
                  <a:pt x="5440680" y="1325880"/>
                </a:lnTo>
                <a:lnTo>
                  <a:pt x="5447081" y="1325880"/>
                </a:lnTo>
                <a:lnTo>
                  <a:pt x="5453482" y="1325880"/>
                </a:lnTo>
                <a:lnTo>
                  <a:pt x="5459882" y="1325880"/>
                </a:lnTo>
                <a:lnTo>
                  <a:pt x="5466283" y="1325880"/>
                </a:lnTo>
                <a:lnTo>
                  <a:pt x="5472684" y="1325880"/>
                </a:lnTo>
                <a:lnTo>
                  <a:pt x="5479085" y="1325880"/>
                </a:lnTo>
                <a:lnTo>
                  <a:pt x="5485486" y="1325880"/>
                </a:lnTo>
                <a:lnTo>
                  <a:pt x="5491886" y="1325880"/>
                </a:lnTo>
                <a:lnTo>
                  <a:pt x="5498287" y="1325880"/>
                </a:lnTo>
                <a:lnTo>
                  <a:pt x="5504688" y="1325880"/>
                </a:lnTo>
                <a:lnTo>
                  <a:pt x="5511089" y="1325880"/>
                </a:lnTo>
                <a:lnTo>
                  <a:pt x="5517490" y="1325880"/>
                </a:lnTo>
                <a:lnTo>
                  <a:pt x="5523890" y="1325880"/>
                </a:lnTo>
                <a:lnTo>
                  <a:pt x="5530291" y="1325880"/>
                </a:lnTo>
                <a:lnTo>
                  <a:pt x="5536692" y="1325880"/>
                </a:lnTo>
                <a:lnTo>
                  <a:pt x="5543093" y="1325880"/>
                </a:lnTo>
                <a:lnTo>
                  <a:pt x="5549494" y="1325880"/>
                </a:lnTo>
                <a:lnTo>
                  <a:pt x="5555894" y="1325880"/>
                </a:lnTo>
                <a:lnTo>
                  <a:pt x="5562295" y="1325880"/>
                </a:lnTo>
                <a:lnTo>
                  <a:pt x="5568696" y="1325880"/>
                </a:lnTo>
                <a:lnTo>
                  <a:pt x="5575097" y="1325880"/>
                </a:lnTo>
                <a:lnTo>
                  <a:pt x="5581498" y="1325880"/>
                </a:lnTo>
                <a:lnTo>
                  <a:pt x="5587898" y="1325880"/>
                </a:lnTo>
                <a:lnTo>
                  <a:pt x="5594299" y="1325880"/>
                </a:lnTo>
                <a:lnTo>
                  <a:pt x="5600700" y="1325880"/>
                </a:lnTo>
                <a:lnTo>
                  <a:pt x="5607101" y="1325880"/>
                </a:lnTo>
                <a:lnTo>
                  <a:pt x="5613502" y="1325880"/>
                </a:lnTo>
                <a:lnTo>
                  <a:pt x="5619902" y="1325880"/>
                </a:lnTo>
                <a:lnTo>
                  <a:pt x="5626303" y="1325880"/>
                </a:lnTo>
                <a:lnTo>
                  <a:pt x="5632704" y="1325880"/>
                </a:lnTo>
                <a:lnTo>
                  <a:pt x="5639105" y="1325880"/>
                </a:lnTo>
                <a:lnTo>
                  <a:pt x="5645506" y="1325880"/>
                </a:lnTo>
                <a:lnTo>
                  <a:pt x="5651906" y="1325880"/>
                </a:lnTo>
                <a:lnTo>
                  <a:pt x="5658307" y="1325880"/>
                </a:lnTo>
                <a:lnTo>
                  <a:pt x="5664708" y="1325880"/>
                </a:lnTo>
                <a:lnTo>
                  <a:pt x="5671109" y="1325880"/>
                </a:lnTo>
                <a:lnTo>
                  <a:pt x="5677510" y="1325880"/>
                </a:lnTo>
                <a:lnTo>
                  <a:pt x="5683910" y="1325880"/>
                </a:lnTo>
                <a:lnTo>
                  <a:pt x="5690311" y="1325880"/>
                </a:lnTo>
                <a:lnTo>
                  <a:pt x="5696712" y="1325880"/>
                </a:lnTo>
                <a:lnTo>
                  <a:pt x="5703113" y="1325880"/>
                </a:lnTo>
                <a:lnTo>
                  <a:pt x="5709514" y="1325880"/>
                </a:lnTo>
                <a:lnTo>
                  <a:pt x="5715914" y="1325880"/>
                </a:lnTo>
                <a:lnTo>
                  <a:pt x="5722315" y="1325880"/>
                </a:lnTo>
                <a:lnTo>
                  <a:pt x="5728716" y="1325880"/>
                </a:lnTo>
                <a:lnTo>
                  <a:pt x="5735117" y="1325880"/>
                </a:lnTo>
                <a:lnTo>
                  <a:pt x="5741518" y="1325880"/>
                </a:lnTo>
                <a:lnTo>
                  <a:pt x="5747918" y="1325880"/>
                </a:lnTo>
                <a:lnTo>
                  <a:pt x="5754319" y="1325880"/>
                </a:lnTo>
                <a:lnTo>
                  <a:pt x="5760720" y="1325880"/>
                </a:lnTo>
                <a:lnTo>
                  <a:pt x="5767121" y="1325880"/>
                </a:lnTo>
                <a:lnTo>
                  <a:pt x="5773522" y="1325880"/>
                </a:lnTo>
                <a:lnTo>
                  <a:pt x="5779922" y="1325880"/>
                </a:lnTo>
                <a:lnTo>
                  <a:pt x="5786323" y="1325880"/>
                </a:lnTo>
                <a:lnTo>
                  <a:pt x="5792724" y="1325880"/>
                </a:lnTo>
                <a:lnTo>
                  <a:pt x="5799125" y="1325880"/>
                </a:lnTo>
                <a:lnTo>
                  <a:pt x="5805526" y="1325880"/>
                </a:lnTo>
                <a:lnTo>
                  <a:pt x="5811926" y="1325880"/>
                </a:lnTo>
                <a:lnTo>
                  <a:pt x="5818327" y="1325880"/>
                </a:lnTo>
                <a:lnTo>
                  <a:pt x="5824728" y="1325880"/>
                </a:lnTo>
                <a:lnTo>
                  <a:pt x="5831129" y="1325880"/>
                </a:lnTo>
                <a:lnTo>
                  <a:pt x="5837530" y="1325880"/>
                </a:lnTo>
                <a:lnTo>
                  <a:pt x="5843930" y="1325880"/>
                </a:lnTo>
                <a:lnTo>
                  <a:pt x="5850331" y="1325880"/>
                </a:lnTo>
                <a:lnTo>
                  <a:pt x="5856732" y="1325880"/>
                </a:lnTo>
                <a:lnTo>
                  <a:pt x="5863133" y="1325880"/>
                </a:lnTo>
                <a:lnTo>
                  <a:pt x="5869534" y="1325880"/>
                </a:lnTo>
                <a:lnTo>
                  <a:pt x="5875934" y="1325880"/>
                </a:lnTo>
                <a:lnTo>
                  <a:pt x="5882335" y="1325880"/>
                </a:lnTo>
                <a:lnTo>
                  <a:pt x="5888736" y="1325880"/>
                </a:lnTo>
                <a:lnTo>
                  <a:pt x="5895137" y="1325880"/>
                </a:lnTo>
                <a:lnTo>
                  <a:pt x="5901538" y="1325880"/>
                </a:lnTo>
                <a:lnTo>
                  <a:pt x="5907938" y="1325880"/>
                </a:lnTo>
                <a:lnTo>
                  <a:pt x="5914339" y="1325880"/>
                </a:lnTo>
                <a:lnTo>
                  <a:pt x="5920740" y="1325880"/>
                </a:lnTo>
                <a:lnTo>
                  <a:pt x="5927141" y="1325880"/>
                </a:lnTo>
                <a:lnTo>
                  <a:pt x="5933542" y="1325880"/>
                </a:lnTo>
                <a:lnTo>
                  <a:pt x="5939942" y="1325880"/>
                </a:lnTo>
                <a:lnTo>
                  <a:pt x="5946343" y="1325880"/>
                </a:lnTo>
                <a:lnTo>
                  <a:pt x="5952744" y="1325880"/>
                </a:lnTo>
                <a:lnTo>
                  <a:pt x="5959145" y="1325880"/>
                </a:lnTo>
                <a:lnTo>
                  <a:pt x="5965546" y="1325880"/>
                </a:lnTo>
                <a:lnTo>
                  <a:pt x="5971946" y="1325880"/>
                </a:lnTo>
                <a:lnTo>
                  <a:pt x="5978347" y="1325880"/>
                </a:lnTo>
                <a:lnTo>
                  <a:pt x="5984748" y="1325880"/>
                </a:lnTo>
                <a:lnTo>
                  <a:pt x="5991149" y="1325880"/>
                </a:lnTo>
                <a:lnTo>
                  <a:pt x="5997550" y="1325880"/>
                </a:lnTo>
                <a:lnTo>
                  <a:pt x="6003950" y="1325880"/>
                </a:lnTo>
                <a:lnTo>
                  <a:pt x="6010351" y="1325880"/>
                </a:lnTo>
                <a:lnTo>
                  <a:pt x="6016752" y="1325880"/>
                </a:lnTo>
                <a:lnTo>
                  <a:pt x="6023153" y="1325880"/>
                </a:lnTo>
                <a:lnTo>
                  <a:pt x="6029554" y="1325880"/>
                </a:lnTo>
                <a:lnTo>
                  <a:pt x="6035954" y="1325880"/>
                </a:lnTo>
                <a:lnTo>
                  <a:pt x="6042355" y="1325880"/>
                </a:lnTo>
                <a:lnTo>
                  <a:pt x="6048756" y="1325880"/>
                </a:lnTo>
                <a:lnTo>
                  <a:pt x="6055157" y="1325880"/>
                </a:lnTo>
                <a:lnTo>
                  <a:pt x="6061558" y="1325880"/>
                </a:lnTo>
                <a:lnTo>
                  <a:pt x="6067958" y="1325880"/>
                </a:lnTo>
                <a:lnTo>
                  <a:pt x="6074359" y="1325880"/>
                </a:lnTo>
                <a:lnTo>
                  <a:pt x="6080760" y="1325880"/>
                </a:lnTo>
                <a:lnTo>
                  <a:pt x="6087161" y="1325880"/>
                </a:lnTo>
                <a:lnTo>
                  <a:pt x="6093562" y="1325880"/>
                </a:lnTo>
                <a:lnTo>
                  <a:pt x="6099962" y="1325880"/>
                </a:lnTo>
                <a:lnTo>
                  <a:pt x="6106363" y="1325880"/>
                </a:lnTo>
                <a:lnTo>
                  <a:pt x="6112764" y="1325880"/>
                </a:lnTo>
                <a:lnTo>
                  <a:pt x="6119165" y="1325880"/>
                </a:lnTo>
                <a:lnTo>
                  <a:pt x="6125566" y="1325880"/>
                </a:lnTo>
                <a:lnTo>
                  <a:pt x="6131966" y="1325880"/>
                </a:lnTo>
                <a:lnTo>
                  <a:pt x="6138367" y="1325880"/>
                </a:lnTo>
                <a:lnTo>
                  <a:pt x="6144768" y="1325880"/>
                </a:lnTo>
                <a:lnTo>
                  <a:pt x="6151169" y="1325880"/>
                </a:lnTo>
                <a:lnTo>
                  <a:pt x="6157570" y="1325880"/>
                </a:lnTo>
                <a:lnTo>
                  <a:pt x="6163970" y="1325880"/>
                </a:lnTo>
                <a:lnTo>
                  <a:pt x="6170371" y="1325880"/>
                </a:lnTo>
                <a:lnTo>
                  <a:pt x="6176772" y="1325880"/>
                </a:lnTo>
                <a:lnTo>
                  <a:pt x="6183173" y="1325880"/>
                </a:lnTo>
                <a:lnTo>
                  <a:pt x="6189574" y="1325880"/>
                </a:lnTo>
                <a:lnTo>
                  <a:pt x="6195974" y="1325880"/>
                </a:lnTo>
                <a:lnTo>
                  <a:pt x="6202375" y="1325880"/>
                </a:lnTo>
                <a:lnTo>
                  <a:pt x="6208776" y="1325880"/>
                </a:lnTo>
                <a:lnTo>
                  <a:pt x="6215177" y="1325880"/>
                </a:lnTo>
                <a:lnTo>
                  <a:pt x="6221578" y="1325880"/>
                </a:lnTo>
                <a:lnTo>
                  <a:pt x="6227978" y="1325880"/>
                </a:lnTo>
                <a:lnTo>
                  <a:pt x="6234379" y="1325880"/>
                </a:lnTo>
                <a:lnTo>
                  <a:pt x="6240780" y="1325880"/>
                </a:lnTo>
                <a:lnTo>
                  <a:pt x="6247181" y="1325880"/>
                </a:lnTo>
                <a:lnTo>
                  <a:pt x="6253582" y="1325880"/>
                </a:lnTo>
                <a:lnTo>
                  <a:pt x="6259982" y="1325880"/>
                </a:lnTo>
                <a:lnTo>
                  <a:pt x="6266383" y="1325880"/>
                </a:lnTo>
                <a:lnTo>
                  <a:pt x="6272784" y="1325880"/>
                </a:lnTo>
                <a:lnTo>
                  <a:pt x="6279185" y="1325880"/>
                </a:lnTo>
                <a:lnTo>
                  <a:pt x="6285586" y="1325880"/>
                </a:lnTo>
                <a:lnTo>
                  <a:pt x="6291986" y="1325880"/>
                </a:lnTo>
                <a:lnTo>
                  <a:pt x="6298387" y="1325880"/>
                </a:lnTo>
                <a:lnTo>
                  <a:pt x="6304788" y="1325880"/>
                </a:lnTo>
                <a:lnTo>
                  <a:pt x="6311189" y="1325880"/>
                </a:lnTo>
                <a:lnTo>
                  <a:pt x="6317590" y="1325880"/>
                </a:lnTo>
                <a:lnTo>
                  <a:pt x="6323990" y="1325880"/>
                </a:lnTo>
                <a:lnTo>
                  <a:pt x="6330391" y="1325880"/>
                </a:lnTo>
                <a:lnTo>
                  <a:pt x="6336792" y="1325880"/>
                </a:lnTo>
                <a:lnTo>
                  <a:pt x="6343193" y="1325880"/>
                </a:lnTo>
                <a:lnTo>
                  <a:pt x="6349594" y="1325880"/>
                </a:lnTo>
                <a:lnTo>
                  <a:pt x="6355994" y="1325880"/>
                </a:lnTo>
                <a:lnTo>
                  <a:pt x="6362395" y="1325880"/>
                </a:lnTo>
                <a:lnTo>
                  <a:pt x="6368796" y="1325880"/>
                </a:lnTo>
                <a:lnTo>
                  <a:pt x="6375197" y="1325880"/>
                </a:lnTo>
                <a:lnTo>
                  <a:pt x="6381598" y="1325880"/>
                </a:lnTo>
                <a:lnTo>
                  <a:pt x="6387998" y="1325880"/>
                </a:lnTo>
                <a:lnTo>
                  <a:pt x="6394399" y="1325880"/>
                </a:lnTo>
              </a:path>
            </a:pathLst>
          </a:custGeom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4526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(logic)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17320" y="4892040"/>
            <a:ext cx="6400800" cy="502920"/>
          </a:xfrm>
          <a:custGeom>
            <a:avLst/>
            <a:gdLst/>
            <a:ahLst/>
            <a:cxnLst/>
            <a:rect l="l" t="t" r="r" b="b"/>
            <a:pathLst>
              <a:path w="6400800" h="502920">
                <a:moveTo>
                  <a:pt x="0" y="502920"/>
                </a:moveTo>
                <a:lnTo>
                  <a:pt x="649681" y="502920"/>
                </a:lnTo>
                <a:lnTo>
                  <a:pt x="649681" y="0"/>
                </a:lnTo>
                <a:lnTo>
                  <a:pt x="800100" y="0"/>
                </a:lnTo>
                <a:lnTo>
                  <a:pt x="800100" y="502920"/>
                </a:lnTo>
                <a:lnTo>
                  <a:pt x="880110" y="502920"/>
                </a:lnTo>
                <a:lnTo>
                  <a:pt x="880110" y="0"/>
                </a:lnTo>
                <a:lnTo>
                  <a:pt x="992124" y="0"/>
                </a:lnTo>
                <a:lnTo>
                  <a:pt x="992124" y="502920"/>
                </a:lnTo>
                <a:lnTo>
                  <a:pt x="1052932" y="502920"/>
                </a:lnTo>
                <a:lnTo>
                  <a:pt x="1052932" y="0"/>
                </a:lnTo>
                <a:lnTo>
                  <a:pt x="1126541" y="0"/>
                </a:lnTo>
                <a:lnTo>
                  <a:pt x="1126541" y="502920"/>
                </a:lnTo>
                <a:lnTo>
                  <a:pt x="1174547" y="502920"/>
                </a:lnTo>
                <a:lnTo>
                  <a:pt x="1174547" y="0"/>
                </a:lnTo>
                <a:lnTo>
                  <a:pt x="1219352" y="0"/>
                </a:lnTo>
                <a:lnTo>
                  <a:pt x="1219352" y="502920"/>
                </a:lnTo>
                <a:lnTo>
                  <a:pt x="1257757" y="502920"/>
                </a:lnTo>
                <a:lnTo>
                  <a:pt x="1257757" y="0"/>
                </a:lnTo>
                <a:lnTo>
                  <a:pt x="4499762" y="0"/>
                </a:lnTo>
                <a:lnTo>
                  <a:pt x="4499762" y="502920"/>
                </a:lnTo>
                <a:lnTo>
                  <a:pt x="4566971" y="502920"/>
                </a:lnTo>
                <a:lnTo>
                  <a:pt x="4566971" y="0"/>
                </a:lnTo>
                <a:lnTo>
                  <a:pt x="4640580" y="0"/>
                </a:lnTo>
                <a:lnTo>
                  <a:pt x="4640580" y="502920"/>
                </a:lnTo>
                <a:lnTo>
                  <a:pt x="4707788" y="502920"/>
                </a:lnTo>
                <a:lnTo>
                  <a:pt x="4707788" y="0"/>
                </a:lnTo>
                <a:lnTo>
                  <a:pt x="4752594" y="0"/>
                </a:lnTo>
                <a:lnTo>
                  <a:pt x="4752594" y="502920"/>
                </a:lnTo>
                <a:lnTo>
                  <a:pt x="6400800" y="502920"/>
                </a:lnTo>
              </a:path>
            </a:pathLst>
          </a:custGeom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93392" y="1691640"/>
            <a:ext cx="736092" cy="3886200"/>
          </a:xfrm>
          <a:prstGeom prst="roundRect">
            <a:avLst>
              <a:gd name="adj" fmla="val 4969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833872" y="1691640"/>
            <a:ext cx="416052" cy="3886200"/>
          </a:xfrm>
          <a:prstGeom prst="roundRect">
            <a:avLst>
              <a:gd name="adj" fmla="val 8791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993392" y="5623560"/>
            <a:ext cx="7360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50992" y="5623560"/>
            <a:ext cx="7818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081528" y="30038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 ~ V_IH 사이 = 불확정 구간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118872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8458200" y="13167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58200" y="157276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Mechanical scattering noise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접점의 탄성 충돌로 한 번의 조작에 0 / 1 전이가 여러 번 발생하는 현상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92608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458200" y="30540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원인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3101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Push: 접점 충돌 → 반발 → 재접촉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Pop: 접점 분리 순간 진동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전압이 V_IL ~ V_IH를 여러 번 통과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275320" y="466344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8458200" y="47914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50474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양쪽에서 발생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· 개수 불규칙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push마다 다른 패턴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치명적인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Press Becomes Several Rising Edges and Toggles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직결 시 FSM 동작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9601200" cy="411480"/>
          </a:xfrm>
          <a:custGeom>
            <a:avLst/>
            <a:gdLst/>
            <a:ahLst/>
            <a:cxnLst/>
            <a:rect l="l" t="t" r="r" b="b"/>
            <a:pathLst>
              <a:path w="9601200" h="411480">
                <a:moveTo>
                  <a:pt x="0" y="411480"/>
                </a:moveTo>
                <a:lnTo>
                  <a:pt x="533400" y="411480"/>
                </a:lnTo>
                <a:lnTo>
                  <a:pt x="533400" y="0"/>
                </a:lnTo>
                <a:lnTo>
                  <a:pt x="853440" y="0"/>
                </a:lnTo>
                <a:lnTo>
                  <a:pt x="853440" y="411480"/>
                </a:lnTo>
                <a:lnTo>
                  <a:pt x="1173480" y="411480"/>
                </a:lnTo>
                <a:lnTo>
                  <a:pt x="1173480" y="0"/>
                </a:lnTo>
                <a:lnTo>
                  <a:pt x="1493520" y="0"/>
                </a:lnTo>
                <a:lnTo>
                  <a:pt x="1493520" y="411480"/>
                </a:lnTo>
                <a:lnTo>
                  <a:pt x="1813560" y="411480"/>
                </a:lnTo>
                <a:lnTo>
                  <a:pt x="1813560" y="0"/>
                </a:lnTo>
                <a:lnTo>
                  <a:pt x="2080260" y="0"/>
                </a:lnTo>
                <a:lnTo>
                  <a:pt x="2080260" y="411480"/>
                </a:lnTo>
                <a:lnTo>
                  <a:pt x="2400300" y="411480"/>
                </a:lnTo>
                <a:lnTo>
                  <a:pt x="2400300" y="0"/>
                </a:lnTo>
                <a:lnTo>
                  <a:pt x="8641080" y="0"/>
                </a:lnTo>
                <a:lnTo>
                  <a:pt x="8641080" y="411480"/>
                </a:lnTo>
                <a:lnTo>
                  <a:pt x="9601200" y="41148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341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2341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622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7426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7426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0228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1434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1434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4236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1010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1010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291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85800" y="2926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state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255520" y="3749040"/>
            <a:ext cx="2186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구간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308860" y="3703320"/>
            <a:ext cx="2080260" cy="91440"/>
          </a:xfrm>
          <a:custGeom>
            <a:avLst/>
            <a:gdLst/>
            <a:ahLst/>
            <a:cxnLst/>
            <a:rect l="l" t="t" r="r" b="b"/>
            <a:pathLst>
              <a:path w="2080260" h="91440">
                <a:moveTo>
                  <a:pt x="0" y="0"/>
                </a:moveTo>
                <a:lnTo>
                  <a:pt x="0" y="91440"/>
                </a:lnTo>
                <a:lnTo>
                  <a:pt x="2080260" y="91440"/>
                </a:lnTo>
                <a:lnTo>
                  <a:pt x="2080260" y="0"/>
                </a:lnTo>
              </a:path>
            </a:pathLst>
          </a:custGeom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5CDACC9-9A3F-4587-609D-24CCA39298A1}"/>
              </a:ext>
            </a:extLst>
          </p:cNvPr>
          <p:cNvGrpSpPr/>
          <p:nvPr/>
        </p:nvGrpSpPr>
        <p:grpSpPr>
          <a:xfrm>
            <a:off x="411480" y="4645161"/>
            <a:ext cx="11384280" cy="777240"/>
            <a:chOff x="411480" y="5559552"/>
            <a:chExt cx="11384280" cy="777240"/>
          </a:xfrm>
        </p:grpSpPr>
        <p:sp>
          <p:nvSpPr>
            <p:cNvPr id="41" name="Shape 39"/>
            <p:cNvSpPr/>
            <p:nvPr/>
          </p:nvSpPr>
          <p:spPr>
            <a:xfrm>
              <a:off x="411480" y="5559552"/>
              <a:ext cx="11384280" cy="77724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640080" y="5559552"/>
              <a:ext cx="109728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원인  </a:t>
              </a: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FPGA = 10 ns마다 i_btn sampling  ·  bounce pulse 폭 ≫ 10 ns  →  pulse 하나하나가 유효한 1로 인식</a:t>
              </a:r>
              <a:endParaRPr lang="en-US" sz="1500" b="1" dirty="0"/>
            </a:p>
          </p:txBody>
        </p:sp>
      </p:grp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41</a:t>
            </a:r>
            <a:endParaRPr lang="en-US" sz="900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C616CB3E-0CF6-A750-230B-C5C27D688275}"/>
              </a:ext>
            </a:extLst>
          </p:cNvPr>
          <p:cNvGrpSpPr/>
          <p:nvPr/>
        </p:nvGrpSpPr>
        <p:grpSpPr>
          <a:xfrm>
            <a:off x="411480" y="5541264"/>
            <a:ext cx="11384280" cy="777240"/>
            <a:chOff x="411480" y="5559552"/>
            <a:chExt cx="11384280" cy="777240"/>
          </a:xfrm>
        </p:grpSpPr>
        <p:sp>
          <p:nvSpPr>
            <p:cNvPr id="47" name="Shape 39">
              <a:extLst>
                <a:ext uri="{FF2B5EF4-FFF2-40B4-BE49-F238E27FC236}">
                  <a16:creationId xmlns:a16="http://schemas.microsoft.com/office/drawing/2014/main" id="{A89C5F94-A548-7E70-4BE0-166046215F39}"/>
                </a:ext>
              </a:extLst>
            </p:cNvPr>
            <p:cNvSpPr/>
            <p:nvPr/>
          </p:nvSpPr>
          <p:spPr>
            <a:xfrm>
              <a:off x="411480" y="5559552"/>
              <a:ext cx="11384280" cy="77724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40">
              <a:extLst>
                <a:ext uri="{FF2B5EF4-FFF2-40B4-BE49-F238E27FC236}">
                  <a16:creationId xmlns:a16="http://schemas.microsoft.com/office/drawing/2014/main" id="{E3CC9449-726A-FE8C-32E7-CD143367B414}"/>
                </a:ext>
              </a:extLst>
            </p:cNvPr>
            <p:cNvSpPr txBox="1"/>
            <p:nvPr/>
          </p:nvSpPr>
          <p:spPr>
            <a:xfrm>
              <a:off x="640080" y="5559552"/>
              <a:ext cx="109728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ko-KR" altLang="en-US" sz="1500" b="1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결과</a:t>
              </a:r>
              <a:r>
                <a:rPr lang="en-US" sz="1500" b="1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 </a:t>
              </a:r>
              <a:r>
                <a:rPr 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i_btn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의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bouncing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에 따라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toggling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및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state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변화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/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입력 시점에 따른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Metastability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발생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</a:t>
              </a:r>
              <a:endParaRPr lang="en-US" sz="15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해결 방법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Ways to Debounce: RC Filter, Counter, Shift Register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78308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96596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+ Schmitt trigger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 회로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011680" y="2331720"/>
            <a:ext cx="1828800" cy="182880"/>
          </a:xfrm>
          <a:custGeom>
            <a:avLst/>
            <a:gdLst/>
            <a:ahLst/>
            <a:cxnLst/>
            <a:rect l="l" t="t" r="r" b="b"/>
            <a:pathLst>
              <a:path w="1828800" h="182880">
                <a:moveTo>
                  <a:pt x="0" y="91440"/>
                </a:moveTo>
                <a:lnTo>
                  <a:pt x="411480" y="91440"/>
                </a:lnTo>
                <a:lnTo>
                  <a:pt x="457200" y="0"/>
                </a:lnTo>
                <a:lnTo>
                  <a:pt x="530352" y="182880"/>
                </a:lnTo>
                <a:lnTo>
                  <a:pt x="603504" y="0"/>
                </a:lnTo>
                <a:lnTo>
                  <a:pt x="676656" y="182880"/>
                </a:lnTo>
                <a:lnTo>
                  <a:pt x="749808" y="0"/>
                </a:lnTo>
                <a:lnTo>
                  <a:pt x="822960" y="182880"/>
                </a:lnTo>
                <a:lnTo>
                  <a:pt x="914400" y="91440"/>
                </a:lnTo>
                <a:lnTo>
                  <a:pt x="1828800" y="91440"/>
                </a:lnTo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2514600" y="20848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423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063240" y="269748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63240" y="278892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383280" y="26151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2148840"/>
            <a:ext cx="502920" cy="548640"/>
          </a:xfrm>
          <a:custGeom>
            <a:avLst/>
            <a:gdLst/>
            <a:ahLst/>
            <a:cxnLst/>
            <a:rect l="l" t="t" r="r" b="b"/>
            <a:pathLst>
              <a:path w="502920" h="548640">
                <a:moveTo>
                  <a:pt x="0" y="0"/>
                </a:moveTo>
                <a:lnTo>
                  <a:pt x="0" y="548640"/>
                </a:lnTo>
                <a:lnTo>
                  <a:pt x="502920" y="274320"/>
                </a:lnTo>
                <a:close/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895344" y="23134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423160"/>
            <a:ext cx="5029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6596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196596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시정수로 빠른 전압 변화 감쇠 + hysteresis 2단 문턱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96596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96596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 &gt; V_T+ → 1  ·  V &lt; V_T- → 0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96596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196596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logic 불필요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96596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96596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 추가 · 시정수 고정 (변경 = 보드 수정)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4350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3263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방식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32638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72100" y="242316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3721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solidFill>
            <a:srgbClr val="F8FAFC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== 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83780" y="2423160"/>
            <a:ext cx="82296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7475220" y="2148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2638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32638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≠ 출력 동안 count +1 · 입력 변화 시 count reset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532638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32638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== N → 출력 갱신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532638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2638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window를 counter bit 수로 구현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32638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2638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필요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50392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8680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Shift Register 방식 (SIPO)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 · Homework 적용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5256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78408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051560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124712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68680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868680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N sample을 shift register에 병렬 보관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68680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68680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bit 모두 1 → 1 (N-input AND)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68680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868680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= AND 1단 · latency N cycle 고정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68680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68680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= N × sampling 주기 → 긴 window엔 sampling enable 필요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411480" y="311810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411480" y="311810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원리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11480" y="394106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411480" y="394106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조건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411480" y="476402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411480" y="476402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411480" y="558698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411480" y="558698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현업 구성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Production Debounce Chains Synchronizer, Filter and Edge Detector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입력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66544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22576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22576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Synchronizer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Metastability 차단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77640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33672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233672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42232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길이 결정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42232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88736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144768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144768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제거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99832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055864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5803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055864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964424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710928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96696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E293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96696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입력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2883513"/>
            <a:ext cx="1138428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94360" y="3011529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 대응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" y="3340713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640080" y="3340713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3108960" y="3551025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3657600" y="3340713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q_reg[7] 1단이 sampling 겸용 (전용 synchronizer 없음)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40080" y="3871065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640080" y="3871065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Enable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3108960" y="4081377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3657600" y="3871065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→ 100 MHz 매 posedge sampling → window 80 ns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640080" y="4401417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40080" y="4401417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Filter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3108960" y="4611729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3657600" y="4401417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q_reg[7:0] 8-bit SIPO + 8-input AND (debounce)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" y="4931769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40080" y="4931769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Detector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108960" y="5142081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657600" y="4931769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+ ~edge_reg &amp; debounce → o_btn 1-cycle tick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41</a:t>
            </a:r>
            <a:endParaRPr lang="en-US" sz="900" dirty="0"/>
          </a:p>
        </p:txBody>
      </p:sp>
      <p:sp>
        <p:nvSpPr>
          <p:cNvPr id="56" name="Text 50">
            <a:extLst>
              <a:ext uri="{FF2B5EF4-FFF2-40B4-BE49-F238E27FC236}">
                <a16:creationId xmlns:a16="http://schemas.microsoft.com/office/drawing/2014/main" id="{7F398A26-FEF3-3E03-855F-5490E59571FD}"/>
              </a:ext>
            </a:extLst>
          </p:cNvPr>
          <p:cNvSpPr txBox="1"/>
          <p:nvPr/>
        </p:nvSpPr>
        <p:spPr>
          <a:xfrm>
            <a:off x="594360" y="558141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/>
              <a:t>*window – N(samplie number) x Sampling frequency 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4">
            <a:extLst>
              <a:ext uri="{FF2B5EF4-FFF2-40B4-BE49-F238E27FC236}">
                <a16:creationId xmlns:a16="http://schemas.microsoft.com/office/drawing/2014/main" id="{5A09BDCA-7B8B-D3AD-D38B-2514D96045F0}"/>
              </a:ext>
            </a:extLst>
          </p:cNvPr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SIPO 판정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SIPO Checks the Last 8 Samples at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44B56C1-D64F-F199-4BD6-8E207A6E7E3A}"/>
              </a:ext>
            </a:extLst>
          </p:cNvPr>
          <p:cNvGrpSpPr/>
          <p:nvPr/>
        </p:nvGrpSpPr>
        <p:grpSpPr>
          <a:xfrm>
            <a:off x="594360" y="2210113"/>
            <a:ext cx="6309360" cy="2935224"/>
            <a:chOff x="594360" y="1316736"/>
            <a:chExt cx="6309360" cy="2935224"/>
          </a:xfrm>
        </p:grpSpPr>
        <p:sp>
          <p:nvSpPr>
            <p:cNvPr id="10" name="Text 8"/>
            <p:cNvSpPr txBox="1"/>
            <p:nvPr/>
          </p:nvSpPr>
          <p:spPr>
            <a:xfrm>
              <a:off x="5806440" y="1691640"/>
              <a:ext cx="1097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debounce</a:t>
              </a:r>
              <a:endParaRPr lang="en-US" sz="1200" dirty="0"/>
            </a:p>
          </p:txBody>
        </p: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C6BD56B2-93FE-5A41-C8D4-6F18A5DB9010}"/>
                </a:ext>
              </a:extLst>
            </p:cNvPr>
            <p:cNvGrpSpPr/>
            <p:nvPr/>
          </p:nvGrpSpPr>
          <p:grpSpPr>
            <a:xfrm>
              <a:off x="594360" y="1316736"/>
              <a:ext cx="6309360" cy="2935224"/>
              <a:chOff x="594360" y="1316736"/>
              <a:chExt cx="6309360" cy="2935224"/>
            </a:xfrm>
          </p:grpSpPr>
          <p:sp>
            <p:nvSpPr>
              <p:cNvPr id="7" name="Text 5"/>
              <p:cNvSpPr txBox="1"/>
              <p:nvPr/>
            </p:nvSpPr>
            <p:spPr>
              <a:xfrm>
                <a:off x="594360" y="1316736"/>
                <a:ext cx="630936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500" b="1" dirty="0">
                    <a:solidFill>
                      <a:srgbClr val="2563EB"/>
                    </a:solidFill>
                    <a:latin typeface="맑은 고딕" pitchFamily="34" charset="0"/>
                    <a:ea typeface="맑은 고딕" pitchFamily="34" charset="-122"/>
                    <a:cs typeface="맑은 고딕" pitchFamily="34" charset="-120"/>
                  </a:rPr>
                  <a:t>q_reg 8 sample → 8-input AND</a:t>
                </a:r>
                <a:endParaRPr lang="en-US" sz="1500" dirty="0"/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3C6FF3-2980-EC1F-1009-B2042B117F34}"/>
                  </a:ext>
                </a:extLst>
              </p:cNvPr>
              <p:cNvGrpSpPr/>
              <p:nvPr/>
            </p:nvGrpSpPr>
            <p:grpSpPr>
              <a:xfrm>
                <a:off x="640080" y="1691640"/>
                <a:ext cx="6080760" cy="2560320"/>
                <a:chOff x="640080" y="1691640"/>
                <a:chExt cx="6080760" cy="2560320"/>
              </a:xfrm>
            </p:grpSpPr>
            <p:sp>
              <p:nvSpPr>
                <p:cNvPr id="8" name="Text 6"/>
                <p:cNvSpPr txBox="1"/>
                <p:nvPr/>
              </p:nvSpPr>
              <p:spPr>
                <a:xfrm>
                  <a:off x="1874520" y="1691640"/>
                  <a:ext cx="914400" cy="25603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l">
                    <a:buNone/>
                  </a:pPr>
                  <a:r>
                    <a:rPr lang="en-US" sz="1200" dirty="0">
                      <a:solidFill>
                        <a:srgbClr val="475569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q_reg[7]</a:t>
                  </a:r>
                  <a:endParaRPr lang="en-US" sz="1200" dirty="0"/>
                </a:p>
              </p:txBody>
            </p:sp>
            <p:sp>
              <p:nvSpPr>
                <p:cNvPr id="9" name="Text 7"/>
                <p:cNvSpPr txBox="1"/>
                <p:nvPr/>
              </p:nvSpPr>
              <p:spPr>
                <a:xfrm>
                  <a:off x="4709160" y="1691640"/>
                  <a:ext cx="914400" cy="25603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r">
                    <a:buNone/>
                  </a:pPr>
                  <a:r>
                    <a:rPr lang="en-US" sz="1200" dirty="0">
                      <a:solidFill>
                        <a:srgbClr val="475569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q_reg[0]</a:t>
                  </a:r>
                  <a:endParaRPr lang="en-US" sz="1200" dirty="0"/>
                </a:p>
              </p:txBody>
            </p:sp>
            <p:sp>
              <p:nvSpPr>
                <p:cNvPr id="11" name="Text 9"/>
                <p:cNvSpPr txBox="1"/>
                <p:nvPr/>
              </p:nvSpPr>
              <p:spPr>
                <a:xfrm>
                  <a:off x="640080" y="205740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l">
                    <a:buNone/>
                  </a:pPr>
                  <a:r>
                    <a:rPr lang="en-US" sz="14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A</a:t>
                  </a:r>
                  <a:endParaRPr lang="en-US" sz="1400" dirty="0"/>
                </a:p>
              </p:txBody>
            </p:sp>
            <p:sp>
              <p:nvSpPr>
                <p:cNvPr id="12" name="Shape 10"/>
                <p:cNvSpPr/>
                <p:nvPr/>
              </p:nvSpPr>
              <p:spPr>
                <a:xfrm>
                  <a:off x="1874520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874520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14" name="Shape 12"/>
                <p:cNvSpPr/>
                <p:nvPr/>
              </p:nvSpPr>
              <p:spPr>
                <a:xfrm>
                  <a:off x="2350008" y="205740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5" name="Text 13"/>
                <p:cNvSpPr txBox="1"/>
                <p:nvPr/>
              </p:nvSpPr>
              <p:spPr>
                <a:xfrm>
                  <a:off x="2350008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16" name="Shape 14"/>
                <p:cNvSpPr/>
                <p:nvPr/>
              </p:nvSpPr>
              <p:spPr>
                <a:xfrm>
                  <a:off x="2825496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7" name="Text 15"/>
                <p:cNvSpPr txBox="1"/>
                <p:nvPr/>
              </p:nvSpPr>
              <p:spPr>
                <a:xfrm>
                  <a:off x="2825496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18" name="Shape 16"/>
                <p:cNvSpPr/>
                <p:nvPr/>
              </p:nvSpPr>
              <p:spPr>
                <a:xfrm>
                  <a:off x="3300984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9" name="Text 17"/>
                <p:cNvSpPr txBox="1"/>
                <p:nvPr/>
              </p:nvSpPr>
              <p:spPr>
                <a:xfrm>
                  <a:off x="3300984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0" name="Shape 18"/>
                <p:cNvSpPr/>
                <p:nvPr/>
              </p:nvSpPr>
              <p:spPr>
                <a:xfrm>
                  <a:off x="3776472" y="205740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1" name="Text 19"/>
                <p:cNvSpPr txBox="1"/>
                <p:nvPr/>
              </p:nvSpPr>
              <p:spPr>
                <a:xfrm>
                  <a:off x="3776472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22" name="Shape 20"/>
                <p:cNvSpPr/>
                <p:nvPr/>
              </p:nvSpPr>
              <p:spPr>
                <a:xfrm>
                  <a:off x="4251960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3" name="Text 21"/>
                <p:cNvSpPr txBox="1"/>
                <p:nvPr/>
              </p:nvSpPr>
              <p:spPr>
                <a:xfrm>
                  <a:off x="4251960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4" name="Shape 22"/>
                <p:cNvSpPr/>
                <p:nvPr/>
              </p:nvSpPr>
              <p:spPr>
                <a:xfrm>
                  <a:off x="4727448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5" name="Text 23"/>
                <p:cNvSpPr txBox="1"/>
                <p:nvPr/>
              </p:nvSpPr>
              <p:spPr>
                <a:xfrm>
                  <a:off x="4727448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6" name="Shape 24"/>
                <p:cNvSpPr/>
                <p:nvPr/>
              </p:nvSpPr>
              <p:spPr>
                <a:xfrm>
                  <a:off x="5202936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7" name="Text 25"/>
                <p:cNvSpPr txBox="1"/>
                <p:nvPr/>
              </p:nvSpPr>
              <p:spPr>
                <a:xfrm>
                  <a:off x="5202936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8" name="Shape 26"/>
                <p:cNvSpPr/>
                <p:nvPr/>
              </p:nvSpPr>
              <p:spPr>
                <a:xfrm>
                  <a:off x="5715000" y="228600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9" name="Shape 27"/>
                <p:cNvSpPr/>
                <p:nvPr/>
              </p:nvSpPr>
              <p:spPr>
                <a:xfrm>
                  <a:off x="6080760" y="2057400"/>
                  <a:ext cx="640080" cy="457200"/>
                </a:xfrm>
                <a:prstGeom prst="rect">
                  <a:avLst/>
                </a:prstGeom>
                <a:solidFill>
                  <a:srgbClr val="FFFFFF"/>
                </a:solidFill>
                <a:ln w="15875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0" name="Text 28"/>
                <p:cNvSpPr txBox="1"/>
                <p:nvPr/>
              </p:nvSpPr>
              <p:spPr>
                <a:xfrm>
                  <a:off x="6080760" y="205740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600" dirty="0"/>
                </a:p>
              </p:txBody>
            </p:sp>
            <p:sp>
              <p:nvSpPr>
                <p:cNvPr id="31" name="Text 29"/>
                <p:cNvSpPr txBox="1"/>
                <p:nvPr/>
              </p:nvSpPr>
              <p:spPr>
                <a:xfrm>
                  <a:off x="640080" y="292608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l">
                    <a:buNone/>
                  </a:pPr>
                  <a:r>
                    <a:rPr lang="en-US" sz="14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B</a:t>
                  </a:r>
                  <a:endParaRPr lang="en-US" sz="1400" dirty="0"/>
                </a:p>
              </p:txBody>
            </p:sp>
            <p:sp>
              <p:nvSpPr>
                <p:cNvPr id="32" name="Shape 30"/>
                <p:cNvSpPr/>
                <p:nvPr/>
              </p:nvSpPr>
              <p:spPr>
                <a:xfrm>
                  <a:off x="1874520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3" name="Text 31"/>
                <p:cNvSpPr txBox="1"/>
                <p:nvPr/>
              </p:nvSpPr>
              <p:spPr>
                <a:xfrm>
                  <a:off x="1874520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34" name="Shape 32"/>
                <p:cNvSpPr/>
                <p:nvPr/>
              </p:nvSpPr>
              <p:spPr>
                <a:xfrm>
                  <a:off x="2350008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5" name="Text 33"/>
                <p:cNvSpPr txBox="1"/>
                <p:nvPr/>
              </p:nvSpPr>
              <p:spPr>
                <a:xfrm>
                  <a:off x="2350008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36" name="Shape 34"/>
                <p:cNvSpPr/>
                <p:nvPr/>
              </p:nvSpPr>
              <p:spPr>
                <a:xfrm>
                  <a:off x="2825496" y="292608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7" name="Text 35"/>
                <p:cNvSpPr txBox="1"/>
                <p:nvPr/>
              </p:nvSpPr>
              <p:spPr>
                <a:xfrm>
                  <a:off x="2825496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38" name="Shape 36"/>
                <p:cNvSpPr/>
                <p:nvPr/>
              </p:nvSpPr>
              <p:spPr>
                <a:xfrm>
                  <a:off x="3300984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9" name="Text 37"/>
                <p:cNvSpPr txBox="1"/>
                <p:nvPr/>
              </p:nvSpPr>
              <p:spPr>
                <a:xfrm>
                  <a:off x="3300984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0" name="Shape 38"/>
                <p:cNvSpPr/>
                <p:nvPr/>
              </p:nvSpPr>
              <p:spPr>
                <a:xfrm>
                  <a:off x="3776472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1" name="Text 39"/>
                <p:cNvSpPr txBox="1"/>
                <p:nvPr/>
              </p:nvSpPr>
              <p:spPr>
                <a:xfrm>
                  <a:off x="3776472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2" name="Shape 40"/>
                <p:cNvSpPr/>
                <p:nvPr/>
              </p:nvSpPr>
              <p:spPr>
                <a:xfrm>
                  <a:off x="4251960" y="292608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3" name="Text 41"/>
                <p:cNvSpPr txBox="1"/>
                <p:nvPr/>
              </p:nvSpPr>
              <p:spPr>
                <a:xfrm>
                  <a:off x="4251960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44" name="Shape 42"/>
                <p:cNvSpPr/>
                <p:nvPr/>
              </p:nvSpPr>
              <p:spPr>
                <a:xfrm>
                  <a:off x="4727448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5" name="Text 43"/>
                <p:cNvSpPr txBox="1"/>
                <p:nvPr/>
              </p:nvSpPr>
              <p:spPr>
                <a:xfrm>
                  <a:off x="4727448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6" name="Shape 44"/>
                <p:cNvSpPr/>
                <p:nvPr/>
              </p:nvSpPr>
              <p:spPr>
                <a:xfrm>
                  <a:off x="5202936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7" name="Text 45"/>
                <p:cNvSpPr txBox="1"/>
                <p:nvPr/>
              </p:nvSpPr>
              <p:spPr>
                <a:xfrm>
                  <a:off x="5202936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8" name="Shape 46"/>
                <p:cNvSpPr/>
                <p:nvPr/>
              </p:nvSpPr>
              <p:spPr>
                <a:xfrm>
                  <a:off x="5715000" y="315468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9" name="Shape 47"/>
                <p:cNvSpPr/>
                <p:nvPr/>
              </p:nvSpPr>
              <p:spPr>
                <a:xfrm>
                  <a:off x="6080760" y="2926080"/>
                  <a:ext cx="640080" cy="457200"/>
                </a:xfrm>
                <a:prstGeom prst="rect">
                  <a:avLst/>
                </a:prstGeom>
                <a:solidFill>
                  <a:srgbClr val="FFFFFF"/>
                </a:solidFill>
                <a:ln w="15875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0" name="Text 48"/>
                <p:cNvSpPr txBox="1"/>
                <p:nvPr/>
              </p:nvSpPr>
              <p:spPr>
                <a:xfrm>
                  <a:off x="6080760" y="292608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600" dirty="0"/>
                </a:p>
              </p:txBody>
            </p:sp>
            <p:sp>
              <p:nvSpPr>
                <p:cNvPr id="51" name="Text 49"/>
                <p:cNvSpPr txBox="1"/>
                <p:nvPr/>
              </p:nvSpPr>
              <p:spPr>
                <a:xfrm>
                  <a:off x="640080" y="379476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r>
                    <a:rPr lang="en-US" altLang="ko-KR" sz="1400" b="1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C</a:t>
                  </a:r>
                  <a:endParaRPr lang="en-US" altLang="ko-KR" sz="1400" dirty="0"/>
                </a:p>
              </p:txBody>
            </p:sp>
            <p:sp>
              <p:nvSpPr>
                <p:cNvPr id="52" name="Shape 50"/>
                <p:cNvSpPr/>
                <p:nvPr/>
              </p:nvSpPr>
              <p:spPr>
                <a:xfrm>
                  <a:off x="1874520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3" name="Text 51"/>
                <p:cNvSpPr txBox="1"/>
                <p:nvPr/>
              </p:nvSpPr>
              <p:spPr>
                <a:xfrm>
                  <a:off x="1874520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4" name="Shape 52"/>
                <p:cNvSpPr/>
                <p:nvPr/>
              </p:nvSpPr>
              <p:spPr>
                <a:xfrm>
                  <a:off x="2350008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5" name="Text 53"/>
                <p:cNvSpPr txBox="1"/>
                <p:nvPr/>
              </p:nvSpPr>
              <p:spPr>
                <a:xfrm>
                  <a:off x="2350008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6" name="Shape 54"/>
                <p:cNvSpPr/>
                <p:nvPr/>
              </p:nvSpPr>
              <p:spPr>
                <a:xfrm>
                  <a:off x="2825496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7" name="Text 55"/>
                <p:cNvSpPr txBox="1"/>
                <p:nvPr/>
              </p:nvSpPr>
              <p:spPr>
                <a:xfrm>
                  <a:off x="2825496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8" name="Shape 56"/>
                <p:cNvSpPr/>
                <p:nvPr/>
              </p:nvSpPr>
              <p:spPr>
                <a:xfrm>
                  <a:off x="3300984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9" name="Text 57"/>
                <p:cNvSpPr txBox="1"/>
                <p:nvPr/>
              </p:nvSpPr>
              <p:spPr>
                <a:xfrm>
                  <a:off x="3300984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0" name="Shape 58"/>
                <p:cNvSpPr/>
                <p:nvPr/>
              </p:nvSpPr>
              <p:spPr>
                <a:xfrm>
                  <a:off x="3776472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1" name="Text 59"/>
                <p:cNvSpPr txBox="1"/>
                <p:nvPr/>
              </p:nvSpPr>
              <p:spPr>
                <a:xfrm>
                  <a:off x="3776472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2" name="Shape 60"/>
                <p:cNvSpPr/>
                <p:nvPr/>
              </p:nvSpPr>
              <p:spPr>
                <a:xfrm>
                  <a:off x="4251960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3" name="Text 61"/>
                <p:cNvSpPr txBox="1"/>
                <p:nvPr/>
              </p:nvSpPr>
              <p:spPr>
                <a:xfrm>
                  <a:off x="4251960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4" name="Shape 62"/>
                <p:cNvSpPr/>
                <p:nvPr/>
              </p:nvSpPr>
              <p:spPr>
                <a:xfrm>
                  <a:off x="4727448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5" name="Text 63"/>
                <p:cNvSpPr txBox="1"/>
                <p:nvPr/>
              </p:nvSpPr>
              <p:spPr>
                <a:xfrm>
                  <a:off x="4727448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6" name="Shape 64"/>
                <p:cNvSpPr/>
                <p:nvPr/>
              </p:nvSpPr>
              <p:spPr>
                <a:xfrm>
                  <a:off x="5202936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7" name="Text 65"/>
                <p:cNvSpPr txBox="1"/>
                <p:nvPr/>
              </p:nvSpPr>
              <p:spPr>
                <a:xfrm>
                  <a:off x="5202936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8" name="Shape 66"/>
                <p:cNvSpPr/>
                <p:nvPr/>
              </p:nvSpPr>
              <p:spPr>
                <a:xfrm>
                  <a:off x="5715000" y="402336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9" name="Shape 67"/>
                <p:cNvSpPr/>
                <p:nvPr/>
              </p:nvSpPr>
              <p:spPr>
                <a:xfrm>
                  <a:off x="6080760" y="3794760"/>
                  <a:ext cx="640080" cy="457200"/>
                </a:xfrm>
                <a:prstGeom prst="rect">
                  <a:avLst/>
                </a:prstGeom>
                <a:solidFill>
                  <a:srgbClr val="16A34A"/>
                </a:solidFill>
                <a:ln w="15875">
                  <a:solidFill>
                    <a:srgbClr val="16A34A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70" name="Text 68"/>
                <p:cNvSpPr txBox="1"/>
                <p:nvPr/>
              </p:nvSpPr>
              <p:spPr>
                <a:xfrm>
                  <a:off x="6080760" y="379476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75" name="Shape 73"/>
          <p:cNvSpPr/>
          <p:nvPr/>
        </p:nvSpPr>
        <p:spPr>
          <a:xfrm>
            <a:off x="7315200" y="1188720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7479792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7479792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863840" y="13350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Serial In</a:t>
            </a:r>
            <a:endParaRPr lang="en-US" sz="1500" dirty="0"/>
          </a:p>
        </p:txBody>
      </p:sp>
      <p:sp>
        <p:nvSpPr>
          <p:cNvPr id="79" name="Text 77"/>
          <p:cNvSpPr txBox="1"/>
          <p:nvPr/>
        </p:nvSpPr>
        <p:spPr>
          <a:xfrm>
            <a:off x="7863840" y="1664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1 bit → q_reg[7] 진입, 나머지 right shift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7315200" y="2496312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7479792" y="266090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7479792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6426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 Out</a:t>
            </a:r>
            <a:endParaRPr lang="en-US" sz="15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동시 노출 → 8-input AND 1단으로 판정</a:t>
            </a:r>
            <a:endParaRPr lang="en-US" sz="1350" dirty="0"/>
          </a:p>
        </p:txBody>
      </p:sp>
      <p:sp>
        <p:nvSpPr>
          <p:cNvPr id="85" name="Shape 83"/>
          <p:cNvSpPr/>
          <p:nvPr/>
        </p:nvSpPr>
        <p:spPr>
          <a:xfrm>
            <a:off x="7315200" y="3803904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7479792" y="396849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7479792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의미</a:t>
            </a:r>
            <a:endParaRPr lang="en-US" sz="1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27939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8 × 10 ns = 80 ns 구간 전체가 1인지 검사</a:t>
            </a:r>
            <a:endParaRPr lang="en-US" sz="1350" dirty="0"/>
          </a:p>
        </p:txBody>
      </p:sp>
      <p:sp>
        <p:nvSpPr>
          <p:cNvPr id="90" name="Shape 88"/>
          <p:cNvSpPr/>
          <p:nvPr/>
        </p:nvSpPr>
        <p:spPr>
          <a:xfrm>
            <a:off x="7315200" y="5111496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9"/>
          <p:cNvSpPr/>
          <p:nvPr/>
        </p:nvSpPr>
        <p:spPr>
          <a:xfrm>
            <a:off x="7479792" y="52760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7479792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2578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대비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7863840" y="55869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불필요, latency 8 cycle 고정</a:t>
            </a:r>
            <a:endParaRPr lang="en-US" sz="1350" dirty="0"/>
          </a:p>
        </p:txBody>
      </p:sp>
      <p:sp>
        <p:nvSpPr>
          <p:cNvPr id="95" name="Text 9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6" name="Text 9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41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4">
            <a:extLst>
              <a:ext uri="{FF2B5EF4-FFF2-40B4-BE49-F238E27FC236}">
                <a16:creationId xmlns:a16="http://schemas.microsoft.com/office/drawing/2014/main" id="{FD9C989F-1E75-4CD7-C808-AD137E9332A4}"/>
              </a:ext>
            </a:extLst>
          </p:cNvPr>
          <p:cNvSpPr/>
          <p:nvPr/>
        </p:nvSpPr>
        <p:spPr>
          <a:xfrm>
            <a:off x="411480" y="1724744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38">
            <a:extLst>
              <a:ext uri="{FF2B5EF4-FFF2-40B4-BE49-F238E27FC236}">
                <a16:creationId xmlns:a16="http://schemas.microsoft.com/office/drawing/2014/main" id="{66A8A331-E024-8B59-714F-BBEC1F3F3D2C}"/>
              </a:ext>
            </a:extLst>
          </p:cNvPr>
          <p:cNvSpPr/>
          <p:nvPr/>
        </p:nvSpPr>
        <p:spPr>
          <a:xfrm>
            <a:off x="6217920" y="1724744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Level vs Tick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Input Toggles Every Clock, a Tick Toggles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34BA40F-3577-AC3F-0690-7D4C46B3CDEA}"/>
              </a:ext>
            </a:extLst>
          </p:cNvPr>
          <p:cNvGrpSpPr/>
          <p:nvPr/>
        </p:nvGrpSpPr>
        <p:grpSpPr>
          <a:xfrm>
            <a:off x="594360" y="2420319"/>
            <a:ext cx="5212080" cy="2450592"/>
            <a:chOff x="594360" y="1316736"/>
            <a:chExt cx="5212080" cy="2450592"/>
          </a:xfrm>
        </p:grpSpPr>
        <p:sp>
          <p:nvSpPr>
            <p:cNvPr id="7" name="Text 5"/>
            <p:cNvSpPr txBox="1"/>
            <p:nvPr/>
          </p:nvSpPr>
          <p:spPr>
            <a:xfrm>
              <a:off x="594360" y="1316736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DC262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Level </a:t>
              </a:r>
              <a:r>
                <a:rPr lang="en-US" sz="1500" b="1">
                  <a:solidFill>
                    <a:srgbClr val="DC262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입력 </a:t>
              </a:r>
              <a:endParaRPr lang="en-US" sz="1500" dirty="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94360" y="187452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94360" y="260604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input</a:t>
              </a:r>
              <a:endParaRPr lang="en-US" sz="13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94360" y="333756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state</a:t>
              </a:r>
              <a:endParaRPr lang="en-US" sz="13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371600" y="192024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0" y="320040"/>
                  </a:lnTo>
                  <a:lnTo>
                    <a:pt x="0" y="0"/>
                  </a:lnTo>
                  <a:lnTo>
                    <a:pt x="156754" y="0"/>
                  </a:lnTo>
                  <a:lnTo>
                    <a:pt x="156754" y="320040"/>
                  </a:lnTo>
                  <a:lnTo>
                    <a:pt x="313509" y="320040"/>
                  </a:lnTo>
                  <a:lnTo>
                    <a:pt x="313509" y="0"/>
                  </a:lnTo>
                  <a:lnTo>
                    <a:pt x="470263" y="0"/>
                  </a:lnTo>
                  <a:lnTo>
                    <a:pt x="470263" y="320040"/>
                  </a:lnTo>
                  <a:lnTo>
                    <a:pt x="627017" y="320040"/>
                  </a:lnTo>
                  <a:lnTo>
                    <a:pt x="627017" y="0"/>
                  </a:lnTo>
                  <a:lnTo>
                    <a:pt x="783771" y="0"/>
                  </a:lnTo>
                  <a:lnTo>
                    <a:pt x="783771" y="320040"/>
                  </a:lnTo>
                  <a:lnTo>
                    <a:pt x="940526" y="320040"/>
                  </a:lnTo>
                  <a:lnTo>
                    <a:pt x="940526" y="0"/>
                  </a:lnTo>
                  <a:lnTo>
                    <a:pt x="1097280" y="0"/>
                  </a:lnTo>
                  <a:lnTo>
                    <a:pt x="1097280" y="320040"/>
                  </a:lnTo>
                  <a:lnTo>
                    <a:pt x="1254034" y="320040"/>
                  </a:lnTo>
                  <a:lnTo>
                    <a:pt x="1254034" y="0"/>
                  </a:lnTo>
                  <a:lnTo>
                    <a:pt x="1410789" y="0"/>
                  </a:lnTo>
                  <a:lnTo>
                    <a:pt x="1410789" y="320040"/>
                  </a:lnTo>
                  <a:lnTo>
                    <a:pt x="1567543" y="320040"/>
                  </a:lnTo>
                  <a:lnTo>
                    <a:pt x="1567543" y="0"/>
                  </a:lnTo>
                  <a:lnTo>
                    <a:pt x="1724297" y="0"/>
                  </a:lnTo>
                  <a:lnTo>
                    <a:pt x="1724297" y="320040"/>
                  </a:lnTo>
                  <a:lnTo>
                    <a:pt x="1881051" y="320040"/>
                  </a:lnTo>
                  <a:lnTo>
                    <a:pt x="1881051" y="0"/>
                  </a:lnTo>
                  <a:lnTo>
                    <a:pt x="2037806" y="0"/>
                  </a:lnTo>
                  <a:lnTo>
                    <a:pt x="2037806" y="320040"/>
                  </a:lnTo>
                  <a:lnTo>
                    <a:pt x="2194560" y="320040"/>
                  </a:lnTo>
                  <a:lnTo>
                    <a:pt x="2194560" y="0"/>
                  </a:lnTo>
                  <a:lnTo>
                    <a:pt x="2351314" y="0"/>
                  </a:lnTo>
                  <a:lnTo>
                    <a:pt x="2351314" y="320040"/>
                  </a:lnTo>
                  <a:lnTo>
                    <a:pt x="2508069" y="320040"/>
                  </a:lnTo>
                  <a:lnTo>
                    <a:pt x="2508069" y="0"/>
                  </a:lnTo>
                  <a:lnTo>
                    <a:pt x="2664823" y="0"/>
                  </a:lnTo>
                  <a:lnTo>
                    <a:pt x="2664823" y="320040"/>
                  </a:lnTo>
                  <a:lnTo>
                    <a:pt x="2821577" y="320040"/>
                  </a:lnTo>
                  <a:lnTo>
                    <a:pt x="2821577" y="0"/>
                  </a:lnTo>
                  <a:lnTo>
                    <a:pt x="2978331" y="0"/>
                  </a:lnTo>
                  <a:lnTo>
                    <a:pt x="2978331" y="320040"/>
                  </a:lnTo>
                  <a:lnTo>
                    <a:pt x="3135086" y="320040"/>
                  </a:lnTo>
                  <a:lnTo>
                    <a:pt x="3135086" y="0"/>
                  </a:lnTo>
                  <a:lnTo>
                    <a:pt x="3291840" y="0"/>
                  </a:lnTo>
                  <a:lnTo>
                    <a:pt x="3291840" y="320040"/>
                  </a:lnTo>
                  <a:lnTo>
                    <a:pt x="3448594" y="320040"/>
                  </a:lnTo>
                  <a:lnTo>
                    <a:pt x="3448594" y="0"/>
                  </a:lnTo>
                  <a:lnTo>
                    <a:pt x="3605349" y="0"/>
                  </a:lnTo>
                  <a:lnTo>
                    <a:pt x="3605349" y="320040"/>
                  </a:lnTo>
                  <a:lnTo>
                    <a:pt x="3762103" y="320040"/>
                  </a:lnTo>
                  <a:lnTo>
                    <a:pt x="3762103" y="0"/>
                  </a:lnTo>
                  <a:lnTo>
                    <a:pt x="3918857" y="0"/>
                  </a:lnTo>
                  <a:lnTo>
                    <a:pt x="3918857" y="320040"/>
                  </a:lnTo>
                  <a:lnTo>
                    <a:pt x="4075611" y="320040"/>
                  </a:lnTo>
                  <a:lnTo>
                    <a:pt x="4075611" y="0"/>
                  </a:lnTo>
                  <a:lnTo>
                    <a:pt x="4232366" y="0"/>
                  </a:lnTo>
                  <a:lnTo>
                    <a:pt x="4232366" y="320040"/>
                  </a:lnTo>
                  <a:lnTo>
                    <a:pt x="4389120" y="320040"/>
                  </a:lnTo>
                </a:path>
              </a:pathLst>
            </a:custGeom>
            <a:ln w="15875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1371600" y="265176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846473" y="320040"/>
                  </a:lnTo>
                  <a:lnTo>
                    <a:pt x="846473" y="0"/>
                  </a:lnTo>
                  <a:lnTo>
                    <a:pt x="3041033" y="0"/>
                  </a:lnTo>
                  <a:lnTo>
                    <a:pt x="3041033" y="320040"/>
                  </a:lnTo>
                  <a:lnTo>
                    <a:pt x="4389120" y="320040"/>
                  </a:lnTo>
                </a:path>
              </a:pathLst>
            </a:custGeom>
            <a:ln w="254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1371600" y="3383280"/>
              <a:ext cx="940526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371600" y="3383280"/>
              <a:ext cx="94052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2312126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2312126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2625634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2625634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2939143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2939143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252651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3252651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566160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3566160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879669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3879669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4193177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6"/>
            <p:cNvSpPr txBox="1"/>
            <p:nvPr/>
          </p:nvSpPr>
          <p:spPr>
            <a:xfrm>
              <a:off x="4193177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506686" y="3383280"/>
              <a:ext cx="1254034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8"/>
            <p:cNvSpPr txBox="1"/>
            <p:nvPr/>
          </p:nvSpPr>
          <p:spPr>
            <a:xfrm>
              <a:off x="4506686" y="3383280"/>
              <a:ext cx="125403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312126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30"/>
            <p:cNvSpPr/>
            <p:nvPr/>
          </p:nvSpPr>
          <p:spPr>
            <a:xfrm>
              <a:off x="2625634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31"/>
            <p:cNvSpPr/>
            <p:nvPr/>
          </p:nvSpPr>
          <p:spPr>
            <a:xfrm>
              <a:off x="2939143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3252651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3566160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3879669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4193177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9E627A8-665F-02D4-F9B1-C98F91B8FD1E}"/>
              </a:ext>
            </a:extLst>
          </p:cNvPr>
          <p:cNvGrpSpPr/>
          <p:nvPr/>
        </p:nvGrpSpPr>
        <p:grpSpPr>
          <a:xfrm>
            <a:off x="6400800" y="2420319"/>
            <a:ext cx="5212080" cy="2450592"/>
            <a:chOff x="6400800" y="1316736"/>
            <a:chExt cx="5212080" cy="2450592"/>
          </a:xfrm>
        </p:grpSpPr>
        <p:sp>
          <p:nvSpPr>
            <p:cNvPr id="41" name="Text 39"/>
            <p:cNvSpPr txBox="1"/>
            <p:nvPr/>
          </p:nvSpPr>
          <p:spPr>
            <a:xfrm>
              <a:off x="6400800" y="1316736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>
                  <a:solidFill>
                    <a:srgbClr val="15803D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Tick 입력</a:t>
              </a:r>
              <a:endParaRPr lang="en-US" sz="1500" dirty="0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6400800" y="187452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6400800" y="260604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input</a:t>
              </a:r>
              <a:endParaRPr lang="en-US" sz="1300" dirty="0"/>
            </a:p>
          </p:txBody>
        </p:sp>
        <p:sp>
          <p:nvSpPr>
            <p:cNvPr id="44" name="Text 42"/>
            <p:cNvSpPr txBox="1"/>
            <p:nvPr/>
          </p:nvSpPr>
          <p:spPr>
            <a:xfrm>
              <a:off x="6400800" y="333756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state</a:t>
              </a:r>
              <a:endParaRPr lang="en-US" sz="13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8040" y="192024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0" y="320040"/>
                  </a:lnTo>
                  <a:lnTo>
                    <a:pt x="0" y="0"/>
                  </a:lnTo>
                  <a:lnTo>
                    <a:pt x="156754" y="0"/>
                  </a:lnTo>
                  <a:lnTo>
                    <a:pt x="156754" y="320040"/>
                  </a:lnTo>
                  <a:lnTo>
                    <a:pt x="313509" y="320040"/>
                  </a:lnTo>
                  <a:lnTo>
                    <a:pt x="313509" y="0"/>
                  </a:lnTo>
                  <a:lnTo>
                    <a:pt x="470263" y="0"/>
                  </a:lnTo>
                  <a:lnTo>
                    <a:pt x="470263" y="320040"/>
                  </a:lnTo>
                  <a:lnTo>
                    <a:pt x="627017" y="320040"/>
                  </a:lnTo>
                  <a:lnTo>
                    <a:pt x="627017" y="0"/>
                  </a:lnTo>
                  <a:lnTo>
                    <a:pt x="783771" y="0"/>
                  </a:lnTo>
                  <a:lnTo>
                    <a:pt x="783771" y="320040"/>
                  </a:lnTo>
                  <a:lnTo>
                    <a:pt x="940526" y="320040"/>
                  </a:lnTo>
                  <a:lnTo>
                    <a:pt x="940526" y="0"/>
                  </a:lnTo>
                  <a:lnTo>
                    <a:pt x="1097280" y="0"/>
                  </a:lnTo>
                  <a:lnTo>
                    <a:pt x="1097280" y="320040"/>
                  </a:lnTo>
                  <a:lnTo>
                    <a:pt x="1254034" y="320040"/>
                  </a:lnTo>
                  <a:lnTo>
                    <a:pt x="1254034" y="0"/>
                  </a:lnTo>
                  <a:lnTo>
                    <a:pt x="1410789" y="0"/>
                  </a:lnTo>
                  <a:lnTo>
                    <a:pt x="1410789" y="320040"/>
                  </a:lnTo>
                  <a:lnTo>
                    <a:pt x="1567543" y="320040"/>
                  </a:lnTo>
                  <a:lnTo>
                    <a:pt x="1567543" y="0"/>
                  </a:lnTo>
                  <a:lnTo>
                    <a:pt x="1724297" y="0"/>
                  </a:lnTo>
                  <a:lnTo>
                    <a:pt x="1724297" y="320040"/>
                  </a:lnTo>
                  <a:lnTo>
                    <a:pt x="1881051" y="320040"/>
                  </a:lnTo>
                  <a:lnTo>
                    <a:pt x="1881051" y="0"/>
                  </a:lnTo>
                  <a:lnTo>
                    <a:pt x="2037806" y="0"/>
                  </a:lnTo>
                  <a:lnTo>
                    <a:pt x="2037806" y="320040"/>
                  </a:lnTo>
                  <a:lnTo>
                    <a:pt x="2194560" y="320040"/>
                  </a:lnTo>
                  <a:lnTo>
                    <a:pt x="2194560" y="0"/>
                  </a:lnTo>
                  <a:lnTo>
                    <a:pt x="2351314" y="0"/>
                  </a:lnTo>
                  <a:lnTo>
                    <a:pt x="2351314" y="320040"/>
                  </a:lnTo>
                  <a:lnTo>
                    <a:pt x="2508069" y="320040"/>
                  </a:lnTo>
                  <a:lnTo>
                    <a:pt x="2508069" y="0"/>
                  </a:lnTo>
                  <a:lnTo>
                    <a:pt x="2664823" y="0"/>
                  </a:lnTo>
                  <a:lnTo>
                    <a:pt x="2664823" y="320040"/>
                  </a:lnTo>
                  <a:lnTo>
                    <a:pt x="2821577" y="320040"/>
                  </a:lnTo>
                  <a:lnTo>
                    <a:pt x="2821577" y="0"/>
                  </a:lnTo>
                  <a:lnTo>
                    <a:pt x="2978331" y="0"/>
                  </a:lnTo>
                  <a:lnTo>
                    <a:pt x="2978331" y="320040"/>
                  </a:lnTo>
                  <a:lnTo>
                    <a:pt x="3135086" y="320040"/>
                  </a:lnTo>
                  <a:lnTo>
                    <a:pt x="3135086" y="0"/>
                  </a:lnTo>
                  <a:lnTo>
                    <a:pt x="3291840" y="0"/>
                  </a:lnTo>
                  <a:lnTo>
                    <a:pt x="3291840" y="320040"/>
                  </a:lnTo>
                  <a:lnTo>
                    <a:pt x="3448594" y="320040"/>
                  </a:lnTo>
                  <a:lnTo>
                    <a:pt x="3448594" y="0"/>
                  </a:lnTo>
                  <a:lnTo>
                    <a:pt x="3605349" y="0"/>
                  </a:lnTo>
                  <a:lnTo>
                    <a:pt x="3605349" y="320040"/>
                  </a:lnTo>
                  <a:lnTo>
                    <a:pt x="3762103" y="320040"/>
                  </a:lnTo>
                  <a:lnTo>
                    <a:pt x="3762103" y="0"/>
                  </a:lnTo>
                  <a:lnTo>
                    <a:pt x="3918857" y="0"/>
                  </a:lnTo>
                  <a:lnTo>
                    <a:pt x="3918857" y="320040"/>
                  </a:lnTo>
                  <a:lnTo>
                    <a:pt x="4075611" y="320040"/>
                  </a:lnTo>
                  <a:lnTo>
                    <a:pt x="4075611" y="0"/>
                  </a:lnTo>
                  <a:lnTo>
                    <a:pt x="4232366" y="0"/>
                  </a:lnTo>
                  <a:lnTo>
                    <a:pt x="4232366" y="320040"/>
                  </a:lnTo>
                  <a:lnTo>
                    <a:pt x="4389120" y="320040"/>
                  </a:lnTo>
                </a:path>
              </a:pathLst>
            </a:custGeom>
            <a:ln w="15875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44"/>
            <p:cNvSpPr/>
            <p:nvPr/>
          </p:nvSpPr>
          <p:spPr>
            <a:xfrm>
              <a:off x="7041401" y="265176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846473" y="320040"/>
                  </a:lnTo>
                  <a:lnTo>
                    <a:pt x="846473" y="0"/>
                  </a:lnTo>
                  <a:lnTo>
                    <a:pt x="1159982" y="0"/>
                  </a:lnTo>
                  <a:lnTo>
                    <a:pt x="1159982" y="320040"/>
                  </a:lnTo>
                  <a:lnTo>
                    <a:pt x="4389120" y="320040"/>
                  </a:lnTo>
                </a:path>
              </a:pathLst>
            </a:custGeom>
            <a:ln w="25400">
              <a:solidFill>
                <a:srgbClr val="1580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45"/>
            <p:cNvSpPr/>
            <p:nvPr/>
          </p:nvSpPr>
          <p:spPr>
            <a:xfrm>
              <a:off x="7178040" y="3383280"/>
              <a:ext cx="940526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46"/>
            <p:cNvSpPr txBox="1"/>
            <p:nvPr/>
          </p:nvSpPr>
          <p:spPr>
            <a:xfrm>
              <a:off x="7178040" y="3383280"/>
              <a:ext cx="94052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8118566" y="3383280"/>
              <a:ext cx="3448594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Text 48"/>
            <p:cNvSpPr txBox="1"/>
            <p:nvPr/>
          </p:nvSpPr>
          <p:spPr>
            <a:xfrm>
              <a:off x="8118566" y="3383280"/>
              <a:ext cx="344859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RUN</a:t>
              </a:r>
              <a:endParaRPr lang="en-US" sz="11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8118566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6" name="Text 5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41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생성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= ~edge_reg &amp; debounce Makes a One-cycle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4980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 Timing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37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77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74520" y="178308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0" y="320040"/>
                </a:lnTo>
                <a:lnTo>
                  <a:pt x="0" y="0"/>
                </a:lnTo>
                <a:lnTo>
                  <a:pt x="181451" y="0"/>
                </a:lnTo>
                <a:lnTo>
                  <a:pt x="181451" y="320040"/>
                </a:lnTo>
                <a:lnTo>
                  <a:pt x="362903" y="320040"/>
                </a:lnTo>
                <a:lnTo>
                  <a:pt x="362903" y="0"/>
                </a:lnTo>
                <a:lnTo>
                  <a:pt x="544354" y="0"/>
                </a:lnTo>
                <a:lnTo>
                  <a:pt x="544354" y="320040"/>
                </a:lnTo>
                <a:lnTo>
                  <a:pt x="725805" y="320040"/>
                </a:lnTo>
                <a:lnTo>
                  <a:pt x="725805" y="0"/>
                </a:lnTo>
                <a:lnTo>
                  <a:pt x="907256" y="0"/>
                </a:lnTo>
                <a:lnTo>
                  <a:pt x="907256" y="320040"/>
                </a:lnTo>
                <a:lnTo>
                  <a:pt x="1088707" y="320040"/>
                </a:lnTo>
                <a:lnTo>
                  <a:pt x="1088707" y="0"/>
                </a:lnTo>
                <a:lnTo>
                  <a:pt x="1270159" y="0"/>
                </a:lnTo>
                <a:lnTo>
                  <a:pt x="1270159" y="320040"/>
                </a:lnTo>
                <a:lnTo>
                  <a:pt x="1451610" y="320040"/>
                </a:lnTo>
                <a:lnTo>
                  <a:pt x="1451610" y="0"/>
                </a:lnTo>
                <a:lnTo>
                  <a:pt x="1633061" y="0"/>
                </a:lnTo>
                <a:lnTo>
                  <a:pt x="1633061" y="320040"/>
                </a:lnTo>
                <a:lnTo>
                  <a:pt x="1814513" y="320040"/>
                </a:lnTo>
                <a:lnTo>
                  <a:pt x="1814513" y="0"/>
                </a:lnTo>
                <a:lnTo>
                  <a:pt x="1995964" y="0"/>
                </a:lnTo>
                <a:lnTo>
                  <a:pt x="1995964" y="320040"/>
                </a:lnTo>
                <a:lnTo>
                  <a:pt x="2177415" y="320040"/>
                </a:lnTo>
                <a:lnTo>
                  <a:pt x="2177415" y="0"/>
                </a:lnTo>
                <a:lnTo>
                  <a:pt x="2358866" y="0"/>
                </a:lnTo>
                <a:lnTo>
                  <a:pt x="2358866" y="320040"/>
                </a:lnTo>
                <a:lnTo>
                  <a:pt x="2540318" y="320040"/>
                </a:lnTo>
                <a:lnTo>
                  <a:pt x="2540318" y="0"/>
                </a:lnTo>
                <a:lnTo>
                  <a:pt x="2721769" y="0"/>
                </a:lnTo>
                <a:lnTo>
                  <a:pt x="2721769" y="320040"/>
                </a:lnTo>
                <a:lnTo>
                  <a:pt x="2903220" y="320040"/>
                </a:lnTo>
                <a:lnTo>
                  <a:pt x="2903220" y="0"/>
                </a:lnTo>
                <a:lnTo>
                  <a:pt x="3084671" y="0"/>
                </a:lnTo>
                <a:lnTo>
                  <a:pt x="3084671" y="320040"/>
                </a:lnTo>
                <a:lnTo>
                  <a:pt x="3266122" y="320040"/>
                </a:lnTo>
                <a:lnTo>
                  <a:pt x="3266122" y="0"/>
                </a:lnTo>
                <a:lnTo>
                  <a:pt x="3447574" y="0"/>
                </a:lnTo>
                <a:lnTo>
                  <a:pt x="3447574" y="320040"/>
                </a:lnTo>
                <a:lnTo>
                  <a:pt x="3629025" y="320040"/>
                </a:lnTo>
                <a:lnTo>
                  <a:pt x="3629025" y="0"/>
                </a:lnTo>
                <a:lnTo>
                  <a:pt x="3810476" y="0"/>
                </a:lnTo>
                <a:lnTo>
                  <a:pt x="3810476" y="320040"/>
                </a:lnTo>
                <a:lnTo>
                  <a:pt x="3991927" y="320040"/>
                </a:lnTo>
                <a:lnTo>
                  <a:pt x="3991927" y="0"/>
                </a:lnTo>
                <a:lnTo>
                  <a:pt x="4173379" y="0"/>
                </a:lnTo>
                <a:lnTo>
                  <a:pt x="4173379" y="320040"/>
                </a:lnTo>
                <a:lnTo>
                  <a:pt x="4354830" y="320040"/>
                </a:lnTo>
                <a:lnTo>
                  <a:pt x="4354830" y="0"/>
                </a:lnTo>
                <a:lnTo>
                  <a:pt x="4536281" y="0"/>
                </a:lnTo>
                <a:lnTo>
                  <a:pt x="4536281" y="320040"/>
                </a:lnTo>
                <a:lnTo>
                  <a:pt x="4717733" y="320040"/>
                </a:lnTo>
                <a:lnTo>
                  <a:pt x="4717733" y="0"/>
                </a:lnTo>
                <a:lnTo>
                  <a:pt x="4899184" y="0"/>
                </a:lnTo>
                <a:lnTo>
                  <a:pt x="4899184" y="320040"/>
                </a:lnTo>
                <a:lnTo>
                  <a:pt x="5080635" y="320040"/>
                </a:lnTo>
                <a:lnTo>
                  <a:pt x="5080635" y="0"/>
                </a:lnTo>
                <a:lnTo>
                  <a:pt x="5262086" y="0"/>
                </a:lnTo>
                <a:lnTo>
                  <a:pt x="5262086" y="320040"/>
                </a:lnTo>
                <a:lnTo>
                  <a:pt x="5443538" y="320040"/>
                </a:lnTo>
                <a:lnTo>
                  <a:pt x="5443538" y="0"/>
                </a:lnTo>
                <a:lnTo>
                  <a:pt x="5624989" y="0"/>
                </a:lnTo>
                <a:lnTo>
                  <a:pt x="5624989" y="320040"/>
                </a:lnTo>
                <a:lnTo>
                  <a:pt x="5806440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74520" y="256032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4354830" y="0"/>
                </a:lnTo>
                <a:lnTo>
                  <a:pt x="4354830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874520" y="329184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814513" y="320040"/>
                </a:lnTo>
                <a:lnTo>
                  <a:pt x="1814513" y="0"/>
                </a:lnTo>
                <a:lnTo>
                  <a:pt x="4717733" y="0"/>
                </a:lnTo>
                <a:lnTo>
                  <a:pt x="471773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874520" y="402336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1814513" y="0"/>
                </a:lnTo>
                <a:lnTo>
                  <a:pt x="181451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26130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89033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63090" y="452628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0 → 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43896" y="45262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cycle 지연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1188720"/>
            <a:ext cx="3703320" cy="384048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8275320" y="13167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Truth Table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의미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rising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falling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1148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3949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3949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354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1회 = 이벤트 1회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25196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37997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437997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76402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length 무관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809244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22045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22045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60450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동기 1-cycle pulse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41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이점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Keeps FSM_RUN_STOP at Three States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6418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</a:t>
            </a:r>
            <a:r>
              <a:rPr lang="en-US" sz="1500" b="1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FSM</a:t>
            </a:r>
          </a:p>
          <a:p>
            <a:pPr marL="0" indent="0" algn="l">
              <a:buNone/>
            </a:pPr>
            <a:r>
              <a:rPr lang="en-US" sz="1400" b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</a:t>
            </a:r>
            <a:r>
              <a:rPr lang="en-US" sz="14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 state 필요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783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974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262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686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97480" y="36118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974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87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576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2624328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9194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flipH="1">
            <a:off x="3566160" y="40233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657600" y="40873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31089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906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H="1">
            <a:off x="1603449" y="2498452"/>
            <a:ext cx="1201619" cy="1201619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148840" y="3035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 flipV="1">
            <a:off x="12801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8640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099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8288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40080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입력 FSM: 3 state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766560" y="2514600"/>
            <a:ext cx="960120" cy="960120"/>
          </a:xfrm>
          <a:prstGeom prst="ellipse">
            <a:avLst/>
          </a:prstGeom>
          <a:solidFill>
            <a:srgbClr val="F1F5F9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67665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95360" y="2514600"/>
            <a:ext cx="960120" cy="96012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0424160" y="2514600"/>
            <a:ext cx="960120" cy="960120"/>
          </a:xfrm>
          <a:prstGeom prst="ellipse">
            <a:avLst/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04241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554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251460"/>
                </a:moveTo>
                <a:lnTo>
                  <a:pt x="38100" y="211296"/>
                </a:lnTo>
                <a:lnTo>
                  <a:pt x="76200" y="174625"/>
                </a:lnTo>
                <a:lnTo>
                  <a:pt x="114300" y="141446"/>
                </a:lnTo>
                <a:lnTo>
                  <a:pt x="152400" y="111760"/>
                </a:lnTo>
                <a:lnTo>
                  <a:pt x="190500" y="85566"/>
                </a:lnTo>
                <a:lnTo>
                  <a:pt x="228600" y="62865"/>
                </a:lnTo>
                <a:lnTo>
                  <a:pt x="266700" y="43656"/>
                </a:lnTo>
                <a:lnTo>
                  <a:pt x="304800" y="27940"/>
                </a:lnTo>
                <a:lnTo>
                  <a:pt x="342900" y="15716"/>
                </a:lnTo>
                <a:lnTo>
                  <a:pt x="381000" y="6985"/>
                </a:lnTo>
                <a:lnTo>
                  <a:pt x="419100" y="1746"/>
                </a:lnTo>
                <a:lnTo>
                  <a:pt x="457200" y="0"/>
                </a:lnTo>
                <a:lnTo>
                  <a:pt x="495300" y="1746"/>
                </a:lnTo>
                <a:lnTo>
                  <a:pt x="533400" y="6985"/>
                </a:lnTo>
                <a:lnTo>
                  <a:pt x="571500" y="15716"/>
                </a:lnTo>
                <a:lnTo>
                  <a:pt x="609600" y="27940"/>
                </a:lnTo>
                <a:lnTo>
                  <a:pt x="647700" y="43656"/>
                </a:lnTo>
                <a:lnTo>
                  <a:pt x="685800" y="62865"/>
                </a:lnTo>
                <a:lnTo>
                  <a:pt x="723900" y="85566"/>
                </a:lnTo>
                <a:lnTo>
                  <a:pt x="762000" y="111760"/>
                </a:lnTo>
                <a:lnTo>
                  <a:pt x="800100" y="141446"/>
                </a:lnTo>
                <a:lnTo>
                  <a:pt x="838200" y="174625"/>
                </a:lnTo>
                <a:lnTo>
                  <a:pt x="876300" y="211296"/>
                </a:lnTo>
                <a:lnTo>
                  <a:pt x="91440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5554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0"/>
                </a:moveTo>
                <a:lnTo>
                  <a:pt x="876300" y="40164"/>
                </a:lnTo>
                <a:lnTo>
                  <a:pt x="838200" y="76835"/>
                </a:lnTo>
                <a:lnTo>
                  <a:pt x="800100" y="110014"/>
                </a:lnTo>
                <a:lnTo>
                  <a:pt x="762000" y="139700"/>
                </a:lnTo>
                <a:lnTo>
                  <a:pt x="723900" y="165894"/>
                </a:lnTo>
                <a:lnTo>
                  <a:pt x="685800" y="188595"/>
                </a:lnTo>
                <a:lnTo>
                  <a:pt x="647700" y="207804"/>
                </a:lnTo>
                <a:lnTo>
                  <a:pt x="609600" y="223520"/>
                </a:lnTo>
                <a:lnTo>
                  <a:pt x="571500" y="235744"/>
                </a:lnTo>
                <a:lnTo>
                  <a:pt x="533400" y="244475"/>
                </a:lnTo>
                <a:lnTo>
                  <a:pt x="495300" y="249714"/>
                </a:lnTo>
                <a:lnTo>
                  <a:pt x="457200" y="251460"/>
                </a:lnTo>
                <a:lnTo>
                  <a:pt x="419100" y="249714"/>
                </a:lnTo>
                <a:lnTo>
                  <a:pt x="381000" y="244475"/>
                </a:lnTo>
                <a:lnTo>
                  <a:pt x="342900" y="235744"/>
                </a:lnTo>
                <a:lnTo>
                  <a:pt x="304800" y="223520"/>
                </a:lnTo>
                <a:lnTo>
                  <a:pt x="266700" y="207804"/>
                </a:lnTo>
                <a:lnTo>
                  <a:pt x="228600" y="188595"/>
                </a:lnTo>
                <a:lnTo>
                  <a:pt x="190500" y="165894"/>
                </a:lnTo>
                <a:lnTo>
                  <a:pt x="152400" y="139700"/>
                </a:lnTo>
                <a:lnTo>
                  <a:pt x="114300" y="110014"/>
                </a:lnTo>
                <a:lnTo>
                  <a:pt x="76200" y="76835"/>
                </a:lnTo>
                <a:lnTo>
                  <a:pt x="38100" y="40164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7266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251460"/>
                </a:moveTo>
                <a:lnTo>
                  <a:pt x="876300" y="211296"/>
                </a:lnTo>
                <a:lnTo>
                  <a:pt x="838200" y="174625"/>
                </a:lnTo>
                <a:lnTo>
                  <a:pt x="800100" y="141446"/>
                </a:lnTo>
                <a:lnTo>
                  <a:pt x="762000" y="111760"/>
                </a:lnTo>
                <a:lnTo>
                  <a:pt x="723900" y="85566"/>
                </a:lnTo>
                <a:lnTo>
                  <a:pt x="685800" y="62865"/>
                </a:lnTo>
                <a:lnTo>
                  <a:pt x="647700" y="43656"/>
                </a:lnTo>
                <a:lnTo>
                  <a:pt x="609600" y="27940"/>
                </a:lnTo>
                <a:lnTo>
                  <a:pt x="571500" y="15716"/>
                </a:lnTo>
                <a:lnTo>
                  <a:pt x="533400" y="6985"/>
                </a:lnTo>
                <a:lnTo>
                  <a:pt x="495300" y="1746"/>
                </a:lnTo>
                <a:lnTo>
                  <a:pt x="457200" y="0"/>
                </a:lnTo>
                <a:lnTo>
                  <a:pt x="419100" y="1746"/>
                </a:lnTo>
                <a:lnTo>
                  <a:pt x="381000" y="6985"/>
                </a:lnTo>
                <a:lnTo>
                  <a:pt x="342900" y="15716"/>
                </a:lnTo>
                <a:lnTo>
                  <a:pt x="304800" y="27940"/>
                </a:lnTo>
                <a:lnTo>
                  <a:pt x="266700" y="43656"/>
                </a:lnTo>
                <a:lnTo>
                  <a:pt x="228600" y="62865"/>
                </a:lnTo>
                <a:lnTo>
                  <a:pt x="190500" y="85566"/>
                </a:lnTo>
                <a:lnTo>
                  <a:pt x="152400" y="111760"/>
                </a:lnTo>
                <a:lnTo>
                  <a:pt x="114300" y="141446"/>
                </a:lnTo>
                <a:lnTo>
                  <a:pt x="76200" y="174625"/>
                </a:lnTo>
                <a:lnTo>
                  <a:pt x="38100" y="211296"/>
                </a:lnTo>
                <a:lnTo>
                  <a:pt x="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7266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0"/>
                </a:moveTo>
                <a:lnTo>
                  <a:pt x="38100" y="40164"/>
                </a:lnTo>
                <a:lnTo>
                  <a:pt x="76200" y="76835"/>
                </a:lnTo>
                <a:lnTo>
                  <a:pt x="114300" y="110014"/>
                </a:lnTo>
                <a:lnTo>
                  <a:pt x="152400" y="139700"/>
                </a:lnTo>
                <a:lnTo>
                  <a:pt x="190500" y="165894"/>
                </a:lnTo>
                <a:lnTo>
                  <a:pt x="228600" y="188595"/>
                </a:lnTo>
                <a:lnTo>
                  <a:pt x="266700" y="207804"/>
                </a:lnTo>
                <a:lnTo>
                  <a:pt x="304800" y="223520"/>
                </a:lnTo>
                <a:lnTo>
                  <a:pt x="342900" y="235744"/>
                </a:lnTo>
                <a:lnTo>
                  <a:pt x="381000" y="244475"/>
                </a:lnTo>
                <a:lnTo>
                  <a:pt x="419100" y="249714"/>
                </a:lnTo>
                <a:lnTo>
                  <a:pt x="457200" y="251460"/>
                </a:lnTo>
                <a:lnTo>
                  <a:pt x="495300" y="249714"/>
                </a:lnTo>
                <a:lnTo>
                  <a:pt x="533400" y="244475"/>
                </a:lnTo>
                <a:lnTo>
                  <a:pt x="571500" y="235744"/>
                </a:lnTo>
                <a:lnTo>
                  <a:pt x="609600" y="223520"/>
                </a:lnTo>
                <a:lnTo>
                  <a:pt x="647700" y="207804"/>
                </a:lnTo>
                <a:lnTo>
                  <a:pt x="685800" y="188595"/>
                </a:lnTo>
                <a:lnTo>
                  <a:pt x="723900" y="165894"/>
                </a:lnTo>
                <a:lnTo>
                  <a:pt x="762000" y="139700"/>
                </a:lnTo>
                <a:lnTo>
                  <a:pt x="800100" y="110014"/>
                </a:lnTo>
                <a:lnTo>
                  <a:pt x="838200" y="76835"/>
                </a:lnTo>
                <a:lnTo>
                  <a:pt x="876300" y="40164"/>
                </a:lnTo>
                <a:lnTo>
                  <a:pt x="91440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4183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5895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4183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1148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54864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48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1440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 6 → 3</a:t>
            </a:r>
            <a:endParaRPr lang="en-US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대기 state 제거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9184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342900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34290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379476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분리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347472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검출 = debouncer, FSM = 순수 제어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17220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630936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6309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67512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clock domain</a:t>
            </a:r>
            <a:endParaRPr lang="en-US" sz="1450" dirty="0"/>
          </a:p>
        </p:txBody>
      </p:sp>
      <p:sp>
        <p:nvSpPr>
          <p:cNvPr id="64" name="Text 62"/>
          <p:cNvSpPr txBox="1"/>
          <p:nvPr/>
        </p:nvSpPr>
        <p:spPr>
          <a:xfrm>
            <a:off x="635508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= enable 조건 → gated clock 불필요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905256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918972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91897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55548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재사용성</a:t>
            </a:r>
            <a:endParaRPr lang="en-US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923544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1-cycle pulse → counter · 다른 FSM에 그대로 연결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41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States Detect 0101, Output Depends on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 / mealy_out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7552" y="2658618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123444" y="460699"/>
                </a:moveTo>
                <a:lnTo>
                  <a:pt x="88191" y="436015"/>
                </a:lnTo>
                <a:lnTo>
                  <a:pt x="57761" y="405585"/>
                </a:lnTo>
                <a:lnTo>
                  <a:pt x="33077" y="370332"/>
                </a:lnTo>
                <a:lnTo>
                  <a:pt x="14889" y="331329"/>
                </a:lnTo>
                <a:lnTo>
                  <a:pt x="3751" y="289760"/>
                </a:lnTo>
                <a:lnTo>
                  <a:pt x="0" y="246888"/>
                </a:lnTo>
                <a:lnTo>
                  <a:pt x="3751" y="204016"/>
                </a:lnTo>
                <a:lnTo>
                  <a:pt x="14889" y="162447"/>
                </a:lnTo>
                <a:lnTo>
                  <a:pt x="33077" y="123444"/>
                </a:lnTo>
                <a:lnTo>
                  <a:pt x="57761" y="88191"/>
                </a:lnTo>
                <a:lnTo>
                  <a:pt x="88191" y="57761"/>
                </a:lnTo>
                <a:lnTo>
                  <a:pt x="123444" y="33077"/>
                </a:lnTo>
                <a:lnTo>
                  <a:pt x="162447" y="14889"/>
                </a:lnTo>
                <a:lnTo>
                  <a:pt x="204016" y="3751"/>
                </a:lnTo>
                <a:lnTo>
                  <a:pt x="246888" y="0"/>
                </a:lnTo>
                <a:lnTo>
                  <a:pt x="289760" y="3751"/>
                </a:lnTo>
                <a:lnTo>
                  <a:pt x="331329" y="14889"/>
                </a:lnTo>
                <a:lnTo>
                  <a:pt x="370332" y="33077"/>
                </a:lnTo>
                <a:lnTo>
                  <a:pt x="405585" y="57761"/>
                </a:lnTo>
                <a:lnTo>
                  <a:pt x="436015" y="88191"/>
                </a:lnTo>
                <a:lnTo>
                  <a:pt x="460699" y="123444"/>
                </a:lnTo>
                <a:lnTo>
                  <a:pt x="478887" y="162447"/>
                </a:lnTo>
                <a:lnTo>
                  <a:pt x="490025" y="204016"/>
                </a:lnTo>
                <a:lnTo>
                  <a:pt x="493776" y="246888"/>
                </a:lnTo>
                <a:lnTo>
                  <a:pt x="490025" y="289760"/>
                </a:lnTo>
                <a:lnTo>
                  <a:pt x="478887" y="331329"/>
                </a:lnTo>
                <a:lnTo>
                  <a:pt x="460699" y="370332"/>
                </a:lnTo>
                <a:lnTo>
                  <a:pt x="436015" y="405585"/>
                </a:lnTo>
                <a:lnTo>
                  <a:pt x="405585" y="436015"/>
                </a:lnTo>
                <a:lnTo>
                  <a:pt x="370332" y="460699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601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53512" y="3921563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51760" y="441883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66420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6022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3016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72618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9612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569214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44168" y="2439253"/>
            <a:ext cx="3712464" cy="685800"/>
          </a:xfrm>
          <a:custGeom>
            <a:avLst/>
            <a:gdLst/>
            <a:ahLst/>
            <a:cxnLst/>
            <a:rect l="l" t="t" r="r" b="b"/>
            <a:pathLst>
              <a:path w="3712464" h="685800">
                <a:moveTo>
                  <a:pt x="3712464" y="685800"/>
                </a:moveTo>
                <a:lnTo>
                  <a:pt x="3557778" y="576263"/>
                </a:lnTo>
                <a:lnTo>
                  <a:pt x="3403092" y="476250"/>
                </a:lnTo>
                <a:lnTo>
                  <a:pt x="3248406" y="385763"/>
                </a:lnTo>
                <a:lnTo>
                  <a:pt x="3093720" y="304800"/>
                </a:lnTo>
                <a:lnTo>
                  <a:pt x="2939034" y="233362"/>
                </a:lnTo>
                <a:lnTo>
                  <a:pt x="2784348" y="171450"/>
                </a:lnTo>
                <a:lnTo>
                  <a:pt x="2629662" y="119062"/>
                </a:lnTo>
                <a:lnTo>
                  <a:pt x="2474976" y="76200"/>
                </a:lnTo>
                <a:lnTo>
                  <a:pt x="2320290" y="42863"/>
                </a:lnTo>
                <a:lnTo>
                  <a:pt x="2165604" y="19050"/>
                </a:lnTo>
                <a:lnTo>
                  <a:pt x="2010918" y="4763"/>
                </a:lnTo>
                <a:lnTo>
                  <a:pt x="1856232" y="0"/>
                </a:lnTo>
                <a:lnTo>
                  <a:pt x="1701546" y="4762"/>
                </a:lnTo>
                <a:lnTo>
                  <a:pt x="1546860" y="19050"/>
                </a:lnTo>
                <a:lnTo>
                  <a:pt x="1392174" y="42863"/>
                </a:lnTo>
                <a:lnTo>
                  <a:pt x="1237488" y="76200"/>
                </a:lnTo>
                <a:lnTo>
                  <a:pt x="1082802" y="119063"/>
                </a:lnTo>
                <a:lnTo>
                  <a:pt x="928116" y="171450"/>
                </a:lnTo>
                <a:lnTo>
                  <a:pt x="773430" y="233362"/>
                </a:lnTo>
                <a:lnTo>
                  <a:pt x="618744" y="304800"/>
                </a:lnTo>
                <a:lnTo>
                  <a:pt x="464058" y="385763"/>
                </a:lnTo>
                <a:lnTo>
                  <a:pt x="309372" y="476250"/>
                </a:lnTo>
                <a:lnTo>
                  <a:pt x="154686" y="576263"/>
                </a:lnTo>
                <a:lnTo>
                  <a:pt x="0" y="68580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2377440" y="214664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10128" y="3915827"/>
            <a:ext cx="3712464" cy="566928"/>
          </a:xfrm>
          <a:custGeom>
            <a:avLst/>
            <a:gdLst/>
            <a:ahLst/>
            <a:cxnLst/>
            <a:rect l="l" t="t" r="r" b="b"/>
            <a:pathLst>
              <a:path w="3712464" h="566928">
                <a:moveTo>
                  <a:pt x="3712464" y="0"/>
                </a:moveTo>
                <a:lnTo>
                  <a:pt x="3557778" y="90551"/>
                </a:lnTo>
                <a:lnTo>
                  <a:pt x="3403092" y="173228"/>
                </a:lnTo>
                <a:lnTo>
                  <a:pt x="3248406" y="248031"/>
                </a:lnTo>
                <a:lnTo>
                  <a:pt x="3093720" y="314960"/>
                </a:lnTo>
                <a:lnTo>
                  <a:pt x="2939034" y="374015"/>
                </a:lnTo>
                <a:lnTo>
                  <a:pt x="2784348" y="425196"/>
                </a:lnTo>
                <a:lnTo>
                  <a:pt x="2629662" y="468503"/>
                </a:lnTo>
                <a:lnTo>
                  <a:pt x="2474976" y="503936"/>
                </a:lnTo>
                <a:lnTo>
                  <a:pt x="2320290" y="531495"/>
                </a:lnTo>
                <a:lnTo>
                  <a:pt x="2165604" y="551180"/>
                </a:lnTo>
                <a:lnTo>
                  <a:pt x="2010918" y="562991"/>
                </a:lnTo>
                <a:lnTo>
                  <a:pt x="1856232" y="566928"/>
                </a:lnTo>
                <a:lnTo>
                  <a:pt x="1701546" y="562991"/>
                </a:lnTo>
                <a:lnTo>
                  <a:pt x="1546860" y="551180"/>
                </a:lnTo>
                <a:lnTo>
                  <a:pt x="1392174" y="531495"/>
                </a:lnTo>
                <a:lnTo>
                  <a:pt x="1237488" y="503936"/>
                </a:lnTo>
                <a:lnTo>
                  <a:pt x="1082802" y="468503"/>
                </a:lnTo>
                <a:lnTo>
                  <a:pt x="928116" y="425196"/>
                </a:lnTo>
                <a:lnTo>
                  <a:pt x="773430" y="374015"/>
                </a:lnTo>
                <a:lnTo>
                  <a:pt x="618744" y="314960"/>
                </a:lnTo>
                <a:lnTo>
                  <a:pt x="464058" y="248031"/>
                </a:lnTo>
                <a:lnTo>
                  <a:pt x="309372" y="173228"/>
                </a:lnTo>
                <a:lnTo>
                  <a:pt x="154686" y="90551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343400" y="4519331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44168" y="3915827"/>
            <a:ext cx="5678424" cy="1078992"/>
          </a:xfrm>
          <a:custGeom>
            <a:avLst/>
            <a:gdLst/>
            <a:ahLst/>
            <a:cxnLst/>
            <a:rect l="l" t="t" r="r" b="b"/>
            <a:pathLst>
              <a:path w="5678424" h="1078992">
                <a:moveTo>
                  <a:pt x="5678424" y="0"/>
                </a:moveTo>
                <a:lnTo>
                  <a:pt x="5441823" y="172339"/>
                </a:lnTo>
                <a:lnTo>
                  <a:pt x="5205222" y="329692"/>
                </a:lnTo>
                <a:lnTo>
                  <a:pt x="4968621" y="472059"/>
                </a:lnTo>
                <a:lnTo>
                  <a:pt x="4732020" y="599440"/>
                </a:lnTo>
                <a:lnTo>
                  <a:pt x="4495419" y="711835"/>
                </a:lnTo>
                <a:lnTo>
                  <a:pt x="4258818" y="809244"/>
                </a:lnTo>
                <a:lnTo>
                  <a:pt x="4022217" y="891667"/>
                </a:lnTo>
                <a:lnTo>
                  <a:pt x="3785616" y="959104"/>
                </a:lnTo>
                <a:lnTo>
                  <a:pt x="3549015" y="1011555"/>
                </a:lnTo>
                <a:lnTo>
                  <a:pt x="3312414" y="1049020"/>
                </a:lnTo>
                <a:lnTo>
                  <a:pt x="3075813" y="1071499"/>
                </a:lnTo>
                <a:lnTo>
                  <a:pt x="2839212" y="1078992"/>
                </a:lnTo>
                <a:lnTo>
                  <a:pt x="2602611" y="1071499"/>
                </a:lnTo>
                <a:lnTo>
                  <a:pt x="2366010" y="1049020"/>
                </a:lnTo>
                <a:lnTo>
                  <a:pt x="2129409" y="1011555"/>
                </a:lnTo>
                <a:lnTo>
                  <a:pt x="1892808" y="959104"/>
                </a:lnTo>
                <a:lnTo>
                  <a:pt x="1656207" y="891667"/>
                </a:lnTo>
                <a:lnTo>
                  <a:pt x="1419606" y="809244"/>
                </a:lnTo>
                <a:lnTo>
                  <a:pt x="1183005" y="711835"/>
                </a:lnTo>
                <a:lnTo>
                  <a:pt x="946404" y="599440"/>
                </a:lnTo>
                <a:lnTo>
                  <a:pt x="709803" y="472059"/>
                </a:lnTo>
                <a:lnTo>
                  <a:pt x="473202" y="329692"/>
                </a:lnTo>
                <a:lnTo>
                  <a:pt x="236601" y="172339"/>
                </a:lnTo>
                <a:lnTo>
                  <a:pt x="0" y="0"/>
                </a:lnTo>
              </a:path>
            </a:pathLst>
          </a:custGeom>
          <a:ln w="28575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360420" y="503139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  검출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467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7063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277063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77063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3659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73659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3659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02552" y="3090672"/>
            <a:ext cx="859536" cy="859536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70255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70255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8595360" y="4389120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8796528" y="4389120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(S3) · din_bit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입력이 출력에 직접 연결</a:t>
            </a:r>
            <a:endParaRPr lang="en-US" sz="1350" dirty="0"/>
          </a:p>
        </p:txBody>
      </p:sp>
      <p:sp>
        <p:nvSpPr>
          <p:cNvPr id="70" name="Text 68"/>
          <p:cNvSpPr txBox="1"/>
          <p:nvPr/>
        </p:nvSpPr>
        <p:spPr>
          <a:xfrm>
            <a:off x="8595360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검출 후 S0 복귀 → 마지막 1 재사용 없음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41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Moore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S4 Holds the Detection, Output Depends on State Only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03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505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1488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4401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403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6405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566160"/>
            <a:ext cx="777240" cy="0"/>
          </a:xfrm>
          <a:prstGeom prst="line">
            <a:avLst/>
          </a:prstGeom>
          <a:noFill/>
          <a:ln w="28575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2407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07008" y="2684678"/>
            <a:ext cx="2980944" cy="502920"/>
          </a:xfrm>
          <a:custGeom>
            <a:avLst/>
            <a:gdLst/>
            <a:ahLst/>
            <a:cxnLst/>
            <a:rect l="l" t="t" r="r" b="b"/>
            <a:pathLst>
              <a:path w="2980944" h="502920">
                <a:moveTo>
                  <a:pt x="2980944" y="502920"/>
                </a:moveTo>
                <a:lnTo>
                  <a:pt x="2856738" y="422593"/>
                </a:lnTo>
                <a:lnTo>
                  <a:pt x="2732532" y="349250"/>
                </a:lnTo>
                <a:lnTo>
                  <a:pt x="2608326" y="282892"/>
                </a:lnTo>
                <a:lnTo>
                  <a:pt x="2484120" y="223520"/>
                </a:lnTo>
                <a:lnTo>
                  <a:pt x="2359914" y="171132"/>
                </a:lnTo>
                <a:lnTo>
                  <a:pt x="2235708" y="125730"/>
                </a:lnTo>
                <a:lnTo>
                  <a:pt x="2111502" y="87312"/>
                </a:lnTo>
                <a:lnTo>
                  <a:pt x="1987296" y="55880"/>
                </a:lnTo>
                <a:lnTo>
                  <a:pt x="1863090" y="31432"/>
                </a:lnTo>
                <a:lnTo>
                  <a:pt x="1738884" y="13970"/>
                </a:lnTo>
                <a:lnTo>
                  <a:pt x="1614678" y="3493"/>
                </a:lnTo>
                <a:lnTo>
                  <a:pt x="1490472" y="0"/>
                </a:lnTo>
                <a:lnTo>
                  <a:pt x="1366266" y="3492"/>
                </a:lnTo>
                <a:lnTo>
                  <a:pt x="1242060" y="13970"/>
                </a:lnTo>
                <a:lnTo>
                  <a:pt x="1117854" y="31432"/>
                </a:lnTo>
                <a:lnTo>
                  <a:pt x="993648" y="55880"/>
                </a:lnTo>
                <a:lnTo>
                  <a:pt x="869442" y="87312"/>
                </a:lnTo>
                <a:lnTo>
                  <a:pt x="745236" y="125730"/>
                </a:lnTo>
                <a:lnTo>
                  <a:pt x="621030" y="171132"/>
                </a:lnTo>
                <a:lnTo>
                  <a:pt x="496824" y="223520"/>
                </a:lnTo>
                <a:lnTo>
                  <a:pt x="372618" y="282892"/>
                </a:lnTo>
                <a:lnTo>
                  <a:pt x="248412" y="349250"/>
                </a:lnTo>
                <a:lnTo>
                  <a:pt x="124206" y="422593"/>
                </a:lnTo>
                <a:lnTo>
                  <a:pt x="0" y="5029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874520" y="23920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807208" y="2227478"/>
            <a:ext cx="4581144" cy="960120"/>
          </a:xfrm>
          <a:custGeom>
            <a:avLst/>
            <a:gdLst/>
            <a:ahLst/>
            <a:cxnLst/>
            <a:rect l="l" t="t" r="r" b="b"/>
            <a:pathLst>
              <a:path w="4581144" h="960120">
                <a:moveTo>
                  <a:pt x="4581144" y="960120"/>
                </a:moveTo>
                <a:lnTo>
                  <a:pt x="4390263" y="806768"/>
                </a:lnTo>
                <a:lnTo>
                  <a:pt x="4199382" y="666750"/>
                </a:lnTo>
                <a:lnTo>
                  <a:pt x="4008501" y="540067"/>
                </a:lnTo>
                <a:lnTo>
                  <a:pt x="3817620" y="426720"/>
                </a:lnTo>
                <a:lnTo>
                  <a:pt x="3626739" y="326707"/>
                </a:lnTo>
                <a:lnTo>
                  <a:pt x="3435858" y="240030"/>
                </a:lnTo>
                <a:lnTo>
                  <a:pt x="3244977" y="166687"/>
                </a:lnTo>
                <a:lnTo>
                  <a:pt x="3054096" y="106680"/>
                </a:lnTo>
                <a:lnTo>
                  <a:pt x="2863215" y="60007"/>
                </a:lnTo>
                <a:lnTo>
                  <a:pt x="2672334" y="26670"/>
                </a:lnTo>
                <a:lnTo>
                  <a:pt x="2481453" y="6668"/>
                </a:lnTo>
                <a:lnTo>
                  <a:pt x="2290572" y="0"/>
                </a:lnTo>
                <a:lnTo>
                  <a:pt x="2099691" y="6667"/>
                </a:lnTo>
                <a:lnTo>
                  <a:pt x="1908810" y="26670"/>
                </a:lnTo>
                <a:lnTo>
                  <a:pt x="1717929" y="60007"/>
                </a:lnTo>
                <a:lnTo>
                  <a:pt x="1527048" y="106680"/>
                </a:lnTo>
                <a:lnTo>
                  <a:pt x="1336167" y="166687"/>
                </a:lnTo>
                <a:lnTo>
                  <a:pt x="1145286" y="240030"/>
                </a:lnTo>
                <a:lnTo>
                  <a:pt x="954405" y="326707"/>
                </a:lnTo>
                <a:lnTo>
                  <a:pt x="763524" y="426720"/>
                </a:lnTo>
                <a:lnTo>
                  <a:pt x="572643" y="540067"/>
                </a:lnTo>
                <a:lnTo>
                  <a:pt x="381762" y="666750"/>
                </a:lnTo>
                <a:lnTo>
                  <a:pt x="190881" y="806768"/>
                </a:lnTo>
                <a:lnTo>
                  <a:pt x="0" y="9601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74820" y="19348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07208" y="3944722"/>
            <a:ext cx="2980944" cy="548640"/>
          </a:xfrm>
          <a:custGeom>
            <a:avLst/>
            <a:gdLst/>
            <a:ahLst/>
            <a:cxnLst/>
            <a:rect l="l" t="t" r="r" b="b"/>
            <a:pathLst>
              <a:path w="2980944" h="548640">
                <a:moveTo>
                  <a:pt x="2980944" y="0"/>
                </a:moveTo>
                <a:lnTo>
                  <a:pt x="2856738" y="87630"/>
                </a:lnTo>
                <a:lnTo>
                  <a:pt x="2732532" y="167640"/>
                </a:lnTo>
                <a:lnTo>
                  <a:pt x="2608326" y="240030"/>
                </a:lnTo>
                <a:lnTo>
                  <a:pt x="2484120" y="304800"/>
                </a:lnTo>
                <a:lnTo>
                  <a:pt x="2359914" y="361950"/>
                </a:lnTo>
                <a:lnTo>
                  <a:pt x="2235708" y="411480"/>
                </a:lnTo>
                <a:lnTo>
                  <a:pt x="2111502" y="453390"/>
                </a:lnTo>
                <a:lnTo>
                  <a:pt x="1987296" y="487680"/>
                </a:lnTo>
                <a:lnTo>
                  <a:pt x="1863090" y="514350"/>
                </a:lnTo>
                <a:lnTo>
                  <a:pt x="1738884" y="533400"/>
                </a:lnTo>
                <a:lnTo>
                  <a:pt x="1614678" y="544830"/>
                </a:lnTo>
                <a:lnTo>
                  <a:pt x="1490472" y="548640"/>
                </a:lnTo>
                <a:lnTo>
                  <a:pt x="1366266" y="544830"/>
                </a:lnTo>
                <a:lnTo>
                  <a:pt x="1242060" y="533400"/>
                </a:lnTo>
                <a:lnTo>
                  <a:pt x="1117854" y="514350"/>
                </a:lnTo>
                <a:lnTo>
                  <a:pt x="993648" y="487680"/>
                </a:lnTo>
                <a:lnTo>
                  <a:pt x="869442" y="453390"/>
                </a:lnTo>
                <a:lnTo>
                  <a:pt x="745236" y="411480"/>
                </a:lnTo>
                <a:lnTo>
                  <a:pt x="621030" y="361950"/>
                </a:lnTo>
                <a:lnTo>
                  <a:pt x="496824" y="304800"/>
                </a:lnTo>
                <a:lnTo>
                  <a:pt x="372618" y="240030"/>
                </a:lnTo>
                <a:lnTo>
                  <a:pt x="248412" y="167640"/>
                </a:lnTo>
                <a:lnTo>
                  <a:pt x="124206" y="87630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474720" y="452993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07008" y="3944722"/>
            <a:ext cx="6181344" cy="1051560"/>
          </a:xfrm>
          <a:custGeom>
            <a:avLst/>
            <a:gdLst/>
            <a:ahLst/>
            <a:cxnLst/>
            <a:rect l="l" t="t" r="r" b="b"/>
            <a:pathLst>
              <a:path w="6181344" h="1051560">
                <a:moveTo>
                  <a:pt x="6181344" y="0"/>
                </a:moveTo>
                <a:lnTo>
                  <a:pt x="5923788" y="167958"/>
                </a:lnTo>
                <a:lnTo>
                  <a:pt x="5666232" y="321310"/>
                </a:lnTo>
                <a:lnTo>
                  <a:pt x="5408676" y="460057"/>
                </a:lnTo>
                <a:lnTo>
                  <a:pt x="5151120" y="584200"/>
                </a:lnTo>
                <a:lnTo>
                  <a:pt x="4893564" y="693737"/>
                </a:lnTo>
                <a:lnTo>
                  <a:pt x="4636008" y="788670"/>
                </a:lnTo>
                <a:lnTo>
                  <a:pt x="4378452" y="868997"/>
                </a:lnTo>
                <a:lnTo>
                  <a:pt x="4120896" y="934720"/>
                </a:lnTo>
                <a:lnTo>
                  <a:pt x="3863340" y="985838"/>
                </a:lnTo>
                <a:lnTo>
                  <a:pt x="3605784" y="1022350"/>
                </a:lnTo>
                <a:lnTo>
                  <a:pt x="3348228" y="1044258"/>
                </a:lnTo>
                <a:lnTo>
                  <a:pt x="3090672" y="1051560"/>
                </a:lnTo>
                <a:lnTo>
                  <a:pt x="2833116" y="1044257"/>
                </a:lnTo>
                <a:lnTo>
                  <a:pt x="2575560" y="1022350"/>
                </a:lnTo>
                <a:lnTo>
                  <a:pt x="2318004" y="985838"/>
                </a:lnTo>
                <a:lnTo>
                  <a:pt x="2060448" y="934720"/>
                </a:lnTo>
                <a:lnTo>
                  <a:pt x="1802892" y="868998"/>
                </a:lnTo>
                <a:lnTo>
                  <a:pt x="1545336" y="788670"/>
                </a:lnTo>
                <a:lnTo>
                  <a:pt x="1287780" y="693737"/>
                </a:lnTo>
                <a:lnTo>
                  <a:pt x="1030224" y="584200"/>
                </a:lnTo>
                <a:lnTo>
                  <a:pt x="772668" y="460057"/>
                </a:lnTo>
                <a:lnTo>
                  <a:pt x="515112" y="321310"/>
                </a:lnTo>
                <a:lnTo>
                  <a:pt x="257556" y="167958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474720" y="503285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22860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8862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8862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4864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154680"/>
            <a:ext cx="822960" cy="82296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866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350" dirty="0"/>
          </a:p>
        </p:txBody>
      </p:sp>
      <p:sp>
        <p:nvSpPr>
          <p:cNvPr id="77" name="Shape 75"/>
          <p:cNvSpPr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"0101"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</p:txBody>
      </p:sp>
      <p:sp>
        <p:nvSpPr>
          <p:cNvPr id="81" name="Shape 79"/>
          <p:cNvSpPr/>
          <p:nvPr/>
        </p:nvSpPr>
        <p:spPr>
          <a:xfrm>
            <a:off x="8595360" y="4864608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8796528" y="4864608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(state == S4)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state만으로 출력 결정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859536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S4에서 0 → S1, 1 → S0</a:t>
            </a:r>
            <a:endParaRPr lang="en-US" sz="12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41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시뮬레이션 환경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Both Machines Receive the Same Serial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58368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Testbench 구성 (tb_dut)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bit4_driver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$urandom_range(5,8)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14600" y="2560320"/>
            <a:ext cx="10972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06040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1880" y="2011680"/>
            <a:ext cx="0" cy="114300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11880" y="2011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11880" y="3154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977640" y="1691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AE8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77640" y="1691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seq_det_mealy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DUT_MEALY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2834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FEDD5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97764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seq_det_moore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DUT_MOORE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2011680"/>
            <a:ext cx="457200" cy="0"/>
          </a:xfrm>
          <a:prstGeom prst="line">
            <a:avLst/>
          </a:prstGeom>
          <a:noFill/>
          <a:ln w="25400">
            <a:solidFill>
              <a:srgbClr val="C026D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760720" y="3154680"/>
            <a:ext cx="45720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236208" y="1783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926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· rst 공통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78040" y="1188720"/>
            <a:ext cx="46177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7360920" y="131673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조건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627632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10 ns 주기 (100 MHz)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rst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0 ~ 15 ns 동안 1 (async reset)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5 ~ 8 random, 50회 반복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순서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bit4[0] → [1] → [2] (LSB부터 3 bit)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시점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negedge + 1 ns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11480" y="4114800"/>
            <a:ext cx="55778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94360" y="42428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 → din_bit serial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9436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9436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 (5)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0 → 1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29184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329184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0110 (6)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1 → 1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9436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0111 (7)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1 → 1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29184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329184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 (8)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0 → 0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72200" y="4114800"/>
            <a:ext cx="562356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355080" y="424281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형성 예 (161 ~ 225 ns)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900684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623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 경계를 넘어 "0101" 완성 → 221 ns 검출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41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입력 Timing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Changes at negedge + 1 ns, Sampled at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1396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1396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8483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0"/>
                </a:moveTo>
                <a:lnTo>
                  <a:pt x="1062736" y="0"/>
                </a:lnTo>
                <a:lnTo>
                  <a:pt x="1062736" y="521208"/>
                </a:lnTo>
                <a:lnTo>
                  <a:pt x="2125472" y="52120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521208"/>
                </a:lnTo>
                <a:lnTo>
                  <a:pt x="4250944" y="52120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521208"/>
                </a:lnTo>
                <a:lnTo>
                  <a:pt x="6376416" y="52120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521208"/>
                </a:lnTo>
                <a:lnTo>
                  <a:pt x="8501888" y="52120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66344" y="2825496"/>
            <a:ext cx="1490472" cy="77724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277977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95351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521208"/>
                </a:moveTo>
                <a:lnTo>
                  <a:pt x="1275283" y="52120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521208"/>
                </a:lnTo>
                <a:lnTo>
                  <a:pt x="5526227" y="52120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396691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5522163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647635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773107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3849624"/>
            <a:ext cx="850189" cy="109728"/>
          </a:xfrm>
          <a:custGeom>
            <a:avLst/>
            <a:gdLst/>
            <a:ahLst/>
            <a:cxnLst/>
            <a:rect l="l" t="t" r="r" b="b"/>
            <a:pathLst>
              <a:path w="850189" h="109728">
                <a:moveTo>
                  <a:pt x="0" y="0"/>
                </a:moveTo>
                <a:lnTo>
                  <a:pt x="0" y="109728"/>
                </a:lnTo>
                <a:lnTo>
                  <a:pt x="850189" y="109728"/>
                </a:lnTo>
                <a:lnTo>
                  <a:pt x="85018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3030931" y="3986784"/>
            <a:ext cx="15817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4246880" y="4261104"/>
            <a:ext cx="1275283" cy="109728"/>
          </a:xfrm>
          <a:custGeom>
            <a:avLst/>
            <a:gdLst/>
            <a:ahLst/>
            <a:cxnLst/>
            <a:rect l="l" t="t" r="r" b="b"/>
            <a:pathLst>
              <a:path w="1275283" h="109728">
                <a:moveTo>
                  <a:pt x="0" y="0"/>
                </a:moveTo>
                <a:lnTo>
                  <a:pt x="0" y="109728"/>
                </a:lnTo>
                <a:lnTo>
                  <a:pt x="1275283" y="109728"/>
                </a:lnTo>
                <a:lnTo>
                  <a:pt x="1275283" y="0"/>
                </a:lnTo>
              </a:path>
            </a:pathLst>
          </a:custGeom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3972560" y="4398264"/>
            <a:ext cx="1823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6 ns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1148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3949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92354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 (노란선)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25196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437997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437997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76402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 (주황 점선)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09244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822045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22045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60450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Margin: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 · hold 6 ns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5532120"/>
            <a:ext cx="11384280" cy="777240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5532120"/>
            <a:ext cx="1098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전후 모두 여유 확보 → 두 machine이 같은 안정된 값을 sampling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41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Mealy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Output Rises the Moment the Last 1 Arrives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246880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72352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497824" y="2935224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526227" y="307238"/>
                </a:lnTo>
                <a:lnTo>
                  <a:pt x="5526227" y="0"/>
                </a:lnTo>
                <a:lnTo>
                  <a:pt x="6376416" y="0"/>
                </a:lnTo>
                <a:lnTo>
                  <a:pt x="6376416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4118864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4118864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24433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244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8552688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221 ns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9728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9728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1700784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664208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230624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423062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834128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797552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7363968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736396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7967472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7930896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1049731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49731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1 @ 221 ns : S3에서 din_bit = 1 도착 즉시 (posedge 225 ns 이전)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S3 · din_bit → clock 대기 없이 조합 logic으로 즉시 반영</a:t>
            </a:r>
            <a:endParaRPr lang="en-US" sz="1500" dirty="0"/>
          </a:p>
        </p:txBody>
      </p:sp>
      <p:sp>
        <p:nvSpPr>
          <p:cNvPr id="83" name="Text 8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41</a:t>
            </a:r>
            <a:endParaRPr lang="en-US" sz="900" dirty="0"/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A7EAEB34-79B0-CBAF-A8D7-CC4FE41F7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56135"/>
            <a:ext cx="12192000" cy="27453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Output Rises One Clock Later in S4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12140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034333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94725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60182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73107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269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182088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5819242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819242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9645091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9645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827971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~ 235 ns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9144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6" name="Shape 74"/>
          <p:cNvSpPr/>
          <p:nvPr/>
        </p:nvSpPr>
        <p:spPr>
          <a:xfrm>
            <a:off x="1517904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1481328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355848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335584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3959352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3922776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797296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5797296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6400800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6364224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238744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23874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8842248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8805672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din 1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1068019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1068019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1 @ 225 ns : posedge 225 ns에 S4 진입 후 1 clock 유지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state 해독 → din_bit 도착(221 ns) 후 다음 posedge까지 대기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41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비교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Asserts 4 ns Earlier, Moore Holds a Full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66344" y="2980944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4973604" y="307238"/>
                </a:lnTo>
                <a:lnTo>
                  <a:pt x="4973604" y="0"/>
                </a:lnTo>
                <a:lnTo>
                  <a:pt x="5738774" y="0"/>
                </a:lnTo>
                <a:lnTo>
                  <a:pt x="5738774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7095012" y="2971800"/>
            <a:ext cx="765170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7915046" y="30540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ns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827971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966996" y="1271016"/>
            <a:ext cx="256032" cy="256032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96699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1148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76072" y="4434840"/>
            <a:ext cx="274320" cy="274320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7607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96012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221 ns, din_bit 도착 즉시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96012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4 ns = din_bit 변경 ~ 다음 posedge 구간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posedge에서 state 이탈 → 출력 해제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621792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6382512" y="44348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638251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76656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225 ns, posedge 이후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676656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10 ns = S4 체류 1 clock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경계에 정렬된 출력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411480" y="557784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12648" y="557784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= combinational 출력 (state + input)  ·  Moore = register 기반 출력 (state)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41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없음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Without 0101, Both Machines Stay in S0–S2 with Output 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5968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5968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5905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9669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39669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93949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719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67197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147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0961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48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2225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722254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67653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49782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354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41074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04839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1048390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059119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19110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198424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637642" y="219456"/>
                </a:lnTo>
                <a:lnTo>
                  <a:pt x="637642" y="0"/>
                </a:lnTo>
                <a:lnTo>
                  <a:pt x="1275283" y="0"/>
                </a:lnTo>
                <a:lnTo>
                  <a:pt x="1275283" y="219456"/>
                </a:lnTo>
                <a:lnTo>
                  <a:pt x="1912925" y="219456"/>
                </a:lnTo>
                <a:lnTo>
                  <a:pt x="1912925" y="0"/>
                </a:lnTo>
                <a:lnTo>
                  <a:pt x="2550566" y="0"/>
                </a:lnTo>
                <a:lnTo>
                  <a:pt x="2550566" y="219456"/>
                </a:lnTo>
                <a:lnTo>
                  <a:pt x="3188208" y="219456"/>
                </a:lnTo>
                <a:lnTo>
                  <a:pt x="3188208" y="0"/>
                </a:lnTo>
                <a:lnTo>
                  <a:pt x="3825850" y="0"/>
                </a:lnTo>
                <a:lnTo>
                  <a:pt x="3825850" y="219456"/>
                </a:lnTo>
                <a:lnTo>
                  <a:pt x="4463491" y="219456"/>
                </a:lnTo>
                <a:lnTo>
                  <a:pt x="4463491" y="0"/>
                </a:lnTo>
                <a:lnTo>
                  <a:pt x="5101133" y="0"/>
                </a:lnTo>
                <a:lnTo>
                  <a:pt x="5101133" y="219456"/>
                </a:lnTo>
                <a:lnTo>
                  <a:pt x="5738774" y="219456"/>
                </a:lnTo>
                <a:lnTo>
                  <a:pt x="5738774" y="0"/>
                </a:lnTo>
                <a:lnTo>
                  <a:pt x="6376416" y="0"/>
                </a:lnTo>
                <a:lnTo>
                  <a:pt x="6376416" y="219456"/>
                </a:lnTo>
                <a:lnTo>
                  <a:pt x="7014058" y="219456"/>
                </a:lnTo>
                <a:lnTo>
                  <a:pt x="7014058" y="0"/>
                </a:lnTo>
                <a:lnTo>
                  <a:pt x="7651699" y="0"/>
                </a:lnTo>
                <a:lnTo>
                  <a:pt x="7651699" y="219456"/>
                </a:lnTo>
                <a:lnTo>
                  <a:pt x="8289341" y="219456"/>
                </a:lnTo>
                <a:lnTo>
                  <a:pt x="8289341" y="0"/>
                </a:lnTo>
                <a:lnTo>
                  <a:pt x="8926982" y="0"/>
                </a:lnTo>
                <a:lnTo>
                  <a:pt x="8926982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27685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121408" y="235000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1402812" y="219456"/>
                </a:lnTo>
                <a:lnTo>
                  <a:pt x="1402812" y="0"/>
                </a:lnTo>
                <a:lnTo>
                  <a:pt x="7779228" y="0"/>
                </a:lnTo>
                <a:lnTo>
                  <a:pt x="7779228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39496" y="264261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2121408" y="264261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034333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309616" y="264261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410749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271576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008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00837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034333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309616" y="300837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410749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121408" y="308152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539496" y="3374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121408" y="366674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539496" y="37398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121408" y="403250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524220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9900636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34333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09616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5181600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181600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0410749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10282733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1028273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309616" y="267919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5309616" y="304495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1463040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1463040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2066544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2029968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352544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352544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956048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4919472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1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7242048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7242048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5" name="Shape 83"/>
          <p:cNvSpPr/>
          <p:nvPr/>
        </p:nvSpPr>
        <p:spPr>
          <a:xfrm>
            <a:off x="7845552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7808976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0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0131552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1013155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89" name="Shape 87"/>
          <p:cNvSpPr/>
          <p:nvPr/>
        </p:nvSpPr>
        <p:spPr>
          <a:xfrm>
            <a:off x="411480" y="5669280"/>
            <a:ext cx="11384280" cy="68580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12648" y="5669280"/>
            <a:ext cx="10981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"011" → 0101 진행 불가 → S0 복귀 · din_bit = 1 동안 S0 유지 · S3 미도달 → 출력 0</a:t>
            </a:r>
            <a:endParaRPr lang="en-US" sz="1450" dirty="0"/>
          </a:p>
        </p:txBody>
      </p:sp>
      <p:sp>
        <p:nvSpPr>
          <p:cNvPr id="91" name="Text 8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41</a:t>
            </a:r>
            <a:endParaRPr lang="en-US" sz="900" dirty="0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991F5979-D607-915A-991A-B22AA201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490" y="5693343"/>
            <a:ext cx="12192000" cy="27980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next logic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 Differs Only at S3 with din_bit =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next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396691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246880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522163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372352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647635" y="2935224"/>
            <a:ext cx="403839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5571947" y="307238"/>
                </a:lnTo>
                <a:lnTo>
                  <a:pt x="5526227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next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396691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246880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5522163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372352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647635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497824" y="3447288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5571947" y="307238"/>
                </a:lnTo>
                <a:lnTo>
                  <a:pt x="5526227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268675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3268675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39414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394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7519619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7519619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647635" y="2971800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41148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64008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next = S0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출력 logic이 담당 (mealy_out = 1), state는 S0 복귀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621792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44652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next = S4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644652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state로 저장 → S4 decode로 출력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2303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변경 즉시 next 값 변화 → next = 조합 logic</a:t>
            </a:r>
            <a:endParaRPr lang="en-US" sz="135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675 ns 순간의 next 값만 state로 반영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411480" y="5788152"/>
            <a:ext cx="11384280" cy="566928"/>
          </a:xfrm>
          <a:prstGeom prst="roundRect">
            <a:avLst>
              <a:gd name="adj" fmla="val 806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2648" y="5788152"/>
            <a:ext cx="10981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천이 전부 동일 → 차이 = S3 · din_bit 1 한 경우 (S0 vs S4)</a:t>
            </a:r>
            <a:endParaRPr lang="en-US" sz="14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41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S3 · din_bit = 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with din_bit = 0 Returns Both Machines to S1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FFC6A57-3D38-9A47-9ED4-B2B03B446E1B}"/>
              </a:ext>
            </a:extLst>
          </p:cNvPr>
          <p:cNvGrpSpPr/>
          <p:nvPr/>
        </p:nvGrpSpPr>
        <p:grpSpPr>
          <a:xfrm>
            <a:off x="411480" y="2717859"/>
            <a:ext cx="11731752" cy="3822192"/>
            <a:chOff x="411480" y="1271016"/>
            <a:chExt cx="11731752" cy="3822192"/>
          </a:xfrm>
        </p:grpSpPr>
        <p:sp>
          <p:nvSpPr>
            <p:cNvPr id="6" name="Shape 4"/>
            <p:cNvSpPr/>
            <p:nvPr/>
          </p:nvSpPr>
          <p:spPr>
            <a:xfrm>
              <a:off x="411480" y="1600200"/>
              <a:ext cx="11384280" cy="2450592"/>
            </a:xfrm>
            <a:prstGeom prst="rect">
              <a:avLst/>
            </a:prstGeom>
            <a:solidFill>
              <a:srgbClr val="00000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11480" y="1600200"/>
              <a:ext cx="1600200" cy="2450592"/>
            </a:xfrm>
            <a:prstGeom prst="rect">
              <a:avLst/>
            </a:prstGeom>
            <a:solidFill>
              <a:srgbClr val="1C1F2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21208" y="1636776"/>
              <a:ext cx="1417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Name</a:t>
              </a:r>
              <a:endParaRPr lang="en-US" sz="11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121408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121408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664208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415 ns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077870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077870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620670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420 ns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34333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4034333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3577133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425 ns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90795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990795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4533595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430 ns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47258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5947258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1"/>
            <p:cNvSpPr txBox="1"/>
            <p:nvPr/>
          </p:nvSpPr>
          <p:spPr>
            <a:xfrm>
              <a:off x="5490058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435 ns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903720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903720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6446520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440 ns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860182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7860182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7"/>
            <p:cNvSpPr txBox="1"/>
            <p:nvPr/>
          </p:nvSpPr>
          <p:spPr>
            <a:xfrm>
              <a:off x="7402982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445 ns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8816645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8816645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30"/>
            <p:cNvSpPr txBox="1"/>
            <p:nvPr/>
          </p:nvSpPr>
          <p:spPr>
            <a:xfrm>
              <a:off x="8359445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450 ns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773107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9773107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33"/>
            <p:cNvSpPr txBox="1"/>
            <p:nvPr/>
          </p:nvSpPr>
          <p:spPr>
            <a:xfrm>
              <a:off x="9315907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455 ns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10729570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10729570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36"/>
            <p:cNvSpPr txBox="1"/>
            <p:nvPr/>
          </p:nvSpPr>
          <p:spPr>
            <a:xfrm>
              <a:off x="10272370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460 ns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11686032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38"/>
            <p:cNvSpPr/>
            <p:nvPr/>
          </p:nvSpPr>
          <p:spPr>
            <a:xfrm>
              <a:off x="11686032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9"/>
            <p:cNvSpPr txBox="1"/>
            <p:nvPr/>
          </p:nvSpPr>
          <p:spPr>
            <a:xfrm>
              <a:off x="11228832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465 ns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2011680" y="1911096"/>
              <a:ext cx="9784080" cy="0"/>
            </a:xfrm>
            <a:prstGeom prst="line">
              <a:avLst/>
            </a:prstGeom>
            <a:noFill/>
            <a:ln w="9525">
              <a:solidFill>
                <a:srgbClr val="4B5563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539496" y="1911096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5E7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2121408" y="2013509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0"/>
                  </a:moveTo>
                  <a:lnTo>
                    <a:pt x="956462" y="0"/>
                  </a:lnTo>
                  <a:lnTo>
                    <a:pt x="956462" y="307238"/>
                  </a:lnTo>
                  <a:lnTo>
                    <a:pt x="1912925" y="307238"/>
                  </a:lnTo>
                  <a:lnTo>
                    <a:pt x="1912925" y="0"/>
                  </a:lnTo>
                  <a:lnTo>
                    <a:pt x="2869387" y="0"/>
                  </a:lnTo>
                  <a:lnTo>
                    <a:pt x="2869387" y="307238"/>
                  </a:lnTo>
                  <a:lnTo>
                    <a:pt x="3825850" y="307238"/>
                  </a:lnTo>
                  <a:lnTo>
                    <a:pt x="3825850" y="0"/>
                  </a:lnTo>
                  <a:lnTo>
                    <a:pt x="4782312" y="0"/>
                  </a:lnTo>
                  <a:lnTo>
                    <a:pt x="4782312" y="307238"/>
                  </a:lnTo>
                  <a:lnTo>
                    <a:pt x="5738774" y="307238"/>
                  </a:lnTo>
                  <a:lnTo>
                    <a:pt x="5738774" y="0"/>
                  </a:lnTo>
                  <a:lnTo>
                    <a:pt x="6695237" y="0"/>
                  </a:lnTo>
                  <a:lnTo>
                    <a:pt x="6695237" y="307238"/>
                  </a:lnTo>
                  <a:lnTo>
                    <a:pt x="7651699" y="307238"/>
                  </a:lnTo>
                  <a:lnTo>
                    <a:pt x="7651699" y="0"/>
                  </a:lnTo>
                  <a:lnTo>
                    <a:pt x="8608162" y="0"/>
                  </a:lnTo>
                  <a:lnTo>
                    <a:pt x="8608162" y="307238"/>
                  </a:lnTo>
                  <a:lnTo>
                    <a:pt x="9564624" y="307238"/>
                  </a:lnTo>
                </a:path>
              </a:pathLst>
            </a:custGeom>
            <a:ln w="22225">
              <a:solidFill>
                <a:srgbClr val="3EE04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43"/>
            <p:cNvSpPr txBox="1"/>
            <p:nvPr/>
          </p:nvSpPr>
          <p:spPr>
            <a:xfrm>
              <a:off x="539496" y="2423160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5E7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din_bit</a:t>
              </a:r>
              <a:endParaRPr lang="en-US" sz="13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121408" y="2525573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0"/>
                  </a:moveTo>
                  <a:lnTo>
                    <a:pt x="1147755" y="0"/>
                  </a:lnTo>
                  <a:lnTo>
                    <a:pt x="1147755" y="307238"/>
                  </a:lnTo>
                  <a:lnTo>
                    <a:pt x="3060680" y="307238"/>
                  </a:lnTo>
                  <a:lnTo>
                    <a:pt x="3060680" y="0"/>
                  </a:lnTo>
                  <a:lnTo>
                    <a:pt x="4973604" y="0"/>
                  </a:lnTo>
                  <a:lnTo>
                    <a:pt x="4973604" y="307238"/>
                  </a:lnTo>
                  <a:lnTo>
                    <a:pt x="9564624" y="307238"/>
                  </a:lnTo>
                </a:path>
              </a:pathLst>
            </a:custGeom>
            <a:ln w="22225">
              <a:solidFill>
                <a:srgbClr val="3EE04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5"/>
            <p:cNvSpPr txBox="1"/>
            <p:nvPr/>
          </p:nvSpPr>
          <p:spPr>
            <a:xfrm>
              <a:off x="539496" y="2935224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879F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Mealy current</a:t>
              </a:r>
              <a:endParaRPr lang="en-US" sz="1300" dirty="0"/>
            </a:p>
          </p:txBody>
        </p:sp>
        <p:sp>
          <p:nvSpPr>
            <p:cNvPr id="48" name="Text 46"/>
            <p:cNvSpPr txBox="1"/>
            <p:nvPr/>
          </p:nvSpPr>
          <p:spPr>
            <a:xfrm>
              <a:off x="2121408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S0</a:t>
              </a:r>
              <a:endParaRPr lang="en-US" sz="1200" dirty="0"/>
            </a:p>
          </p:txBody>
        </p:sp>
        <p:sp>
          <p:nvSpPr>
            <p:cNvPr id="49" name="Text 47"/>
            <p:cNvSpPr txBox="1"/>
            <p:nvPr/>
          </p:nvSpPr>
          <p:spPr>
            <a:xfrm>
              <a:off x="4034333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50" name="Text 48"/>
            <p:cNvSpPr txBox="1"/>
            <p:nvPr/>
          </p:nvSpPr>
          <p:spPr>
            <a:xfrm>
              <a:off x="5947258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S2</a:t>
              </a:r>
              <a:endParaRPr lang="en-US" sz="1200" dirty="0"/>
            </a:p>
          </p:txBody>
        </p:sp>
        <p:sp>
          <p:nvSpPr>
            <p:cNvPr id="51" name="Text 49"/>
            <p:cNvSpPr txBox="1"/>
            <p:nvPr/>
          </p:nvSpPr>
          <p:spPr>
            <a:xfrm>
              <a:off x="7860182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S3</a:t>
              </a:r>
              <a:endParaRPr lang="en-US" sz="1200" dirty="0"/>
            </a:p>
          </p:txBody>
        </p:sp>
        <p:sp>
          <p:nvSpPr>
            <p:cNvPr id="52" name="Text 50"/>
            <p:cNvSpPr txBox="1"/>
            <p:nvPr/>
          </p:nvSpPr>
          <p:spPr>
            <a:xfrm>
              <a:off x="9773107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2121408" y="3037637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153619"/>
                  </a:moveTo>
                  <a:lnTo>
                    <a:pt x="0" y="0"/>
                  </a:lnTo>
                  <a:lnTo>
                    <a:pt x="1867205" y="0"/>
                  </a:lnTo>
                  <a:lnTo>
                    <a:pt x="1912925" y="153619"/>
                  </a:lnTo>
                  <a:lnTo>
                    <a:pt x="1867205" y="307238"/>
                  </a:lnTo>
                  <a:lnTo>
                    <a:pt x="0" y="307238"/>
                  </a:lnTo>
                  <a:lnTo>
                    <a:pt x="0" y="153619"/>
                  </a:lnTo>
                  <a:moveTo>
                    <a:pt x="1912925" y="153619"/>
                  </a:moveTo>
                  <a:lnTo>
                    <a:pt x="1958645" y="0"/>
                  </a:lnTo>
                  <a:lnTo>
                    <a:pt x="3780130" y="0"/>
                  </a:lnTo>
                  <a:lnTo>
                    <a:pt x="3825850" y="153619"/>
                  </a:lnTo>
                  <a:lnTo>
                    <a:pt x="3780130" y="307238"/>
                  </a:lnTo>
                  <a:lnTo>
                    <a:pt x="1958645" y="307238"/>
                  </a:lnTo>
                  <a:lnTo>
                    <a:pt x="1912925" y="153619"/>
                  </a:lnTo>
                  <a:moveTo>
                    <a:pt x="3825850" y="153619"/>
                  </a:moveTo>
                  <a:lnTo>
                    <a:pt x="3871570" y="0"/>
                  </a:lnTo>
                  <a:lnTo>
                    <a:pt x="5693054" y="0"/>
                  </a:lnTo>
                  <a:lnTo>
                    <a:pt x="5738774" y="153619"/>
                  </a:lnTo>
                  <a:lnTo>
                    <a:pt x="5693054" y="307238"/>
                  </a:lnTo>
                  <a:lnTo>
                    <a:pt x="3871570" y="307238"/>
                  </a:lnTo>
                  <a:lnTo>
                    <a:pt x="3825850" y="153619"/>
                  </a:lnTo>
                  <a:moveTo>
                    <a:pt x="5738774" y="153619"/>
                  </a:moveTo>
                  <a:lnTo>
                    <a:pt x="5784494" y="0"/>
                  </a:lnTo>
                  <a:lnTo>
                    <a:pt x="7605979" y="0"/>
                  </a:lnTo>
                  <a:lnTo>
                    <a:pt x="7651699" y="153619"/>
                  </a:lnTo>
                  <a:lnTo>
                    <a:pt x="7605979" y="307238"/>
                  </a:lnTo>
                  <a:lnTo>
                    <a:pt x="5784494" y="307238"/>
                  </a:lnTo>
                  <a:lnTo>
                    <a:pt x="5738774" y="153619"/>
                  </a:lnTo>
                  <a:moveTo>
                    <a:pt x="7651699" y="153619"/>
                  </a:moveTo>
                  <a:lnTo>
                    <a:pt x="7697419" y="0"/>
                  </a:lnTo>
                  <a:lnTo>
                    <a:pt x="9564624" y="0"/>
                  </a:lnTo>
                  <a:lnTo>
                    <a:pt x="9564624" y="153619"/>
                  </a:lnTo>
                  <a:lnTo>
                    <a:pt x="9564624" y="307238"/>
                  </a:lnTo>
                  <a:lnTo>
                    <a:pt x="7697419" y="307238"/>
                  </a:lnTo>
                  <a:lnTo>
                    <a:pt x="7651699" y="153619"/>
                  </a:lnTo>
                </a:path>
              </a:pathLst>
            </a:custGeom>
            <a:ln w="15875">
              <a:solidFill>
                <a:srgbClr val="E879F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52"/>
            <p:cNvSpPr txBox="1"/>
            <p:nvPr/>
          </p:nvSpPr>
          <p:spPr>
            <a:xfrm>
              <a:off x="539496" y="3447288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FDBA74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Moore current</a:t>
              </a:r>
              <a:endParaRPr lang="en-US" sz="1300" dirty="0"/>
            </a:p>
          </p:txBody>
        </p:sp>
        <p:sp>
          <p:nvSpPr>
            <p:cNvPr id="55" name="Text 53"/>
            <p:cNvSpPr txBox="1"/>
            <p:nvPr/>
          </p:nvSpPr>
          <p:spPr>
            <a:xfrm>
              <a:off x="2121408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S0</a:t>
              </a:r>
              <a:endParaRPr lang="en-US" sz="1200" dirty="0"/>
            </a:p>
          </p:txBody>
        </p:sp>
        <p:sp>
          <p:nvSpPr>
            <p:cNvPr id="56" name="Text 54"/>
            <p:cNvSpPr txBox="1"/>
            <p:nvPr/>
          </p:nvSpPr>
          <p:spPr>
            <a:xfrm>
              <a:off x="4034333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57" name="Text 55"/>
            <p:cNvSpPr txBox="1"/>
            <p:nvPr/>
          </p:nvSpPr>
          <p:spPr>
            <a:xfrm>
              <a:off x="5947258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S2</a:t>
              </a:r>
              <a:endParaRPr lang="en-US" sz="1200" dirty="0"/>
            </a:p>
          </p:txBody>
        </p:sp>
        <p:sp>
          <p:nvSpPr>
            <p:cNvPr id="58" name="Text 56"/>
            <p:cNvSpPr txBox="1"/>
            <p:nvPr/>
          </p:nvSpPr>
          <p:spPr>
            <a:xfrm>
              <a:off x="7860182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S3</a:t>
              </a:r>
              <a:endParaRPr lang="en-US" sz="1200" dirty="0"/>
            </a:p>
          </p:txBody>
        </p:sp>
        <p:sp>
          <p:nvSpPr>
            <p:cNvPr id="59" name="Text 57"/>
            <p:cNvSpPr txBox="1"/>
            <p:nvPr/>
          </p:nvSpPr>
          <p:spPr>
            <a:xfrm>
              <a:off x="9773107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2121408" y="3549701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153619"/>
                  </a:moveTo>
                  <a:lnTo>
                    <a:pt x="0" y="0"/>
                  </a:lnTo>
                  <a:lnTo>
                    <a:pt x="1867205" y="0"/>
                  </a:lnTo>
                  <a:lnTo>
                    <a:pt x="1912925" y="153619"/>
                  </a:lnTo>
                  <a:lnTo>
                    <a:pt x="1867205" y="307238"/>
                  </a:lnTo>
                  <a:lnTo>
                    <a:pt x="0" y="307238"/>
                  </a:lnTo>
                  <a:lnTo>
                    <a:pt x="0" y="153619"/>
                  </a:lnTo>
                  <a:moveTo>
                    <a:pt x="1912925" y="153619"/>
                  </a:moveTo>
                  <a:lnTo>
                    <a:pt x="1958645" y="0"/>
                  </a:lnTo>
                  <a:lnTo>
                    <a:pt x="3780130" y="0"/>
                  </a:lnTo>
                  <a:lnTo>
                    <a:pt x="3825850" y="153619"/>
                  </a:lnTo>
                  <a:lnTo>
                    <a:pt x="3780130" y="307238"/>
                  </a:lnTo>
                  <a:lnTo>
                    <a:pt x="1958645" y="307238"/>
                  </a:lnTo>
                  <a:lnTo>
                    <a:pt x="1912925" y="153619"/>
                  </a:lnTo>
                  <a:moveTo>
                    <a:pt x="3825850" y="153619"/>
                  </a:moveTo>
                  <a:lnTo>
                    <a:pt x="3871570" y="0"/>
                  </a:lnTo>
                  <a:lnTo>
                    <a:pt x="5693054" y="0"/>
                  </a:lnTo>
                  <a:lnTo>
                    <a:pt x="5738774" y="153619"/>
                  </a:lnTo>
                  <a:lnTo>
                    <a:pt x="5693054" y="307238"/>
                  </a:lnTo>
                  <a:lnTo>
                    <a:pt x="3871570" y="307238"/>
                  </a:lnTo>
                  <a:lnTo>
                    <a:pt x="3825850" y="153619"/>
                  </a:lnTo>
                  <a:moveTo>
                    <a:pt x="5738774" y="153619"/>
                  </a:moveTo>
                  <a:lnTo>
                    <a:pt x="5784494" y="0"/>
                  </a:lnTo>
                  <a:lnTo>
                    <a:pt x="7605979" y="0"/>
                  </a:lnTo>
                  <a:lnTo>
                    <a:pt x="7651699" y="153619"/>
                  </a:lnTo>
                  <a:lnTo>
                    <a:pt x="7605979" y="307238"/>
                  </a:lnTo>
                  <a:lnTo>
                    <a:pt x="5784494" y="307238"/>
                  </a:lnTo>
                  <a:lnTo>
                    <a:pt x="5738774" y="153619"/>
                  </a:lnTo>
                  <a:moveTo>
                    <a:pt x="7651699" y="153619"/>
                  </a:moveTo>
                  <a:lnTo>
                    <a:pt x="7697419" y="0"/>
                  </a:lnTo>
                  <a:lnTo>
                    <a:pt x="9564624" y="0"/>
                  </a:lnTo>
                  <a:lnTo>
                    <a:pt x="9564624" y="153619"/>
                  </a:lnTo>
                  <a:lnTo>
                    <a:pt x="9564624" y="307238"/>
                  </a:lnTo>
                  <a:lnTo>
                    <a:pt x="7697419" y="307238"/>
                  </a:lnTo>
                  <a:lnTo>
                    <a:pt x="7651699" y="153619"/>
                  </a:lnTo>
                </a:path>
              </a:pathLst>
            </a:custGeom>
            <a:ln w="15875">
              <a:solidFill>
                <a:srgbClr val="FDBA7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Shape 59"/>
            <p:cNvSpPr/>
            <p:nvPr/>
          </p:nvSpPr>
          <p:spPr>
            <a:xfrm>
              <a:off x="3269163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60"/>
            <p:cNvSpPr/>
            <p:nvPr/>
          </p:nvSpPr>
          <p:spPr>
            <a:xfrm>
              <a:off x="5182088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Shape 61"/>
            <p:cNvSpPr/>
            <p:nvPr/>
          </p:nvSpPr>
          <p:spPr>
            <a:xfrm>
              <a:off x="7095012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4" name="Shape 62"/>
            <p:cNvSpPr/>
            <p:nvPr/>
          </p:nvSpPr>
          <p:spPr>
            <a:xfrm>
              <a:off x="4034333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Shape 63"/>
            <p:cNvSpPr/>
            <p:nvPr/>
          </p:nvSpPr>
          <p:spPr>
            <a:xfrm>
              <a:off x="3906317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Text 64"/>
            <p:cNvSpPr txBox="1"/>
            <p:nvPr/>
          </p:nvSpPr>
          <p:spPr>
            <a:xfrm>
              <a:off x="3906317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947258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Shape 66"/>
            <p:cNvSpPr/>
            <p:nvPr/>
          </p:nvSpPr>
          <p:spPr>
            <a:xfrm>
              <a:off x="5819242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9" name="Text 67"/>
            <p:cNvSpPr txBox="1"/>
            <p:nvPr/>
          </p:nvSpPr>
          <p:spPr>
            <a:xfrm>
              <a:off x="5819242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7860182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Shape 69"/>
            <p:cNvSpPr/>
            <p:nvPr/>
          </p:nvSpPr>
          <p:spPr>
            <a:xfrm>
              <a:off x="7732166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2" name="Text 70"/>
            <p:cNvSpPr txBox="1"/>
            <p:nvPr/>
          </p:nvSpPr>
          <p:spPr>
            <a:xfrm>
              <a:off x="7732166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3</a:t>
              </a:r>
              <a:endParaRPr lang="en-US" sz="110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9773107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72"/>
            <p:cNvSpPr/>
            <p:nvPr/>
          </p:nvSpPr>
          <p:spPr>
            <a:xfrm>
              <a:off x="9645091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73"/>
            <p:cNvSpPr txBox="1"/>
            <p:nvPr/>
          </p:nvSpPr>
          <p:spPr>
            <a:xfrm>
              <a:off x="9645091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4</a:t>
              </a:r>
              <a:endParaRPr lang="en-US" sz="11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9773107" y="2971800"/>
              <a:ext cx="1912925" cy="438912"/>
            </a:xfrm>
            <a:prstGeom prst="rect">
              <a:avLst/>
            </a:prstGeom>
            <a:solidFill>
              <a:srgbClr val="FACC15">
                <a:alpha val="45000"/>
              </a:srgbClr>
            </a:solidFill>
            <a:ln w="19050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7" name="Shape 75"/>
            <p:cNvSpPr/>
            <p:nvPr/>
          </p:nvSpPr>
          <p:spPr>
            <a:xfrm>
              <a:off x="9773107" y="3483864"/>
              <a:ext cx="1912925" cy="438912"/>
            </a:xfrm>
            <a:prstGeom prst="rect">
              <a:avLst/>
            </a:prstGeom>
            <a:solidFill>
              <a:srgbClr val="FACC15">
                <a:alpha val="45000"/>
              </a:srgbClr>
            </a:solidFill>
            <a:ln w="19050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Shape 76"/>
            <p:cNvSpPr/>
            <p:nvPr/>
          </p:nvSpPr>
          <p:spPr>
            <a:xfrm>
              <a:off x="914400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9" name="Text 77"/>
            <p:cNvSpPr txBox="1"/>
            <p:nvPr/>
          </p:nvSpPr>
          <p:spPr>
            <a:xfrm>
              <a:off x="914400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S0</a:t>
              </a:r>
              <a:endParaRPr lang="en-US" sz="15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1517904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1" name="Text 79"/>
            <p:cNvSpPr txBox="1"/>
            <p:nvPr/>
          </p:nvSpPr>
          <p:spPr>
            <a:xfrm>
              <a:off x="1481328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① din 0</a:t>
              </a:r>
              <a:endParaRPr lang="en-US" sz="13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3355848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3" name="Text 81"/>
            <p:cNvSpPr txBox="1"/>
            <p:nvPr/>
          </p:nvSpPr>
          <p:spPr>
            <a:xfrm>
              <a:off x="3355848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S1</a:t>
              </a:r>
              <a:endParaRPr lang="en-US" sz="15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3959352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5" name="Text 83"/>
            <p:cNvSpPr txBox="1"/>
            <p:nvPr/>
          </p:nvSpPr>
          <p:spPr>
            <a:xfrm>
              <a:off x="3922776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② din 1</a:t>
              </a:r>
              <a:endParaRPr lang="en-US" sz="1300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5797296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7" name="Text 85"/>
            <p:cNvSpPr txBox="1"/>
            <p:nvPr/>
          </p:nvSpPr>
          <p:spPr>
            <a:xfrm>
              <a:off x="5797296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S2</a:t>
              </a:r>
              <a:endParaRPr lang="en-US" sz="1500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6400800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9" name="Text 87"/>
            <p:cNvSpPr txBox="1"/>
            <p:nvPr/>
          </p:nvSpPr>
          <p:spPr>
            <a:xfrm>
              <a:off x="6364224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③ din 0</a:t>
              </a:r>
              <a:endParaRPr lang="en-US" sz="1300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8238744" y="4526280"/>
              <a:ext cx="566928" cy="566928"/>
            </a:xfrm>
            <a:prstGeom prst="ellipse">
              <a:avLst/>
            </a:prstGeom>
            <a:solidFill>
              <a:srgbClr val="FEF3C7"/>
            </a:solidFill>
            <a:ln w="22225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1" name="Text 89"/>
            <p:cNvSpPr txBox="1"/>
            <p:nvPr/>
          </p:nvSpPr>
          <p:spPr>
            <a:xfrm>
              <a:off x="8238744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S3</a:t>
              </a:r>
              <a:endParaRPr lang="en-US" sz="1500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8842248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3" name="Text 91"/>
            <p:cNvSpPr txBox="1"/>
            <p:nvPr/>
          </p:nvSpPr>
          <p:spPr>
            <a:xfrm>
              <a:off x="8805672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④ din 0</a:t>
              </a:r>
              <a:endParaRPr lang="en-US" sz="1300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10680192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Text 93"/>
            <p:cNvSpPr txBox="1"/>
            <p:nvPr/>
          </p:nvSpPr>
          <p:spPr>
            <a:xfrm>
              <a:off x="10680192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S1</a:t>
              </a:r>
              <a:endParaRPr lang="en-US" sz="1500" dirty="0"/>
            </a:p>
          </p:txBody>
        </p:sp>
      </p:grpSp>
      <p:sp>
        <p:nvSpPr>
          <p:cNvPr id="98" name="Text 96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41</a:t>
            </a:r>
            <a:endParaRPr lang="en-US" sz="900" dirty="0"/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89D67CE7-AB80-C922-A091-DA0145B73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70" y="1018926"/>
            <a:ext cx="7134625" cy="1664208"/>
          </a:xfrm>
          <a:prstGeom prst="rect">
            <a:avLst/>
          </a:prstGeom>
        </p:spPr>
      </p:pic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E4511E46-8568-9745-5082-2CBED1D51339}"/>
              </a:ext>
            </a:extLst>
          </p:cNvPr>
          <p:cNvSpPr/>
          <p:nvPr/>
        </p:nvSpPr>
        <p:spPr>
          <a:xfrm>
            <a:off x="2414016" y="1097280"/>
            <a:ext cx="2304288" cy="1449150"/>
          </a:xfrm>
          <a:prstGeom prst="rect">
            <a:avLst/>
          </a:prstGeom>
          <a:solidFill>
            <a:srgbClr val="FFFF00">
              <a:alpha val="31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vs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Responds Faster, Moore Gives a Clock-aligned Output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solidFill>
            <a:srgbClr val="A21CA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(S4 추가)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결정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+ din_bit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only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시점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 ns  (din_bit 도착 즉시)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 ns  (posedge 이후)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폭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ns  (din_bit 변경 ~ posedge)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ns  (1 clock)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glitch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출력에 그대로 전달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FF에서 차단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적합한 용도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응답 필요 경로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 FF 입력 · 안정 출력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11480" y="562356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12648" y="562356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속도 = Mealy 우위 (4 ns 빠름)  ·  출력 안정성 · timing 정렬 = Moore 우위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41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Switch → Button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Buttons Return to 0 on Release, Unlike Switches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Waveform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20240" y="178308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8083296" y="0"/>
                </a:lnTo>
                <a:lnTo>
                  <a:pt x="8083296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963363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동안 1 유지 → level = 모드 선택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20240" y="301752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1093622" y="0"/>
                </a:lnTo>
                <a:lnTo>
                  <a:pt x="1093622" y="411480"/>
                </a:lnTo>
                <a:lnTo>
                  <a:pt x="1188720" y="411480"/>
                </a:lnTo>
                <a:lnTo>
                  <a:pt x="1188720" y="0"/>
                </a:lnTo>
                <a:lnTo>
                  <a:pt x="1283818" y="0"/>
                </a:lnTo>
                <a:lnTo>
                  <a:pt x="1283818" y="411480"/>
                </a:lnTo>
                <a:lnTo>
                  <a:pt x="1350386" y="411480"/>
                </a:lnTo>
                <a:lnTo>
                  <a:pt x="1350386" y="0"/>
                </a:lnTo>
                <a:lnTo>
                  <a:pt x="1407444" y="0"/>
                </a:lnTo>
                <a:lnTo>
                  <a:pt x="1407444" y="411480"/>
                </a:lnTo>
                <a:lnTo>
                  <a:pt x="1474013" y="411480"/>
                </a:lnTo>
                <a:lnTo>
                  <a:pt x="1474013" y="0"/>
                </a:lnTo>
                <a:lnTo>
                  <a:pt x="3423514" y="0"/>
                </a:lnTo>
                <a:lnTo>
                  <a:pt x="3423514" y="411480"/>
                </a:lnTo>
                <a:lnTo>
                  <a:pt x="3499592" y="411480"/>
                </a:lnTo>
                <a:lnTo>
                  <a:pt x="3499592" y="0"/>
                </a:lnTo>
                <a:lnTo>
                  <a:pt x="3556650" y="0"/>
                </a:lnTo>
                <a:lnTo>
                  <a:pt x="3556650" y="411480"/>
                </a:lnTo>
                <a:lnTo>
                  <a:pt x="3632728" y="411480"/>
                </a:lnTo>
                <a:lnTo>
                  <a:pt x="3632728" y="0"/>
                </a:lnTo>
                <a:lnTo>
                  <a:pt x="3670767" y="0"/>
                </a:lnTo>
                <a:lnTo>
                  <a:pt x="3670767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76118" y="2880360"/>
            <a:ext cx="684703" cy="685800"/>
          </a:xfrm>
          <a:prstGeom prst="roundRect">
            <a:avLst>
              <a:gd name="adj" fmla="val 5342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6205" y="2880360"/>
            <a:ext cx="380390" cy="685800"/>
          </a:xfrm>
          <a:prstGeom prst="roundRect">
            <a:avLst>
              <a:gd name="adj" fmla="val 9615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90826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bounce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58461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 bounce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072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 이후 0 복귀 → push 순간 = 이벤트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9436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94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입력 방식 변경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1 cycle tick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level 그대로 사용 시 push 유지 동안 매 clk 천이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 조건 = button_debouncer의 o_btn tick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1792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40080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00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Debouncer 추가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78484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bounce 제거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pulse마다 tick 발생 위험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1일 때만 유효 입력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41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Block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counter_10000_v2: Debounced Buttons Drive FSM_RUN_STOP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40690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counter_10000_v2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288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743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94360" y="30175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143000" y="17830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143000" y="18379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602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" y="26974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143000" y="27523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0746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926080" y="30175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2880360" y="18470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27614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783080"/>
            <a:ext cx="1600200" cy="1600200"/>
          </a:xfrm>
          <a:prstGeom prst="roundRect">
            <a:avLst>
              <a:gd name="adj" fmla="val 285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429000" y="1837944"/>
            <a:ext cx="16002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2663190"/>
            <a:ext cx="16002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840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(미사용)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4224528" y="3401568"/>
            <a:ext cx="0" cy="393192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2920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4956048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o_sw[2:0]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32120" y="1691640"/>
            <a:ext cx="2194560" cy="1783080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53212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1965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U_CNT_DATA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0" y="2286000"/>
            <a:ext cx="914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669280" y="2340864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tick_gen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63190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75120" y="2286000"/>
            <a:ext cx="9601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6675120" y="2340864"/>
            <a:ext cx="960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tick_counter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2663190"/>
            <a:ext cx="9601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0" y="2624328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532120" y="3090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tick: 0.1 s 주기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72668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680960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w_counter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0" y="2057400"/>
            <a:ext cx="16002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8229600" y="2112264"/>
            <a:ext cx="1600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229600" y="2635758"/>
            <a:ext cx="160020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U_SPLIT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29700" y="3108960"/>
            <a:ext cx="0" cy="77724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098280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 1·10·100·1000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229600" y="3886200"/>
            <a:ext cx="16002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8229600" y="3941064"/>
            <a:ext cx="16002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Fnd_Controller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4338828"/>
            <a:ext cx="160020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U_FND_CON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35040" y="393192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6035040" y="398678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clock_div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035040" y="4334256"/>
            <a:ext cx="146304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U_CLK_DIV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498080" y="4297680"/>
            <a:ext cx="7315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749808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w_clk_1kHz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29800" y="4297680"/>
            <a:ext cx="45720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82980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w_hex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287000" y="3931920"/>
            <a:ext cx="13258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287000" y="398678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fnd_decoder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287000" y="4334256"/>
            <a:ext cx="132588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U_FND_DEC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0945368" y="4663440"/>
            <a:ext cx="0" cy="32004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058400" y="49834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o_fnd_data[7:0]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029700" y="4709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321040" y="4983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o_fnd_com[3:0]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4008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(100 MHz) · i_reset → 전 module 공통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3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033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319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3319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422392" y="156362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422392" y="156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19872" y="192938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119872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1148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1148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77724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bounce 제거 + 1 cycle tick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614934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614934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651510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tick → STOP · RUN · CLEAR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41148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1148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7724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o_sw에 따라 HOLD · CLEAR · count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614934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4934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651510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 → FND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자리 분리 → scan → segment</a:t>
            </a:r>
            <a:endParaRPr lang="en-US" sz="135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41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FSM_RUN_STOP: btn_R Toggles RUN / STOP, btn_L Clears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92024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434340"/>
                </a:moveTo>
                <a:lnTo>
                  <a:pt x="1358265" y="364966"/>
                </a:lnTo>
                <a:lnTo>
                  <a:pt x="1299210" y="301625"/>
                </a:lnTo>
                <a:lnTo>
                  <a:pt x="1240155" y="244316"/>
                </a:lnTo>
                <a:lnTo>
                  <a:pt x="1181100" y="193040"/>
                </a:lnTo>
                <a:lnTo>
                  <a:pt x="1122045" y="147796"/>
                </a:lnTo>
                <a:lnTo>
                  <a:pt x="1062990" y="108585"/>
                </a:lnTo>
                <a:lnTo>
                  <a:pt x="1003935" y="75406"/>
                </a:lnTo>
                <a:lnTo>
                  <a:pt x="944880" y="48260"/>
                </a:lnTo>
                <a:lnTo>
                  <a:pt x="885825" y="27146"/>
                </a:lnTo>
                <a:lnTo>
                  <a:pt x="826770" y="12065"/>
                </a:lnTo>
                <a:lnTo>
                  <a:pt x="767715" y="3016"/>
                </a:lnTo>
                <a:lnTo>
                  <a:pt x="708660" y="0"/>
                </a:lnTo>
                <a:lnTo>
                  <a:pt x="649605" y="3016"/>
                </a:lnTo>
                <a:lnTo>
                  <a:pt x="590550" y="12065"/>
                </a:lnTo>
                <a:lnTo>
                  <a:pt x="531495" y="27146"/>
                </a:lnTo>
                <a:lnTo>
                  <a:pt x="472440" y="48260"/>
                </a:lnTo>
                <a:lnTo>
                  <a:pt x="413385" y="75406"/>
                </a:lnTo>
                <a:lnTo>
                  <a:pt x="354330" y="108585"/>
                </a:lnTo>
                <a:lnTo>
                  <a:pt x="295275" y="147796"/>
                </a:lnTo>
                <a:lnTo>
                  <a:pt x="236220" y="193040"/>
                </a:lnTo>
                <a:lnTo>
                  <a:pt x="177165" y="244316"/>
                </a:lnTo>
                <a:lnTo>
                  <a:pt x="118110" y="301625"/>
                </a:lnTo>
                <a:lnTo>
                  <a:pt x="59055" y="364966"/>
                </a:lnTo>
                <a:lnTo>
                  <a:pt x="0" y="43434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92024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0"/>
                </a:moveTo>
                <a:lnTo>
                  <a:pt x="59055" y="69374"/>
                </a:lnTo>
                <a:lnTo>
                  <a:pt x="118110" y="132715"/>
                </a:lnTo>
                <a:lnTo>
                  <a:pt x="177165" y="190024"/>
                </a:lnTo>
                <a:lnTo>
                  <a:pt x="236220" y="241300"/>
                </a:lnTo>
                <a:lnTo>
                  <a:pt x="295275" y="286544"/>
                </a:lnTo>
                <a:lnTo>
                  <a:pt x="354330" y="325755"/>
                </a:lnTo>
                <a:lnTo>
                  <a:pt x="413385" y="358934"/>
                </a:lnTo>
                <a:lnTo>
                  <a:pt x="472440" y="386080"/>
                </a:lnTo>
                <a:lnTo>
                  <a:pt x="531495" y="407194"/>
                </a:lnTo>
                <a:lnTo>
                  <a:pt x="590550" y="422275"/>
                </a:lnTo>
                <a:lnTo>
                  <a:pt x="649605" y="431324"/>
                </a:lnTo>
                <a:lnTo>
                  <a:pt x="708660" y="434340"/>
                </a:lnTo>
                <a:lnTo>
                  <a:pt x="767715" y="431324"/>
                </a:lnTo>
                <a:lnTo>
                  <a:pt x="826770" y="422275"/>
                </a:lnTo>
                <a:lnTo>
                  <a:pt x="885825" y="407194"/>
                </a:lnTo>
                <a:lnTo>
                  <a:pt x="944880" y="386080"/>
                </a:lnTo>
                <a:lnTo>
                  <a:pt x="1003935" y="358934"/>
                </a:lnTo>
                <a:lnTo>
                  <a:pt x="1062990" y="325755"/>
                </a:lnTo>
                <a:lnTo>
                  <a:pt x="1122045" y="286544"/>
                </a:lnTo>
                <a:lnTo>
                  <a:pt x="1181100" y="241300"/>
                </a:lnTo>
                <a:lnTo>
                  <a:pt x="1240155" y="190024"/>
                </a:lnTo>
                <a:lnTo>
                  <a:pt x="1299210" y="132715"/>
                </a:lnTo>
                <a:lnTo>
                  <a:pt x="1358265" y="69374"/>
                </a:lnTo>
                <a:lnTo>
                  <a:pt x="1417320" y="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16052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434340"/>
                </a:moveTo>
                <a:lnTo>
                  <a:pt x="59055" y="364966"/>
                </a:lnTo>
                <a:lnTo>
                  <a:pt x="118110" y="301625"/>
                </a:lnTo>
                <a:lnTo>
                  <a:pt x="177165" y="244316"/>
                </a:lnTo>
                <a:lnTo>
                  <a:pt x="236220" y="193040"/>
                </a:lnTo>
                <a:lnTo>
                  <a:pt x="295275" y="147796"/>
                </a:lnTo>
                <a:lnTo>
                  <a:pt x="354330" y="108585"/>
                </a:lnTo>
                <a:lnTo>
                  <a:pt x="413385" y="75406"/>
                </a:lnTo>
                <a:lnTo>
                  <a:pt x="472440" y="48260"/>
                </a:lnTo>
                <a:lnTo>
                  <a:pt x="531495" y="27146"/>
                </a:lnTo>
                <a:lnTo>
                  <a:pt x="590550" y="12065"/>
                </a:lnTo>
                <a:lnTo>
                  <a:pt x="649605" y="3016"/>
                </a:lnTo>
                <a:lnTo>
                  <a:pt x="708660" y="0"/>
                </a:lnTo>
                <a:lnTo>
                  <a:pt x="767715" y="3016"/>
                </a:lnTo>
                <a:lnTo>
                  <a:pt x="826770" y="12065"/>
                </a:lnTo>
                <a:lnTo>
                  <a:pt x="885825" y="27146"/>
                </a:lnTo>
                <a:lnTo>
                  <a:pt x="944880" y="48260"/>
                </a:lnTo>
                <a:lnTo>
                  <a:pt x="1003935" y="75406"/>
                </a:lnTo>
                <a:lnTo>
                  <a:pt x="1062990" y="108585"/>
                </a:lnTo>
                <a:lnTo>
                  <a:pt x="1122045" y="147796"/>
                </a:lnTo>
                <a:lnTo>
                  <a:pt x="1181100" y="193040"/>
                </a:lnTo>
                <a:lnTo>
                  <a:pt x="1240155" y="244316"/>
                </a:lnTo>
                <a:lnTo>
                  <a:pt x="1299210" y="301625"/>
                </a:lnTo>
                <a:lnTo>
                  <a:pt x="1358265" y="364966"/>
                </a:lnTo>
                <a:lnTo>
                  <a:pt x="1417320" y="434340"/>
                </a:lnTo>
              </a:path>
            </a:pathLst>
          </a:custGeom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6052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0"/>
                </a:moveTo>
                <a:lnTo>
                  <a:pt x="1358265" y="69374"/>
                </a:lnTo>
                <a:lnTo>
                  <a:pt x="1299210" y="132715"/>
                </a:lnTo>
                <a:lnTo>
                  <a:pt x="1240155" y="190024"/>
                </a:lnTo>
                <a:lnTo>
                  <a:pt x="1181100" y="241300"/>
                </a:lnTo>
                <a:lnTo>
                  <a:pt x="1122045" y="286544"/>
                </a:lnTo>
                <a:lnTo>
                  <a:pt x="1062990" y="325755"/>
                </a:lnTo>
                <a:lnTo>
                  <a:pt x="1003935" y="358934"/>
                </a:lnTo>
                <a:lnTo>
                  <a:pt x="944880" y="386080"/>
                </a:lnTo>
                <a:lnTo>
                  <a:pt x="885825" y="407194"/>
                </a:lnTo>
                <a:lnTo>
                  <a:pt x="826770" y="422275"/>
                </a:lnTo>
                <a:lnTo>
                  <a:pt x="767715" y="431324"/>
                </a:lnTo>
                <a:lnTo>
                  <a:pt x="708660" y="434340"/>
                </a:lnTo>
                <a:lnTo>
                  <a:pt x="649605" y="431324"/>
                </a:lnTo>
                <a:lnTo>
                  <a:pt x="590550" y="422275"/>
                </a:lnTo>
                <a:lnTo>
                  <a:pt x="531495" y="407194"/>
                </a:lnTo>
                <a:lnTo>
                  <a:pt x="472440" y="386080"/>
                </a:lnTo>
                <a:lnTo>
                  <a:pt x="413385" y="358934"/>
                </a:lnTo>
                <a:lnTo>
                  <a:pt x="354330" y="325755"/>
                </a:lnTo>
                <a:lnTo>
                  <a:pt x="295275" y="286544"/>
                </a:lnTo>
                <a:lnTo>
                  <a:pt x="236220" y="241300"/>
                </a:lnTo>
                <a:lnTo>
                  <a:pt x="177165" y="190024"/>
                </a:lnTo>
                <a:lnTo>
                  <a:pt x="118110" y="132715"/>
                </a:lnTo>
                <a:lnTo>
                  <a:pt x="59055" y="69374"/>
                </a:lnTo>
                <a:lnTo>
                  <a:pt x="0" y="0"/>
                </a:lnTo>
              </a:path>
            </a:pathLst>
          </a:custGeom>
          <a:ln w="2540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98882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8882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2910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2910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7472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92608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 없음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1500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15803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516636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없음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3017520"/>
            <a:ext cx="1188720" cy="1188720"/>
          </a:xfrm>
          <a:prstGeom prst="ellipse">
            <a:avLst/>
          </a:prstGeom>
          <a:solidFill>
            <a:srgbClr val="F1F5F9"/>
          </a:solidFill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9144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3017520"/>
            <a:ext cx="1188720" cy="1188720"/>
          </a:xfrm>
          <a:prstGeom prst="ellipse">
            <a:avLst/>
          </a:prstGeom>
          <a:solidFill>
            <a:srgbClr val="FEF3C7"/>
          </a:solidFill>
          <a:ln w="285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1546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94960" y="3017520"/>
            <a:ext cx="1188720" cy="1188720"/>
          </a:xfrm>
          <a:prstGeom prst="ellipse">
            <a:avLst/>
          </a:prstGeom>
          <a:solidFill>
            <a:srgbClr val="DCFCE7"/>
          </a:solidFill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539496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V="1">
            <a:off x="3749040" y="4251960"/>
            <a:ext cx="0" cy="173736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840480" y="5760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269480" y="1188720"/>
            <a:ext cx="452628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452360" y="13167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→ tick_counter (i_tick 시)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o_sw[2:0]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로드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+1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4069080"/>
            <a:ext cx="452628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7452360" y="41970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유지 조건 수정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452360" y="4498848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RUN에서 btn_R 유무와 무관하게 STOP 천이 → RUN 1 clock만 유지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btn_R tick 없음 → RUN 유지, btn_R tick → STOP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41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Debouncer 내부 구조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button_debouncer: Sample, Check, Delay, Edge-detect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331720"/>
            <a:ext cx="502920" cy="0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0972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posedge마다 right shift  (MSB ← i_btn)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745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4859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4460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476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4061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36626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32638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751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2865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6352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2466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067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8-input AND   ( &amp;q_reg )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595360" y="3520440"/>
            <a:ext cx="548640" cy="0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41080" y="32644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116568" y="3493008"/>
            <a:ext cx="64008" cy="640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V="1">
            <a:off x="9144000" y="2331720"/>
            <a:ext cx="0" cy="118872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9144000" y="2331720"/>
            <a:ext cx="2743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(FF)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78440" y="2331720"/>
            <a:ext cx="18288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561320" y="2176272"/>
            <a:ext cx="256032" cy="310896"/>
          </a:xfrm>
          <a:custGeom>
            <a:avLst/>
            <a:gdLst/>
            <a:ahLst/>
            <a:cxnLst/>
            <a:rect l="l" t="t" r="r" b="b"/>
            <a:pathLst>
              <a:path w="256032" h="310896">
                <a:moveTo>
                  <a:pt x="0" y="0"/>
                </a:moveTo>
                <a:lnTo>
                  <a:pt x="0" y="310896"/>
                </a:lnTo>
                <a:lnTo>
                  <a:pt x="256032" y="155448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817352" y="2286000"/>
            <a:ext cx="91440" cy="914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33272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908792" y="2331720"/>
            <a:ext cx="155448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1064240" y="2331720"/>
            <a:ext cx="0" cy="91440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9144000" y="3520440"/>
            <a:ext cx="169164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0835640" y="3246120"/>
            <a:ext cx="685800" cy="594360"/>
          </a:xfrm>
          <a:prstGeom prst="roundRect">
            <a:avLst>
              <a:gd name="adj" fmla="val 18462"/>
            </a:avLst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835640" y="32461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1173968" y="3840480"/>
            <a:ext cx="0" cy="50292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607040" y="4389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960120" y="178308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960120" y="1783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6012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96012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281160" y="182880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28116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69848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69848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148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53949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53949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92354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8 bit 저장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329184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341985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341985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380390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모두 1 판정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617220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630021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30021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68426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Delay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1 cycle 지연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905256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18057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18057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956462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Edge-detect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→ 1 순간만 출력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41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구성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Each Stage Removes One Failure Mode of a Raw Button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473202" y="960120"/>
                </a:lnTo>
                <a:lnTo>
                  <a:pt x="473202" y="0"/>
                </a:lnTo>
                <a:lnTo>
                  <a:pt x="567842" y="0"/>
                </a:lnTo>
                <a:lnTo>
                  <a:pt x="567842" y="960120"/>
                </a:lnTo>
                <a:lnTo>
                  <a:pt x="630936" y="960120"/>
                </a:lnTo>
                <a:lnTo>
                  <a:pt x="630936" y="0"/>
                </a:lnTo>
                <a:lnTo>
                  <a:pt x="694030" y="0"/>
                </a:lnTo>
                <a:lnTo>
                  <a:pt x="694030" y="960120"/>
                </a:lnTo>
                <a:lnTo>
                  <a:pt x="741350" y="960120"/>
                </a:lnTo>
                <a:lnTo>
                  <a:pt x="741350" y="0"/>
                </a:lnTo>
                <a:lnTo>
                  <a:pt x="772897" y="0"/>
                </a:lnTo>
                <a:lnTo>
                  <a:pt x="772897" y="960120"/>
                </a:lnTo>
                <a:lnTo>
                  <a:pt x="820217" y="960120"/>
                </a:lnTo>
                <a:lnTo>
                  <a:pt x="820217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2097862" y="960120"/>
                </a:lnTo>
                <a:lnTo>
                  <a:pt x="2097862" y="0"/>
                </a:lnTo>
                <a:lnTo>
                  <a:pt x="2129409" y="0"/>
                </a:lnTo>
                <a:lnTo>
                  <a:pt x="2129409" y="960120"/>
                </a:lnTo>
                <a:lnTo>
                  <a:pt x="2176729" y="960120"/>
                </a:lnTo>
                <a:lnTo>
                  <a:pt x="2176729" y="0"/>
                </a:lnTo>
                <a:lnTo>
                  <a:pt x="2198812" y="0"/>
                </a:lnTo>
                <a:lnTo>
                  <a:pt x="219881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3308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25196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43484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+ 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2628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97356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9244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7532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1183005" y="0"/>
                </a:lnTo>
                <a:lnTo>
                  <a:pt x="1183005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대상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77640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21208" y="3977640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 8-bit SIPO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3154680" y="3977640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264408" y="3977640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sampling → clk 동기 · 최근 80 ns 이력 보관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9144000" y="3977640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53728" y="3977640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edge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11480" y="4562856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21208" y="4562856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8-input AND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3154680" y="4562856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264408" y="4562856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모두 1일 때만 1 → 80 ns 미만 pulse 차단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9144000" y="4562856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253728" y="4562856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(scattering noise)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11480" y="5148072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21208" y="5148072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3154680" y="5148072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3264408" y="5148072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debounce를 1 cycle 지연 → 직전 cycle 값 보관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9144000" y="5148072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53728" y="5148072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11480" y="5733288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21208" y="5733288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~edge_reg &amp; debounce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3154680" y="5733288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3264408" y="5733288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직전 0 · 현재 1인 cycle만 1 → push 1회 = tick 1회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9144000" y="5733288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253728" y="5733288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유지 중 반복 toggle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41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짧은 Pulse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40 ns Pulse Never Fills q_reg, So No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68833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68833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039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8657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88657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2937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91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174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65174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19454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4169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41691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597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9950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182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18208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724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646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94725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2984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7124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71242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2552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9501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47759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47759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02039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824276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824276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8556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625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0793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900793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55073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39052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977310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 ns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1556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1053827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053827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8107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 ns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92086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130344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1130344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1084624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130 ns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539496" y="1911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121408" y="20025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382585" y="274320"/>
                </a:lnTo>
                <a:lnTo>
                  <a:pt x="382585" y="0"/>
                </a:lnTo>
                <a:lnTo>
                  <a:pt x="765170" y="0"/>
                </a:lnTo>
                <a:lnTo>
                  <a:pt x="765170" y="274320"/>
                </a:lnTo>
                <a:lnTo>
                  <a:pt x="1147755" y="274320"/>
                </a:lnTo>
                <a:lnTo>
                  <a:pt x="1147755" y="0"/>
                </a:lnTo>
                <a:lnTo>
                  <a:pt x="1530340" y="0"/>
                </a:lnTo>
                <a:lnTo>
                  <a:pt x="1530340" y="274320"/>
                </a:lnTo>
                <a:lnTo>
                  <a:pt x="1912925" y="274320"/>
                </a:lnTo>
                <a:lnTo>
                  <a:pt x="1912925" y="0"/>
                </a:lnTo>
                <a:lnTo>
                  <a:pt x="2295510" y="0"/>
                </a:lnTo>
                <a:lnTo>
                  <a:pt x="2295510" y="274320"/>
                </a:lnTo>
                <a:lnTo>
                  <a:pt x="2678095" y="274320"/>
                </a:lnTo>
                <a:lnTo>
                  <a:pt x="2678095" y="0"/>
                </a:lnTo>
                <a:lnTo>
                  <a:pt x="3060680" y="0"/>
                </a:lnTo>
                <a:lnTo>
                  <a:pt x="3060680" y="274320"/>
                </a:lnTo>
                <a:lnTo>
                  <a:pt x="3443265" y="274320"/>
                </a:lnTo>
                <a:lnTo>
                  <a:pt x="3443265" y="0"/>
                </a:lnTo>
                <a:lnTo>
                  <a:pt x="3825850" y="0"/>
                </a:lnTo>
                <a:lnTo>
                  <a:pt x="3825850" y="274320"/>
                </a:lnTo>
                <a:lnTo>
                  <a:pt x="4208435" y="274320"/>
                </a:lnTo>
                <a:lnTo>
                  <a:pt x="4208435" y="0"/>
                </a:lnTo>
                <a:lnTo>
                  <a:pt x="4591020" y="0"/>
                </a:lnTo>
                <a:lnTo>
                  <a:pt x="4591020" y="274320"/>
                </a:lnTo>
                <a:lnTo>
                  <a:pt x="4973604" y="274320"/>
                </a:lnTo>
                <a:lnTo>
                  <a:pt x="4973604" y="0"/>
                </a:lnTo>
                <a:lnTo>
                  <a:pt x="5356189" y="0"/>
                </a:lnTo>
                <a:lnTo>
                  <a:pt x="5356189" y="274320"/>
                </a:lnTo>
                <a:lnTo>
                  <a:pt x="5738774" y="274320"/>
                </a:lnTo>
                <a:lnTo>
                  <a:pt x="5738774" y="0"/>
                </a:lnTo>
                <a:lnTo>
                  <a:pt x="6121359" y="0"/>
                </a:lnTo>
                <a:lnTo>
                  <a:pt x="6121359" y="274320"/>
                </a:lnTo>
                <a:lnTo>
                  <a:pt x="6503944" y="274320"/>
                </a:lnTo>
                <a:lnTo>
                  <a:pt x="6503944" y="0"/>
                </a:lnTo>
                <a:lnTo>
                  <a:pt x="6886529" y="0"/>
                </a:lnTo>
                <a:lnTo>
                  <a:pt x="6886529" y="274320"/>
                </a:lnTo>
                <a:lnTo>
                  <a:pt x="7269114" y="274320"/>
                </a:lnTo>
                <a:lnTo>
                  <a:pt x="7269114" y="0"/>
                </a:lnTo>
                <a:lnTo>
                  <a:pt x="7651699" y="0"/>
                </a:lnTo>
                <a:lnTo>
                  <a:pt x="7651699" y="274320"/>
                </a:lnTo>
                <a:lnTo>
                  <a:pt x="8034284" y="274320"/>
                </a:lnTo>
                <a:lnTo>
                  <a:pt x="8034284" y="0"/>
                </a:lnTo>
                <a:lnTo>
                  <a:pt x="8416869" y="0"/>
                </a:lnTo>
                <a:lnTo>
                  <a:pt x="8416869" y="274320"/>
                </a:lnTo>
                <a:lnTo>
                  <a:pt x="8799454" y="274320"/>
                </a:lnTo>
                <a:lnTo>
                  <a:pt x="8799454" y="0"/>
                </a:lnTo>
                <a:lnTo>
                  <a:pt x="9182039" y="0"/>
                </a:lnTo>
                <a:lnTo>
                  <a:pt x="9182039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66344" y="24140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39496" y="23682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2121408" y="24597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459102" y="274320"/>
                </a:lnTo>
                <a:lnTo>
                  <a:pt x="459102" y="0"/>
                </a:lnTo>
                <a:lnTo>
                  <a:pt x="3519782" y="0"/>
                </a:lnTo>
                <a:lnTo>
                  <a:pt x="3519782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539496" y="28254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121408" y="2825496"/>
            <a:ext cx="114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326916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03433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79950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56467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32984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09501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786018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862535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0f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39052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5569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92086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121408" y="29169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137160"/>
                </a:moveTo>
                <a:lnTo>
                  <a:pt x="0" y="0"/>
                </a:lnTo>
                <a:lnTo>
                  <a:pt x="1102035" y="0"/>
                </a:lnTo>
                <a:lnTo>
                  <a:pt x="1147755" y="137160"/>
                </a:lnTo>
                <a:lnTo>
                  <a:pt x="1102035" y="274320"/>
                </a:lnTo>
                <a:lnTo>
                  <a:pt x="0" y="274320"/>
                </a:lnTo>
                <a:lnTo>
                  <a:pt x="0" y="137160"/>
                </a:lnTo>
                <a:moveTo>
                  <a:pt x="1147755" y="137160"/>
                </a:moveTo>
                <a:lnTo>
                  <a:pt x="1193475" y="0"/>
                </a:lnTo>
                <a:lnTo>
                  <a:pt x="1867205" y="0"/>
                </a:lnTo>
                <a:lnTo>
                  <a:pt x="1912925" y="137160"/>
                </a:lnTo>
                <a:lnTo>
                  <a:pt x="1867205" y="274320"/>
                </a:lnTo>
                <a:lnTo>
                  <a:pt x="1193475" y="274320"/>
                </a:lnTo>
                <a:lnTo>
                  <a:pt x="1147755" y="137160"/>
                </a:lnTo>
                <a:moveTo>
                  <a:pt x="1912925" y="137160"/>
                </a:moveTo>
                <a:lnTo>
                  <a:pt x="1958645" y="0"/>
                </a:lnTo>
                <a:lnTo>
                  <a:pt x="2632375" y="0"/>
                </a:lnTo>
                <a:lnTo>
                  <a:pt x="2678095" y="137160"/>
                </a:lnTo>
                <a:lnTo>
                  <a:pt x="2632375" y="274320"/>
                </a:lnTo>
                <a:lnTo>
                  <a:pt x="1958645" y="274320"/>
                </a:lnTo>
                <a:lnTo>
                  <a:pt x="1912925" y="137160"/>
                </a:lnTo>
                <a:moveTo>
                  <a:pt x="2678095" y="137160"/>
                </a:moveTo>
                <a:lnTo>
                  <a:pt x="2723815" y="0"/>
                </a:lnTo>
                <a:lnTo>
                  <a:pt x="3397545" y="0"/>
                </a:lnTo>
                <a:lnTo>
                  <a:pt x="3443265" y="137160"/>
                </a:lnTo>
                <a:lnTo>
                  <a:pt x="3397545" y="274320"/>
                </a:lnTo>
                <a:lnTo>
                  <a:pt x="2723815" y="274320"/>
                </a:lnTo>
                <a:lnTo>
                  <a:pt x="2678095" y="137160"/>
                </a:lnTo>
                <a:moveTo>
                  <a:pt x="3443265" y="137160"/>
                </a:moveTo>
                <a:lnTo>
                  <a:pt x="3488985" y="0"/>
                </a:lnTo>
                <a:lnTo>
                  <a:pt x="4162715" y="0"/>
                </a:lnTo>
                <a:lnTo>
                  <a:pt x="4208435" y="137160"/>
                </a:lnTo>
                <a:lnTo>
                  <a:pt x="4162715" y="274320"/>
                </a:lnTo>
                <a:lnTo>
                  <a:pt x="3488985" y="274320"/>
                </a:lnTo>
                <a:lnTo>
                  <a:pt x="3443265" y="137160"/>
                </a:lnTo>
                <a:moveTo>
                  <a:pt x="4208435" y="137160"/>
                </a:moveTo>
                <a:lnTo>
                  <a:pt x="4254155" y="0"/>
                </a:lnTo>
                <a:lnTo>
                  <a:pt x="4927884" y="0"/>
                </a:lnTo>
                <a:lnTo>
                  <a:pt x="4973604" y="137160"/>
                </a:lnTo>
                <a:lnTo>
                  <a:pt x="4927884" y="274320"/>
                </a:lnTo>
                <a:lnTo>
                  <a:pt x="4254155" y="274320"/>
                </a:lnTo>
                <a:lnTo>
                  <a:pt x="4208435" y="137160"/>
                </a:lnTo>
                <a:moveTo>
                  <a:pt x="4973604" y="137160"/>
                </a:moveTo>
                <a:lnTo>
                  <a:pt x="5019324" y="0"/>
                </a:lnTo>
                <a:lnTo>
                  <a:pt x="5693054" y="0"/>
                </a:lnTo>
                <a:lnTo>
                  <a:pt x="5738774" y="137160"/>
                </a:lnTo>
                <a:lnTo>
                  <a:pt x="5693054" y="274320"/>
                </a:lnTo>
                <a:lnTo>
                  <a:pt x="5019324" y="274320"/>
                </a:lnTo>
                <a:lnTo>
                  <a:pt x="4973604" y="137160"/>
                </a:lnTo>
                <a:moveTo>
                  <a:pt x="5738774" y="137160"/>
                </a:moveTo>
                <a:lnTo>
                  <a:pt x="5784494" y="0"/>
                </a:lnTo>
                <a:lnTo>
                  <a:pt x="6458224" y="0"/>
                </a:lnTo>
                <a:lnTo>
                  <a:pt x="6503944" y="137160"/>
                </a:lnTo>
                <a:lnTo>
                  <a:pt x="6458224" y="274320"/>
                </a:lnTo>
                <a:lnTo>
                  <a:pt x="5784494" y="274320"/>
                </a:lnTo>
                <a:lnTo>
                  <a:pt x="5738774" y="137160"/>
                </a:lnTo>
                <a:moveTo>
                  <a:pt x="6503944" y="137160"/>
                </a:moveTo>
                <a:lnTo>
                  <a:pt x="6549664" y="0"/>
                </a:lnTo>
                <a:lnTo>
                  <a:pt x="7223394" y="0"/>
                </a:lnTo>
                <a:lnTo>
                  <a:pt x="7269114" y="137160"/>
                </a:lnTo>
                <a:lnTo>
                  <a:pt x="7223394" y="274320"/>
                </a:lnTo>
                <a:lnTo>
                  <a:pt x="6549664" y="274320"/>
                </a:lnTo>
                <a:lnTo>
                  <a:pt x="6503944" y="137160"/>
                </a:lnTo>
                <a:moveTo>
                  <a:pt x="7269114" y="137160"/>
                </a:moveTo>
                <a:lnTo>
                  <a:pt x="7314834" y="0"/>
                </a:lnTo>
                <a:lnTo>
                  <a:pt x="7988564" y="0"/>
                </a:lnTo>
                <a:lnTo>
                  <a:pt x="8034284" y="137160"/>
                </a:lnTo>
                <a:lnTo>
                  <a:pt x="7988564" y="274320"/>
                </a:lnTo>
                <a:lnTo>
                  <a:pt x="7314834" y="274320"/>
                </a:lnTo>
                <a:lnTo>
                  <a:pt x="7269114" y="137160"/>
                </a:lnTo>
                <a:moveTo>
                  <a:pt x="8034284" y="137160"/>
                </a:moveTo>
                <a:lnTo>
                  <a:pt x="8080004" y="0"/>
                </a:lnTo>
                <a:lnTo>
                  <a:pt x="8753734" y="0"/>
                </a:lnTo>
                <a:lnTo>
                  <a:pt x="8799454" y="137160"/>
                </a:lnTo>
                <a:lnTo>
                  <a:pt x="8753734" y="274320"/>
                </a:lnTo>
                <a:lnTo>
                  <a:pt x="8080004" y="274320"/>
                </a:lnTo>
                <a:lnTo>
                  <a:pt x="8034284" y="137160"/>
                </a:lnTo>
                <a:moveTo>
                  <a:pt x="8799454" y="137160"/>
                </a:moveTo>
                <a:lnTo>
                  <a:pt x="8845174" y="0"/>
                </a:lnTo>
                <a:lnTo>
                  <a:pt x="9564624" y="0"/>
                </a:lnTo>
                <a:lnTo>
                  <a:pt x="9564624" y="137160"/>
                </a:lnTo>
                <a:lnTo>
                  <a:pt x="9564624" y="274320"/>
                </a:lnTo>
                <a:lnTo>
                  <a:pt x="8845174" y="274320"/>
                </a:lnTo>
                <a:lnTo>
                  <a:pt x="8799454" y="137160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539496" y="32826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121408" y="36484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466344" y="37856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539496" y="37398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2121408" y="41056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2580510" y="1911096"/>
            <a:ext cx="0" cy="237744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641190" y="1911096"/>
            <a:ext cx="0" cy="237744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326916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1411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3141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403433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479950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Shape 93"/>
          <p:cNvSpPr/>
          <p:nvPr/>
        </p:nvSpPr>
        <p:spPr>
          <a:xfrm>
            <a:off x="467148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4"/>
          <p:cNvSpPr txBox="1"/>
          <p:nvPr/>
        </p:nvSpPr>
        <p:spPr>
          <a:xfrm>
            <a:off x="467148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556467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4366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4366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632984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9"/>
          <p:cNvSpPr/>
          <p:nvPr/>
        </p:nvSpPr>
        <p:spPr>
          <a:xfrm>
            <a:off x="620182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0"/>
          <p:cNvSpPr txBox="1"/>
          <p:nvPr/>
        </p:nvSpPr>
        <p:spPr>
          <a:xfrm>
            <a:off x="620182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580510" y="2286000"/>
            <a:ext cx="9144" cy="91440"/>
          </a:xfrm>
          <a:custGeom>
            <a:avLst/>
            <a:gdLst/>
            <a:ahLst/>
            <a:cxnLst/>
            <a:rect l="l" t="t" r="r" b="b"/>
            <a:pathLst>
              <a:path w="9144" h="91440">
                <a:moveTo>
                  <a:pt x="0" y="0"/>
                </a:moveTo>
                <a:lnTo>
                  <a:pt x="0" y="91440"/>
                </a:lnTo>
              </a:path>
            </a:pathLst>
          </a:cu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5755965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 (16 ~ 56 ns)</a:t>
            </a:r>
            <a:endParaRPr lang="en-US" sz="1150" dirty="0"/>
          </a:p>
        </p:txBody>
      </p:sp>
      <p:sp>
        <p:nvSpPr>
          <p:cNvPr id="105" name="Shape 103"/>
          <p:cNvSpPr/>
          <p:nvPr/>
        </p:nvSpPr>
        <p:spPr>
          <a:xfrm>
            <a:off x="822960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04"/>
          <p:cNvSpPr txBox="1"/>
          <p:nvPr/>
        </p:nvSpPr>
        <p:spPr>
          <a:xfrm>
            <a:off x="822960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500" dirty="0"/>
          </a:p>
        </p:txBody>
      </p:sp>
      <p:sp>
        <p:nvSpPr>
          <p:cNvPr id="107" name="Shape 105"/>
          <p:cNvSpPr/>
          <p:nvPr/>
        </p:nvSpPr>
        <p:spPr>
          <a:xfrm>
            <a:off x="1517904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6"/>
          <p:cNvSpPr txBox="1"/>
          <p:nvPr/>
        </p:nvSpPr>
        <p:spPr>
          <a:xfrm>
            <a:off x="1481328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유입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3287268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08"/>
          <p:cNvSpPr txBox="1"/>
          <p:nvPr/>
        </p:nvSpPr>
        <p:spPr>
          <a:xfrm>
            <a:off x="3287268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c0</a:t>
            </a:r>
            <a:endParaRPr lang="en-US" sz="1500" dirty="0"/>
          </a:p>
        </p:txBody>
      </p:sp>
      <p:sp>
        <p:nvSpPr>
          <p:cNvPr id="111" name="Shape 109"/>
          <p:cNvSpPr/>
          <p:nvPr/>
        </p:nvSpPr>
        <p:spPr>
          <a:xfrm>
            <a:off x="3982212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Text 110"/>
          <p:cNvSpPr txBox="1"/>
          <p:nvPr/>
        </p:nvSpPr>
        <p:spPr>
          <a:xfrm>
            <a:off x="3945636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유입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751576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5751576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</a:t>
            </a:r>
            <a:endParaRPr lang="en-US" sz="1500" dirty="0"/>
          </a:p>
        </p:txBody>
      </p:sp>
      <p:sp>
        <p:nvSpPr>
          <p:cNvPr id="115" name="Shape 113"/>
          <p:cNvSpPr/>
          <p:nvPr/>
        </p:nvSpPr>
        <p:spPr>
          <a:xfrm>
            <a:off x="6446520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Text 114"/>
          <p:cNvSpPr txBox="1"/>
          <p:nvPr/>
        </p:nvSpPr>
        <p:spPr>
          <a:xfrm>
            <a:off x="6409944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 유입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8215884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Text 116"/>
          <p:cNvSpPr txBox="1"/>
          <p:nvPr/>
        </p:nvSpPr>
        <p:spPr>
          <a:xfrm>
            <a:off x="8215884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</a:t>
            </a:r>
            <a:endParaRPr lang="en-US" sz="1500" dirty="0"/>
          </a:p>
        </p:txBody>
      </p:sp>
      <p:sp>
        <p:nvSpPr>
          <p:cNvPr id="119" name="Shape 117"/>
          <p:cNvSpPr/>
          <p:nvPr/>
        </p:nvSpPr>
        <p:spPr>
          <a:xfrm>
            <a:off x="8910828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118"/>
          <p:cNvSpPr txBox="1"/>
          <p:nvPr/>
        </p:nvSpPr>
        <p:spPr>
          <a:xfrm>
            <a:off x="8874252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0 유입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10680192" y="4754880"/>
            <a:ext cx="658368" cy="658368"/>
          </a:xfrm>
          <a:prstGeom prst="ellipse">
            <a:avLst/>
          </a:prstGeom>
          <a:solidFill>
            <a:srgbClr val="FEE2E2"/>
          </a:solidFill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 120"/>
          <p:cNvSpPr txBox="1"/>
          <p:nvPr/>
        </p:nvSpPr>
        <p:spPr>
          <a:xfrm>
            <a:off x="10680192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500" dirty="0"/>
          </a:p>
        </p:txBody>
      </p:sp>
      <p:sp>
        <p:nvSpPr>
          <p:cNvPr id="123" name="Shape 121"/>
          <p:cNvSpPr/>
          <p:nvPr/>
        </p:nvSpPr>
        <p:spPr>
          <a:xfrm>
            <a:off x="411480" y="5650992"/>
            <a:ext cx="11384280" cy="704088"/>
          </a:xfrm>
          <a:prstGeom prst="roundRect">
            <a:avLst>
              <a:gd name="adj" fmla="val 649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122"/>
          <p:cNvSpPr txBox="1"/>
          <p:nvPr/>
        </p:nvSpPr>
        <p:spPr>
          <a:xfrm>
            <a:off x="612648" y="5650992"/>
            <a:ext cx="1098194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40 ns → 1 sample 4개 (① ~ ④) → ff 미도달 → AND = 0 → o_btn 없음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26" name="Text 12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41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Shift 동작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Rises 70 ns After the First Sample and Lasts One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76148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76148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226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81701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81701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5981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517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865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68652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2293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2128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560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5604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0988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9079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42555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25551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6835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6030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9506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295062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83786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981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164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164573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707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9932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03408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034085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757688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6884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9035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903596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84463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38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77310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 ns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2078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06426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64261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1854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260 ns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107737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151213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151213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105493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270 ns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191109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198973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260853" y="235915"/>
                </a:lnTo>
                <a:lnTo>
                  <a:pt x="260853" y="0"/>
                </a:lnTo>
                <a:lnTo>
                  <a:pt x="695609" y="0"/>
                </a:lnTo>
                <a:lnTo>
                  <a:pt x="695609" y="235915"/>
                </a:lnTo>
                <a:lnTo>
                  <a:pt x="1130365" y="235915"/>
                </a:lnTo>
                <a:lnTo>
                  <a:pt x="1130365" y="0"/>
                </a:lnTo>
                <a:lnTo>
                  <a:pt x="1565120" y="0"/>
                </a:lnTo>
                <a:lnTo>
                  <a:pt x="1565120" y="235915"/>
                </a:lnTo>
                <a:lnTo>
                  <a:pt x="1999876" y="235915"/>
                </a:lnTo>
                <a:lnTo>
                  <a:pt x="1999876" y="0"/>
                </a:lnTo>
                <a:lnTo>
                  <a:pt x="2434632" y="0"/>
                </a:lnTo>
                <a:lnTo>
                  <a:pt x="2434632" y="235915"/>
                </a:lnTo>
                <a:lnTo>
                  <a:pt x="2869387" y="235915"/>
                </a:lnTo>
                <a:lnTo>
                  <a:pt x="2869387" y="0"/>
                </a:lnTo>
                <a:lnTo>
                  <a:pt x="3304143" y="0"/>
                </a:lnTo>
                <a:lnTo>
                  <a:pt x="3304143" y="235915"/>
                </a:lnTo>
                <a:lnTo>
                  <a:pt x="3738898" y="235915"/>
                </a:lnTo>
                <a:lnTo>
                  <a:pt x="3738898" y="0"/>
                </a:lnTo>
                <a:lnTo>
                  <a:pt x="4173654" y="0"/>
                </a:lnTo>
                <a:lnTo>
                  <a:pt x="4173654" y="235915"/>
                </a:lnTo>
                <a:lnTo>
                  <a:pt x="4608410" y="235915"/>
                </a:lnTo>
                <a:lnTo>
                  <a:pt x="4608410" y="0"/>
                </a:lnTo>
                <a:lnTo>
                  <a:pt x="5043165" y="0"/>
                </a:lnTo>
                <a:lnTo>
                  <a:pt x="5043165" y="235915"/>
                </a:lnTo>
                <a:lnTo>
                  <a:pt x="5477921" y="235915"/>
                </a:lnTo>
                <a:lnTo>
                  <a:pt x="5477921" y="0"/>
                </a:lnTo>
                <a:lnTo>
                  <a:pt x="5912677" y="0"/>
                </a:lnTo>
                <a:lnTo>
                  <a:pt x="5912677" y="235915"/>
                </a:lnTo>
                <a:lnTo>
                  <a:pt x="6347432" y="235915"/>
                </a:lnTo>
                <a:lnTo>
                  <a:pt x="6347432" y="0"/>
                </a:lnTo>
                <a:lnTo>
                  <a:pt x="6782188" y="0"/>
                </a:lnTo>
                <a:lnTo>
                  <a:pt x="6782188" y="235915"/>
                </a:lnTo>
                <a:lnTo>
                  <a:pt x="7216944" y="235915"/>
                </a:lnTo>
                <a:lnTo>
                  <a:pt x="7216944" y="0"/>
                </a:lnTo>
                <a:lnTo>
                  <a:pt x="7651699" y="0"/>
                </a:lnTo>
                <a:lnTo>
                  <a:pt x="7651699" y="235915"/>
                </a:lnTo>
                <a:lnTo>
                  <a:pt x="8086455" y="235915"/>
                </a:lnTo>
                <a:lnTo>
                  <a:pt x="8086455" y="0"/>
                </a:lnTo>
                <a:lnTo>
                  <a:pt x="8521210" y="0"/>
                </a:lnTo>
                <a:lnTo>
                  <a:pt x="8521210" y="235915"/>
                </a:lnTo>
                <a:lnTo>
                  <a:pt x="8955966" y="235915"/>
                </a:lnTo>
                <a:lnTo>
                  <a:pt x="8955966" y="0"/>
                </a:lnTo>
                <a:lnTo>
                  <a:pt x="9390722" y="0"/>
                </a:lnTo>
                <a:lnTo>
                  <a:pt x="9390722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2350008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2304288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2382926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434756" y="235915"/>
                </a:lnTo>
                <a:lnTo>
                  <a:pt x="434756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269748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121408" y="2697480"/>
            <a:ext cx="113036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3251773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121284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4990795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5860306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729818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599329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468840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338352" y="2697480"/>
            <a:ext cx="234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121408" y="2776118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117958"/>
                </a:moveTo>
                <a:lnTo>
                  <a:pt x="0" y="0"/>
                </a:lnTo>
                <a:lnTo>
                  <a:pt x="1084645" y="0"/>
                </a:lnTo>
                <a:lnTo>
                  <a:pt x="1130365" y="117958"/>
                </a:lnTo>
                <a:lnTo>
                  <a:pt x="1084645" y="235915"/>
                </a:lnTo>
                <a:lnTo>
                  <a:pt x="0" y="235915"/>
                </a:lnTo>
                <a:lnTo>
                  <a:pt x="0" y="117958"/>
                </a:lnTo>
                <a:moveTo>
                  <a:pt x="1130365" y="117958"/>
                </a:moveTo>
                <a:lnTo>
                  <a:pt x="1176085" y="0"/>
                </a:lnTo>
                <a:lnTo>
                  <a:pt x="1954156" y="0"/>
                </a:lnTo>
                <a:lnTo>
                  <a:pt x="1999876" y="117958"/>
                </a:lnTo>
                <a:lnTo>
                  <a:pt x="1954156" y="235915"/>
                </a:lnTo>
                <a:lnTo>
                  <a:pt x="1176085" y="235915"/>
                </a:lnTo>
                <a:lnTo>
                  <a:pt x="1130365" y="117958"/>
                </a:lnTo>
                <a:moveTo>
                  <a:pt x="1999876" y="117958"/>
                </a:moveTo>
                <a:lnTo>
                  <a:pt x="2045596" y="0"/>
                </a:lnTo>
                <a:lnTo>
                  <a:pt x="2823667" y="0"/>
                </a:lnTo>
                <a:lnTo>
                  <a:pt x="2869387" y="117958"/>
                </a:lnTo>
                <a:lnTo>
                  <a:pt x="2823667" y="235915"/>
                </a:lnTo>
                <a:lnTo>
                  <a:pt x="2045596" y="235915"/>
                </a:lnTo>
                <a:lnTo>
                  <a:pt x="1999876" y="117958"/>
                </a:lnTo>
                <a:moveTo>
                  <a:pt x="2869387" y="117958"/>
                </a:moveTo>
                <a:lnTo>
                  <a:pt x="2915107" y="0"/>
                </a:lnTo>
                <a:lnTo>
                  <a:pt x="3693178" y="0"/>
                </a:lnTo>
                <a:lnTo>
                  <a:pt x="3738898" y="117958"/>
                </a:lnTo>
                <a:lnTo>
                  <a:pt x="3693178" y="235915"/>
                </a:lnTo>
                <a:lnTo>
                  <a:pt x="2915107" y="235915"/>
                </a:lnTo>
                <a:lnTo>
                  <a:pt x="2869387" y="117958"/>
                </a:lnTo>
                <a:moveTo>
                  <a:pt x="3738898" y="117958"/>
                </a:moveTo>
                <a:lnTo>
                  <a:pt x="3784618" y="0"/>
                </a:lnTo>
                <a:lnTo>
                  <a:pt x="4562690" y="0"/>
                </a:lnTo>
                <a:lnTo>
                  <a:pt x="4608410" y="117958"/>
                </a:lnTo>
                <a:lnTo>
                  <a:pt x="4562690" y="235915"/>
                </a:lnTo>
                <a:lnTo>
                  <a:pt x="3784618" y="235915"/>
                </a:lnTo>
                <a:lnTo>
                  <a:pt x="3738898" y="117958"/>
                </a:lnTo>
                <a:moveTo>
                  <a:pt x="4608410" y="117958"/>
                </a:moveTo>
                <a:lnTo>
                  <a:pt x="4654130" y="0"/>
                </a:lnTo>
                <a:lnTo>
                  <a:pt x="5432201" y="0"/>
                </a:lnTo>
                <a:lnTo>
                  <a:pt x="5477921" y="117958"/>
                </a:lnTo>
                <a:lnTo>
                  <a:pt x="5432201" y="235915"/>
                </a:lnTo>
                <a:lnTo>
                  <a:pt x="4654130" y="235915"/>
                </a:lnTo>
                <a:lnTo>
                  <a:pt x="4608410" y="117958"/>
                </a:lnTo>
                <a:moveTo>
                  <a:pt x="5477921" y="117958"/>
                </a:moveTo>
                <a:lnTo>
                  <a:pt x="5523641" y="0"/>
                </a:lnTo>
                <a:lnTo>
                  <a:pt x="6301712" y="0"/>
                </a:lnTo>
                <a:lnTo>
                  <a:pt x="6347432" y="117958"/>
                </a:lnTo>
                <a:lnTo>
                  <a:pt x="6301712" y="235915"/>
                </a:lnTo>
                <a:lnTo>
                  <a:pt x="5523641" y="235915"/>
                </a:lnTo>
                <a:lnTo>
                  <a:pt x="5477921" y="117958"/>
                </a:lnTo>
                <a:moveTo>
                  <a:pt x="6347432" y="117958"/>
                </a:moveTo>
                <a:lnTo>
                  <a:pt x="6393152" y="0"/>
                </a:lnTo>
                <a:lnTo>
                  <a:pt x="7171224" y="0"/>
                </a:lnTo>
                <a:lnTo>
                  <a:pt x="7216944" y="117958"/>
                </a:lnTo>
                <a:lnTo>
                  <a:pt x="7171224" y="235915"/>
                </a:lnTo>
                <a:lnTo>
                  <a:pt x="6393152" y="235915"/>
                </a:lnTo>
                <a:lnTo>
                  <a:pt x="6347432" y="117958"/>
                </a:lnTo>
                <a:moveTo>
                  <a:pt x="7216944" y="117958"/>
                </a:moveTo>
                <a:lnTo>
                  <a:pt x="7262664" y="0"/>
                </a:lnTo>
                <a:lnTo>
                  <a:pt x="9564624" y="0"/>
                </a:lnTo>
                <a:lnTo>
                  <a:pt x="9564624" y="117958"/>
                </a:lnTo>
                <a:lnTo>
                  <a:pt x="9564624" y="235915"/>
                </a:lnTo>
                <a:lnTo>
                  <a:pt x="7262664" y="235915"/>
                </a:lnTo>
                <a:lnTo>
                  <a:pt x="7216944" y="117958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39496" y="309067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2121408" y="3169310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348386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3562502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8086455" y="235915"/>
                </a:lnTo>
                <a:lnTo>
                  <a:pt x="8086455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466344" y="3922776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39496" y="387705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121408" y="395569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8086455" y="0"/>
                </a:lnTo>
                <a:lnTo>
                  <a:pt x="8086455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2556164" y="1911096"/>
            <a:ext cx="0" cy="2450592"/>
          </a:xfrm>
          <a:prstGeom prst="line">
            <a:avLst/>
          </a:prstGeom>
          <a:noFill/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325177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31237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31237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38352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210336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210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1020786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100798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100798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9338352" y="3913632"/>
            <a:ext cx="869511" cy="320040"/>
          </a:xfrm>
          <a:prstGeom prst="rect">
            <a:avLst/>
          </a:prstGeom>
          <a:solidFill>
            <a:srgbClr val="FACC15">
              <a:alpha val="5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9338352" y="2734056"/>
            <a:ext cx="869511" cy="320040"/>
          </a:xfrm>
          <a:prstGeom prst="rect">
            <a:avLst/>
          </a:prstGeom>
          <a:solidFill>
            <a:srgbClr val="67E8F9">
              <a:alpha val="30000"/>
            </a:srgbClr>
          </a:solidFill>
          <a:ln w="1905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251773" y="4453128"/>
            <a:ext cx="6086579" cy="109728"/>
          </a:xfrm>
          <a:custGeom>
            <a:avLst/>
            <a:gdLst/>
            <a:ahLst/>
            <a:cxnLst/>
            <a:rect l="l" t="t" r="r" b="b"/>
            <a:pathLst>
              <a:path w="6086579" h="109728">
                <a:moveTo>
                  <a:pt x="0" y="0"/>
                </a:moveTo>
                <a:lnTo>
                  <a:pt x="0" y="109728"/>
                </a:lnTo>
                <a:lnTo>
                  <a:pt x="6086579" y="109728"/>
                </a:lnTo>
                <a:lnTo>
                  <a:pt x="608657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5380662" y="4581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+70 ns = 7 cycle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1148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53949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53949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2354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sample → q_reg = 80</a:t>
            </a:r>
            <a:endParaRPr lang="en-US" sz="1350" dirty="0"/>
          </a:p>
        </p:txBody>
      </p:sp>
      <p:sp>
        <p:nvSpPr>
          <p:cNvPr id="95" name="Shape 93"/>
          <p:cNvSpPr/>
          <p:nvPr/>
        </p:nvSpPr>
        <p:spPr>
          <a:xfrm>
            <a:off x="425196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hape 94"/>
          <p:cNvSpPr/>
          <p:nvPr/>
        </p:nvSpPr>
        <p:spPr>
          <a:xfrm>
            <a:off x="437997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437997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476402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ns  (+70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8번째 sample → ff → debounce · o_btn = 1</a:t>
            </a:r>
            <a:endParaRPr lang="en-US" sz="1350" dirty="0"/>
          </a:p>
        </p:txBody>
      </p:sp>
      <p:sp>
        <p:nvSpPr>
          <p:cNvPr id="99" name="Shape 97"/>
          <p:cNvSpPr/>
          <p:nvPr/>
        </p:nvSpPr>
        <p:spPr>
          <a:xfrm>
            <a:off x="809244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8"/>
          <p:cNvSpPr/>
          <p:nvPr/>
        </p:nvSpPr>
        <p:spPr>
          <a:xfrm>
            <a:off x="822045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9"/>
          <p:cNvSpPr txBox="1"/>
          <p:nvPr/>
        </p:nvSpPr>
        <p:spPr>
          <a:xfrm>
            <a:off x="822045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860450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 ns  (+80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→ o_btn = 0 (1 cycle)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411480" y="5925312"/>
            <a:ext cx="11384280" cy="438912"/>
          </a:xfrm>
          <a:prstGeom prst="roundRect">
            <a:avLst>
              <a:gd name="adj" fmla="val 10417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612648" y="5925312"/>
            <a:ext cx="109819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debounce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와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edge_reg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의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and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 조합으로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edge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 검출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(debounce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의 상승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edge)</a:t>
            </a:r>
            <a:endParaRPr lang="en-US" sz="1350" dirty="0"/>
          </a:p>
        </p:txBody>
      </p:sp>
      <p:sp>
        <p:nvSpPr>
          <p:cNvPr id="105" name="Text 10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41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비동기 입력 Sampling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 Off-grid Edge Is Captured at the Next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7589520" cy="248716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8716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565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0990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55414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69839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8426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842641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23854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 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8688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13113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27538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41962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35638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563874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1066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0812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85236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399661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14086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285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3827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175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2935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57360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71784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8620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50063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006340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5491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15058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2948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543908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58332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727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270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185 ns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7182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0160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16031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0455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44880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448806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599160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59305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7372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88154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0257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170039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712839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428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74585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60277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774702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789127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7891272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743407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011680" y="1911096"/>
            <a:ext cx="598932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39496" y="1911096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121408" y="2050085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721233" y="416966"/>
                </a:lnTo>
                <a:lnTo>
                  <a:pt x="721233" y="0"/>
                </a:lnTo>
                <a:lnTo>
                  <a:pt x="1442466" y="0"/>
                </a:lnTo>
                <a:lnTo>
                  <a:pt x="1442466" y="416966"/>
                </a:lnTo>
                <a:lnTo>
                  <a:pt x="2163699" y="416966"/>
                </a:lnTo>
                <a:lnTo>
                  <a:pt x="2163699" y="0"/>
                </a:lnTo>
                <a:lnTo>
                  <a:pt x="2884932" y="0"/>
                </a:lnTo>
                <a:lnTo>
                  <a:pt x="2884932" y="416966"/>
                </a:lnTo>
                <a:lnTo>
                  <a:pt x="3606165" y="416966"/>
                </a:lnTo>
                <a:lnTo>
                  <a:pt x="3606165" y="0"/>
                </a:lnTo>
                <a:lnTo>
                  <a:pt x="4327398" y="0"/>
                </a:lnTo>
                <a:lnTo>
                  <a:pt x="4327398" y="416966"/>
                </a:lnTo>
                <a:lnTo>
                  <a:pt x="5048631" y="416966"/>
                </a:lnTo>
                <a:lnTo>
                  <a:pt x="5048631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466344" y="2651760"/>
            <a:ext cx="1490472" cy="60350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2606040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2745029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1009726" y="416966"/>
                </a:lnTo>
                <a:lnTo>
                  <a:pt x="1009726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539496" y="3300984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2121408" y="3300984"/>
            <a:ext cx="21636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4285107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5727573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170039" y="3300984"/>
            <a:ext cx="72123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121408" y="3439973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208483"/>
                </a:moveTo>
                <a:lnTo>
                  <a:pt x="0" y="0"/>
                </a:lnTo>
                <a:lnTo>
                  <a:pt x="2117979" y="0"/>
                </a:lnTo>
                <a:lnTo>
                  <a:pt x="2163699" y="208483"/>
                </a:lnTo>
                <a:lnTo>
                  <a:pt x="2117979" y="416966"/>
                </a:lnTo>
                <a:lnTo>
                  <a:pt x="0" y="416966"/>
                </a:lnTo>
                <a:lnTo>
                  <a:pt x="0" y="208483"/>
                </a:lnTo>
                <a:moveTo>
                  <a:pt x="2163699" y="208483"/>
                </a:moveTo>
                <a:lnTo>
                  <a:pt x="2209419" y="0"/>
                </a:lnTo>
                <a:lnTo>
                  <a:pt x="3560445" y="0"/>
                </a:lnTo>
                <a:lnTo>
                  <a:pt x="3606165" y="208483"/>
                </a:lnTo>
                <a:lnTo>
                  <a:pt x="3560445" y="416966"/>
                </a:lnTo>
                <a:lnTo>
                  <a:pt x="2209419" y="416966"/>
                </a:lnTo>
                <a:lnTo>
                  <a:pt x="2163699" y="208483"/>
                </a:lnTo>
                <a:moveTo>
                  <a:pt x="3606165" y="208483"/>
                </a:moveTo>
                <a:lnTo>
                  <a:pt x="3651885" y="0"/>
                </a:lnTo>
                <a:lnTo>
                  <a:pt x="5002911" y="0"/>
                </a:lnTo>
                <a:lnTo>
                  <a:pt x="5048631" y="208483"/>
                </a:lnTo>
                <a:lnTo>
                  <a:pt x="5002911" y="416966"/>
                </a:lnTo>
                <a:lnTo>
                  <a:pt x="3651885" y="416966"/>
                </a:lnTo>
                <a:lnTo>
                  <a:pt x="3606165" y="208483"/>
                </a:lnTo>
                <a:moveTo>
                  <a:pt x="5048631" y="208483"/>
                </a:moveTo>
                <a:lnTo>
                  <a:pt x="5094351" y="0"/>
                </a:lnTo>
                <a:lnTo>
                  <a:pt x="5769864" y="0"/>
                </a:lnTo>
                <a:lnTo>
                  <a:pt x="5769864" y="208483"/>
                </a:lnTo>
                <a:lnTo>
                  <a:pt x="5769864" y="416966"/>
                </a:lnTo>
                <a:lnTo>
                  <a:pt x="5094351" y="416966"/>
                </a:lnTo>
                <a:lnTo>
                  <a:pt x="5048631" y="208483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3131134" y="1911096"/>
            <a:ext cx="0" cy="2176272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3003118" y="1271016"/>
            <a:ext cx="256032" cy="256032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300311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4157091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4157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5995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55995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Shape 88"/>
          <p:cNvSpPr/>
          <p:nvPr/>
        </p:nvSpPr>
        <p:spPr>
          <a:xfrm>
            <a:off x="7042023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704202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3131134" y="4178808"/>
            <a:ext cx="1153973" cy="109728"/>
          </a:xfrm>
          <a:custGeom>
            <a:avLst/>
            <a:gdLst/>
            <a:ahLst/>
            <a:cxnLst/>
            <a:rect l="l" t="t" r="r" b="b"/>
            <a:pathLst>
              <a:path w="1153973" h="109728">
                <a:moveTo>
                  <a:pt x="0" y="0"/>
                </a:moveTo>
                <a:lnTo>
                  <a:pt x="0" y="109728"/>
                </a:lnTo>
                <a:lnTo>
                  <a:pt x="1153973" y="109728"/>
                </a:lnTo>
                <a:lnTo>
                  <a:pt x="1153973" y="0"/>
                </a:lnTo>
              </a:path>
            </a:pathLst>
          </a:custGeom>
          <a:ln w="19050">
            <a:solidFill>
              <a:srgbClr val="CA8A0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2856814" y="4315968"/>
            <a:ext cx="17026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ns 대기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0" y="1188720"/>
            <a:ext cx="3611880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366760" y="131673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driver (async 재현)</a:t>
            </a:r>
            <a:endParaRPr lang="en-US" sz="1500" dirty="0"/>
          </a:p>
        </p:txBody>
      </p:sp>
      <p:sp>
        <p:nvSpPr>
          <p:cNvPr id="96" name="Text 94"/>
          <p:cNvSpPr txBox="1"/>
          <p:nvPr/>
        </p:nvSpPr>
        <p:spPr>
          <a:xfrm>
            <a:off x="8366760" y="1627632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12)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15)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repeat(j) #(i)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첫 i 후 i_btn = 1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(j − 1)·i + 10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100 ns + 다음 i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41148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39496" y="4978908"/>
            <a:ext cx="274320" cy="274320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3949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92354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0 → 1 (grid 밖)</a:t>
            </a:r>
            <a:endParaRPr lang="en-US" sz="1350" dirty="0"/>
          </a:p>
        </p:txBody>
      </p:sp>
      <p:sp>
        <p:nvSpPr>
          <p:cNvPr id="101" name="Shape 99"/>
          <p:cNvSpPr/>
          <p:nvPr/>
        </p:nvSpPr>
        <p:spPr>
          <a:xfrm>
            <a:off x="329184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100"/>
          <p:cNvSpPr/>
          <p:nvPr/>
        </p:nvSpPr>
        <p:spPr>
          <a:xfrm>
            <a:off x="341985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1"/>
          <p:cNvSpPr txBox="1"/>
          <p:nvPr/>
        </p:nvSpPr>
        <p:spPr>
          <a:xfrm>
            <a:off x="341985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380390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80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617220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104"/>
          <p:cNvSpPr/>
          <p:nvPr/>
        </p:nvSpPr>
        <p:spPr>
          <a:xfrm>
            <a:off x="630021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105"/>
          <p:cNvSpPr txBox="1"/>
          <p:nvPr/>
        </p:nvSpPr>
        <p:spPr>
          <a:xfrm>
            <a:off x="630021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68426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c0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905256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Shape 108"/>
          <p:cNvSpPr/>
          <p:nvPr/>
        </p:nvSpPr>
        <p:spPr>
          <a:xfrm>
            <a:off x="918057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109"/>
          <p:cNvSpPr txBox="1"/>
          <p:nvPr/>
        </p:nvSpPr>
        <p:spPr>
          <a:xfrm>
            <a:off x="918057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956462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e0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411480" y="5687568"/>
            <a:ext cx="11384280" cy="667512"/>
          </a:xfrm>
          <a:prstGeom prst="roundRect">
            <a:avLst>
              <a:gd name="adj" fmla="val 6849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612648" y="5687568"/>
            <a:ext cx="109819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posedge 사이 변화 → 다음 posedge에서 q_reg[7]로 sampling · MSB부터 1 누적</a:t>
            </a:r>
            <a:endParaRPr lang="en-US" sz="1450" dirty="0"/>
          </a:p>
        </p:txBody>
      </p:sp>
      <p:sp>
        <p:nvSpPr>
          <p:cNvPr id="115" name="Text 11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41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실측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Pulses of 40 ns and 59 ns Are Rejected, 82 ns and Longer Pass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11384280" cy="267004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463040"/>
            <a:ext cx="1600200" cy="267004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49961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693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7246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17246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71526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7994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22352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22352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76632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4905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7458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7458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81738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0011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2563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32563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86843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5116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37669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37669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91949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02225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842775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42775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97055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5328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947881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47881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02161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00434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529869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0529869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72669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105539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158092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158092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1112372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011680" y="177393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66344" y="1819656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539496" y="17739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121408" y="1887322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168169" y="340157"/>
                </a:lnTo>
                <a:lnTo>
                  <a:pt x="168169" y="0"/>
                </a:lnTo>
                <a:lnTo>
                  <a:pt x="588592" y="0"/>
                </a:lnTo>
                <a:lnTo>
                  <a:pt x="588592" y="340157"/>
                </a:lnTo>
                <a:lnTo>
                  <a:pt x="1755266" y="340157"/>
                </a:lnTo>
                <a:lnTo>
                  <a:pt x="1755266" y="0"/>
                </a:lnTo>
                <a:lnTo>
                  <a:pt x="3132152" y="0"/>
                </a:lnTo>
                <a:lnTo>
                  <a:pt x="3132152" y="340157"/>
                </a:lnTo>
                <a:lnTo>
                  <a:pt x="4277804" y="340157"/>
                </a:lnTo>
                <a:lnTo>
                  <a:pt x="4277804" y="0"/>
                </a:lnTo>
                <a:lnTo>
                  <a:pt x="5139672" y="0"/>
                </a:lnTo>
                <a:lnTo>
                  <a:pt x="5139672" y="340157"/>
                </a:lnTo>
                <a:lnTo>
                  <a:pt x="6264303" y="340157"/>
                </a:lnTo>
                <a:lnTo>
                  <a:pt x="6264303" y="0"/>
                </a:lnTo>
                <a:lnTo>
                  <a:pt x="6884427" y="0"/>
                </a:lnTo>
                <a:lnTo>
                  <a:pt x="6884427" y="340157"/>
                </a:lnTo>
                <a:lnTo>
                  <a:pt x="8051101" y="340157"/>
                </a:lnTo>
                <a:lnTo>
                  <a:pt x="8051101" y="0"/>
                </a:lnTo>
                <a:lnTo>
                  <a:pt x="9427987" y="0"/>
                </a:lnTo>
                <a:lnTo>
                  <a:pt x="9427987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23408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121408" y="2454250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3205726" y="0"/>
                </a:lnTo>
                <a:lnTo>
                  <a:pt x="3205726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9512071" y="0"/>
                </a:lnTo>
                <a:lnTo>
                  <a:pt x="9512071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29077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3021178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680197" y="340157"/>
                </a:lnTo>
                <a:lnTo>
                  <a:pt x="2680197" y="0"/>
                </a:lnTo>
                <a:lnTo>
                  <a:pt x="3310831" y="0"/>
                </a:lnTo>
                <a:lnTo>
                  <a:pt x="3310831" y="340157"/>
                </a:lnTo>
                <a:lnTo>
                  <a:pt x="5202735" y="340157"/>
                </a:lnTo>
                <a:lnTo>
                  <a:pt x="5202735" y="0"/>
                </a:lnTo>
                <a:lnTo>
                  <a:pt x="5307841" y="0"/>
                </a:lnTo>
                <a:lnTo>
                  <a:pt x="5307841" y="340157"/>
                </a:lnTo>
                <a:lnTo>
                  <a:pt x="8986542" y="340157"/>
                </a:lnTo>
                <a:lnTo>
                  <a:pt x="8986542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3520440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34747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3588106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2680197" y="0"/>
                </a:lnTo>
                <a:lnTo>
                  <a:pt x="2680197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8986542" y="0"/>
                </a:lnTo>
                <a:lnTo>
                  <a:pt x="8986542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2253001" y="1810512"/>
            <a:ext cx="493575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832377" y="4187952"/>
            <a:ext cx="1334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ns ✗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3840098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419474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362636" y="1810512"/>
            <a:ext cx="935019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42012" y="4187952"/>
            <a:ext cx="17762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 ✓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349135" y="1810512"/>
            <a:ext cx="693276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7928511" y="4187952"/>
            <a:ext cx="1534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ns ✗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10135933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9715309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없음 : 40 ns · 59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4개 · 5개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621792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641908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1 tick : 82 ns · 131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8개 · 13개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11480" y="5486400"/>
            <a:ext cx="113842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640080" y="54864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위치  </a:t>
            </a: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· 485 · 845 ns = 각 pulse의 첫 sample + 70 ns  ·  pulse length와 무관하게 1 tick</a:t>
            </a:r>
            <a:endParaRPr lang="en-US" sz="14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41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통계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Random Presses: 8 Sampled Edges Always Tick, 7 Never Do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vs sampled posedge 수 (tb_button_debouncer, 50회)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2194560"/>
            <a:ext cx="411480" cy="3520440"/>
          </a:xfrm>
          <a:prstGeom prst="rect">
            <a:avLst/>
          </a:prstGeom>
          <a:solidFill>
            <a:srgbClr val="FEF3C7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43000" y="5715000"/>
            <a:ext cx="65836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 flipV="1">
            <a:off x="1143000" y="2128552"/>
            <a:ext cx="0" cy="3586448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430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373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5603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889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3832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0624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3484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0292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8521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6751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9037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74980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266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77240" y="56144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97280" y="571500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77240" y="517436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97280" y="527494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77240" y="473430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97280" y="483489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77240" y="429425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7280" y="439483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77240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97280" y="395478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77240" y="341414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97280" y="351472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77240" y="297408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97280" y="307467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7240" y="253403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97280" y="263461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77240" y="20939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097280" y="219456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4846320" y="59527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high 폭 (ns)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252728" y="20828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143000" y="4504849"/>
            <a:ext cx="658368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080760" y="4230529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경계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3017520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9280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600700" y="3184970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3602736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674620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1956816" y="5183505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108960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269748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5184648" y="3441573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3913632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615184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290322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1645920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78224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4402836" y="3881628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48132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267462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343400" y="386334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542532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4732020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386791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6071616" y="298323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5084064" y="342328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077456" y="234143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3520440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6583680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3232404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2304288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2386584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27939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288036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4773168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209854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68706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5448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tick</a:t>
            </a: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</a:t>
            </a: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제거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229600" y="118872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412480" y="1280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4000" dirty="0"/>
          </a:p>
        </p:txBody>
      </p:sp>
      <p:sp>
        <p:nvSpPr>
          <p:cNvPr id="88" name="Text 86"/>
          <p:cNvSpPr txBox="1"/>
          <p:nvPr/>
        </p:nvSpPr>
        <p:spPr>
          <a:xfrm>
            <a:off x="97383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발생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8412480" y="2148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~ 17 posedge · 80 ns 이상 전부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229600" y="292608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8412480" y="30175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4000" dirty="0"/>
          </a:p>
        </p:txBody>
      </p:sp>
      <p:sp>
        <p:nvSpPr>
          <p:cNvPr id="92" name="Text 90"/>
          <p:cNvSpPr txBox="1"/>
          <p:nvPr/>
        </p:nvSpPr>
        <p:spPr>
          <a:xfrm>
            <a:off x="9738360" y="310896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8412480" y="3886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~ 7 posedge · 73 ns 이하 전부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229600" y="4663440"/>
            <a:ext cx="356616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412480" y="4754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 구간</a:t>
            </a:r>
            <a:endParaRPr lang="en-US" sz="1450" dirty="0"/>
          </a:p>
        </p:txBody>
      </p:sp>
      <p:sp>
        <p:nvSpPr>
          <p:cNvPr id="96" name="Text 94"/>
          <p:cNvSpPr txBox="1"/>
          <p:nvPr/>
        </p:nvSpPr>
        <p:spPr>
          <a:xfrm>
            <a:off x="8412480" y="50749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· 73 ns 4건 = 7 posedge → 제거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 = sampled posedge 수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41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조건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Needs i_btn High Across 8 Rising Edges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63040" y="1600200"/>
            <a:ext cx="8449056" cy="320040"/>
          </a:xfrm>
          <a:custGeom>
            <a:avLst/>
            <a:gdLst/>
            <a:ahLst/>
            <a:cxnLst/>
            <a:rect l="l" t="t" r="r" b="b"/>
            <a:pathLst>
              <a:path w="8449056" h="320040">
                <a:moveTo>
                  <a:pt x="0" y="320040"/>
                </a:moveTo>
                <a:lnTo>
                  <a:pt x="402336" y="320040"/>
                </a:lnTo>
                <a:lnTo>
                  <a:pt x="402336" y="0"/>
                </a:lnTo>
                <a:lnTo>
                  <a:pt x="804672" y="0"/>
                </a:lnTo>
                <a:lnTo>
                  <a:pt x="804672" y="320040"/>
                </a:lnTo>
                <a:lnTo>
                  <a:pt x="1207008" y="320040"/>
                </a:lnTo>
                <a:lnTo>
                  <a:pt x="1207008" y="0"/>
                </a:lnTo>
                <a:lnTo>
                  <a:pt x="1609344" y="0"/>
                </a:lnTo>
                <a:lnTo>
                  <a:pt x="1609344" y="320040"/>
                </a:lnTo>
                <a:lnTo>
                  <a:pt x="2011680" y="320040"/>
                </a:lnTo>
                <a:lnTo>
                  <a:pt x="2011680" y="0"/>
                </a:lnTo>
                <a:lnTo>
                  <a:pt x="2414016" y="0"/>
                </a:lnTo>
                <a:lnTo>
                  <a:pt x="2414016" y="320040"/>
                </a:lnTo>
                <a:lnTo>
                  <a:pt x="2816352" y="320040"/>
                </a:lnTo>
                <a:lnTo>
                  <a:pt x="2816352" y="0"/>
                </a:lnTo>
                <a:lnTo>
                  <a:pt x="3218688" y="0"/>
                </a:lnTo>
                <a:lnTo>
                  <a:pt x="3218688" y="320040"/>
                </a:lnTo>
                <a:lnTo>
                  <a:pt x="3621024" y="320040"/>
                </a:lnTo>
                <a:lnTo>
                  <a:pt x="3621024" y="0"/>
                </a:lnTo>
                <a:lnTo>
                  <a:pt x="4023360" y="0"/>
                </a:lnTo>
                <a:lnTo>
                  <a:pt x="4023360" y="320040"/>
                </a:lnTo>
                <a:lnTo>
                  <a:pt x="4425696" y="320040"/>
                </a:lnTo>
                <a:lnTo>
                  <a:pt x="4425696" y="0"/>
                </a:lnTo>
                <a:lnTo>
                  <a:pt x="4828032" y="0"/>
                </a:lnTo>
                <a:lnTo>
                  <a:pt x="4828032" y="320040"/>
                </a:lnTo>
                <a:lnTo>
                  <a:pt x="5230368" y="320040"/>
                </a:lnTo>
                <a:lnTo>
                  <a:pt x="5230368" y="0"/>
                </a:lnTo>
                <a:lnTo>
                  <a:pt x="5632704" y="0"/>
                </a:lnTo>
                <a:lnTo>
                  <a:pt x="5632704" y="320040"/>
                </a:lnTo>
                <a:lnTo>
                  <a:pt x="6035040" y="320040"/>
                </a:lnTo>
                <a:lnTo>
                  <a:pt x="6035040" y="0"/>
                </a:lnTo>
                <a:lnTo>
                  <a:pt x="6437376" y="0"/>
                </a:lnTo>
                <a:lnTo>
                  <a:pt x="6437376" y="320040"/>
                </a:lnTo>
                <a:lnTo>
                  <a:pt x="6839712" y="320040"/>
                </a:lnTo>
                <a:lnTo>
                  <a:pt x="6839712" y="0"/>
                </a:lnTo>
                <a:lnTo>
                  <a:pt x="7242048" y="0"/>
                </a:lnTo>
                <a:lnTo>
                  <a:pt x="7242048" y="320040"/>
                </a:lnTo>
                <a:lnTo>
                  <a:pt x="7644384" y="320040"/>
                </a:lnTo>
                <a:lnTo>
                  <a:pt x="7644384" y="0"/>
                </a:lnTo>
                <a:lnTo>
                  <a:pt x="8046720" y="0"/>
                </a:lnTo>
                <a:lnTo>
                  <a:pt x="8046720" y="320040"/>
                </a:lnTo>
                <a:lnTo>
                  <a:pt x="8449056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72821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6537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53288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004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333756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42232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79392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946904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84064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5157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8873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55624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9340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36092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40080" y="2331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ns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302106" y="233172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5149901" y="0"/>
                </a:lnTo>
                <a:lnTo>
                  <a:pt x="5149901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590227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6개 → 제거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302106" y="315468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6920179" y="0"/>
                </a:lnTo>
                <a:lnTo>
                  <a:pt x="6920179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9590227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8개 → tick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sampling edge 이후 70 ns + α 유지 = 8번째 posedge까지 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1148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64008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ns 이하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7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제거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25196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또는 8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edge 정렬에 의존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09244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이상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이상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통과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41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·  결론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설계 결과 · 고찰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3160" y="169164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606040" y="169164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 · 출력 = S3 · din_bit → din_bit 도착 즉시 검출 (221 ns, 폭 4 ns)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23160" y="226771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06040" y="226771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5 state · S4 decode 출력 → 1 clock 뒤 검출 (225 ns, 폭 10 ns)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284378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2606040" y="284378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 logic 차이 = S3 · din_bit = 1 한 경우뿐 (Mealy S0 · Moore S4)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423160" y="3419856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2606040" y="3419856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 + rising edge → push 1회 = o_btn 1 tick (첫 sample + 70 ns)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23160" y="3995928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606040" y="3995928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50회 random push: 8 posedge 이상 28건 tick · 7 이하 22건 제거  ·  RUN 유지 조건 누락 수정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23160" y="457200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2606040" y="457200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 = event 입력 → tick 변환이 FSM 입력의 전제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423160" y="514807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2606040" y="514807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8-sample window = moving average low-pass + 문턱 1.0 → 80 ns 미만 pulse 제거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423160" y="572414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2606040" y="572414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window → ms 단위 bounce 대응 시 sampling 주기 확대 필요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41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4550</Words>
  <Application>Microsoft Office PowerPoint</Application>
  <PresentationFormat>와이드스크린</PresentationFormat>
  <Paragraphs>1242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0101 Sequence Detector and Button Debouncer</dc:title>
  <dc:subject>PptxGenJS Presentation</dc:subject>
  <dc:creator>정안성</dc:creator>
  <cp:lastModifiedBy>안성 정</cp:lastModifiedBy>
  <cp:revision>8</cp:revision>
  <dcterms:created xsi:type="dcterms:W3CDTF">2026-10-12T15:53:20Z</dcterms:created>
  <dcterms:modified xsi:type="dcterms:W3CDTF">2026-10-13T08:02:26Z</dcterms:modified>
</cp:coreProperties>
</file>