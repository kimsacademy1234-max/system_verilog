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11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· HOMEWORK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0101 Sequence Detector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Button Debouncer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· Moore FSM   /   button_debouncer   /   FSM_RUN_STOP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 ·   2026.10.12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 ·  목차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목차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정리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검증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1554480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645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 개념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FPGA 버튼 회로 · Bounce · 현업 해결 방법 · SIPO · Tick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554480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 – 11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496312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94360" y="249631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587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· Filter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Impulse train · Spectrum 복사 · Aliasing · |H(f)| · AND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496312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p.12 – 18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400800" y="1554480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645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Homework-1 설계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· Moore State Diagram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1554480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p.19 – 20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496312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400800" y="249631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587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Homework-1 시뮬레이션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· Timing · 패턴 검출 · 패턴 없음 · next logic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2496312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p.21 – 29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438144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400800" y="3438144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529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Homework-2 설계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867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Switch → Button · Block Diagram · FSM · Debouncer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3438144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p.30 – 34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4379976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400800" y="4379976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4471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Homework-2 시뮬레이션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809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Pulse · Shift · 비동기 입력 · 최소 유지 시간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4379976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p.35 – 40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5321808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6400800" y="5321808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54132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5751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결과 · 고찰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0" y="5321808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E18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FPGA 버튼 회로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Button Pulls the FPGA Pin High Through a Contact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630936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Button Input Circuit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1984248"/>
            <a:ext cx="6400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03120" y="1984248"/>
            <a:ext cx="0" cy="393192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048256" y="2377440"/>
            <a:ext cx="109728" cy="109728"/>
          </a:xfrm>
          <a:prstGeom prst="ellipse">
            <a:avLst/>
          </a:prstGeom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48256" y="3017520"/>
            <a:ext cx="109728" cy="109728"/>
          </a:xfrm>
          <a:prstGeom prst="ellipse">
            <a:avLst/>
          </a:prstGeom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810512" y="2633472"/>
            <a:ext cx="0" cy="237744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 flipH="1">
            <a:off x="1536192" y="2752344"/>
            <a:ext cx="2743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536192" y="2651760"/>
            <a:ext cx="0" cy="201168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664208" y="2286000"/>
            <a:ext cx="685800" cy="960120"/>
          </a:xfrm>
          <a:prstGeom prst="roundRect">
            <a:avLst>
              <a:gd name="adj" fmla="val 10667"/>
            </a:avLst>
          </a:prstGeom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65760" y="2395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Bounce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지점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Button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3127248"/>
            <a:ext cx="0" cy="713232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048256" y="3785616"/>
            <a:ext cx="109728" cy="1097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103120" y="3730752"/>
            <a:ext cx="2880360" cy="219456"/>
          </a:xfrm>
          <a:custGeom>
            <a:avLst/>
            <a:gdLst/>
            <a:ahLst/>
            <a:cxnLst/>
            <a:rect l="l" t="t" r="r" b="b"/>
            <a:pathLst>
              <a:path w="2880360" h="219456">
                <a:moveTo>
                  <a:pt x="0" y="109728"/>
                </a:moveTo>
                <a:lnTo>
                  <a:pt x="1005840" y="109728"/>
                </a:lnTo>
                <a:lnTo>
                  <a:pt x="1051560" y="0"/>
                </a:lnTo>
                <a:lnTo>
                  <a:pt x="1143000" y="219456"/>
                </a:lnTo>
                <a:lnTo>
                  <a:pt x="1234440" y="0"/>
                </a:lnTo>
                <a:lnTo>
                  <a:pt x="1325880" y="219456"/>
                </a:lnTo>
                <a:lnTo>
                  <a:pt x="1417320" y="0"/>
                </a:lnTo>
                <a:lnTo>
                  <a:pt x="1508760" y="219456"/>
                </a:lnTo>
                <a:lnTo>
                  <a:pt x="1600200" y="109728"/>
                </a:lnTo>
                <a:lnTo>
                  <a:pt x="2880360" y="109728"/>
                </a:lnTo>
              </a:path>
            </a:pathLst>
          </a:custGeom>
          <a:ln w="222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971800" y="3383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(series)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347472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98348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FPGA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 pin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93392" y="3840480"/>
            <a:ext cx="219456" cy="1554480"/>
          </a:xfrm>
          <a:custGeom>
            <a:avLst/>
            <a:gdLst/>
            <a:ahLst/>
            <a:cxnLst/>
            <a:rect l="l" t="t" r="r" b="b"/>
            <a:pathLst>
              <a:path w="219456" h="1554480">
                <a:moveTo>
                  <a:pt x="109728" y="0"/>
                </a:moveTo>
                <a:lnTo>
                  <a:pt x="109728" y="502920"/>
                </a:lnTo>
                <a:lnTo>
                  <a:pt x="0" y="548640"/>
                </a:lnTo>
                <a:lnTo>
                  <a:pt x="219456" y="640080"/>
                </a:lnTo>
                <a:lnTo>
                  <a:pt x="0" y="731520"/>
                </a:lnTo>
                <a:lnTo>
                  <a:pt x="219456" y="822960"/>
                </a:lnTo>
                <a:lnTo>
                  <a:pt x="0" y="914400"/>
                </a:lnTo>
                <a:lnTo>
                  <a:pt x="219456" y="1005840"/>
                </a:lnTo>
                <a:lnTo>
                  <a:pt x="109728" y="1097280"/>
                </a:lnTo>
                <a:lnTo>
                  <a:pt x="109728" y="1554480"/>
                </a:lnTo>
              </a:path>
            </a:pathLst>
          </a:custGeom>
          <a:ln w="222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2377440" y="4526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(pull-down)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83080" y="5394960"/>
            <a:ext cx="6400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901952" y="5486400"/>
            <a:ext cx="40233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011680" y="5577840"/>
            <a:ext cx="1828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737360" y="5650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49440" y="1188720"/>
            <a:ext cx="4846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077456" y="14859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077456" y="1485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61504" y="1188720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접점 연결 → pin = VCC → 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49440" y="2194560"/>
            <a:ext cx="4846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077456" y="24917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077456" y="2491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61504" y="2194560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</a:t>
            </a: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접점 분리 → pull-down R 경유 GND → 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949440" y="3200400"/>
            <a:ext cx="4846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077456" y="34975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077456" y="3497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461504" y="3200400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Series R</a:t>
            </a: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pin 유입 전류 제한 · 보호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49440" y="4251960"/>
            <a:ext cx="4846320" cy="2103120"/>
          </a:xfrm>
          <a:prstGeom prst="roundRect">
            <a:avLst>
              <a:gd name="adj" fmla="val 217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178040" y="4407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= 금속 판의 기계적 충돌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48463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 순간 탄성 반발 → 붙었다 떨어짐 반복</a:t>
            </a:r>
            <a:endParaRPr lang="en-US" sz="1400" dirty="0"/>
          </a:p>
          <a:p>
            <a:pPr marL="177800" indent="-1778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 순간에도 진동 → 0 / 1 반복</a:t>
            </a:r>
            <a:endParaRPr lang="en-US" sz="1400" dirty="0"/>
          </a:p>
          <a:p>
            <a:pPr marL="177800" indent="-1778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FPGA pin = 이 전압 변화를 그대로 수신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Bounce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 Bounce Repeats 0 / 1 at Push and Pop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763524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 Voltage → FPGA Input Level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Ideal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1810512"/>
            <a:ext cx="6400800" cy="292608"/>
          </a:xfrm>
          <a:custGeom>
            <a:avLst/>
            <a:gdLst/>
            <a:ahLst/>
            <a:cxnLst/>
            <a:rect l="l" t="t" r="r" b="b"/>
            <a:pathLst>
              <a:path w="6400800" h="292608">
                <a:moveTo>
                  <a:pt x="0" y="292608"/>
                </a:moveTo>
                <a:lnTo>
                  <a:pt x="640080" y="292608"/>
                </a:lnTo>
                <a:lnTo>
                  <a:pt x="640080" y="0"/>
                </a:lnTo>
                <a:lnTo>
                  <a:pt x="4480560" y="0"/>
                </a:lnTo>
                <a:lnTo>
                  <a:pt x="4480560" y="292608"/>
                </a:lnTo>
                <a:lnTo>
                  <a:pt x="6400800" y="292608"/>
                </a:lnTo>
              </a:path>
            </a:pathLst>
          </a:custGeom>
          <a:ln w="222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Voltage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17320" y="2866644"/>
            <a:ext cx="64008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417320" y="3396996"/>
            <a:ext cx="64008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863840" y="27477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V_IH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32781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17320" y="2468880"/>
            <a:ext cx="6394399" cy="1325880"/>
          </a:xfrm>
          <a:custGeom>
            <a:avLst/>
            <a:gdLst/>
            <a:ahLst/>
            <a:cxnLst/>
            <a:rect l="l" t="t" r="r" b="b"/>
            <a:pathLst>
              <a:path w="6394399" h="1325880">
                <a:moveTo>
                  <a:pt x="0" y="1325880"/>
                </a:moveTo>
                <a:lnTo>
                  <a:pt x="6401" y="1325880"/>
                </a:lnTo>
                <a:lnTo>
                  <a:pt x="12802" y="1325880"/>
                </a:lnTo>
                <a:lnTo>
                  <a:pt x="19202" y="1325880"/>
                </a:lnTo>
                <a:lnTo>
                  <a:pt x="25603" y="1325880"/>
                </a:lnTo>
                <a:lnTo>
                  <a:pt x="32004" y="1325880"/>
                </a:lnTo>
                <a:lnTo>
                  <a:pt x="38405" y="1325880"/>
                </a:lnTo>
                <a:lnTo>
                  <a:pt x="44806" y="1325880"/>
                </a:lnTo>
                <a:lnTo>
                  <a:pt x="51206" y="1325880"/>
                </a:lnTo>
                <a:lnTo>
                  <a:pt x="57607" y="1325880"/>
                </a:lnTo>
                <a:lnTo>
                  <a:pt x="64008" y="1325880"/>
                </a:lnTo>
                <a:lnTo>
                  <a:pt x="70409" y="1325880"/>
                </a:lnTo>
                <a:lnTo>
                  <a:pt x="76810" y="1325880"/>
                </a:lnTo>
                <a:lnTo>
                  <a:pt x="83210" y="1325880"/>
                </a:lnTo>
                <a:lnTo>
                  <a:pt x="89611" y="1325880"/>
                </a:lnTo>
                <a:lnTo>
                  <a:pt x="96012" y="1325880"/>
                </a:lnTo>
                <a:lnTo>
                  <a:pt x="102413" y="1325880"/>
                </a:lnTo>
                <a:lnTo>
                  <a:pt x="108814" y="1325880"/>
                </a:lnTo>
                <a:lnTo>
                  <a:pt x="115214" y="1325880"/>
                </a:lnTo>
                <a:lnTo>
                  <a:pt x="121615" y="1325880"/>
                </a:lnTo>
                <a:lnTo>
                  <a:pt x="128016" y="1325880"/>
                </a:lnTo>
                <a:lnTo>
                  <a:pt x="134417" y="1325880"/>
                </a:lnTo>
                <a:lnTo>
                  <a:pt x="140818" y="1325880"/>
                </a:lnTo>
                <a:lnTo>
                  <a:pt x="147218" y="1325880"/>
                </a:lnTo>
                <a:lnTo>
                  <a:pt x="153619" y="1325880"/>
                </a:lnTo>
                <a:lnTo>
                  <a:pt x="160020" y="1325880"/>
                </a:lnTo>
                <a:lnTo>
                  <a:pt x="166421" y="1325880"/>
                </a:lnTo>
                <a:lnTo>
                  <a:pt x="172822" y="1325880"/>
                </a:lnTo>
                <a:lnTo>
                  <a:pt x="179222" y="1325880"/>
                </a:lnTo>
                <a:lnTo>
                  <a:pt x="185623" y="1325880"/>
                </a:lnTo>
                <a:lnTo>
                  <a:pt x="192024" y="1325880"/>
                </a:lnTo>
                <a:lnTo>
                  <a:pt x="198425" y="1325880"/>
                </a:lnTo>
                <a:lnTo>
                  <a:pt x="204826" y="1325880"/>
                </a:lnTo>
                <a:lnTo>
                  <a:pt x="211226" y="1325880"/>
                </a:lnTo>
                <a:lnTo>
                  <a:pt x="217627" y="1325880"/>
                </a:lnTo>
                <a:lnTo>
                  <a:pt x="224028" y="1325880"/>
                </a:lnTo>
                <a:lnTo>
                  <a:pt x="230429" y="1325880"/>
                </a:lnTo>
                <a:lnTo>
                  <a:pt x="236830" y="1325880"/>
                </a:lnTo>
                <a:lnTo>
                  <a:pt x="243230" y="1325880"/>
                </a:lnTo>
                <a:lnTo>
                  <a:pt x="249631" y="1325880"/>
                </a:lnTo>
                <a:lnTo>
                  <a:pt x="256032" y="1325880"/>
                </a:lnTo>
                <a:lnTo>
                  <a:pt x="262433" y="1325880"/>
                </a:lnTo>
                <a:lnTo>
                  <a:pt x="268834" y="1325880"/>
                </a:lnTo>
                <a:lnTo>
                  <a:pt x="275234" y="1325880"/>
                </a:lnTo>
                <a:lnTo>
                  <a:pt x="281635" y="1325880"/>
                </a:lnTo>
                <a:lnTo>
                  <a:pt x="288036" y="1325880"/>
                </a:lnTo>
                <a:lnTo>
                  <a:pt x="294437" y="1325880"/>
                </a:lnTo>
                <a:lnTo>
                  <a:pt x="300838" y="1325880"/>
                </a:lnTo>
                <a:lnTo>
                  <a:pt x="307238" y="1325880"/>
                </a:lnTo>
                <a:lnTo>
                  <a:pt x="313639" y="1325880"/>
                </a:lnTo>
                <a:lnTo>
                  <a:pt x="320040" y="1325880"/>
                </a:lnTo>
                <a:lnTo>
                  <a:pt x="326441" y="1325880"/>
                </a:lnTo>
                <a:lnTo>
                  <a:pt x="332842" y="1325880"/>
                </a:lnTo>
                <a:lnTo>
                  <a:pt x="339242" y="1325880"/>
                </a:lnTo>
                <a:lnTo>
                  <a:pt x="345643" y="1325880"/>
                </a:lnTo>
                <a:lnTo>
                  <a:pt x="352044" y="1325880"/>
                </a:lnTo>
                <a:lnTo>
                  <a:pt x="358445" y="1325880"/>
                </a:lnTo>
                <a:lnTo>
                  <a:pt x="364846" y="1325880"/>
                </a:lnTo>
                <a:lnTo>
                  <a:pt x="371246" y="1325880"/>
                </a:lnTo>
                <a:lnTo>
                  <a:pt x="377647" y="1325880"/>
                </a:lnTo>
                <a:lnTo>
                  <a:pt x="384048" y="1325880"/>
                </a:lnTo>
                <a:lnTo>
                  <a:pt x="390449" y="1325880"/>
                </a:lnTo>
                <a:lnTo>
                  <a:pt x="396850" y="1325880"/>
                </a:lnTo>
                <a:lnTo>
                  <a:pt x="403250" y="1325880"/>
                </a:lnTo>
                <a:lnTo>
                  <a:pt x="409651" y="1325880"/>
                </a:lnTo>
                <a:lnTo>
                  <a:pt x="416052" y="1325880"/>
                </a:lnTo>
                <a:lnTo>
                  <a:pt x="422453" y="1325880"/>
                </a:lnTo>
                <a:lnTo>
                  <a:pt x="428854" y="1325880"/>
                </a:lnTo>
                <a:lnTo>
                  <a:pt x="435254" y="1325880"/>
                </a:lnTo>
                <a:lnTo>
                  <a:pt x="441655" y="1325880"/>
                </a:lnTo>
                <a:lnTo>
                  <a:pt x="448056" y="1325880"/>
                </a:lnTo>
                <a:lnTo>
                  <a:pt x="454457" y="1325880"/>
                </a:lnTo>
                <a:lnTo>
                  <a:pt x="460858" y="1325880"/>
                </a:lnTo>
                <a:lnTo>
                  <a:pt x="467258" y="1325880"/>
                </a:lnTo>
                <a:lnTo>
                  <a:pt x="473659" y="1325880"/>
                </a:lnTo>
                <a:lnTo>
                  <a:pt x="480060" y="1325880"/>
                </a:lnTo>
                <a:lnTo>
                  <a:pt x="486461" y="1325880"/>
                </a:lnTo>
                <a:lnTo>
                  <a:pt x="492862" y="1325880"/>
                </a:lnTo>
                <a:lnTo>
                  <a:pt x="499262" y="1325880"/>
                </a:lnTo>
                <a:lnTo>
                  <a:pt x="505663" y="1325880"/>
                </a:lnTo>
                <a:lnTo>
                  <a:pt x="512064" y="1325880"/>
                </a:lnTo>
                <a:lnTo>
                  <a:pt x="518465" y="1325880"/>
                </a:lnTo>
                <a:lnTo>
                  <a:pt x="524866" y="1325880"/>
                </a:lnTo>
                <a:lnTo>
                  <a:pt x="531266" y="1325880"/>
                </a:lnTo>
                <a:lnTo>
                  <a:pt x="537667" y="1325880"/>
                </a:lnTo>
                <a:lnTo>
                  <a:pt x="544068" y="1325880"/>
                </a:lnTo>
                <a:lnTo>
                  <a:pt x="550469" y="1325880"/>
                </a:lnTo>
                <a:lnTo>
                  <a:pt x="556870" y="1325880"/>
                </a:lnTo>
                <a:lnTo>
                  <a:pt x="563270" y="1325880"/>
                </a:lnTo>
                <a:lnTo>
                  <a:pt x="569671" y="1325880"/>
                </a:lnTo>
                <a:lnTo>
                  <a:pt x="576072" y="1325880"/>
                </a:lnTo>
                <a:lnTo>
                  <a:pt x="582473" y="1325880"/>
                </a:lnTo>
                <a:lnTo>
                  <a:pt x="588874" y="1325880"/>
                </a:lnTo>
                <a:lnTo>
                  <a:pt x="595274" y="1325880"/>
                </a:lnTo>
                <a:lnTo>
                  <a:pt x="601675" y="1325880"/>
                </a:lnTo>
                <a:lnTo>
                  <a:pt x="608076" y="1325880"/>
                </a:lnTo>
                <a:lnTo>
                  <a:pt x="614477" y="1325880"/>
                </a:lnTo>
                <a:lnTo>
                  <a:pt x="620878" y="1325880"/>
                </a:lnTo>
                <a:lnTo>
                  <a:pt x="627278" y="1325880"/>
                </a:lnTo>
                <a:lnTo>
                  <a:pt x="633679" y="1325880"/>
                </a:lnTo>
                <a:lnTo>
                  <a:pt x="640080" y="1060704"/>
                </a:lnTo>
                <a:lnTo>
                  <a:pt x="646481" y="678851"/>
                </a:lnTo>
                <a:lnTo>
                  <a:pt x="652882" y="434464"/>
                </a:lnTo>
                <a:lnTo>
                  <a:pt x="659282" y="278057"/>
                </a:lnTo>
                <a:lnTo>
                  <a:pt x="665683" y="177957"/>
                </a:lnTo>
                <a:lnTo>
                  <a:pt x="672084" y="113892"/>
                </a:lnTo>
                <a:lnTo>
                  <a:pt x="678485" y="72891"/>
                </a:lnTo>
                <a:lnTo>
                  <a:pt x="684886" y="46650"/>
                </a:lnTo>
                <a:lnTo>
                  <a:pt x="691286" y="29856"/>
                </a:lnTo>
                <a:lnTo>
                  <a:pt x="697687" y="19108"/>
                </a:lnTo>
                <a:lnTo>
                  <a:pt x="704088" y="12229"/>
                </a:lnTo>
                <a:lnTo>
                  <a:pt x="710489" y="7827"/>
                </a:lnTo>
                <a:lnTo>
                  <a:pt x="716890" y="5009"/>
                </a:lnTo>
                <a:lnTo>
                  <a:pt x="723290" y="3206"/>
                </a:lnTo>
                <a:lnTo>
                  <a:pt x="729691" y="2052"/>
                </a:lnTo>
                <a:lnTo>
                  <a:pt x="736092" y="1313"/>
                </a:lnTo>
                <a:lnTo>
                  <a:pt x="742493" y="840"/>
                </a:lnTo>
                <a:lnTo>
                  <a:pt x="748894" y="538"/>
                </a:lnTo>
                <a:lnTo>
                  <a:pt x="755294" y="344"/>
                </a:lnTo>
                <a:lnTo>
                  <a:pt x="761695" y="220"/>
                </a:lnTo>
                <a:lnTo>
                  <a:pt x="768096" y="141"/>
                </a:lnTo>
                <a:lnTo>
                  <a:pt x="774497" y="90"/>
                </a:lnTo>
                <a:lnTo>
                  <a:pt x="780898" y="58"/>
                </a:lnTo>
                <a:lnTo>
                  <a:pt x="787298" y="310797"/>
                </a:lnTo>
                <a:lnTo>
                  <a:pt x="793699" y="548707"/>
                </a:lnTo>
                <a:lnTo>
                  <a:pt x="800100" y="730857"/>
                </a:lnTo>
                <a:lnTo>
                  <a:pt x="806501" y="870316"/>
                </a:lnTo>
                <a:lnTo>
                  <a:pt x="812902" y="977089"/>
                </a:lnTo>
                <a:lnTo>
                  <a:pt x="819302" y="1058837"/>
                </a:lnTo>
                <a:lnTo>
                  <a:pt x="825703" y="1121425"/>
                </a:lnTo>
                <a:lnTo>
                  <a:pt x="832104" y="1169344"/>
                </a:lnTo>
                <a:lnTo>
                  <a:pt x="838505" y="1206032"/>
                </a:lnTo>
                <a:lnTo>
                  <a:pt x="844906" y="1234121"/>
                </a:lnTo>
                <a:lnTo>
                  <a:pt x="851306" y="1255627"/>
                </a:lnTo>
                <a:lnTo>
                  <a:pt x="857707" y="1272093"/>
                </a:lnTo>
                <a:lnTo>
                  <a:pt x="864108" y="1284699"/>
                </a:lnTo>
                <a:lnTo>
                  <a:pt x="870509" y="1294351"/>
                </a:lnTo>
                <a:lnTo>
                  <a:pt x="876910" y="828385"/>
                </a:lnTo>
                <a:lnTo>
                  <a:pt x="883310" y="530166"/>
                </a:lnTo>
                <a:lnTo>
                  <a:pt x="889711" y="339306"/>
                </a:lnTo>
                <a:lnTo>
                  <a:pt x="896112" y="217156"/>
                </a:lnTo>
                <a:lnTo>
                  <a:pt x="902513" y="138980"/>
                </a:lnTo>
                <a:lnTo>
                  <a:pt x="908914" y="88947"/>
                </a:lnTo>
                <a:lnTo>
                  <a:pt x="915314" y="56926"/>
                </a:lnTo>
                <a:lnTo>
                  <a:pt x="921715" y="36433"/>
                </a:lnTo>
                <a:lnTo>
                  <a:pt x="928116" y="23317"/>
                </a:lnTo>
                <a:lnTo>
                  <a:pt x="934517" y="14923"/>
                </a:lnTo>
                <a:lnTo>
                  <a:pt x="940918" y="9551"/>
                </a:lnTo>
                <a:lnTo>
                  <a:pt x="947318" y="6112"/>
                </a:lnTo>
                <a:lnTo>
                  <a:pt x="953719" y="3912"/>
                </a:lnTo>
                <a:lnTo>
                  <a:pt x="960120" y="2504"/>
                </a:lnTo>
                <a:lnTo>
                  <a:pt x="966521" y="1602"/>
                </a:lnTo>
                <a:lnTo>
                  <a:pt x="972922" y="1025"/>
                </a:lnTo>
                <a:lnTo>
                  <a:pt x="979322" y="311538"/>
                </a:lnTo>
                <a:lnTo>
                  <a:pt x="985723" y="549275"/>
                </a:lnTo>
                <a:lnTo>
                  <a:pt x="992124" y="731291"/>
                </a:lnTo>
                <a:lnTo>
                  <a:pt x="998525" y="870648"/>
                </a:lnTo>
                <a:lnTo>
                  <a:pt x="1004926" y="977343"/>
                </a:lnTo>
                <a:lnTo>
                  <a:pt x="1011326" y="1059031"/>
                </a:lnTo>
                <a:lnTo>
                  <a:pt x="1017727" y="1121574"/>
                </a:lnTo>
                <a:lnTo>
                  <a:pt x="1024128" y="1169458"/>
                </a:lnTo>
                <a:lnTo>
                  <a:pt x="1030529" y="1206120"/>
                </a:lnTo>
                <a:lnTo>
                  <a:pt x="1036930" y="1234188"/>
                </a:lnTo>
                <a:lnTo>
                  <a:pt x="1043330" y="1255679"/>
                </a:lnTo>
                <a:lnTo>
                  <a:pt x="1049731" y="803634"/>
                </a:lnTo>
                <a:lnTo>
                  <a:pt x="1056132" y="514326"/>
                </a:lnTo>
                <a:lnTo>
                  <a:pt x="1062533" y="329169"/>
                </a:lnTo>
                <a:lnTo>
                  <a:pt x="1068934" y="210668"/>
                </a:lnTo>
                <a:lnTo>
                  <a:pt x="1075334" y="134827"/>
                </a:lnTo>
                <a:lnTo>
                  <a:pt x="1081735" y="86290"/>
                </a:lnTo>
                <a:lnTo>
                  <a:pt x="1088136" y="55225"/>
                </a:lnTo>
                <a:lnTo>
                  <a:pt x="1094537" y="35344"/>
                </a:lnTo>
                <a:lnTo>
                  <a:pt x="1100938" y="22620"/>
                </a:lnTo>
                <a:lnTo>
                  <a:pt x="1107338" y="14477"/>
                </a:lnTo>
                <a:lnTo>
                  <a:pt x="1113739" y="321837"/>
                </a:lnTo>
                <a:lnTo>
                  <a:pt x="1120140" y="557160"/>
                </a:lnTo>
                <a:lnTo>
                  <a:pt x="1126541" y="737328"/>
                </a:lnTo>
                <a:lnTo>
                  <a:pt x="1132942" y="875270"/>
                </a:lnTo>
                <a:lnTo>
                  <a:pt x="1139342" y="980882"/>
                </a:lnTo>
                <a:lnTo>
                  <a:pt x="1145743" y="1061741"/>
                </a:lnTo>
                <a:lnTo>
                  <a:pt x="1152144" y="1123648"/>
                </a:lnTo>
                <a:lnTo>
                  <a:pt x="1158545" y="1171046"/>
                </a:lnTo>
                <a:lnTo>
                  <a:pt x="1164946" y="1207336"/>
                </a:lnTo>
                <a:lnTo>
                  <a:pt x="1171346" y="772695"/>
                </a:lnTo>
                <a:lnTo>
                  <a:pt x="1177747" y="494525"/>
                </a:lnTo>
                <a:lnTo>
                  <a:pt x="1184148" y="316496"/>
                </a:lnTo>
                <a:lnTo>
                  <a:pt x="1190549" y="202557"/>
                </a:lnTo>
                <a:lnTo>
                  <a:pt x="1196950" y="129637"/>
                </a:lnTo>
                <a:lnTo>
                  <a:pt x="1203350" y="82967"/>
                </a:lnTo>
                <a:lnTo>
                  <a:pt x="1209751" y="374275"/>
                </a:lnTo>
                <a:lnTo>
                  <a:pt x="1216152" y="597307"/>
                </a:lnTo>
                <a:lnTo>
                  <a:pt x="1222553" y="768067"/>
                </a:lnTo>
                <a:lnTo>
                  <a:pt x="1228954" y="898804"/>
                </a:lnTo>
                <a:lnTo>
                  <a:pt x="1235354" y="998900"/>
                </a:lnTo>
                <a:lnTo>
                  <a:pt x="1241755" y="1075536"/>
                </a:lnTo>
                <a:lnTo>
                  <a:pt x="1248156" y="1134210"/>
                </a:lnTo>
                <a:lnTo>
                  <a:pt x="1254557" y="725895"/>
                </a:lnTo>
                <a:lnTo>
                  <a:pt x="1260958" y="464573"/>
                </a:lnTo>
                <a:lnTo>
                  <a:pt x="1267358" y="297326"/>
                </a:lnTo>
                <a:lnTo>
                  <a:pt x="1273759" y="190289"/>
                </a:lnTo>
                <a:lnTo>
                  <a:pt x="1280160" y="121785"/>
                </a:lnTo>
                <a:lnTo>
                  <a:pt x="1286561" y="77942"/>
                </a:lnTo>
                <a:lnTo>
                  <a:pt x="1292962" y="49883"/>
                </a:lnTo>
                <a:lnTo>
                  <a:pt x="1299362" y="31925"/>
                </a:lnTo>
                <a:lnTo>
                  <a:pt x="1305763" y="20432"/>
                </a:lnTo>
                <a:lnTo>
                  <a:pt x="1312164" y="13077"/>
                </a:lnTo>
                <a:lnTo>
                  <a:pt x="1318565" y="8369"/>
                </a:lnTo>
                <a:lnTo>
                  <a:pt x="1324966" y="5356"/>
                </a:lnTo>
                <a:lnTo>
                  <a:pt x="1331366" y="3428"/>
                </a:lnTo>
                <a:lnTo>
                  <a:pt x="1337767" y="2194"/>
                </a:lnTo>
                <a:lnTo>
                  <a:pt x="1344168" y="1404"/>
                </a:lnTo>
                <a:lnTo>
                  <a:pt x="1350569" y="899"/>
                </a:lnTo>
                <a:lnTo>
                  <a:pt x="1356970" y="575"/>
                </a:lnTo>
                <a:lnTo>
                  <a:pt x="1363370" y="368"/>
                </a:lnTo>
                <a:lnTo>
                  <a:pt x="1369771" y="236"/>
                </a:lnTo>
                <a:lnTo>
                  <a:pt x="1376172" y="151"/>
                </a:lnTo>
                <a:lnTo>
                  <a:pt x="1382573" y="96"/>
                </a:lnTo>
                <a:lnTo>
                  <a:pt x="1388974" y="62"/>
                </a:lnTo>
                <a:lnTo>
                  <a:pt x="1395374" y="40"/>
                </a:lnTo>
                <a:lnTo>
                  <a:pt x="1401775" y="25"/>
                </a:lnTo>
                <a:lnTo>
                  <a:pt x="1408176" y="16"/>
                </a:lnTo>
                <a:lnTo>
                  <a:pt x="1414577" y="10"/>
                </a:lnTo>
                <a:lnTo>
                  <a:pt x="1420978" y="7"/>
                </a:lnTo>
                <a:lnTo>
                  <a:pt x="1427378" y="4"/>
                </a:lnTo>
                <a:lnTo>
                  <a:pt x="1433779" y="3"/>
                </a:lnTo>
                <a:lnTo>
                  <a:pt x="1440180" y="2"/>
                </a:lnTo>
                <a:lnTo>
                  <a:pt x="1446581" y="1"/>
                </a:lnTo>
                <a:lnTo>
                  <a:pt x="1452982" y="1"/>
                </a:lnTo>
                <a:lnTo>
                  <a:pt x="1459382" y="0"/>
                </a:lnTo>
                <a:lnTo>
                  <a:pt x="1465783" y="0"/>
                </a:lnTo>
                <a:lnTo>
                  <a:pt x="1472184" y="0"/>
                </a:lnTo>
                <a:lnTo>
                  <a:pt x="1478585" y="0"/>
                </a:lnTo>
                <a:lnTo>
                  <a:pt x="1484986" y="0"/>
                </a:lnTo>
                <a:lnTo>
                  <a:pt x="1491386" y="0"/>
                </a:lnTo>
                <a:lnTo>
                  <a:pt x="1497787" y="0"/>
                </a:lnTo>
                <a:lnTo>
                  <a:pt x="1504188" y="0"/>
                </a:lnTo>
                <a:lnTo>
                  <a:pt x="1510589" y="0"/>
                </a:lnTo>
                <a:lnTo>
                  <a:pt x="1516990" y="0"/>
                </a:lnTo>
                <a:lnTo>
                  <a:pt x="1523390" y="0"/>
                </a:lnTo>
                <a:lnTo>
                  <a:pt x="1529791" y="0"/>
                </a:lnTo>
                <a:lnTo>
                  <a:pt x="1536192" y="0"/>
                </a:lnTo>
                <a:lnTo>
                  <a:pt x="1542593" y="0"/>
                </a:lnTo>
                <a:lnTo>
                  <a:pt x="1548994" y="0"/>
                </a:lnTo>
                <a:lnTo>
                  <a:pt x="1555394" y="0"/>
                </a:lnTo>
                <a:lnTo>
                  <a:pt x="1561795" y="0"/>
                </a:lnTo>
                <a:lnTo>
                  <a:pt x="1568196" y="0"/>
                </a:lnTo>
                <a:lnTo>
                  <a:pt x="1574597" y="0"/>
                </a:lnTo>
                <a:lnTo>
                  <a:pt x="1580998" y="0"/>
                </a:lnTo>
                <a:lnTo>
                  <a:pt x="1587398" y="0"/>
                </a:lnTo>
                <a:lnTo>
                  <a:pt x="1593799" y="0"/>
                </a:lnTo>
                <a:lnTo>
                  <a:pt x="1600200" y="0"/>
                </a:lnTo>
                <a:lnTo>
                  <a:pt x="1606601" y="0"/>
                </a:lnTo>
                <a:lnTo>
                  <a:pt x="1613002" y="0"/>
                </a:lnTo>
                <a:lnTo>
                  <a:pt x="1619402" y="0"/>
                </a:lnTo>
                <a:lnTo>
                  <a:pt x="1625803" y="0"/>
                </a:lnTo>
                <a:lnTo>
                  <a:pt x="1632204" y="0"/>
                </a:lnTo>
                <a:lnTo>
                  <a:pt x="1638605" y="0"/>
                </a:lnTo>
                <a:lnTo>
                  <a:pt x="1645006" y="0"/>
                </a:lnTo>
                <a:lnTo>
                  <a:pt x="1651406" y="0"/>
                </a:lnTo>
                <a:lnTo>
                  <a:pt x="1657807" y="0"/>
                </a:lnTo>
                <a:lnTo>
                  <a:pt x="1664208" y="0"/>
                </a:lnTo>
                <a:lnTo>
                  <a:pt x="1670609" y="0"/>
                </a:lnTo>
                <a:lnTo>
                  <a:pt x="1677010" y="0"/>
                </a:lnTo>
                <a:lnTo>
                  <a:pt x="1683410" y="0"/>
                </a:lnTo>
                <a:lnTo>
                  <a:pt x="1689811" y="0"/>
                </a:lnTo>
                <a:lnTo>
                  <a:pt x="1696212" y="0"/>
                </a:lnTo>
                <a:lnTo>
                  <a:pt x="1702613" y="0"/>
                </a:lnTo>
                <a:lnTo>
                  <a:pt x="1709014" y="0"/>
                </a:lnTo>
                <a:lnTo>
                  <a:pt x="1715414" y="0"/>
                </a:lnTo>
                <a:lnTo>
                  <a:pt x="1721815" y="0"/>
                </a:lnTo>
                <a:lnTo>
                  <a:pt x="1728216" y="0"/>
                </a:lnTo>
                <a:lnTo>
                  <a:pt x="1734617" y="0"/>
                </a:lnTo>
                <a:lnTo>
                  <a:pt x="1741018" y="0"/>
                </a:lnTo>
                <a:lnTo>
                  <a:pt x="1747418" y="0"/>
                </a:lnTo>
                <a:lnTo>
                  <a:pt x="1753819" y="0"/>
                </a:lnTo>
                <a:lnTo>
                  <a:pt x="1760220" y="0"/>
                </a:lnTo>
                <a:lnTo>
                  <a:pt x="1766621" y="0"/>
                </a:lnTo>
                <a:lnTo>
                  <a:pt x="1773022" y="0"/>
                </a:lnTo>
                <a:lnTo>
                  <a:pt x="1779422" y="0"/>
                </a:lnTo>
                <a:lnTo>
                  <a:pt x="1785823" y="0"/>
                </a:lnTo>
                <a:lnTo>
                  <a:pt x="1792224" y="0"/>
                </a:lnTo>
                <a:lnTo>
                  <a:pt x="1798625" y="0"/>
                </a:lnTo>
                <a:lnTo>
                  <a:pt x="1805026" y="0"/>
                </a:lnTo>
                <a:lnTo>
                  <a:pt x="1811426" y="0"/>
                </a:lnTo>
                <a:lnTo>
                  <a:pt x="1817827" y="0"/>
                </a:lnTo>
                <a:lnTo>
                  <a:pt x="1824228" y="0"/>
                </a:lnTo>
                <a:lnTo>
                  <a:pt x="1830629" y="0"/>
                </a:lnTo>
                <a:lnTo>
                  <a:pt x="1837030" y="0"/>
                </a:lnTo>
                <a:lnTo>
                  <a:pt x="1843430" y="0"/>
                </a:lnTo>
                <a:lnTo>
                  <a:pt x="1849831" y="0"/>
                </a:lnTo>
                <a:lnTo>
                  <a:pt x="1856232" y="0"/>
                </a:lnTo>
                <a:lnTo>
                  <a:pt x="1862633" y="0"/>
                </a:lnTo>
                <a:lnTo>
                  <a:pt x="1869034" y="0"/>
                </a:lnTo>
                <a:lnTo>
                  <a:pt x="1875434" y="0"/>
                </a:lnTo>
                <a:lnTo>
                  <a:pt x="1881835" y="0"/>
                </a:lnTo>
                <a:lnTo>
                  <a:pt x="1888236" y="0"/>
                </a:lnTo>
                <a:lnTo>
                  <a:pt x="1894637" y="0"/>
                </a:lnTo>
                <a:lnTo>
                  <a:pt x="1901038" y="0"/>
                </a:lnTo>
                <a:lnTo>
                  <a:pt x="1907438" y="0"/>
                </a:lnTo>
                <a:lnTo>
                  <a:pt x="1913839" y="0"/>
                </a:lnTo>
                <a:lnTo>
                  <a:pt x="1920240" y="0"/>
                </a:lnTo>
                <a:lnTo>
                  <a:pt x="1926641" y="0"/>
                </a:lnTo>
                <a:lnTo>
                  <a:pt x="1933042" y="0"/>
                </a:lnTo>
                <a:lnTo>
                  <a:pt x="1939442" y="0"/>
                </a:lnTo>
                <a:lnTo>
                  <a:pt x="1945843" y="0"/>
                </a:lnTo>
                <a:lnTo>
                  <a:pt x="1952244" y="0"/>
                </a:lnTo>
                <a:lnTo>
                  <a:pt x="1958645" y="0"/>
                </a:lnTo>
                <a:lnTo>
                  <a:pt x="1965046" y="0"/>
                </a:lnTo>
                <a:lnTo>
                  <a:pt x="1971446" y="0"/>
                </a:lnTo>
                <a:lnTo>
                  <a:pt x="1977847" y="0"/>
                </a:lnTo>
                <a:lnTo>
                  <a:pt x="1984248" y="0"/>
                </a:lnTo>
                <a:lnTo>
                  <a:pt x="1990649" y="0"/>
                </a:lnTo>
                <a:lnTo>
                  <a:pt x="1997050" y="0"/>
                </a:lnTo>
                <a:lnTo>
                  <a:pt x="2003450" y="0"/>
                </a:lnTo>
                <a:lnTo>
                  <a:pt x="2009851" y="0"/>
                </a:lnTo>
                <a:lnTo>
                  <a:pt x="2016252" y="0"/>
                </a:lnTo>
                <a:lnTo>
                  <a:pt x="2022653" y="0"/>
                </a:lnTo>
                <a:lnTo>
                  <a:pt x="2029054" y="0"/>
                </a:lnTo>
                <a:lnTo>
                  <a:pt x="2035454" y="0"/>
                </a:lnTo>
                <a:lnTo>
                  <a:pt x="2041855" y="0"/>
                </a:lnTo>
                <a:lnTo>
                  <a:pt x="2048256" y="0"/>
                </a:lnTo>
                <a:lnTo>
                  <a:pt x="2054657" y="0"/>
                </a:lnTo>
                <a:lnTo>
                  <a:pt x="2061058" y="0"/>
                </a:lnTo>
                <a:lnTo>
                  <a:pt x="2067458" y="0"/>
                </a:lnTo>
                <a:lnTo>
                  <a:pt x="2073859" y="0"/>
                </a:lnTo>
                <a:lnTo>
                  <a:pt x="2080260" y="0"/>
                </a:lnTo>
                <a:lnTo>
                  <a:pt x="2086661" y="0"/>
                </a:lnTo>
                <a:lnTo>
                  <a:pt x="2093062" y="0"/>
                </a:lnTo>
                <a:lnTo>
                  <a:pt x="2099462" y="0"/>
                </a:lnTo>
                <a:lnTo>
                  <a:pt x="2105863" y="0"/>
                </a:lnTo>
                <a:lnTo>
                  <a:pt x="2112264" y="0"/>
                </a:lnTo>
                <a:lnTo>
                  <a:pt x="2118665" y="0"/>
                </a:lnTo>
                <a:lnTo>
                  <a:pt x="2125066" y="0"/>
                </a:lnTo>
                <a:lnTo>
                  <a:pt x="2131466" y="0"/>
                </a:lnTo>
                <a:lnTo>
                  <a:pt x="2137867" y="0"/>
                </a:lnTo>
                <a:lnTo>
                  <a:pt x="2144268" y="0"/>
                </a:lnTo>
                <a:lnTo>
                  <a:pt x="2150669" y="0"/>
                </a:lnTo>
                <a:lnTo>
                  <a:pt x="2157070" y="0"/>
                </a:lnTo>
                <a:lnTo>
                  <a:pt x="2163470" y="0"/>
                </a:lnTo>
                <a:lnTo>
                  <a:pt x="2169871" y="0"/>
                </a:lnTo>
                <a:lnTo>
                  <a:pt x="2176272" y="0"/>
                </a:lnTo>
                <a:lnTo>
                  <a:pt x="2182673" y="0"/>
                </a:lnTo>
                <a:lnTo>
                  <a:pt x="2189074" y="0"/>
                </a:lnTo>
                <a:lnTo>
                  <a:pt x="2195474" y="0"/>
                </a:lnTo>
                <a:lnTo>
                  <a:pt x="2201875" y="0"/>
                </a:lnTo>
                <a:lnTo>
                  <a:pt x="2208276" y="0"/>
                </a:lnTo>
                <a:lnTo>
                  <a:pt x="2214677" y="0"/>
                </a:lnTo>
                <a:lnTo>
                  <a:pt x="2221078" y="0"/>
                </a:lnTo>
                <a:lnTo>
                  <a:pt x="2227478" y="0"/>
                </a:lnTo>
                <a:lnTo>
                  <a:pt x="2233879" y="0"/>
                </a:lnTo>
                <a:lnTo>
                  <a:pt x="2240280" y="0"/>
                </a:lnTo>
                <a:lnTo>
                  <a:pt x="2246681" y="0"/>
                </a:lnTo>
                <a:lnTo>
                  <a:pt x="2253082" y="0"/>
                </a:lnTo>
                <a:lnTo>
                  <a:pt x="2259482" y="0"/>
                </a:lnTo>
                <a:lnTo>
                  <a:pt x="2265883" y="0"/>
                </a:lnTo>
                <a:lnTo>
                  <a:pt x="2272284" y="0"/>
                </a:lnTo>
                <a:lnTo>
                  <a:pt x="2278685" y="0"/>
                </a:lnTo>
                <a:lnTo>
                  <a:pt x="2285086" y="0"/>
                </a:lnTo>
                <a:lnTo>
                  <a:pt x="2291486" y="0"/>
                </a:lnTo>
                <a:lnTo>
                  <a:pt x="2297887" y="0"/>
                </a:lnTo>
                <a:lnTo>
                  <a:pt x="2304288" y="0"/>
                </a:lnTo>
                <a:lnTo>
                  <a:pt x="2310689" y="0"/>
                </a:lnTo>
                <a:lnTo>
                  <a:pt x="2317090" y="0"/>
                </a:lnTo>
                <a:lnTo>
                  <a:pt x="2323490" y="0"/>
                </a:lnTo>
                <a:lnTo>
                  <a:pt x="2329891" y="0"/>
                </a:lnTo>
                <a:lnTo>
                  <a:pt x="2336292" y="0"/>
                </a:lnTo>
                <a:lnTo>
                  <a:pt x="2342693" y="0"/>
                </a:lnTo>
                <a:lnTo>
                  <a:pt x="2349094" y="0"/>
                </a:lnTo>
                <a:lnTo>
                  <a:pt x="2355494" y="0"/>
                </a:lnTo>
                <a:lnTo>
                  <a:pt x="2361895" y="0"/>
                </a:lnTo>
                <a:lnTo>
                  <a:pt x="2368296" y="0"/>
                </a:lnTo>
                <a:lnTo>
                  <a:pt x="2374697" y="0"/>
                </a:lnTo>
                <a:lnTo>
                  <a:pt x="2381098" y="0"/>
                </a:lnTo>
                <a:lnTo>
                  <a:pt x="2387498" y="0"/>
                </a:lnTo>
                <a:lnTo>
                  <a:pt x="2393899" y="0"/>
                </a:lnTo>
                <a:lnTo>
                  <a:pt x="2400300" y="0"/>
                </a:lnTo>
                <a:lnTo>
                  <a:pt x="2406701" y="0"/>
                </a:lnTo>
                <a:lnTo>
                  <a:pt x="2413102" y="0"/>
                </a:lnTo>
                <a:lnTo>
                  <a:pt x="2419502" y="0"/>
                </a:lnTo>
                <a:lnTo>
                  <a:pt x="2425903" y="0"/>
                </a:lnTo>
                <a:lnTo>
                  <a:pt x="2432304" y="0"/>
                </a:lnTo>
                <a:lnTo>
                  <a:pt x="2438705" y="0"/>
                </a:lnTo>
                <a:lnTo>
                  <a:pt x="2445106" y="0"/>
                </a:lnTo>
                <a:lnTo>
                  <a:pt x="2451506" y="0"/>
                </a:lnTo>
                <a:lnTo>
                  <a:pt x="2457907" y="0"/>
                </a:lnTo>
                <a:lnTo>
                  <a:pt x="2464308" y="0"/>
                </a:lnTo>
                <a:lnTo>
                  <a:pt x="2470709" y="0"/>
                </a:lnTo>
                <a:lnTo>
                  <a:pt x="2477110" y="0"/>
                </a:lnTo>
                <a:lnTo>
                  <a:pt x="2483510" y="0"/>
                </a:lnTo>
                <a:lnTo>
                  <a:pt x="2489911" y="0"/>
                </a:lnTo>
                <a:lnTo>
                  <a:pt x="2496312" y="0"/>
                </a:lnTo>
                <a:lnTo>
                  <a:pt x="2502713" y="0"/>
                </a:lnTo>
                <a:lnTo>
                  <a:pt x="2509114" y="0"/>
                </a:lnTo>
                <a:lnTo>
                  <a:pt x="2515514" y="0"/>
                </a:lnTo>
                <a:lnTo>
                  <a:pt x="2521915" y="0"/>
                </a:lnTo>
                <a:lnTo>
                  <a:pt x="2528316" y="0"/>
                </a:lnTo>
                <a:lnTo>
                  <a:pt x="2534717" y="0"/>
                </a:lnTo>
                <a:lnTo>
                  <a:pt x="2541118" y="0"/>
                </a:lnTo>
                <a:lnTo>
                  <a:pt x="2547518" y="0"/>
                </a:lnTo>
                <a:lnTo>
                  <a:pt x="2553919" y="0"/>
                </a:lnTo>
                <a:lnTo>
                  <a:pt x="2560320" y="0"/>
                </a:lnTo>
                <a:lnTo>
                  <a:pt x="2566721" y="0"/>
                </a:lnTo>
                <a:lnTo>
                  <a:pt x="2573122" y="0"/>
                </a:lnTo>
                <a:lnTo>
                  <a:pt x="2579522" y="0"/>
                </a:lnTo>
                <a:lnTo>
                  <a:pt x="2585923" y="0"/>
                </a:lnTo>
                <a:lnTo>
                  <a:pt x="2592324" y="0"/>
                </a:lnTo>
                <a:lnTo>
                  <a:pt x="2598725" y="0"/>
                </a:lnTo>
                <a:lnTo>
                  <a:pt x="2605126" y="0"/>
                </a:lnTo>
                <a:lnTo>
                  <a:pt x="2611526" y="0"/>
                </a:lnTo>
                <a:lnTo>
                  <a:pt x="2617927" y="0"/>
                </a:lnTo>
                <a:lnTo>
                  <a:pt x="2624328" y="0"/>
                </a:lnTo>
                <a:lnTo>
                  <a:pt x="2630729" y="0"/>
                </a:lnTo>
                <a:lnTo>
                  <a:pt x="2637130" y="0"/>
                </a:lnTo>
                <a:lnTo>
                  <a:pt x="2643530" y="0"/>
                </a:lnTo>
                <a:lnTo>
                  <a:pt x="2649931" y="0"/>
                </a:lnTo>
                <a:lnTo>
                  <a:pt x="2656332" y="0"/>
                </a:lnTo>
                <a:lnTo>
                  <a:pt x="2662733" y="0"/>
                </a:lnTo>
                <a:lnTo>
                  <a:pt x="2669134" y="0"/>
                </a:lnTo>
                <a:lnTo>
                  <a:pt x="2675534" y="0"/>
                </a:lnTo>
                <a:lnTo>
                  <a:pt x="2681935" y="0"/>
                </a:lnTo>
                <a:lnTo>
                  <a:pt x="2688336" y="0"/>
                </a:lnTo>
                <a:lnTo>
                  <a:pt x="2694737" y="0"/>
                </a:lnTo>
                <a:lnTo>
                  <a:pt x="2701138" y="0"/>
                </a:lnTo>
                <a:lnTo>
                  <a:pt x="2707538" y="0"/>
                </a:lnTo>
                <a:lnTo>
                  <a:pt x="2713939" y="0"/>
                </a:lnTo>
                <a:lnTo>
                  <a:pt x="2720340" y="0"/>
                </a:lnTo>
                <a:lnTo>
                  <a:pt x="2726741" y="0"/>
                </a:lnTo>
                <a:lnTo>
                  <a:pt x="2733142" y="0"/>
                </a:lnTo>
                <a:lnTo>
                  <a:pt x="2739542" y="0"/>
                </a:lnTo>
                <a:lnTo>
                  <a:pt x="2745943" y="0"/>
                </a:lnTo>
                <a:lnTo>
                  <a:pt x="2752344" y="0"/>
                </a:lnTo>
                <a:lnTo>
                  <a:pt x="2758745" y="0"/>
                </a:lnTo>
                <a:lnTo>
                  <a:pt x="2765146" y="0"/>
                </a:lnTo>
                <a:lnTo>
                  <a:pt x="2771546" y="0"/>
                </a:lnTo>
                <a:lnTo>
                  <a:pt x="2777947" y="0"/>
                </a:lnTo>
                <a:lnTo>
                  <a:pt x="2784348" y="0"/>
                </a:lnTo>
                <a:lnTo>
                  <a:pt x="2790749" y="0"/>
                </a:lnTo>
                <a:lnTo>
                  <a:pt x="2797150" y="0"/>
                </a:lnTo>
                <a:lnTo>
                  <a:pt x="2803550" y="0"/>
                </a:lnTo>
                <a:lnTo>
                  <a:pt x="2809951" y="0"/>
                </a:lnTo>
                <a:lnTo>
                  <a:pt x="2816352" y="0"/>
                </a:lnTo>
                <a:lnTo>
                  <a:pt x="2822753" y="0"/>
                </a:lnTo>
                <a:lnTo>
                  <a:pt x="2829154" y="0"/>
                </a:lnTo>
                <a:lnTo>
                  <a:pt x="2835554" y="0"/>
                </a:lnTo>
                <a:lnTo>
                  <a:pt x="2841955" y="0"/>
                </a:lnTo>
                <a:lnTo>
                  <a:pt x="2848356" y="0"/>
                </a:lnTo>
                <a:lnTo>
                  <a:pt x="2854757" y="0"/>
                </a:lnTo>
                <a:lnTo>
                  <a:pt x="2861158" y="0"/>
                </a:lnTo>
                <a:lnTo>
                  <a:pt x="2867558" y="0"/>
                </a:lnTo>
                <a:lnTo>
                  <a:pt x="2873959" y="0"/>
                </a:lnTo>
                <a:lnTo>
                  <a:pt x="2880360" y="0"/>
                </a:lnTo>
                <a:lnTo>
                  <a:pt x="2886761" y="0"/>
                </a:lnTo>
                <a:lnTo>
                  <a:pt x="2893162" y="0"/>
                </a:lnTo>
                <a:lnTo>
                  <a:pt x="2899562" y="0"/>
                </a:lnTo>
                <a:lnTo>
                  <a:pt x="2905963" y="0"/>
                </a:lnTo>
                <a:lnTo>
                  <a:pt x="2912364" y="0"/>
                </a:lnTo>
                <a:lnTo>
                  <a:pt x="2918765" y="0"/>
                </a:lnTo>
                <a:lnTo>
                  <a:pt x="2925166" y="0"/>
                </a:lnTo>
                <a:lnTo>
                  <a:pt x="2931566" y="0"/>
                </a:lnTo>
                <a:lnTo>
                  <a:pt x="2937967" y="0"/>
                </a:lnTo>
                <a:lnTo>
                  <a:pt x="2944368" y="0"/>
                </a:lnTo>
                <a:lnTo>
                  <a:pt x="2950769" y="0"/>
                </a:lnTo>
                <a:lnTo>
                  <a:pt x="2957170" y="0"/>
                </a:lnTo>
                <a:lnTo>
                  <a:pt x="2963570" y="0"/>
                </a:lnTo>
                <a:lnTo>
                  <a:pt x="2969971" y="0"/>
                </a:lnTo>
                <a:lnTo>
                  <a:pt x="2976372" y="0"/>
                </a:lnTo>
                <a:lnTo>
                  <a:pt x="2982773" y="0"/>
                </a:lnTo>
                <a:lnTo>
                  <a:pt x="2989174" y="0"/>
                </a:lnTo>
                <a:lnTo>
                  <a:pt x="2995574" y="0"/>
                </a:lnTo>
                <a:lnTo>
                  <a:pt x="3001975" y="0"/>
                </a:lnTo>
                <a:lnTo>
                  <a:pt x="3008376" y="0"/>
                </a:lnTo>
                <a:lnTo>
                  <a:pt x="3014777" y="0"/>
                </a:lnTo>
                <a:lnTo>
                  <a:pt x="3021178" y="0"/>
                </a:lnTo>
                <a:lnTo>
                  <a:pt x="3027578" y="0"/>
                </a:lnTo>
                <a:lnTo>
                  <a:pt x="3033979" y="0"/>
                </a:lnTo>
                <a:lnTo>
                  <a:pt x="3040380" y="0"/>
                </a:lnTo>
                <a:lnTo>
                  <a:pt x="3046781" y="0"/>
                </a:lnTo>
                <a:lnTo>
                  <a:pt x="3053182" y="0"/>
                </a:lnTo>
                <a:lnTo>
                  <a:pt x="3059582" y="0"/>
                </a:lnTo>
                <a:lnTo>
                  <a:pt x="3065983" y="0"/>
                </a:lnTo>
                <a:lnTo>
                  <a:pt x="3072384" y="0"/>
                </a:lnTo>
                <a:lnTo>
                  <a:pt x="3078785" y="0"/>
                </a:lnTo>
                <a:lnTo>
                  <a:pt x="3085186" y="0"/>
                </a:lnTo>
                <a:lnTo>
                  <a:pt x="3091586" y="0"/>
                </a:lnTo>
                <a:lnTo>
                  <a:pt x="3097987" y="0"/>
                </a:lnTo>
                <a:lnTo>
                  <a:pt x="3104388" y="0"/>
                </a:lnTo>
                <a:lnTo>
                  <a:pt x="3110789" y="0"/>
                </a:lnTo>
                <a:lnTo>
                  <a:pt x="3117190" y="0"/>
                </a:lnTo>
                <a:lnTo>
                  <a:pt x="3123590" y="0"/>
                </a:lnTo>
                <a:lnTo>
                  <a:pt x="3129991" y="0"/>
                </a:lnTo>
                <a:lnTo>
                  <a:pt x="3136392" y="0"/>
                </a:lnTo>
                <a:lnTo>
                  <a:pt x="3142793" y="0"/>
                </a:lnTo>
                <a:lnTo>
                  <a:pt x="3149194" y="0"/>
                </a:lnTo>
                <a:lnTo>
                  <a:pt x="3155594" y="0"/>
                </a:lnTo>
                <a:lnTo>
                  <a:pt x="3161995" y="0"/>
                </a:lnTo>
                <a:lnTo>
                  <a:pt x="3168396" y="0"/>
                </a:lnTo>
                <a:lnTo>
                  <a:pt x="3174797" y="0"/>
                </a:lnTo>
                <a:lnTo>
                  <a:pt x="3181198" y="0"/>
                </a:lnTo>
                <a:lnTo>
                  <a:pt x="3187598" y="0"/>
                </a:lnTo>
                <a:lnTo>
                  <a:pt x="3193999" y="0"/>
                </a:lnTo>
                <a:lnTo>
                  <a:pt x="3200400" y="0"/>
                </a:lnTo>
                <a:lnTo>
                  <a:pt x="3206801" y="0"/>
                </a:lnTo>
                <a:lnTo>
                  <a:pt x="3213202" y="0"/>
                </a:lnTo>
                <a:lnTo>
                  <a:pt x="3219602" y="0"/>
                </a:lnTo>
                <a:lnTo>
                  <a:pt x="3226003" y="0"/>
                </a:lnTo>
                <a:lnTo>
                  <a:pt x="3232404" y="0"/>
                </a:lnTo>
                <a:lnTo>
                  <a:pt x="3238805" y="0"/>
                </a:lnTo>
                <a:lnTo>
                  <a:pt x="3245206" y="0"/>
                </a:lnTo>
                <a:lnTo>
                  <a:pt x="3251606" y="0"/>
                </a:lnTo>
                <a:lnTo>
                  <a:pt x="3258007" y="0"/>
                </a:lnTo>
                <a:lnTo>
                  <a:pt x="3264408" y="0"/>
                </a:lnTo>
                <a:lnTo>
                  <a:pt x="3270809" y="0"/>
                </a:lnTo>
                <a:lnTo>
                  <a:pt x="3277210" y="0"/>
                </a:lnTo>
                <a:lnTo>
                  <a:pt x="3283610" y="0"/>
                </a:lnTo>
                <a:lnTo>
                  <a:pt x="3290011" y="0"/>
                </a:lnTo>
                <a:lnTo>
                  <a:pt x="3296412" y="0"/>
                </a:lnTo>
                <a:lnTo>
                  <a:pt x="3302813" y="0"/>
                </a:lnTo>
                <a:lnTo>
                  <a:pt x="3309214" y="0"/>
                </a:lnTo>
                <a:lnTo>
                  <a:pt x="3315614" y="0"/>
                </a:lnTo>
                <a:lnTo>
                  <a:pt x="3322015" y="0"/>
                </a:lnTo>
                <a:lnTo>
                  <a:pt x="3328416" y="0"/>
                </a:lnTo>
                <a:lnTo>
                  <a:pt x="3334817" y="0"/>
                </a:lnTo>
                <a:lnTo>
                  <a:pt x="3341218" y="0"/>
                </a:lnTo>
                <a:lnTo>
                  <a:pt x="3347618" y="0"/>
                </a:lnTo>
                <a:lnTo>
                  <a:pt x="3354019" y="0"/>
                </a:lnTo>
                <a:lnTo>
                  <a:pt x="3360420" y="0"/>
                </a:lnTo>
                <a:lnTo>
                  <a:pt x="3366821" y="0"/>
                </a:lnTo>
                <a:lnTo>
                  <a:pt x="3373222" y="0"/>
                </a:lnTo>
                <a:lnTo>
                  <a:pt x="3379622" y="0"/>
                </a:lnTo>
                <a:lnTo>
                  <a:pt x="3386023" y="0"/>
                </a:lnTo>
                <a:lnTo>
                  <a:pt x="3392424" y="0"/>
                </a:lnTo>
                <a:lnTo>
                  <a:pt x="3398825" y="0"/>
                </a:lnTo>
                <a:lnTo>
                  <a:pt x="3405226" y="0"/>
                </a:lnTo>
                <a:lnTo>
                  <a:pt x="3411626" y="0"/>
                </a:lnTo>
                <a:lnTo>
                  <a:pt x="3418027" y="0"/>
                </a:lnTo>
                <a:lnTo>
                  <a:pt x="3424428" y="0"/>
                </a:lnTo>
                <a:lnTo>
                  <a:pt x="3430829" y="0"/>
                </a:lnTo>
                <a:lnTo>
                  <a:pt x="3437230" y="0"/>
                </a:lnTo>
                <a:lnTo>
                  <a:pt x="3443630" y="0"/>
                </a:lnTo>
                <a:lnTo>
                  <a:pt x="3450031" y="0"/>
                </a:lnTo>
                <a:lnTo>
                  <a:pt x="3456432" y="0"/>
                </a:lnTo>
                <a:lnTo>
                  <a:pt x="3462833" y="0"/>
                </a:lnTo>
                <a:lnTo>
                  <a:pt x="3469234" y="0"/>
                </a:lnTo>
                <a:lnTo>
                  <a:pt x="3475634" y="0"/>
                </a:lnTo>
                <a:lnTo>
                  <a:pt x="3482035" y="0"/>
                </a:lnTo>
                <a:lnTo>
                  <a:pt x="3488436" y="0"/>
                </a:lnTo>
                <a:lnTo>
                  <a:pt x="3494837" y="0"/>
                </a:lnTo>
                <a:lnTo>
                  <a:pt x="3501238" y="0"/>
                </a:lnTo>
                <a:lnTo>
                  <a:pt x="3507638" y="0"/>
                </a:lnTo>
                <a:lnTo>
                  <a:pt x="3514039" y="0"/>
                </a:lnTo>
                <a:lnTo>
                  <a:pt x="3520440" y="0"/>
                </a:lnTo>
                <a:lnTo>
                  <a:pt x="3526841" y="0"/>
                </a:lnTo>
                <a:lnTo>
                  <a:pt x="3533242" y="0"/>
                </a:lnTo>
                <a:lnTo>
                  <a:pt x="3539642" y="0"/>
                </a:lnTo>
                <a:lnTo>
                  <a:pt x="3546043" y="0"/>
                </a:lnTo>
                <a:lnTo>
                  <a:pt x="3552444" y="0"/>
                </a:lnTo>
                <a:lnTo>
                  <a:pt x="3558845" y="0"/>
                </a:lnTo>
                <a:lnTo>
                  <a:pt x="3565246" y="0"/>
                </a:lnTo>
                <a:lnTo>
                  <a:pt x="3571646" y="0"/>
                </a:lnTo>
                <a:lnTo>
                  <a:pt x="3578047" y="0"/>
                </a:lnTo>
                <a:lnTo>
                  <a:pt x="3584448" y="0"/>
                </a:lnTo>
                <a:lnTo>
                  <a:pt x="3590849" y="0"/>
                </a:lnTo>
                <a:lnTo>
                  <a:pt x="3597250" y="0"/>
                </a:lnTo>
                <a:lnTo>
                  <a:pt x="3603650" y="0"/>
                </a:lnTo>
                <a:lnTo>
                  <a:pt x="3610051" y="0"/>
                </a:lnTo>
                <a:lnTo>
                  <a:pt x="3616452" y="0"/>
                </a:lnTo>
                <a:lnTo>
                  <a:pt x="3622853" y="0"/>
                </a:lnTo>
                <a:lnTo>
                  <a:pt x="3629254" y="0"/>
                </a:lnTo>
                <a:lnTo>
                  <a:pt x="3635654" y="0"/>
                </a:lnTo>
                <a:lnTo>
                  <a:pt x="3642055" y="0"/>
                </a:lnTo>
                <a:lnTo>
                  <a:pt x="3648456" y="0"/>
                </a:lnTo>
                <a:lnTo>
                  <a:pt x="3654857" y="0"/>
                </a:lnTo>
                <a:lnTo>
                  <a:pt x="3661258" y="0"/>
                </a:lnTo>
                <a:lnTo>
                  <a:pt x="3667658" y="0"/>
                </a:lnTo>
                <a:lnTo>
                  <a:pt x="3674059" y="0"/>
                </a:lnTo>
                <a:lnTo>
                  <a:pt x="3680460" y="0"/>
                </a:lnTo>
                <a:lnTo>
                  <a:pt x="3686861" y="0"/>
                </a:lnTo>
                <a:lnTo>
                  <a:pt x="3693262" y="0"/>
                </a:lnTo>
                <a:lnTo>
                  <a:pt x="3699662" y="0"/>
                </a:lnTo>
                <a:lnTo>
                  <a:pt x="3706063" y="0"/>
                </a:lnTo>
                <a:lnTo>
                  <a:pt x="3712464" y="0"/>
                </a:lnTo>
                <a:lnTo>
                  <a:pt x="3718865" y="0"/>
                </a:lnTo>
                <a:lnTo>
                  <a:pt x="3725266" y="0"/>
                </a:lnTo>
                <a:lnTo>
                  <a:pt x="3731666" y="0"/>
                </a:lnTo>
                <a:lnTo>
                  <a:pt x="3738067" y="0"/>
                </a:lnTo>
                <a:lnTo>
                  <a:pt x="3744468" y="0"/>
                </a:lnTo>
                <a:lnTo>
                  <a:pt x="3750869" y="0"/>
                </a:lnTo>
                <a:lnTo>
                  <a:pt x="3757270" y="0"/>
                </a:lnTo>
                <a:lnTo>
                  <a:pt x="3763670" y="0"/>
                </a:lnTo>
                <a:lnTo>
                  <a:pt x="3770071" y="0"/>
                </a:lnTo>
                <a:lnTo>
                  <a:pt x="3776472" y="0"/>
                </a:lnTo>
                <a:lnTo>
                  <a:pt x="3782873" y="0"/>
                </a:lnTo>
                <a:lnTo>
                  <a:pt x="3789274" y="0"/>
                </a:lnTo>
                <a:lnTo>
                  <a:pt x="3795674" y="0"/>
                </a:lnTo>
                <a:lnTo>
                  <a:pt x="3802075" y="0"/>
                </a:lnTo>
                <a:lnTo>
                  <a:pt x="3808476" y="0"/>
                </a:lnTo>
                <a:lnTo>
                  <a:pt x="3814877" y="0"/>
                </a:lnTo>
                <a:lnTo>
                  <a:pt x="3821278" y="0"/>
                </a:lnTo>
                <a:lnTo>
                  <a:pt x="3827678" y="0"/>
                </a:lnTo>
                <a:lnTo>
                  <a:pt x="3834079" y="0"/>
                </a:lnTo>
                <a:lnTo>
                  <a:pt x="3840480" y="0"/>
                </a:lnTo>
                <a:lnTo>
                  <a:pt x="3846881" y="0"/>
                </a:lnTo>
                <a:lnTo>
                  <a:pt x="3853282" y="0"/>
                </a:lnTo>
                <a:lnTo>
                  <a:pt x="3859682" y="0"/>
                </a:lnTo>
                <a:lnTo>
                  <a:pt x="3866083" y="0"/>
                </a:lnTo>
                <a:lnTo>
                  <a:pt x="3872484" y="0"/>
                </a:lnTo>
                <a:lnTo>
                  <a:pt x="3878885" y="0"/>
                </a:lnTo>
                <a:lnTo>
                  <a:pt x="3885286" y="0"/>
                </a:lnTo>
                <a:lnTo>
                  <a:pt x="3891686" y="0"/>
                </a:lnTo>
                <a:lnTo>
                  <a:pt x="3898087" y="0"/>
                </a:lnTo>
                <a:lnTo>
                  <a:pt x="3904488" y="0"/>
                </a:lnTo>
                <a:lnTo>
                  <a:pt x="3910889" y="0"/>
                </a:lnTo>
                <a:lnTo>
                  <a:pt x="3917290" y="0"/>
                </a:lnTo>
                <a:lnTo>
                  <a:pt x="3923690" y="0"/>
                </a:lnTo>
                <a:lnTo>
                  <a:pt x="3930091" y="0"/>
                </a:lnTo>
                <a:lnTo>
                  <a:pt x="3936492" y="0"/>
                </a:lnTo>
                <a:lnTo>
                  <a:pt x="3942893" y="0"/>
                </a:lnTo>
                <a:lnTo>
                  <a:pt x="3949294" y="0"/>
                </a:lnTo>
                <a:lnTo>
                  <a:pt x="3955694" y="0"/>
                </a:lnTo>
                <a:lnTo>
                  <a:pt x="3962095" y="0"/>
                </a:lnTo>
                <a:lnTo>
                  <a:pt x="3968496" y="0"/>
                </a:lnTo>
                <a:lnTo>
                  <a:pt x="3974897" y="0"/>
                </a:lnTo>
                <a:lnTo>
                  <a:pt x="3981298" y="0"/>
                </a:lnTo>
                <a:lnTo>
                  <a:pt x="3987698" y="0"/>
                </a:lnTo>
                <a:lnTo>
                  <a:pt x="3994099" y="0"/>
                </a:lnTo>
                <a:lnTo>
                  <a:pt x="4000500" y="0"/>
                </a:lnTo>
                <a:lnTo>
                  <a:pt x="4006901" y="0"/>
                </a:lnTo>
                <a:lnTo>
                  <a:pt x="4013302" y="0"/>
                </a:lnTo>
                <a:lnTo>
                  <a:pt x="4019702" y="0"/>
                </a:lnTo>
                <a:lnTo>
                  <a:pt x="4026103" y="0"/>
                </a:lnTo>
                <a:lnTo>
                  <a:pt x="4032504" y="0"/>
                </a:lnTo>
                <a:lnTo>
                  <a:pt x="4038905" y="0"/>
                </a:lnTo>
                <a:lnTo>
                  <a:pt x="4045306" y="0"/>
                </a:lnTo>
                <a:lnTo>
                  <a:pt x="4051706" y="0"/>
                </a:lnTo>
                <a:lnTo>
                  <a:pt x="4058107" y="0"/>
                </a:lnTo>
                <a:lnTo>
                  <a:pt x="4064508" y="0"/>
                </a:lnTo>
                <a:lnTo>
                  <a:pt x="4070909" y="0"/>
                </a:lnTo>
                <a:lnTo>
                  <a:pt x="4077310" y="0"/>
                </a:lnTo>
                <a:lnTo>
                  <a:pt x="4083710" y="0"/>
                </a:lnTo>
                <a:lnTo>
                  <a:pt x="4090111" y="0"/>
                </a:lnTo>
                <a:lnTo>
                  <a:pt x="4096512" y="0"/>
                </a:lnTo>
                <a:lnTo>
                  <a:pt x="4102913" y="0"/>
                </a:lnTo>
                <a:lnTo>
                  <a:pt x="4109314" y="0"/>
                </a:lnTo>
                <a:lnTo>
                  <a:pt x="4115714" y="0"/>
                </a:lnTo>
                <a:lnTo>
                  <a:pt x="4122115" y="0"/>
                </a:lnTo>
                <a:lnTo>
                  <a:pt x="4128516" y="0"/>
                </a:lnTo>
                <a:lnTo>
                  <a:pt x="4134917" y="0"/>
                </a:lnTo>
                <a:lnTo>
                  <a:pt x="4141318" y="0"/>
                </a:lnTo>
                <a:lnTo>
                  <a:pt x="4147718" y="0"/>
                </a:lnTo>
                <a:lnTo>
                  <a:pt x="4154119" y="0"/>
                </a:lnTo>
                <a:lnTo>
                  <a:pt x="4160520" y="0"/>
                </a:lnTo>
                <a:lnTo>
                  <a:pt x="4166921" y="0"/>
                </a:lnTo>
                <a:lnTo>
                  <a:pt x="4173322" y="0"/>
                </a:lnTo>
                <a:lnTo>
                  <a:pt x="4179722" y="0"/>
                </a:lnTo>
                <a:lnTo>
                  <a:pt x="4186123" y="0"/>
                </a:lnTo>
                <a:lnTo>
                  <a:pt x="4192524" y="0"/>
                </a:lnTo>
                <a:lnTo>
                  <a:pt x="4198925" y="0"/>
                </a:lnTo>
                <a:lnTo>
                  <a:pt x="4205326" y="0"/>
                </a:lnTo>
                <a:lnTo>
                  <a:pt x="4211726" y="0"/>
                </a:lnTo>
                <a:lnTo>
                  <a:pt x="4218127" y="0"/>
                </a:lnTo>
                <a:lnTo>
                  <a:pt x="4224528" y="0"/>
                </a:lnTo>
                <a:lnTo>
                  <a:pt x="4230929" y="0"/>
                </a:lnTo>
                <a:lnTo>
                  <a:pt x="4237330" y="0"/>
                </a:lnTo>
                <a:lnTo>
                  <a:pt x="4243730" y="0"/>
                </a:lnTo>
                <a:lnTo>
                  <a:pt x="4250131" y="0"/>
                </a:lnTo>
                <a:lnTo>
                  <a:pt x="4256532" y="0"/>
                </a:lnTo>
                <a:lnTo>
                  <a:pt x="4262933" y="0"/>
                </a:lnTo>
                <a:lnTo>
                  <a:pt x="4269334" y="0"/>
                </a:lnTo>
                <a:lnTo>
                  <a:pt x="4275734" y="0"/>
                </a:lnTo>
                <a:lnTo>
                  <a:pt x="4282135" y="0"/>
                </a:lnTo>
                <a:lnTo>
                  <a:pt x="4288536" y="0"/>
                </a:lnTo>
                <a:lnTo>
                  <a:pt x="4294937" y="0"/>
                </a:lnTo>
                <a:lnTo>
                  <a:pt x="4301338" y="0"/>
                </a:lnTo>
                <a:lnTo>
                  <a:pt x="4307738" y="0"/>
                </a:lnTo>
                <a:lnTo>
                  <a:pt x="4314139" y="0"/>
                </a:lnTo>
                <a:lnTo>
                  <a:pt x="4320540" y="0"/>
                </a:lnTo>
                <a:lnTo>
                  <a:pt x="4326941" y="0"/>
                </a:lnTo>
                <a:lnTo>
                  <a:pt x="4333342" y="0"/>
                </a:lnTo>
                <a:lnTo>
                  <a:pt x="4339742" y="0"/>
                </a:lnTo>
                <a:lnTo>
                  <a:pt x="4346143" y="0"/>
                </a:lnTo>
                <a:lnTo>
                  <a:pt x="4352544" y="0"/>
                </a:lnTo>
                <a:lnTo>
                  <a:pt x="4358945" y="0"/>
                </a:lnTo>
                <a:lnTo>
                  <a:pt x="4365346" y="0"/>
                </a:lnTo>
                <a:lnTo>
                  <a:pt x="4371746" y="0"/>
                </a:lnTo>
                <a:lnTo>
                  <a:pt x="4378147" y="0"/>
                </a:lnTo>
                <a:lnTo>
                  <a:pt x="4384548" y="0"/>
                </a:lnTo>
                <a:lnTo>
                  <a:pt x="4390949" y="0"/>
                </a:lnTo>
                <a:lnTo>
                  <a:pt x="4397350" y="0"/>
                </a:lnTo>
                <a:lnTo>
                  <a:pt x="4403750" y="0"/>
                </a:lnTo>
                <a:lnTo>
                  <a:pt x="4410151" y="0"/>
                </a:lnTo>
                <a:lnTo>
                  <a:pt x="4416552" y="0"/>
                </a:lnTo>
                <a:lnTo>
                  <a:pt x="4422953" y="0"/>
                </a:lnTo>
                <a:lnTo>
                  <a:pt x="4429354" y="0"/>
                </a:lnTo>
                <a:lnTo>
                  <a:pt x="4435754" y="0"/>
                </a:lnTo>
                <a:lnTo>
                  <a:pt x="4442155" y="0"/>
                </a:lnTo>
                <a:lnTo>
                  <a:pt x="4448556" y="0"/>
                </a:lnTo>
                <a:lnTo>
                  <a:pt x="4454957" y="0"/>
                </a:lnTo>
                <a:lnTo>
                  <a:pt x="4461358" y="0"/>
                </a:lnTo>
                <a:lnTo>
                  <a:pt x="4467758" y="0"/>
                </a:lnTo>
                <a:lnTo>
                  <a:pt x="4474159" y="0"/>
                </a:lnTo>
                <a:lnTo>
                  <a:pt x="4480560" y="0"/>
                </a:lnTo>
                <a:lnTo>
                  <a:pt x="4486961" y="310753"/>
                </a:lnTo>
                <a:lnTo>
                  <a:pt x="4493362" y="548673"/>
                </a:lnTo>
                <a:lnTo>
                  <a:pt x="4499762" y="730831"/>
                </a:lnTo>
                <a:lnTo>
                  <a:pt x="4506163" y="870296"/>
                </a:lnTo>
                <a:lnTo>
                  <a:pt x="4512564" y="977073"/>
                </a:lnTo>
                <a:lnTo>
                  <a:pt x="4518965" y="1058825"/>
                </a:lnTo>
                <a:lnTo>
                  <a:pt x="4525366" y="1121416"/>
                </a:lnTo>
                <a:lnTo>
                  <a:pt x="4531766" y="1169337"/>
                </a:lnTo>
                <a:lnTo>
                  <a:pt x="4538167" y="1206027"/>
                </a:lnTo>
                <a:lnTo>
                  <a:pt x="4544568" y="1234117"/>
                </a:lnTo>
                <a:lnTo>
                  <a:pt x="4550969" y="1255624"/>
                </a:lnTo>
                <a:lnTo>
                  <a:pt x="4557370" y="1272091"/>
                </a:lnTo>
                <a:lnTo>
                  <a:pt x="4563770" y="814138"/>
                </a:lnTo>
                <a:lnTo>
                  <a:pt x="4570171" y="521048"/>
                </a:lnTo>
                <a:lnTo>
                  <a:pt x="4576572" y="333471"/>
                </a:lnTo>
                <a:lnTo>
                  <a:pt x="4582973" y="213421"/>
                </a:lnTo>
                <a:lnTo>
                  <a:pt x="4589374" y="136590"/>
                </a:lnTo>
                <a:lnTo>
                  <a:pt x="4595774" y="87417"/>
                </a:lnTo>
                <a:lnTo>
                  <a:pt x="4602175" y="55947"/>
                </a:lnTo>
                <a:lnTo>
                  <a:pt x="4608576" y="35806"/>
                </a:lnTo>
                <a:lnTo>
                  <a:pt x="4614977" y="22916"/>
                </a:lnTo>
                <a:lnTo>
                  <a:pt x="4621378" y="14666"/>
                </a:lnTo>
                <a:lnTo>
                  <a:pt x="4627778" y="321982"/>
                </a:lnTo>
                <a:lnTo>
                  <a:pt x="4634179" y="557271"/>
                </a:lnTo>
                <a:lnTo>
                  <a:pt x="4640580" y="737413"/>
                </a:lnTo>
                <a:lnTo>
                  <a:pt x="4646981" y="875335"/>
                </a:lnTo>
                <a:lnTo>
                  <a:pt x="4653382" y="980932"/>
                </a:lnTo>
                <a:lnTo>
                  <a:pt x="4659782" y="1061779"/>
                </a:lnTo>
                <a:lnTo>
                  <a:pt x="4666183" y="1123678"/>
                </a:lnTo>
                <a:lnTo>
                  <a:pt x="4672584" y="1171069"/>
                </a:lnTo>
                <a:lnTo>
                  <a:pt x="4678985" y="1207353"/>
                </a:lnTo>
                <a:lnTo>
                  <a:pt x="4685386" y="1235133"/>
                </a:lnTo>
                <a:lnTo>
                  <a:pt x="4691786" y="1256401"/>
                </a:lnTo>
                <a:lnTo>
                  <a:pt x="4698187" y="1272685"/>
                </a:lnTo>
                <a:lnTo>
                  <a:pt x="4704588" y="814519"/>
                </a:lnTo>
                <a:lnTo>
                  <a:pt x="4710989" y="521292"/>
                </a:lnTo>
                <a:lnTo>
                  <a:pt x="4717390" y="333627"/>
                </a:lnTo>
                <a:lnTo>
                  <a:pt x="4723790" y="213521"/>
                </a:lnTo>
                <a:lnTo>
                  <a:pt x="4730191" y="136654"/>
                </a:lnTo>
                <a:lnTo>
                  <a:pt x="4736592" y="87458"/>
                </a:lnTo>
                <a:lnTo>
                  <a:pt x="4742993" y="377713"/>
                </a:lnTo>
                <a:lnTo>
                  <a:pt x="4749394" y="599940"/>
                </a:lnTo>
                <a:lnTo>
                  <a:pt x="4755794" y="770082"/>
                </a:lnTo>
                <a:lnTo>
                  <a:pt x="4762195" y="900347"/>
                </a:lnTo>
                <a:lnTo>
                  <a:pt x="4768596" y="1000081"/>
                </a:lnTo>
                <a:lnTo>
                  <a:pt x="4774997" y="1076441"/>
                </a:lnTo>
                <a:lnTo>
                  <a:pt x="4781398" y="1134903"/>
                </a:lnTo>
                <a:lnTo>
                  <a:pt x="4787798" y="1179663"/>
                </a:lnTo>
                <a:lnTo>
                  <a:pt x="4794199" y="1213933"/>
                </a:lnTo>
                <a:lnTo>
                  <a:pt x="4800600" y="1240170"/>
                </a:lnTo>
                <a:lnTo>
                  <a:pt x="4807001" y="1260259"/>
                </a:lnTo>
                <a:lnTo>
                  <a:pt x="4813402" y="1275639"/>
                </a:lnTo>
                <a:lnTo>
                  <a:pt x="4819802" y="1287414"/>
                </a:lnTo>
                <a:lnTo>
                  <a:pt x="4826203" y="1296429"/>
                </a:lnTo>
                <a:lnTo>
                  <a:pt x="4832604" y="1303332"/>
                </a:lnTo>
                <a:lnTo>
                  <a:pt x="4839005" y="1308617"/>
                </a:lnTo>
                <a:lnTo>
                  <a:pt x="4845406" y="1312663"/>
                </a:lnTo>
                <a:lnTo>
                  <a:pt x="4851806" y="1315761"/>
                </a:lnTo>
                <a:lnTo>
                  <a:pt x="4858207" y="1318132"/>
                </a:lnTo>
                <a:lnTo>
                  <a:pt x="4864608" y="1319948"/>
                </a:lnTo>
                <a:lnTo>
                  <a:pt x="4871009" y="1321338"/>
                </a:lnTo>
                <a:lnTo>
                  <a:pt x="4877410" y="1322403"/>
                </a:lnTo>
                <a:lnTo>
                  <a:pt x="4883810" y="1323218"/>
                </a:lnTo>
                <a:lnTo>
                  <a:pt x="4890211" y="1323842"/>
                </a:lnTo>
                <a:lnTo>
                  <a:pt x="4896612" y="1324319"/>
                </a:lnTo>
                <a:lnTo>
                  <a:pt x="4903013" y="1324685"/>
                </a:lnTo>
                <a:lnTo>
                  <a:pt x="4909414" y="1324965"/>
                </a:lnTo>
                <a:lnTo>
                  <a:pt x="4915814" y="1325180"/>
                </a:lnTo>
                <a:lnTo>
                  <a:pt x="4922215" y="1325344"/>
                </a:lnTo>
                <a:lnTo>
                  <a:pt x="4928616" y="1325469"/>
                </a:lnTo>
                <a:lnTo>
                  <a:pt x="4935017" y="1325566"/>
                </a:lnTo>
                <a:lnTo>
                  <a:pt x="4941418" y="1325639"/>
                </a:lnTo>
                <a:lnTo>
                  <a:pt x="4947818" y="1325696"/>
                </a:lnTo>
                <a:lnTo>
                  <a:pt x="4954219" y="1325739"/>
                </a:lnTo>
                <a:lnTo>
                  <a:pt x="4960620" y="1325772"/>
                </a:lnTo>
                <a:lnTo>
                  <a:pt x="4967021" y="1325797"/>
                </a:lnTo>
                <a:lnTo>
                  <a:pt x="4973422" y="1325817"/>
                </a:lnTo>
                <a:lnTo>
                  <a:pt x="4979822" y="1325832"/>
                </a:lnTo>
                <a:lnTo>
                  <a:pt x="4986223" y="1325843"/>
                </a:lnTo>
                <a:lnTo>
                  <a:pt x="4992624" y="1325852"/>
                </a:lnTo>
                <a:lnTo>
                  <a:pt x="4999025" y="1325858"/>
                </a:lnTo>
                <a:lnTo>
                  <a:pt x="5005426" y="1325863"/>
                </a:lnTo>
                <a:lnTo>
                  <a:pt x="5011826" y="1325867"/>
                </a:lnTo>
                <a:lnTo>
                  <a:pt x="5018227" y="1325870"/>
                </a:lnTo>
                <a:lnTo>
                  <a:pt x="5024628" y="1325873"/>
                </a:lnTo>
                <a:lnTo>
                  <a:pt x="5031029" y="1325874"/>
                </a:lnTo>
                <a:lnTo>
                  <a:pt x="5037430" y="1325876"/>
                </a:lnTo>
                <a:lnTo>
                  <a:pt x="5043830" y="1325877"/>
                </a:lnTo>
                <a:lnTo>
                  <a:pt x="5050231" y="1325877"/>
                </a:lnTo>
                <a:lnTo>
                  <a:pt x="5056632" y="1325878"/>
                </a:lnTo>
                <a:lnTo>
                  <a:pt x="5063033" y="1325878"/>
                </a:lnTo>
                <a:lnTo>
                  <a:pt x="5069434" y="1325879"/>
                </a:lnTo>
                <a:lnTo>
                  <a:pt x="5075834" y="1325879"/>
                </a:lnTo>
                <a:lnTo>
                  <a:pt x="5082235" y="1325879"/>
                </a:lnTo>
                <a:lnTo>
                  <a:pt x="5088636" y="1325879"/>
                </a:lnTo>
                <a:lnTo>
                  <a:pt x="5095037" y="1325880"/>
                </a:lnTo>
                <a:lnTo>
                  <a:pt x="5101438" y="1325880"/>
                </a:lnTo>
                <a:lnTo>
                  <a:pt x="5107838" y="1325880"/>
                </a:lnTo>
                <a:lnTo>
                  <a:pt x="5114239" y="1325880"/>
                </a:lnTo>
                <a:lnTo>
                  <a:pt x="5120640" y="1325880"/>
                </a:lnTo>
                <a:lnTo>
                  <a:pt x="5127041" y="1325880"/>
                </a:lnTo>
                <a:lnTo>
                  <a:pt x="5133442" y="1325880"/>
                </a:lnTo>
                <a:lnTo>
                  <a:pt x="5139842" y="1325880"/>
                </a:lnTo>
                <a:lnTo>
                  <a:pt x="5146243" y="1325880"/>
                </a:lnTo>
                <a:lnTo>
                  <a:pt x="5152644" y="1325880"/>
                </a:lnTo>
                <a:lnTo>
                  <a:pt x="5159045" y="1325880"/>
                </a:lnTo>
                <a:lnTo>
                  <a:pt x="5165446" y="1325880"/>
                </a:lnTo>
                <a:lnTo>
                  <a:pt x="5171846" y="1325880"/>
                </a:lnTo>
                <a:lnTo>
                  <a:pt x="5178247" y="1325880"/>
                </a:lnTo>
                <a:lnTo>
                  <a:pt x="5184648" y="1325880"/>
                </a:lnTo>
                <a:lnTo>
                  <a:pt x="5191049" y="1325880"/>
                </a:lnTo>
                <a:lnTo>
                  <a:pt x="5197450" y="1325880"/>
                </a:lnTo>
                <a:lnTo>
                  <a:pt x="5203850" y="1325880"/>
                </a:lnTo>
                <a:lnTo>
                  <a:pt x="5210251" y="1325880"/>
                </a:lnTo>
                <a:lnTo>
                  <a:pt x="5216652" y="1325880"/>
                </a:lnTo>
                <a:lnTo>
                  <a:pt x="5223053" y="1325880"/>
                </a:lnTo>
                <a:lnTo>
                  <a:pt x="5229454" y="1325880"/>
                </a:lnTo>
                <a:lnTo>
                  <a:pt x="5235854" y="1325880"/>
                </a:lnTo>
                <a:lnTo>
                  <a:pt x="5242255" y="1325880"/>
                </a:lnTo>
                <a:lnTo>
                  <a:pt x="5248656" y="1325880"/>
                </a:lnTo>
                <a:lnTo>
                  <a:pt x="5255057" y="1325880"/>
                </a:lnTo>
                <a:lnTo>
                  <a:pt x="5261458" y="1325880"/>
                </a:lnTo>
                <a:lnTo>
                  <a:pt x="5267858" y="1325880"/>
                </a:lnTo>
                <a:lnTo>
                  <a:pt x="5274259" y="1325880"/>
                </a:lnTo>
                <a:lnTo>
                  <a:pt x="5280660" y="1325880"/>
                </a:lnTo>
                <a:lnTo>
                  <a:pt x="5287061" y="1325880"/>
                </a:lnTo>
                <a:lnTo>
                  <a:pt x="5293462" y="1325880"/>
                </a:lnTo>
                <a:lnTo>
                  <a:pt x="5299862" y="1325880"/>
                </a:lnTo>
                <a:lnTo>
                  <a:pt x="5306263" y="1325880"/>
                </a:lnTo>
                <a:lnTo>
                  <a:pt x="5312664" y="1325880"/>
                </a:lnTo>
                <a:lnTo>
                  <a:pt x="5319065" y="1325880"/>
                </a:lnTo>
                <a:lnTo>
                  <a:pt x="5325466" y="1325880"/>
                </a:lnTo>
                <a:lnTo>
                  <a:pt x="5331866" y="1325880"/>
                </a:lnTo>
                <a:lnTo>
                  <a:pt x="5338267" y="1325880"/>
                </a:lnTo>
                <a:lnTo>
                  <a:pt x="5344668" y="1325880"/>
                </a:lnTo>
                <a:lnTo>
                  <a:pt x="5351069" y="1325880"/>
                </a:lnTo>
                <a:lnTo>
                  <a:pt x="5357470" y="1325880"/>
                </a:lnTo>
                <a:lnTo>
                  <a:pt x="5363870" y="1325880"/>
                </a:lnTo>
                <a:lnTo>
                  <a:pt x="5370271" y="1325880"/>
                </a:lnTo>
                <a:lnTo>
                  <a:pt x="5376672" y="1325880"/>
                </a:lnTo>
                <a:lnTo>
                  <a:pt x="5383073" y="1325880"/>
                </a:lnTo>
                <a:lnTo>
                  <a:pt x="5389474" y="1325880"/>
                </a:lnTo>
                <a:lnTo>
                  <a:pt x="5395874" y="1325880"/>
                </a:lnTo>
                <a:lnTo>
                  <a:pt x="5402275" y="1325880"/>
                </a:lnTo>
                <a:lnTo>
                  <a:pt x="5408676" y="1325880"/>
                </a:lnTo>
                <a:lnTo>
                  <a:pt x="5415077" y="1325880"/>
                </a:lnTo>
                <a:lnTo>
                  <a:pt x="5421478" y="1325880"/>
                </a:lnTo>
                <a:lnTo>
                  <a:pt x="5427878" y="1325880"/>
                </a:lnTo>
                <a:lnTo>
                  <a:pt x="5434279" y="1325880"/>
                </a:lnTo>
                <a:lnTo>
                  <a:pt x="5440680" y="1325880"/>
                </a:lnTo>
                <a:lnTo>
                  <a:pt x="5447081" y="1325880"/>
                </a:lnTo>
                <a:lnTo>
                  <a:pt x="5453482" y="1325880"/>
                </a:lnTo>
                <a:lnTo>
                  <a:pt x="5459882" y="1325880"/>
                </a:lnTo>
                <a:lnTo>
                  <a:pt x="5466283" y="1325880"/>
                </a:lnTo>
                <a:lnTo>
                  <a:pt x="5472684" y="1325880"/>
                </a:lnTo>
                <a:lnTo>
                  <a:pt x="5479085" y="1325880"/>
                </a:lnTo>
                <a:lnTo>
                  <a:pt x="5485486" y="1325880"/>
                </a:lnTo>
                <a:lnTo>
                  <a:pt x="5491886" y="1325880"/>
                </a:lnTo>
                <a:lnTo>
                  <a:pt x="5498287" y="1325880"/>
                </a:lnTo>
                <a:lnTo>
                  <a:pt x="5504688" y="1325880"/>
                </a:lnTo>
                <a:lnTo>
                  <a:pt x="5511089" y="1325880"/>
                </a:lnTo>
                <a:lnTo>
                  <a:pt x="5517490" y="1325880"/>
                </a:lnTo>
                <a:lnTo>
                  <a:pt x="5523890" y="1325880"/>
                </a:lnTo>
                <a:lnTo>
                  <a:pt x="5530291" y="1325880"/>
                </a:lnTo>
                <a:lnTo>
                  <a:pt x="5536692" y="1325880"/>
                </a:lnTo>
                <a:lnTo>
                  <a:pt x="5543093" y="1325880"/>
                </a:lnTo>
                <a:lnTo>
                  <a:pt x="5549494" y="1325880"/>
                </a:lnTo>
                <a:lnTo>
                  <a:pt x="5555894" y="1325880"/>
                </a:lnTo>
                <a:lnTo>
                  <a:pt x="5562295" y="1325880"/>
                </a:lnTo>
                <a:lnTo>
                  <a:pt x="5568696" y="1325880"/>
                </a:lnTo>
                <a:lnTo>
                  <a:pt x="5575097" y="1325880"/>
                </a:lnTo>
                <a:lnTo>
                  <a:pt x="5581498" y="1325880"/>
                </a:lnTo>
                <a:lnTo>
                  <a:pt x="5587898" y="1325880"/>
                </a:lnTo>
                <a:lnTo>
                  <a:pt x="5594299" y="1325880"/>
                </a:lnTo>
                <a:lnTo>
                  <a:pt x="5600700" y="1325880"/>
                </a:lnTo>
                <a:lnTo>
                  <a:pt x="5607101" y="1325880"/>
                </a:lnTo>
                <a:lnTo>
                  <a:pt x="5613502" y="1325880"/>
                </a:lnTo>
                <a:lnTo>
                  <a:pt x="5619902" y="1325880"/>
                </a:lnTo>
                <a:lnTo>
                  <a:pt x="5626303" y="1325880"/>
                </a:lnTo>
                <a:lnTo>
                  <a:pt x="5632704" y="1325880"/>
                </a:lnTo>
                <a:lnTo>
                  <a:pt x="5639105" y="1325880"/>
                </a:lnTo>
                <a:lnTo>
                  <a:pt x="5645506" y="1325880"/>
                </a:lnTo>
                <a:lnTo>
                  <a:pt x="5651906" y="1325880"/>
                </a:lnTo>
                <a:lnTo>
                  <a:pt x="5658307" y="1325880"/>
                </a:lnTo>
                <a:lnTo>
                  <a:pt x="5664708" y="1325880"/>
                </a:lnTo>
                <a:lnTo>
                  <a:pt x="5671109" y="1325880"/>
                </a:lnTo>
                <a:lnTo>
                  <a:pt x="5677510" y="1325880"/>
                </a:lnTo>
                <a:lnTo>
                  <a:pt x="5683910" y="1325880"/>
                </a:lnTo>
                <a:lnTo>
                  <a:pt x="5690311" y="1325880"/>
                </a:lnTo>
                <a:lnTo>
                  <a:pt x="5696712" y="1325880"/>
                </a:lnTo>
                <a:lnTo>
                  <a:pt x="5703113" y="1325880"/>
                </a:lnTo>
                <a:lnTo>
                  <a:pt x="5709514" y="1325880"/>
                </a:lnTo>
                <a:lnTo>
                  <a:pt x="5715914" y="1325880"/>
                </a:lnTo>
                <a:lnTo>
                  <a:pt x="5722315" y="1325880"/>
                </a:lnTo>
                <a:lnTo>
                  <a:pt x="5728716" y="1325880"/>
                </a:lnTo>
                <a:lnTo>
                  <a:pt x="5735117" y="1325880"/>
                </a:lnTo>
                <a:lnTo>
                  <a:pt x="5741518" y="1325880"/>
                </a:lnTo>
                <a:lnTo>
                  <a:pt x="5747918" y="1325880"/>
                </a:lnTo>
                <a:lnTo>
                  <a:pt x="5754319" y="1325880"/>
                </a:lnTo>
                <a:lnTo>
                  <a:pt x="5760720" y="1325880"/>
                </a:lnTo>
                <a:lnTo>
                  <a:pt x="5767121" y="1325880"/>
                </a:lnTo>
                <a:lnTo>
                  <a:pt x="5773522" y="1325880"/>
                </a:lnTo>
                <a:lnTo>
                  <a:pt x="5779922" y="1325880"/>
                </a:lnTo>
                <a:lnTo>
                  <a:pt x="5786323" y="1325880"/>
                </a:lnTo>
                <a:lnTo>
                  <a:pt x="5792724" y="1325880"/>
                </a:lnTo>
                <a:lnTo>
                  <a:pt x="5799125" y="1325880"/>
                </a:lnTo>
                <a:lnTo>
                  <a:pt x="5805526" y="1325880"/>
                </a:lnTo>
                <a:lnTo>
                  <a:pt x="5811926" y="1325880"/>
                </a:lnTo>
                <a:lnTo>
                  <a:pt x="5818327" y="1325880"/>
                </a:lnTo>
                <a:lnTo>
                  <a:pt x="5824728" y="1325880"/>
                </a:lnTo>
                <a:lnTo>
                  <a:pt x="5831129" y="1325880"/>
                </a:lnTo>
                <a:lnTo>
                  <a:pt x="5837530" y="1325880"/>
                </a:lnTo>
                <a:lnTo>
                  <a:pt x="5843930" y="1325880"/>
                </a:lnTo>
                <a:lnTo>
                  <a:pt x="5850331" y="1325880"/>
                </a:lnTo>
                <a:lnTo>
                  <a:pt x="5856732" y="1325880"/>
                </a:lnTo>
                <a:lnTo>
                  <a:pt x="5863133" y="1325880"/>
                </a:lnTo>
                <a:lnTo>
                  <a:pt x="5869534" y="1325880"/>
                </a:lnTo>
                <a:lnTo>
                  <a:pt x="5875934" y="1325880"/>
                </a:lnTo>
                <a:lnTo>
                  <a:pt x="5882335" y="1325880"/>
                </a:lnTo>
                <a:lnTo>
                  <a:pt x="5888736" y="1325880"/>
                </a:lnTo>
                <a:lnTo>
                  <a:pt x="5895137" y="1325880"/>
                </a:lnTo>
                <a:lnTo>
                  <a:pt x="5901538" y="1325880"/>
                </a:lnTo>
                <a:lnTo>
                  <a:pt x="5907938" y="1325880"/>
                </a:lnTo>
                <a:lnTo>
                  <a:pt x="5914339" y="1325880"/>
                </a:lnTo>
                <a:lnTo>
                  <a:pt x="5920740" y="1325880"/>
                </a:lnTo>
                <a:lnTo>
                  <a:pt x="5927141" y="1325880"/>
                </a:lnTo>
                <a:lnTo>
                  <a:pt x="5933542" y="1325880"/>
                </a:lnTo>
                <a:lnTo>
                  <a:pt x="5939942" y="1325880"/>
                </a:lnTo>
                <a:lnTo>
                  <a:pt x="5946343" y="1325880"/>
                </a:lnTo>
                <a:lnTo>
                  <a:pt x="5952744" y="1325880"/>
                </a:lnTo>
                <a:lnTo>
                  <a:pt x="5959145" y="1325880"/>
                </a:lnTo>
                <a:lnTo>
                  <a:pt x="5965546" y="1325880"/>
                </a:lnTo>
                <a:lnTo>
                  <a:pt x="5971946" y="1325880"/>
                </a:lnTo>
                <a:lnTo>
                  <a:pt x="5978347" y="1325880"/>
                </a:lnTo>
                <a:lnTo>
                  <a:pt x="5984748" y="1325880"/>
                </a:lnTo>
                <a:lnTo>
                  <a:pt x="5991149" y="1325880"/>
                </a:lnTo>
                <a:lnTo>
                  <a:pt x="5997550" y="1325880"/>
                </a:lnTo>
                <a:lnTo>
                  <a:pt x="6003950" y="1325880"/>
                </a:lnTo>
                <a:lnTo>
                  <a:pt x="6010351" y="1325880"/>
                </a:lnTo>
                <a:lnTo>
                  <a:pt x="6016752" y="1325880"/>
                </a:lnTo>
                <a:lnTo>
                  <a:pt x="6023153" y="1325880"/>
                </a:lnTo>
                <a:lnTo>
                  <a:pt x="6029554" y="1325880"/>
                </a:lnTo>
                <a:lnTo>
                  <a:pt x="6035954" y="1325880"/>
                </a:lnTo>
                <a:lnTo>
                  <a:pt x="6042355" y="1325880"/>
                </a:lnTo>
                <a:lnTo>
                  <a:pt x="6048756" y="1325880"/>
                </a:lnTo>
                <a:lnTo>
                  <a:pt x="6055157" y="1325880"/>
                </a:lnTo>
                <a:lnTo>
                  <a:pt x="6061558" y="1325880"/>
                </a:lnTo>
                <a:lnTo>
                  <a:pt x="6067958" y="1325880"/>
                </a:lnTo>
                <a:lnTo>
                  <a:pt x="6074359" y="1325880"/>
                </a:lnTo>
                <a:lnTo>
                  <a:pt x="6080760" y="1325880"/>
                </a:lnTo>
                <a:lnTo>
                  <a:pt x="6087161" y="1325880"/>
                </a:lnTo>
                <a:lnTo>
                  <a:pt x="6093562" y="1325880"/>
                </a:lnTo>
                <a:lnTo>
                  <a:pt x="6099962" y="1325880"/>
                </a:lnTo>
                <a:lnTo>
                  <a:pt x="6106363" y="1325880"/>
                </a:lnTo>
                <a:lnTo>
                  <a:pt x="6112764" y="1325880"/>
                </a:lnTo>
                <a:lnTo>
                  <a:pt x="6119165" y="1325880"/>
                </a:lnTo>
                <a:lnTo>
                  <a:pt x="6125566" y="1325880"/>
                </a:lnTo>
                <a:lnTo>
                  <a:pt x="6131966" y="1325880"/>
                </a:lnTo>
                <a:lnTo>
                  <a:pt x="6138367" y="1325880"/>
                </a:lnTo>
                <a:lnTo>
                  <a:pt x="6144768" y="1325880"/>
                </a:lnTo>
                <a:lnTo>
                  <a:pt x="6151169" y="1325880"/>
                </a:lnTo>
                <a:lnTo>
                  <a:pt x="6157570" y="1325880"/>
                </a:lnTo>
                <a:lnTo>
                  <a:pt x="6163970" y="1325880"/>
                </a:lnTo>
                <a:lnTo>
                  <a:pt x="6170371" y="1325880"/>
                </a:lnTo>
                <a:lnTo>
                  <a:pt x="6176772" y="1325880"/>
                </a:lnTo>
                <a:lnTo>
                  <a:pt x="6183173" y="1325880"/>
                </a:lnTo>
                <a:lnTo>
                  <a:pt x="6189574" y="1325880"/>
                </a:lnTo>
                <a:lnTo>
                  <a:pt x="6195974" y="1325880"/>
                </a:lnTo>
                <a:lnTo>
                  <a:pt x="6202375" y="1325880"/>
                </a:lnTo>
                <a:lnTo>
                  <a:pt x="6208776" y="1325880"/>
                </a:lnTo>
                <a:lnTo>
                  <a:pt x="6215177" y="1325880"/>
                </a:lnTo>
                <a:lnTo>
                  <a:pt x="6221578" y="1325880"/>
                </a:lnTo>
                <a:lnTo>
                  <a:pt x="6227978" y="1325880"/>
                </a:lnTo>
                <a:lnTo>
                  <a:pt x="6234379" y="1325880"/>
                </a:lnTo>
                <a:lnTo>
                  <a:pt x="6240780" y="1325880"/>
                </a:lnTo>
                <a:lnTo>
                  <a:pt x="6247181" y="1325880"/>
                </a:lnTo>
                <a:lnTo>
                  <a:pt x="6253582" y="1325880"/>
                </a:lnTo>
                <a:lnTo>
                  <a:pt x="6259982" y="1325880"/>
                </a:lnTo>
                <a:lnTo>
                  <a:pt x="6266383" y="1325880"/>
                </a:lnTo>
                <a:lnTo>
                  <a:pt x="6272784" y="1325880"/>
                </a:lnTo>
                <a:lnTo>
                  <a:pt x="6279185" y="1325880"/>
                </a:lnTo>
                <a:lnTo>
                  <a:pt x="6285586" y="1325880"/>
                </a:lnTo>
                <a:lnTo>
                  <a:pt x="6291986" y="1325880"/>
                </a:lnTo>
                <a:lnTo>
                  <a:pt x="6298387" y="1325880"/>
                </a:lnTo>
                <a:lnTo>
                  <a:pt x="6304788" y="1325880"/>
                </a:lnTo>
                <a:lnTo>
                  <a:pt x="6311189" y="1325880"/>
                </a:lnTo>
                <a:lnTo>
                  <a:pt x="6317590" y="1325880"/>
                </a:lnTo>
                <a:lnTo>
                  <a:pt x="6323990" y="1325880"/>
                </a:lnTo>
                <a:lnTo>
                  <a:pt x="6330391" y="1325880"/>
                </a:lnTo>
                <a:lnTo>
                  <a:pt x="6336792" y="1325880"/>
                </a:lnTo>
                <a:lnTo>
                  <a:pt x="6343193" y="1325880"/>
                </a:lnTo>
                <a:lnTo>
                  <a:pt x="6349594" y="1325880"/>
                </a:lnTo>
                <a:lnTo>
                  <a:pt x="6355994" y="1325880"/>
                </a:lnTo>
                <a:lnTo>
                  <a:pt x="6362395" y="1325880"/>
                </a:lnTo>
                <a:lnTo>
                  <a:pt x="6368796" y="1325880"/>
                </a:lnTo>
                <a:lnTo>
                  <a:pt x="6375197" y="1325880"/>
                </a:lnTo>
                <a:lnTo>
                  <a:pt x="6381598" y="1325880"/>
                </a:lnTo>
                <a:lnTo>
                  <a:pt x="6387998" y="1325880"/>
                </a:lnTo>
                <a:lnTo>
                  <a:pt x="6394399" y="1325880"/>
                </a:lnTo>
              </a:path>
            </a:pathLst>
          </a:custGeom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(logic)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4892040"/>
            <a:ext cx="6400800" cy="502920"/>
          </a:xfrm>
          <a:custGeom>
            <a:avLst/>
            <a:gdLst/>
            <a:ahLst/>
            <a:cxnLst/>
            <a:rect l="l" t="t" r="r" b="b"/>
            <a:pathLst>
              <a:path w="6400800" h="502920">
                <a:moveTo>
                  <a:pt x="0" y="502920"/>
                </a:moveTo>
                <a:lnTo>
                  <a:pt x="649681" y="502920"/>
                </a:lnTo>
                <a:lnTo>
                  <a:pt x="649681" y="0"/>
                </a:lnTo>
                <a:lnTo>
                  <a:pt x="800100" y="0"/>
                </a:lnTo>
                <a:lnTo>
                  <a:pt x="800100" y="502920"/>
                </a:lnTo>
                <a:lnTo>
                  <a:pt x="880110" y="502920"/>
                </a:lnTo>
                <a:lnTo>
                  <a:pt x="880110" y="0"/>
                </a:lnTo>
                <a:lnTo>
                  <a:pt x="992124" y="0"/>
                </a:lnTo>
                <a:lnTo>
                  <a:pt x="992124" y="502920"/>
                </a:lnTo>
                <a:lnTo>
                  <a:pt x="1052932" y="502920"/>
                </a:lnTo>
                <a:lnTo>
                  <a:pt x="1052932" y="0"/>
                </a:lnTo>
                <a:lnTo>
                  <a:pt x="1126541" y="0"/>
                </a:lnTo>
                <a:lnTo>
                  <a:pt x="1126541" y="502920"/>
                </a:lnTo>
                <a:lnTo>
                  <a:pt x="1174547" y="502920"/>
                </a:lnTo>
                <a:lnTo>
                  <a:pt x="1174547" y="0"/>
                </a:lnTo>
                <a:lnTo>
                  <a:pt x="1219352" y="0"/>
                </a:lnTo>
                <a:lnTo>
                  <a:pt x="1219352" y="502920"/>
                </a:lnTo>
                <a:lnTo>
                  <a:pt x="1257757" y="502920"/>
                </a:lnTo>
                <a:lnTo>
                  <a:pt x="1257757" y="0"/>
                </a:lnTo>
                <a:lnTo>
                  <a:pt x="4499762" y="0"/>
                </a:lnTo>
                <a:lnTo>
                  <a:pt x="4499762" y="502920"/>
                </a:lnTo>
                <a:lnTo>
                  <a:pt x="4566971" y="502920"/>
                </a:lnTo>
                <a:lnTo>
                  <a:pt x="4566971" y="0"/>
                </a:lnTo>
                <a:lnTo>
                  <a:pt x="4640580" y="0"/>
                </a:lnTo>
                <a:lnTo>
                  <a:pt x="4640580" y="502920"/>
                </a:lnTo>
                <a:lnTo>
                  <a:pt x="4707788" y="502920"/>
                </a:lnTo>
                <a:lnTo>
                  <a:pt x="4707788" y="0"/>
                </a:lnTo>
                <a:lnTo>
                  <a:pt x="4752594" y="0"/>
                </a:lnTo>
                <a:lnTo>
                  <a:pt x="4752594" y="502920"/>
                </a:lnTo>
                <a:lnTo>
                  <a:pt x="6400800" y="502920"/>
                </a:lnTo>
              </a:path>
            </a:pathLst>
          </a:custGeom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993392" y="1691640"/>
            <a:ext cx="736092" cy="3886200"/>
          </a:xfrm>
          <a:prstGeom prst="roundRect">
            <a:avLst>
              <a:gd name="adj" fmla="val 4969"/>
            </a:avLst>
          </a:prstGeom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833872" y="1691640"/>
            <a:ext cx="416052" cy="3886200"/>
          </a:xfrm>
          <a:prstGeom prst="roundRect">
            <a:avLst>
              <a:gd name="adj" fmla="val 8791"/>
            </a:avLst>
          </a:prstGeom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993392" y="5623560"/>
            <a:ext cx="736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50992" y="5623560"/>
            <a:ext cx="78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81528" y="30038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V_IL ~ V_IH 사이 = 불확정 구간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118872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458200" y="13167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1572768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Mechanical scattering noise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접점의 탄성 충돌로 한 번의 조작에 0 / 1 전이가 여러 번 발생하는 현상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75320" y="292608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458200" y="30540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원인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33101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Push: 접점 충돌 → 반발 → 재접촉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Pop: 접점 분리 순간 진동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전압이 V_IL ~ V_IH를 여러 번 통과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75320" y="466344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458200" y="4791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504748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· Pop 양쪽에서 발생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pulse 폭 · 개수 불규칙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push마다 다른 패턴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치명적인 이유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Press Becomes Several Rising Edges and Toggles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3842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 직결 시 FSM 동작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0" y="1965960"/>
            <a:ext cx="9601200" cy="411480"/>
          </a:xfrm>
          <a:custGeom>
            <a:avLst/>
            <a:gdLst/>
            <a:ahLst/>
            <a:cxnLst/>
            <a:rect l="l" t="t" r="r" b="b"/>
            <a:pathLst>
              <a:path w="9601200" h="411480">
                <a:moveTo>
                  <a:pt x="0" y="411480"/>
                </a:moveTo>
                <a:lnTo>
                  <a:pt x="533400" y="411480"/>
                </a:lnTo>
                <a:lnTo>
                  <a:pt x="533400" y="0"/>
                </a:lnTo>
                <a:lnTo>
                  <a:pt x="853440" y="0"/>
                </a:lnTo>
                <a:lnTo>
                  <a:pt x="853440" y="411480"/>
                </a:lnTo>
                <a:lnTo>
                  <a:pt x="1173480" y="411480"/>
                </a:lnTo>
                <a:lnTo>
                  <a:pt x="1173480" y="0"/>
                </a:lnTo>
                <a:lnTo>
                  <a:pt x="1493520" y="0"/>
                </a:lnTo>
                <a:lnTo>
                  <a:pt x="1493520" y="411480"/>
                </a:lnTo>
                <a:lnTo>
                  <a:pt x="1813560" y="411480"/>
                </a:lnTo>
                <a:lnTo>
                  <a:pt x="1813560" y="0"/>
                </a:lnTo>
                <a:lnTo>
                  <a:pt x="2080260" y="0"/>
                </a:lnTo>
                <a:lnTo>
                  <a:pt x="2080260" y="411480"/>
                </a:lnTo>
                <a:lnTo>
                  <a:pt x="2400300" y="411480"/>
                </a:lnTo>
                <a:lnTo>
                  <a:pt x="2400300" y="0"/>
                </a:lnTo>
                <a:lnTo>
                  <a:pt x="8641080" y="0"/>
                </a:lnTo>
                <a:lnTo>
                  <a:pt x="8641080" y="411480"/>
                </a:lnTo>
                <a:lnTo>
                  <a:pt x="9601200" y="411480"/>
                </a:lnTo>
              </a:path>
            </a:pathLst>
          </a:custGeom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234184" y="16459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34184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62200" y="1938528"/>
            <a:ext cx="0" cy="162763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874264" y="16459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874264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02280" y="1938528"/>
            <a:ext cx="0" cy="162763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14344" y="16459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514344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42360" y="1938528"/>
            <a:ext cx="0" cy="162763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101084" y="16459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101084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29100" y="1938528"/>
            <a:ext cx="0" cy="162763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state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828800" y="2834640"/>
            <a:ext cx="5334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828800" y="2834640"/>
            <a:ext cx="53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62200" y="2834640"/>
            <a:ext cx="6400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236220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02280" y="2834640"/>
            <a:ext cx="6400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300228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42360" y="2834640"/>
            <a:ext cx="58674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3642360" y="2834640"/>
            <a:ext cx="586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29100" y="2834640"/>
            <a:ext cx="72009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229100" y="2834640"/>
            <a:ext cx="7200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255520" y="3749040"/>
            <a:ext cx="2186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bounce 구간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08860" y="3703320"/>
            <a:ext cx="2080260" cy="91440"/>
          </a:xfrm>
          <a:custGeom>
            <a:avLst/>
            <a:gdLst/>
            <a:ahLst/>
            <a:cxnLst/>
            <a:rect l="l" t="t" r="r" b="b"/>
            <a:pathLst>
              <a:path w="2080260" h="91440">
                <a:moveTo>
                  <a:pt x="0" y="0"/>
                </a:moveTo>
                <a:lnTo>
                  <a:pt x="0" y="91440"/>
                </a:lnTo>
                <a:lnTo>
                  <a:pt x="2080260" y="91440"/>
                </a:lnTo>
                <a:lnTo>
                  <a:pt x="2080260" y="0"/>
                </a:lnTo>
              </a:path>
            </a:pathLst>
          </a:custGeom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5CDACC9-9A3F-4587-609D-24CCA39298A1}"/>
              </a:ext>
            </a:extLst>
          </p:cNvPr>
          <p:cNvGrpSpPr/>
          <p:nvPr/>
        </p:nvGrpSpPr>
        <p:grpSpPr>
          <a:xfrm>
            <a:off x="411480" y="4645161"/>
            <a:ext cx="11384280" cy="777240"/>
            <a:chOff x="411480" y="5559552"/>
            <a:chExt cx="11384280" cy="777240"/>
          </a:xfrm>
        </p:grpSpPr>
        <p:sp>
          <p:nvSpPr>
            <p:cNvPr id="41" name="Shape 39"/>
            <p:cNvSpPr/>
            <p:nvPr/>
          </p:nvSpPr>
          <p:spPr>
            <a:xfrm>
              <a:off x="411480" y="5559552"/>
              <a:ext cx="11384280" cy="77724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640080" y="5559552"/>
              <a:ext cx="10972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원인  </a:t>
              </a:r>
              <a:r>
                <a:rPr lang="en-US" sz="15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FPGA = 10 ns마다 i_btn sampling  ·  bounce pulse 폭 ≫ 10 ns  →  pulse 하나하나가 유효한 1로 인식</a:t>
              </a:r>
              <a:endParaRPr lang="en-US" sz="1500" b="1" dirty="0"/>
            </a:p>
          </p:txBody>
        </p:sp>
      </p:grpSp>
      <p:sp>
        <p:nvSpPr>
          <p:cNvPr id="43" name="Text 41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41</a:t>
            </a:r>
            <a:endParaRPr lang="en-US" sz="9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616CB3E-0CF6-A750-230B-C5C27D688275}"/>
              </a:ext>
            </a:extLst>
          </p:cNvPr>
          <p:cNvGrpSpPr/>
          <p:nvPr/>
        </p:nvGrpSpPr>
        <p:grpSpPr>
          <a:xfrm>
            <a:off x="411480" y="5541264"/>
            <a:ext cx="11384280" cy="777240"/>
            <a:chOff x="411480" y="5559552"/>
            <a:chExt cx="11384280" cy="777240"/>
          </a:xfrm>
        </p:grpSpPr>
        <p:sp>
          <p:nvSpPr>
            <p:cNvPr id="47" name="Shape 39">
              <a:extLst>
                <a:ext uri="{FF2B5EF4-FFF2-40B4-BE49-F238E27FC236}">
                  <a16:creationId xmlns:a16="http://schemas.microsoft.com/office/drawing/2014/main" id="{A89C5F94-A548-7E70-4BE0-166046215F39}"/>
                </a:ext>
              </a:extLst>
            </p:cNvPr>
            <p:cNvSpPr/>
            <p:nvPr/>
          </p:nvSpPr>
          <p:spPr>
            <a:xfrm>
              <a:off x="411480" y="5559552"/>
              <a:ext cx="11384280" cy="77724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0">
              <a:extLst>
                <a:ext uri="{FF2B5EF4-FFF2-40B4-BE49-F238E27FC236}">
                  <a16:creationId xmlns:a16="http://schemas.microsoft.com/office/drawing/2014/main" id="{E3CC9449-726A-FE8C-32E7-CD143367B414}"/>
                </a:ext>
              </a:extLst>
            </p:cNvPr>
            <p:cNvSpPr txBox="1"/>
            <p:nvPr/>
          </p:nvSpPr>
          <p:spPr>
            <a:xfrm>
              <a:off x="640080" y="5559552"/>
              <a:ext cx="10972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500" b="1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결과</a:t>
              </a:r>
              <a:r>
                <a:rPr lang="en-US" sz="1500" b="1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i_btn</a:t>
              </a:r>
              <a:r>
                <a:rPr lang="ko-KR" alt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의 </a:t>
              </a:r>
              <a:r>
                <a:rPr lang="en-US" altLang="ko-KR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bouncing</a:t>
              </a:r>
              <a:r>
                <a:rPr lang="ko-KR" alt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에 따라 </a:t>
              </a:r>
              <a:r>
                <a:rPr lang="en-US" altLang="ko-KR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toggling</a:t>
              </a:r>
              <a:r>
                <a:rPr lang="ko-KR" alt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및 </a:t>
              </a:r>
              <a:r>
                <a:rPr lang="en-US" altLang="ko-KR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state </a:t>
              </a:r>
              <a:r>
                <a:rPr lang="ko-KR" alt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변화</a:t>
              </a:r>
              <a:r>
                <a:rPr lang="en-US" altLang="ko-KR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/ </a:t>
              </a:r>
              <a:r>
                <a:rPr lang="ko-KR" alt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입력 시점에 따른 </a:t>
              </a:r>
              <a:r>
                <a:rPr lang="en-US" altLang="ko-KR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Metastability </a:t>
              </a:r>
              <a:r>
                <a:rPr lang="ko-KR" altLang="en-US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발생</a:t>
              </a:r>
              <a:r>
                <a:rPr lang="en-US" altLang="ko-KR" sz="1500" b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해결 방법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Ways to Debounce: RC Filter, Counter, Shift Register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783080" y="1188720"/>
            <a:ext cx="3291840" cy="516636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96596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RC + Schmitt trigger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회로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233172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91440"/>
                </a:moveTo>
                <a:lnTo>
                  <a:pt x="411480" y="91440"/>
                </a:lnTo>
                <a:lnTo>
                  <a:pt x="457200" y="0"/>
                </a:lnTo>
                <a:lnTo>
                  <a:pt x="530352" y="182880"/>
                </a:lnTo>
                <a:lnTo>
                  <a:pt x="603504" y="0"/>
                </a:lnTo>
                <a:lnTo>
                  <a:pt x="676656" y="182880"/>
                </a:lnTo>
                <a:lnTo>
                  <a:pt x="749808" y="0"/>
                </a:lnTo>
                <a:lnTo>
                  <a:pt x="822960" y="182880"/>
                </a:lnTo>
                <a:lnTo>
                  <a:pt x="914400" y="91440"/>
                </a:lnTo>
                <a:lnTo>
                  <a:pt x="1828800" y="91440"/>
                </a:lnTo>
              </a:path>
            </a:pathLst>
          </a:custGeom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514600" y="20848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0" cy="2743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63240" y="2697480"/>
            <a:ext cx="27432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63240" y="2788920"/>
            <a:ext cx="27432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383280" y="2615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148840"/>
            <a:ext cx="502920" cy="548640"/>
          </a:xfrm>
          <a:custGeom>
            <a:avLst/>
            <a:gdLst/>
            <a:ahLst/>
            <a:cxnLst/>
            <a:rect l="l" t="t" r="r" b="b"/>
            <a:pathLst>
              <a:path w="502920" h="548640">
                <a:moveTo>
                  <a:pt x="0" y="0"/>
                </a:moveTo>
                <a:lnTo>
                  <a:pt x="0" y="548640"/>
                </a:lnTo>
                <a:lnTo>
                  <a:pt x="502920" y="274320"/>
                </a:lnTo>
                <a:close/>
              </a:path>
            </a:pathLst>
          </a:custGeom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895344" y="2313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423160"/>
            <a:ext cx="5029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965960" y="304495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965960" y="309981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RC 시정수로 빠른 전압 변화 감쇠 + hysteresis 2단 문턱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965960" y="386791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965960" y="392277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 &gt; V_T+ → 1  ·  V &lt; V_T- → 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965960" y="469087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965960" y="47457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FPGA logic 불필요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965960" y="551383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965960" y="55686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추가 · 시정수 고정 (변경 = 보드 수정)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143500" y="1188720"/>
            <a:ext cx="3291840" cy="516636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32638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Counter 방식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326380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72100" y="2423160"/>
            <a:ext cx="5486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37210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20740" y="2057400"/>
            <a:ext cx="1463040" cy="731520"/>
          </a:xfrm>
          <a:prstGeom prst="rect">
            <a:avLst/>
          </a:prstGeom>
          <a:solidFill>
            <a:srgbClr val="F8FAFC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592074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== 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83780" y="2423160"/>
            <a:ext cx="82296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47522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26380" y="304495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326380" y="309981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≠ 출력 동안 count +1 · 입력 변화 시 count reset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326380" y="386791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326380" y="392277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 == N → 출력 갱신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26380" y="469087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326380" y="47457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window를 counter bit 수로 구현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326380" y="551383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5326380" y="55686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comparator · reset 경로 필요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503920" y="1188720"/>
            <a:ext cx="3291840" cy="5166360"/>
          </a:xfrm>
          <a:prstGeom prst="roundRect">
            <a:avLst>
              <a:gd name="adj" fmla="val 1389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68680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Shift Register 방식 (SIPO)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0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 · Homework 적용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732520" y="2011680"/>
            <a:ext cx="64008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873252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52560" y="2359152"/>
            <a:ext cx="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464040" y="2011680"/>
            <a:ext cx="64008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946404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784080" y="2359152"/>
            <a:ext cx="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195560" y="2011680"/>
            <a:ext cx="64008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1019556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0515600" y="2359152"/>
            <a:ext cx="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927080" y="2011680"/>
            <a:ext cx="64008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1092708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247120" y="2359152"/>
            <a:ext cx="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8732520" y="2542032"/>
            <a:ext cx="2834640" cy="329184"/>
          </a:xfrm>
          <a:prstGeom prst="rect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8732520" y="2542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686800" y="304495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8686800" y="309981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N sample을 shift register에 병렬 보관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8686800" y="386791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8686800" y="392277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bit 모두 1 → 1 (N-input AND)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8686800" y="469087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8686800" y="47457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= AND 1단 · latency N cycle 고정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8686800" y="5513832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8686800" y="55686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 = N × sampling 주기 → 긴 window엔 sampling enable 필요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411480" y="3118104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411480" y="311810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원리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11480" y="3941064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411480" y="394106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조건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411480" y="4764024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411480" y="476402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411480" y="5586984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411480" y="558698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41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현업 구성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Production Debounce Chains Synchronizer, Filter and Edge Detector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11480" y="1417320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입력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66544" y="1892808"/>
            <a:ext cx="228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22576" y="1417320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22576" y="1417320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2-FF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Synchronizer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Metastability 차단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77640" y="1892808"/>
            <a:ext cx="228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33672" y="1417320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233672" y="1417320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42232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 길이 결정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142232" y="27889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88736" y="1892808"/>
            <a:ext cx="228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44768" y="1417320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144768" y="1417320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53328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Bounce 제거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99832" y="1892808"/>
            <a:ext cx="228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055864" y="1417320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55864" y="1417320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Detector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64424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→ Tick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710928" y="1892808"/>
            <a:ext cx="228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966960" y="1417320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9966960" y="1417320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입력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" y="2883513"/>
            <a:ext cx="113842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94360" y="3011529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button_debouncer 대응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" y="3340713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640080" y="3340713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2-FF Synchronizer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3108960" y="3551025"/>
            <a:ext cx="4114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3657600" y="3340713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q_reg[7] 1단이 sampling 겸용 (전용 synchronizer 없음)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40080" y="3871065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640080" y="3871065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Enable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3108960" y="4081377"/>
            <a:ext cx="4114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3657600" y="3871065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→ 100 MHz 매 posedge sampling → window 80 ns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40080" y="4401417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640080" y="4401417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 Filter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3108960" y="4611729"/>
            <a:ext cx="4114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3657600" y="4401417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q_reg[7:0] 8-bit SIPO + 8-input AND (debounce)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640080" y="4931769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640080" y="4931769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Detector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108960" y="5142081"/>
            <a:ext cx="4114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3657600" y="4931769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edge_reg + ~edge_reg &amp; debounce → o_btn 1-cycle tick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41</a:t>
            </a:r>
            <a:endParaRPr lang="en-US" sz="900" dirty="0"/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7F398A26-FEF3-3E03-855F-5490E59571FD}"/>
              </a:ext>
            </a:extLst>
          </p:cNvPr>
          <p:cNvSpPr txBox="1"/>
          <p:nvPr/>
        </p:nvSpPr>
        <p:spPr>
          <a:xfrm>
            <a:off x="594360" y="558141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/>
              <a:t>*window – N(samplie number) x Sampling frequency 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4">
            <a:extLst>
              <a:ext uri="{FF2B5EF4-FFF2-40B4-BE49-F238E27FC236}">
                <a16:creationId xmlns:a16="http://schemas.microsoft.com/office/drawing/2014/main" id="{5A09BDCA-7B8B-D3AD-D38B-2514D96045F0}"/>
              </a:ext>
            </a:extLst>
          </p:cNvPr>
          <p:cNvSpPr/>
          <p:nvPr/>
        </p:nvSpPr>
        <p:spPr>
          <a:xfrm>
            <a:off x="411480" y="1188720"/>
            <a:ext cx="667512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SIPO 판정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SIPO Checks the Last 8 Samples at Once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44B56C1-D64F-F199-4BD6-8E207A6E7E3A}"/>
              </a:ext>
            </a:extLst>
          </p:cNvPr>
          <p:cNvGrpSpPr/>
          <p:nvPr/>
        </p:nvGrpSpPr>
        <p:grpSpPr>
          <a:xfrm>
            <a:off x="594360" y="2210113"/>
            <a:ext cx="6309360" cy="2935224"/>
            <a:chOff x="594360" y="1316736"/>
            <a:chExt cx="6309360" cy="2935224"/>
          </a:xfrm>
        </p:grpSpPr>
        <p:sp>
          <p:nvSpPr>
            <p:cNvPr id="10" name="Text 8"/>
            <p:cNvSpPr txBox="1"/>
            <p:nvPr/>
          </p:nvSpPr>
          <p:spPr>
            <a:xfrm>
              <a:off x="5806440" y="1691640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debounce</a:t>
              </a:r>
              <a:endParaRPr lang="en-US" sz="1200" dirty="0"/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C6BD56B2-93FE-5A41-C8D4-6F18A5DB9010}"/>
                </a:ext>
              </a:extLst>
            </p:cNvPr>
            <p:cNvGrpSpPr/>
            <p:nvPr/>
          </p:nvGrpSpPr>
          <p:grpSpPr>
            <a:xfrm>
              <a:off x="594360" y="1316736"/>
              <a:ext cx="6309360" cy="2935224"/>
              <a:chOff x="594360" y="1316736"/>
              <a:chExt cx="6309360" cy="2935224"/>
            </a:xfrm>
          </p:grpSpPr>
          <p:sp>
            <p:nvSpPr>
              <p:cNvPr id="7" name="Text 5"/>
              <p:cNvSpPr txBox="1"/>
              <p:nvPr/>
            </p:nvSpPr>
            <p:spPr>
              <a:xfrm>
                <a:off x="594360" y="1316736"/>
                <a:ext cx="63093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2563E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q_reg 8 sample → 8-input AND</a:t>
                </a:r>
                <a:endParaRPr lang="en-US" sz="1500" dirty="0"/>
              </a:p>
            </p:txBody>
          </p:sp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BF3C6FF3-2980-EC1F-1009-B2042B117F34}"/>
                  </a:ext>
                </a:extLst>
              </p:cNvPr>
              <p:cNvGrpSpPr/>
              <p:nvPr/>
            </p:nvGrpSpPr>
            <p:grpSpPr>
              <a:xfrm>
                <a:off x="640080" y="1691640"/>
                <a:ext cx="6080760" cy="2560320"/>
                <a:chOff x="640080" y="1691640"/>
                <a:chExt cx="6080760" cy="2560320"/>
              </a:xfrm>
            </p:grpSpPr>
            <p:sp>
              <p:nvSpPr>
                <p:cNvPr id="8" name="Text 6"/>
                <p:cNvSpPr txBox="1"/>
                <p:nvPr/>
              </p:nvSpPr>
              <p:spPr>
                <a:xfrm>
                  <a:off x="1874520" y="1691640"/>
                  <a:ext cx="914400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475569"/>
                      </a:solidFill>
                      <a:latin typeface="Consolas" pitchFamily="34" charset="0"/>
                      <a:ea typeface="Consolas" pitchFamily="34" charset="-122"/>
                      <a:cs typeface="Consolas" pitchFamily="34" charset="-120"/>
                    </a:rPr>
                    <a:t>q_reg[7]</a:t>
                  </a:r>
                  <a:endParaRPr lang="en-US" sz="1200" dirty="0"/>
                </a:p>
              </p:txBody>
            </p:sp>
            <p:sp>
              <p:nvSpPr>
                <p:cNvPr id="9" name="Text 7"/>
                <p:cNvSpPr txBox="1"/>
                <p:nvPr/>
              </p:nvSpPr>
              <p:spPr>
                <a:xfrm>
                  <a:off x="4709160" y="1691640"/>
                  <a:ext cx="914400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r">
                    <a:buNone/>
                  </a:pPr>
                  <a:r>
                    <a:rPr lang="en-US" sz="1200" dirty="0">
                      <a:solidFill>
                        <a:srgbClr val="475569"/>
                      </a:solidFill>
                      <a:latin typeface="Consolas" pitchFamily="34" charset="0"/>
                      <a:ea typeface="Consolas" pitchFamily="34" charset="-122"/>
                      <a:cs typeface="Consolas" pitchFamily="34" charset="-120"/>
                    </a:rPr>
                    <a:t>q_reg[0]</a:t>
                  </a:r>
                  <a:endParaRPr lang="en-US" sz="1200" dirty="0"/>
                </a:p>
              </p:txBody>
            </p:sp>
            <p:sp>
              <p:nvSpPr>
                <p:cNvPr id="11" name="Text 9"/>
                <p:cNvSpPr txBox="1"/>
                <p:nvPr/>
              </p:nvSpPr>
              <p:spPr>
                <a:xfrm>
                  <a:off x="640080" y="2057400"/>
                  <a:ext cx="123444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1E293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Bounce A</a:t>
                  </a:r>
                  <a:endParaRPr lang="en-US" sz="1400" dirty="0"/>
                </a:p>
              </p:txBody>
            </p:sp>
            <p:sp>
              <p:nvSpPr>
                <p:cNvPr id="12" name="Shape 10"/>
                <p:cNvSpPr/>
                <p:nvPr/>
              </p:nvSpPr>
              <p:spPr>
                <a:xfrm>
                  <a:off x="1874520" y="205740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3" name="Text 11"/>
                <p:cNvSpPr txBox="1"/>
                <p:nvPr/>
              </p:nvSpPr>
              <p:spPr>
                <a:xfrm>
                  <a:off x="1874520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14" name="Shape 12"/>
                <p:cNvSpPr/>
                <p:nvPr/>
              </p:nvSpPr>
              <p:spPr>
                <a:xfrm>
                  <a:off x="2350008" y="2057400"/>
                  <a:ext cx="429768" cy="4572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5" name="Text 13"/>
                <p:cNvSpPr txBox="1"/>
                <p:nvPr/>
              </p:nvSpPr>
              <p:spPr>
                <a:xfrm>
                  <a:off x="2350008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DC2626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0</a:t>
                  </a:r>
                  <a:endParaRPr lang="en-US" sz="1500" dirty="0"/>
                </a:p>
              </p:txBody>
            </p:sp>
            <p:sp>
              <p:nvSpPr>
                <p:cNvPr id="16" name="Shape 14"/>
                <p:cNvSpPr/>
                <p:nvPr/>
              </p:nvSpPr>
              <p:spPr>
                <a:xfrm>
                  <a:off x="2825496" y="205740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" name="Text 15"/>
                <p:cNvSpPr txBox="1"/>
                <p:nvPr/>
              </p:nvSpPr>
              <p:spPr>
                <a:xfrm>
                  <a:off x="2825496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18" name="Shape 16"/>
                <p:cNvSpPr/>
                <p:nvPr/>
              </p:nvSpPr>
              <p:spPr>
                <a:xfrm>
                  <a:off x="3300984" y="205740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9" name="Text 17"/>
                <p:cNvSpPr txBox="1"/>
                <p:nvPr/>
              </p:nvSpPr>
              <p:spPr>
                <a:xfrm>
                  <a:off x="3300984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20" name="Shape 18"/>
                <p:cNvSpPr/>
                <p:nvPr/>
              </p:nvSpPr>
              <p:spPr>
                <a:xfrm>
                  <a:off x="3776472" y="2057400"/>
                  <a:ext cx="429768" cy="4572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1" name="Text 19"/>
                <p:cNvSpPr txBox="1"/>
                <p:nvPr/>
              </p:nvSpPr>
              <p:spPr>
                <a:xfrm>
                  <a:off x="3776472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DC2626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0</a:t>
                  </a:r>
                  <a:endParaRPr lang="en-US" sz="1500" dirty="0"/>
                </a:p>
              </p:txBody>
            </p:sp>
            <p:sp>
              <p:nvSpPr>
                <p:cNvPr id="22" name="Shape 20"/>
                <p:cNvSpPr/>
                <p:nvPr/>
              </p:nvSpPr>
              <p:spPr>
                <a:xfrm>
                  <a:off x="4251960" y="205740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3" name="Text 21"/>
                <p:cNvSpPr txBox="1"/>
                <p:nvPr/>
              </p:nvSpPr>
              <p:spPr>
                <a:xfrm>
                  <a:off x="4251960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24" name="Shape 22"/>
                <p:cNvSpPr/>
                <p:nvPr/>
              </p:nvSpPr>
              <p:spPr>
                <a:xfrm>
                  <a:off x="4727448" y="205740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" name="Text 23"/>
                <p:cNvSpPr txBox="1"/>
                <p:nvPr/>
              </p:nvSpPr>
              <p:spPr>
                <a:xfrm>
                  <a:off x="4727448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26" name="Shape 24"/>
                <p:cNvSpPr/>
                <p:nvPr/>
              </p:nvSpPr>
              <p:spPr>
                <a:xfrm>
                  <a:off x="5202936" y="205740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7" name="Text 25"/>
                <p:cNvSpPr txBox="1"/>
                <p:nvPr/>
              </p:nvSpPr>
              <p:spPr>
                <a:xfrm>
                  <a:off x="5202936" y="205740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28" name="Shape 26"/>
                <p:cNvSpPr/>
                <p:nvPr/>
              </p:nvSpPr>
              <p:spPr>
                <a:xfrm>
                  <a:off x="5715000" y="2286000"/>
                  <a:ext cx="320040" cy="0"/>
                </a:xfrm>
                <a:prstGeom prst="line">
                  <a:avLst/>
                </a:prstGeom>
                <a:noFill/>
                <a:ln w="19050">
                  <a:solidFill>
                    <a:srgbClr val="1E293B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9" name="Shape 27"/>
                <p:cNvSpPr/>
                <p:nvPr/>
              </p:nvSpPr>
              <p:spPr>
                <a:xfrm>
                  <a:off x="6080760" y="2057400"/>
                  <a:ext cx="640080" cy="457200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" name="Text 28"/>
                <p:cNvSpPr txBox="1"/>
                <p:nvPr/>
              </p:nvSpPr>
              <p:spPr>
                <a:xfrm>
                  <a:off x="6080760" y="2057400"/>
                  <a:ext cx="64008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E293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0</a:t>
                  </a:r>
                  <a:endParaRPr lang="en-US" sz="1600" dirty="0"/>
                </a:p>
              </p:txBody>
            </p:sp>
            <p:sp>
              <p:nvSpPr>
                <p:cNvPr id="31" name="Text 29"/>
                <p:cNvSpPr txBox="1"/>
                <p:nvPr/>
              </p:nvSpPr>
              <p:spPr>
                <a:xfrm>
                  <a:off x="640080" y="2926080"/>
                  <a:ext cx="123444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1E293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Bounce B</a:t>
                  </a:r>
                  <a:endParaRPr lang="en-US" sz="1400" dirty="0"/>
                </a:p>
              </p:txBody>
            </p:sp>
            <p:sp>
              <p:nvSpPr>
                <p:cNvPr id="32" name="Shape 30"/>
                <p:cNvSpPr/>
                <p:nvPr/>
              </p:nvSpPr>
              <p:spPr>
                <a:xfrm>
                  <a:off x="1874520" y="292608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" name="Text 31"/>
                <p:cNvSpPr txBox="1"/>
                <p:nvPr/>
              </p:nvSpPr>
              <p:spPr>
                <a:xfrm>
                  <a:off x="1874520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34" name="Shape 32"/>
                <p:cNvSpPr/>
                <p:nvPr/>
              </p:nvSpPr>
              <p:spPr>
                <a:xfrm>
                  <a:off x="2350008" y="292608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" name="Text 33"/>
                <p:cNvSpPr txBox="1"/>
                <p:nvPr/>
              </p:nvSpPr>
              <p:spPr>
                <a:xfrm>
                  <a:off x="2350008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36" name="Shape 34"/>
                <p:cNvSpPr/>
                <p:nvPr/>
              </p:nvSpPr>
              <p:spPr>
                <a:xfrm>
                  <a:off x="2825496" y="2926080"/>
                  <a:ext cx="429768" cy="4572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" name="Text 35"/>
                <p:cNvSpPr txBox="1"/>
                <p:nvPr/>
              </p:nvSpPr>
              <p:spPr>
                <a:xfrm>
                  <a:off x="2825496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DC2626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0</a:t>
                  </a:r>
                  <a:endParaRPr lang="en-US" sz="1500" dirty="0"/>
                </a:p>
              </p:txBody>
            </p:sp>
            <p:sp>
              <p:nvSpPr>
                <p:cNvPr id="38" name="Shape 36"/>
                <p:cNvSpPr/>
                <p:nvPr/>
              </p:nvSpPr>
              <p:spPr>
                <a:xfrm>
                  <a:off x="3300984" y="292608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" name="Text 37"/>
                <p:cNvSpPr txBox="1"/>
                <p:nvPr/>
              </p:nvSpPr>
              <p:spPr>
                <a:xfrm>
                  <a:off x="3300984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40" name="Shape 38"/>
                <p:cNvSpPr/>
                <p:nvPr/>
              </p:nvSpPr>
              <p:spPr>
                <a:xfrm>
                  <a:off x="3776472" y="292608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1" name="Text 39"/>
                <p:cNvSpPr txBox="1"/>
                <p:nvPr/>
              </p:nvSpPr>
              <p:spPr>
                <a:xfrm>
                  <a:off x="3776472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42" name="Shape 40"/>
                <p:cNvSpPr/>
                <p:nvPr/>
              </p:nvSpPr>
              <p:spPr>
                <a:xfrm>
                  <a:off x="4251960" y="2926080"/>
                  <a:ext cx="429768" cy="4572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3" name="Text 41"/>
                <p:cNvSpPr txBox="1"/>
                <p:nvPr/>
              </p:nvSpPr>
              <p:spPr>
                <a:xfrm>
                  <a:off x="4251960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DC2626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0</a:t>
                  </a:r>
                  <a:endParaRPr lang="en-US" sz="1500" dirty="0"/>
                </a:p>
              </p:txBody>
            </p:sp>
            <p:sp>
              <p:nvSpPr>
                <p:cNvPr id="44" name="Shape 42"/>
                <p:cNvSpPr/>
                <p:nvPr/>
              </p:nvSpPr>
              <p:spPr>
                <a:xfrm>
                  <a:off x="4727448" y="292608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5" name="Text 43"/>
                <p:cNvSpPr txBox="1"/>
                <p:nvPr/>
              </p:nvSpPr>
              <p:spPr>
                <a:xfrm>
                  <a:off x="4727448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46" name="Shape 44"/>
                <p:cNvSpPr/>
                <p:nvPr/>
              </p:nvSpPr>
              <p:spPr>
                <a:xfrm>
                  <a:off x="5202936" y="292608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Text 45"/>
                <p:cNvSpPr txBox="1"/>
                <p:nvPr/>
              </p:nvSpPr>
              <p:spPr>
                <a:xfrm>
                  <a:off x="5202936" y="292608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48" name="Shape 46"/>
                <p:cNvSpPr/>
                <p:nvPr/>
              </p:nvSpPr>
              <p:spPr>
                <a:xfrm>
                  <a:off x="5715000" y="3154680"/>
                  <a:ext cx="320040" cy="0"/>
                </a:xfrm>
                <a:prstGeom prst="line">
                  <a:avLst/>
                </a:prstGeom>
                <a:noFill/>
                <a:ln w="19050">
                  <a:solidFill>
                    <a:srgbClr val="1E293B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" name="Shape 47"/>
                <p:cNvSpPr/>
                <p:nvPr/>
              </p:nvSpPr>
              <p:spPr>
                <a:xfrm>
                  <a:off x="6080760" y="2926080"/>
                  <a:ext cx="640080" cy="457200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0" name="Text 48"/>
                <p:cNvSpPr txBox="1"/>
                <p:nvPr/>
              </p:nvSpPr>
              <p:spPr>
                <a:xfrm>
                  <a:off x="6080760" y="2926080"/>
                  <a:ext cx="64008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E293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0</a:t>
                  </a:r>
                  <a:endParaRPr lang="en-US" sz="1600" dirty="0"/>
                </a:p>
              </p:txBody>
            </p:sp>
            <p:sp>
              <p:nvSpPr>
                <p:cNvPr id="51" name="Text 49"/>
                <p:cNvSpPr txBox="1"/>
                <p:nvPr/>
              </p:nvSpPr>
              <p:spPr>
                <a:xfrm>
                  <a:off x="640080" y="3794760"/>
                  <a:ext cx="123444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altLang="ko-KR" sz="1400" b="1">
                      <a:solidFill>
                        <a:srgbClr val="1E293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Bounce C</a:t>
                  </a:r>
                  <a:endParaRPr lang="en-US" altLang="ko-KR" sz="1400" dirty="0"/>
                </a:p>
              </p:txBody>
            </p:sp>
            <p:sp>
              <p:nvSpPr>
                <p:cNvPr id="52" name="Shape 50"/>
                <p:cNvSpPr/>
                <p:nvPr/>
              </p:nvSpPr>
              <p:spPr>
                <a:xfrm>
                  <a:off x="1874520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3" name="Text 51"/>
                <p:cNvSpPr txBox="1"/>
                <p:nvPr/>
              </p:nvSpPr>
              <p:spPr>
                <a:xfrm>
                  <a:off x="1874520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54" name="Shape 52"/>
                <p:cNvSpPr/>
                <p:nvPr/>
              </p:nvSpPr>
              <p:spPr>
                <a:xfrm>
                  <a:off x="2350008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5" name="Text 53"/>
                <p:cNvSpPr txBox="1"/>
                <p:nvPr/>
              </p:nvSpPr>
              <p:spPr>
                <a:xfrm>
                  <a:off x="2350008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56" name="Shape 54"/>
                <p:cNvSpPr/>
                <p:nvPr/>
              </p:nvSpPr>
              <p:spPr>
                <a:xfrm>
                  <a:off x="2825496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7" name="Text 55"/>
                <p:cNvSpPr txBox="1"/>
                <p:nvPr/>
              </p:nvSpPr>
              <p:spPr>
                <a:xfrm>
                  <a:off x="2825496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58" name="Shape 56"/>
                <p:cNvSpPr/>
                <p:nvPr/>
              </p:nvSpPr>
              <p:spPr>
                <a:xfrm>
                  <a:off x="3300984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9" name="Text 57"/>
                <p:cNvSpPr txBox="1"/>
                <p:nvPr/>
              </p:nvSpPr>
              <p:spPr>
                <a:xfrm>
                  <a:off x="3300984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60" name="Shape 58"/>
                <p:cNvSpPr/>
                <p:nvPr/>
              </p:nvSpPr>
              <p:spPr>
                <a:xfrm>
                  <a:off x="3776472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1" name="Text 59"/>
                <p:cNvSpPr txBox="1"/>
                <p:nvPr/>
              </p:nvSpPr>
              <p:spPr>
                <a:xfrm>
                  <a:off x="3776472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62" name="Shape 60"/>
                <p:cNvSpPr/>
                <p:nvPr/>
              </p:nvSpPr>
              <p:spPr>
                <a:xfrm>
                  <a:off x="4251960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3" name="Text 61"/>
                <p:cNvSpPr txBox="1"/>
                <p:nvPr/>
              </p:nvSpPr>
              <p:spPr>
                <a:xfrm>
                  <a:off x="4251960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64" name="Shape 62"/>
                <p:cNvSpPr/>
                <p:nvPr/>
              </p:nvSpPr>
              <p:spPr>
                <a:xfrm>
                  <a:off x="4727448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5" name="Text 63"/>
                <p:cNvSpPr txBox="1"/>
                <p:nvPr/>
              </p:nvSpPr>
              <p:spPr>
                <a:xfrm>
                  <a:off x="4727448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66" name="Shape 64"/>
                <p:cNvSpPr/>
                <p:nvPr/>
              </p:nvSpPr>
              <p:spPr>
                <a:xfrm>
                  <a:off x="5202936" y="3794760"/>
                  <a:ext cx="429768" cy="4572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" name="Text 65"/>
                <p:cNvSpPr txBox="1"/>
                <p:nvPr/>
              </p:nvSpPr>
              <p:spPr>
                <a:xfrm>
                  <a:off x="5202936" y="3794760"/>
                  <a:ext cx="429768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500" dirty="0"/>
                </a:p>
              </p:txBody>
            </p:sp>
            <p:sp>
              <p:nvSpPr>
                <p:cNvPr id="68" name="Shape 66"/>
                <p:cNvSpPr/>
                <p:nvPr/>
              </p:nvSpPr>
              <p:spPr>
                <a:xfrm>
                  <a:off x="5715000" y="4023360"/>
                  <a:ext cx="320040" cy="0"/>
                </a:xfrm>
                <a:prstGeom prst="line">
                  <a:avLst/>
                </a:prstGeom>
                <a:noFill/>
                <a:ln w="19050">
                  <a:solidFill>
                    <a:srgbClr val="1E293B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Shape 67"/>
                <p:cNvSpPr/>
                <p:nvPr/>
              </p:nvSpPr>
              <p:spPr>
                <a:xfrm>
                  <a:off x="6080760" y="3794760"/>
                  <a:ext cx="640080" cy="457200"/>
                </a:xfrm>
                <a:prstGeom prst="rect">
                  <a:avLst/>
                </a:prstGeom>
                <a:solidFill>
                  <a:srgbClr val="16A34A"/>
                </a:solidFill>
                <a:ln w="15875">
                  <a:solidFill>
                    <a:srgbClr val="16A34A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Text 68"/>
                <p:cNvSpPr txBox="1"/>
                <p:nvPr/>
              </p:nvSpPr>
              <p:spPr>
                <a:xfrm>
                  <a:off x="6080760" y="3794760"/>
                  <a:ext cx="64008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75" name="Shape 73"/>
          <p:cNvSpPr/>
          <p:nvPr/>
        </p:nvSpPr>
        <p:spPr>
          <a:xfrm>
            <a:off x="7315200" y="1188720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479792" y="13533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7479792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7863840" y="13350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Serial In</a:t>
            </a:r>
            <a:endParaRPr lang="en-US" sz="15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16642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posedge i_btn 1 bit → q_reg[7] 진입, 나머지 right shift</a:t>
            </a:r>
            <a:endParaRPr lang="en-US" sz="1350" dirty="0"/>
          </a:p>
        </p:txBody>
      </p:sp>
      <p:sp>
        <p:nvSpPr>
          <p:cNvPr id="80" name="Shape 78"/>
          <p:cNvSpPr/>
          <p:nvPr/>
        </p:nvSpPr>
        <p:spPr>
          <a:xfrm>
            <a:off x="7315200" y="2496312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7479792" y="266090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7479792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7863840" y="2642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Parallel Out</a:t>
            </a:r>
            <a:endParaRPr lang="en-US" sz="1500" dirty="0"/>
          </a:p>
        </p:txBody>
      </p:sp>
      <p:sp>
        <p:nvSpPr>
          <p:cNvPr id="84" name="Text 82"/>
          <p:cNvSpPr txBox="1"/>
          <p:nvPr/>
        </p:nvSpPr>
        <p:spPr>
          <a:xfrm>
            <a:off x="786384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bit 동시 노출 → 8-input AND 1단으로 판정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7315200" y="3803904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7479792" y="396849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7479792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7863840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의미</a:t>
            </a:r>
            <a:endParaRPr lang="en-US" sz="1500" dirty="0"/>
          </a:p>
        </p:txBody>
      </p:sp>
      <p:sp>
        <p:nvSpPr>
          <p:cNvPr id="89" name="Text 87"/>
          <p:cNvSpPr txBox="1"/>
          <p:nvPr/>
        </p:nvSpPr>
        <p:spPr>
          <a:xfrm>
            <a:off x="7863840" y="42793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8 × 10 ns = 80 ns 구간 전체가 1인지 검사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7315200" y="5111496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7479792" y="52760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7479792" y="5276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7863840" y="5257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Counter 대비</a:t>
            </a:r>
            <a:endParaRPr lang="en-US" sz="1500" dirty="0"/>
          </a:p>
        </p:txBody>
      </p:sp>
      <p:sp>
        <p:nvSpPr>
          <p:cNvPr id="94" name="Text 92"/>
          <p:cNvSpPr txBox="1"/>
          <p:nvPr/>
        </p:nvSpPr>
        <p:spPr>
          <a:xfrm>
            <a:off x="7863840" y="5586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comparator · reset 경로 불필요, latency 8 cycle 고정</a:t>
            </a:r>
            <a:endParaRPr lang="en-US" sz="1350" dirty="0"/>
          </a:p>
        </p:txBody>
      </p:sp>
      <p:sp>
        <p:nvSpPr>
          <p:cNvPr id="95" name="Text 9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41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4">
            <a:extLst>
              <a:ext uri="{FF2B5EF4-FFF2-40B4-BE49-F238E27FC236}">
                <a16:creationId xmlns:a16="http://schemas.microsoft.com/office/drawing/2014/main" id="{FD9C989F-1E75-4CD7-C808-AD137E9332A4}"/>
              </a:ext>
            </a:extLst>
          </p:cNvPr>
          <p:cNvSpPr/>
          <p:nvPr/>
        </p:nvSpPr>
        <p:spPr>
          <a:xfrm>
            <a:off x="411480" y="1724744"/>
            <a:ext cx="557784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38">
            <a:extLst>
              <a:ext uri="{FF2B5EF4-FFF2-40B4-BE49-F238E27FC236}">
                <a16:creationId xmlns:a16="http://schemas.microsoft.com/office/drawing/2014/main" id="{66A8A331-E024-8B59-714F-BBEC1F3F3D2C}"/>
              </a:ext>
            </a:extLst>
          </p:cNvPr>
          <p:cNvSpPr/>
          <p:nvPr/>
        </p:nvSpPr>
        <p:spPr>
          <a:xfrm>
            <a:off x="6217920" y="1724744"/>
            <a:ext cx="557784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Level vs Tick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Input Toggles Every Clock, a Tick Toggles Once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34BA40F-3577-AC3F-0690-7D4C46B3CDEA}"/>
              </a:ext>
            </a:extLst>
          </p:cNvPr>
          <p:cNvGrpSpPr/>
          <p:nvPr/>
        </p:nvGrpSpPr>
        <p:grpSpPr>
          <a:xfrm>
            <a:off x="594360" y="2420319"/>
            <a:ext cx="5212080" cy="2450592"/>
            <a:chOff x="594360" y="1316736"/>
            <a:chExt cx="5212080" cy="2450592"/>
          </a:xfrm>
        </p:grpSpPr>
        <p:sp>
          <p:nvSpPr>
            <p:cNvPr id="7" name="Text 5"/>
            <p:cNvSpPr txBox="1"/>
            <p:nvPr/>
          </p:nvSpPr>
          <p:spPr>
            <a:xfrm>
              <a:off x="594360" y="1316736"/>
              <a:ext cx="5212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Level </a:t>
              </a:r>
              <a:r>
                <a:rPr lang="en-US" sz="1500" b="1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입력 </a:t>
              </a:r>
              <a:endParaRPr lang="en-US" sz="15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94360" y="1874520"/>
              <a:ext cx="731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clk</a:t>
              </a:r>
              <a:endParaRPr lang="en-US" sz="13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94360" y="2606040"/>
              <a:ext cx="731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input</a:t>
              </a:r>
              <a:endParaRPr lang="en-US" sz="13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594360" y="3337560"/>
              <a:ext cx="731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state</a:t>
              </a:r>
              <a:endParaRPr lang="en-US" sz="13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371600" y="1920240"/>
              <a:ext cx="4389120" cy="320040"/>
            </a:xfrm>
            <a:custGeom>
              <a:avLst/>
              <a:gdLst/>
              <a:ahLst/>
              <a:cxnLst/>
              <a:rect l="l" t="t" r="r" b="b"/>
              <a:pathLst>
                <a:path w="4389120" h="320040">
                  <a:moveTo>
                    <a:pt x="0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156754" y="0"/>
                  </a:lnTo>
                  <a:lnTo>
                    <a:pt x="156754" y="320040"/>
                  </a:lnTo>
                  <a:lnTo>
                    <a:pt x="313509" y="320040"/>
                  </a:lnTo>
                  <a:lnTo>
                    <a:pt x="313509" y="0"/>
                  </a:lnTo>
                  <a:lnTo>
                    <a:pt x="470263" y="0"/>
                  </a:lnTo>
                  <a:lnTo>
                    <a:pt x="470263" y="320040"/>
                  </a:lnTo>
                  <a:lnTo>
                    <a:pt x="627017" y="320040"/>
                  </a:lnTo>
                  <a:lnTo>
                    <a:pt x="627017" y="0"/>
                  </a:lnTo>
                  <a:lnTo>
                    <a:pt x="783771" y="0"/>
                  </a:lnTo>
                  <a:lnTo>
                    <a:pt x="783771" y="320040"/>
                  </a:lnTo>
                  <a:lnTo>
                    <a:pt x="940526" y="320040"/>
                  </a:lnTo>
                  <a:lnTo>
                    <a:pt x="940526" y="0"/>
                  </a:lnTo>
                  <a:lnTo>
                    <a:pt x="1097280" y="0"/>
                  </a:lnTo>
                  <a:lnTo>
                    <a:pt x="1097280" y="320040"/>
                  </a:lnTo>
                  <a:lnTo>
                    <a:pt x="1254034" y="320040"/>
                  </a:lnTo>
                  <a:lnTo>
                    <a:pt x="1254034" y="0"/>
                  </a:lnTo>
                  <a:lnTo>
                    <a:pt x="1410789" y="0"/>
                  </a:lnTo>
                  <a:lnTo>
                    <a:pt x="1410789" y="320040"/>
                  </a:lnTo>
                  <a:lnTo>
                    <a:pt x="1567543" y="320040"/>
                  </a:lnTo>
                  <a:lnTo>
                    <a:pt x="1567543" y="0"/>
                  </a:lnTo>
                  <a:lnTo>
                    <a:pt x="1724297" y="0"/>
                  </a:lnTo>
                  <a:lnTo>
                    <a:pt x="1724297" y="320040"/>
                  </a:lnTo>
                  <a:lnTo>
                    <a:pt x="1881051" y="320040"/>
                  </a:lnTo>
                  <a:lnTo>
                    <a:pt x="1881051" y="0"/>
                  </a:lnTo>
                  <a:lnTo>
                    <a:pt x="2037806" y="0"/>
                  </a:lnTo>
                  <a:lnTo>
                    <a:pt x="2037806" y="320040"/>
                  </a:lnTo>
                  <a:lnTo>
                    <a:pt x="2194560" y="320040"/>
                  </a:lnTo>
                  <a:lnTo>
                    <a:pt x="2194560" y="0"/>
                  </a:lnTo>
                  <a:lnTo>
                    <a:pt x="2351314" y="0"/>
                  </a:lnTo>
                  <a:lnTo>
                    <a:pt x="2351314" y="320040"/>
                  </a:lnTo>
                  <a:lnTo>
                    <a:pt x="2508069" y="320040"/>
                  </a:lnTo>
                  <a:lnTo>
                    <a:pt x="2508069" y="0"/>
                  </a:lnTo>
                  <a:lnTo>
                    <a:pt x="2664823" y="0"/>
                  </a:lnTo>
                  <a:lnTo>
                    <a:pt x="2664823" y="320040"/>
                  </a:lnTo>
                  <a:lnTo>
                    <a:pt x="2821577" y="320040"/>
                  </a:lnTo>
                  <a:lnTo>
                    <a:pt x="2821577" y="0"/>
                  </a:lnTo>
                  <a:lnTo>
                    <a:pt x="2978331" y="0"/>
                  </a:lnTo>
                  <a:lnTo>
                    <a:pt x="2978331" y="320040"/>
                  </a:lnTo>
                  <a:lnTo>
                    <a:pt x="3135086" y="320040"/>
                  </a:lnTo>
                  <a:lnTo>
                    <a:pt x="3135086" y="0"/>
                  </a:lnTo>
                  <a:lnTo>
                    <a:pt x="3291840" y="0"/>
                  </a:lnTo>
                  <a:lnTo>
                    <a:pt x="3291840" y="320040"/>
                  </a:lnTo>
                  <a:lnTo>
                    <a:pt x="3448594" y="320040"/>
                  </a:lnTo>
                  <a:lnTo>
                    <a:pt x="3448594" y="0"/>
                  </a:lnTo>
                  <a:lnTo>
                    <a:pt x="3605349" y="0"/>
                  </a:lnTo>
                  <a:lnTo>
                    <a:pt x="3605349" y="320040"/>
                  </a:lnTo>
                  <a:lnTo>
                    <a:pt x="3762103" y="320040"/>
                  </a:lnTo>
                  <a:lnTo>
                    <a:pt x="3762103" y="0"/>
                  </a:lnTo>
                  <a:lnTo>
                    <a:pt x="3918857" y="0"/>
                  </a:lnTo>
                  <a:lnTo>
                    <a:pt x="3918857" y="320040"/>
                  </a:lnTo>
                  <a:lnTo>
                    <a:pt x="4075611" y="320040"/>
                  </a:lnTo>
                  <a:lnTo>
                    <a:pt x="4075611" y="0"/>
                  </a:lnTo>
                  <a:lnTo>
                    <a:pt x="4232366" y="0"/>
                  </a:lnTo>
                  <a:lnTo>
                    <a:pt x="4232366" y="320040"/>
                  </a:lnTo>
                  <a:lnTo>
                    <a:pt x="4389120" y="320040"/>
                  </a:lnTo>
                </a:path>
              </a:pathLst>
            </a:custGeom>
            <a:ln w="15875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1371600" y="2651760"/>
              <a:ext cx="4389120" cy="320040"/>
            </a:xfrm>
            <a:custGeom>
              <a:avLst/>
              <a:gdLst/>
              <a:ahLst/>
              <a:cxnLst/>
              <a:rect l="l" t="t" r="r" b="b"/>
              <a:pathLst>
                <a:path w="4389120" h="320040">
                  <a:moveTo>
                    <a:pt x="0" y="320040"/>
                  </a:moveTo>
                  <a:lnTo>
                    <a:pt x="846473" y="320040"/>
                  </a:lnTo>
                  <a:lnTo>
                    <a:pt x="846473" y="0"/>
                  </a:lnTo>
                  <a:lnTo>
                    <a:pt x="3041033" y="0"/>
                  </a:lnTo>
                  <a:lnTo>
                    <a:pt x="3041033" y="320040"/>
                  </a:lnTo>
                  <a:lnTo>
                    <a:pt x="4389120" y="320040"/>
                  </a:lnTo>
                </a:path>
              </a:pathLst>
            </a:custGeom>
            <a:ln w="254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1371600" y="3383280"/>
              <a:ext cx="940526" cy="384048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1371600" y="3383280"/>
              <a:ext cx="94052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STOP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312126" y="3383280"/>
              <a:ext cx="313509" cy="384048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2312126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2625634" y="3383280"/>
              <a:ext cx="313509" cy="384048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2625634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939143" y="3383280"/>
              <a:ext cx="313509" cy="384048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2939143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52651" y="3383280"/>
              <a:ext cx="313509" cy="384048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3252651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566160" y="3383280"/>
              <a:ext cx="313509" cy="384048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3566160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879669" y="3383280"/>
              <a:ext cx="313509" cy="384048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3879669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193177" y="3383280"/>
              <a:ext cx="313509" cy="384048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4193177" y="3383280"/>
              <a:ext cx="31350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06686" y="3383280"/>
              <a:ext cx="1254034" cy="384048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4506686" y="3383280"/>
              <a:ext cx="125403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STOP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312126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2625634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2939143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3252651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3566160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3879669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4193177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9E627A8-665F-02D4-F9B1-C98F91B8FD1E}"/>
              </a:ext>
            </a:extLst>
          </p:cNvPr>
          <p:cNvGrpSpPr/>
          <p:nvPr/>
        </p:nvGrpSpPr>
        <p:grpSpPr>
          <a:xfrm>
            <a:off x="6400800" y="2420319"/>
            <a:ext cx="5212080" cy="2450592"/>
            <a:chOff x="6400800" y="1316736"/>
            <a:chExt cx="5212080" cy="2450592"/>
          </a:xfrm>
        </p:grpSpPr>
        <p:sp>
          <p:nvSpPr>
            <p:cNvPr id="41" name="Text 39"/>
            <p:cNvSpPr txBox="1"/>
            <p:nvPr/>
          </p:nvSpPr>
          <p:spPr>
            <a:xfrm>
              <a:off x="6400800" y="1316736"/>
              <a:ext cx="5212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>
                  <a:solidFill>
                    <a:srgbClr val="15803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Tick 입력</a:t>
              </a:r>
              <a:endParaRPr lang="en-US" sz="150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6400800" y="1874520"/>
              <a:ext cx="731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clk</a:t>
              </a:r>
              <a:endParaRPr lang="en-US" sz="1300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6400800" y="2606040"/>
              <a:ext cx="731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input</a:t>
              </a:r>
              <a:endParaRPr lang="en-US" sz="1300" dirty="0"/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6400800" y="3337560"/>
              <a:ext cx="731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state</a:t>
              </a:r>
              <a:endParaRPr lang="en-US" sz="13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7178040" y="1920240"/>
              <a:ext cx="4389120" cy="320040"/>
            </a:xfrm>
            <a:custGeom>
              <a:avLst/>
              <a:gdLst/>
              <a:ahLst/>
              <a:cxnLst/>
              <a:rect l="l" t="t" r="r" b="b"/>
              <a:pathLst>
                <a:path w="4389120" h="320040">
                  <a:moveTo>
                    <a:pt x="0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156754" y="0"/>
                  </a:lnTo>
                  <a:lnTo>
                    <a:pt x="156754" y="320040"/>
                  </a:lnTo>
                  <a:lnTo>
                    <a:pt x="313509" y="320040"/>
                  </a:lnTo>
                  <a:lnTo>
                    <a:pt x="313509" y="0"/>
                  </a:lnTo>
                  <a:lnTo>
                    <a:pt x="470263" y="0"/>
                  </a:lnTo>
                  <a:lnTo>
                    <a:pt x="470263" y="320040"/>
                  </a:lnTo>
                  <a:lnTo>
                    <a:pt x="627017" y="320040"/>
                  </a:lnTo>
                  <a:lnTo>
                    <a:pt x="627017" y="0"/>
                  </a:lnTo>
                  <a:lnTo>
                    <a:pt x="783771" y="0"/>
                  </a:lnTo>
                  <a:lnTo>
                    <a:pt x="783771" y="320040"/>
                  </a:lnTo>
                  <a:lnTo>
                    <a:pt x="940526" y="320040"/>
                  </a:lnTo>
                  <a:lnTo>
                    <a:pt x="940526" y="0"/>
                  </a:lnTo>
                  <a:lnTo>
                    <a:pt x="1097280" y="0"/>
                  </a:lnTo>
                  <a:lnTo>
                    <a:pt x="1097280" y="320040"/>
                  </a:lnTo>
                  <a:lnTo>
                    <a:pt x="1254034" y="320040"/>
                  </a:lnTo>
                  <a:lnTo>
                    <a:pt x="1254034" y="0"/>
                  </a:lnTo>
                  <a:lnTo>
                    <a:pt x="1410789" y="0"/>
                  </a:lnTo>
                  <a:lnTo>
                    <a:pt x="1410789" y="320040"/>
                  </a:lnTo>
                  <a:lnTo>
                    <a:pt x="1567543" y="320040"/>
                  </a:lnTo>
                  <a:lnTo>
                    <a:pt x="1567543" y="0"/>
                  </a:lnTo>
                  <a:lnTo>
                    <a:pt x="1724297" y="0"/>
                  </a:lnTo>
                  <a:lnTo>
                    <a:pt x="1724297" y="320040"/>
                  </a:lnTo>
                  <a:lnTo>
                    <a:pt x="1881051" y="320040"/>
                  </a:lnTo>
                  <a:lnTo>
                    <a:pt x="1881051" y="0"/>
                  </a:lnTo>
                  <a:lnTo>
                    <a:pt x="2037806" y="0"/>
                  </a:lnTo>
                  <a:lnTo>
                    <a:pt x="2037806" y="320040"/>
                  </a:lnTo>
                  <a:lnTo>
                    <a:pt x="2194560" y="320040"/>
                  </a:lnTo>
                  <a:lnTo>
                    <a:pt x="2194560" y="0"/>
                  </a:lnTo>
                  <a:lnTo>
                    <a:pt x="2351314" y="0"/>
                  </a:lnTo>
                  <a:lnTo>
                    <a:pt x="2351314" y="320040"/>
                  </a:lnTo>
                  <a:lnTo>
                    <a:pt x="2508069" y="320040"/>
                  </a:lnTo>
                  <a:lnTo>
                    <a:pt x="2508069" y="0"/>
                  </a:lnTo>
                  <a:lnTo>
                    <a:pt x="2664823" y="0"/>
                  </a:lnTo>
                  <a:lnTo>
                    <a:pt x="2664823" y="320040"/>
                  </a:lnTo>
                  <a:lnTo>
                    <a:pt x="2821577" y="320040"/>
                  </a:lnTo>
                  <a:lnTo>
                    <a:pt x="2821577" y="0"/>
                  </a:lnTo>
                  <a:lnTo>
                    <a:pt x="2978331" y="0"/>
                  </a:lnTo>
                  <a:lnTo>
                    <a:pt x="2978331" y="320040"/>
                  </a:lnTo>
                  <a:lnTo>
                    <a:pt x="3135086" y="320040"/>
                  </a:lnTo>
                  <a:lnTo>
                    <a:pt x="3135086" y="0"/>
                  </a:lnTo>
                  <a:lnTo>
                    <a:pt x="3291840" y="0"/>
                  </a:lnTo>
                  <a:lnTo>
                    <a:pt x="3291840" y="320040"/>
                  </a:lnTo>
                  <a:lnTo>
                    <a:pt x="3448594" y="320040"/>
                  </a:lnTo>
                  <a:lnTo>
                    <a:pt x="3448594" y="0"/>
                  </a:lnTo>
                  <a:lnTo>
                    <a:pt x="3605349" y="0"/>
                  </a:lnTo>
                  <a:lnTo>
                    <a:pt x="3605349" y="320040"/>
                  </a:lnTo>
                  <a:lnTo>
                    <a:pt x="3762103" y="320040"/>
                  </a:lnTo>
                  <a:lnTo>
                    <a:pt x="3762103" y="0"/>
                  </a:lnTo>
                  <a:lnTo>
                    <a:pt x="3918857" y="0"/>
                  </a:lnTo>
                  <a:lnTo>
                    <a:pt x="3918857" y="320040"/>
                  </a:lnTo>
                  <a:lnTo>
                    <a:pt x="4075611" y="320040"/>
                  </a:lnTo>
                  <a:lnTo>
                    <a:pt x="4075611" y="0"/>
                  </a:lnTo>
                  <a:lnTo>
                    <a:pt x="4232366" y="0"/>
                  </a:lnTo>
                  <a:lnTo>
                    <a:pt x="4232366" y="320040"/>
                  </a:lnTo>
                  <a:lnTo>
                    <a:pt x="4389120" y="320040"/>
                  </a:lnTo>
                </a:path>
              </a:pathLst>
            </a:custGeom>
            <a:ln w="15875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7041401" y="2651760"/>
              <a:ext cx="4389120" cy="320040"/>
            </a:xfrm>
            <a:custGeom>
              <a:avLst/>
              <a:gdLst/>
              <a:ahLst/>
              <a:cxnLst/>
              <a:rect l="l" t="t" r="r" b="b"/>
              <a:pathLst>
                <a:path w="4389120" h="320040">
                  <a:moveTo>
                    <a:pt x="0" y="320040"/>
                  </a:moveTo>
                  <a:lnTo>
                    <a:pt x="846473" y="320040"/>
                  </a:lnTo>
                  <a:lnTo>
                    <a:pt x="846473" y="0"/>
                  </a:lnTo>
                  <a:lnTo>
                    <a:pt x="1159982" y="0"/>
                  </a:lnTo>
                  <a:lnTo>
                    <a:pt x="1159982" y="320040"/>
                  </a:lnTo>
                  <a:lnTo>
                    <a:pt x="4389120" y="320040"/>
                  </a:lnTo>
                </a:path>
              </a:pathLst>
            </a:custGeom>
            <a:ln w="25400">
              <a:solidFill>
                <a:srgbClr val="15803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7178040" y="3383280"/>
              <a:ext cx="940526" cy="384048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7178040" y="3383280"/>
              <a:ext cx="94052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STOP</a:t>
              </a:r>
              <a:endParaRPr lang="en-US" sz="11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8118566" y="3383280"/>
              <a:ext cx="3448594" cy="384048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8"/>
            <p:cNvSpPr txBox="1"/>
            <p:nvPr/>
          </p:nvSpPr>
          <p:spPr>
            <a:xfrm>
              <a:off x="8118566" y="3383280"/>
              <a:ext cx="344859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RUN</a:t>
              </a:r>
              <a:endParaRPr lang="en-US" sz="11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8118566" y="1920240"/>
              <a:ext cx="0" cy="1847088"/>
            </a:xfrm>
            <a:prstGeom prst="line">
              <a:avLst/>
            </a:prstGeom>
            <a:noFill/>
            <a:ln w="9525">
              <a:solidFill>
                <a:srgbClr val="DC2626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6" name="Text 54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41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Tick 생성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o_btn = ~edge_reg &amp; debounce Makes a One-cycle Tick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7498080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Detect Timing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edge_reg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74520" y="1783080"/>
            <a:ext cx="5806440" cy="320040"/>
          </a:xfrm>
          <a:custGeom>
            <a:avLst/>
            <a:gdLst/>
            <a:ahLst/>
            <a:cxnLst/>
            <a:rect l="l" t="t" r="r" b="b"/>
            <a:pathLst>
              <a:path w="5806440" h="320040">
                <a:moveTo>
                  <a:pt x="0" y="320040"/>
                </a:moveTo>
                <a:lnTo>
                  <a:pt x="0" y="320040"/>
                </a:lnTo>
                <a:lnTo>
                  <a:pt x="0" y="0"/>
                </a:lnTo>
                <a:lnTo>
                  <a:pt x="181451" y="0"/>
                </a:lnTo>
                <a:lnTo>
                  <a:pt x="181451" y="320040"/>
                </a:lnTo>
                <a:lnTo>
                  <a:pt x="362903" y="320040"/>
                </a:lnTo>
                <a:lnTo>
                  <a:pt x="362903" y="0"/>
                </a:lnTo>
                <a:lnTo>
                  <a:pt x="544354" y="0"/>
                </a:lnTo>
                <a:lnTo>
                  <a:pt x="544354" y="320040"/>
                </a:lnTo>
                <a:lnTo>
                  <a:pt x="725805" y="320040"/>
                </a:lnTo>
                <a:lnTo>
                  <a:pt x="725805" y="0"/>
                </a:lnTo>
                <a:lnTo>
                  <a:pt x="907256" y="0"/>
                </a:lnTo>
                <a:lnTo>
                  <a:pt x="907256" y="320040"/>
                </a:lnTo>
                <a:lnTo>
                  <a:pt x="1088707" y="320040"/>
                </a:lnTo>
                <a:lnTo>
                  <a:pt x="1088707" y="0"/>
                </a:lnTo>
                <a:lnTo>
                  <a:pt x="1270159" y="0"/>
                </a:lnTo>
                <a:lnTo>
                  <a:pt x="1270159" y="320040"/>
                </a:lnTo>
                <a:lnTo>
                  <a:pt x="1451610" y="320040"/>
                </a:lnTo>
                <a:lnTo>
                  <a:pt x="1451610" y="0"/>
                </a:lnTo>
                <a:lnTo>
                  <a:pt x="1633061" y="0"/>
                </a:lnTo>
                <a:lnTo>
                  <a:pt x="1633061" y="320040"/>
                </a:lnTo>
                <a:lnTo>
                  <a:pt x="1814513" y="320040"/>
                </a:lnTo>
                <a:lnTo>
                  <a:pt x="1814513" y="0"/>
                </a:lnTo>
                <a:lnTo>
                  <a:pt x="1995964" y="0"/>
                </a:lnTo>
                <a:lnTo>
                  <a:pt x="1995964" y="320040"/>
                </a:lnTo>
                <a:lnTo>
                  <a:pt x="2177415" y="320040"/>
                </a:lnTo>
                <a:lnTo>
                  <a:pt x="2177415" y="0"/>
                </a:lnTo>
                <a:lnTo>
                  <a:pt x="2358866" y="0"/>
                </a:lnTo>
                <a:lnTo>
                  <a:pt x="2358866" y="320040"/>
                </a:lnTo>
                <a:lnTo>
                  <a:pt x="2540318" y="320040"/>
                </a:lnTo>
                <a:lnTo>
                  <a:pt x="2540318" y="0"/>
                </a:lnTo>
                <a:lnTo>
                  <a:pt x="2721769" y="0"/>
                </a:lnTo>
                <a:lnTo>
                  <a:pt x="2721769" y="320040"/>
                </a:lnTo>
                <a:lnTo>
                  <a:pt x="2903220" y="320040"/>
                </a:lnTo>
                <a:lnTo>
                  <a:pt x="2903220" y="0"/>
                </a:lnTo>
                <a:lnTo>
                  <a:pt x="3084671" y="0"/>
                </a:lnTo>
                <a:lnTo>
                  <a:pt x="3084671" y="320040"/>
                </a:lnTo>
                <a:lnTo>
                  <a:pt x="3266122" y="320040"/>
                </a:lnTo>
                <a:lnTo>
                  <a:pt x="3266122" y="0"/>
                </a:lnTo>
                <a:lnTo>
                  <a:pt x="3447574" y="0"/>
                </a:lnTo>
                <a:lnTo>
                  <a:pt x="3447574" y="320040"/>
                </a:lnTo>
                <a:lnTo>
                  <a:pt x="3629025" y="320040"/>
                </a:lnTo>
                <a:lnTo>
                  <a:pt x="3629025" y="0"/>
                </a:lnTo>
                <a:lnTo>
                  <a:pt x="3810476" y="0"/>
                </a:lnTo>
                <a:lnTo>
                  <a:pt x="3810476" y="320040"/>
                </a:lnTo>
                <a:lnTo>
                  <a:pt x="3991927" y="320040"/>
                </a:lnTo>
                <a:lnTo>
                  <a:pt x="3991927" y="0"/>
                </a:lnTo>
                <a:lnTo>
                  <a:pt x="4173379" y="0"/>
                </a:lnTo>
                <a:lnTo>
                  <a:pt x="4173379" y="320040"/>
                </a:lnTo>
                <a:lnTo>
                  <a:pt x="4354830" y="320040"/>
                </a:lnTo>
                <a:lnTo>
                  <a:pt x="4354830" y="0"/>
                </a:lnTo>
                <a:lnTo>
                  <a:pt x="4536281" y="0"/>
                </a:lnTo>
                <a:lnTo>
                  <a:pt x="4536281" y="320040"/>
                </a:lnTo>
                <a:lnTo>
                  <a:pt x="4717733" y="320040"/>
                </a:lnTo>
                <a:lnTo>
                  <a:pt x="4717733" y="0"/>
                </a:lnTo>
                <a:lnTo>
                  <a:pt x="4899184" y="0"/>
                </a:lnTo>
                <a:lnTo>
                  <a:pt x="4899184" y="320040"/>
                </a:lnTo>
                <a:lnTo>
                  <a:pt x="5080635" y="320040"/>
                </a:lnTo>
                <a:lnTo>
                  <a:pt x="5080635" y="0"/>
                </a:lnTo>
                <a:lnTo>
                  <a:pt x="5262086" y="0"/>
                </a:lnTo>
                <a:lnTo>
                  <a:pt x="5262086" y="320040"/>
                </a:lnTo>
                <a:lnTo>
                  <a:pt x="5443538" y="320040"/>
                </a:lnTo>
                <a:lnTo>
                  <a:pt x="5443538" y="0"/>
                </a:lnTo>
                <a:lnTo>
                  <a:pt x="5624989" y="0"/>
                </a:lnTo>
                <a:lnTo>
                  <a:pt x="5624989" y="320040"/>
                </a:lnTo>
                <a:lnTo>
                  <a:pt x="5806440" y="320040"/>
                </a:lnTo>
              </a:path>
            </a:pathLst>
          </a:custGeom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874520" y="2560320"/>
            <a:ext cx="5806440" cy="320040"/>
          </a:xfrm>
          <a:custGeom>
            <a:avLst/>
            <a:gdLst/>
            <a:ahLst/>
            <a:cxnLst/>
            <a:rect l="l" t="t" r="r" b="b"/>
            <a:pathLst>
              <a:path w="5806440" h="320040">
                <a:moveTo>
                  <a:pt x="0" y="320040"/>
                </a:moveTo>
                <a:lnTo>
                  <a:pt x="1451610" y="320040"/>
                </a:lnTo>
                <a:lnTo>
                  <a:pt x="1451610" y="0"/>
                </a:lnTo>
                <a:lnTo>
                  <a:pt x="4354830" y="0"/>
                </a:lnTo>
                <a:lnTo>
                  <a:pt x="4354830" y="320040"/>
                </a:lnTo>
                <a:lnTo>
                  <a:pt x="5806440" y="320040"/>
                </a:lnTo>
              </a:path>
            </a:pathLst>
          </a:custGeom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874520" y="3291840"/>
            <a:ext cx="5806440" cy="320040"/>
          </a:xfrm>
          <a:custGeom>
            <a:avLst/>
            <a:gdLst/>
            <a:ahLst/>
            <a:cxnLst/>
            <a:rect l="l" t="t" r="r" b="b"/>
            <a:pathLst>
              <a:path w="5806440" h="320040">
                <a:moveTo>
                  <a:pt x="0" y="320040"/>
                </a:moveTo>
                <a:lnTo>
                  <a:pt x="1814513" y="320040"/>
                </a:lnTo>
                <a:lnTo>
                  <a:pt x="1814513" y="0"/>
                </a:lnTo>
                <a:lnTo>
                  <a:pt x="4717733" y="0"/>
                </a:lnTo>
                <a:lnTo>
                  <a:pt x="4717733" y="320040"/>
                </a:lnTo>
                <a:lnTo>
                  <a:pt x="5806440" y="320040"/>
                </a:lnTo>
              </a:path>
            </a:pathLst>
          </a:custGeom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874520" y="4023360"/>
            <a:ext cx="5806440" cy="320040"/>
          </a:xfrm>
          <a:custGeom>
            <a:avLst/>
            <a:gdLst/>
            <a:ahLst/>
            <a:cxnLst/>
            <a:rect l="l" t="t" r="r" b="b"/>
            <a:pathLst>
              <a:path w="5806440" h="320040">
                <a:moveTo>
                  <a:pt x="0" y="320040"/>
                </a:moveTo>
                <a:lnTo>
                  <a:pt x="1451610" y="320040"/>
                </a:lnTo>
                <a:lnTo>
                  <a:pt x="1451610" y="0"/>
                </a:lnTo>
                <a:lnTo>
                  <a:pt x="1814513" y="0"/>
                </a:lnTo>
                <a:lnTo>
                  <a:pt x="1814513" y="320040"/>
                </a:lnTo>
                <a:lnTo>
                  <a:pt x="5806440" y="320040"/>
                </a:lnTo>
              </a:path>
            </a:pathLst>
          </a:custGeom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326130" y="1783080"/>
            <a:ext cx="0" cy="265176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89033" y="1783080"/>
            <a:ext cx="0" cy="265176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863090" y="4526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 0 → 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43896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edge_reg = 1 cycle 지연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1188720"/>
            <a:ext cx="3703320" cy="384048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75320" y="13167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o_btn Truth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0" y="1645920"/>
            <a:ext cx="86868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229600" y="16459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280" y="1645920"/>
            <a:ext cx="86868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098280" y="16459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edge_reg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66960" y="1645920"/>
            <a:ext cx="73152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966960" y="16459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698480" y="1645920"/>
            <a:ext cx="100584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69848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2029968"/>
            <a:ext cx="868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98280" y="2029968"/>
            <a:ext cx="868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9098280" y="20299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966960" y="2029968"/>
            <a:ext cx="731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966960" y="2029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698480" y="2029968"/>
            <a:ext cx="1005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698480" y="20299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미입력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29600" y="2670048"/>
            <a:ext cx="868680" cy="64008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8229600" y="26700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98280" y="2670048"/>
            <a:ext cx="868680" cy="64008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9098280" y="26700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966960" y="2670048"/>
            <a:ext cx="731520" cy="64008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966960" y="26700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698480" y="2670048"/>
            <a:ext cx="1005840" cy="64008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0698480" y="26700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rising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229600" y="3310128"/>
            <a:ext cx="868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8229600" y="331012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098280" y="3310128"/>
            <a:ext cx="868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9098280" y="331012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966960" y="3310128"/>
            <a:ext cx="731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9966960" y="33101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0698480" y="3310128"/>
            <a:ext cx="1005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10698480" y="33101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229600" y="3950208"/>
            <a:ext cx="868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8229600" y="39502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098280" y="3950208"/>
            <a:ext cx="868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9098280" y="39502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966960" y="3950208"/>
            <a:ext cx="731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9966960" y="39502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0698480" y="3950208"/>
            <a:ext cx="1005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10698480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falling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411480" y="5212080"/>
            <a:ext cx="3703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39496" y="5623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39496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923544" y="521208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1회 = 이벤트 1회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4251960" y="5212080"/>
            <a:ext cx="3703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4379976" y="5623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4379976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764024" y="521208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length 무관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8092440" y="5212080"/>
            <a:ext cx="3703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220456" y="5623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8220456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8604504" y="521208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동기 1-cycle pulse</a:t>
            </a:r>
            <a:endParaRPr lang="en-US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41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Debounce 개념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Tick 이점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Tick Keeps FSM_RUN_STOP at Three States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55778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26418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</a:t>
            </a:r>
            <a:r>
              <a:rPr lang="en-US" sz="1500" b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FSM</a:t>
            </a:r>
          </a:p>
          <a:p>
            <a:pPr marL="0" indent="0" algn="l">
              <a:buNone/>
            </a:pPr>
            <a:r>
              <a:rPr lang="en-US" sz="14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 </a:t>
            </a:r>
            <a:r>
              <a:rPr lang="en-US" sz="14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state 필요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_WAIT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7830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6974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822960" cy="82296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262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_WAIT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6118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3611880"/>
            <a:ext cx="822960" cy="82296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269748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_WAIT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6118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52628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8728" y="2194560"/>
            <a:ext cx="94183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3657600" y="1892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624328"/>
            <a:ext cx="0" cy="94183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919472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H="1">
            <a:off x="3566160" y="4023360"/>
            <a:ext cx="94183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657600" y="4087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3108960" y="2651760"/>
            <a:ext cx="0" cy="94183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090672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H="1">
            <a:off x="1603449" y="2498452"/>
            <a:ext cx="1201619" cy="1201619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2148840" y="3035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L=1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V="1">
            <a:off x="1280160" y="2651760"/>
            <a:ext cx="0" cy="94183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48640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09928" y="2194560"/>
            <a:ext cx="94183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828800" y="1892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L=0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1188720"/>
            <a:ext cx="55778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400800" y="13167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입력 FSM: 3 state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766560" y="2514600"/>
            <a:ext cx="960120" cy="96012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766560" y="2514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95360" y="2514600"/>
            <a:ext cx="960120" cy="96012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8595360" y="2514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424160" y="2514600"/>
            <a:ext cx="960120" cy="96012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0424160" y="2514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55480" y="2491740"/>
            <a:ext cx="914400" cy="251460"/>
          </a:xfrm>
          <a:custGeom>
            <a:avLst/>
            <a:gdLst/>
            <a:ahLst/>
            <a:cxnLst/>
            <a:rect l="l" t="t" r="r" b="b"/>
            <a:pathLst>
              <a:path w="914400" h="251460">
                <a:moveTo>
                  <a:pt x="0" y="251460"/>
                </a:moveTo>
                <a:lnTo>
                  <a:pt x="38100" y="211296"/>
                </a:lnTo>
                <a:lnTo>
                  <a:pt x="76200" y="174625"/>
                </a:lnTo>
                <a:lnTo>
                  <a:pt x="114300" y="141446"/>
                </a:lnTo>
                <a:lnTo>
                  <a:pt x="152400" y="111760"/>
                </a:lnTo>
                <a:lnTo>
                  <a:pt x="190500" y="85566"/>
                </a:lnTo>
                <a:lnTo>
                  <a:pt x="228600" y="62865"/>
                </a:lnTo>
                <a:lnTo>
                  <a:pt x="266700" y="43656"/>
                </a:lnTo>
                <a:lnTo>
                  <a:pt x="304800" y="27940"/>
                </a:lnTo>
                <a:lnTo>
                  <a:pt x="342900" y="15716"/>
                </a:lnTo>
                <a:lnTo>
                  <a:pt x="381000" y="6985"/>
                </a:lnTo>
                <a:lnTo>
                  <a:pt x="419100" y="1746"/>
                </a:lnTo>
                <a:lnTo>
                  <a:pt x="457200" y="0"/>
                </a:lnTo>
                <a:lnTo>
                  <a:pt x="495300" y="1746"/>
                </a:lnTo>
                <a:lnTo>
                  <a:pt x="533400" y="6985"/>
                </a:lnTo>
                <a:lnTo>
                  <a:pt x="571500" y="15716"/>
                </a:lnTo>
                <a:lnTo>
                  <a:pt x="609600" y="27940"/>
                </a:lnTo>
                <a:lnTo>
                  <a:pt x="647700" y="43656"/>
                </a:lnTo>
                <a:lnTo>
                  <a:pt x="685800" y="62865"/>
                </a:lnTo>
                <a:lnTo>
                  <a:pt x="723900" y="85566"/>
                </a:lnTo>
                <a:lnTo>
                  <a:pt x="762000" y="111760"/>
                </a:lnTo>
                <a:lnTo>
                  <a:pt x="800100" y="141446"/>
                </a:lnTo>
                <a:lnTo>
                  <a:pt x="838200" y="174625"/>
                </a:lnTo>
                <a:lnTo>
                  <a:pt x="876300" y="211296"/>
                </a:lnTo>
                <a:lnTo>
                  <a:pt x="914400" y="25146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555480" y="3246120"/>
            <a:ext cx="914400" cy="251460"/>
          </a:xfrm>
          <a:custGeom>
            <a:avLst/>
            <a:gdLst/>
            <a:ahLst/>
            <a:cxnLst/>
            <a:rect l="l" t="t" r="r" b="b"/>
            <a:pathLst>
              <a:path w="914400" h="251460">
                <a:moveTo>
                  <a:pt x="914400" y="0"/>
                </a:moveTo>
                <a:lnTo>
                  <a:pt x="876300" y="40164"/>
                </a:lnTo>
                <a:lnTo>
                  <a:pt x="838200" y="76835"/>
                </a:lnTo>
                <a:lnTo>
                  <a:pt x="800100" y="110014"/>
                </a:lnTo>
                <a:lnTo>
                  <a:pt x="762000" y="139700"/>
                </a:lnTo>
                <a:lnTo>
                  <a:pt x="723900" y="165894"/>
                </a:lnTo>
                <a:lnTo>
                  <a:pt x="685800" y="188595"/>
                </a:lnTo>
                <a:lnTo>
                  <a:pt x="647700" y="207804"/>
                </a:lnTo>
                <a:lnTo>
                  <a:pt x="609600" y="223520"/>
                </a:lnTo>
                <a:lnTo>
                  <a:pt x="571500" y="235744"/>
                </a:lnTo>
                <a:lnTo>
                  <a:pt x="533400" y="244475"/>
                </a:lnTo>
                <a:lnTo>
                  <a:pt x="495300" y="249714"/>
                </a:lnTo>
                <a:lnTo>
                  <a:pt x="457200" y="251460"/>
                </a:lnTo>
                <a:lnTo>
                  <a:pt x="419100" y="249714"/>
                </a:lnTo>
                <a:lnTo>
                  <a:pt x="381000" y="244475"/>
                </a:lnTo>
                <a:lnTo>
                  <a:pt x="342900" y="235744"/>
                </a:lnTo>
                <a:lnTo>
                  <a:pt x="304800" y="223520"/>
                </a:lnTo>
                <a:lnTo>
                  <a:pt x="266700" y="207804"/>
                </a:lnTo>
                <a:lnTo>
                  <a:pt x="228600" y="188595"/>
                </a:lnTo>
                <a:lnTo>
                  <a:pt x="190500" y="165894"/>
                </a:lnTo>
                <a:lnTo>
                  <a:pt x="152400" y="139700"/>
                </a:lnTo>
                <a:lnTo>
                  <a:pt x="114300" y="110014"/>
                </a:lnTo>
                <a:lnTo>
                  <a:pt x="76200" y="76835"/>
                </a:lnTo>
                <a:lnTo>
                  <a:pt x="38100" y="40164"/>
                </a:lnTo>
                <a:lnTo>
                  <a:pt x="0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726680" y="2491740"/>
            <a:ext cx="914400" cy="251460"/>
          </a:xfrm>
          <a:custGeom>
            <a:avLst/>
            <a:gdLst/>
            <a:ahLst/>
            <a:cxnLst/>
            <a:rect l="l" t="t" r="r" b="b"/>
            <a:pathLst>
              <a:path w="914400" h="251460">
                <a:moveTo>
                  <a:pt x="914400" y="251460"/>
                </a:moveTo>
                <a:lnTo>
                  <a:pt x="876300" y="211296"/>
                </a:lnTo>
                <a:lnTo>
                  <a:pt x="838200" y="174625"/>
                </a:lnTo>
                <a:lnTo>
                  <a:pt x="800100" y="141446"/>
                </a:lnTo>
                <a:lnTo>
                  <a:pt x="762000" y="111760"/>
                </a:lnTo>
                <a:lnTo>
                  <a:pt x="723900" y="85566"/>
                </a:lnTo>
                <a:lnTo>
                  <a:pt x="685800" y="62865"/>
                </a:lnTo>
                <a:lnTo>
                  <a:pt x="647700" y="43656"/>
                </a:lnTo>
                <a:lnTo>
                  <a:pt x="609600" y="27940"/>
                </a:lnTo>
                <a:lnTo>
                  <a:pt x="571500" y="15716"/>
                </a:lnTo>
                <a:lnTo>
                  <a:pt x="533400" y="6985"/>
                </a:lnTo>
                <a:lnTo>
                  <a:pt x="495300" y="1746"/>
                </a:lnTo>
                <a:lnTo>
                  <a:pt x="457200" y="0"/>
                </a:lnTo>
                <a:lnTo>
                  <a:pt x="419100" y="1746"/>
                </a:lnTo>
                <a:lnTo>
                  <a:pt x="381000" y="6985"/>
                </a:lnTo>
                <a:lnTo>
                  <a:pt x="342900" y="15716"/>
                </a:lnTo>
                <a:lnTo>
                  <a:pt x="304800" y="27940"/>
                </a:lnTo>
                <a:lnTo>
                  <a:pt x="266700" y="43656"/>
                </a:lnTo>
                <a:lnTo>
                  <a:pt x="228600" y="62865"/>
                </a:lnTo>
                <a:lnTo>
                  <a:pt x="190500" y="85566"/>
                </a:lnTo>
                <a:lnTo>
                  <a:pt x="152400" y="111760"/>
                </a:lnTo>
                <a:lnTo>
                  <a:pt x="114300" y="141446"/>
                </a:lnTo>
                <a:lnTo>
                  <a:pt x="76200" y="174625"/>
                </a:lnTo>
                <a:lnTo>
                  <a:pt x="38100" y="211296"/>
                </a:lnTo>
                <a:lnTo>
                  <a:pt x="0" y="25146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726680" y="3246120"/>
            <a:ext cx="914400" cy="251460"/>
          </a:xfrm>
          <a:custGeom>
            <a:avLst/>
            <a:gdLst/>
            <a:ahLst/>
            <a:cxnLst/>
            <a:rect l="l" t="t" r="r" b="b"/>
            <a:pathLst>
              <a:path w="914400" h="251460">
                <a:moveTo>
                  <a:pt x="0" y="0"/>
                </a:moveTo>
                <a:lnTo>
                  <a:pt x="38100" y="40164"/>
                </a:lnTo>
                <a:lnTo>
                  <a:pt x="76200" y="76835"/>
                </a:lnTo>
                <a:lnTo>
                  <a:pt x="114300" y="110014"/>
                </a:lnTo>
                <a:lnTo>
                  <a:pt x="152400" y="139700"/>
                </a:lnTo>
                <a:lnTo>
                  <a:pt x="190500" y="165894"/>
                </a:lnTo>
                <a:lnTo>
                  <a:pt x="228600" y="188595"/>
                </a:lnTo>
                <a:lnTo>
                  <a:pt x="266700" y="207804"/>
                </a:lnTo>
                <a:lnTo>
                  <a:pt x="304800" y="223520"/>
                </a:lnTo>
                <a:lnTo>
                  <a:pt x="342900" y="235744"/>
                </a:lnTo>
                <a:lnTo>
                  <a:pt x="381000" y="244475"/>
                </a:lnTo>
                <a:lnTo>
                  <a:pt x="419100" y="249714"/>
                </a:lnTo>
                <a:lnTo>
                  <a:pt x="457200" y="251460"/>
                </a:lnTo>
                <a:lnTo>
                  <a:pt x="495300" y="249714"/>
                </a:lnTo>
                <a:lnTo>
                  <a:pt x="533400" y="244475"/>
                </a:lnTo>
                <a:lnTo>
                  <a:pt x="571500" y="235744"/>
                </a:lnTo>
                <a:lnTo>
                  <a:pt x="609600" y="223520"/>
                </a:lnTo>
                <a:lnTo>
                  <a:pt x="647700" y="207804"/>
                </a:lnTo>
                <a:lnTo>
                  <a:pt x="685800" y="188595"/>
                </a:lnTo>
                <a:lnTo>
                  <a:pt x="723900" y="165894"/>
                </a:lnTo>
                <a:lnTo>
                  <a:pt x="762000" y="139700"/>
                </a:lnTo>
                <a:lnTo>
                  <a:pt x="800100" y="110014"/>
                </a:lnTo>
                <a:lnTo>
                  <a:pt x="838200" y="76835"/>
                </a:lnTo>
                <a:lnTo>
                  <a:pt x="876300" y="40164"/>
                </a:lnTo>
                <a:lnTo>
                  <a:pt x="914400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41832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 tick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 tick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758952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941832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 tick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11480" y="5029200"/>
            <a:ext cx="2743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48640" y="516636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486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14400" y="5138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수 6 → 3</a:t>
            </a:r>
            <a:endParaRPr lang="en-US" sz="145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55321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 대기 state 제거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91840" y="5029200"/>
            <a:ext cx="2743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429000" y="516636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342900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3794760" y="5138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분리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3474720" y="55321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검출 = debouncer, FSM = 순수 제어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172200" y="5029200"/>
            <a:ext cx="2743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309360" y="516636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630936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675120" y="5138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clock domain</a:t>
            </a:r>
            <a:endParaRPr lang="en-US" sz="1450" dirty="0"/>
          </a:p>
        </p:txBody>
      </p:sp>
      <p:sp>
        <p:nvSpPr>
          <p:cNvPr id="64" name="Text 62"/>
          <p:cNvSpPr txBox="1"/>
          <p:nvPr/>
        </p:nvSpPr>
        <p:spPr>
          <a:xfrm>
            <a:off x="6355080" y="55321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= enable 조건 → gated clock 불필요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052560" y="5029200"/>
            <a:ext cx="2743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9189720" y="516636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918972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9555480" y="5138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재사용성</a:t>
            </a:r>
            <a:endParaRPr lang="en-US" sz="1450" dirty="0"/>
          </a:p>
        </p:txBody>
      </p:sp>
      <p:sp>
        <p:nvSpPr>
          <p:cNvPr id="69" name="Text 67"/>
          <p:cNvSpPr txBox="1"/>
          <p:nvPr/>
        </p:nvSpPr>
        <p:spPr>
          <a:xfrm>
            <a:off x="9235440" y="55321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1-cycle pulse → counter · 다른 FSM에 그대로 연결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41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Homework-1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Mealy State Diagram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Mealy: 4 States Detect 0101, Output Depends on din_bit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781812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02920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label = din_bit / mealy_out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" y="2658618"/>
            <a:ext cx="493776" cy="460699"/>
          </a:xfrm>
          <a:custGeom>
            <a:avLst/>
            <a:gdLst/>
            <a:ahLst/>
            <a:cxnLst/>
            <a:rect l="l" t="t" r="r" b="b"/>
            <a:pathLst>
              <a:path w="493776" h="460699">
                <a:moveTo>
                  <a:pt x="123444" y="460699"/>
                </a:moveTo>
                <a:lnTo>
                  <a:pt x="88191" y="436015"/>
                </a:lnTo>
                <a:lnTo>
                  <a:pt x="57761" y="405585"/>
                </a:lnTo>
                <a:lnTo>
                  <a:pt x="33077" y="370332"/>
                </a:lnTo>
                <a:lnTo>
                  <a:pt x="14889" y="331329"/>
                </a:lnTo>
                <a:lnTo>
                  <a:pt x="3751" y="289760"/>
                </a:lnTo>
                <a:lnTo>
                  <a:pt x="0" y="246888"/>
                </a:lnTo>
                <a:lnTo>
                  <a:pt x="3751" y="204016"/>
                </a:lnTo>
                <a:lnTo>
                  <a:pt x="14889" y="162447"/>
                </a:lnTo>
                <a:lnTo>
                  <a:pt x="33077" y="123444"/>
                </a:lnTo>
                <a:lnTo>
                  <a:pt x="57761" y="88191"/>
                </a:lnTo>
                <a:lnTo>
                  <a:pt x="88191" y="57761"/>
                </a:lnTo>
                <a:lnTo>
                  <a:pt x="123444" y="33077"/>
                </a:lnTo>
                <a:lnTo>
                  <a:pt x="162447" y="14889"/>
                </a:lnTo>
                <a:lnTo>
                  <a:pt x="204016" y="3751"/>
                </a:lnTo>
                <a:lnTo>
                  <a:pt x="246888" y="0"/>
                </a:lnTo>
                <a:lnTo>
                  <a:pt x="289760" y="3751"/>
                </a:lnTo>
                <a:lnTo>
                  <a:pt x="331329" y="14889"/>
                </a:lnTo>
                <a:lnTo>
                  <a:pt x="370332" y="33077"/>
                </a:lnTo>
                <a:lnTo>
                  <a:pt x="405585" y="57761"/>
                </a:lnTo>
                <a:lnTo>
                  <a:pt x="436015" y="88191"/>
                </a:lnTo>
                <a:lnTo>
                  <a:pt x="460699" y="123444"/>
                </a:lnTo>
                <a:lnTo>
                  <a:pt x="478887" y="162447"/>
                </a:lnTo>
                <a:lnTo>
                  <a:pt x="490025" y="204016"/>
                </a:lnTo>
                <a:lnTo>
                  <a:pt x="493776" y="246888"/>
                </a:lnTo>
                <a:lnTo>
                  <a:pt x="490025" y="289760"/>
                </a:lnTo>
                <a:lnTo>
                  <a:pt x="478887" y="331329"/>
                </a:lnTo>
                <a:lnTo>
                  <a:pt x="460699" y="370332"/>
                </a:lnTo>
                <a:lnTo>
                  <a:pt x="436015" y="405585"/>
                </a:lnTo>
                <a:lnTo>
                  <a:pt x="405585" y="436015"/>
                </a:lnTo>
                <a:lnTo>
                  <a:pt x="370332" y="460699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6601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53512" y="3921563"/>
            <a:ext cx="493776" cy="460699"/>
          </a:xfrm>
          <a:custGeom>
            <a:avLst/>
            <a:gdLst/>
            <a:ahLst/>
            <a:cxnLst/>
            <a:rect l="l" t="t" r="r" b="b"/>
            <a:pathLst>
              <a:path w="493776" h="460699">
                <a:moveTo>
                  <a:pt x="370332" y="0"/>
                </a:moveTo>
                <a:lnTo>
                  <a:pt x="405585" y="24684"/>
                </a:lnTo>
                <a:lnTo>
                  <a:pt x="436015" y="55115"/>
                </a:lnTo>
                <a:lnTo>
                  <a:pt x="460699" y="90367"/>
                </a:lnTo>
                <a:lnTo>
                  <a:pt x="478887" y="129371"/>
                </a:lnTo>
                <a:lnTo>
                  <a:pt x="490025" y="170940"/>
                </a:lnTo>
                <a:lnTo>
                  <a:pt x="493776" y="213811"/>
                </a:lnTo>
                <a:lnTo>
                  <a:pt x="490025" y="256683"/>
                </a:lnTo>
                <a:lnTo>
                  <a:pt x="478887" y="298252"/>
                </a:lnTo>
                <a:lnTo>
                  <a:pt x="460699" y="337255"/>
                </a:lnTo>
                <a:lnTo>
                  <a:pt x="436015" y="372508"/>
                </a:lnTo>
                <a:lnTo>
                  <a:pt x="405585" y="402938"/>
                </a:lnTo>
                <a:lnTo>
                  <a:pt x="370332" y="427623"/>
                </a:lnTo>
                <a:lnTo>
                  <a:pt x="331329" y="445810"/>
                </a:lnTo>
                <a:lnTo>
                  <a:pt x="289760" y="456948"/>
                </a:lnTo>
                <a:lnTo>
                  <a:pt x="246888" y="460699"/>
                </a:lnTo>
                <a:lnTo>
                  <a:pt x="204016" y="456948"/>
                </a:lnTo>
                <a:lnTo>
                  <a:pt x="162447" y="445810"/>
                </a:lnTo>
                <a:lnTo>
                  <a:pt x="123444" y="427623"/>
                </a:lnTo>
                <a:lnTo>
                  <a:pt x="88191" y="402938"/>
                </a:lnTo>
                <a:lnTo>
                  <a:pt x="57761" y="372508"/>
                </a:lnTo>
                <a:lnTo>
                  <a:pt x="33077" y="337255"/>
                </a:lnTo>
                <a:lnTo>
                  <a:pt x="14889" y="298252"/>
                </a:lnTo>
                <a:lnTo>
                  <a:pt x="3751" y="256683"/>
                </a:lnTo>
                <a:lnTo>
                  <a:pt x="0" y="213811"/>
                </a:lnTo>
                <a:lnTo>
                  <a:pt x="3751" y="170940"/>
                </a:lnTo>
                <a:lnTo>
                  <a:pt x="14889" y="129371"/>
                </a:lnTo>
                <a:lnTo>
                  <a:pt x="33077" y="90367"/>
                </a:lnTo>
                <a:lnTo>
                  <a:pt x="57761" y="55115"/>
                </a:lnTo>
                <a:lnTo>
                  <a:pt x="88191" y="24684"/>
                </a:lnTo>
                <a:lnTo>
                  <a:pt x="123444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651760" y="441883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64208" y="3520440"/>
            <a:ext cx="110642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76022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0168" y="3520440"/>
            <a:ext cx="110642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72618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96128" y="3520440"/>
            <a:ext cx="110642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69214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44168" y="2439253"/>
            <a:ext cx="3712464" cy="685800"/>
          </a:xfrm>
          <a:custGeom>
            <a:avLst/>
            <a:gdLst/>
            <a:ahLst/>
            <a:cxnLst/>
            <a:rect l="l" t="t" r="r" b="b"/>
            <a:pathLst>
              <a:path w="3712464" h="685800">
                <a:moveTo>
                  <a:pt x="3712464" y="685800"/>
                </a:moveTo>
                <a:lnTo>
                  <a:pt x="3557778" y="576263"/>
                </a:lnTo>
                <a:lnTo>
                  <a:pt x="3403092" y="476250"/>
                </a:lnTo>
                <a:lnTo>
                  <a:pt x="3248406" y="385763"/>
                </a:lnTo>
                <a:lnTo>
                  <a:pt x="3093720" y="304800"/>
                </a:lnTo>
                <a:lnTo>
                  <a:pt x="2939034" y="233362"/>
                </a:lnTo>
                <a:lnTo>
                  <a:pt x="2784348" y="171450"/>
                </a:lnTo>
                <a:lnTo>
                  <a:pt x="2629662" y="119062"/>
                </a:lnTo>
                <a:lnTo>
                  <a:pt x="2474976" y="76200"/>
                </a:lnTo>
                <a:lnTo>
                  <a:pt x="2320290" y="42863"/>
                </a:lnTo>
                <a:lnTo>
                  <a:pt x="2165604" y="19050"/>
                </a:lnTo>
                <a:lnTo>
                  <a:pt x="2010918" y="4763"/>
                </a:lnTo>
                <a:lnTo>
                  <a:pt x="1856232" y="0"/>
                </a:lnTo>
                <a:lnTo>
                  <a:pt x="1701546" y="4762"/>
                </a:lnTo>
                <a:lnTo>
                  <a:pt x="1546860" y="19050"/>
                </a:lnTo>
                <a:lnTo>
                  <a:pt x="1392174" y="42863"/>
                </a:lnTo>
                <a:lnTo>
                  <a:pt x="1237488" y="76200"/>
                </a:lnTo>
                <a:lnTo>
                  <a:pt x="1082802" y="119063"/>
                </a:lnTo>
                <a:lnTo>
                  <a:pt x="928116" y="171450"/>
                </a:lnTo>
                <a:lnTo>
                  <a:pt x="773430" y="233362"/>
                </a:lnTo>
                <a:lnTo>
                  <a:pt x="618744" y="304800"/>
                </a:lnTo>
                <a:lnTo>
                  <a:pt x="464058" y="385763"/>
                </a:lnTo>
                <a:lnTo>
                  <a:pt x="309372" y="476250"/>
                </a:lnTo>
                <a:lnTo>
                  <a:pt x="154686" y="576263"/>
                </a:lnTo>
                <a:lnTo>
                  <a:pt x="0" y="68580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377440" y="2146645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3915827"/>
            <a:ext cx="3712464" cy="566928"/>
          </a:xfrm>
          <a:custGeom>
            <a:avLst/>
            <a:gdLst/>
            <a:ahLst/>
            <a:cxnLst/>
            <a:rect l="l" t="t" r="r" b="b"/>
            <a:pathLst>
              <a:path w="3712464" h="566928">
                <a:moveTo>
                  <a:pt x="3712464" y="0"/>
                </a:moveTo>
                <a:lnTo>
                  <a:pt x="3557778" y="90551"/>
                </a:lnTo>
                <a:lnTo>
                  <a:pt x="3403092" y="173228"/>
                </a:lnTo>
                <a:lnTo>
                  <a:pt x="3248406" y="248031"/>
                </a:lnTo>
                <a:lnTo>
                  <a:pt x="3093720" y="314960"/>
                </a:lnTo>
                <a:lnTo>
                  <a:pt x="2939034" y="374015"/>
                </a:lnTo>
                <a:lnTo>
                  <a:pt x="2784348" y="425196"/>
                </a:lnTo>
                <a:lnTo>
                  <a:pt x="2629662" y="468503"/>
                </a:lnTo>
                <a:lnTo>
                  <a:pt x="2474976" y="503936"/>
                </a:lnTo>
                <a:lnTo>
                  <a:pt x="2320290" y="531495"/>
                </a:lnTo>
                <a:lnTo>
                  <a:pt x="2165604" y="551180"/>
                </a:lnTo>
                <a:lnTo>
                  <a:pt x="2010918" y="562991"/>
                </a:lnTo>
                <a:lnTo>
                  <a:pt x="1856232" y="566928"/>
                </a:lnTo>
                <a:lnTo>
                  <a:pt x="1701546" y="562991"/>
                </a:lnTo>
                <a:lnTo>
                  <a:pt x="1546860" y="551180"/>
                </a:lnTo>
                <a:lnTo>
                  <a:pt x="1392174" y="531495"/>
                </a:lnTo>
                <a:lnTo>
                  <a:pt x="1237488" y="503936"/>
                </a:lnTo>
                <a:lnTo>
                  <a:pt x="1082802" y="468503"/>
                </a:lnTo>
                <a:lnTo>
                  <a:pt x="928116" y="425196"/>
                </a:lnTo>
                <a:lnTo>
                  <a:pt x="773430" y="374015"/>
                </a:lnTo>
                <a:lnTo>
                  <a:pt x="618744" y="314960"/>
                </a:lnTo>
                <a:lnTo>
                  <a:pt x="464058" y="248031"/>
                </a:lnTo>
                <a:lnTo>
                  <a:pt x="309372" y="173228"/>
                </a:lnTo>
                <a:lnTo>
                  <a:pt x="154686" y="90551"/>
                </a:lnTo>
                <a:lnTo>
                  <a:pt x="0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343400" y="4519331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44168" y="3915827"/>
            <a:ext cx="5678424" cy="1078992"/>
          </a:xfrm>
          <a:custGeom>
            <a:avLst/>
            <a:gdLst/>
            <a:ahLst/>
            <a:cxnLst/>
            <a:rect l="l" t="t" r="r" b="b"/>
            <a:pathLst>
              <a:path w="5678424" h="1078992">
                <a:moveTo>
                  <a:pt x="5678424" y="0"/>
                </a:moveTo>
                <a:lnTo>
                  <a:pt x="5441823" y="172339"/>
                </a:lnTo>
                <a:lnTo>
                  <a:pt x="5205222" y="329692"/>
                </a:lnTo>
                <a:lnTo>
                  <a:pt x="4968621" y="472059"/>
                </a:lnTo>
                <a:lnTo>
                  <a:pt x="4732020" y="599440"/>
                </a:lnTo>
                <a:lnTo>
                  <a:pt x="4495419" y="711835"/>
                </a:lnTo>
                <a:lnTo>
                  <a:pt x="4258818" y="809244"/>
                </a:lnTo>
                <a:lnTo>
                  <a:pt x="4022217" y="891667"/>
                </a:lnTo>
                <a:lnTo>
                  <a:pt x="3785616" y="959104"/>
                </a:lnTo>
                <a:lnTo>
                  <a:pt x="3549015" y="1011555"/>
                </a:lnTo>
                <a:lnTo>
                  <a:pt x="3312414" y="1049020"/>
                </a:lnTo>
                <a:lnTo>
                  <a:pt x="3075813" y="1071499"/>
                </a:lnTo>
                <a:lnTo>
                  <a:pt x="2839212" y="1078992"/>
                </a:lnTo>
                <a:lnTo>
                  <a:pt x="2602611" y="1071499"/>
                </a:lnTo>
                <a:lnTo>
                  <a:pt x="2366010" y="1049020"/>
                </a:lnTo>
                <a:lnTo>
                  <a:pt x="2129409" y="1011555"/>
                </a:lnTo>
                <a:lnTo>
                  <a:pt x="1892808" y="959104"/>
                </a:lnTo>
                <a:lnTo>
                  <a:pt x="1656207" y="891667"/>
                </a:lnTo>
                <a:lnTo>
                  <a:pt x="1419606" y="809244"/>
                </a:lnTo>
                <a:lnTo>
                  <a:pt x="1183005" y="711835"/>
                </a:lnTo>
                <a:lnTo>
                  <a:pt x="946404" y="599440"/>
                </a:lnTo>
                <a:lnTo>
                  <a:pt x="709803" y="472059"/>
                </a:lnTo>
                <a:lnTo>
                  <a:pt x="473202" y="329692"/>
                </a:lnTo>
                <a:lnTo>
                  <a:pt x="236601" y="172339"/>
                </a:lnTo>
                <a:lnTo>
                  <a:pt x="0" y="0"/>
                </a:lnTo>
              </a:path>
            </a:pathLst>
          </a:custGeom>
          <a:ln w="2857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360420" y="5031395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  검출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" y="3090672"/>
            <a:ext cx="859536" cy="8595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4672" y="3182112"/>
            <a:ext cx="859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3502152"/>
            <a:ext cx="859536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70632" y="3090672"/>
            <a:ext cx="859536" cy="8595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2770632" y="3182112"/>
            <a:ext cx="859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3502152"/>
            <a:ext cx="859536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090672"/>
            <a:ext cx="859536" cy="8595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736592" y="3182112"/>
            <a:ext cx="859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36592" y="3502152"/>
            <a:ext cx="859536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02552" y="3090672"/>
            <a:ext cx="859536" cy="859536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702552" y="3182112"/>
            <a:ext cx="859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702552" y="3502152"/>
            <a:ext cx="859536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"010"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1188720"/>
            <a:ext cx="3383280" cy="516636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595360" y="1316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의미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595360" y="1737360"/>
            <a:ext cx="82296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8595360" y="1737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418320" y="1737360"/>
            <a:ext cx="114300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9418320" y="1737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이력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0561320" y="1737360"/>
            <a:ext cx="105156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0561320" y="1737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mealy_out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95360" y="214884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859536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9418320" y="214884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9418320" y="2148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· 초기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0561320" y="214884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1056132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8595360" y="265176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8595360" y="2651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418320" y="265176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9418320" y="2651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0561320" y="265176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0561320" y="2651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8595360" y="315468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859536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418320" y="315468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941832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"01"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0561320" y="315468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10561320" y="31546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8595360" y="3657600"/>
            <a:ext cx="822960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85953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9418320" y="3657600"/>
            <a:ext cx="1143000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941832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"010"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10561320" y="3657600"/>
            <a:ext cx="1051560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561320" y="3657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8595360" y="438912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8796528" y="4389120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mealy_out = (S3) · din_bit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입력이 출력에 직접 연결</a:t>
            </a:r>
            <a:endParaRPr lang="en-US" sz="1350" dirty="0"/>
          </a:p>
        </p:txBody>
      </p:sp>
      <p:sp>
        <p:nvSpPr>
          <p:cNvPr id="70" name="Text 68"/>
          <p:cNvSpPr txBox="1"/>
          <p:nvPr/>
        </p:nvSpPr>
        <p:spPr>
          <a:xfrm>
            <a:off x="859536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Non-overlap: 검출 후 S0 복귀 → 마지막 1 재사용 없음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41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Homework-1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Moore State Diagram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Moore: S4 Holds the Detection, Output Depends on State Only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781812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02920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label = din_bit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" y="3948995"/>
            <a:ext cx="493776" cy="460699"/>
          </a:xfrm>
          <a:custGeom>
            <a:avLst/>
            <a:gdLst/>
            <a:ahLst/>
            <a:cxnLst/>
            <a:rect l="l" t="t" r="r" b="b"/>
            <a:pathLst>
              <a:path w="493776" h="460699">
                <a:moveTo>
                  <a:pt x="370332" y="0"/>
                </a:moveTo>
                <a:lnTo>
                  <a:pt x="405585" y="24684"/>
                </a:lnTo>
                <a:lnTo>
                  <a:pt x="436015" y="55115"/>
                </a:lnTo>
                <a:lnTo>
                  <a:pt x="460699" y="90367"/>
                </a:lnTo>
                <a:lnTo>
                  <a:pt x="478887" y="129371"/>
                </a:lnTo>
                <a:lnTo>
                  <a:pt x="490025" y="170940"/>
                </a:lnTo>
                <a:lnTo>
                  <a:pt x="493776" y="213811"/>
                </a:lnTo>
                <a:lnTo>
                  <a:pt x="490025" y="256683"/>
                </a:lnTo>
                <a:lnTo>
                  <a:pt x="478887" y="298252"/>
                </a:lnTo>
                <a:lnTo>
                  <a:pt x="460699" y="337255"/>
                </a:lnTo>
                <a:lnTo>
                  <a:pt x="436015" y="372508"/>
                </a:lnTo>
                <a:lnTo>
                  <a:pt x="405585" y="402938"/>
                </a:lnTo>
                <a:lnTo>
                  <a:pt x="370332" y="427623"/>
                </a:lnTo>
                <a:lnTo>
                  <a:pt x="331329" y="445810"/>
                </a:lnTo>
                <a:lnTo>
                  <a:pt x="289760" y="456948"/>
                </a:lnTo>
                <a:lnTo>
                  <a:pt x="246888" y="460699"/>
                </a:lnTo>
                <a:lnTo>
                  <a:pt x="204016" y="456948"/>
                </a:lnTo>
                <a:lnTo>
                  <a:pt x="162447" y="445810"/>
                </a:lnTo>
                <a:lnTo>
                  <a:pt x="123444" y="427623"/>
                </a:lnTo>
                <a:lnTo>
                  <a:pt x="88191" y="402938"/>
                </a:lnTo>
                <a:lnTo>
                  <a:pt x="57761" y="372508"/>
                </a:lnTo>
                <a:lnTo>
                  <a:pt x="33077" y="337255"/>
                </a:lnTo>
                <a:lnTo>
                  <a:pt x="14889" y="298252"/>
                </a:lnTo>
                <a:lnTo>
                  <a:pt x="3751" y="256683"/>
                </a:lnTo>
                <a:lnTo>
                  <a:pt x="0" y="213811"/>
                </a:lnTo>
                <a:lnTo>
                  <a:pt x="3751" y="170940"/>
                </a:lnTo>
                <a:lnTo>
                  <a:pt x="14889" y="129371"/>
                </a:lnTo>
                <a:lnTo>
                  <a:pt x="33077" y="90367"/>
                </a:lnTo>
                <a:lnTo>
                  <a:pt x="57761" y="55115"/>
                </a:lnTo>
                <a:lnTo>
                  <a:pt x="88191" y="24684"/>
                </a:lnTo>
                <a:lnTo>
                  <a:pt x="123444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444627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50592" y="3948995"/>
            <a:ext cx="493776" cy="460699"/>
          </a:xfrm>
          <a:custGeom>
            <a:avLst/>
            <a:gdLst/>
            <a:ahLst/>
            <a:cxnLst/>
            <a:rect l="l" t="t" r="r" b="b"/>
            <a:pathLst>
              <a:path w="493776" h="460699">
                <a:moveTo>
                  <a:pt x="370332" y="0"/>
                </a:moveTo>
                <a:lnTo>
                  <a:pt x="405585" y="24684"/>
                </a:lnTo>
                <a:lnTo>
                  <a:pt x="436015" y="55115"/>
                </a:lnTo>
                <a:lnTo>
                  <a:pt x="460699" y="90367"/>
                </a:lnTo>
                <a:lnTo>
                  <a:pt x="478887" y="129371"/>
                </a:lnTo>
                <a:lnTo>
                  <a:pt x="490025" y="170940"/>
                </a:lnTo>
                <a:lnTo>
                  <a:pt x="493776" y="213811"/>
                </a:lnTo>
                <a:lnTo>
                  <a:pt x="490025" y="256683"/>
                </a:lnTo>
                <a:lnTo>
                  <a:pt x="478887" y="298252"/>
                </a:lnTo>
                <a:lnTo>
                  <a:pt x="460699" y="337255"/>
                </a:lnTo>
                <a:lnTo>
                  <a:pt x="436015" y="372508"/>
                </a:lnTo>
                <a:lnTo>
                  <a:pt x="405585" y="402938"/>
                </a:lnTo>
                <a:lnTo>
                  <a:pt x="370332" y="427623"/>
                </a:lnTo>
                <a:lnTo>
                  <a:pt x="331329" y="445810"/>
                </a:lnTo>
                <a:lnTo>
                  <a:pt x="289760" y="456948"/>
                </a:lnTo>
                <a:lnTo>
                  <a:pt x="246888" y="460699"/>
                </a:lnTo>
                <a:lnTo>
                  <a:pt x="204016" y="456948"/>
                </a:lnTo>
                <a:lnTo>
                  <a:pt x="162447" y="445810"/>
                </a:lnTo>
                <a:lnTo>
                  <a:pt x="123444" y="427623"/>
                </a:lnTo>
                <a:lnTo>
                  <a:pt x="88191" y="402938"/>
                </a:lnTo>
                <a:lnTo>
                  <a:pt x="57761" y="372508"/>
                </a:lnTo>
                <a:lnTo>
                  <a:pt x="33077" y="337255"/>
                </a:lnTo>
                <a:lnTo>
                  <a:pt x="14889" y="298252"/>
                </a:lnTo>
                <a:lnTo>
                  <a:pt x="3751" y="256683"/>
                </a:lnTo>
                <a:lnTo>
                  <a:pt x="0" y="213811"/>
                </a:lnTo>
                <a:lnTo>
                  <a:pt x="3751" y="170940"/>
                </a:lnTo>
                <a:lnTo>
                  <a:pt x="14889" y="129371"/>
                </a:lnTo>
                <a:lnTo>
                  <a:pt x="33077" y="90367"/>
                </a:lnTo>
                <a:lnTo>
                  <a:pt x="57761" y="55115"/>
                </a:lnTo>
                <a:lnTo>
                  <a:pt x="88191" y="24684"/>
                </a:lnTo>
                <a:lnTo>
                  <a:pt x="123444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148840" y="444627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3566160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44018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3566160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04038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566160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64058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777240" cy="0"/>
          </a:xfrm>
          <a:prstGeom prst="line">
            <a:avLst/>
          </a:prstGeom>
          <a:noFill/>
          <a:ln w="28575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24078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07008" y="2684678"/>
            <a:ext cx="2980944" cy="502920"/>
          </a:xfrm>
          <a:custGeom>
            <a:avLst/>
            <a:gdLst/>
            <a:ahLst/>
            <a:cxnLst/>
            <a:rect l="l" t="t" r="r" b="b"/>
            <a:pathLst>
              <a:path w="2980944" h="502920">
                <a:moveTo>
                  <a:pt x="2980944" y="502920"/>
                </a:moveTo>
                <a:lnTo>
                  <a:pt x="2856738" y="422593"/>
                </a:lnTo>
                <a:lnTo>
                  <a:pt x="2732532" y="349250"/>
                </a:lnTo>
                <a:lnTo>
                  <a:pt x="2608326" y="282892"/>
                </a:lnTo>
                <a:lnTo>
                  <a:pt x="2484120" y="223520"/>
                </a:lnTo>
                <a:lnTo>
                  <a:pt x="2359914" y="171132"/>
                </a:lnTo>
                <a:lnTo>
                  <a:pt x="2235708" y="125730"/>
                </a:lnTo>
                <a:lnTo>
                  <a:pt x="2111502" y="87312"/>
                </a:lnTo>
                <a:lnTo>
                  <a:pt x="1987296" y="55880"/>
                </a:lnTo>
                <a:lnTo>
                  <a:pt x="1863090" y="31432"/>
                </a:lnTo>
                <a:lnTo>
                  <a:pt x="1738884" y="13970"/>
                </a:lnTo>
                <a:lnTo>
                  <a:pt x="1614678" y="3493"/>
                </a:lnTo>
                <a:lnTo>
                  <a:pt x="1490472" y="0"/>
                </a:lnTo>
                <a:lnTo>
                  <a:pt x="1366266" y="3492"/>
                </a:lnTo>
                <a:lnTo>
                  <a:pt x="1242060" y="13970"/>
                </a:lnTo>
                <a:lnTo>
                  <a:pt x="1117854" y="31432"/>
                </a:lnTo>
                <a:lnTo>
                  <a:pt x="993648" y="55880"/>
                </a:lnTo>
                <a:lnTo>
                  <a:pt x="869442" y="87312"/>
                </a:lnTo>
                <a:lnTo>
                  <a:pt x="745236" y="125730"/>
                </a:lnTo>
                <a:lnTo>
                  <a:pt x="621030" y="171132"/>
                </a:lnTo>
                <a:lnTo>
                  <a:pt x="496824" y="223520"/>
                </a:lnTo>
                <a:lnTo>
                  <a:pt x="372618" y="282892"/>
                </a:lnTo>
                <a:lnTo>
                  <a:pt x="248412" y="349250"/>
                </a:lnTo>
                <a:lnTo>
                  <a:pt x="124206" y="422593"/>
                </a:lnTo>
                <a:lnTo>
                  <a:pt x="0" y="50292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874520" y="2392070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07208" y="2227478"/>
            <a:ext cx="4581144" cy="960120"/>
          </a:xfrm>
          <a:custGeom>
            <a:avLst/>
            <a:gdLst/>
            <a:ahLst/>
            <a:cxnLst/>
            <a:rect l="l" t="t" r="r" b="b"/>
            <a:pathLst>
              <a:path w="4581144" h="960120">
                <a:moveTo>
                  <a:pt x="4581144" y="960120"/>
                </a:moveTo>
                <a:lnTo>
                  <a:pt x="4390263" y="806768"/>
                </a:lnTo>
                <a:lnTo>
                  <a:pt x="4199382" y="666750"/>
                </a:lnTo>
                <a:lnTo>
                  <a:pt x="4008501" y="540067"/>
                </a:lnTo>
                <a:lnTo>
                  <a:pt x="3817620" y="426720"/>
                </a:lnTo>
                <a:lnTo>
                  <a:pt x="3626739" y="326707"/>
                </a:lnTo>
                <a:lnTo>
                  <a:pt x="3435858" y="240030"/>
                </a:lnTo>
                <a:lnTo>
                  <a:pt x="3244977" y="166687"/>
                </a:lnTo>
                <a:lnTo>
                  <a:pt x="3054096" y="106680"/>
                </a:lnTo>
                <a:lnTo>
                  <a:pt x="2863215" y="60007"/>
                </a:lnTo>
                <a:lnTo>
                  <a:pt x="2672334" y="26670"/>
                </a:lnTo>
                <a:lnTo>
                  <a:pt x="2481453" y="6668"/>
                </a:lnTo>
                <a:lnTo>
                  <a:pt x="2290572" y="0"/>
                </a:lnTo>
                <a:lnTo>
                  <a:pt x="2099691" y="6667"/>
                </a:lnTo>
                <a:lnTo>
                  <a:pt x="1908810" y="26670"/>
                </a:lnTo>
                <a:lnTo>
                  <a:pt x="1717929" y="60007"/>
                </a:lnTo>
                <a:lnTo>
                  <a:pt x="1527048" y="106680"/>
                </a:lnTo>
                <a:lnTo>
                  <a:pt x="1336167" y="166687"/>
                </a:lnTo>
                <a:lnTo>
                  <a:pt x="1145286" y="240030"/>
                </a:lnTo>
                <a:lnTo>
                  <a:pt x="954405" y="326707"/>
                </a:lnTo>
                <a:lnTo>
                  <a:pt x="763524" y="426720"/>
                </a:lnTo>
                <a:lnTo>
                  <a:pt x="572643" y="540067"/>
                </a:lnTo>
                <a:lnTo>
                  <a:pt x="381762" y="666750"/>
                </a:lnTo>
                <a:lnTo>
                  <a:pt x="190881" y="806768"/>
                </a:lnTo>
                <a:lnTo>
                  <a:pt x="0" y="96012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274820" y="1934870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07208" y="3944722"/>
            <a:ext cx="2980944" cy="548640"/>
          </a:xfrm>
          <a:custGeom>
            <a:avLst/>
            <a:gdLst/>
            <a:ahLst/>
            <a:cxnLst/>
            <a:rect l="l" t="t" r="r" b="b"/>
            <a:pathLst>
              <a:path w="2980944" h="548640">
                <a:moveTo>
                  <a:pt x="2980944" y="0"/>
                </a:moveTo>
                <a:lnTo>
                  <a:pt x="2856738" y="87630"/>
                </a:lnTo>
                <a:lnTo>
                  <a:pt x="2732532" y="167640"/>
                </a:lnTo>
                <a:lnTo>
                  <a:pt x="2608326" y="240030"/>
                </a:lnTo>
                <a:lnTo>
                  <a:pt x="2484120" y="304800"/>
                </a:lnTo>
                <a:lnTo>
                  <a:pt x="2359914" y="361950"/>
                </a:lnTo>
                <a:lnTo>
                  <a:pt x="2235708" y="411480"/>
                </a:lnTo>
                <a:lnTo>
                  <a:pt x="2111502" y="453390"/>
                </a:lnTo>
                <a:lnTo>
                  <a:pt x="1987296" y="487680"/>
                </a:lnTo>
                <a:lnTo>
                  <a:pt x="1863090" y="514350"/>
                </a:lnTo>
                <a:lnTo>
                  <a:pt x="1738884" y="533400"/>
                </a:lnTo>
                <a:lnTo>
                  <a:pt x="1614678" y="544830"/>
                </a:lnTo>
                <a:lnTo>
                  <a:pt x="1490472" y="548640"/>
                </a:lnTo>
                <a:lnTo>
                  <a:pt x="1366266" y="544830"/>
                </a:lnTo>
                <a:lnTo>
                  <a:pt x="1242060" y="533400"/>
                </a:lnTo>
                <a:lnTo>
                  <a:pt x="1117854" y="514350"/>
                </a:lnTo>
                <a:lnTo>
                  <a:pt x="993648" y="487680"/>
                </a:lnTo>
                <a:lnTo>
                  <a:pt x="869442" y="453390"/>
                </a:lnTo>
                <a:lnTo>
                  <a:pt x="745236" y="411480"/>
                </a:lnTo>
                <a:lnTo>
                  <a:pt x="621030" y="361950"/>
                </a:lnTo>
                <a:lnTo>
                  <a:pt x="496824" y="304800"/>
                </a:lnTo>
                <a:lnTo>
                  <a:pt x="372618" y="240030"/>
                </a:lnTo>
                <a:lnTo>
                  <a:pt x="248412" y="167640"/>
                </a:lnTo>
                <a:lnTo>
                  <a:pt x="124206" y="87630"/>
                </a:lnTo>
                <a:lnTo>
                  <a:pt x="0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474720" y="4529938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07008" y="3944722"/>
            <a:ext cx="6181344" cy="1051560"/>
          </a:xfrm>
          <a:custGeom>
            <a:avLst/>
            <a:gdLst/>
            <a:ahLst/>
            <a:cxnLst/>
            <a:rect l="l" t="t" r="r" b="b"/>
            <a:pathLst>
              <a:path w="6181344" h="1051560">
                <a:moveTo>
                  <a:pt x="6181344" y="0"/>
                </a:moveTo>
                <a:lnTo>
                  <a:pt x="5923788" y="167958"/>
                </a:lnTo>
                <a:lnTo>
                  <a:pt x="5666232" y="321310"/>
                </a:lnTo>
                <a:lnTo>
                  <a:pt x="5408676" y="460057"/>
                </a:lnTo>
                <a:lnTo>
                  <a:pt x="5151120" y="584200"/>
                </a:lnTo>
                <a:lnTo>
                  <a:pt x="4893564" y="693737"/>
                </a:lnTo>
                <a:lnTo>
                  <a:pt x="4636008" y="788670"/>
                </a:lnTo>
                <a:lnTo>
                  <a:pt x="4378452" y="868997"/>
                </a:lnTo>
                <a:lnTo>
                  <a:pt x="4120896" y="934720"/>
                </a:lnTo>
                <a:lnTo>
                  <a:pt x="3863340" y="985838"/>
                </a:lnTo>
                <a:lnTo>
                  <a:pt x="3605784" y="1022350"/>
                </a:lnTo>
                <a:lnTo>
                  <a:pt x="3348228" y="1044258"/>
                </a:lnTo>
                <a:lnTo>
                  <a:pt x="3090672" y="1051560"/>
                </a:lnTo>
                <a:lnTo>
                  <a:pt x="2833116" y="1044257"/>
                </a:lnTo>
                <a:lnTo>
                  <a:pt x="2575560" y="1022350"/>
                </a:lnTo>
                <a:lnTo>
                  <a:pt x="2318004" y="985838"/>
                </a:lnTo>
                <a:lnTo>
                  <a:pt x="2060448" y="934720"/>
                </a:lnTo>
                <a:lnTo>
                  <a:pt x="1802892" y="868998"/>
                </a:lnTo>
                <a:lnTo>
                  <a:pt x="1545336" y="788670"/>
                </a:lnTo>
                <a:lnTo>
                  <a:pt x="1287780" y="693737"/>
                </a:lnTo>
                <a:lnTo>
                  <a:pt x="1030224" y="584200"/>
                </a:lnTo>
                <a:lnTo>
                  <a:pt x="772668" y="460057"/>
                </a:lnTo>
                <a:lnTo>
                  <a:pt x="515112" y="321310"/>
                </a:lnTo>
                <a:lnTo>
                  <a:pt x="257556" y="167958"/>
                </a:lnTo>
                <a:lnTo>
                  <a:pt x="0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474720" y="5032858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858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547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31546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22860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3547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86200" y="31546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38862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3547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31546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4864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3547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154680"/>
            <a:ext cx="822960" cy="82296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0866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3547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1188720"/>
            <a:ext cx="3383280" cy="516636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595360" y="1316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의미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595360" y="1737360"/>
            <a:ext cx="82296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8595360" y="1737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418320" y="1737360"/>
            <a:ext cx="114300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9418320" y="1737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이력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0561320" y="1737360"/>
            <a:ext cx="105156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10561320" y="1737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moore_out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595360" y="214884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859536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9418320" y="214884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9418320" y="2148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· 초기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0561320" y="214884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1056132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595360" y="265176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8595360" y="2651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9418320" y="265176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9418320" y="2651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0561320" y="265176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10561320" y="2651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8595360" y="315468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859536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9418320" y="315468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941832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"01"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10561320" y="315468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10561320" y="31546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8595360" y="365760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85953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9418320" y="365760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941832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"010"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10561320" y="365760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10561320" y="3657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8595360" y="4160520"/>
            <a:ext cx="822960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8595360" y="4160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9418320" y="4160520"/>
            <a:ext cx="1143000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9418320" y="41605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"0101"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10561320" y="4160520"/>
            <a:ext cx="1051560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10561320" y="41605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50" dirty="0"/>
          </a:p>
        </p:txBody>
      </p:sp>
      <p:sp>
        <p:nvSpPr>
          <p:cNvPr id="81" name="Shape 79"/>
          <p:cNvSpPr/>
          <p:nvPr/>
        </p:nvSpPr>
        <p:spPr>
          <a:xfrm>
            <a:off x="8595360" y="4864608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8796528" y="486460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moore_out = (state == S4)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state만으로 출력 결정</a:t>
            </a:r>
            <a:endParaRPr lang="en-US" sz="1350" dirty="0"/>
          </a:p>
        </p:txBody>
      </p:sp>
      <p:sp>
        <p:nvSpPr>
          <p:cNvPr id="83" name="Text 81"/>
          <p:cNvSpPr txBox="1"/>
          <p:nvPr/>
        </p:nvSpPr>
        <p:spPr>
          <a:xfrm>
            <a:off x="8595360" y="5943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Non-overlap: S4에서 0 → S1, 1 → S0</a:t>
            </a:r>
            <a:endParaRPr lang="en-US" sz="1250" dirty="0"/>
          </a:p>
        </p:txBody>
      </p:sp>
      <p:sp>
        <p:nvSpPr>
          <p:cNvPr id="84" name="Text 82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41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시뮬레이션 환경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Both Machines Receive the Same Serial din_bit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658368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Testbench 구성 (tb_dut)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bit4_driver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$urandom_range(5,8)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2560320"/>
            <a:ext cx="10972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606040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2011680"/>
            <a:ext cx="0" cy="11430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36576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11880" y="3154680"/>
            <a:ext cx="36576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977640" y="16916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AE8FF"/>
          </a:solidFill>
          <a:ln w="22225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97764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seq_det_mealy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DUT_MEALY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28346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 w="222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397764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seq_det_moore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DUT_MOORE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457200" cy="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760720" y="3154680"/>
            <a:ext cx="45720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236208" y="1783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2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02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_out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2926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_out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· rst 공통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1188720"/>
            <a:ext cx="461772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360920" y="13167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조건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627632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10 ns 주기 (100 MHz)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rst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0 ~ 15 ns 동안 1 (async reset)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bit4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5 ~ 8 random, 50회 반복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 순서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bit4[0] → [1] → [2] (LSB부터 3 bit)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시점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negedge + 1 ns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11480" y="4114800"/>
            <a:ext cx="55778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594360" y="42428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bit4 → din_bit serial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4360" y="4572000"/>
            <a:ext cx="118872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94360" y="45720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 (5)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783080" y="4572000"/>
            <a:ext cx="1371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783080" y="4572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0 → 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91840" y="4572000"/>
            <a:ext cx="118872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3291840" y="45720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 (6)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80560" y="4572000"/>
            <a:ext cx="1371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480560" y="4572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1 → 1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4360" y="5394960"/>
            <a:ext cx="118872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94360" y="53949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0111 (7)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783080" y="5394960"/>
            <a:ext cx="1371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783080" y="53949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1 → 1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91840" y="5394960"/>
            <a:ext cx="118872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3291840" y="53949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(8)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480560" y="5394960"/>
            <a:ext cx="1371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480560" y="53949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0 → 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72200" y="4114800"/>
            <a:ext cx="562356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6355080" y="424281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0101 형성 예 (161 ~ 225 ns)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0800" y="4892040"/>
            <a:ext cx="731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6400800" y="4892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187184" y="4892040"/>
            <a:ext cx="731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7187184" y="4892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973568" y="4892040"/>
            <a:ext cx="731520" cy="566928"/>
          </a:xfrm>
          <a:prstGeom prst="rect">
            <a:avLst/>
          </a:prstGeom>
          <a:solidFill>
            <a:srgbClr val="CFFAFE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7973568" y="4892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900684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006840" y="4892040"/>
            <a:ext cx="731520" cy="566928"/>
          </a:xfrm>
          <a:prstGeom prst="rect">
            <a:avLst/>
          </a:prstGeom>
          <a:solidFill>
            <a:srgbClr val="CFFAFE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9006840" y="4892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793224" y="4892040"/>
            <a:ext cx="731520" cy="566928"/>
          </a:xfrm>
          <a:prstGeom prst="rect">
            <a:avLst/>
          </a:prstGeom>
          <a:solidFill>
            <a:srgbClr val="CFFAFE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793224" y="4892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579608" y="4892040"/>
            <a:ext cx="731520" cy="566928"/>
          </a:xfrm>
          <a:prstGeom prst="rect">
            <a:avLst/>
          </a:prstGeom>
          <a:solidFill>
            <a:srgbClr val="CFFAFE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10579608" y="4892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0" y="5623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경계를 넘어 "0101" 완성 → 221 ns 검출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41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입력 Timing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din_bit Changes at negedge + 1 ns, Sampled at posedge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13969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139696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414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84144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72694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688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46880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78968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 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961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09616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85241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235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72352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91515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3508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35088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97788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9782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497824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04062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 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6056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560560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910336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62329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623296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016609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68603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686032" y="1911096"/>
            <a:ext cx="0" cy="18288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122883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39496" y="191109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121408" y="2084832"/>
            <a:ext cx="9564624" cy="521208"/>
          </a:xfrm>
          <a:custGeom>
            <a:avLst/>
            <a:gdLst/>
            <a:ahLst/>
            <a:cxnLst/>
            <a:rect l="l" t="t" r="r" b="b"/>
            <a:pathLst>
              <a:path w="9564624" h="521208">
                <a:moveTo>
                  <a:pt x="0" y="0"/>
                </a:moveTo>
                <a:lnTo>
                  <a:pt x="1062736" y="0"/>
                </a:lnTo>
                <a:lnTo>
                  <a:pt x="1062736" y="521208"/>
                </a:lnTo>
                <a:lnTo>
                  <a:pt x="2125472" y="521208"/>
                </a:lnTo>
                <a:lnTo>
                  <a:pt x="2125472" y="0"/>
                </a:lnTo>
                <a:lnTo>
                  <a:pt x="3188208" y="0"/>
                </a:lnTo>
                <a:lnTo>
                  <a:pt x="3188208" y="521208"/>
                </a:lnTo>
                <a:lnTo>
                  <a:pt x="4250944" y="521208"/>
                </a:lnTo>
                <a:lnTo>
                  <a:pt x="4250944" y="0"/>
                </a:lnTo>
                <a:lnTo>
                  <a:pt x="5313680" y="0"/>
                </a:lnTo>
                <a:lnTo>
                  <a:pt x="5313680" y="521208"/>
                </a:lnTo>
                <a:lnTo>
                  <a:pt x="6376416" y="521208"/>
                </a:lnTo>
                <a:lnTo>
                  <a:pt x="6376416" y="0"/>
                </a:lnTo>
                <a:lnTo>
                  <a:pt x="7439152" y="0"/>
                </a:lnTo>
                <a:lnTo>
                  <a:pt x="7439152" y="521208"/>
                </a:lnTo>
                <a:lnTo>
                  <a:pt x="8501888" y="521208"/>
                </a:lnTo>
                <a:lnTo>
                  <a:pt x="8501888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66344" y="2825496"/>
            <a:ext cx="1490472" cy="77724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539496" y="277977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121408" y="2953512"/>
            <a:ext cx="9564624" cy="521208"/>
          </a:xfrm>
          <a:custGeom>
            <a:avLst/>
            <a:gdLst/>
            <a:ahLst/>
            <a:cxnLst/>
            <a:rect l="l" t="t" r="r" b="b"/>
            <a:pathLst>
              <a:path w="9564624" h="521208">
                <a:moveTo>
                  <a:pt x="0" y="521208"/>
                </a:moveTo>
                <a:lnTo>
                  <a:pt x="1275283" y="521208"/>
                </a:lnTo>
                <a:lnTo>
                  <a:pt x="1275283" y="0"/>
                </a:lnTo>
                <a:lnTo>
                  <a:pt x="3400755" y="0"/>
                </a:lnTo>
                <a:lnTo>
                  <a:pt x="3400755" y="521208"/>
                </a:lnTo>
                <a:lnTo>
                  <a:pt x="5526227" y="521208"/>
                </a:lnTo>
                <a:lnTo>
                  <a:pt x="5526227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396691" y="1911096"/>
            <a:ext cx="0" cy="1828800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522163" y="1911096"/>
            <a:ext cx="0" cy="1828800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7647635" y="1911096"/>
            <a:ext cx="0" cy="1828800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773107" y="1911096"/>
            <a:ext cx="0" cy="1828800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246880" y="1911096"/>
            <a:ext cx="0" cy="18288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372352" y="1911096"/>
            <a:ext cx="0" cy="18288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497824" y="1911096"/>
            <a:ext cx="0" cy="18288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623296" y="1911096"/>
            <a:ext cx="0" cy="18288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396691" y="3849624"/>
            <a:ext cx="850189" cy="109728"/>
          </a:xfrm>
          <a:custGeom>
            <a:avLst/>
            <a:gdLst/>
            <a:ahLst/>
            <a:cxnLst/>
            <a:rect l="l" t="t" r="r" b="b"/>
            <a:pathLst>
              <a:path w="850189" h="109728">
                <a:moveTo>
                  <a:pt x="0" y="0"/>
                </a:moveTo>
                <a:lnTo>
                  <a:pt x="0" y="109728"/>
                </a:lnTo>
                <a:lnTo>
                  <a:pt x="850189" y="109728"/>
                </a:lnTo>
                <a:lnTo>
                  <a:pt x="850189" y="0"/>
                </a:lnTo>
              </a:path>
            </a:pathLst>
          </a:custGeom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3030931" y="3986784"/>
            <a:ext cx="15817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4 ns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246880" y="4261104"/>
            <a:ext cx="1275283" cy="109728"/>
          </a:xfrm>
          <a:custGeom>
            <a:avLst/>
            <a:gdLst/>
            <a:ahLst/>
            <a:cxnLst/>
            <a:rect l="l" t="t" r="r" b="b"/>
            <a:pathLst>
              <a:path w="1275283" h="109728">
                <a:moveTo>
                  <a:pt x="0" y="0"/>
                </a:moveTo>
                <a:lnTo>
                  <a:pt x="0" y="109728"/>
                </a:lnTo>
                <a:lnTo>
                  <a:pt x="1275283" y="109728"/>
                </a:lnTo>
                <a:lnTo>
                  <a:pt x="1275283" y="0"/>
                </a:lnTo>
              </a:path>
            </a:pathLst>
          </a:custGeom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3972560" y="4398264"/>
            <a:ext cx="1823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6 ns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11480" y="4617720"/>
            <a:ext cx="37033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39496" y="484632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539496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923544" y="4617720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변경: </a:t>
            </a: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+ 1 ns  (노란선)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251960" y="4617720"/>
            <a:ext cx="37033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379976" y="484632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4379976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764024" y="4617720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Sampling: </a:t>
            </a: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 (주황 점선)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092440" y="4617720"/>
            <a:ext cx="37033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220456" y="484632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8220456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8604504" y="4617720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Margin: </a:t>
            </a: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4 ns · hold 6 ns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11480" y="5532120"/>
            <a:ext cx="11384280" cy="77724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612648" y="5532120"/>
            <a:ext cx="1098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전후 모두 여유 확보 → 두 machine이 같은 안정된 값을 sampling</a:t>
            </a:r>
            <a:endParaRPr lang="en-US" sz="1500" dirty="0"/>
          </a:p>
        </p:txBody>
      </p:sp>
      <p:sp>
        <p:nvSpPr>
          <p:cNvPr id="71" name="Text 69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41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패턴 검출 · Mealy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Mealy: Output Rises the Moment the Last 1 Arrives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450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450592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414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84144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72694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688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4688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78968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 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961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09616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85241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235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7235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91515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3508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3508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97788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9782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497824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04062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 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6056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56056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910336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62329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623296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016609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68603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68603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122883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39496" y="191109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121408" y="2013509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0"/>
                </a:moveTo>
                <a:lnTo>
                  <a:pt x="1062736" y="0"/>
                </a:lnTo>
                <a:lnTo>
                  <a:pt x="1062736" y="307238"/>
                </a:lnTo>
                <a:lnTo>
                  <a:pt x="2125472" y="307238"/>
                </a:lnTo>
                <a:lnTo>
                  <a:pt x="2125472" y="0"/>
                </a:lnTo>
                <a:lnTo>
                  <a:pt x="3188208" y="0"/>
                </a:lnTo>
                <a:lnTo>
                  <a:pt x="3188208" y="307238"/>
                </a:lnTo>
                <a:lnTo>
                  <a:pt x="4250944" y="307238"/>
                </a:lnTo>
                <a:lnTo>
                  <a:pt x="4250944" y="0"/>
                </a:lnTo>
                <a:lnTo>
                  <a:pt x="5313680" y="0"/>
                </a:lnTo>
                <a:lnTo>
                  <a:pt x="5313680" y="307238"/>
                </a:lnTo>
                <a:lnTo>
                  <a:pt x="6376416" y="307238"/>
                </a:lnTo>
                <a:lnTo>
                  <a:pt x="6376416" y="0"/>
                </a:lnTo>
                <a:lnTo>
                  <a:pt x="7439152" y="0"/>
                </a:lnTo>
                <a:lnTo>
                  <a:pt x="7439152" y="307238"/>
                </a:lnTo>
                <a:lnTo>
                  <a:pt x="8501888" y="307238"/>
                </a:lnTo>
                <a:lnTo>
                  <a:pt x="8501888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539496" y="242316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21408" y="2525573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1275283" y="307238"/>
                </a:lnTo>
                <a:lnTo>
                  <a:pt x="1275283" y="0"/>
                </a:lnTo>
                <a:lnTo>
                  <a:pt x="3400755" y="0"/>
                </a:lnTo>
                <a:lnTo>
                  <a:pt x="3400755" y="307238"/>
                </a:lnTo>
                <a:lnTo>
                  <a:pt x="5526227" y="307238"/>
                </a:lnTo>
                <a:lnTo>
                  <a:pt x="5526227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539496" y="29352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 current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2121408" y="2935224"/>
            <a:ext cx="2125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246880" y="2935224"/>
            <a:ext cx="2125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372352" y="2935224"/>
            <a:ext cx="2125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497824" y="2935224"/>
            <a:ext cx="3188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121408" y="3037637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153619"/>
                </a:moveTo>
                <a:lnTo>
                  <a:pt x="0" y="0"/>
                </a:lnTo>
                <a:lnTo>
                  <a:pt x="2079752" y="0"/>
                </a:lnTo>
                <a:lnTo>
                  <a:pt x="2125472" y="153619"/>
                </a:lnTo>
                <a:lnTo>
                  <a:pt x="2079752" y="307238"/>
                </a:lnTo>
                <a:lnTo>
                  <a:pt x="0" y="307238"/>
                </a:lnTo>
                <a:lnTo>
                  <a:pt x="0" y="153619"/>
                </a:lnTo>
                <a:moveTo>
                  <a:pt x="2125472" y="153619"/>
                </a:moveTo>
                <a:lnTo>
                  <a:pt x="2171192" y="0"/>
                </a:lnTo>
                <a:lnTo>
                  <a:pt x="4205224" y="0"/>
                </a:lnTo>
                <a:lnTo>
                  <a:pt x="4250944" y="153619"/>
                </a:lnTo>
                <a:lnTo>
                  <a:pt x="4205224" y="307238"/>
                </a:lnTo>
                <a:lnTo>
                  <a:pt x="2171192" y="307238"/>
                </a:lnTo>
                <a:lnTo>
                  <a:pt x="2125472" y="153619"/>
                </a:lnTo>
                <a:moveTo>
                  <a:pt x="4250944" y="153619"/>
                </a:moveTo>
                <a:lnTo>
                  <a:pt x="4296664" y="0"/>
                </a:lnTo>
                <a:lnTo>
                  <a:pt x="6330696" y="0"/>
                </a:lnTo>
                <a:lnTo>
                  <a:pt x="6376416" y="153619"/>
                </a:lnTo>
                <a:lnTo>
                  <a:pt x="6330696" y="307238"/>
                </a:lnTo>
                <a:lnTo>
                  <a:pt x="4296664" y="307238"/>
                </a:lnTo>
                <a:lnTo>
                  <a:pt x="4250944" y="153619"/>
                </a:lnTo>
                <a:moveTo>
                  <a:pt x="6376416" y="153619"/>
                </a:moveTo>
                <a:lnTo>
                  <a:pt x="6422136" y="0"/>
                </a:lnTo>
                <a:lnTo>
                  <a:pt x="9564624" y="0"/>
                </a:lnTo>
                <a:lnTo>
                  <a:pt x="9564624" y="153619"/>
                </a:lnTo>
                <a:lnTo>
                  <a:pt x="9564624" y="307238"/>
                </a:lnTo>
                <a:lnTo>
                  <a:pt x="6422136" y="307238"/>
                </a:lnTo>
                <a:lnTo>
                  <a:pt x="6376416" y="153619"/>
                </a:lnTo>
              </a:path>
            </a:pathLst>
          </a:custGeom>
          <a:ln w="1587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66344" y="3493008"/>
            <a:ext cx="1490472" cy="42062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539496" y="34472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mealy_out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121408" y="3549701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5526227" y="307238"/>
                </a:lnTo>
                <a:lnTo>
                  <a:pt x="5526227" y="0"/>
                </a:lnTo>
                <a:lnTo>
                  <a:pt x="6376416" y="0"/>
                </a:lnTo>
                <a:lnTo>
                  <a:pt x="6376416" y="307238"/>
                </a:lnTo>
                <a:lnTo>
                  <a:pt x="9564624" y="307238"/>
                </a:lnTo>
              </a:path>
            </a:pathLst>
          </a:custGeom>
          <a:ln w="2222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396691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522163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7647635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246880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4118864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4118864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72352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244336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6244336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97824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8369808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8369808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647635" y="3483864"/>
            <a:ext cx="850189" cy="438912"/>
          </a:xfrm>
          <a:prstGeom prst="rect">
            <a:avLst/>
          </a:prstGeom>
          <a:solidFill>
            <a:srgbClr val="E879F9">
              <a:alpha val="45000"/>
            </a:srgbClr>
          </a:solidFill>
          <a:ln w="1905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8552688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 ns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97280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109728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1700784" y="4809744"/>
            <a:ext cx="2493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1664208" y="419709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din 1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230624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4230624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4834128" y="4809744"/>
            <a:ext cx="2493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4797552" y="419709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din 0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363968" y="4526280"/>
            <a:ext cx="566928" cy="566928"/>
          </a:xfrm>
          <a:prstGeom prst="ellipse">
            <a:avLst/>
          </a:prstGeom>
          <a:solidFill>
            <a:srgbClr val="FEF3C7"/>
          </a:solidFill>
          <a:ln w="222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7363968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7967472" y="4809744"/>
            <a:ext cx="2493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7930896" y="419709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din 1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10497312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10497312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411480" y="5440680"/>
            <a:ext cx="11384280" cy="896112"/>
          </a:xfrm>
          <a:prstGeom prst="roundRect">
            <a:avLst>
              <a:gd name="adj" fmla="val 5102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612648" y="5440680"/>
            <a:ext cx="10981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mealy_out = 1 @ 221 ns : S3에서 din_bit = 1 도착 즉시 (posedge 225 ns 이전)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= S3 · din_bit → clock 대기 없이 조합 logic으로 즉시 반영</a:t>
            </a:r>
            <a:endParaRPr lang="en-US" sz="1500" dirty="0"/>
          </a:p>
        </p:txBody>
      </p:sp>
      <p:sp>
        <p:nvSpPr>
          <p:cNvPr id="83" name="Text 81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41</a:t>
            </a:r>
            <a:endParaRPr lang="en-US" sz="900" dirty="0"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A7EAEB34-79B0-CBAF-A8D7-CC4FE41F7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56135"/>
            <a:ext cx="12192000" cy="27453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패턴 검출 · Moore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Moore: Output Rises One Clock Later in S4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450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450592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7787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787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62067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34333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034333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577133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 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90795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990795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533595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725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94725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49005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90372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4652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018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86018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40298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 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16645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816645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359445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7310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773107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31590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72957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2957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027237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68603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68603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122883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539496" y="191109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121408" y="2013509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0"/>
                </a:moveTo>
                <a:lnTo>
                  <a:pt x="956462" y="0"/>
                </a:lnTo>
                <a:lnTo>
                  <a:pt x="956462" y="307238"/>
                </a:lnTo>
                <a:lnTo>
                  <a:pt x="1912925" y="307238"/>
                </a:lnTo>
                <a:lnTo>
                  <a:pt x="1912925" y="0"/>
                </a:lnTo>
                <a:lnTo>
                  <a:pt x="2869387" y="0"/>
                </a:lnTo>
                <a:lnTo>
                  <a:pt x="2869387" y="307238"/>
                </a:lnTo>
                <a:lnTo>
                  <a:pt x="3825850" y="307238"/>
                </a:lnTo>
                <a:lnTo>
                  <a:pt x="3825850" y="0"/>
                </a:lnTo>
                <a:lnTo>
                  <a:pt x="4782312" y="0"/>
                </a:lnTo>
                <a:lnTo>
                  <a:pt x="4782312" y="307238"/>
                </a:lnTo>
                <a:lnTo>
                  <a:pt x="5738774" y="307238"/>
                </a:lnTo>
                <a:lnTo>
                  <a:pt x="5738774" y="0"/>
                </a:lnTo>
                <a:lnTo>
                  <a:pt x="6695237" y="0"/>
                </a:lnTo>
                <a:lnTo>
                  <a:pt x="6695237" y="307238"/>
                </a:lnTo>
                <a:lnTo>
                  <a:pt x="7651699" y="307238"/>
                </a:lnTo>
                <a:lnTo>
                  <a:pt x="7651699" y="0"/>
                </a:lnTo>
                <a:lnTo>
                  <a:pt x="8608162" y="0"/>
                </a:lnTo>
                <a:lnTo>
                  <a:pt x="8608162" y="307238"/>
                </a:lnTo>
                <a:lnTo>
                  <a:pt x="9564624" y="307238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39496" y="242316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21408" y="2525573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1147755" y="307238"/>
                </a:lnTo>
                <a:lnTo>
                  <a:pt x="1147755" y="0"/>
                </a:lnTo>
                <a:lnTo>
                  <a:pt x="3060680" y="0"/>
                </a:lnTo>
                <a:lnTo>
                  <a:pt x="3060680" y="307238"/>
                </a:lnTo>
                <a:lnTo>
                  <a:pt x="4973604" y="307238"/>
                </a:lnTo>
                <a:lnTo>
                  <a:pt x="4973604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539496" y="29352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 current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2121408" y="2935224"/>
            <a:ext cx="19129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034333" y="2935224"/>
            <a:ext cx="19129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947258" y="2935224"/>
            <a:ext cx="19129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860182" y="2935224"/>
            <a:ext cx="19129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773107" y="2935224"/>
            <a:ext cx="19129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121408" y="3037637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153619"/>
                </a:moveTo>
                <a:lnTo>
                  <a:pt x="0" y="0"/>
                </a:lnTo>
                <a:lnTo>
                  <a:pt x="1867205" y="0"/>
                </a:lnTo>
                <a:lnTo>
                  <a:pt x="1912925" y="153619"/>
                </a:lnTo>
                <a:lnTo>
                  <a:pt x="1867205" y="307238"/>
                </a:lnTo>
                <a:lnTo>
                  <a:pt x="0" y="307238"/>
                </a:lnTo>
                <a:lnTo>
                  <a:pt x="0" y="153619"/>
                </a:lnTo>
                <a:moveTo>
                  <a:pt x="1912925" y="153619"/>
                </a:moveTo>
                <a:lnTo>
                  <a:pt x="1958645" y="0"/>
                </a:lnTo>
                <a:lnTo>
                  <a:pt x="3780130" y="0"/>
                </a:lnTo>
                <a:lnTo>
                  <a:pt x="3825850" y="153619"/>
                </a:lnTo>
                <a:lnTo>
                  <a:pt x="3780130" y="307238"/>
                </a:lnTo>
                <a:lnTo>
                  <a:pt x="1958645" y="307238"/>
                </a:lnTo>
                <a:lnTo>
                  <a:pt x="1912925" y="153619"/>
                </a:lnTo>
                <a:moveTo>
                  <a:pt x="3825850" y="153619"/>
                </a:moveTo>
                <a:lnTo>
                  <a:pt x="3871570" y="0"/>
                </a:lnTo>
                <a:lnTo>
                  <a:pt x="5693054" y="0"/>
                </a:lnTo>
                <a:lnTo>
                  <a:pt x="5738774" y="153619"/>
                </a:lnTo>
                <a:lnTo>
                  <a:pt x="5693054" y="307238"/>
                </a:lnTo>
                <a:lnTo>
                  <a:pt x="3871570" y="307238"/>
                </a:lnTo>
                <a:lnTo>
                  <a:pt x="3825850" y="153619"/>
                </a:lnTo>
                <a:moveTo>
                  <a:pt x="5738774" y="153619"/>
                </a:moveTo>
                <a:lnTo>
                  <a:pt x="5784494" y="0"/>
                </a:lnTo>
                <a:lnTo>
                  <a:pt x="7605979" y="0"/>
                </a:lnTo>
                <a:lnTo>
                  <a:pt x="7651699" y="153619"/>
                </a:lnTo>
                <a:lnTo>
                  <a:pt x="7605979" y="307238"/>
                </a:lnTo>
                <a:lnTo>
                  <a:pt x="5784494" y="307238"/>
                </a:lnTo>
                <a:lnTo>
                  <a:pt x="5738774" y="153619"/>
                </a:lnTo>
                <a:moveTo>
                  <a:pt x="7651699" y="153619"/>
                </a:moveTo>
                <a:lnTo>
                  <a:pt x="7697419" y="0"/>
                </a:lnTo>
                <a:lnTo>
                  <a:pt x="9564624" y="0"/>
                </a:lnTo>
                <a:lnTo>
                  <a:pt x="9564624" y="153619"/>
                </a:lnTo>
                <a:lnTo>
                  <a:pt x="9564624" y="307238"/>
                </a:lnTo>
                <a:lnTo>
                  <a:pt x="7697419" y="307238"/>
                </a:lnTo>
                <a:lnTo>
                  <a:pt x="7651699" y="153619"/>
                </a:lnTo>
              </a:path>
            </a:pathLst>
          </a:custGeom>
          <a:ln w="15875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66344" y="3493008"/>
            <a:ext cx="1490472" cy="42062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539496" y="34472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moore_out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121408" y="3549701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5738774" y="307238"/>
                </a:lnTo>
                <a:lnTo>
                  <a:pt x="5738774" y="0"/>
                </a:lnTo>
                <a:lnTo>
                  <a:pt x="7651699" y="0"/>
                </a:lnTo>
                <a:lnTo>
                  <a:pt x="7651699" y="307238"/>
                </a:lnTo>
                <a:lnTo>
                  <a:pt x="9564624" y="307238"/>
                </a:lnTo>
              </a:path>
            </a:pathLst>
          </a:custGeom>
          <a:ln w="22225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269163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182088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7095012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034333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3906317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390631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947258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5819242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5819242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860182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732166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7732166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773107" y="1911096"/>
            <a:ext cx="0" cy="2139696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9645091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9645091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860182" y="3483864"/>
            <a:ext cx="1912925" cy="438912"/>
          </a:xfrm>
          <a:prstGeom prst="rect">
            <a:avLst/>
          </a:prstGeom>
          <a:solidFill>
            <a:srgbClr val="FB923C">
              <a:alpha val="45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9827971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 ~ 235 ns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14400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91440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1517904" y="4809744"/>
            <a:ext cx="180136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1481328" y="41970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din 1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355848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3355848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3959352" y="4809744"/>
            <a:ext cx="180136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3922776" y="41970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din 0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797296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5797296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6400800" y="4809744"/>
            <a:ext cx="180136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6364224" y="41970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din 1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238744" y="4526280"/>
            <a:ext cx="566928" cy="566928"/>
          </a:xfrm>
          <a:prstGeom prst="ellipse">
            <a:avLst/>
          </a:prstGeom>
          <a:solidFill>
            <a:srgbClr val="FEF3C7"/>
          </a:solidFill>
          <a:ln w="222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8238744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8842248" y="4809744"/>
            <a:ext cx="180136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 txBox="1"/>
          <p:nvPr/>
        </p:nvSpPr>
        <p:spPr>
          <a:xfrm>
            <a:off x="8805672" y="41970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din 1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10680192" y="45262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10680192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411480" y="5440680"/>
            <a:ext cx="11384280" cy="896112"/>
          </a:xfrm>
          <a:prstGeom prst="roundRect">
            <a:avLst>
              <a:gd name="adj" fmla="val 5102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612648" y="5440680"/>
            <a:ext cx="10981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moore_out = 1 @ 225 ns : posedge 225 ns에 S4 진입 후 1 clock 유지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= state 해독 → din_bit 도착(221 ns) 후 다음 posedge까지 대기</a:t>
            </a:r>
            <a:endParaRPr lang="en-US" sz="1500" dirty="0"/>
          </a:p>
        </p:txBody>
      </p:sp>
      <p:sp>
        <p:nvSpPr>
          <p:cNvPr id="94" name="Text 92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41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출력 비교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Asserts 4 ns Earlier, Moore Holds a Full Clock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450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450592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7787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787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62067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34333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034333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577133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 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90795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990795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533595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725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94725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49005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90372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4652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018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86018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40298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 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16645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816645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359445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7310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773107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31590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72957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2957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027237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68603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68603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122883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539496" y="191109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121408" y="2013509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0"/>
                </a:moveTo>
                <a:lnTo>
                  <a:pt x="956462" y="0"/>
                </a:lnTo>
                <a:lnTo>
                  <a:pt x="956462" y="307238"/>
                </a:lnTo>
                <a:lnTo>
                  <a:pt x="1912925" y="307238"/>
                </a:lnTo>
                <a:lnTo>
                  <a:pt x="1912925" y="0"/>
                </a:lnTo>
                <a:lnTo>
                  <a:pt x="2869387" y="0"/>
                </a:lnTo>
                <a:lnTo>
                  <a:pt x="2869387" y="307238"/>
                </a:lnTo>
                <a:lnTo>
                  <a:pt x="3825850" y="307238"/>
                </a:lnTo>
                <a:lnTo>
                  <a:pt x="3825850" y="0"/>
                </a:lnTo>
                <a:lnTo>
                  <a:pt x="4782312" y="0"/>
                </a:lnTo>
                <a:lnTo>
                  <a:pt x="4782312" y="307238"/>
                </a:lnTo>
                <a:lnTo>
                  <a:pt x="5738774" y="307238"/>
                </a:lnTo>
                <a:lnTo>
                  <a:pt x="5738774" y="0"/>
                </a:lnTo>
                <a:lnTo>
                  <a:pt x="6695237" y="0"/>
                </a:lnTo>
                <a:lnTo>
                  <a:pt x="6695237" y="307238"/>
                </a:lnTo>
                <a:lnTo>
                  <a:pt x="7651699" y="307238"/>
                </a:lnTo>
                <a:lnTo>
                  <a:pt x="7651699" y="0"/>
                </a:lnTo>
                <a:lnTo>
                  <a:pt x="8608162" y="0"/>
                </a:lnTo>
                <a:lnTo>
                  <a:pt x="8608162" y="307238"/>
                </a:lnTo>
                <a:lnTo>
                  <a:pt x="9564624" y="307238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39496" y="242316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21408" y="2525573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1147755" y="307238"/>
                </a:lnTo>
                <a:lnTo>
                  <a:pt x="1147755" y="0"/>
                </a:lnTo>
                <a:lnTo>
                  <a:pt x="3060680" y="0"/>
                </a:lnTo>
                <a:lnTo>
                  <a:pt x="3060680" y="307238"/>
                </a:lnTo>
                <a:lnTo>
                  <a:pt x="4973604" y="307238"/>
                </a:lnTo>
                <a:lnTo>
                  <a:pt x="4973604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66344" y="2980944"/>
            <a:ext cx="1490472" cy="42062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539496" y="29352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mealy_out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121408" y="3037637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4973604" y="307238"/>
                </a:lnTo>
                <a:lnTo>
                  <a:pt x="4973604" y="0"/>
                </a:lnTo>
                <a:lnTo>
                  <a:pt x="5738774" y="0"/>
                </a:lnTo>
                <a:lnTo>
                  <a:pt x="5738774" y="307238"/>
                </a:lnTo>
                <a:lnTo>
                  <a:pt x="9564624" y="307238"/>
                </a:lnTo>
              </a:path>
            </a:pathLst>
          </a:custGeom>
          <a:ln w="2222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66344" y="3493008"/>
            <a:ext cx="1490472" cy="42062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539496" y="34472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moore_out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121408" y="3549701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5738774" y="307238"/>
                </a:lnTo>
                <a:lnTo>
                  <a:pt x="5738774" y="0"/>
                </a:lnTo>
                <a:lnTo>
                  <a:pt x="7651699" y="0"/>
                </a:lnTo>
                <a:lnTo>
                  <a:pt x="7651699" y="307238"/>
                </a:lnTo>
                <a:lnTo>
                  <a:pt x="9564624" y="307238"/>
                </a:lnTo>
              </a:path>
            </a:pathLst>
          </a:custGeom>
          <a:ln w="22225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7095012" y="1911096"/>
            <a:ext cx="0" cy="2139696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7860182" y="1911096"/>
            <a:ext cx="0" cy="2139696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773107" y="1911096"/>
            <a:ext cx="0" cy="2139696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7095012" y="2971800"/>
            <a:ext cx="765170" cy="438912"/>
          </a:xfrm>
          <a:prstGeom prst="rect">
            <a:avLst/>
          </a:prstGeom>
          <a:solidFill>
            <a:srgbClr val="E879F9">
              <a:alpha val="45000"/>
            </a:srgbClr>
          </a:solidFill>
          <a:ln w="1905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860182" y="3483864"/>
            <a:ext cx="1912925" cy="438912"/>
          </a:xfrm>
          <a:prstGeom prst="rect">
            <a:avLst/>
          </a:prstGeom>
          <a:solidFill>
            <a:srgbClr val="FB923C">
              <a:alpha val="45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7915046" y="3054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ns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827971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966996" y="1271016"/>
            <a:ext cx="256032" cy="256032"/>
          </a:xfrm>
          <a:prstGeom prst="ellipse">
            <a:avLst/>
          </a:prstGeom>
          <a:solidFill>
            <a:srgbClr val="C026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6966996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732166" y="1271016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7732166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11480" y="4315968"/>
            <a:ext cx="5577840" cy="11430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9525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76072" y="4434840"/>
            <a:ext cx="274320" cy="274320"/>
          </a:xfrm>
          <a:prstGeom prst="ellipse">
            <a:avLst/>
          </a:prstGeom>
          <a:solidFill>
            <a:srgbClr val="C026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576072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960120" y="43982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026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Mealy: 221 ns, din_bit 도착 즉시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960120" y="4754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4 ns = din_bit 변경 ~ 다음 posedge 구간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posedge에서 state 이탈 → 출력 해제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6217920" y="4315968"/>
            <a:ext cx="5577840" cy="11430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382512" y="443484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6382512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766560" y="43982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Moore: 225 ns, posedge 이후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6766560" y="4754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10 ns = S4 체류 1 clock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clock 경계에 정렬된 출력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411480" y="5577840"/>
            <a:ext cx="11384280" cy="73152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12648" y="5577840"/>
            <a:ext cx="10981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= combinational 출력 (state + input)  ·  Moore = register 기반 출력 (state)</a:t>
            </a:r>
            <a:endParaRPr lang="en-US" sz="1500" dirty="0"/>
          </a:p>
        </p:txBody>
      </p:sp>
      <p:sp>
        <p:nvSpPr>
          <p:cNvPr id="76" name="Text 74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41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패턴 없음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Without 0101, Both Machines Stay in S0–S2 with Output 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59689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596896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59050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96691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396691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939491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810 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3433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7197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71974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21477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820 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961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94725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947258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49005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830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4899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222541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222541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765341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840 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018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49782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497824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04062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850 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3546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77310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773107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31590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860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410749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04839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048390" y="1911096"/>
            <a:ext cx="0" cy="228600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059119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870 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68603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539496" y="1911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21408" y="1984248"/>
            <a:ext cx="9564624" cy="219456"/>
          </a:xfrm>
          <a:custGeom>
            <a:avLst/>
            <a:gdLst/>
            <a:ahLst/>
            <a:cxnLst/>
            <a:rect l="l" t="t" r="r" b="b"/>
            <a:pathLst>
              <a:path w="9564624" h="219456">
                <a:moveTo>
                  <a:pt x="0" y="219456"/>
                </a:moveTo>
                <a:lnTo>
                  <a:pt x="637642" y="219456"/>
                </a:lnTo>
                <a:lnTo>
                  <a:pt x="637642" y="0"/>
                </a:lnTo>
                <a:lnTo>
                  <a:pt x="1275283" y="0"/>
                </a:lnTo>
                <a:lnTo>
                  <a:pt x="1275283" y="219456"/>
                </a:lnTo>
                <a:lnTo>
                  <a:pt x="1912925" y="219456"/>
                </a:lnTo>
                <a:lnTo>
                  <a:pt x="1912925" y="0"/>
                </a:lnTo>
                <a:lnTo>
                  <a:pt x="2550566" y="0"/>
                </a:lnTo>
                <a:lnTo>
                  <a:pt x="2550566" y="219456"/>
                </a:lnTo>
                <a:lnTo>
                  <a:pt x="3188208" y="219456"/>
                </a:lnTo>
                <a:lnTo>
                  <a:pt x="3188208" y="0"/>
                </a:lnTo>
                <a:lnTo>
                  <a:pt x="3825850" y="0"/>
                </a:lnTo>
                <a:lnTo>
                  <a:pt x="3825850" y="219456"/>
                </a:lnTo>
                <a:lnTo>
                  <a:pt x="4463491" y="219456"/>
                </a:lnTo>
                <a:lnTo>
                  <a:pt x="4463491" y="0"/>
                </a:lnTo>
                <a:lnTo>
                  <a:pt x="5101133" y="0"/>
                </a:lnTo>
                <a:lnTo>
                  <a:pt x="5101133" y="219456"/>
                </a:lnTo>
                <a:lnTo>
                  <a:pt x="5738774" y="219456"/>
                </a:lnTo>
                <a:lnTo>
                  <a:pt x="5738774" y="0"/>
                </a:lnTo>
                <a:lnTo>
                  <a:pt x="6376416" y="0"/>
                </a:lnTo>
                <a:lnTo>
                  <a:pt x="6376416" y="219456"/>
                </a:lnTo>
                <a:lnTo>
                  <a:pt x="7014058" y="219456"/>
                </a:lnTo>
                <a:lnTo>
                  <a:pt x="7014058" y="0"/>
                </a:lnTo>
                <a:lnTo>
                  <a:pt x="7651699" y="0"/>
                </a:lnTo>
                <a:lnTo>
                  <a:pt x="7651699" y="219456"/>
                </a:lnTo>
                <a:lnTo>
                  <a:pt x="8289341" y="219456"/>
                </a:lnTo>
                <a:lnTo>
                  <a:pt x="8289341" y="0"/>
                </a:lnTo>
                <a:lnTo>
                  <a:pt x="8926982" y="0"/>
                </a:lnTo>
                <a:lnTo>
                  <a:pt x="8926982" y="219456"/>
                </a:lnTo>
                <a:lnTo>
                  <a:pt x="9564624" y="219456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539496" y="2276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121408" y="2350008"/>
            <a:ext cx="9564624" cy="219456"/>
          </a:xfrm>
          <a:custGeom>
            <a:avLst/>
            <a:gdLst/>
            <a:ahLst/>
            <a:cxnLst/>
            <a:rect l="l" t="t" r="r" b="b"/>
            <a:pathLst>
              <a:path w="9564624" h="219456">
                <a:moveTo>
                  <a:pt x="0" y="219456"/>
                </a:moveTo>
                <a:lnTo>
                  <a:pt x="1402812" y="219456"/>
                </a:lnTo>
                <a:lnTo>
                  <a:pt x="1402812" y="0"/>
                </a:lnTo>
                <a:lnTo>
                  <a:pt x="7779228" y="0"/>
                </a:lnTo>
                <a:lnTo>
                  <a:pt x="7779228" y="219456"/>
                </a:lnTo>
                <a:lnTo>
                  <a:pt x="9564624" y="219456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39496" y="2642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 current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2121408" y="2642616"/>
            <a:ext cx="19129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034333" y="2642616"/>
            <a:ext cx="1275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309616" y="2642616"/>
            <a:ext cx="5101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410749" y="2642616"/>
            <a:ext cx="1275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121408" y="2715768"/>
            <a:ext cx="9564624" cy="219456"/>
          </a:xfrm>
          <a:custGeom>
            <a:avLst/>
            <a:gdLst/>
            <a:ahLst/>
            <a:cxnLst/>
            <a:rect l="l" t="t" r="r" b="b"/>
            <a:pathLst>
              <a:path w="9564624" h="219456">
                <a:moveTo>
                  <a:pt x="0" y="109728"/>
                </a:moveTo>
                <a:lnTo>
                  <a:pt x="0" y="0"/>
                </a:lnTo>
                <a:lnTo>
                  <a:pt x="1867205" y="0"/>
                </a:lnTo>
                <a:lnTo>
                  <a:pt x="1912925" y="109728"/>
                </a:lnTo>
                <a:lnTo>
                  <a:pt x="1867205" y="219456"/>
                </a:lnTo>
                <a:lnTo>
                  <a:pt x="0" y="219456"/>
                </a:lnTo>
                <a:lnTo>
                  <a:pt x="0" y="109728"/>
                </a:lnTo>
                <a:moveTo>
                  <a:pt x="1912925" y="109728"/>
                </a:moveTo>
                <a:lnTo>
                  <a:pt x="1958645" y="0"/>
                </a:lnTo>
                <a:lnTo>
                  <a:pt x="3142488" y="0"/>
                </a:lnTo>
                <a:lnTo>
                  <a:pt x="3188208" y="109728"/>
                </a:lnTo>
                <a:lnTo>
                  <a:pt x="3142488" y="219456"/>
                </a:lnTo>
                <a:lnTo>
                  <a:pt x="1958645" y="219456"/>
                </a:lnTo>
                <a:lnTo>
                  <a:pt x="1912925" y="109728"/>
                </a:lnTo>
                <a:moveTo>
                  <a:pt x="3188208" y="109728"/>
                </a:moveTo>
                <a:lnTo>
                  <a:pt x="3233928" y="0"/>
                </a:lnTo>
                <a:lnTo>
                  <a:pt x="8243621" y="0"/>
                </a:lnTo>
                <a:lnTo>
                  <a:pt x="8289341" y="109728"/>
                </a:lnTo>
                <a:lnTo>
                  <a:pt x="8243621" y="219456"/>
                </a:lnTo>
                <a:lnTo>
                  <a:pt x="3233928" y="219456"/>
                </a:lnTo>
                <a:lnTo>
                  <a:pt x="3188208" y="109728"/>
                </a:lnTo>
                <a:moveTo>
                  <a:pt x="8289341" y="109728"/>
                </a:moveTo>
                <a:lnTo>
                  <a:pt x="8335061" y="0"/>
                </a:lnTo>
                <a:lnTo>
                  <a:pt x="9564624" y="0"/>
                </a:lnTo>
                <a:lnTo>
                  <a:pt x="9564624" y="109728"/>
                </a:lnTo>
                <a:lnTo>
                  <a:pt x="9564624" y="219456"/>
                </a:lnTo>
                <a:lnTo>
                  <a:pt x="8335061" y="219456"/>
                </a:lnTo>
                <a:lnTo>
                  <a:pt x="8289341" y="109728"/>
                </a:lnTo>
              </a:path>
            </a:pathLst>
          </a:custGeom>
          <a:ln w="1587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39496" y="30083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 current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2121408" y="3008376"/>
            <a:ext cx="19129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034333" y="3008376"/>
            <a:ext cx="1275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309616" y="3008376"/>
            <a:ext cx="5101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410749" y="3008376"/>
            <a:ext cx="1275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121408" y="3081528"/>
            <a:ext cx="9564624" cy="219456"/>
          </a:xfrm>
          <a:custGeom>
            <a:avLst/>
            <a:gdLst/>
            <a:ahLst/>
            <a:cxnLst/>
            <a:rect l="l" t="t" r="r" b="b"/>
            <a:pathLst>
              <a:path w="9564624" h="219456">
                <a:moveTo>
                  <a:pt x="0" y="109728"/>
                </a:moveTo>
                <a:lnTo>
                  <a:pt x="0" y="0"/>
                </a:lnTo>
                <a:lnTo>
                  <a:pt x="1867205" y="0"/>
                </a:lnTo>
                <a:lnTo>
                  <a:pt x="1912925" y="109728"/>
                </a:lnTo>
                <a:lnTo>
                  <a:pt x="1867205" y="219456"/>
                </a:lnTo>
                <a:lnTo>
                  <a:pt x="0" y="219456"/>
                </a:lnTo>
                <a:lnTo>
                  <a:pt x="0" y="109728"/>
                </a:lnTo>
                <a:moveTo>
                  <a:pt x="1912925" y="109728"/>
                </a:moveTo>
                <a:lnTo>
                  <a:pt x="1958645" y="0"/>
                </a:lnTo>
                <a:lnTo>
                  <a:pt x="3142488" y="0"/>
                </a:lnTo>
                <a:lnTo>
                  <a:pt x="3188208" y="109728"/>
                </a:lnTo>
                <a:lnTo>
                  <a:pt x="3142488" y="219456"/>
                </a:lnTo>
                <a:lnTo>
                  <a:pt x="1958645" y="219456"/>
                </a:lnTo>
                <a:lnTo>
                  <a:pt x="1912925" y="109728"/>
                </a:lnTo>
                <a:moveTo>
                  <a:pt x="3188208" y="109728"/>
                </a:moveTo>
                <a:lnTo>
                  <a:pt x="3233928" y="0"/>
                </a:lnTo>
                <a:lnTo>
                  <a:pt x="8243621" y="0"/>
                </a:lnTo>
                <a:lnTo>
                  <a:pt x="8289341" y="109728"/>
                </a:lnTo>
                <a:lnTo>
                  <a:pt x="8243621" y="219456"/>
                </a:lnTo>
                <a:lnTo>
                  <a:pt x="3233928" y="219456"/>
                </a:lnTo>
                <a:lnTo>
                  <a:pt x="3188208" y="109728"/>
                </a:lnTo>
                <a:moveTo>
                  <a:pt x="8289341" y="109728"/>
                </a:moveTo>
                <a:lnTo>
                  <a:pt x="8335061" y="0"/>
                </a:lnTo>
                <a:lnTo>
                  <a:pt x="9564624" y="0"/>
                </a:lnTo>
                <a:lnTo>
                  <a:pt x="9564624" y="109728"/>
                </a:lnTo>
                <a:lnTo>
                  <a:pt x="9564624" y="219456"/>
                </a:lnTo>
                <a:lnTo>
                  <a:pt x="8335061" y="219456"/>
                </a:lnTo>
                <a:lnTo>
                  <a:pt x="8289341" y="109728"/>
                </a:lnTo>
              </a:path>
            </a:pathLst>
          </a:custGeom>
          <a:ln w="15875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539496" y="33741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mealy_out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121408" y="3666744"/>
            <a:ext cx="9564624" cy="9144"/>
          </a:xfrm>
          <a:custGeom>
            <a:avLst/>
            <a:gdLst/>
            <a:ahLst/>
            <a:cxnLst/>
            <a:rect l="l" t="t" r="r" b="b"/>
            <a:pathLst>
              <a:path w="9564624" h="9144">
                <a:moveTo>
                  <a:pt x="0" y="0"/>
                </a:move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539496" y="37398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moore_out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121408" y="4032504"/>
            <a:ext cx="9564624" cy="9144"/>
          </a:xfrm>
          <a:custGeom>
            <a:avLst/>
            <a:gdLst/>
            <a:ahLst/>
            <a:cxnLst/>
            <a:rect l="l" t="t" r="r" b="b"/>
            <a:pathLst>
              <a:path w="9564624" h="9144">
                <a:moveTo>
                  <a:pt x="0" y="0"/>
                </a:move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3524220" y="1911096"/>
            <a:ext cx="0" cy="2286000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900636" y="1911096"/>
            <a:ext cx="0" cy="2286000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034333" y="1911096"/>
            <a:ext cx="0" cy="2286000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3906317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390631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09616" y="1911096"/>
            <a:ext cx="0" cy="2286000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5181600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5181600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410749" y="1911096"/>
            <a:ext cx="0" cy="2286000"/>
          </a:xfrm>
          <a:prstGeom prst="line">
            <a:avLst/>
          </a:prstGeom>
          <a:noFill/>
          <a:ln w="1587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282733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10282733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309616" y="2679192"/>
            <a:ext cx="5101133" cy="292608"/>
          </a:xfrm>
          <a:prstGeom prst="rect">
            <a:avLst/>
          </a:prstGeom>
          <a:solidFill>
            <a:srgbClr val="64748B">
              <a:alpha val="30000"/>
            </a:srgbClr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5309616" y="3044952"/>
            <a:ext cx="5101133" cy="292608"/>
          </a:xfrm>
          <a:prstGeom prst="rect">
            <a:avLst/>
          </a:prstGeom>
          <a:solidFill>
            <a:srgbClr val="64748B">
              <a:alpha val="30000"/>
            </a:srgbClr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463040" y="477316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1463040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2066544" y="5056632"/>
            <a:ext cx="224942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2029968" y="444398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din 1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352544" y="477316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4352544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4956048" y="5056632"/>
            <a:ext cx="224942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4919472" y="444398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din 1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242048" y="477316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7242048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7845552" y="5056632"/>
            <a:ext cx="224942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 txBox="1"/>
          <p:nvPr/>
        </p:nvSpPr>
        <p:spPr>
          <a:xfrm>
            <a:off x="7808976" y="444398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din 0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0131552" y="477316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10131552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89" name="Shape 87"/>
          <p:cNvSpPr/>
          <p:nvPr/>
        </p:nvSpPr>
        <p:spPr>
          <a:xfrm>
            <a:off x="411480" y="5669280"/>
            <a:ext cx="11384280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612648" y="5669280"/>
            <a:ext cx="10981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"011" → 0101 진행 불가 → S0 복귀 · din_bit = 1 동안 S0 유지 · S3 미도달 → 출력 0</a:t>
            </a:r>
            <a:endParaRPr lang="en-US" sz="1450" dirty="0"/>
          </a:p>
        </p:txBody>
      </p:sp>
      <p:sp>
        <p:nvSpPr>
          <p:cNvPr id="91" name="Text 89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41</a:t>
            </a:r>
            <a:endParaRPr lang="en-US" sz="900" dirty="0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991F5979-D607-915A-991A-B22AA2010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490" y="5693343"/>
            <a:ext cx="12192000" cy="27980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next logic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Next-state Logic Differs Only at S3 with din_bit =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450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450592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645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414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84144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72694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650 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688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4688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78968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655 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961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09616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85241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660 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235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7235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91515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665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3508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35088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97788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670 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9782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497824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04062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675 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6056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560560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910336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680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62329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623296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016609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685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68603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686032" y="1911096"/>
            <a:ext cx="0" cy="2139696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122883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690 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39496" y="191109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121408" y="2013509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0"/>
                </a:moveTo>
                <a:lnTo>
                  <a:pt x="1062736" y="0"/>
                </a:lnTo>
                <a:lnTo>
                  <a:pt x="1062736" y="307238"/>
                </a:lnTo>
                <a:lnTo>
                  <a:pt x="2125472" y="307238"/>
                </a:lnTo>
                <a:lnTo>
                  <a:pt x="2125472" y="0"/>
                </a:lnTo>
                <a:lnTo>
                  <a:pt x="3188208" y="0"/>
                </a:lnTo>
                <a:lnTo>
                  <a:pt x="3188208" y="307238"/>
                </a:lnTo>
                <a:lnTo>
                  <a:pt x="4250944" y="307238"/>
                </a:lnTo>
                <a:lnTo>
                  <a:pt x="4250944" y="0"/>
                </a:lnTo>
                <a:lnTo>
                  <a:pt x="5313680" y="0"/>
                </a:lnTo>
                <a:lnTo>
                  <a:pt x="5313680" y="307238"/>
                </a:lnTo>
                <a:lnTo>
                  <a:pt x="6376416" y="307238"/>
                </a:lnTo>
                <a:lnTo>
                  <a:pt x="6376416" y="0"/>
                </a:lnTo>
                <a:lnTo>
                  <a:pt x="7439152" y="0"/>
                </a:lnTo>
                <a:lnTo>
                  <a:pt x="7439152" y="307238"/>
                </a:lnTo>
                <a:lnTo>
                  <a:pt x="8501888" y="307238"/>
                </a:lnTo>
                <a:lnTo>
                  <a:pt x="8501888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539496" y="242316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din_bit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21408" y="2525573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307238"/>
                </a:moveTo>
                <a:lnTo>
                  <a:pt x="1275283" y="307238"/>
                </a:lnTo>
                <a:lnTo>
                  <a:pt x="1275283" y="0"/>
                </a:lnTo>
                <a:lnTo>
                  <a:pt x="3400755" y="0"/>
                </a:lnTo>
                <a:lnTo>
                  <a:pt x="3400755" y="307238"/>
                </a:lnTo>
                <a:lnTo>
                  <a:pt x="5526227" y="307238"/>
                </a:lnTo>
                <a:lnTo>
                  <a:pt x="5526227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539496" y="29352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Mealy next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2121408" y="2935224"/>
            <a:ext cx="12752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396691" y="2935224"/>
            <a:ext cx="8501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246880" y="2935224"/>
            <a:ext cx="12752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522163" y="2935224"/>
            <a:ext cx="8501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372352" y="2935224"/>
            <a:ext cx="12752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647635" y="2935224"/>
            <a:ext cx="40383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121408" y="3037637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153619"/>
                </a:moveTo>
                <a:lnTo>
                  <a:pt x="0" y="0"/>
                </a:lnTo>
                <a:lnTo>
                  <a:pt x="1229563" y="0"/>
                </a:lnTo>
                <a:lnTo>
                  <a:pt x="1275283" y="153619"/>
                </a:lnTo>
                <a:lnTo>
                  <a:pt x="1229563" y="307238"/>
                </a:lnTo>
                <a:lnTo>
                  <a:pt x="0" y="307238"/>
                </a:lnTo>
                <a:lnTo>
                  <a:pt x="0" y="153619"/>
                </a:lnTo>
                <a:moveTo>
                  <a:pt x="1275283" y="153619"/>
                </a:moveTo>
                <a:lnTo>
                  <a:pt x="1321003" y="0"/>
                </a:lnTo>
                <a:lnTo>
                  <a:pt x="2079752" y="0"/>
                </a:lnTo>
                <a:lnTo>
                  <a:pt x="2125472" y="153619"/>
                </a:lnTo>
                <a:lnTo>
                  <a:pt x="2079752" y="307238"/>
                </a:lnTo>
                <a:lnTo>
                  <a:pt x="1321003" y="307238"/>
                </a:lnTo>
                <a:lnTo>
                  <a:pt x="1275283" y="153619"/>
                </a:lnTo>
                <a:moveTo>
                  <a:pt x="2125472" y="153619"/>
                </a:moveTo>
                <a:lnTo>
                  <a:pt x="2171192" y="0"/>
                </a:lnTo>
                <a:lnTo>
                  <a:pt x="3355035" y="0"/>
                </a:lnTo>
                <a:lnTo>
                  <a:pt x="3400755" y="153619"/>
                </a:lnTo>
                <a:lnTo>
                  <a:pt x="3355035" y="307238"/>
                </a:lnTo>
                <a:lnTo>
                  <a:pt x="2171192" y="307238"/>
                </a:lnTo>
                <a:lnTo>
                  <a:pt x="2125472" y="153619"/>
                </a:lnTo>
                <a:moveTo>
                  <a:pt x="3400755" y="153619"/>
                </a:moveTo>
                <a:lnTo>
                  <a:pt x="3446475" y="0"/>
                </a:lnTo>
                <a:lnTo>
                  <a:pt x="4205224" y="0"/>
                </a:lnTo>
                <a:lnTo>
                  <a:pt x="4250944" y="153619"/>
                </a:lnTo>
                <a:lnTo>
                  <a:pt x="4205224" y="307238"/>
                </a:lnTo>
                <a:lnTo>
                  <a:pt x="3446475" y="307238"/>
                </a:lnTo>
                <a:lnTo>
                  <a:pt x="3400755" y="153619"/>
                </a:lnTo>
                <a:moveTo>
                  <a:pt x="4250944" y="153619"/>
                </a:moveTo>
                <a:lnTo>
                  <a:pt x="4296664" y="0"/>
                </a:lnTo>
                <a:lnTo>
                  <a:pt x="5480507" y="0"/>
                </a:lnTo>
                <a:lnTo>
                  <a:pt x="5526227" y="153619"/>
                </a:lnTo>
                <a:lnTo>
                  <a:pt x="5480507" y="307238"/>
                </a:lnTo>
                <a:lnTo>
                  <a:pt x="4296664" y="307238"/>
                </a:lnTo>
                <a:lnTo>
                  <a:pt x="4250944" y="153619"/>
                </a:lnTo>
                <a:moveTo>
                  <a:pt x="5526227" y="153619"/>
                </a:moveTo>
                <a:lnTo>
                  <a:pt x="5571947" y="0"/>
                </a:lnTo>
                <a:lnTo>
                  <a:pt x="9564624" y="0"/>
                </a:lnTo>
                <a:lnTo>
                  <a:pt x="9564624" y="153619"/>
                </a:lnTo>
                <a:lnTo>
                  <a:pt x="9564624" y="307238"/>
                </a:lnTo>
                <a:lnTo>
                  <a:pt x="5571947" y="307238"/>
                </a:lnTo>
                <a:lnTo>
                  <a:pt x="5526227" y="153619"/>
                </a:lnTo>
              </a:path>
            </a:pathLst>
          </a:custGeom>
          <a:ln w="1587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39496" y="34472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Moore next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2121408" y="3447288"/>
            <a:ext cx="12752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3396691" y="3447288"/>
            <a:ext cx="8501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246880" y="3447288"/>
            <a:ext cx="12752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522163" y="3447288"/>
            <a:ext cx="8501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372352" y="3447288"/>
            <a:ext cx="12752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647635" y="3447288"/>
            <a:ext cx="8501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8497824" y="3447288"/>
            <a:ext cx="3188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121408" y="3549701"/>
            <a:ext cx="9564624" cy="307238"/>
          </a:xfrm>
          <a:custGeom>
            <a:avLst/>
            <a:gdLst/>
            <a:ahLst/>
            <a:cxnLst/>
            <a:rect l="l" t="t" r="r" b="b"/>
            <a:pathLst>
              <a:path w="9564624" h="307238">
                <a:moveTo>
                  <a:pt x="0" y="153619"/>
                </a:moveTo>
                <a:lnTo>
                  <a:pt x="0" y="0"/>
                </a:lnTo>
                <a:lnTo>
                  <a:pt x="1229563" y="0"/>
                </a:lnTo>
                <a:lnTo>
                  <a:pt x="1275283" y="153619"/>
                </a:lnTo>
                <a:lnTo>
                  <a:pt x="1229563" y="307238"/>
                </a:lnTo>
                <a:lnTo>
                  <a:pt x="0" y="307238"/>
                </a:lnTo>
                <a:lnTo>
                  <a:pt x="0" y="153619"/>
                </a:lnTo>
                <a:moveTo>
                  <a:pt x="1275283" y="153619"/>
                </a:moveTo>
                <a:lnTo>
                  <a:pt x="1321003" y="0"/>
                </a:lnTo>
                <a:lnTo>
                  <a:pt x="2079752" y="0"/>
                </a:lnTo>
                <a:lnTo>
                  <a:pt x="2125472" y="153619"/>
                </a:lnTo>
                <a:lnTo>
                  <a:pt x="2079752" y="307238"/>
                </a:lnTo>
                <a:lnTo>
                  <a:pt x="1321003" y="307238"/>
                </a:lnTo>
                <a:lnTo>
                  <a:pt x="1275283" y="153619"/>
                </a:lnTo>
                <a:moveTo>
                  <a:pt x="2125472" y="153619"/>
                </a:moveTo>
                <a:lnTo>
                  <a:pt x="2171192" y="0"/>
                </a:lnTo>
                <a:lnTo>
                  <a:pt x="3355035" y="0"/>
                </a:lnTo>
                <a:lnTo>
                  <a:pt x="3400755" y="153619"/>
                </a:lnTo>
                <a:lnTo>
                  <a:pt x="3355035" y="307238"/>
                </a:lnTo>
                <a:lnTo>
                  <a:pt x="2171192" y="307238"/>
                </a:lnTo>
                <a:lnTo>
                  <a:pt x="2125472" y="153619"/>
                </a:lnTo>
                <a:moveTo>
                  <a:pt x="3400755" y="153619"/>
                </a:moveTo>
                <a:lnTo>
                  <a:pt x="3446475" y="0"/>
                </a:lnTo>
                <a:lnTo>
                  <a:pt x="4205224" y="0"/>
                </a:lnTo>
                <a:lnTo>
                  <a:pt x="4250944" y="153619"/>
                </a:lnTo>
                <a:lnTo>
                  <a:pt x="4205224" y="307238"/>
                </a:lnTo>
                <a:lnTo>
                  <a:pt x="3446475" y="307238"/>
                </a:lnTo>
                <a:lnTo>
                  <a:pt x="3400755" y="153619"/>
                </a:lnTo>
                <a:moveTo>
                  <a:pt x="4250944" y="153619"/>
                </a:moveTo>
                <a:lnTo>
                  <a:pt x="4296664" y="0"/>
                </a:lnTo>
                <a:lnTo>
                  <a:pt x="5480507" y="0"/>
                </a:lnTo>
                <a:lnTo>
                  <a:pt x="5526227" y="153619"/>
                </a:lnTo>
                <a:lnTo>
                  <a:pt x="5480507" y="307238"/>
                </a:lnTo>
                <a:lnTo>
                  <a:pt x="4296664" y="307238"/>
                </a:lnTo>
                <a:lnTo>
                  <a:pt x="4250944" y="153619"/>
                </a:lnTo>
                <a:moveTo>
                  <a:pt x="5526227" y="153619"/>
                </a:moveTo>
                <a:lnTo>
                  <a:pt x="5571947" y="0"/>
                </a:lnTo>
                <a:lnTo>
                  <a:pt x="6330696" y="0"/>
                </a:lnTo>
                <a:lnTo>
                  <a:pt x="6376416" y="153619"/>
                </a:lnTo>
                <a:lnTo>
                  <a:pt x="6330696" y="307238"/>
                </a:lnTo>
                <a:lnTo>
                  <a:pt x="5571947" y="307238"/>
                </a:lnTo>
                <a:lnTo>
                  <a:pt x="5526227" y="153619"/>
                </a:lnTo>
                <a:moveTo>
                  <a:pt x="6376416" y="153619"/>
                </a:moveTo>
                <a:lnTo>
                  <a:pt x="6422136" y="0"/>
                </a:lnTo>
                <a:lnTo>
                  <a:pt x="9564624" y="0"/>
                </a:lnTo>
                <a:lnTo>
                  <a:pt x="9564624" y="153619"/>
                </a:lnTo>
                <a:lnTo>
                  <a:pt x="9564624" y="307238"/>
                </a:lnTo>
                <a:lnTo>
                  <a:pt x="6422136" y="307238"/>
                </a:lnTo>
                <a:lnTo>
                  <a:pt x="6376416" y="153619"/>
                </a:lnTo>
              </a:path>
            </a:pathLst>
          </a:custGeom>
          <a:ln w="15875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3396691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3268675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3268675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522163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394147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539414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647635" y="1911096"/>
            <a:ext cx="0" cy="2139696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519619" y="1271016"/>
            <a:ext cx="256032" cy="25603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7519619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497824" y="1911096"/>
            <a:ext cx="0" cy="2139696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369808" y="1271016"/>
            <a:ext cx="256032" cy="2560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8369808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647635" y="2971800"/>
            <a:ext cx="850189" cy="438912"/>
          </a:xfrm>
          <a:prstGeom prst="rect">
            <a:avLst/>
          </a:prstGeom>
          <a:solidFill>
            <a:srgbClr val="FACC15">
              <a:alpha val="50000"/>
            </a:srgbClr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47635" y="3483864"/>
            <a:ext cx="850189" cy="438912"/>
          </a:xfrm>
          <a:prstGeom prst="rect">
            <a:avLst/>
          </a:prstGeom>
          <a:solidFill>
            <a:srgbClr val="FACC15">
              <a:alpha val="50000"/>
            </a:srgbClr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411480" y="420624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DF4FF"/>
          </a:solidFill>
          <a:ln w="9525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640080" y="4261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026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next = S0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640080" y="4626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→ 출력 logic이 담당 (mealy_out = 1), state는 S0 복귀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6217920" y="420624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6446520" y="4261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next = S4</a:t>
            </a:r>
            <a:endParaRPr lang="en-US" sz="1600" dirty="0"/>
          </a:p>
        </p:txBody>
      </p:sp>
      <p:sp>
        <p:nvSpPr>
          <p:cNvPr id="80" name="Text 78"/>
          <p:cNvSpPr txBox="1"/>
          <p:nvPr/>
        </p:nvSpPr>
        <p:spPr>
          <a:xfrm>
            <a:off x="6446520" y="4626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→ state로 저장 → S4 decode로 출력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548640" y="5230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 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din_bit 변경 즉시 next 값 변화 → next = 조합 logic</a:t>
            </a:r>
            <a:endParaRPr lang="en-US" sz="135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675 ns 순간의 next 값만 state로 반영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411480" y="5788152"/>
            <a:ext cx="11384280" cy="566928"/>
          </a:xfrm>
          <a:prstGeom prst="roundRect">
            <a:avLst>
              <a:gd name="adj" fmla="val 8065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612648" y="5788152"/>
            <a:ext cx="10981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천이 전부 동일 → 차이 = S3 · din_bit 1 한 경우 (S0 vs S4)</a:t>
            </a:r>
            <a:endParaRPr lang="en-US" sz="1450" dirty="0"/>
          </a:p>
        </p:txBody>
      </p:sp>
      <p:sp>
        <p:nvSpPr>
          <p:cNvPr id="84" name="Text 82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41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S3 · din_bit = 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with din_bit = 0 Returns Both Machines to S1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FFC6A57-3D38-9A47-9ED4-B2B03B446E1B}"/>
              </a:ext>
            </a:extLst>
          </p:cNvPr>
          <p:cNvGrpSpPr/>
          <p:nvPr/>
        </p:nvGrpSpPr>
        <p:grpSpPr>
          <a:xfrm>
            <a:off x="411480" y="2717859"/>
            <a:ext cx="11731752" cy="3822192"/>
            <a:chOff x="411480" y="1271016"/>
            <a:chExt cx="11731752" cy="3822192"/>
          </a:xfrm>
        </p:grpSpPr>
        <p:sp>
          <p:nvSpPr>
            <p:cNvPr id="6" name="Shape 4"/>
            <p:cNvSpPr/>
            <p:nvPr/>
          </p:nvSpPr>
          <p:spPr>
            <a:xfrm>
              <a:off x="411480" y="1600200"/>
              <a:ext cx="11384280" cy="2450592"/>
            </a:xfrm>
            <a:prstGeom prst="rect">
              <a:avLst/>
            </a:prstGeom>
            <a:solidFill>
              <a:srgbClr val="00000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411480" y="1600200"/>
              <a:ext cx="1600200" cy="2450592"/>
            </a:xfrm>
            <a:prstGeom prst="rect">
              <a:avLst/>
            </a:prstGeom>
            <a:solidFill>
              <a:srgbClr val="1C1F2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21208" y="1636776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Name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121408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121408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664208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415 ns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077870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3077870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620670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420 ns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034333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4034333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3577133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425 ns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990795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990795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4533595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430 ns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947258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5947258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5490058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435 ns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903720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6903720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6446520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440 ns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860182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7860182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7402982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445 ns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8816645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8816645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8359445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450 ns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773107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9773107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9315907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455 ns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0729570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10729570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10272370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460 ns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1686032" y="1819656"/>
              <a:ext cx="0" cy="91440"/>
            </a:xfrm>
            <a:prstGeom prst="line">
              <a:avLst/>
            </a:prstGeom>
            <a:noFill/>
            <a:ln w="9525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11686032" y="1911096"/>
              <a:ext cx="0" cy="2139696"/>
            </a:xfrm>
            <a:prstGeom prst="line">
              <a:avLst/>
            </a:prstGeom>
            <a:noFill/>
            <a:ln w="6350">
              <a:solidFill>
                <a:srgbClr val="2B303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11228832" y="161848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465 ns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011680" y="1911096"/>
              <a:ext cx="9784080" cy="0"/>
            </a:xfrm>
            <a:prstGeom prst="line">
              <a:avLst/>
            </a:prstGeom>
            <a:noFill/>
            <a:ln w="9525">
              <a:solidFill>
                <a:srgbClr val="4B55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539496" y="1911096"/>
              <a:ext cx="1417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5E7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clk</a:t>
              </a:r>
              <a:endParaRPr lang="en-US" sz="13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121408" y="2013509"/>
              <a:ext cx="9564624" cy="307238"/>
            </a:xfrm>
            <a:custGeom>
              <a:avLst/>
              <a:gdLst/>
              <a:ahLst/>
              <a:cxnLst/>
              <a:rect l="l" t="t" r="r" b="b"/>
              <a:pathLst>
                <a:path w="9564624" h="307238">
                  <a:moveTo>
                    <a:pt x="0" y="0"/>
                  </a:moveTo>
                  <a:lnTo>
                    <a:pt x="956462" y="0"/>
                  </a:lnTo>
                  <a:lnTo>
                    <a:pt x="956462" y="307238"/>
                  </a:lnTo>
                  <a:lnTo>
                    <a:pt x="1912925" y="307238"/>
                  </a:lnTo>
                  <a:lnTo>
                    <a:pt x="1912925" y="0"/>
                  </a:lnTo>
                  <a:lnTo>
                    <a:pt x="2869387" y="0"/>
                  </a:lnTo>
                  <a:lnTo>
                    <a:pt x="2869387" y="307238"/>
                  </a:lnTo>
                  <a:lnTo>
                    <a:pt x="3825850" y="307238"/>
                  </a:lnTo>
                  <a:lnTo>
                    <a:pt x="3825850" y="0"/>
                  </a:lnTo>
                  <a:lnTo>
                    <a:pt x="4782312" y="0"/>
                  </a:lnTo>
                  <a:lnTo>
                    <a:pt x="4782312" y="307238"/>
                  </a:lnTo>
                  <a:lnTo>
                    <a:pt x="5738774" y="307238"/>
                  </a:lnTo>
                  <a:lnTo>
                    <a:pt x="5738774" y="0"/>
                  </a:lnTo>
                  <a:lnTo>
                    <a:pt x="6695237" y="0"/>
                  </a:lnTo>
                  <a:lnTo>
                    <a:pt x="6695237" y="307238"/>
                  </a:lnTo>
                  <a:lnTo>
                    <a:pt x="7651699" y="307238"/>
                  </a:lnTo>
                  <a:lnTo>
                    <a:pt x="7651699" y="0"/>
                  </a:lnTo>
                  <a:lnTo>
                    <a:pt x="8608162" y="0"/>
                  </a:lnTo>
                  <a:lnTo>
                    <a:pt x="8608162" y="307238"/>
                  </a:lnTo>
                  <a:lnTo>
                    <a:pt x="9564624" y="307238"/>
                  </a:lnTo>
                </a:path>
              </a:pathLst>
            </a:custGeom>
            <a:ln w="22225">
              <a:solidFill>
                <a:srgbClr val="3EE04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539496" y="2423160"/>
              <a:ext cx="1417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5E7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din_bit</a:t>
              </a:r>
              <a:endParaRPr lang="en-US" sz="13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121408" y="2525573"/>
              <a:ext cx="9564624" cy="307238"/>
            </a:xfrm>
            <a:custGeom>
              <a:avLst/>
              <a:gdLst/>
              <a:ahLst/>
              <a:cxnLst/>
              <a:rect l="l" t="t" r="r" b="b"/>
              <a:pathLst>
                <a:path w="9564624" h="307238">
                  <a:moveTo>
                    <a:pt x="0" y="0"/>
                  </a:moveTo>
                  <a:lnTo>
                    <a:pt x="1147755" y="0"/>
                  </a:lnTo>
                  <a:lnTo>
                    <a:pt x="1147755" y="307238"/>
                  </a:lnTo>
                  <a:lnTo>
                    <a:pt x="3060680" y="307238"/>
                  </a:lnTo>
                  <a:lnTo>
                    <a:pt x="3060680" y="0"/>
                  </a:lnTo>
                  <a:lnTo>
                    <a:pt x="4973604" y="0"/>
                  </a:lnTo>
                  <a:lnTo>
                    <a:pt x="4973604" y="307238"/>
                  </a:lnTo>
                  <a:lnTo>
                    <a:pt x="9564624" y="307238"/>
                  </a:lnTo>
                </a:path>
              </a:pathLst>
            </a:custGeom>
            <a:ln w="22225">
              <a:solidFill>
                <a:srgbClr val="3EE04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5"/>
            <p:cNvSpPr txBox="1"/>
            <p:nvPr/>
          </p:nvSpPr>
          <p:spPr>
            <a:xfrm>
              <a:off x="539496" y="2935224"/>
              <a:ext cx="1417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879F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Mealy current</a:t>
              </a:r>
              <a:endParaRPr lang="en-US" sz="1300" dirty="0"/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2121408" y="2935224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S0</a:t>
              </a:r>
              <a:endParaRPr lang="en-US" sz="1200" dirty="0"/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4034333" y="2935224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S1</a:t>
              </a:r>
              <a:endParaRPr lang="en-US" sz="1200" dirty="0"/>
            </a:p>
          </p:txBody>
        </p:sp>
        <p:sp>
          <p:nvSpPr>
            <p:cNvPr id="50" name="Text 48"/>
            <p:cNvSpPr txBox="1"/>
            <p:nvPr/>
          </p:nvSpPr>
          <p:spPr>
            <a:xfrm>
              <a:off x="5947258" y="2935224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S2</a:t>
              </a:r>
              <a:endParaRPr lang="en-US" sz="1200" dirty="0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7860182" y="2935224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S3</a:t>
              </a:r>
              <a:endParaRPr lang="en-US" sz="1200" dirty="0"/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9773107" y="2935224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S1</a:t>
              </a:r>
              <a:endParaRPr lang="en-US" sz="12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2121408" y="3037637"/>
              <a:ext cx="9564624" cy="307238"/>
            </a:xfrm>
            <a:custGeom>
              <a:avLst/>
              <a:gdLst/>
              <a:ahLst/>
              <a:cxnLst/>
              <a:rect l="l" t="t" r="r" b="b"/>
              <a:pathLst>
                <a:path w="9564624" h="307238">
                  <a:moveTo>
                    <a:pt x="0" y="153619"/>
                  </a:moveTo>
                  <a:lnTo>
                    <a:pt x="0" y="0"/>
                  </a:lnTo>
                  <a:lnTo>
                    <a:pt x="1867205" y="0"/>
                  </a:lnTo>
                  <a:lnTo>
                    <a:pt x="1912925" y="153619"/>
                  </a:lnTo>
                  <a:lnTo>
                    <a:pt x="1867205" y="307238"/>
                  </a:lnTo>
                  <a:lnTo>
                    <a:pt x="0" y="307238"/>
                  </a:lnTo>
                  <a:lnTo>
                    <a:pt x="0" y="153619"/>
                  </a:lnTo>
                  <a:moveTo>
                    <a:pt x="1912925" y="153619"/>
                  </a:moveTo>
                  <a:lnTo>
                    <a:pt x="1958645" y="0"/>
                  </a:lnTo>
                  <a:lnTo>
                    <a:pt x="3780130" y="0"/>
                  </a:lnTo>
                  <a:lnTo>
                    <a:pt x="3825850" y="153619"/>
                  </a:lnTo>
                  <a:lnTo>
                    <a:pt x="3780130" y="307238"/>
                  </a:lnTo>
                  <a:lnTo>
                    <a:pt x="1958645" y="307238"/>
                  </a:lnTo>
                  <a:lnTo>
                    <a:pt x="1912925" y="153619"/>
                  </a:lnTo>
                  <a:moveTo>
                    <a:pt x="3825850" y="153619"/>
                  </a:moveTo>
                  <a:lnTo>
                    <a:pt x="3871570" y="0"/>
                  </a:lnTo>
                  <a:lnTo>
                    <a:pt x="5693054" y="0"/>
                  </a:lnTo>
                  <a:lnTo>
                    <a:pt x="5738774" y="153619"/>
                  </a:lnTo>
                  <a:lnTo>
                    <a:pt x="5693054" y="307238"/>
                  </a:lnTo>
                  <a:lnTo>
                    <a:pt x="3871570" y="307238"/>
                  </a:lnTo>
                  <a:lnTo>
                    <a:pt x="3825850" y="153619"/>
                  </a:lnTo>
                  <a:moveTo>
                    <a:pt x="5738774" y="153619"/>
                  </a:moveTo>
                  <a:lnTo>
                    <a:pt x="5784494" y="0"/>
                  </a:lnTo>
                  <a:lnTo>
                    <a:pt x="7605979" y="0"/>
                  </a:lnTo>
                  <a:lnTo>
                    <a:pt x="7651699" y="153619"/>
                  </a:lnTo>
                  <a:lnTo>
                    <a:pt x="7605979" y="307238"/>
                  </a:lnTo>
                  <a:lnTo>
                    <a:pt x="5784494" y="307238"/>
                  </a:lnTo>
                  <a:lnTo>
                    <a:pt x="5738774" y="153619"/>
                  </a:lnTo>
                  <a:moveTo>
                    <a:pt x="7651699" y="153619"/>
                  </a:moveTo>
                  <a:lnTo>
                    <a:pt x="7697419" y="0"/>
                  </a:lnTo>
                  <a:lnTo>
                    <a:pt x="9564624" y="0"/>
                  </a:lnTo>
                  <a:lnTo>
                    <a:pt x="9564624" y="153619"/>
                  </a:lnTo>
                  <a:lnTo>
                    <a:pt x="9564624" y="307238"/>
                  </a:lnTo>
                  <a:lnTo>
                    <a:pt x="7697419" y="307238"/>
                  </a:lnTo>
                  <a:lnTo>
                    <a:pt x="7651699" y="153619"/>
                  </a:lnTo>
                </a:path>
              </a:pathLst>
            </a:custGeom>
            <a:ln w="15875">
              <a:solidFill>
                <a:srgbClr val="E879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539496" y="3447288"/>
              <a:ext cx="1417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FDBA7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Moore current</a:t>
              </a:r>
              <a:endParaRPr lang="en-US" sz="1300" dirty="0"/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2121408" y="3447288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S0</a:t>
              </a:r>
              <a:endParaRPr lang="en-US" sz="1200" dirty="0"/>
            </a:p>
          </p:txBody>
        </p:sp>
        <p:sp>
          <p:nvSpPr>
            <p:cNvPr id="56" name="Text 54"/>
            <p:cNvSpPr txBox="1"/>
            <p:nvPr/>
          </p:nvSpPr>
          <p:spPr>
            <a:xfrm>
              <a:off x="4034333" y="3447288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S1</a:t>
              </a:r>
              <a:endParaRPr lang="en-US" sz="1200" dirty="0"/>
            </a:p>
          </p:txBody>
        </p:sp>
        <p:sp>
          <p:nvSpPr>
            <p:cNvPr id="57" name="Text 55"/>
            <p:cNvSpPr txBox="1"/>
            <p:nvPr/>
          </p:nvSpPr>
          <p:spPr>
            <a:xfrm>
              <a:off x="5947258" y="3447288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S2</a:t>
              </a:r>
              <a:endParaRPr lang="en-US" sz="1200" dirty="0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7860182" y="3447288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S3</a:t>
              </a:r>
              <a:endParaRPr lang="en-US" sz="1200" dirty="0"/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9773107" y="3447288"/>
              <a:ext cx="1912925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S1</a:t>
              </a:r>
              <a:endParaRPr lang="en-US" sz="12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2121408" y="3549701"/>
              <a:ext cx="9564624" cy="307238"/>
            </a:xfrm>
            <a:custGeom>
              <a:avLst/>
              <a:gdLst/>
              <a:ahLst/>
              <a:cxnLst/>
              <a:rect l="l" t="t" r="r" b="b"/>
              <a:pathLst>
                <a:path w="9564624" h="307238">
                  <a:moveTo>
                    <a:pt x="0" y="153619"/>
                  </a:moveTo>
                  <a:lnTo>
                    <a:pt x="0" y="0"/>
                  </a:lnTo>
                  <a:lnTo>
                    <a:pt x="1867205" y="0"/>
                  </a:lnTo>
                  <a:lnTo>
                    <a:pt x="1912925" y="153619"/>
                  </a:lnTo>
                  <a:lnTo>
                    <a:pt x="1867205" y="307238"/>
                  </a:lnTo>
                  <a:lnTo>
                    <a:pt x="0" y="307238"/>
                  </a:lnTo>
                  <a:lnTo>
                    <a:pt x="0" y="153619"/>
                  </a:lnTo>
                  <a:moveTo>
                    <a:pt x="1912925" y="153619"/>
                  </a:moveTo>
                  <a:lnTo>
                    <a:pt x="1958645" y="0"/>
                  </a:lnTo>
                  <a:lnTo>
                    <a:pt x="3780130" y="0"/>
                  </a:lnTo>
                  <a:lnTo>
                    <a:pt x="3825850" y="153619"/>
                  </a:lnTo>
                  <a:lnTo>
                    <a:pt x="3780130" y="307238"/>
                  </a:lnTo>
                  <a:lnTo>
                    <a:pt x="1958645" y="307238"/>
                  </a:lnTo>
                  <a:lnTo>
                    <a:pt x="1912925" y="153619"/>
                  </a:lnTo>
                  <a:moveTo>
                    <a:pt x="3825850" y="153619"/>
                  </a:moveTo>
                  <a:lnTo>
                    <a:pt x="3871570" y="0"/>
                  </a:lnTo>
                  <a:lnTo>
                    <a:pt x="5693054" y="0"/>
                  </a:lnTo>
                  <a:lnTo>
                    <a:pt x="5738774" y="153619"/>
                  </a:lnTo>
                  <a:lnTo>
                    <a:pt x="5693054" y="307238"/>
                  </a:lnTo>
                  <a:lnTo>
                    <a:pt x="3871570" y="307238"/>
                  </a:lnTo>
                  <a:lnTo>
                    <a:pt x="3825850" y="153619"/>
                  </a:lnTo>
                  <a:moveTo>
                    <a:pt x="5738774" y="153619"/>
                  </a:moveTo>
                  <a:lnTo>
                    <a:pt x="5784494" y="0"/>
                  </a:lnTo>
                  <a:lnTo>
                    <a:pt x="7605979" y="0"/>
                  </a:lnTo>
                  <a:lnTo>
                    <a:pt x="7651699" y="153619"/>
                  </a:lnTo>
                  <a:lnTo>
                    <a:pt x="7605979" y="307238"/>
                  </a:lnTo>
                  <a:lnTo>
                    <a:pt x="5784494" y="307238"/>
                  </a:lnTo>
                  <a:lnTo>
                    <a:pt x="5738774" y="153619"/>
                  </a:lnTo>
                  <a:moveTo>
                    <a:pt x="7651699" y="153619"/>
                  </a:moveTo>
                  <a:lnTo>
                    <a:pt x="7697419" y="0"/>
                  </a:lnTo>
                  <a:lnTo>
                    <a:pt x="9564624" y="0"/>
                  </a:lnTo>
                  <a:lnTo>
                    <a:pt x="9564624" y="153619"/>
                  </a:lnTo>
                  <a:lnTo>
                    <a:pt x="9564624" y="307238"/>
                  </a:lnTo>
                  <a:lnTo>
                    <a:pt x="7697419" y="307238"/>
                  </a:lnTo>
                  <a:lnTo>
                    <a:pt x="7651699" y="153619"/>
                  </a:lnTo>
                </a:path>
              </a:pathLst>
            </a:custGeom>
            <a:ln w="15875">
              <a:solidFill>
                <a:srgbClr val="FDBA7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3269163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ACC1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5182088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ACC1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7095012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ACC1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4034333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B923C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3906317" y="1271016"/>
              <a:ext cx="256032" cy="256032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3906317" y="127101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947258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B923C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5819242" y="1271016"/>
              <a:ext cx="256032" cy="256032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67"/>
            <p:cNvSpPr txBox="1"/>
            <p:nvPr/>
          </p:nvSpPr>
          <p:spPr>
            <a:xfrm>
              <a:off x="5819242" y="127101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7860182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B923C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69"/>
            <p:cNvSpPr/>
            <p:nvPr/>
          </p:nvSpPr>
          <p:spPr>
            <a:xfrm>
              <a:off x="7732166" y="1271016"/>
              <a:ext cx="256032" cy="256032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70"/>
            <p:cNvSpPr txBox="1"/>
            <p:nvPr/>
          </p:nvSpPr>
          <p:spPr>
            <a:xfrm>
              <a:off x="7732166" y="127101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9773107" y="1911096"/>
              <a:ext cx="0" cy="2139696"/>
            </a:xfrm>
            <a:prstGeom prst="line">
              <a:avLst/>
            </a:prstGeom>
            <a:noFill/>
            <a:ln w="15875">
              <a:solidFill>
                <a:srgbClr val="FB923C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Shape 72"/>
            <p:cNvSpPr/>
            <p:nvPr/>
          </p:nvSpPr>
          <p:spPr>
            <a:xfrm>
              <a:off x="9645091" y="1271016"/>
              <a:ext cx="256032" cy="256032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 73"/>
            <p:cNvSpPr txBox="1"/>
            <p:nvPr/>
          </p:nvSpPr>
          <p:spPr>
            <a:xfrm>
              <a:off x="9645091" y="127101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9773107" y="2971800"/>
              <a:ext cx="1912925" cy="438912"/>
            </a:xfrm>
            <a:prstGeom prst="rect">
              <a:avLst/>
            </a:prstGeom>
            <a:solidFill>
              <a:srgbClr val="FACC15">
                <a:alpha val="45000"/>
              </a:srgbClr>
            </a:solidFill>
            <a:ln w="19050">
              <a:solidFill>
                <a:srgbClr val="FACC1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Shape 75"/>
            <p:cNvSpPr/>
            <p:nvPr/>
          </p:nvSpPr>
          <p:spPr>
            <a:xfrm>
              <a:off x="9773107" y="3483864"/>
              <a:ext cx="1912925" cy="438912"/>
            </a:xfrm>
            <a:prstGeom prst="rect">
              <a:avLst/>
            </a:prstGeom>
            <a:solidFill>
              <a:srgbClr val="FACC15">
                <a:alpha val="45000"/>
              </a:srgbClr>
            </a:solidFill>
            <a:ln w="19050">
              <a:solidFill>
                <a:srgbClr val="FACC1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Shape 76"/>
            <p:cNvSpPr/>
            <p:nvPr/>
          </p:nvSpPr>
          <p:spPr>
            <a:xfrm>
              <a:off x="914400" y="4526280"/>
              <a:ext cx="566928" cy="5669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77"/>
            <p:cNvSpPr txBox="1"/>
            <p:nvPr/>
          </p:nvSpPr>
          <p:spPr>
            <a:xfrm>
              <a:off x="914400" y="4526280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S0</a:t>
              </a:r>
              <a:endParaRPr lang="en-US" sz="15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1517904" y="4809744"/>
              <a:ext cx="1801368" cy="0"/>
            </a:xfrm>
            <a:prstGeom prst="line">
              <a:avLst/>
            </a:prstGeom>
            <a:noFill/>
            <a:ln w="19050">
              <a:solidFill>
                <a:srgbClr val="47556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 79"/>
            <p:cNvSpPr txBox="1"/>
            <p:nvPr/>
          </p:nvSpPr>
          <p:spPr>
            <a:xfrm>
              <a:off x="1481328" y="4197096"/>
              <a:ext cx="18745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 din 0</a:t>
              </a:r>
              <a:endParaRPr lang="en-US" sz="13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3355848" y="4526280"/>
              <a:ext cx="566928" cy="5669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 81"/>
            <p:cNvSpPr txBox="1"/>
            <p:nvPr/>
          </p:nvSpPr>
          <p:spPr>
            <a:xfrm>
              <a:off x="3355848" y="4526280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S1</a:t>
              </a:r>
              <a:endParaRPr lang="en-US" sz="15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3959352" y="4809744"/>
              <a:ext cx="1801368" cy="0"/>
            </a:xfrm>
            <a:prstGeom prst="line">
              <a:avLst/>
            </a:prstGeom>
            <a:noFill/>
            <a:ln w="19050">
              <a:solidFill>
                <a:srgbClr val="47556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83"/>
            <p:cNvSpPr txBox="1"/>
            <p:nvPr/>
          </p:nvSpPr>
          <p:spPr>
            <a:xfrm>
              <a:off x="3922776" y="4197096"/>
              <a:ext cx="18745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 din 1</a:t>
              </a:r>
              <a:endParaRPr lang="en-US" sz="13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5797296" y="4526280"/>
              <a:ext cx="566928" cy="5669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 85"/>
            <p:cNvSpPr txBox="1"/>
            <p:nvPr/>
          </p:nvSpPr>
          <p:spPr>
            <a:xfrm>
              <a:off x="5797296" y="4526280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S2</a:t>
              </a:r>
              <a:endParaRPr lang="en-US" sz="1500" dirty="0"/>
            </a:p>
          </p:txBody>
        </p:sp>
        <p:sp>
          <p:nvSpPr>
            <p:cNvPr id="88" name="Shape 86"/>
            <p:cNvSpPr/>
            <p:nvPr/>
          </p:nvSpPr>
          <p:spPr>
            <a:xfrm>
              <a:off x="6400800" y="4809744"/>
              <a:ext cx="1801368" cy="0"/>
            </a:xfrm>
            <a:prstGeom prst="line">
              <a:avLst/>
            </a:prstGeom>
            <a:noFill/>
            <a:ln w="19050">
              <a:solidFill>
                <a:srgbClr val="47556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 87"/>
            <p:cNvSpPr txBox="1"/>
            <p:nvPr/>
          </p:nvSpPr>
          <p:spPr>
            <a:xfrm>
              <a:off x="6364224" y="4197096"/>
              <a:ext cx="18745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 din 0</a:t>
              </a:r>
              <a:endParaRPr lang="en-US" sz="130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8238744" y="4526280"/>
              <a:ext cx="566928" cy="566928"/>
            </a:xfrm>
            <a:prstGeom prst="ellipse">
              <a:avLst/>
            </a:prstGeom>
            <a:solidFill>
              <a:srgbClr val="FEF3C7"/>
            </a:solidFill>
            <a:ln w="22225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89"/>
            <p:cNvSpPr txBox="1"/>
            <p:nvPr/>
          </p:nvSpPr>
          <p:spPr>
            <a:xfrm>
              <a:off x="8238744" y="4526280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S3</a:t>
              </a:r>
              <a:endParaRPr lang="en-US" sz="150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8842248" y="4809744"/>
              <a:ext cx="1801368" cy="0"/>
            </a:xfrm>
            <a:prstGeom prst="line">
              <a:avLst/>
            </a:prstGeom>
            <a:noFill/>
            <a:ln w="19050">
              <a:solidFill>
                <a:srgbClr val="475569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Text 91"/>
            <p:cNvSpPr txBox="1"/>
            <p:nvPr/>
          </p:nvSpPr>
          <p:spPr>
            <a:xfrm>
              <a:off x="8805672" y="4197096"/>
              <a:ext cx="18745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 din 0</a:t>
              </a:r>
              <a:endParaRPr lang="en-US" sz="1300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10680192" y="4526280"/>
              <a:ext cx="566928" cy="5669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Text 93"/>
            <p:cNvSpPr txBox="1"/>
            <p:nvPr/>
          </p:nvSpPr>
          <p:spPr>
            <a:xfrm>
              <a:off x="10680192" y="4526280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S1</a:t>
              </a:r>
              <a:endParaRPr lang="en-US" sz="1500" dirty="0"/>
            </a:p>
          </p:txBody>
        </p:sp>
      </p:grpSp>
      <p:sp>
        <p:nvSpPr>
          <p:cNvPr id="98" name="Text 96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41</a:t>
            </a:r>
            <a:endParaRPr lang="en-US" sz="900" dirty="0"/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89D67CE7-AB80-C922-A091-DA0145B73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70" y="1018926"/>
            <a:ext cx="7134625" cy="1664208"/>
          </a:xfrm>
          <a:prstGeom prst="rect">
            <a:avLst/>
          </a:prstGeom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4511E46-8568-9745-5082-2CBED1D51339}"/>
              </a:ext>
            </a:extLst>
          </p:cNvPr>
          <p:cNvSpPr/>
          <p:nvPr/>
        </p:nvSpPr>
        <p:spPr>
          <a:xfrm>
            <a:off x="2414016" y="1097280"/>
            <a:ext cx="2304288" cy="1449150"/>
          </a:xfrm>
          <a:prstGeom prst="rect">
            <a:avLst/>
          </a:prstGeom>
          <a:solidFill>
            <a:srgbClr val="FFFF00">
              <a:alpha val="31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Homework-1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Mealy vs Moore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Responds Faster, Moore Gives a Clock-aligned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5176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1148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63240" y="1234440"/>
            <a:ext cx="4389120" cy="548640"/>
          </a:xfrm>
          <a:prstGeom prst="rect">
            <a:avLst/>
          </a:prstGeom>
          <a:solidFill>
            <a:srgbClr val="A21C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063240" y="1234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343400" cy="54864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52360" y="12344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1783080"/>
            <a:ext cx="26517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11480" y="17830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63240" y="1783080"/>
            <a:ext cx="4389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063240" y="17830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52360" y="1783080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452360" y="178308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(S4 추가)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1480" y="2386584"/>
            <a:ext cx="26517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11480" y="238658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결정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63240" y="2386584"/>
            <a:ext cx="4389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3063240" y="238658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+ din_bit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52360" y="2386584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452360" y="238658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only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2990088"/>
            <a:ext cx="26517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11480" y="29900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시점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063240" y="2990088"/>
            <a:ext cx="4389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063240" y="299008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221 ns  (din_bit 도착 즉시)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52360" y="2990088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452360" y="299008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225 ns  (posedge 이후)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3593592"/>
            <a:ext cx="26517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11480" y="3593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폭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063240" y="3593592"/>
            <a:ext cx="4389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3063240" y="359359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ns  (din_bit 변경 ~ posedge)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52360" y="3593592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452360" y="359359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ns  (1 clock)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11480" y="4197096"/>
            <a:ext cx="26517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411480" y="41970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 glitch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063240" y="4197096"/>
            <a:ext cx="4389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3063240" y="419709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출력에 그대로 전달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452360" y="4197096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452360" y="419709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FF에서 차단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11480" y="4800600"/>
            <a:ext cx="26517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411480" y="48006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적합한 용도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063240" y="4800600"/>
            <a:ext cx="4389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3063240" y="480060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응답 필요 경로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452360" y="4800600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7452360" y="480060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 FF 입력 · 안정 출력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11480" y="5623560"/>
            <a:ext cx="11384280" cy="73152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612648" y="5623560"/>
            <a:ext cx="10981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속도 = Mealy 우위 (4 ns 빠름)  ·  출력 안정성 · timing 정렬 = Moore 우위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41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Homework-2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Switch → Button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Buttons Return to 0 on Release, Unlike Switches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38428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 Waveform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Switch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1783080"/>
            <a:ext cx="9509760" cy="411480"/>
          </a:xfrm>
          <a:custGeom>
            <a:avLst/>
            <a:gdLst/>
            <a:ahLst/>
            <a:cxnLst/>
            <a:rect l="l" t="t" r="r" b="b"/>
            <a:pathLst>
              <a:path w="9509760" h="411480">
                <a:moveTo>
                  <a:pt x="0" y="411480"/>
                </a:moveTo>
                <a:lnTo>
                  <a:pt x="950976" y="411480"/>
                </a:lnTo>
                <a:lnTo>
                  <a:pt x="950976" y="0"/>
                </a:lnTo>
                <a:lnTo>
                  <a:pt x="8083296" y="0"/>
                </a:lnTo>
                <a:lnTo>
                  <a:pt x="8083296" y="411480"/>
                </a:lnTo>
                <a:lnTo>
                  <a:pt x="9509760" y="411480"/>
                </a:lnTo>
              </a:path>
            </a:pathLst>
          </a:custGeom>
          <a:ln w="285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963363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동안 1 유지 → level = 모드 선택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20240" y="3017520"/>
            <a:ext cx="9509760" cy="411480"/>
          </a:xfrm>
          <a:custGeom>
            <a:avLst/>
            <a:gdLst/>
            <a:ahLst/>
            <a:cxnLst/>
            <a:rect l="l" t="t" r="r" b="b"/>
            <a:pathLst>
              <a:path w="9509760" h="411480">
                <a:moveTo>
                  <a:pt x="0" y="411480"/>
                </a:moveTo>
                <a:lnTo>
                  <a:pt x="950976" y="411480"/>
                </a:lnTo>
                <a:lnTo>
                  <a:pt x="950976" y="0"/>
                </a:lnTo>
                <a:lnTo>
                  <a:pt x="1093622" y="0"/>
                </a:lnTo>
                <a:lnTo>
                  <a:pt x="1093622" y="411480"/>
                </a:lnTo>
                <a:lnTo>
                  <a:pt x="1188720" y="411480"/>
                </a:lnTo>
                <a:lnTo>
                  <a:pt x="1188720" y="0"/>
                </a:lnTo>
                <a:lnTo>
                  <a:pt x="1283818" y="0"/>
                </a:lnTo>
                <a:lnTo>
                  <a:pt x="1283818" y="411480"/>
                </a:lnTo>
                <a:lnTo>
                  <a:pt x="1350386" y="411480"/>
                </a:lnTo>
                <a:lnTo>
                  <a:pt x="1350386" y="0"/>
                </a:lnTo>
                <a:lnTo>
                  <a:pt x="1407444" y="0"/>
                </a:lnTo>
                <a:lnTo>
                  <a:pt x="1407444" y="411480"/>
                </a:lnTo>
                <a:lnTo>
                  <a:pt x="1474013" y="411480"/>
                </a:lnTo>
                <a:lnTo>
                  <a:pt x="1474013" y="0"/>
                </a:lnTo>
                <a:lnTo>
                  <a:pt x="3423514" y="0"/>
                </a:lnTo>
                <a:lnTo>
                  <a:pt x="3423514" y="411480"/>
                </a:lnTo>
                <a:lnTo>
                  <a:pt x="3499592" y="411480"/>
                </a:lnTo>
                <a:lnTo>
                  <a:pt x="3499592" y="0"/>
                </a:lnTo>
                <a:lnTo>
                  <a:pt x="3556650" y="0"/>
                </a:lnTo>
                <a:lnTo>
                  <a:pt x="3556650" y="411480"/>
                </a:lnTo>
                <a:lnTo>
                  <a:pt x="3632728" y="411480"/>
                </a:lnTo>
                <a:lnTo>
                  <a:pt x="3632728" y="0"/>
                </a:lnTo>
                <a:lnTo>
                  <a:pt x="3670767" y="0"/>
                </a:lnTo>
                <a:lnTo>
                  <a:pt x="3670767" y="411480"/>
                </a:lnTo>
                <a:lnTo>
                  <a:pt x="9509760" y="411480"/>
                </a:lnTo>
              </a:path>
            </a:pathLst>
          </a:custGeom>
          <a:ln w="285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76118" y="2880360"/>
            <a:ext cx="684703" cy="685800"/>
          </a:xfrm>
          <a:prstGeom prst="roundRect">
            <a:avLst>
              <a:gd name="adj" fmla="val 5342"/>
            </a:avLst>
          </a:prstGeom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96205" y="2880360"/>
            <a:ext cx="380390" cy="685800"/>
          </a:xfrm>
          <a:prstGeom prst="roundRect">
            <a:avLst>
              <a:gd name="adj" fmla="val 9615"/>
            </a:avLst>
          </a:prstGeom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490826" y="3611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bounce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58461" y="3611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bounce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뗀 이후 0 복귀 → push 순간 = 이벤트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389120"/>
            <a:ext cx="5577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94360" y="4526280"/>
            <a:ext cx="274320" cy="2743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943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" y="4498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입력 방식 변경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4846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→ 1 cycle tick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23036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level 그대로 사용 시 push 유지 동안 매 clk 천이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 조건 = button_debouncer의 o_btn tick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577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00800" y="4526280"/>
            <a:ext cx="274320" cy="2743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008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498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Debouncer 추가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846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· Pop bounce 제거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23036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bounce pulse마다 tick 발생 위험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sample 연속 1일 때만 유효 입력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41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Homework-2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Block Diagram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counter_10000_v2: Debounced Buttons Drive FSM_RUN_STOP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384280" cy="406908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counter_10000_v2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432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5486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5486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3000" y="178308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43000" y="1837944"/>
            <a:ext cx="17830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60270"/>
            <a:ext cx="1783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DUT_BTN_L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269748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143000" y="2752344"/>
            <a:ext cx="17830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74670"/>
            <a:ext cx="1783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DUT_BTN_R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103120"/>
            <a:ext cx="5029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926080" y="3017520"/>
            <a:ext cx="5029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880360" y="18470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w_btn_L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27614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w_btn_R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783080"/>
            <a:ext cx="1600200" cy="160020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429000" y="1837944"/>
            <a:ext cx="16002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FSM_RUN_STOP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2663190"/>
            <a:ext cx="1600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8404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 (미사용)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4224528" y="340156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0" y="2578608"/>
            <a:ext cx="5029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956048" y="23225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o_sw[2:0]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1691640"/>
            <a:ext cx="2194560" cy="178308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53212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counter_datapath_v2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1965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U_CNT_DATA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22860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669280" y="2340864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tick_gen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2663190"/>
            <a:ext cx="9144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28600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675120" y="2340864"/>
            <a:ext cx="960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tick_counter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2663190"/>
            <a:ext cx="960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2624328"/>
            <a:ext cx="9144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532120" y="3090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tick: 0.1 s 주기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26680" y="2578608"/>
            <a:ext cx="5029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680960" y="23225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w_counter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2057400"/>
            <a:ext cx="1600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8229600" y="2112264"/>
            <a:ext cx="1600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digit_splitter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229600" y="2635758"/>
            <a:ext cx="16002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U_SPLIT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29700" y="3108960"/>
            <a:ext cx="0" cy="7772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098280" y="3291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 1·10·100·1000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29600" y="38862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8229600" y="3941064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Fnd_Controller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4338828"/>
            <a:ext cx="1600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U_FND_CON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35040" y="393192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6035040" y="39867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clock_div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035040" y="4334256"/>
            <a:ext cx="146304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U_CLK_DIV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98080" y="4297680"/>
            <a:ext cx="7315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7498080" y="4041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w_clk_1kHz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829800" y="4297680"/>
            <a:ext cx="45720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9829800" y="4041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w_hex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287000" y="39319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10287000" y="398678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fnd_decoder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0287000" y="4334256"/>
            <a:ext cx="132588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U_FND_DEC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945368" y="4663440"/>
            <a:ext cx="0" cy="32004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10058400" y="49834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o_fnd_data[7:0]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29700" y="4709160"/>
            <a:ext cx="0" cy="2743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8321040" y="49834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o_fnd_com[3:0]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4008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i_clk (100 MHz) · i_reset → 전 module 공통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33272" y="1655064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033272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19272" y="1655064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3319272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422392" y="1563624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5422392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119872" y="1929384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8119872" y="1929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11480" y="5468112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411480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777240" y="54132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bounce 제거 + 1 cycle tick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6149340" y="5468112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6149340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6515100" y="54132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FSM_RUN_STOP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tick → STOP · RUN · CLEAR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411480" y="5952744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411480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777240" y="5897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counter_datapath_v2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o_sw에 따라 HOLD · CLEAR · count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6149340" y="5952744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6149340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6515100" y="5897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digit_splitter → FND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자리 분리 → scan → segment</a:t>
            </a:r>
            <a:endParaRPr lang="en-US" sz="1350" dirty="0"/>
          </a:p>
        </p:txBody>
      </p:sp>
      <p:sp>
        <p:nvSpPr>
          <p:cNvPr id="85" name="Text 8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41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Homework-2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State Diagram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FSM_RUN_STOP: btn_R Toggles RUN / STOP, btn_L Clears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667512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920240" y="2720340"/>
            <a:ext cx="1417320" cy="434340"/>
          </a:xfrm>
          <a:custGeom>
            <a:avLst/>
            <a:gdLst/>
            <a:ahLst/>
            <a:cxnLst/>
            <a:rect l="l" t="t" r="r" b="b"/>
            <a:pathLst>
              <a:path w="1417320" h="434340">
                <a:moveTo>
                  <a:pt x="1417320" y="434340"/>
                </a:moveTo>
                <a:lnTo>
                  <a:pt x="1358265" y="364966"/>
                </a:lnTo>
                <a:lnTo>
                  <a:pt x="1299210" y="301625"/>
                </a:lnTo>
                <a:lnTo>
                  <a:pt x="1240155" y="244316"/>
                </a:lnTo>
                <a:lnTo>
                  <a:pt x="1181100" y="193040"/>
                </a:lnTo>
                <a:lnTo>
                  <a:pt x="1122045" y="147796"/>
                </a:lnTo>
                <a:lnTo>
                  <a:pt x="1062990" y="108585"/>
                </a:lnTo>
                <a:lnTo>
                  <a:pt x="1003935" y="75406"/>
                </a:lnTo>
                <a:lnTo>
                  <a:pt x="944880" y="48260"/>
                </a:lnTo>
                <a:lnTo>
                  <a:pt x="885825" y="27146"/>
                </a:lnTo>
                <a:lnTo>
                  <a:pt x="826770" y="12065"/>
                </a:lnTo>
                <a:lnTo>
                  <a:pt x="767715" y="3016"/>
                </a:lnTo>
                <a:lnTo>
                  <a:pt x="708660" y="0"/>
                </a:lnTo>
                <a:lnTo>
                  <a:pt x="649605" y="3016"/>
                </a:lnTo>
                <a:lnTo>
                  <a:pt x="590550" y="12065"/>
                </a:lnTo>
                <a:lnTo>
                  <a:pt x="531495" y="27146"/>
                </a:lnTo>
                <a:lnTo>
                  <a:pt x="472440" y="48260"/>
                </a:lnTo>
                <a:lnTo>
                  <a:pt x="413385" y="75406"/>
                </a:lnTo>
                <a:lnTo>
                  <a:pt x="354330" y="108585"/>
                </a:lnTo>
                <a:lnTo>
                  <a:pt x="295275" y="147796"/>
                </a:lnTo>
                <a:lnTo>
                  <a:pt x="236220" y="193040"/>
                </a:lnTo>
                <a:lnTo>
                  <a:pt x="177165" y="244316"/>
                </a:lnTo>
                <a:lnTo>
                  <a:pt x="118110" y="301625"/>
                </a:lnTo>
                <a:lnTo>
                  <a:pt x="59055" y="364966"/>
                </a:lnTo>
                <a:lnTo>
                  <a:pt x="0" y="434340"/>
                </a:lnTo>
              </a:path>
            </a:pathLst>
          </a:custGeom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920240" y="4069080"/>
            <a:ext cx="1417320" cy="434340"/>
          </a:xfrm>
          <a:custGeom>
            <a:avLst/>
            <a:gdLst/>
            <a:ahLst/>
            <a:cxnLst/>
            <a:rect l="l" t="t" r="r" b="b"/>
            <a:pathLst>
              <a:path w="1417320" h="434340">
                <a:moveTo>
                  <a:pt x="0" y="0"/>
                </a:moveTo>
                <a:lnTo>
                  <a:pt x="59055" y="69374"/>
                </a:lnTo>
                <a:lnTo>
                  <a:pt x="118110" y="132715"/>
                </a:lnTo>
                <a:lnTo>
                  <a:pt x="177165" y="190024"/>
                </a:lnTo>
                <a:lnTo>
                  <a:pt x="236220" y="241300"/>
                </a:lnTo>
                <a:lnTo>
                  <a:pt x="295275" y="286544"/>
                </a:lnTo>
                <a:lnTo>
                  <a:pt x="354330" y="325755"/>
                </a:lnTo>
                <a:lnTo>
                  <a:pt x="413385" y="358934"/>
                </a:lnTo>
                <a:lnTo>
                  <a:pt x="472440" y="386080"/>
                </a:lnTo>
                <a:lnTo>
                  <a:pt x="531495" y="407194"/>
                </a:lnTo>
                <a:lnTo>
                  <a:pt x="590550" y="422275"/>
                </a:lnTo>
                <a:lnTo>
                  <a:pt x="649605" y="431324"/>
                </a:lnTo>
                <a:lnTo>
                  <a:pt x="708660" y="434340"/>
                </a:lnTo>
                <a:lnTo>
                  <a:pt x="767715" y="431324"/>
                </a:lnTo>
                <a:lnTo>
                  <a:pt x="826770" y="422275"/>
                </a:lnTo>
                <a:lnTo>
                  <a:pt x="885825" y="407194"/>
                </a:lnTo>
                <a:lnTo>
                  <a:pt x="944880" y="386080"/>
                </a:lnTo>
                <a:lnTo>
                  <a:pt x="1003935" y="358934"/>
                </a:lnTo>
                <a:lnTo>
                  <a:pt x="1062990" y="325755"/>
                </a:lnTo>
                <a:lnTo>
                  <a:pt x="1122045" y="286544"/>
                </a:lnTo>
                <a:lnTo>
                  <a:pt x="1181100" y="241300"/>
                </a:lnTo>
                <a:lnTo>
                  <a:pt x="1240155" y="190024"/>
                </a:lnTo>
                <a:lnTo>
                  <a:pt x="1299210" y="132715"/>
                </a:lnTo>
                <a:lnTo>
                  <a:pt x="1358265" y="69374"/>
                </a:lnTo>
                <a:lnTo>
                  <a:pt x="1417320" y="0"/>
                </a:lnTo>
              </a:path>
            </a:pathLst>
          </a:custGeom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160520" y="2720340"/>
            <a:ext cx="1417320" cy="434340"/>
          </a:xfrm>
          <a:custGeom>
            <a:avLst/>
            <a:gdLst/>
            <a:ahLst/>
            <a:cxnLst/>
            <a:rect l="l" t="t" r="r" b="b"/>
            <a:pathLst>
              <a:path w="1417320" h="434340">
                <a:moveTo>
                  <a:pt x="0" y="434340"/>
                </a:moveTo>
                <a:lnTo>
                  <a:pt x="59055" y="364966"/>
                </a:lnTo>
                <a:lnTo>
                  <a:pt x="118110" y="301625"/>
                </a:lnTo>
                <a:lnTo>
                  <a:pt x="177165" y="244316"/>
                </a:lnTo>
                <a:lnTo>
                  <a:pt x="236220" y="193040"/>
                </a:lnTo>
                <a:lnTo>
                  <a:pt x="295275" y="147796"/>
                </a:lnTo>
                <a:lnTo>
                  <a:pt x="354330" y="108585"/>
                </a:lnTo>
                <a:lnTo>
                  <a:pt x="413385" y="75406"/>
                </a:lnTo>
                <a:lnTo>
                  <a:pt x="472440" y="48260"/>
                </a:lnTo>
                <a:lnTo>
                  <a:pt x="531495" y="27146"/>
                </a:lnTo>
                <a:lnTo>
                  <a:pt x="590550" y="12065"/>
                </a:lnTo>
                <a:lnTo>
                  <a:pt x="649605" y="3016"/>
                </a:lnTo>
                <a:lnTo>
                  <a:pt x="708660" y="0"/>
                </a:lnTo>
                <a:lnTo>
                  <a:pt x="767715" y="3016"/>
                </a:lnTo>
                <a:lnTo>
                  <a:pt x="826770" y="12065"/>
                </a:lnTo>
                <a:lnTo>
                  <a:pt x="885825" y="27146"/>
                </a:lnTo>
                <a:lnTo>
                  <a:pt x="944880" y="48260"/>
                </a:lnTo>
                <a:lnTo>
                  <a:pt x="1003935" y="75406"/>
                </a:lnTo>
                <a:lnTo>
                  <a:pt x="1062990" y="108585"/>
                </a:lnTo>
                <a:lnTo>
                  <a:pt x="1122045" y="147796"/>
                </a:lnTo>
                <a:lnTo>
                  <a:pt x="1181100" y="193040"/>
                </a:lnTo>
                <a:lnTo>
                  <a:pt x="1240155" y="244316"/>
                </a:lnTo>
                <a:lnTo>
                  <a:pt x="1299210" y="301625"/>
                </a:lnTo>
                <a:lnTo>
                  <a:pt x="1358265" y="364966"/>
                </a:lnTo>
                <a:lnTo>
                  <a:pt x="1417320" y="434340"/>
                </a:lnTo>
              </a:path>
            </a:pathLst>
          </a:custGeom>
          <a:ln w="2540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160520" y="4069080"/>
            <a:ext cx="1417320" cy="434340"/>
          </a:xfrm>
          <a:custGeom>
            <a:avLst/>
            <a:gdLst/>
            <a:ahLst/>
            <a:cxnLst/>
            <a:rect l="l" t="t" r="r" b="b"/>
            <a:pathLst>
              <a:path w="1417320" h="434340">
                <a:moveTo>
                  <a:pt x="1417320" y="0"/>
                </a:moveTo>
                <a:lnTo>
                  <a:pt x="1358265" y="69374"/>
                </a:lnTo>
                <a:lnTo>
                  <a:pt x="1299210" y="132715"/>
                </a:lnTo>
                <a:lnTo>
                  <a:pt x="1240155" y="190024"/>
                </a:lnTo>
                <a:lnTo>
                  <a:pt x="1181100" y="241300"/>
                </a:lnTo>
                <a:lnTo>
                  <a:pt x="1122045" y="286544"/>
                </a:lnTo>
                <a:lnTo>
                  <a:pt x="1062990" y="325755"/>
                </a:lnTo>
                <a:lnTo>
                  <a:pt x="1003935" y="358934"/>
                </a:lnTo>
                <a:lnTo>
                  <a:pt x="944880" y="386080"/>
                </a:lnTo>
                <a:lnTo>
                  <a:pt x="885825" y="407194"/>
                </a:lnTo>
                <a:lnTo>
                  <a:pt x="826770" y="422275"/>
                </a:lnTo>
                <a:lnTo>
                  <a:pt x="767715" y="431324"/>
                </a:lnTo>
                <a:lnTo>
                  <a:pt x="708660" y="434340"/>
                </a:lnTo>
                <a:lnTo>
                  <a:pt x="649605" y="431324"/>
                </a:lnTo>
                <a:lnTo>
                  <a:pt x="590550" y="422275"/>
                </a:lnTo>
                <a:lnTo>
                  <a:pt x="531495" y="407194"/>
                </a:lnTo>
                <a:lnTo>
                  <a:pt x="472440" y="386080"/>
                </a:lnTo>
                <a:lnTo>
                  <a:pt x="413385" y="358934"/>
                </a:lnTo>
                <a:lnTo>
                  <a:pt x="354330" y="325755"/>
                </a:lnTo>
                <a:lnTo>
                  <a:pt x="295275" y="286544"/>
                </a:lnTo>
                <a:lnTo>
                  <a:pt x="236220" y="241300"/>
                </a:lnTo>
                <a:lnTo>
                  <a:pt x="177165" y="190024"/>
                </a:lnTo>
                <a:lnTo>
                  <a:pt x="118110" y="132715"/>
                </a:lnTo>
                <a:lnTo>
                  <a:pt x="59055" y="69374"/>
                </a:lnTo>
                <a:lnTo>
                  <a:pt x="0" y="0"/>
                </a:lnTo>
              </a:path>
            </a:pathLst>
          </a:custGeom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988820" y="2423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 tick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88820" y="4544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29100" y="2423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 tick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29100" y="4544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 tick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2597072"/>
            <a:ext cx="548640" cy="511888"/>
          </a:xfrm>
          <a:custGeom>
            <a:avLst/>
            <a:gdLst/>
            <a:ahLst/>
            <a:cxnLst/>
            <a:rect l="l" t="t" r="r" b="b"/>
            <a:pathLst>
              <a:path w="548640" h="511888">
                <a:moveTo>
                  <a:pt x="137160" y="0"/>
                </a:moveTo>
                <a:lnTo>
                  <a:pt x="97991" y="27427"/>
                </a:lnTo>
                <a:lnTo>
                  <a:pt x="64179" y="61239"/>
                </a:lnTo>
                <a:lnTo>
                  <a:pt x="36752" y="100408"/>
                </a:lnTo>
                <a:lnTo>
                  <a:pt x="16544" y="143745"/>
                </a:lnTo>
                <a:lnTo>
                  <a:pt x="4168" y="189933"/>
                </a:lnTo>
                <a:lnTo>
                  <a:pt x="0" y="237568"/>
                </a:lnTo>
                <a:lnTo>
                  <a:pt x="4168" y="285203"/>
                </a:lnTo>
                <a:lnTo>
                  <a:pt x="16544" y="331391"/>
                </a:lnTo>
                <a:lnTo>
                  <a:pt x="36752" y="374728"/>
                </a:lnTo>
                <a:lnTo>
                  <a:pt x="64179" y="413898"/>
                </a:lnTo>
                <a:lnTo>
                  <a:pt x="97991" y="447709"/>
                </a:lnTo>
                <a:lnTo>
                  <a:pt x="137160" y="475136"/>
                </a:lnTo>
                <a:lnTo>
                  <a:pt x="180497" y="495345"/>
                </a:lnTo>
                <a:lnTo>
                  <a:pt x="226685" y="507721"/>
                </a:lnTo>
                <a:lnTo>
                  <a:pt x="274320" y="511888"/>
                </a:lnTo>
                <a:lnTo>
                  <a:pt x="321955" y="507721"/>
                </a:lnTo>
                <a:lnTo>
                  <a:pt x="368143" y="495345"/>
                </a:lnTo>
                <a:lnTo>
                  <a:pt x="411480" y="475136"/>
                </a:lnTo>
                <a:lnTo>
                  <a:pt x="450649" y="447709"/>
                </a:lnTo>
                <a:lnTo>
                  <a:pt x="484461" y="413898"/>
                </a:lnTo>
                <a:lnTo>
                  <a:pt x="511888" y="374728"/>
                </a:lnTo>
                <a:lnTo>
                  <a:pt x="532096" y="331391"/>
                </a:lnTo>
                <a:lnTo>
                  <a:pt x="544472" y="285203"/>
                </a:lnTo>
                <a:lnTo>
                  <a:pt x="548640" y="237568"/>
                </a:lnTo>
                <a:lnTo>
                  <a:pt x="544472" y="189933"/>
                </a:lnTo>
                <a:lnTo>
                  <a:pt x="532096" y="143745"/>
                </a:lnTo>
                <a:lnTo>
                  <a:pt x="511888" y="100408"/>
                </a:lnTo>
                <a:lnTo>
                  <a:pt x="484461" y="61239"/>
                </a:lnTo>
                <a:lnTo>
                  <a:pt x="450649" y="27427"/>
                </a:lnTo>
                <a:lnTo>
                  <a:pt x="411480" y="0"/>
                </a:lnTo>
              </a:path>
            </a:pathLst>
          </a:custGeom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926080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없음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15000" y="2597072"/>
            <a:ext cx="548640" cy="511888"/>
          </a:xfrm>
          <a:custGeom>
            <a:avLst/>
            <a:gdLst/>
            <a:ahLst/>
            <a:cxnLst/>
            <a:rect l="l" t="t" r="r" b="b"/>
            <a:pathLst>
              <a:path w="548640" h="511888">
                <a:moveTo>
                  <a:pt x="137160" y="0"/>
                </a:moveTo>
                <a:lnTo>
                  <a:pt x="97991" y="27427"/>
                </a:lnTo>
                <a:lnTo>
                  <a:pt x="64179" y="61239"/>
                </a:lnTo>
                <a:lnTo>
                  <a:pt x="36752" y="100408"/>
                </a:lnTo>
                <a:lnTo>
                  <a:pt x="16544" y="143745"/>
                </a:lnTo>
                <a:lnTo>
                  <a:pt x="4168" y="189933"/>
                </a:lnTo>
                <a:lnTo>
                  <a:pt x="0" y="237568"/>
                </a:lnTo>
                <a:lnTo>
                  <a:pt x="4168" y="285203"/>
                </a:lnTo>
                <a:lnTo>
                  <a:pt x="16544" y="331391"/>
                </a:lnTo>
                <a:lnTo>
                  <a:pt x="36752" y="374728"/>
                </a:lnTo>
                <a:lnTo>
                  <a:pt x="64179" y="413898"/>
                </a:lnTo>
                <a:lnTo>
                  <a:pt x="97991" y="447709"/>
                </a:lnTo>
                <a:lnTo>
                  <a:pt x="137160" y="475136"/>
                </a:lnTo>
                <a:lnTo>
                  <a:pt x="180497" y="495345"/>
                </a:lnTo>
                <a:lnTo>
                  <a:pt x="226685" y="507721"/>
                </a:lnTo>
                <a:lnTo>
                  <a:pt x="274320" y="511888"/>
                </a:lnTo>
                <a:lnTo>
                  <a:pt x="321955" y="507721"/>
                </a:lnTo>
                <a:lnTo>
                  <a:pt x="368143" y="495345"/>
                </a:lnTo>
                <a:lnTo>
                  <a:pt x="411480" y="475136"/>
                </a:lnTo>
                <a:lnTo>
                  <a:pt x="450649" y="447709"/>
                </a:lnTo>
                <a:lnTo>
                  <a:pt x="484461" y="413898"/>
                </a:lnTo>
                <a:lnTo>
                  <a:pt x="511888" y="374728"/>
                </a:lnTo>
                <a:lnTo>
                  <a:pt x="532096" y="331391"/>
                </a:lnTo>
                <a:lnTo>
                  <a:pt x="544472" y="285203"/>
                </a:lnTo>
                <a:lnTo>
                  <a:pt x="548640" y="237568"/>
                </a:lnTo>
                <a:lnTo>
                  <a:pt x="544472" y="189933"/>
                </a:lnTo>
                <a:lnTo>
                  <a:pt x="532096" y="143745"/>
                </a:lnTo>
                <a:lnTo>
                  <a:pt x="511888" y="100408"/>
                </a:lnTo>
                <a:lnTo>
                  <a:pt x="484461" y="61239"/>
                </a:lnTo>
                <a:lnTo>
                  <a:pt x="450649" y="27427"/>
                </a:lnTo>
                <a:lnTo>
                  <a:pt x="411480" y="0"/>
                </a:lnTo>
              </a:path>
            </a:pathLst>
          </a:custGeom>
          <a:ln w="1905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166360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 없음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1188720" cy="1188720"/>
          </a:xfrm>
          <a:prstGeom prst="ellipse">
            <a:avLst/>
          </a:prstGeom>
          <a:solidFill>
            <a:srgbClr val="F1F5F9"/>
          </a:solidFill>
          <a:ln w="285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1440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 010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017520"/>
            <a:ext cx="1188720" cy="1188720"/>
          </a:xfrm>
          <a:prstGeom prst="ellipse">
            <a:avLst/>
          </a:prstGeom>
          <a:solidFill>
            <a:srgbClr val="FEF3C7"/>
          </a:solidFill>
          <a:ln w="2857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15468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 001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3017520"/>
            <a:ext cx="1188720" cy="1188720"/>
          </a:xfrm>
          <a:prstGeom prst="ellipse">
            <a:avLst/>
          </a:prstGeom>
          <a:solidFill>
            <a:srgbClr val="DCFCE7"/>
          </a:solidFill>
          <a:ln w="285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539496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 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3749040" y="4251960"/>
            <a:ext cx="0" cy="173736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3840480" y="5760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69480" y="1188720"/>
            <a:ext cx="45262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452360" y="131673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 → tick_counter (i_tick 시)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52360" y="1691640"/>
            <a:ext cx="1234440" cy="43891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452360" y="16916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686800" y="1691640"/>
            <a:ext cx="1325880" cy="43891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8686800" y="16916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o_sw[2:0]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12680" y="1691640"/>
            <a:ext cx="1600200" cy="43891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012680" y="16916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52360" y="2130552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452360" y="21305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686800" y="2130552"/>
            <a:ext cx="1325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8686800" y="21305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012680" y="2130552"/>
            <a:ext cx="1600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0012680" y="21305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452360" y="2679192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7452360" y="2679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86800" y="2679192"/>
            <a:ext cx="1325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8686800" y="26791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012680" y="2679192"/>
            <a:ext cx="1600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10012680" y="26791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로드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52360" y="3227832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7452360" y="32278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0" y="3227832"/>
            <a:ext cx="1325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8686800" y="32278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012680" y="3227832"/>
            <a:ext cx="1600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0012680" y="3227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 +1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269480" y="4069080"/>
            <a:ext cx="45262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7452360" y="41970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유지 조건 수정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7452360" y="4498848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전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RUN에서 btn_R 유무와 무관하게 STOP 천이 → RUN 1 clock만 유지</a:t>
            </a:r>
            <a:endParaRPr lang="en-US" sz="135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후</a:t>
            </a: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btn_R tick 없음 → RUN 유지, btn_R tick → STOP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41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Homework-2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Debouncer 내부 구조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button_debouncer: Sample, Check, Delay, Edge-detect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384280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502920" cy="0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i_clk posedge마다 right shift  (MSB ← i_btn)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48590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05740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05740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44602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01752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01752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0614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97764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97764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36626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93776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93776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32638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89788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89788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8650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5800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85800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35240" y="2331720"/>
            <a:ext cx="18288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24662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818120" y="1920240"/>
            <a:ext cx="7772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818120" y="1920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06740" y="2743200"/>
            <a:ext cx="0" cy="50292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097280" y="3246120"/>
            <a:ext cx="7498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09728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8-input AND   ( &amp;q_reg )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595360" y="3520440"/>
            <a:ext cx="54864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641080" y="32644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16568" y="3493008"/>
            <a:ext cx="64008" cy="6400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 flipV="1">
            <a:off x="9144000" y="2331720"/>
            <a:ext cx="0" cy="118872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144000" y="2331720"/>
            <a:ext cx="2743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418320" y="1965960"/>
            <a:ext cx="960120" cy="73152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9418320" y="19659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edge_reg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(FF)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78440" y="2331720"/>
            <a:ext cx="1828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561320" y="2176272"/>
            <a:ext cx="256032" cy="310896"/>
          </a:xfrm>
          <a:custGeom>
            <a:avLst/>
            <a:gdLst/>
            <a:ahLst/>
            <a:cxnLst/>
            <a:rect l="l" t="t" r="r" b="b"/>
            <a:pathLst>
              <a:path w="256032" h="310896">
                <a:moveTo>
                  <a:pt x="0" y="0"/>
                </a:moveTo>
                <a:lnTo>
                  <a:pt x="0" y="310896"/>
                </a:lnTo>
                <a:lnTo>
                  <a:pt x="256032" y="155448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817352" y="2286000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1033272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inverter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908792" y="2331720"/>
            <a:ext cx="15544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1064240" y="2331720"/>
            <a:ext cx="0" cy="914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9144000" y="3520440"/>
            <a:ext cx="169164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835640" y="3246120"/>
            <a:ext cx="685800" cy="594360"/>
          </a:xfrm>
          <a:prstGeom prst="roundRect">
            <a:avLst>
              <a:gd name="adj" fmla="val 18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10835640" y="32461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1173968" y="3840480"/>
            <a:ext cx="0" cy="50292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10607040" y="43891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960120" y="1783080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96012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60120" y="3127248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96012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281160" y="1828800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928116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698480" y="3127248"/>
            <a:ext cx="256032" cy="256032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1069848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11480" y="521208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539496" y="5646420"/>
            <a:ext cx="274320" cy="2743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539496" y="5646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923544" y="52120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 8 bit 저장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3291840" y="521208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3419856" y="5646420"/>
            <a:ext cx="274320" cy="2743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3419856" y="5646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3803904" y="52120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bit 모두 1 판정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6172200" y="521208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6300216" y="5646420"/>
            <a:ext cx="274320" cy="2743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6300216" y="5646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684264" y="52120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Delay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 1 cycle 지연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9052560" y="521208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9180576" y="5646420"/>
            <a:ext cx="274320" cy="2743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9180576" y="5646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9564624" y="52120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Edge-detect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→ 1 순간만 출력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41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Homework-2 설계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출력 구성 이유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Each Stage Removes One Failure Mode of a Raw Button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7033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154680" cy="960120"/>
          </a:xfrm>
          <a:custGeom>
            <a:avLst/>
            <a:gdLst/>
            <a:ahLst/>
            <a:cxnLst/>
            <a:rect l="l" t="t" r="r" b="b"/>
            <a:pathLst>
              <a:path w="3154680" h="960120">
                <a:moveTo>
                  <a:pt x="0" y="960120"/>
                </a:moveTo>
                <a:lnTo>
                  <a:pt x="473202" y="960120"/>
                </a:lnTo>
                <a:lnTo>
                  <a:pt x="473202" y="0"/>
                </a:lnTo>
                <a:lnTo>
                  <a:pt x="567842" y="0"/>
                </a:lnTo>
                <a:lnTo>
                  <a:pt x="567842" y="960120"/>
                </a:lnTo>
                <a:lnTo>
                  <a:pt x="630936" y="960120"/>
                </a:lnTo>
                <a:lnTo>
                  <a:pt x="630936" y="0"/>
                </a:lnTo>
                <a:lnTo>
                  <a:pt x="694030" y="0"/>
                </a:lnTo>
                <a:lnTo>
                  <a:pt x="694030" y="960120"/>
                </a:lnTo>
                <a:lnTo>
                  <a:pt x="741350" y="960120"/>
                </a:lnTo>
                <a:lnTo>
                  <a:pt x="741350" y="0"/>
                </a:lnTo>
                <a:lnTo>
                  <a:pt x="772897" y="0"/>
                </a:lnTo>
                <a:lnTo>
                  <a:pt x="772897" y="960120"/>
                </a:lnTo>
                <a:lnTo>
                  <a:pt x="820217" y="960120"/>
                </a:lnTo>
                <a:lnTo>
                  <a:pt x="820217" y="0"/>
                </a:lnTo>
                <a:lnTo>
                  <a:pt x="2050542" y="0"/>
                </a:lnTo>
                <a:lnTo>
                  <a:pt x="2050542" y="960120"/>
                </a:lnTo>
                <a:lnTo>
                  <a:pt x="2097862" y="960120"/>
                </a:lnTo>
                <a:lnTo>
                  <a:pt x="2097862" y="0"/>
                </a:lnTo>
                <a:lnTo>
                  <a:pt x="2129409" y="0"/>
                </a:lnTo>
                <a:lnTo>
                  <a:pt x="2129409" y="960120"/>
                </a:lnTo>
                <a:lnTo>
                  <a:pt x="2176729" y="960120"/>
                </a:lnTo>
                <a:lnTo>
                  <a:pt x="2176729" y="0"/>
                </a:lnTo>
                <a:lnTo>
                  <a:pt x="2198812" y="0"/>
                </a:lnTo>
                <a:lnTo>
                  <a:pt x="2198812" y="960120"/>
                </a:lnTo>
                <a:lnTo>
                  <a:pt x="3154680" y="960120"/>
                </a:lnTo>
              </a:path>
            </a:pathLst>
          </a:custGeom>
          <a:ln w="285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133088" y="2240280"/>
            <a:ext cx="100584" cy="0"/>
          </a:xfrm>
          <a:prstGeom prst="line">
            <a:avLst/>
          </a:prstGeom>
          <a:noFill/>
          <a:ln w="28575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251960" y="1188720"/>
            <a:ext cx="37033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434840" y="1280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 + AND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6002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2057400"/>
            <a:ext cx="3154680" cy="960120"/>
          </a:xfrm>
          <a:custGeom>
            <a:avLst/>
            <a:gdLst/>
            <a:ahLst/>
            <a:cxnLst/>
            <a:rect l="l" t="t" r="r" b="b"/>
            <a:pathLst>
              <a:path w="3154680" h="960120">
                <a:moveTo>
                  <a:pt x="0" y="960120"/>
                </a:moveTo>
                <a:lnTo>
                  <a:pt x="1072591" y="960120"/>
                </a:lnTo>
                <a:lnTo>
                  <a:pt x="1072591" y="0"/>
                </a:lnTo>
                <a:lnTo>
                  <a:pt x="2050542" y="0"/>
                </a:lnTo>
                <a:lnTo>
                  <a:pt x="2050542" y="960120"/>
                </a:lnTo>
                <a:lnTo>
                  <a:pt x="3154680" y="960120"/>
                </a:lnTo>
              </a:path>
            </a:pathLst>
          </a:custGeom>
          <a:ln w="285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973568" y="2240280"/>
            <a:ext cx="100584" cy="0"/>
          </a:xfrm>
          <a:prstGeom prst="line">
            <a:avLst/>
          </a:prstGeom>
          <a:noFill/>
          <a:ln w="28575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92440" y="1188720"/>
            <a:ext cx="37033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75320" y="1280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detect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16002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6760" y="2057400"/>
            <a:ext cx="3154680" cy="960120"/>
          </a:xfrm>
          <a:custGeom>
            <a:avLst/>
            <a:gdLst/>
            <a:ahLst/>
            <a:cxnLst/>
            <a:rect l="l" t="t" r="r" b="b"/>
            <a:pathLst>
              <a:path w="3154680" h="960120">
                <a:moveTo>
                  <a:pt x="0" y="960120"/>
                </a:moveTo>
                <a:lnTo>
                  <a:pt x="1072591" y="960120"/>
                </a:lnTo>
                <a:lnTo>
                  <a:pt x="1072591" y="0"/>
                </a:lnTo>
                <a:lnTo>
                  <a:pt x="1183005" y="0"/>
                </a:lnTo>
                <a:lnTo>
                  <a:pt x="1183005" y="960120"/>
                </a:lnTo>
                <a:lnTo>
                  <a:pt x="3154680" y="960120"/>
                </a:lnTo>
              </a:path>
            </a:pathLst>
          </a:custGeom>
          <a:ln w="285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27432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114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54680" y="3520440"/>
            <a:ext cx="59893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154680" y="352044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0" y="3520440"/>
            <a:ext cx="26517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14400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 대상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977640"/>
            <a:ext cx="27432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21208" y="3977640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 8-bit SIPO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154680" y="3977640"/>
            <a:ext cx="5989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3264408" y="3977640"/>
            <a:ext cx="5769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posedge i_btn sampling → clk 동기 · 최근 80 ns 이력 보관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0" y="3977640"/>
            <a:ext cx="2651760" cy="585216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9253728" y="3977640"/>
            <a:ext cx="2432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edge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11480" y="4562856"/>
            <a:ext cx="27432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21208" y="456285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8-input AND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154680" y="4562856"/>
            <a:ext cx="5989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3264408" y="4562856"/>
            <a:ext cx="5769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sample 모두 1일 때만 1 → 80 ns 미만 pulse 차단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144000" y="4562856"/>
            <a:ext cx="2651760" cy="585216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9253728" y="4562856"/>
            <a:ext cx="2432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Bounce (scattering noise)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11480" y="5148072"/>
            <a:ext cx="27432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21208" y="5148072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edge_reg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3154680" y="5148072"/>
            <a:ext cx="5989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3264408" y="5148072"/>
            <a:ext cx="5769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debounce를 1 cycle 지연 → 직전 cycle 값 보관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144000" y="5148072"/>
            <a:ext cx="2651760" cy="585216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253728" y="5148072"/>
            <a:ext cx="2432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11480" y="5733288"/>
            <a:ext cx="27432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21208" y="5733288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~edge_reg &amp; debounce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3154680" y="5733288"/>
            <a:ext cx="5989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3264408" y="5733288"/>
            <a:ext cx="5769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직전 0 · 현재 1인 cycle만 1 → push 1회 = tick 1회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144000" y="5733288"/>
            <a:ext cx="2651760" cy="585216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9253728" y="5733288"/>
            <a:ext cx="2432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유지 중 반복 toggle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41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Homework-2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짧은 Pulse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40 ns Pulse Never Fills q_reg, So No Tick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68833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688336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0399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88657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88657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42937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916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174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174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19454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3433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41691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1691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95971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9950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18208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18208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72488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6467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94725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94725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49005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2984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71242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712428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25522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9501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47759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477597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02039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018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24276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242767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78556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62535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00793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007937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855073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39052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77310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773107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931590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 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15569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53827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538277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008107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 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92086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130344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1303447" y="1911096"/>
            <a:ext cx="0" cy="2377440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1084624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130 ns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168603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539496" y="1911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121408" y="2002536"/>
            <a:ext cx="9564624" cy="274320"/>
          </a:xfrm>
          <a:custGeom>
            <a:avLst/>
            <a:gdLst/>
            <a:ahLst/>
            <a:cxnLst/>
            <a:rect l="l" t="t" r="r" b="b"/>
            <a:pathLst>
              <a:path w="9564624" h="274320">
                <a:moveTo>
                  <a:pt x="0" y="274320"/>
                </a:moveTo>
                <a:lnTo>
                  <a:pt x="382585" y="274320"/>
                </a:lnTo>
                <a:lnTo>
                  <a:pt x="382585" y="0"/>
                </a:lnTo>
                <a:lnTo>
                  <a:pt x="765170" y="0"/>
                </a:lnTo>
                <a:lnTo>
                  <a:pt x="765170" y="274320"/>
                </a:lnTo>
                <a:lnTo>
                  <a:pt x="1147755" y="274320"/>
                </a:lnTo>
                <a:lnTo>
                  <a:pt x="1147755" y="0"/>
                </a:lnTo>
                <a:lnTo>
                  <a:pt x="1530340" y="0"/>
                </a:lnTo>
                <a:lnTo>
                  <a:pt x="1530340" y="274320"/>
                </a:lnTo>
                <a:lnTo>
                  <a:pt x="1912925" y="274320"/>
                </a:lnTo>
                <a:lnTo>
                  <a:pt x="1912925" y="0"/>
                </a:lnTo>
                <a:lnTo>
                  <a:pt x="2295510" y="0"/>
                </a:lnTo>
                <a:lnTo>
                  <a:pt x="2295510" y="274320"/>
                </a:lnTo>
                <a:lnTo>
                  <a:pt x="2678095" y="274320"/>
                </a:lnTo>
                <a:lnTo>
                  <a:pt x="2678095" y="0"/>
                </a:lnTo>
                <a:lnTo>
                  <a:pt x="3060680" y="0"/>
                </a:lnTo>
                <a:lnTo>
                  <a:pt x="3060680" y="274320"/>
                </a:lnTo>
                <a:lnTo>
                  <a:pt x="3443265" y="274320"/>
                </a:lnTo>
                <a:lnTo>
                  <a:pt x="3443265" y="0"/>
                </a:lnTo>
                <a:lnTo>
                  <a:pt x="3825850" y="0"/>
                </a:lnTo>
                <a:lnTo>
                  <a:pt x="3825850" y="274320"/>
                </a:lnTo>
                <a:lnTo>
                  <a:pt x="4208435" y="274320"/>
                </a:lnTo>
                <a:lnTo>
                  <a:pt x="4208435" y="0"/>
                </a:lnTo>
                <a:lnTo>
                  <a:pt x="4591020" y="0"/>
                </a:lnTo>
                <a:lnTo>
                  <a:pt x="4591020" y="274320"/>
                </a:lnTo>
                <a:lnTo>
                  <a:pt x="4973604" y="274320"/>
                </a:lnTo>
                <a:lnTo>
                  <a:pt x="4973604" y="0"/>
                </a:lnTo>
                <a:lnTo>
                  <a:pt x="5356189" y="0"/>
                </a:lnTo>
                <a:lnTo>
                  <a:pt x="5356189" y="274320"/>
                </a:lnTo>
                <a:lnTo>
                  <a:pt x="5738774" y="274320"/>
                </a:lnTo>
                <a:lnTo>
                  <a:pt x="5738774" y="0"/>
                </a:lnTo>
                <a:lnTo>
                  <a:pt x="6121359" y="0"/>
                </a:lnTo>
                <a:lnTo>
                  <a:pt x="6121359" y="274320"/>
                </a:lnTo>
                <a:lnTo>
                  <a:pt x="6503944" y="274320"/>
                </a:lnTo>
                <a:lnTo>
                  <a:pt x="6503944" y="0"/>
                </a:lnTo>
                <a:lnTo>
                  <a:pt x="6886529" y="0"/>
                </a:lnTo>
                <a:lnTo>
                  <a:pt x="6886529" y="274320"/>
                </a:lnTo>
                <a:lnTo>
                  <a:pt x="7269114" y="274320"/>
                </a:lnTo>
                <a:lnTo>
                  <a:pt x="7269114" y="0"/>
                </a:lnTo>
                <a:lnTo>
                  <a:pt x="7651699" y="0"/>
                </a:lnTo>
                <a:lnTo>
                  <a:pt x="7651699" y="274320"/>
                </a:lnTo>
                <a:lnTo>
                  <a:pt x="8034284" y="274320"/>
                </a:lnTo>
                <a:lnTo>
                  <a:pt x="8034284" y="0"/>
                </a:lnTo>
                <a:lnTo>
                  <a:pt x="8416869" y="0"/>
                </a:lnTo>
                <a:lnTo>
                  <a:pt x="8416869" y="274320"/>
                </a:lnTo>
                <a:lnTo>
                  <a:pt x="8799454" y="274320"/>
                </a:lnTo>
                <a:lnTo>
                  <a:pt x="8799454" y="0"/>
                </a:lnTo>
                <a:lnTo>
                  <a:pt x="9182039" y="0"/>
                </a:lnTo>
                <a:lnTo>
                  <a:pt x="9182039" y="274320"/>
                </a:lnTo>
                <a:lnTo>
                  <a:pt x="9564624" y="27432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66344" y="2414016"/>
            <a:ext cx="1490472" cy="3657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539496" y="23682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121408" y="2459736"/>
            <a:ext cx="9564624" cy="274320"/>
          </a:xfrm>
          <a:custGeom>
            <a:avLst/>
            <a:gdLst/>
            <a:ahLst/>
            <a:cxnLst/>
            <a:rect l="l" t="t" r="r" b="b"/>
            <a:pathLst>
              <a:path w="9564624" h="274320">
                <a:moveTo>
                  <a:pt x="0" y="274320"/>
                </a:moveTo>
                <a:lnTo>
                  <a:pt x="459102" y="274320"/>
                </a:lnTo>
                <a:lnTo>
                  <a:pt x="459102" y="0"/>
                </a:lnTo>
                <a:lnTo>
                  <a:pt x="3519782" y="0"/>
                </a:lnTo>
                <a:lnTo>
                  <a:pt x="3519782" y="274320"/>
                </a:lnTo>
                <a:lnTo>
                  <a:pt x="9564624" y="27432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539496" y="28254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q_reg[7:0]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2121408" y="2825496"/>
            <a:ext cx="1147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3269163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034333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4799503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5564673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329843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7095012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3c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7860182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8625352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0f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9390522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55692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10920862" y="2825496"/>
            <a:ext cx="765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121408" y="2916936"/>
            <a:ext cx="9564624" cy="274320"/>
          </a:xfrm>
          <a:custGeom>
            <a:avLst/>
            <a:gdLst/>
            <a:ahLst/>
            <a:cxnLst/>
            <a:rect l="l" t="t" r="r" b="b"/>
            <a:pathLst>
              <a:path w="9564624" h="274320">
                <a:moveTo>
                  <a:pt x="0" y="137160"/>
                </a:moveTo>
                <a:lnTo>
                  <a:pt x="0" y="0"/>
                </a:lnTo>
                <a:lnTo>
                  <a:pt x="1102035" y="0"/>
                </a:lnTo>
                <a:lnTo>
                  <a:pt x="1147755" y="137160"/>
                </a:lnTo>
                <a:lnTo>
                  <a:pt x="1102035" y="274320"/>
                </a:lnTo>
                <a:lnTo>
                  <a:pt x="0" y="274320"/>
                </a:lnTo>
                <a:lnTo>
                  <a:pt x="0" y="137160"/>
                </a:lnTo>
                <a:moveTo>
                  <a:pt x="1147755" y="137160"/>
                </a:moveTo>
                <a:lnTo>
                  <a:pt x="1193475" y="0"/>
                </a:lnTo>
                <a:lnTo>
                  <a:pt x="1867205" y="0"/>
                </a:lnTo>
                <a:lnTo>
                  <a:pt x="1912925" y="137160"/>
                </a:lnTo>
                <a:lnTo>
                  <a:pt x="1867205" y="274320"/>
                </a:lnTo>
                <a:lnTo>
                  <a:pt x="1193475" y="274320"/>
                </a:lnTo>
                <a:lnTo>
                  <a:pt x="1147755" y="137160"/>
                </a:lnTo>
                <a:moveTo>
                  <a:pt x="1912925" y="137160"/>
                </a:moveTo>
                <a:lnTo>
                  <a:pt x="1958645" y="0"/>
                </a:lnTo>
                <a:lnTo>
                  <a:pt x="2632375" y="0"/>
                </a:lnTo>
                <a:lnTo>
                  <a:pt x="2678095" y="137160"/>
                </a:lnTo>
                <a:lnTo>
                  <a:pt x="2632375" y="274320"/>
                </a:lnTo>
                <a:lnTo>
                  <a:pt x="1958645" y="274320"/>
                </a:lnTo>
                <a:lnTo>
                  <a:pt x="1912925" y="137160"/>
                </a:lnTo>
                <a:moveTo>
                  <a:pt x="2678095" y="137160"/>
                </a:moveTo>
                <a:lnTo>
                  <a:pt x="2723815" y="0"/>
                </a:lnTo>
                <a:lnTo>
                  <a:pt x="3397545" y="0"/>
                </a:lnTo>
                <a:lnTo>
                  <a:pt x="3443265" y="137160"/>
                </a:lnTo>
                <a:lnTo>
                  <a:pt x="3397545" y="274320"/>
                </a:lnTo>
                <a:lnTo>
                  <a:pt x="2723815" y="274320"/>
                </a:lnTo>
                <a:lnTo>
                  <a:pt x="2678095" y="137160"/>
                </a:lnTo>
                <a:moveTo>
                  <a:pt x="3443265" y="137160"/>
                </a:moveTo>
                <a:lnTo>
                  <a:pt x="3488985" y="0"/>
                </a:lnTo>
                <a:lnTo>
                  <a:pt x="4162715" y="0"/>
                </a:lnTo>
                <a:lnTo>
                  <a:pt x="4208435" y="137160"/>
                </a:lnTo>
                <a:lnTo>
                  <a:pt x="4162715" y="274320"/>
                </a:lnTo>
                <a:lnTo>
                  <a:pt x="3488985" y="274320"/>
                </a:lnTo>
                <a:lnTo>
                  <a:pt x="3443265" y="137160"/>
                </a:lnTo>
                <a:moveTo>
                  <a:pt x="4208435" y="137160"/>
                </a:moveTo>
                <a:lnTo>
                  <a:pt x="4254155" y="0"/>
                </a:lnTo>
                <a:lnTo>
                  <a:pt x="4927884" y="0"/>
                </a:lnTo>
                <a:lnTo>
                  <a:pt x="4973604" y="137160"/>
                </a:lnTo>
                <a:lnTo>
                  <a:pt x="4927884" y="274320"/>
                </a:lnTo>
                <a:lnTo>
                  <a:pt x="4254155" y="274320"/>
                </a:lnTo>
                <a:lnTo>
                  <a:pt x="4208435" y="137160"/>
                </a:lnTo>
                <a:moveTo>
                  <a:pt x="4973604" y="137160"/>
                </a:moveTo>
                <a:lnTo>
                  <a:pt x="5019324" y="0"/>
                </a:lnTo>
                <a:lnTo>
                  <a:pt x="5693054" y="0"/>
                </a:lnTo>
                <a:lnTo>
                  <a:pt x="5738774" y="137160"/>
                </a:lnTo>
                <a:lnTo>
                  <a:pt x="5693054" y="274320"/>
                </a:lnTo>
                <a:lnTo>
                  <a:pt x="5019324" y="274320"/>
                </a:lnTo>
                <a:lnTo>
                  <a:pt x="4973604" y="137160"/>
                </a:lnTo>
                <a:moveTo>
                  <a:pt x="5738774" y="137160"/>
                </a:moveTo>
                <a:lnTo>
                  <a:pt x="5784494" y="0"/>
                </a:lnTo>
                <a:lnTo>
                  <a:pt x="6458224" y="0"/>
                </a:lnTo>
                <a:lnTo>
                  <a:pt x="6503944" y="137160"/>
                </a:lnTo>
                <a:lnTo>
                  <a:pt x="6458224" y="274320"/>
                </a:lnTo>
                <a:lnTo>
                  <a:pt x="5784494" y="274320"/>
                </a:lnTo>
                <a:lnTo>
                  <a:pt x="5738774" y="137160"/>
                </a:lnTo>
                <a:moveTo>
                  <a:pt x="6503944" y="137160"/>
                </a:moveTo>
                <a:lnTo>
                  <a:pt x="6549664" y="0"/>
                </a:lnTo>
                <a:lnTo>
                  <a:pt x="7223394" y="0"/>
                </a:lnTo>
                <a:lnTo>
                  <a:pt x="7269114" y="137160"/>
                </a:lnTo>
                <a:lnTo>
                  <a:pt x="7223394" y="274320"/>
                </a:lnTo>
                <a:lnTo>
                  <a:pt x="6549664" y="274320"/>
                </a:lnTo>
                <a:lnTo>
                  <a:pt x="6503944" y="137160"/>
                </a:lnTo>
                <a:moveTo>
                  <a:pt x="7269114" y="137160"/>
                </a:moveTo>
                <a:lnTo>
                  <a:pt x="7314834" y="0"/>
                </a:lnTo>
                <a:lnTo>
                  <a:pt x="7988564" y="0"/>
                </a:lnTo>
                <a:lnTo>
                  <a:pt x="8034284" y="137160"/>
                </a:lnTo>
                <a:lnTo>
                  <a:pt x="7988564" y="274320"/>
                </a:lnTo>
                <a:lnTo>
                  <a:pt x="7314834" y="274320"/>
                </a:lnTo>
                <a:lnTo>
                  <a:pt x="7269114" y="137160"/>
                </a:lnTo>
                <a:moveTo>
                  <a:pt x="8034284" y="137160"/>
                </a:moveTo>
                <a:lnTo>
                  <a:pt x="8080004" y="0"/>
                </a:lnTo>
                <a:lnTo>
                  <a:pt x="8753734" y="0"/>
                </a:lnTo>
                <a:lnTo>
                  <a:pt x="8799454" y="137160"/>
                </a:lnTo>
                <a:lnTo>
                  <a:pt x="8753734" y="274320"/>
                </a:lnTo>
                <a:lnTo>
                  <a:pt x="8080004" y="274320"/>
                </a:lnTo>
                <a:lnTo>
                  <a:pt x="8034284" y="137160"/>
                </a:lnTo>
                <a:moveTo>
                  <a:pt x="8799454" y="137160"/>
                </a:moveTo>
                <a:lnTo>
                  <a:pt x="8845174" y="0"/>
                </a:lnTo>
                <a:lnTo>
                  <a:pt x="9564624" y="0"/>
                </a:lnTo>
                <a:lnTo>
                  <a:pt x="9564624" y="137160"/>
                </a:lnTo>
                <a:lnTo>
                  <a:pt x="9564624" y="274320"/>
                </a:lnTo>
                <a:lnTo>
                  <a:pt x="8845174" y="274320"/>
                </a:lnTo>
                <a:lnTo>
                  <a:pt x="8799454" y="137160"/>
                </a:lnTo>
              </a:path>
            </a:pathLst>
          </a:custGeom>
          <a:ln w="1587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539496" y="32826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121408" y="3648456"/>
            <a:ext cx="9564624" cy="9144"/>
          </a:xfrm>
          <a:custGeom>
            <a:avLst/>
            <a:gdLst/>
            <a:ahLst/>
            <a:cxnLst/>
            <a:rect l="l" t="t" r="r" b="b"/>
            <a:pathLst>
              <a:path w="9564624" h="9144">
                <a:moveTo>
                  <a:pt x="0" y="0"/>
                </a:move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466344" y="3785616"/>
            <a:ext cx="1490472" cy="3657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539496" y="37398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2121408" y="4105656"/>
            <a:ext cx="9564624" cy="9144"/>
          </a:xfrm>
          <a:custGeom>
            <a:avLst/>
            <a:gdLst/>
            <a:ahLst/>
            <a:cxnLst/>
            <a:rect l="l" t="t" r="r" b="b"/>
            <a:pathLst>
              <a:path w="9564624" h="9144">
                <a:moveTo>
                  <a:pt x="0" y="0"/>
                </a:moveTo>
                <a:lnTo>
                  <a:pt x="9564624" y="0"/>
                </a:lnTo>
              </a:path>
            </a:pathLst>
          </a:custGeom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2580510" y="1911096"/>
            <a:ext cx="0" cy="2377440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5641190" y="1911096"/>
            <a:ext cx="0" cy="237744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3269163" y="1911096"/>
            <a:ext cx="0" cy="2377440"/>
          </a:xfrm>
          <a:prstGeom prst="line">
            <a:avLst/>
          </a:prstGeom>
          <a:noFill/>
          <a:ln w="1397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314114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314114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034333" y="1911096"/>
            <a:ext cx="0" cy="2377440"/>
          </a:xfrm>
          <a:prstGeom prst="line">
            <a:avLst/>
          </a:prstGeom>
          <a:noFill/>
          <a:ln w="1397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390631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390631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799503" y="1911096"/>
            <a:ext cx="0" cy="2377440"/>
          </a:xfrm>
          <a:prstGeom prst="line">
            <a:avLst/>
          </a:prstGeom>
          <a:noFill/>
          <a:ln w="1397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467148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467148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564673" y="1911096"/>
            <a:ext cx="0" cy="2377440"/>
          </a:xfrm>
          <a:prstGeom prst="line">
            <a:avLst/>
          </a:prstGeom>
          <a:noFill/>
          <a:ln w="1397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543665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 txBox="1"/>
          <p:nvPr/>
        </p:nvSpPr>
        <p:spPr>
          <a:xfrm>
            <a:off x="543665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329843" y="1911096"/>
            <a:ext cx="0" cy="2377440"/>
          </a:xfrm>
          <a:prstGeom prst="line">
            <a:avLst/>
          </a:prstGeom>
          <a:noFill/>
          <a:ln w="1397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620182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 txBox="1"/>
          <p:nvPr/>
        </p:nvSpPr>
        <p:spPr>
          <a:xfrm>
            <a:off x="620182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580510" y="2286000"/>
            <a:ext cx="9144" cy="91440"/>
          </a:xfrm>
          <a:custGeom>
            <a:avLst/>
            <a:gdLst/>
            <a:ahLst/>
            <a:cxnLst/>
            <a:rect l="l" t="t" r="r" b="b"/>
            <a:pathLst>
              <a:path w="9144" h="91440">
                <a:moveTo>
                  <a:pt x="0" y="0"/>
                </a:moveTo>
                <a:lnTo>
                  <a:pt x="0" y="91440"/>
                </a:lnTo>
              </a:path>
            </a:pathLst>
          </a:cu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 txBox="1"/>
          <p:nvPr/>
        </p:nvSpPr>
        <p:spPr>
          <a:xfrm>
            <a:off x="5755965" y="23225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ns (16 ~ 56 ns)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822960" y="4754880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 txBox="1"/>
          <p:nvPr/>
        </p:nvSpPr>
        <p:spPr>
          <a:xfrm>
            <a:off x="822960" y="4754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1500" dirty="0"/>
          </a:p>
        </p:txBody>
      </p:sp>
      <p:sp>
        <p:nvSpPr>
          <p:cNvPr id="107" name="Shape 105"/>
          <p:cNvSpPr/>
          <p:nvPr/>
        </p:nvSpPr>
        <p:spPr>
          <a:xfrm>
            <a:off x="1517904" y="5084064"/>
            <a:ext cx="173278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 txBox="1"/>
          <p:nvPr/>
        </p:nvSpPr>
        <p:spPr>
          <a:xfrm>
            <a:off x="1481328" y="4425696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유입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287268" y="4754880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 txBox="1"/>
          <p:nvPr/>
        </p:nvSpPr>
        <p:spPr>
          <a:xfrm>
            <a:off x="3287268" y="4754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c0</a:t>
            </a:r>
            <a:endParaRPr lang="en-US" sz="1500" dirty="0"/>
          </a:p>
        </p:txBody>
      </p:sp>
      <p:sp>
        <p:nvSpPr>
          <p:cNvPr id="111" name="Shape 109"/>
          <p:cNvSpPr/>
          <p:nvPr/>
        </p:nvSpPr>
        <p:spPr>
          <a:xfrm>
            <a:off x="3982212" y="5084064"/>
            <a:ext cx="173278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3945636" y="4425696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 유입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5751576" y="4754880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 txBox="1"/>
          <p:nvPr/>
        </p:nvSpPr>
        <p:spPr>
          <a:xfrm>
            <a:off x="5751576" y="4754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</a:t>
            </a:r>
            <a:endParaRPr lang="en-US" sz="1500" dirty="0"/>
          </a:p>
        </p:txBody>
      </p:sp>
      <p:sp>
        <p:nvSpPr>
          <p:cNvPr id="115" name="Shape 113"/>
          <p:cNvSpPr/>
          <p:nvPr/>
        </p:nvSpPr>
        <p:spPr>
          <a:xfrm>
            <a:off x="6446520" y="5084064"/>
            <a:ext cx="173278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/>
          <p:cNvSpPr txBox="1"/>
          <p:nvPr/>
        </p:nvSpPr>
        <p:spPr>
          <a:xfrm>
            <a:off x="6409944" y="4425696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 유입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8215884" y="4754880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6"/>
          <p:cNvSpPr txBox="1"/>
          <p:nvPr/>
        </p:nvSpPr>
        <p:spPr>
          <a:xfrm>
            <a:off x="8215884" y="4754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f0</a:t>
            </a:r>
            <a:endParaRPr lang="en-US" sz="1500" dirty="0"/>
          </a:p>
        </p:txBody>
      </p:sp>
      <p:sp>
        <p:nvSpPr>
          <p:cNvPr id="119" name="Shape 117"/>
          <p:cNvSpPr/>
          <p:nvPr/>
        </p:nvSpPr>
        <p:spPr>
          <a:xfrm>
            <a:off x="8910828" y="5084064"/>
            <a:ext cx="173278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8"/>
          <p:cNvSpPr txBox="1"/>
          <p:nvPr/>
        </p:nvSpPr>
        <p:spPr>
          <a:xfrm>
            <a:off x="8874252" y="4425696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0 유입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10680192" y="4754880"/>
            <a:ext cx="658368" cy="658368"/>
          </a:xfrm>
          <a:prstGeom prst="ellipse">
            <a:avLst/>
          </a:prstGeom>
          <a:solidFill>
            <a:srgbClr val="FEE2E2"/>
          </a:solidFill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20"/>
          <p:cNvSpPr txBox="1"/>
          <p:nvPr/>
        </p:nvSpPr>
        <p:spPr>
          <a:xfrm>
            <a:off x="10680192" y="4754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</a:t>
            </a:r>
            <a:endParaRPr lang="en-US" sz="1500" dirty="0"/>
          </a:p>
        </p:txBody>
      </p:sp>
      <p:sp>
        <p:nvSpPr>
          <p:cNvPr id="123" name="Shape 121"/>
          <p:cNvSpPr/>
          <p:nvPr/>
        </p:nvSpPr>
        <p:spPr>
          <a:xfrm>
            <a:off x="411480" y="5650992"/>
            <a:ext cx="11384280" cy="704088"/>
          </a:xfrm>
          <a:prstGeom prst="roundRect">
            <a:avLst>
              <a:gd name="adj" fmla="val 649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 txBox="1"/>
          <p:nvPr/>
        </p:nvSpPr>
        <p:spPr>
          <a:xfrm>
            <a:off x="612648" y="5650992"/>
            <a:ext cx="109819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 40 ns → 1 sample 4개 (① ~ ④) → ff 미도달 → AND = 0 → o_btn 없음</a:t>
            </a:r>
            <a:endParaRPr lang="en-US" sz="1500" dirty="0"/>
          </a:p>
        </p:txBody>
      </p:sp>
      <p:sp>
        <p:nvSpPr>
          <p:cNvPr id="125" name="Text 12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126" name="Text 12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41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Homework-2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Shift 동작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o_btn Rises 70 ns After the First Sample and Lasts One Clock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1384280" cy="27614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761488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2261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81701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17017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5981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 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5177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8652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86528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22932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 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21284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5604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56040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09884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 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90795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25551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25551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968351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6030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9506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95062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583786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9818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164573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164573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707373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99329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034085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034085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576885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68840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90359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903596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844639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3835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77310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773107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931590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20786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064261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642618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18541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260 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1077374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1213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1512130" y="1911096"/>
            <a:ext cx="0" cy="245059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105493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 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011680" y="191109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39496" y="1911096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121408" y="1989734"/>
            <a:ext cx="9564624" cy="235915"/>
          </a:xfrm>
          <a:custGeom>
            <a:avLst/>
            <a:gdLst/>
            <a:ahLst/>
            <a:cxnLst/>
            <a:rect l="l" t="t" r="r" b="b"/>
            <a:pathLst>
              <a:path w="9564624" h="235915">
                <a:moveTo>
                  <a:pt x="0" y="235915"/>
                </a:moveTo>
                <a:lnTo>
                  <a:pt x="260853" y="235915"/>
                </a:lnTo>
                <a:lnTo>
                  <a:pt x="260853" y="0"/>
                </a:lnTo>
                <a:lnTo>
                  <a:pt x="695609" y="0"/>
                </a:lnTo>
                <a:lnTo>
                  <a:pt x="695609" y="235915"/>
                </a:lnTo>
                <a:lnTo>
                  <a:pt x="1130365" y="235915"/>
                </a:lnTo>
                <a:lnTo>
                  <a:pt x="1130365" y="0"/>
                </a:lnTo>
                <a:lnTo>
                  <a:pt x="1565120" y="0"/>
                </a:lnTo>
                <a:lnTo>
                  <a:pt x="1565120" y="235915"/>
                </a:lnTo>
                <a:lnTo>
                  <a:pt x="1999876" y="235915"/>
                </a:lnTo>
                <a:lnTo>
                  <a:pt x="1999876" y="0"/>
                </a:lnTo>
                <a:lnTo>
                  <a:pt x="2434632" y="0"/>
                </a:lnTo>
                <a:lnTo>
                  <a:pt x="2434632" y="235915"/>
                </a:lnTo>
                <a:lnTo>
                  <a:pt x="2869387" y="235915"/>
                </a:lnTo>
                <a:lnTo>
                  <a:pt x="2869387" y="0"/>
                </a:lnTo>
                <a:lnTo>
                  <a:pt x="3304143" y="0"/>
                </a:lnTo>
                <a:lnTo>
                  <a:pt x="3304143" y="235915"/>
                </a:lnTo>
                <a:lnTo>
                  <a:pt x="3738898" y="235915"/>
                </a:lnTo>
                <a:lnTo>
                  <a:pt x="3738898" y="0"/>
                </a:lnTo>
                <a:lnTo>
                  <a:pt x="4173654" y="0"/>
                </a:lnTo>
                <a:lnTo>
                  <a:pt x="4173654" y="235915"/>
                </a:lnTo>
                <a:lnTo>
                  <a:pt x="4608410" y="235915"/>
                </a:lnTo>
                <a:lnTo>
                  <a:pt x="4608410" y="0"/>
                </a:lnTo>
                <a:lnTo>
                  <a:pt x="5043165" y="0"/>
                </a:lnTo>
                <a:lnTo>
                  <a:pt x="5043165" y="235915"/>
                </a:lnTo>
                <a:lnTo>
                  <a:pt x="5477921" y="235915"/>
                </a:lnTo>
                <a:lnTo>
                  <a:pt x="5477921" y="0"/>
                </a:lnTo>
                <a:lnTo>
                  <a:pt x="5912677" y="0"/>
                </a:lnTo>
                <a:lnTo>
                  <a:pt x="5912677" y="235915"/>
                </a:lnTo>
                <a:lnTo>
                  <a:pt x="6347432" y="235915"/>
                </a:lnTo>
                <a:lnTo>
                  <a:pt x="6347432" y="0"/>
                </a:lnTo>
                <a:lnTo>
                  <a:pt x="6782188" y="0"/>
                </a:lnTo>
                <a:lnTo>
                  <a:pt x="6782188" y="235915"/>
                </a:lnTo>
                <a:lnTo>
                  <a:pt x="7216944" y="235915"/>
                </a:lnTo>
                <a:lnTo>
                  <a:pt x="7216944" y="0"/>
                </a:lnTo>
                <a:lnTo>
                  <a:pt x="7651699" y="0"/>
                </a:lnTo>
                <a:lnTo>
                  <a:pt x="7651699" y="235915"/>
                </a:lnTo>
                <a:lnTo>
                  <a:pt x="8086455" y="235915"/>
                </a:lnTo>
                <a:lnTo>
                  <a:pt x="8086455" y="0"/>
                </a:lnTo>
                <a:lnTo>
                  <a:pt x="8521210" y="0"/>
                </a:lnTo>
                <a:lnTo>
                  <a:pt x="8521210" y="235915"/>
                </a:lnTo>
                <a:lnTo>
                  <a:pt x="8955966" y="235915"/>
                </a:lnTo>
                <a:lnTo>
                  <a:pt x="8955966" y="0"/>
                </a:lnTo>
                <a:lnTo>
                  <a:pt x="9390722" y="0"/>
                </a:lnTo>
                <a:lnTo>
                  <a:pt x="9390722" y="235915"/>
                </a:lnTo>
                <a:lnTo>
                  <a:pt x="9564624" y="235915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66344" y="2350008"/>
            <a:ext cx="1490472" cy="30175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539496" y="2304288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121408" y="2382926"/>
            <a:ext cx="9564624" cy="235915"/>
          </a:xfrm>
          <a:custGeom>
            <a:avLst/>
            <a:gdLst/>
            <a:ahLst/>
            <a:cxnLst/>
            <a:rect l="l" t="t" r="r" b="b"/>
            <a:pathLst>
              <a:path w="9564624" h="235915">
                <a:moveTo>
                  <a:pt x="0" y="235915"/>
                </a:moveTo>
                <a:lnTo>
                  <a:pt x="434756" y="235915"/>
                </a:lnTo>
                <a:lnTo>
                  <a:pt x="434756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539496" y="2697480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q_reg[7:0]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2121408" y="2697480"/>
            <a:ext cx="113036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3251773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4121284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4990795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860306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729818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f8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7599329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8468840" y="2697480"/>
            <a:ext cx="8695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9338352" y="2697480"/>
            <a:ext cx="234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121408" y="2776118"/>
            <a:ext cx="9564624" cy="235915"/>
          </a:xfrm>
          <a:custGeom>
            <a:avLst/>
            <a:gdLst/>
            <a:ahLst/>
            <a:cxnLst/>
            <a:rect l="l" t="t" r="r" b="b"/>
            <a:pathLst>
              <a:path w="9564624" h="235915">
                <a:moveTo>
                  <a:pt x="0" y="117958"/>
                </a:moveTo>
                <a:lnTo>
                  <a:pt x="0" y="0"/>
                </a:lnTo>
                <a:lnTo>
                  <a:pt x="1084645" y="0"/>
                </a:lnTo>
                <a:lnTo>
                  <a:pt x="1130365" y="117958"/>
                </a:lnTo>
                <a:lnTo>
                  <a:pt x="1084645" y="235915"/>
                </a:lnTo>
                <a:lnTo>
                  <a:pt x="0" y="235915"/>
                </a:lnTo>
                <a:lnTo>
                  <a:pt x="0" y="117958"/>
                </a:lnTo>
                <a:moveTo>
                  <a:pt x="1130365" y="117958"/>
                </a:moveTo>
                <a:lnTo>
                  <a:pt x="1176085" y="0"/>
                </a:lnTo>
                <a:lnTo>
                  <a:pt x="1954156" y="0"/>
                </a:lnTo>
                <a:lnTo>
                  <a:pt x="1999876" y="117958"/>
                </a:lnTo>
                <a:lnTo>
                  <a:pt x="1954156" y="235915"/>
                </a:lnTo>
                <a:lnTo>
                  <a:pt x="1176085" y="235915"/>
                </a:lnTo>
                <a:lnTo>
                  <a:pt x="1130365" y="117958"/>
                </a:lnTo>
                <a:moveTo>
                  <a:pt x="1999876" y="117958"/>
                </a:moveTo>
                <a:lnTo>
                  <a:pt x="2045596" y="0"/>
                </a:lnTo>
                <a:lnTo>
                  <a:pt x="2823667" y="0"/>
                </a:lnTo>
                <a:lnTo>
                  <a:pt x="2869387" y="117958"/>
                </a:lnTo>
                <a:lnTo>
                  <a:pt x="2823667" y="235915"/>
                </a:lnTo>
                <a:lnTo>
                  <a:pt x="2045596" y="235915"/>
                </a:lnTo>
                <a:lnTo>
                  <a:pt x="1999876" y="117958"/>
                </a:lnTo>
                <a:moveTo>
                  <a:pt x="2869387" y="117958"/>
                </a:moveTo>
                <a:lnTo>
                  <a:pt x="2915107" y="0"/>
                </a:lnTo>
                <a:lnTo>
                  <a:pt x="3693178" y="0"/>
                </a:lnTo>
                <a:lnTo>
                  <a:pt x="3738898" y="117958"/>
                </a:lnTo>
                <a:lnTo>
                  <a:pt x="3693178" y="235915"/>
                </a:lnTo>
                <a:lnTo>
                  <a:pt x="2915107" y="235915"/>
                </a:lnTo>
                <a:lnTo>
                  <a:pt x="2869387" y="117958"/>
                </a:lnTo>
                <a:moveTo>
                  <a:pt x="3738898" y="117958"/>
                </a:moveTo>
                <a:lnTo>
                  <a:pt x="3784618" y="0"/>
                </a:lnTo>
                <a:lnTo>
                  <a:pt x="4562690" y="0"/>
                </a:lnTo>
                <a:lnTo>
                  <a:pt x="4608410" y="117958"/>
                </a:lnTo>
                <a:lnTo>
                  <a:pt x="4562690" y="235915"/>
                </a:lnTo>
                <a:lnTo>
                  <a:pt x="3784618" y="235915"/>
                </a:lnTo>
                <a:lnTo>
                  <a:pt x="3738898" y="117958"/>
                </a:lnTo>
                <a:moveTo>
                  <a:pt x="4608410" y="117958"/>
                </a:moveTo>
                <a:lnTo>
                  <a:pt x="4654130" y="0"/>
                </a:lnTo>
                <a:lnTo>
                  <a:pt x="5432201" y="0"/>
                </a:lnTo>
                <a:lnTo>
                  <a:pt x="5477921" y="117958"/>
                </a:lnTo>
                <a:lnTo>
                  <a:pt x="5432201" y="235915"/>
                </a:lnTo>
                <a:lnTo>
                  <a:pt x="4654130" y="235915"/>
                </a:lnTo>
                <a:lnTo>
                  <a:pt x="4608410" y="117958"/>
                </a:lnTo>
                <a:moveTo>
                  <a:pt x="5477921" y="117958"/>
                </a:moveTo>
                <a:lnTo>
                  <a:pt x="5523641" y="0"/>
                </a:lnTo>
                <a:lnTo>
                  <a:pt x="6301712" y="0"/>
                </a:lnTo>
                <a:lnTo>
                  <a:pt x="6347432" y="117958"/>
                </a:lnTo>
                <a:lnTo>
                  <a:pt x="6301712" y="235915"/>
                </a:lnTo>
                <a:lnTo>
                  <a:pt x="5523641" y="235915"/>
                </a:lnTo>
                <a:lnTo>
                  <a:pt x="5477921" y="117958"/>
                </a:lnTo>
                <a:moveTo>
                  <a:pt x="6347432" y="117958"/>
                </a:moveTo>
                <a:lnTo>
                  <a:pt x="6393152" y="0"/>
                </a:lnTo>
                <a:lnTo>
                  <a:pt x="7171224" y="0"/>
                </a:lnTo>
                <a:lnTo>
                  <a:pt x="7216944" y="117958"/>
                </a:lnTo>
                <a:lnTo>
                  <a:pt x="7171224" y="235915"/>
                </a:lnTo>
                <a:lnTo>
                  <a:pt x="6393152" y="235915"/>
                </a:lnTo>
                <a:lnTo>
                  <a:pt x="6347432" y="117958"/>
                </a:lnTo>
                <a:moveTo>
                  <a:pt x="7216944" y="117958"/>
                </a:moveTo>
                <a:lnTo>
                  <a:pt x="7262664" y="0"/>
                </a:lnTo>
                <a:lnTo>
                  <a:pt x="9564624" y="0"/>
                </a:lnTo>
                <a:lnTo>
                  <a:pt x="9564624" y="117958"/>
                </a:lnTo>
                <a:lnTo>
                  <a:pt x="9564624" y="235915"/>
                </a:lnTo>
                <a:lnTo>
                  <a:pt x="7262664" y="235915"/>
                </a:lnTo>
                <a:lnTo>
                  <a:pt x="7216944" y="117958"/>
                </a:lnTo>
              </a:path>
            </a:pathLst>
          </a:custGeom>
          <a:ln w="1587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539496" y="3090672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2121408" y="3169310"/>
            <a:ext cx="9564624" cy="235915"/>
          </a:xfrm>
          <a:custGeom>
            <a:avLst/>
            <a:gdLst/>
            <a:ahLst/>
            <a:cxnLst/>
            <a:rect l="l" t="t" r="r" b="b"/>
            <a:pathLst>
              <a:path w="9564624" h="235915">
                <a:moveTo>
                  <a:pt x="0" y="235915"/>
                </a:moveTo>
                <a:lnTo>
                  <a:pt x="7216944" y="235915"/>
                </a:lnTo>
                <a:lnTo>
                  <a:pt x="7216944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539496" y="3483864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edge_reg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2121408" y="3562502"/>
            <a:ext cx="9564624" cy="235915"/>
          </a:xfrm>
          <a:custGeom>
            <a:avLst/>
            <a:gdLst/>
            <a:ahLst/>
            <a:cxnLst/>
            <a:rect l="l" t="t" r="r" b="b"/>
            <a:pathLst>
              <a:path w="9564624" h="235915">
                <a:moveTo>
                  <a:pt x="0" y="235915"/>
                </a:moveTo>
                <a:lnTo>
                  <a:pt x="8086455" y="235915"/>
                </a:lnTo>
                <a:lnTo>
                  <a:pt x="8086455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466344" y="3922776"/>
            <a:ext cx="1490472" cy="30175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539496" y="3877056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2121408" y="3955694"/>
            <a:ext cx="9564624" cy="235915"/>
          </a:xfrm>
          <a:custGeom>
            <a:avLst/>
            <a:gdLst/>
            <a:ahLst/>
            <a:cxnLst/>
            <a:rect l="l" t="t" r="r" b="b"/>
            <a:pathLst>
              <a:path w="9564624" h="235915">
                <a:moveTo>
                  <a:pt x="0" y="235915"/>
                </a:moveTo>
                <a:lnTo>
                  <a:pt x="7216944" y="235915"/>
                </a:lnTo>
                <a:lnTo>
                  <a:pt x="7216944" y="0"/>
                </a:lnTo>
                <a:lnTo>
                  <a:pt x="8086455" y="0"/>
                </a:lnTo>
                <a:lnTo>
                  <a:pt x="8086455" y="235915"/>
                </a:lnTo>
                <a:lnTo>
                  <a:pt x="9564624" y="235915"/>
                </a:lnTo>
              </a:path>
            </a:pathLst>
          </a:custGeom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2556164" y="1911096"/>
            <a:ext cx="0" cy="2450592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3251773" y="1911096"/>
            <a:ext cx="0" cy="2450592"/>
          </a:xfrm>
          <a:prstGeom prst="line">
            <a:avLst/>
          </a:prstGeom>
          <a:noFill/>
          <a:ln w="1778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312375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312375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338352" y="1911096"/>
            <a:ext cx="0" cy="2450592"/>
          </a:xfrm>
          <a:prstGeom prst="line">
            <a:avLst/>
          </a:prstGeom>
          <a:noFill/>
          <a:ln w="1778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9210336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9210336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0207863" y="1911096"/>
            <a:ext cx="0" cy="2450592"/>
          </a:xfrm>
          <a:prstGeom prst="line">
            <a:avLst/>
          </a:prstGeom>
          <a:noFill/>
          <a:ln w="1778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1007984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 txBox="1"/>
          <p:nvPr/>
        </p:nvSpPr>
        <p:spPr>
          <a:xfrm>
            <a:off x="1007984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9338352" y="3913632"/>
            <a:ext cx="869511" cy="320040"/>
          </a:xfrm>
          <a:prstGeom prst="rect">
            <a:avLst/>
          </a:prstGeom>
          <a:solidFill>
            <a:srgbClr val="FACC15">
              <a:alpha val="55000"/>
            </a:srgbClr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338352" y="2734056"/>
            <a:ext cx="869511" cy="320040"/>
          </a:xfrm>
          <a:prstGeom prst="rect">
            <a:avLst/>
          </a:prstGeom>
          <a:solidFill>
            <a:srgbClr val="67E8F9">
              <a:alpha val="30000"/>
            </a:srgbClr>
          </a:solidFill>
          <a:ln w="1905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3251773" y="4453128"/>
            <a:ext cx="6086579" cy="109728"/>
          </a:xfrm>
          <a:custGeom>
            <a:avLst/>
            <a:gdLst/>
            <a:ahLst/>
            <a:cxnLst/>
            <a:rect l="l" t="t" r="r" b="b"/>
            <a:pathLst>
              <a:path w="6086579" h="109728">
                <a:moveTo>
                  <a:pt x="0" y="0"/>
                </a:moveTo>
                <a:lnTo>
                  <a:pt x="0" y="109728"/>
                </a:lnTo>
                <a:lnTo>
                  <a:pt x="6086579" y="109728"/>
                </a:lnTo>
                <a:lnTo>
                  <a:pt x="6086579" y="0"/>
                </a:lnTo>
              </a:path>
            </a:pathLst>
          </a:custGeom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5380662" y="4581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+70 ns = 7 cycle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411480" y="4846320"/>
            <a:ext cx="3703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539496" y="518922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539496" y="51892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923544" y="4846320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175 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sample → q_reg = 80</a:t>
            </a:r>
            <a:endParaRPr lang="en-US" sz="1350" dirty="0"/>
          </a:p>
        </p:txBody>
      </p:sp>
      <p:sp>
        <p:nvSpPr>
          <p:cNvPr id="95" name="Shape 93"/>
          <p:cNvSpPr/>
          <p:nvPr/>
        </p:nvSpPr>
        <p:spPr>
          <a:xfrm>
            <a:off x="4251960" y="4846320"/>
            <a:ext cx="3703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4379976" y="518922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 txBox="1"/>
          <p:nvPr/>
        </p:nvSpPr>
        <p:spPr>
          <a:xfrm>
            <a:off x="4379976" y="51892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4764024" y="4846320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 ns  (+70 ns)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8번째 sample → ff → debounce · o_btn = 1</a:t>
            </a:r>
            <a:endParaRPr lang="en-US" sz="1350" dirty="0"/>
          </a:p>
        </p:txBody>
      </p:sp>
      <p:sp>
        <p:nvSpPr>
          <p:cNvPr id="99" name="Shape 97"/>
          <p:cNvSpPr/>
          <p:nvPr/>
        </p:nvSpPr>
        <p:spPr>
          <a:xfrm>
            <a:off x="8092440" y="4846320"/>
            <a:ext cx="3703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8220456" y="518922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 txBox="1"/>
          <p:nvPr/>
        </p:nvSpPr>
        <p:spPr>
          <a:xfrm>
            <a:off x="8220456" y="51892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8604504" y="4846320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 ns  (+80 ns)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edge_reg = 1 → o_btn = 0 (1 cycle)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411480" y="5925312"/>
            <a:ext cx="11384280" cy="438912"/>
          </a:xfrm>
          <a:prstGeom prst="roundRect">
            <a:avLst>
              <a:gd name="adj" fmla="val 10417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 txBox="1"/>
          <p:nvPr/>
        </p:nvSpPr>
        <p:spPr>
          <a:xfrm>
            <a:off x="612648" y="5925312"/>
            <a:ext cx="10981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debounce</a:t>
            </a:r>
            <a:r>
              <a:rPr lang="ko-KR" altLang="en-US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와 </a:t>
            </a:r>
            <a:r>
              <a:rPr lang="en-US" altLang="ko-KR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edge_reg</a:t>
            </a:r>
            <a:r>
              <a:rPr lang="ko-KR" altLang="en-US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의 </a:t>
            </a:r>
            <a:r>
              <a:rPr lang="en-US" altLang="ko-KR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and</a:t>
            </a:r>
            <a:r>
              <a:rPr lang="ko-KR" altLang="en-US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 조합으로 </a:t>
            </a:r>
            <a:r>
              <a:rPr lang="en-US" altLang="ko-KR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edge</a:t>
            </a:r>
            <a:r>
              <a:rPr lang="ko-KR" altLang="en-US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 검출</a:t>
            </a:r>
            <a:r>
              <a:rPr lang="en-US" altLang="ko-KR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(debounce</a:t>
            </a:r>
            <a:r>
              <a:rPr lang="ko-KR" altLang="en-US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의 상승 </a:t>
            </a:r>
            <a:r>
              <a:rPr lang="en-US" altLang="ko-KR" sz="1350" b="1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</a:rPr>
              <a:t>edge)</a:t>
            </a:r>
            <a:endParaRPr lang="en-US" sz="1350" dirty="0"/>
          </a:p>
        </p:txBody>
      </p:sp>
      <p:sp>
        <p:nvSpPr>
          <p:cNvPr id="105" name="Text 10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/ 41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Homework-2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비동기 입력 Sampling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 Off-grid Edge Is Captured at the Next posedge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7589520" cy="2487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600200" cy="2487168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5655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09901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54148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98394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842641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842641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385441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165 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86888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131134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275381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419627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563874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563874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106674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 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8121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852367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996614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140860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85107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285107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3827907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 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29354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573600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717847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86209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006340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006340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454914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 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50587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29483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439080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58332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727573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727573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270373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 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71820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01606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16031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304559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448806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448806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5991606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 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93053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737299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88154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02579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170039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7170039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712839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 ns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4286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458532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602779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7747025" y="186537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7891272" y="181965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7891272" y="1911096"/>
            <a:ext cx="0" cy="217627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7434072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011680" y="1911096"/>
            <a:ext cx="598932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539496" y="1911096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121408" y="2050085"/>
            <a:ext cx="5769864" cy="416966"/>
          </a:xfrm>
          <a:custGeom>
            <a:avLst/>
            <a:gdLst/>
            <a:ahLst/>
            <a:cxnLst/>
            <a:rect l="l" t="t" r="r" b="b"/>
            <a:pathLst>
              <a:path w="5769864" h="416966">
                <a:moveTo>
                  <a:pt x="0" y="416966"/>
                </a:moveTo>
                <a:lnTo>
                  <a:pt x="721233" y="416966"/>
                </a:lnTo>
                <a:lnTo>
                  <a:pt x="721233" y="0"/>
                </a:lnTo>
                <a:lnTo>
                  <a:pt x="1442466" y="0"/>
                </a:lnTo>
                <a:lnTo>
                  <a:pt x="1442466" y="416966"/>
                </a:lnTo>
                <a:lnTo>
                  <a:pt x="2163699" y="416966"/>
                </a:lnTo>
                <a:lnTo>
                  <a:pt x="2163699" y="0"/>
                </a:lnTo>
                <a:lnTo>
                  <a:pt x="2884932" y="0"/>
                </a:lnTo>
                <a:lnTo>
                  <a:pt x="2884932" y="416966"/>
                </a:lnTo>
                <a:lnTo>
                  <a:pt x="3606165" y="416966"/>
                </a:lnTo>
                <a:lnTo>
                  <a:pt x="3606165" y="0"/>
                </a:lnTo>
                <a:lnTo>
                  <a:pt x="4327398" y="0"/>
                </a:lnTo>
                <a:lnTo>
                  <a:pt x="4327398" y="416966"/>
                </a:lnTo>
                <a:lnTo>
                  <a:pt x="5048631" y="416966"/>
                </a:lnTo>
                <a:lnTo>
                  <a:pt x="5048631" y="0"/>
                </a:lnTo>
                <a:lnTo>
                  <a:pt x="576986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466344" y="2651760"/>
            <a:ext cx="1490472" cy="60350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539496" y="2606040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2121408" y="2745029"/>
            <a:ext cx="5769864" cy="416966"/>
          </a:xfrm>
          <a:custGeom>
            <a:avLst/>
            <a:gdLst/>
            <a:ahLst/>
            <a:cxnLst/>
            <a:rect l="l" t="t" r="r" b="b"/>
            <a:pathLst>
              <a:path w="5769864" h="416966">
                <a:moveTo>
                  <a:pt x="0" y="416966"/>
                </a:moveTo>
                <a:lnTo>
                  <a:pt x="1009726" y="416966"/>
                </a:lnTo>
                <a:lnTo>
                  <a:pt x="1009726" y="0"/>
                </a:lnTo>
                <a:lnTo>
                  <a:pt x="576986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539496" y="3300984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q_reg[7:0]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2121408" y="3300984"/>
            <a:ext cx="21636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4285107" y="3300984"/>
            <a:ext cx="144246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5727573" y="3300984"/>
            <a:ext cx="144246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7170039" y="3300984"/>
            <a:ext cx="72123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121408" y="3439973"/>
            <a:ext cx="5769864" cy="416966"/>
          </a:xfrm>
          <a:custGeom>
            <a:avLst/>
            <a:gdLst/>
            <a:ahLst/>
            <a:cxnLst/>
            <a:rect l="l" t="t" r="r" b="b"/>
            <a:pathLst>
              <a:path w="5769864" h="416966">
                <a:moveTo>
                  <a:pt x="0" y="208483"/>
                </a:moveTo>
                <a:lnTo>
                  <a:pt x="0" y="0"/>
                </a:lnTo>
                <a:lnTo>
                  <a:pt x="2117979" y="0"/>
                </a:lnTo>
                <a:lnTo>
                  <a:pt x="2163699" y="208483"/>
                </a:lnTo>
                <a:lnTo>
                  <a:pt x="2117979" y="416966"/>
                </a:lnTo>
                <a:lnTo>
                  <a:pt x="0" y="416966"/>
                </a:lnTo>
                <a:lnTo>
                  <a:pt x="0" y="208483"/>
                </a:lnTo>
                <a:moveTo>
                  <a:pt x="2163699" y="208483"/>
                </a:moveTo>
                <a:lnTo>
                  <a:pt x="2209419" y="0"/>
                </a:lnTo>
                <a:lnTo>
                  <a:pt x="3560445" y="0"/>
                </a:lnTo>
                <a:lnTo>
                  <a:pt x="3606165" y="208483"/>
                </a:lnTo>
                <a:lnTo>
                  <a:pt x="3560445" y="416966"/>
                </a:lnTo>
                <a:lnTo>
                  <a:pt x="2209419" y="416966"/>
                </a:lnTo>
                <a:lnTo>
                  <a:pt x="2163699" y="208483"/>
                </a:lnTo>
                <a:moveTo>
                  <a:pt x="3606165" y="208483"/>
                </a:moveTo>
                <a:lnTo>
                  <a:pt x="3651885" y="0"/>
                </a:lnTo>
                <a:lnTo>
                  <a:pt x="5002911" y="0"/>
                </a:lnTo>
                <a:lnTo>
                  <a:pt x="5048631" y="208483"/>
                </a:lnTo>
                <a:lnTo>
                  <a:pt x="5002911" y="416966"/>
                </a:lnTo>
                <a:lnTo>
                  <a:pt x="3651885" y="416966"/>
                </a:lnTo>
                <a:lnTo>
                  <a:pt x="3606165" y="208483"/>
                </a:lnTo>
                <a:moveTo>
                  <a:pt x="5048631" y="208483"/>
                </a:moveTo>
                <a:lnTo>
                  <a:pt x="5094351" y="0"/>
                </a:lnTo>
                <a:lnTo>
                  <a:pt x="5769864" y="0"/>
                </a:lnTo>
                <a:lnTo>
                  <a:pt x="5769864" y="208483"/>
                </a:lnTo>
                <a:lnTo>
                  <a:pt x="5769864" y="416966"/>
                </a:lnTo>
                <a:lnTo>
                  <a:pt x="5094351" y="416966"/>
                </a:lnTo>
                <a:lnTo>
                  <a:pt x="5048631" y="208483"/>
                </a:lnTo>
              </a:path>
            </a:pathLst>
          </a:custGeom>
          <a:ln w="1587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3131134" y="1911096"/>
            <a:ext cx="0" cy="2176272"/>
          </a:xfrm>
          <a:prstGeom prst="line">
            <a:avLst/>
          </a:prstGeom>
          <a:noFill/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3003118" y="1271016"/>
            <a:ext cx="256032" cy="256032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3003118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285107" y="1911096"/>
            <a:ext cx="0" cy="2176272"/>
          </a:xfrm>
          <a:prstGeom prst="line">
            <a:avLst/>
          </a:prstGeom>
          <a:noFill/>
          <a:ln w="1778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4157091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4157091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727573" y="1911096"/>
            <a:ext cx="0" cy="2176272"/>
          </a:xfrm>
          <a:prstGeom prst="line">
            <a:avLst/>
          </a:prstGeom>
          <a:noFill/>
          <a:ln w="1778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5599557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5599557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170039" y="1911096"/>
            <a:ext cx="0" cy="2176272"/>
          </a:xfrm>
          <a:prstGeom prst="line">
            <a:avLst/>
          </a:prstGeom>
          <a:noFill/>
          <a:ln w="1778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7042023" y="1271016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7042023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131134" y="4178808"/>
            <a:ext cx="1153973" cy="109728"/>
          </a:xfrm>
          <a:custGeom>
            <a:avLst/>
            <a:gdLst/>
            <a:ahLst/>
            <a:cxnLst/>
            <a:rect l="l" t="t" r="r" b="b"/>
            <a:pathLst>
              <a:path w="1153973" h="109728">
                <a:moveTo>
                  <a:pt x="0" y="0"/>
                </a:moveTo>
                <a:lnTo>
                  <a:pt x="0" y="109728"/>
                </a:lnTo>
                <a:lnTo>
                  <a:pt x="1153973" y="109728"/>
                </a:lnTo>
                <a:lnTo>
                  <a:pt x="1153973" y="0"/>
                </a:lnTo>
              </a:path>
            </a:pathLst>
          </a:custGeom>
          <a:ln w="190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2856814" y="4315968"/>
            <a:ext cx="17026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ns 대기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8183880" y="1188720"/>
            <a:ext cx="361188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8366760" y="13167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driver (async 재현)</a:t>
            </a:r>
            <a:endParaRPr lang="en-US" sz="1500" dirty="0"/>
          </a:p>
        </p:txBody>
      </p:sp>
      <p:sp>
        <p:nvSpPr>
          <p:cNvPr id="96" name="Text 94"/>
          <p:cNvSpPr txBox="1"/>
          <p:nvPr/>
        </p:nvSpPr>
        <p:spPr>
          <a:xfrm>
            <a:off x="8366760" y="1627632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$urandom_range(5, 12) ns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$urandom_range(5, 15)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repeat(j) #(i)</a:t>
            </a: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첫 i 후 i_btn = 1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폭</a:t>
            </a: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(j − 1)·i + 10 ns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폭</a:t>
            </a: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100 ns + 다음 i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411480" y="4681728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539496" y="4978908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 txBox="1"/>
          <p:nvPr/>
        </p:nvSpPr>
        <p:spPr>
          <a:xfrm>
            <a:off x="539496" y="4978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923544" y="4681728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167 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 0 → 1 (grid 밖)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3291840" y="4681728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3419856" y="4978908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 txBox="1"/>
          <p:nvPr/>
        </p:nvSpPr>
        <p:spPr>
          <a:xfrm>
            <a:off x="3419856" y="4978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3803904" y="4681728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175 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 = 80</a:t>
            </a:r>
            <a:endParaRPr lang="en-US" sz="1350" dirty="0"/>
          </a:p>
        </p:txBody>
      </p:sp>
      <p:sp>
        <p:nvSpPr>
          <p:cNvPr id="105" name="Shape 103"/>
          <p:cNvSpPr/>
          <p:nvPr/>
        </p:nvSpPr>
        <p:spPr>
          <a:xfrm>
            <a:off x="6172200" y="4681728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6300216" y="4978908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 txBox="1"/>
          <p:nvPr/>
        </p:nvSpPr>
        <p:spPr>
          <a:xfrm>
            <a:off x="6300216" y="4978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684264" y="4681728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 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 = c0</a:t>
            </a:r>
            <a:endParaRPr lang="en-US" sz="1350" dirty="0"/>
          </a:p>
        </p:txBody>
      </p:sp>
      <p:sp>
        <p:nvSpPr>
          <p:cNvPr id="109" name="Shape 107"/>
          <p:cNvSpPr/>
          <p:nvPr/>
        </p:nvSpPr>
        <p:spPr>
          <a:xfrm>
            <a:off x="9052560" y="4681728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9180576" y="4978908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 txBox="1"/>
          <p:nvPr/>
        </p:nvSpPr>
        <p:spPr>
          <a:xfrm>
            <a:off x="9180576" y="4978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9564624" y="4681728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 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 = e0</a:t>
            </a:r>
            <a:endParaRPr lang="en-US" sz="1350" dirty="0"/>
          </a:p>
        </p:txBody>
      </p:sp>
      <p:sp>
        <p:nvSpPr>
          <p:cNvPr id="113" name="Shape 111"/>
          <p:cNvSpPr/>
          <p:nvPr/>
        </p:nvSpPr>
        <p:spPr>
          <a:xfrm>
            <a:off x="411480" y="5687568"/>
            <a:ext cx="11384280" cy="667512"/>
          </a:xfrm>
          <a:prstGeom prst="roundRect">
            <a:avLst>
              <a:gd name="adj" fmla="val 6849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 txBox="1"/>
          <p:nvPr/>
        </p:nvSpPr>
        <p:spPr>
          <a:xfrm>
            <a:off x="612648" y="5687568"/>
            <a:ext cx="109819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posedge 사이 변화 → 다음 posedge에서 q_reg[7]로 sampling · MSB부터 1 누적</a:t>
            </a:r>
            <a:endParaRPr lang="en-US" sz="1450" dirty="0"/>
          </a:p>
        </p:txBody>
      </p:sp>
      <p:sp>
        <p:nvSpPr>
          <p:cNvPr id="115" name="Text 11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/ 41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Homework-2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최소 유지 시간 · 실측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Pulses of 40 ns and 59 ns Are Rejected, 82 ns and Longer Pass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1384280" cy="26700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600200" cy="2670048"/>
          </a:xfrm>
          <a:prstGeom prst="rect">
            <a:avLst/>
          </a:prstGeom>
          <a:solidFill>
            <a:srgbClr val="1C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" y="14996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664208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46937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72466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72466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715266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97994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223523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23523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766323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49052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274581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74581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17381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0110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325638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25638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868438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1167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376696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376696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919496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02225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27753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427753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970553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 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53282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478811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478811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021611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 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04340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0529869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529869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0072669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 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055397" y="1728216"/>
            <a:ext cx="0" cy="4572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1580926" y="1682496"/>
            <a:ext cx="0" cy="9144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580926" y="1773936"/>
            <a:ext cx="0" cy="2359152"/>
          </a:xfrm>
          <a:prstGeom prst="line">
            <a:avLst/>
          </a:prstGeom>
          <a:noFill/>
          <a:ln w="6350">
            <a:solidFill>
              <a:srgbClr val="2B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11123726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 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11680" y="1773936"/>
            <a:ext cx="97840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66344" y="1819656"/>
            <a:ext cx="1490472" cy="475488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539496" y="17739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121408" y="1887322"/>
            <a:ext cx="9564624" cy="340157"/>
          </a:xfrm>
          <a:custGeom>
            <a:avLst/>
            <a:gdLst/>
            <a:ahLst/>
            <a:cxnLst/>
            <a:rect l="l" t="t" r="r" b="b"/>
            <a:pathLst>
              <a:path w="9564624" h="340157">
                <a:moveTo>
                  <a:pt x="0" y="340157"/>
                </a:moveTo>
                <a:lnTo>
                  <a:pt x="168169" y="340157"/>
                </a:lnTo>
                <a:lnTo>
                  <a:pt x="168169" y="0"/>
                </a:lnTo>
                <a:lnTo>
                  <a:pt x="588592" y="0"/>
                </a:lnTo>
                <a:lnTo>
                  <a:pt x="588592" y="340157"/>
                </a:lnTo>
                <a:lnTo>
                  <a:pt x="1755266" y="340157"/>
                </a:lnTo>
                <a:lnTo>
                  <a:pt x="1755266" y="0"/>
                </a:lnTo>
                <a:lnTo>
                  <a:pt x="3132152" y="0"/>
                </a:lnTo>
                <a:lnTo>
                  <a:pt x="3132152" y="340157"/>
                </a:lnTo>
                <a:lnTo>
                  <a:pt x="4277804" y="340157"/>
                </a:lnTo>
                <a:lnTo>
                  <a:pt x="4277804" y="0"/>
                </a:lnTo>
                <a:lnTo>
                  <a:pt x="5139672" y="0"/>
                </a:lnTo>
                <a:lnTo>
                  <a:pt x="5139672" y="340157"/>
                </a:lnTo>
                <a:lnTo>
                  <a:pt x="6264303" y="340157"/>
                </a:lnTo>
                <a:lnTo>
                  <a:pt x="6264303" y="0"/>
                </a:lnTo>
                <a:lnTo>
                  <a:pt x="6884427" y="0"/>
                </a:lnTo>
                <a:lnTo>
                  <a:pt x="6884427" y="340157"/>
                </a:lnTo>
                <a:lnTo>
                  <a:pt x="8051101" y="340157"/>
                </a:lnTo>
                <a:lnTo>
                  <a:pt x="8051101" y="0"/>
                </a:lnTo>
                <a:lnTo>
                  <a:pt x="9427987" y="0"/>
                </a:lnTo>
                <a:lnTo>
                  <a:pt x="9427987" y="340157"/>
                </a:lnTo>
                <a:lnTo>
                  <a:pt x="9564624" y="340157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39496" y="23408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121408" y="2454250"/>
            <a:ext cx="9564624" cy="340157"/>
          </a:xfrm>
          <a:custGeom>
            <a:avLst/>
            <a:gdLst/>
            <a:ahLst/>
            <a:cxnLst/>
            <a:rect l="l" t="t" r="r" b="b"/>
            <a:pathLst>
              <a:path w="9564624" h="340157">
                <a:moveTo>
                  <a:pt x="0" y="340157"/>
                </a:moveTo>
                <a:lnTo>
                  <a:pt x="2575091" y="340157"/>
                </a:lnTo>
                <a:lnTo>
                  <a:pt x="2575091" y="0"/>
                </a:lnTo>
                <a:lnTo>
                  <a:pt x="3205726" y="0"/>
                </a:lnTo>
                <a:lnTo>
                  <a:pt x="3205726" y="340157"/>
                </a:lnTo>
                <a:lnTo>
                  <a:pt x="5097629" y="340157"/>
                </a:lnTo>
                <a:lnTo>
                  <a:pt x="5097629" y="0"/>
                </a:lnTo>
                <a:lnTo>
                  <a:pt x="5202735" y="0"/>
                </a:lnTo>
                <a:lnTo>
                  <a:pt x="5202735" y="340157"/>
                </a:lnTo>
                <a:lnTo>
                  <a:pt x="8881437" y="340157"/>
                </a:lnTo>
                <a:lnTo>
                  <a:pt x="8881437" y="0"/>
                </a:lnTo>
                <a:lnTo>
                  <a:pt x="9512071" y="0"/>
                </a:lnTo>
                <a:lnTo>
                  <a:pt x="9512071" y="340157"/>
                </a:lnTo>
                <a:lnTo>
                  <a:pt x="9564624" y="340157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39496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edge_reg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121408" y="3021178"/>
            <a:ext cx="9564624" cy="340157"/>
          </a:xfrm>
          <a:custGeom>
            <a:avLst/>
            <a:gdLst/>
            <a:ahLst/>
            <a:cxnLst/>
            <a:rect l="l" t="t" r="r" b="b"/>
            <a:pathLst>
              <a:path w="9564624" h="340157">
                <a:moveTo>
                  <a:pt x="0" y="340157"/>
                </a:moveTo>
                <a:lnTo>
                  <a:pt x="2680197" y="340157"/>
                </a:lnTo>
                <a:lnTo>
                  <a:pt x="2680197" y="0"/>
                </a:lnTo>
                <a:lnTo>
                  <a:pt x="3310831" y="0"/>
                </a:lnTo>
                <a:lnTo>
                  <a:pt x="3310831" y="340157"/>
                </a:lnTo>
                <a:lnTo>
                  <a:pt x="5202735" y="340157"/>
                </a:lnTo>
                <a:lnTo>
                  <a:pt x="5202735" y="0"/>
                </a:lnTo>
                <a:lnTo>
                  <a:pt x="5307841" y="0"/>
                </a:lnTo>
                <a:lnTo>
                  <a:pt x="5307841" y="340157"/>
                </a:lnTo>
                <a:lnTo>
                  <a:pt x="8986542" y="340157"/>
                </a:lnTo>
                <a:lnTo>
                  <a:pt x="8986542" y="0"/>
                </a:lnTo>
                <a:lnTo>
                  <a:pt x="9564624" y="0"/>
                </a:lnTo>
              </a:path>
            </a:pathLst>
          </a:custGeom>
          <a:ln w="22225">
            <a:solidFill>
              <a:srgbClr val="3EE0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66344" y="3520440"/>
            <a:ext cx="1490472" cy="475488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539496" y="3474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121408" y="3588106"/>
            <a:ext cx="9564624" cy="340157"/>
          </a:xfrm>
          <a:custGeom>
            <a:avLst/>
            <a:gdLst/>
            <a:ahLst/>
            <a:cxnLst/>
            <a:rect l="l" t="t" r="r" b="b"/>
            <a:pathLst>
              <a:path w="9564624" h="340157">
                <a:moveTo>
                  <a:pt x="0" y="340157"/>
                </a:moveTo>
                <a:lnTo>
                  <a:pt x="2575091" y="340157"/>
                </a:lnTo>
                <a:lnTo>
                  <a:pt x="2575091" y="0"/>
                </a:lnTo>
                <a:lnTo>
                  <a:pt x="2680197" y="0"/>
                </a:lnTo>
                <a:lnTo>
                  <a:pt x="2680197" y="340157"/>
                </a:lnTo>
                <a:lnTo>
                  <a:pt x="5097629" y="340157"/>
                </a:lnTo>
                <a:lnTo>
                  <a:pt x="5097629" y="0"/>
                </a:lnTo>
                <a:lnTo>
                  <a:pt x="5202735" y="0"/>
                </a:lnTo>
                <a:lnTo>
                  <a:pt x="5202735" y="340157"/>
                </a:lnTo>
                <a:lnTo>
                  <a:pt x="8881437" y="340157"/>
                </a:lnTo>
                <a:lnTo>
                  <a:pt x="8881437" y="0"/>
                </a:lnTo>
                <a:lnTo>
                  <a:pt x="8986542" y="0"/>
                </a:lnTo>
                <a:lnTo>
                  <a:pt x="8986542" y="340157"/>
                </a:lnTo>
                <a:lnTo>
                  <a:pt x="9564624" y="340157"/>
                </a:lnTo>
              </a:path>
            </a:pathLst>
          </a:custGeom>
          <a:ln w="222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2253001" y="1810512"/>
            <a:ext cx="493575" cy="2286000"/>
          </a:xfrm>
          <a:prstGeom prst="rect">
            <a:avLst/>
          </a:prstGeom>
          <a:ln w="1905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1832377" y="4187952"/>
            <a:ext cx="1334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ns 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840098" y="1810512"/>
            <a:ext cx="1450037" cy="2286000"/>
          </a:xfrm>
          <a:prstGeom prst="rect">
            <a:avLst/>
          </a:prstGeom>
          <a:ln w="19050">
            <a:solidFill>
              <a:srgbClr val="4ADE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3419474" y="4187952"/>
            <a:ext cx="22912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131 ns 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362636" y="1810512"/>
            <a:ext cx="935019" cy="2286000"/>
          </a:xfrm>
          <a:prstGeom prst="rect">
            <a:avLst/>
          </a:prstGeom>
          <a:ln w="19050">
            <a:solidFill>
              <a:srgbClr val="4ADE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942012" y="4187952"/>
            <a:ext cx="1776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 ns 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349135" y="1810512"/>
            <a:ext cx="693276" cy="2286000"/>
          </a:xfrm>
          <a:prstGeom prst="rect">
            <a:avLst/>
          </a:prstGeom>
          <a:ln w="1905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7928511" y="4187952"/>
            <a:ext cx="1534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 ns 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10135933" y="1810512"/>
            <a:ext cx="1450037" cy="2286000"/>
          </a:xfrm>
          <a:prstGeom prst="rect">
            <a:avLst/>
          </a:prstGeom>
          <a:ln w="19050">
            <a:solidFill>
              <a:srgbClr val="4ADE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9715309" y="4187952"/>
            <a:ext cx="22912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131 ns 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11480" y="443484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612648" y="443484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o_btn 없음 : 40 ns · 59 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sampled 1이 4개 · 5개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6217920" y="443484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6419088" y="443484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o_btn 1 tick : 82 ns · 131 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sampled 1이 8개 · 13개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411480" y="5486400"/>
            <a:ext cx="11384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640080" y="54864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위치  </a:t>
            </a:r>
            <a:r>
              <a:rPr lang="en-US" sz="14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 · 485 · 845 ns = 각 pulse의 첫 sample + 70 ns  ·  pulse length와 무관하게 1 tick</a:t>
            </a:r>
            <a:endParaRPr lang="en-US" sz="1450" dirty="0"/>
          </a:p>
        </p:txBody>
      </p:sp>
      <p:sp>
        <p:nvSpPr>
          <p:cNvPr id="75" name="Text 73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/ 41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Homework-2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최소 유지 시간 · 통계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Random Presses: 8 Sampled Edges Always Tick, 7 Never Do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7635240" cy="516636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31673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Pulse 폭 vs sampled posedge 수 (tb_button_debouncer, 50회)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411480" cy="3520440"/>
          </a:xfrm>
          <a:prstGeom prst="rect">
            <a:avLst/>
          </a:prstGeom>
          <a:solidFill>
            <a:srgbClr val="FEF3C7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5715000"/>
            <a:ext cx="658368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 flipV="1">
            <a:off x="1143000" y="2128552"/>
            <a:ext cx="0" cy="3586448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4300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73736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6596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56032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8892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38328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20624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02920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85216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67512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498080" y="5751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6680" y="5715000"/>
            <a:ext cx="0" cy="45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77240" y="5614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97280" y="5715000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77240" y="5174361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97280" y="5274945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77240" y="473430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97280" y="4834890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77240" y="4294251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7280" y="4394835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77240" y="38541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97280" y="3954780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77240" y="3414141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97280" y="3514725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77240" y="297408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97280" y="3074670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77240" y="2534031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97280" y="2634615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777240" y="2093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97280" y="2194560"/>
            <a:ext cx="457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4846320" y="5952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i_btn high 폭 (ns)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252728" y="2082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수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143000" y="4504849"/>
            <a:ext cx="6583680" cy="0"/>
          </a:xfrm>
          <a:prstGeom prst="line">
            <a:avLst/>
          </a:prstGeom>
          <a:noFill/>
          <a:ln w="15875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6080760" y="423052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posedge 경계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3017520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~ 80 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892808" y="5201793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600700" y="3184970"/>
            <a:ext cx="219456" cy="219456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602736" y="4303395"/>
            <a:ext cx="182880" cy="1828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2674620" y="4981766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956816" y="5183505"/>
            <a:ext cx="182880" cy="182880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108960" y="4523423"/>
            <a:ext cx="182880" cy="182880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2697480" y="4743450"/>
            <a:ext cx="182880" cy="182880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184648" y="3441573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3913632" y="4065079"/>
            <a:ext cx="219456" cy="219456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615184" y="4743450"/>
            <a:ext cx="182880" cy="182880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2903220" y="4743450"/>
            <a:ext cx="182880" cy="182880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645920" y="5421821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078224" y="4065079"/>
            <a:ext cx="219456" cy="219456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4402836" y="3881628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481328" y="5421821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2674620" y="4761738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343400" y="3863340"/>
            <a:ext cx="182880" cy="1828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6542532" y="2781490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4732020" y="3661600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3867912" y="4101656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6071616" y="2983230"/>
            <a:ext cx="182880" cy="1828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5084064" y="3423285"/>
            <a:ext cx="182880" cy="1828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077456" y="2341436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3520440" y="4303395"/>
            <a:ext cx="182880" cy="1828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583680" y="2781490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3232404" y="4523423"/>
            <a:ext cx="182880" cy="182880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2304288" y="4981766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2386584" y="4981766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4279392" y="4101656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2880360" y="4761738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773168" y="3661600"/>
            <a:ext cx="146304" cy="146304"/>
          </a:xfrm>
          <a:prstGeom prst="ellipse">
            <a:avLst/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2098548" y="5201793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1687068" y="5421821"/>
            <a:ext cx="146304" cy="146304"/>
          </a:xfrm>
          <a:prstGeom prst="ellipse">
            <a:avLst/>
          </a:prstGeom>
          <a:solidFill>
            <a:srgbClr val="DC262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155448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tick</a:t>
            </a: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</a:t>
            </a: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제거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229600" y="118872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841248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4000" dirty="0"/>
          </a:p>
        </p:txBody>
      </p:sp>
      <p:sp>
        <p:nvSpPr>
          <p:cNvPr id="88" name="Text 86"/>
          <p:cNvSpPr txBox="1"/>
          <p:nvPr/>
        </p:nvSpPr>
        <p:spPr>
          <a:xfrm>
            <a:off x="97383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발생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841248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17 posedge · 80 ns 이상 전부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8229600" y="29260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8412480" y="3017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4000" dirty="0"/>
          </a:p>
        </p:txBody>
      </p:sp>
      <p:sp>
        <p:nvSpPr>
          <p:cNvPr id="92" name="Text 90"/>
          <p:cNvSpPr txBox="1"/>
          <p:nvPr/>
        </p:nvSpPr>
        <p:spPr>
          <a:xfrm>
            <a:off x="973836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841248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~ 7 posedge · 73 ns 이하 전부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8229600" y="4663440"/>
            <a:ext cx="3566160" cy="1691640"/>
          </a:xfrm>
          <a:prstGeom prst="roundRect">
            <a:avLst>
              <a:gd name="adj" fmla="val 270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8412480" y="4754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~ 80 ns 구간</a:t>
            </a:r>
            <a:endParaRPr lang="en-US" sz="1450" dirty="0"/>
          </a:p>
        </p:txBody>
      </p:sp>
      <p:sp>
        <p:nvSpPr>
          <p:cNvPr id="96" name="Text 94"/>
          <p:cNvSpPr txBox="1"/>
          <p:nvPr/>
        </p:nvSpPr>
        <p:spPr>
          <a:xfrm>
            <a:off x="8412480" y="50749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· 73 ns 4건 = 7 posedge → 제거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 = sampled posedge 수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/ 41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Homework-2 시뮬레이션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최소 유지 시간 · 조건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Tick Needs i_btn High Across 8 Rising Edges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3842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1600200"/>
            <a:ext cx="8449056" cy="320040"/>
          </a:xfrm>
          <a:custGeom>
            <a:avLst/>
            <a:gdLst/>
            <a:ahLst/>
            <a:cxnLst/>
            <a:rect l="l" t="t" r="r" b="b"/>
            <a:pathLst>
              <a:path w="8449056" h="320040">
                <a:moveTo>
                  <a:pt x="0" y="320040"/>
                </a:moveTo>
                <a:lnTo>
                  <a:pt x="402336" y="320040"/>
                </a:lnTo>
                <a:lnTo>
                  <a:pt x="402336" y="0"/>
                </a:lnTo>
                <a:lnTo>
                  <a:pt x="804672" y="0"/>
                </a:lnTo>
                <a:lnTo>
                  <a:pt x="804672" y="320040"/>
                </a:lnTo>
                <a:lnTo>
                  <a:pt x="1207008" y="320040"/>
                </a:lnTo>
                <a:lnTo>
                  <a:pt x="1207008" y="0"/>
                </a:lnTo>
                <a:lnTo>
                  <a:pt x="1609344" y="0"/>
                </a:lnTo>
                <a:lnTo>
                  <a:pt x="1609344" y="320040"/>
                </a:lnTo>
                <a:lnTo>
                  <a:pt x="2011680" y="320040"/>
                </a:lnTo>
                <a:lnTo>
                  <a:pt x="2011680" y="0"/>
                </a:lnTo>
                <a:lnTo>
                  <a:pt x="2414016" y="0"/>
                </a:lnTo>
                <a:lnTo>
                  <a:pt x="2414016" y="320040"/>
                </a:lnTo>
                <a:lnTo>
                  <a:pt x="2816352" y="320040"/>
                </a:lnTo>
                <a:lnTo>
                  <a:pt x="2816352" y="0"/>
                </a:lnTo>
                <a:lnTo>
                  <a:pt x="3218688" y="0"/>
                </a:lnTo>
                <a:lnTo>
                  <a:pt x="3218688" y="320040"/>
                </a:lnTo>
                <a:lnTo>
                  <a:pt x="3621024" y="320040"/>
                </a:lnTo>
                <a:lnTo>
                  <a:pt x="3621024" y="0"/>
                </a:lnTo>
                <a:lnTo>
                  <a:pt x="4023360" y="0"/>
                </a:lnTo>
                <a:lnTo>
                  <a:pt x="4023360" y="320040"/>
                </a:lnTo>
                <a:lnTo>
                  <a:pt x="4425696" y="320040"/>
                </a:lnTo>
                <a:lnTo>
                  <a:pt x="4425696" y="0"/>
                </a:lnTo>
                <a:lnTo>
                  <a:pt x="4828032" y="0"/>
                </a:lnTo>
                <a:lnTo>
                  <a:pt x="4828032" y="320040"/>
                </a:lnTo>
                <a:lnTo>
                  <a:pt x="5230368" y="320040"/>
                </a:lnTo>
                <a:lnTo>
                  <a:pt x="5230368" y="0"/>
                </a:lnTo>
                <a:lnTo>
                  <a:pt x="5632704" y="0"/>
                </a:lnTo>
                <a:lnTo>
                  <a:pt x="5632704" y="320040"/>
                </a:lnTo>
                <a:lnTo>
                  <a:pt x="6035040" y="320040"/>
                </a:lnTo>
                <a:lnTo>
                  <a:pt x="6035040" y="0"/>
                </a:lnTo>
                <a:lnTo>
                  <a:pt x="6437376" y="0"/>
                </a:lnTo>
                <a:lnTo>
                  <a:pt x="6437376" y="320040"/>
                </a:lnTo>
                <a:lnTo>
                  <a:pt x="6839712" y="320040"/>
                </a:lnTo>
                <a:lnTo>
                  <a:pt x="6839712" y="0"/>
                </a:lnTo>
                <a:lnTo>
                  <a:pt x="7242048" y="0"/>
                </a:lnTo>
                <a:lnTo>
                  <a:pt x="7242048" y="320040"/>
                </a:lnTo>
                <a:lnTo>
                  <a:pt x="7644384" y="320040"/>
                </a:lnTo>
                <a:lnTo>
                  <a:pt x="7644384" y="0"/>
                </a:lnTo>
                <a:lnTo>
                  <a:pt x="8046720" y="0"/>
                </a:lnTo>
                <a:lnTo>
                  <a:pt x="8046720" y="320040"/>
                </a:lnTo>
                <a:lnTo>
                  <a:pt x="8449056" y="320040"/>
                </a:lnTo>
              </a:path>
            </a:pathLst>
          </a:custGeom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728216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65376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532888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70048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337560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142232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392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946904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84064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751576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88736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556248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93408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360920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600200"/>
            <a:ext cx="0" cy="2103120"/>
          </a:xfrm>
          <a:prstGeom prst="line">
            <a:avLst/>
          </a:prstGeom>
          <a:noFill/>
          <a:ln w="9525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2331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02106" y="2331720"/>
            <a:ext cx="8207654" cy="365760"/>
          </a:xfrm>
          <a:custGeom>
            <a:avLst/>
            <a:gdLst/>
            <a:ahLst/>
            <a:cxnLst/>
            <a:rect l="l" t="t" r="r" b="b"/>
            <a:pathLst>
              <a:path w="8207654" h="365760">
                <a:moveTo>
                  <a:pt x="0" y="365760"/>
                </a:moveTo>
                <a:lnTo>
                  <a:pt x="321869" y="365760"/>
                </a:lnTo>
                <a:lnTo>
                  <a:pt x="321869" y="0"/>
                </a:lnTo>
                <a:lnTo>
                  <a:pt x="5149901" y="0"/>
                </a:lnTo>
                <a:lnTo>
                  <a:pt x="5149901" y="365760"/>
                </a:lnTo>
                <a:lnTo>
                  <a:pt x="8207654" y="365760"/>
                </a:lnTo>
              </a:path>
            </a:pathLst>
          </a:custGeom>
          <a:ln w="285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590227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6개 → 제거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 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02106" y="3154680"/>
            <a:ext cx="8207654" cy="365760"/>
          </a:xfrm>
          <a:custGeom>
            <a:avLst/>
            <a:gdLst/>
            <a:ahLst/>
            <a:cxnLst/>
            <a:rect l="l" t="t" r="r" b="b"/>
            <a:pathLst>
              <a:path w="8207654" h="365760">
                <a:moveTo>
                  <a:pt x="0" y="365760"/>
                </a:moveTo>
                <a:lnTo>
                  <a:pt x="321869" y="365760"/>
                </a:lnTo>
                <a:lnTo>
                  <a:pt x="321869" y="0"/>
                </a:lnTo>
                <a:lnTo>
                  <a:pt x="6920179" y="0"/>
                </a:lnTo>
                <a:lnTo>
                  <a:pt x="6920179" y="365760"/>
                </a:lnTo>
                <a:lnTo>
                  <a:pt x="8207654" y="365760"/>
                </a:lnTo>
              </a:path>
            </a:pathLst>
          </a:custGeom>
          <a:ln w="285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9590227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8개 → tick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31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sampling edge 이후 70 ns + α 유지 = 8번째 posedge까지 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11480" y="4663440"/>
            <a:ext cx="3703320" cy="1691640"/>
          </a:xfrm>
          <a:prstGeom prst="roundRect">
            <a:avLst>
              <a:gd name="adj" fmla="val 270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4008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ns 이하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7 posedge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제거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51960" y="4663440"/>
            <a:ext cx="3703320" cy="1691640"/>
          </a:xfrm>
          <a:prstGeom prst="roundRect">
            <a:avLst>
              <a:gd name="adj" fmla="val 270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48056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~ 80 ns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또는 8 posedge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edge 정렬에 의존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92440" y="4663440"/>
            <a:ext cx="3703320" cy="1691640"/>
          </a:xfrm>
          <a:prstGeom prst="roundRect">
            <a:avLst>
              <a:gd name="adj" fmla="val 2703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832104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ns 이상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posedge 이상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통과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/ 41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1280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72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결론</a:t>
            </a: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설계 결과 · 고찰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840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91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01168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114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9372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423160" y="1188720"/>
            <a:ext cx="9372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011680" cy="5760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23160" y="1691640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606040" y="1691640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Mealy: 4 state · 출력 = S3 · din_bit → din_bit 도착 즉시 검출 (221 ns, 폭 4 ns)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267712"/>
            <a:ext cx="2011680" cy="5760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23160" y="2267712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2606040" y="2267712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Moore: 5 state · S4 decode 출력 → 1 clock 뒤 검출 (225 ns, 폭 10 ns)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843784"/>
            <a:ext cx="2011680" cy="5760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423160" y="2843784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2606040" y="2843784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logic 차이 = S3 · din_bit = 1 한 경우뿐 (Mealy S0 · Moore S4)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2011680" cy="5760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423160" y="3419856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606040" y="3419856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sample 연속 1 + rising edge → push 1회 = o_btn 1 tick (첫 sample + 70 ns)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995928"/>
            <a:ext cx="2011680" cy="5760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423160" y="3995928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2606040" y="3995928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50회 random push: 8 posedge 이상 28건 tick · 7 이하 22건 제거  ·  RUN 유지 조건 누락 수정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4572000"/>
            <a:ext cx="2011680" cy="576072"/>
          </a:xfrm>
          <a:prstGeom prst="rect">
            <a:avLst/>
          </a:prstGeom>
          <a:solidFill>
            <a:srgbClr val="FDF2F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423160" y="4572000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2606040" y="4572000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 = event 입력 → tick 변환이 FSM 입력의 전제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" y="5148072"/>
            <a:ext cx="2011680" cy="576072"/>
          </a:xfrm>
          <a:prstGeom prst="rect">
            <a:avLst/>
          </a:prstGeom>
          <a:solidFill>
            <a:srgbClr val="FDF2F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423160" y="5148072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2606040" y="5148072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8-sample window = moving average low-pass + 문턱 1.0 → 80 ns 미만 pulse 제거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5724144"/>
            <a:ext cx="2011680" cy="576072"/>
          </a:xfrm>
          <a:prstGeom prst="rect">
            <a:avLst/>
          </a:prstGeom>
          <a:solidFill>
            <a:srgbClr val="FDF2F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423160" y="5724144"/>
            <a:ext cx="93726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2606040" y="5724144"/>
            <a:ext cx="9052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ns window → ms 단위 bounce 대응 시 sampling 주기 확대 필요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Sequence Detector · Button Debouncer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408615" y="6528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/ 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4542</Words>
  <Application>Microsoft Office PowerPoint</Application>
  <PresentationFormat>와이드스크린</PresentationFormat>
  <Paragraphs>1234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0101 Sequence Detector and Button Debouncer</dc:title>
  <dc:subject>PptxGenJS Presentation</dc:subject>
  <dc:creator>정안성</dc:creator>
  <cp:lastModifiedBy>안성 정</cp:lastModifiedBy>
  <cp:revision>9</cp:revision>
  <dcterms:created xsi:type="dcterms:W3CDTF">2026-10-12T15:53:20Z</dcterms:created>
  <dcterms:modified xsi:type="dcterms:W3CDTF">2026-10-13T09:48:51Z</dcterms:modified>
</cp:coreProperties>
</file>