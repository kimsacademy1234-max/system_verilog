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27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맑은 고딕"/>
              </a:defRPr>
            </a:pPr>
            <a:r>
              <a:rPr lang="en-US" sz="1300" b="0" i="0" u="none" strike="noStrike">
                <a:solidFill>
                  <a:srgbClr val="475569"/>
                </a:solidFill>
                <a:latin typeface="맑은 고딕"/>
              </a:rPr>
              <a:t>Worst sampling margin (%) = 50 − 100 / 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margin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66-43A6-AD64-5BA98CD63DE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66-43A6-AD64-5BA98CD63DED}"/>
              </c:ext>
            </c:extLst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66-43A6-AD64-5BA98CD63DE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E66-43A6-AD64-5BA98CD63DE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E66-43A6-AD64-5BA98CD63DE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4x</c:v>
                </c:pt>
                <c:pt idx="1">
                  <c:v>8x</c:v>
                </c:pt>
                <c:pt idx="2">
                  <c:v>16x</c:v>
                </c:pt>
                <c:pt idx="3">
                  <c:v>32x</c:v>
                </c:pt>
                <c:pt idx="4">
                  <c:v>64x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37.5</c:v>
                </c:pt>
                <c:pt idx="2">
                  <c:v>43.75</c:v>
                </c:pt>
                <c:pt idx="3">
                  <c:v>46.88</c:v>
                </c:pt>
                <c:pt idx="4">
                  <c:v>48.44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66-43A6-AD64-5BA98CD63D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6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600" y="16192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 ·  TEAM PROJECT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9431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+ FIFO</a:t>
            </a:r>
            <a:endParaRPr lang="en-US" sz="4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Loopback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1432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시뮬레이션 검증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60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09600" y="39052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635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276350" y="39052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4310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943100" y="39052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9850" y="390525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09600" y="3657600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09850" y="4476750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7625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DEPTH 4  ·  push → wptr, pop → rptr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8102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96000" y="16192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96000" y="18288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0" y="22479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Basys-3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6000" y="25527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096000" y="26670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96000" y="28765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9600 bps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096000" y="32956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8N1 · LSB first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6000" y="360045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096000" y="3714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96000" y="39243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4 × 2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096000" y="43434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· FIFO_TX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96000" y="46482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096000" y="47625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검증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096000" y="49720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~ S5 PASS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6096000" y="53911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5개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6096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2192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uart_rx와 uart_tx 사이 FIFO 2단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입력 echo 검증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953000" y="4953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76900" y="4953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76900" y="7429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 · 시나리오 결과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572750" y="5334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3000" y="10096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953000" y="10858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76900" y="10858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76900" y="13335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추가 목적 · 목표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572750" y="11239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53000" y="16002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953000" y="16764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676900" y="16764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Reference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76900" y="19240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통신 개념 · 16x oversampling · FIFO 개념 · 속도 관계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572750" y="17145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5 – 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53000" y="21907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953000" y="22669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76900" y="22669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다이어그램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76900" y="25146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uart_fifo_loopback · fifo 내부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572750" y="23050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9 – 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53000" y="27813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953000" y="28575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676900" y="28575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설계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676900" y="31051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 동작표 · rx_done → tx 흐름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572750" y="28956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11 – 12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53000" y="33718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953000" y="34480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676900" y="34480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676900" y="36957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구조 · 시나리오 · S1 ~ S5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572750" y="34861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13 – 19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53000" y="39624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953000" y="40386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5676900" y="40386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 슈팅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676900" y="42862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중 확인한 경계 동작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572750" y="40767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53000" y="45529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953000" y="46291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5676900" y="46291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676900" y="48768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 · 개선 방향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572750" y="46672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53000" y="51435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4953000" y="52197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5676900" y="52197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5676900" y="54673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Margin · 16x 선택 이유 · ASM · TB 로그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572750" y="52578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23 – 27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53000" y="57340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 ·  Summary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+ FIFO Loopback 구현 · 검증 결과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uart_rx와 uart_tx 사이 FIFO_RX · FIFO_TX → 수신 byte가 FIFO 2단을 거쳐 순서대로 echo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PASS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FIFO 단독 · 단일 byte · 9600 연속 · 최악 조건 · glitch 회귀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096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 4 × 2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6096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96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· FIFO_TX, 8 bit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291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4577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baud (PC / FPGA)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577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9600 / 9600.6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4577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4577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frame ≥ TX frame 160 tick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772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3058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FIFO 단독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058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414 / 0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83058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3058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/ mismatch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10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096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· S3 · S4 echo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096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256</a:t>
            </a:r>
            <a:endParaRPr lang="en-US" sz="4000" dirty="0"/>
          </a:p>
        </p:txBody>
      </p:sp>
      <p:sp>
        <p:nvSpPr>
          <p:cNvPr id="30" name="Shape 28"/>
          <p:cNvSpPr/>
          <p:nvPr/>
        </p:nvSpPr>
        <p:spPr>
          <a:xfrm>
            <a:off x="6096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096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· 9600 연속 · 최악 조건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291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44577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S5 START glitch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4577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23</a:t>
            </a:r>
            <a:endParaRPr lang="en-US" sz="4000" dirty="0"/>
          </a:p>
        </p:txBody>
      </p:sp>
      <p:sp>
        <p:nvSpPr>
          <p:cNvPr id="35" name="Shape 33"/>
          <p:cNvSpPr/>
          <p:nvPr/>
        </p:nvSpPr>
        <p:spPr>
          <a:xfrm>
            <a:off x="44577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4577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수정 결과 유지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83058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최대 점유 (RX / TX)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058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</a:t>
            </a:r>
            <a:endParaRPr lang="en-US" sz="4000" dirty="0"/>
          </a:p>
        </p:txBody>
      </p:sp>
      <p:sp>
        <p:nvSpPr>
          <p:cNvPr id="40" name="Shape 38"/>
          <p:cNvSpPr/>
          <p:nvPr/>
        </p:nvSpPr>
        <p:spPr>
          <a:xfrm>
            <a:off x="83058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83058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· full 0회 · TX busy 중 rx_done 0회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목적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목적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TX가 바쁜 동안 들어온 Byte도 놓치지 않는 Loopback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수신(uart_rx)과 송신(uart_tx) 사이에 FIFO_RX · FIFO_TX를 두어 두 쪽을 분리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연속 입력도 손실 · 중복 없이 같은 순서로 echo → 시나리오 5개로 검증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771650"/>
            <a:ext cx="666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3825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23825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05100" y="2076450"/>
            <a:ext cx="15113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286000" y="1638300"/>
            <a:ext cx="234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450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25450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21350" y="2076450"/>
            <a:ext cx="15113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302250" y="1638300"/>
            <a:ext cx="234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= tx_start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7075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27075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37600" y="2076450"/>
            <a:ext cx="15113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318500" y="1638300"/>
            <a:ext cx="234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87000" y="18288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0287000" y="182880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1000" y="2628900"/>
            <a:ext cx="666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23825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23825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0510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28600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4800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304800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1485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09575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5775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485775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2460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66750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EFCE8"/>
          </a:solidFill>
          <a:ln w="222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66750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435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71525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7725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847725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944100" y="2933700"/>
            <a:ext cx="304800" cy="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9525000" y="24955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287000" y="26860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287000" y="2686050"/>
            <a:ext cx="142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3543300"/>
          <a:ext cx="11430000" cy="28003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동작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fifo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 / pop / 동시 push·pop, full · empty, pointer 순환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uart_fifo_loopback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byte echo 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uart_fifo_loopback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9600 bps 연속 입력 손실 · 중복 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uart_fifo_loopback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여유 0 tick 최악 조건에서도 손실 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uart_rx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glitch 개선 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프로토콜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UART: Clock 없이 Start Bit로 시점을 맞추는 비동기 직렬 통신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TX · RX 선이 따로 → 송신 · 수신 동시 가능 (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full-duplex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), 공유 clock 없음 → 양쪽이 baud만 약속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8N1 frame = START(0) → D0 ~ D7 (LSB first) → STOP(1), 이 설계는 bit 중앙 1회 sampling (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BIT mode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38100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17716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6750" y="2190750"/>
            <a:ext cx="1143000" cy="1905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66750" y="22479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6750" y="24765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USB-UART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62250" y="2190750"/>
            <a:ext cx="1143000" cy="19050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762250" y="22479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62250" y="24765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Basys-3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428750" y="28670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819400" y="28670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28750" y="34385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19400" y="34385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09750" y="2952750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 flipH="1">
            <a:off x="1809750" y="3524250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2000250" y="27622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000250" y="35623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6750" y="41910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2개 → 동시 송수신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1500" y="1676400"/>
            <a:ext cx="74295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572000" y="17716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8N1 frame  ·  '0' = 0x30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62500" y="2343150"/>
            <a:ext cx="3810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1435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1435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7531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7531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3627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3627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9723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9723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5819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5819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flipV="1">
            <a:off x="81915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1915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801100" y="234315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88011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4107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94107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00203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00203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 flipV="1">
            <a:off x="106299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6299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239500" y="234315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1239500" y="2343150"/>
            <a:ext cx="3810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51435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57531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3627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9723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5819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1915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8011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94107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100203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106299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143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7531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3627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9723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5819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8191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88011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94107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100203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06299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1239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51435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57531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63627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69723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75819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81915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88011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94107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100203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106299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4419600" y="215265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4483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54102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60579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60198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66675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66294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72771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72390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78867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78486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84963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84582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91059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90678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97155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96774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103251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102870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109347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108966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 txBox="1"/>
          <p:nvPr/>
        </p:nvSpPr>
        <p:spPr>
          <a:xfrm>
            <a:off x="5143500" y="33147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1회 sampling (ONE BIT mode)</a:t>
            </a:r>
            <a:endParaRPr lang="en-US" sz="1150" dirty="0"/>
          </a:p>
        </p:txBody>
      </p:sp>
      <p:sp>
        <p:nvSpPr>
          <p:cNvPr id="107" name="Text 105"/>
          <p:cNvSpPr txBox="1"/>
          <p:nvPr/>
        </p:nvSpPr>
        <p:spPr>
          <a:xfrm>
            <a:off x="4572000" y="36576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bit = 16 tick</a:t>
            </a:r>
            <a:endParaRPr lang="en-US" sz="1100" dirty="0"/>
          </a:p>
        </p:txBody>
      </p:sp>
      <p:sp>
        <p:nvSpPr>
          <p:cNvPr id="108" name="Text 106"/>
          <p:cNvSpPr txBox="1"/>
          <p:nvPr/>
        </p:nvSpPr>
        <p:spPr>
          <a:xfrm>
            <a:off x="4572000" y="3829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BIT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6096000" y="3810000"/>
            <a:ext cx="335280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63055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65151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67246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69342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71437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73533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75628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77724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9819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1915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84010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86106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88201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90297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92392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7724775" y="3848100"/>
            <a:ext cx="95250" cy="1333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 txBox="1"/>
          <p:nvPr/>
        </p:nvSpPr>
        <p:spPr>
          <a:xfrm>
            <a:off x="9563100" y="38290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설계</a:t>
            </a:r>
            <a:endParaRPr lang="en-US" sz="1100" dirty="0"/>
          </a:p>
        </p:txBody>
      </p:sp>
      <p:sp>
        <p:nvSpPr>
          <p:cNvPr id="127" name="Text 125"/>
          <p:cNvSpPr txBox="1"/>
          <p:nvPr/>
        </p:nvSpPr>
        <p:spPr>
          <a:xfrm>
            <a:off x="4572000" y="421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3-sample 다수결</a:t>
            </a:r>
            <a:endParaRPr lang="en-US" sz="1150" dirty="0"/>
          </a:p>
        </p:txBody>
      </p:sp>
      <p:sp>
        <p:nvSpPr>
          <p:cNvPr id="128" name="Shape 126"/>
          <p:cNvSpPr/>
          <p:nvPr/>
        </p:nvSpPr>
        <p:spPr>
          <a:xfrm>
            <a:off x="6096000" y="4191000"/>
            <a:ext cx="335280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63055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65151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67246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69342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71437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73533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75628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77724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79819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81915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84010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86106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88201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90297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92392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751522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772477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793432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 txBox="1"/>
          <p:nvPr/>
        </p:nvSpPr>
        <p:spPr>
          <a:xfrm>
            <a:off x="9563100" y="42100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UART 옵션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381000" y="47434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495300" y="50101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148"/>
          <p:cNvSpPr txBox="1"/>
          <p:nvPr/>
        </p:nvSpPr>
        <p:spPr>
          <a:xfrm>
            <a:off x="49530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51" name="Text 149"/>
          <p:cNvSpPr txBox="1"/>
          <p:nvPr/>
        </p:nvSpPr>
        <p:spPr>
          <a:xfrm>
            <a:off x="819150" y="47434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bit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→ 0 falling edge = frame 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edge로 bit 경계 재정렬</a:t>
            </a:r>
            <a:endParaRPr lang="en-US" sz="1400" dirty="0"/>
          </a:p>
        </p:txBody>
      </p:sp>
      <p:sp>
        <p:nvSpPr>
          <p:cNvPr id="152" name="Shape 150"/>
          <p:cNvSpPr/>
          <p:nvPr/>
        </p:nvSpPr>
        <p:spPr>
          <a:xfrm>
            <a:off x="6191250" y="47434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6305550" y="50101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152"/>
          <p:cNvSpPr txBox="1"/>
          <p:nvPr/>
        </p:nvSpPr>
        <p:spPr>
          <a:xfrm>
            <a:off x="630555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5" name="Text 153"/>
          <p:cNvSpPr txBox="1"/>
          <p:nvPr/>
        </p:nvSpPr>
        <p:spPr>
          <a:xfrm>
            <a:off x="6629400" y="47434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bit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1 → 다음 falling edge 보장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frame마다 초기화</a:t>
            </a:r>
            <a:endParaRPr lang="en-US" sz="1400" dirty="0"/>
          </a:p>
        </p:txBody>
      </p:sp>
      <p:sp>
        <p:nvSpPr>
          <p:cNvPr id="156" name="Shape 154"/>
          <p:cNvSpPr/>
          <p:nvPr/>
        </p:nvSpPr>
        <p:spPr>
          <a:xfrm>
            <a:off x="381000" y="56578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Text 156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59" name="Text 157"/>
          <p:cNvSpPr txBox="1"/>
          <p:nvPr/>
        </p:nvSpPr>
        <p:spPr>
          <a:xfrm>
            <a:off x="819150" y="56578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 first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D0부터 송신 → 0x30은 0,0,0,0,1,1,0,0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RX는 MSB에 넣고 오른쪽 shift</a:t>
            </a:r>
            <a:endParaRPr lang="en-US" sz="1400" dirty="0"/>
          </a:p>
        </p:txBody>
      </p:sp>
      <p:sp>
        <p:nvSpPr>
          <p:cNvPr id="160" name="Shape 158"/>
          <p:cNvSpPr/>
          <p:nvPr/>
        </p:nvSpPr>
        <p:spPr>
          <a:xfrm>
            <a:off x="6191250" y="56578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630555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Text 160"/>
          <p:cNvSpPr txBox="1"/>
          <p:nvPr/>
        </p:nvSpPr>
        <p:spPr>
          <a:xfrm>
            <a:off x="630555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63" name="Text 161"/>
          <p:cNvSpPr txBox="1"/>
          <p:nvPr/>
        </p:nvSpPr>
        <p:spPr>
          <a:xfrm>
            <a:off x="6629400" y="56578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BIT mode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sample 1개로 판정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glitch에 취약 (부록)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동작 주파수 · 16x Oversampling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÷ 651 = b_tick, 16 tick = 1 bit (104.16 µs)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F_COUNT = 100 MHz ÷ (9600 × 16) =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651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b_tick 6.51 µs, 1 bit = 16 tick = 104.16 µs (9600.6 bps)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START 8 tick 대기로 bit 중앙 정렬 → 이후 16 tick마다 sampling, rx_done은 STOP 중앙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0563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2256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F_COUNT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02256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MHz ÷ 153,600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651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7049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23051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644745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44745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651 × 10 ns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6.51 µs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39537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65539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287233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bit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87233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104.16 µs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82025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808027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929721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중앙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929721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8 tick  </a:t>
            </a: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52.08 µs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584272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3839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D0=0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1836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D1=0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9833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D2=0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7830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D3=0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827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D4=1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3824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D5=1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182175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D6=0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981875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D7=0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781576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84272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3839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1836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9833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7830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5827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73824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182175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8981875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781576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581276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880563" y="2412290"/>
            <a:ext cx="1112627" cy="295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62729" y="2447059"/>
            <a:ext cx="521544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584272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584272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33839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3839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1836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1836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9833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49833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783074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783074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 flipV="1">
            <a:off x="6582774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582774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382474" y="2447059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7382474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8182175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8182175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981875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8981875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 flipV="1">
            <a:off x="9781576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9781576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10581276" y="2447059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0581276" y="2447059"/>
            <a:ext cx="347696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29841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29450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37838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37447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5835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45444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3832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5344108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61829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6143808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69826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6943509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77823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7743209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85820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8542909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93817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9342610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0181426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10142310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880563" y="2899064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c_state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062729" y="2899064"/>
            <a:ext cx="521544" cy="2607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2062729" y="2899064"/>
            <a:ext cx="521544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584272" y="2899064"/>
            <a:ext cx="399850" cy="260772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2584272" y="2899064"/>
            <a:ext cx="399850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2984123" y="2899064"/>
            <a:ext cx="6397603" cy="260772"/>
          </a:xfrm>
          <a:prstGeom prst="rect">
            <a:avLst/>
          </a:prstGeom>
          <a:solidFill>
            <a:srgbClr val="FECD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2984123" y="2899064"/>
            <a:ext cx="639760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9381725" y="2899064"/>
            <a:ext cx="799700" cy="260772"/>
          </a:xfrm>
          <a:prstGeom prst="rect">
            <a:avLst/>
          </a:prstGeom>
          <a:solidFill>
            <a:srgbClr val="FDA4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9381725" y="2899064"/>
            <a:ext cx="799700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0181426" y="2899064"/>
            <a:ext cx="747546" cy="2607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 txBox="1"/>
          <p:nvPr/>
        </p:nvSpPr>
        <p:spPr>
          <a:xfrm>
            <a:off x="10181426" y="2899064"/>
            <a:ext cx="747546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103" name="Text 101"/>
          <p:cNvSpPr txBox="1"/>
          <p:nvPr/>
        </p:nvSpPr>
        <p:spPr>
          <a:xfrm>
            <a:off x="880563" y="3281529"/>
            <a:ext cx="1112627" cy="31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 수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2601657" y="3333683"/>
            <a:ext cx="36508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2601657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29667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 txBox="1"/>
          <p:nvPr/>
        </p:nvSpPr>
        <p:spPr>
          <a:xfrm>
            <a:off x="2436502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2436502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001507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3001507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37664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3036277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13" name="Text 111"/>
          <p:cNvSpPr txBox="1"/>
          <p:nvPr/>
        </p:nvSpPr>
        <p:spPr>
          <a:xfrm>
            <a:off x="3036277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8012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38012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45661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 txBox="1"/>
          <p:nvPr/>
        </p:nvSpPr>
        <p:spPr>
          <a:xfrm>
            <a:off x="3835977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3835977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6009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46009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536583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20"/>
          <p:cNvSpPr txBox="1"/>
          <p:nvPr/>
        </p:nvSpPr>
        <p:spPr>
          <a:xfrm>
            <a:off x="46356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46356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4006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54006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616553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 txBox="1"/>
          <p:nvPr/>
        </p:nvSpPr>
        <p:spPr>
          <a:xfrm>
            <a:off x="54353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28" name="Text 126"/>
          <p:cNvSpPr txBox="1"/>
          <p:nvPr/>
        </p:nvSpPr>
        <p:spPr>
          <a:xfrm>
            <a:off x="54353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2003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>
            <a:off x="62003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>
            <a:off x="69652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130"/>
          <p:cNvSpPr txBox="1"/>
          <p:nvPr/>
        </p:nvSpPr>
        <p:spPr>
          <a:xfrm>
            <a:off x="62350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33" name="Text 131"/>
          <p:cNvSpPr txBox="1"/>
          <p:nvPr/>
        </p:nvSpPr>
        <p:spPr>
          <a:xfrm>
            <a:off x="62350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0000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70000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77649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 txBox="1"/>
          <p:nvPr/>
        </p:nvSpPr>
        <p:spPr>
          <a:xfrm>
            <a:off x="70347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38" name="Text 136"/>
          <p:cNvSpPr txBox="1"/>
          <p:nvPr/>
        </p:nvSpPr>
        <p:spPr>
          <a:xfrm>
            <a:off x="70347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77997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77997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85646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 txBox="1"/>
          <p:nvPr/>
        </p:nvSpPr>
        <p:spPr>
          <a:xfrm>
            <a:off x="78344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43" name="Text 141"/>
          <p:cNvSpPr txBox="1"/>
          <p:nvPr/>
        </p:nvSpPr>
        <p:spPr>
          <a:xfrm>
            <a:off x="78344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8599410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859941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9364341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 txBox="1"/>
          <p:nvPr/>
        </p:nvSpPr>
        <p:spPr>
          <a:xfrm>
            <a:off x="86341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48" name="Text 146"/>
          <p:cNvSpPr txBox="1"/>
          <p:nvPr/>
        </p:nvSpPr>
        <p:spPr>
          <a:xfrm>
            <a:off x="86341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9399110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939911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10164041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Text 150"/>
          <p:cNvSpPr txBox="1"/>
          <p:nvPr/>
        </p:nvSpPr>
        <p:spPr>
          <a:xfrm>
            <a:off x="9433880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53" name="Text 151"/>
          <p:cNvSpPr txBox="1"/>
          <p:nvPr/>
        </p:nvSpPr>
        <p:spPr>
          <a:xfrm>
            <a:off x="9433880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54" name="Text 152"/>
          <p:cNvSpPr txBox="1"/>
          <p:nvPr/>
        </p:nvSpPr>
        <p:spPr>
          <a:xfrm>
            <a:off x="880563" y="3768303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2062729" y="3976921"/>
            <a:ext cx="8118697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 flipV="1">
            <a:off x="10181426" y="3803073"/>
            <a:ext cx="0" cy="173848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10181426" y="3803073"/>
            <a:ext cx="4346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10224888" y="3803073"/>
            <a:ext cx="0" cy="173848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10224888" y="3976921"/>
            <a:ext cx="704084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 158"/>
          <p:cNvSpPr txBox="1"/>
          <p:nvPr/>
        </p:nvSpPr>
        <p:spPr>
          <a:xfrm>
            <a:off x="10268350" y="3768303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clk</a:t>
            </a:r>
            <a:endParaRPr lang="en-US" sz="900" dirty="0"/>
          </a:p>
        </p:txBody>
      </p:sp>
      <p:sp>
        <p:nvSpPr>
          <p:cNvPr id="161" name="Text 159"/>
          <p:cNvSpPr txBox="1"/>
          <p:nvPr/>
        </p:nvSpPr>
        <p:spPr>
          <a:xfrm>
            <a:off x="880563" y="4185538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2062729" y="4202923"/>
            <a:ext cx="921394" cy="22600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 161"/>
          <p:cNvSpPr txBox="1"/>
          <p:nvPr/>
        </p:nvSpPr>
        <p:spPr>
          <a:xfrm>
            <a:off x="2062729" y="4202923"/>
            <a:ext cx="921394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29841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Text 163"/>
          <p:cNvSpPr txBox="1"/>
          <p:nvPr/>
        </p:nvSpPr>
        <p:spPr>
          <a:xfrm>
            <a:off x="29841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37838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Text 165"/>
          <p:cNvSpPr txBox="1"/>
          <p:nvPr/>
        </p:nvSpPr>
        <p:spPr>
          <a:xfrm>
            <a:off x="37838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45835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Text 167"/>
          <p:cNvSpPr txBox="1"/>
          <p:nvPr/>
        </p:nvSpPr>
        <p:spPr>
          <a:xfrm>
            <a:off x="45835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53832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Text 169"/>
          <p:cNvSpPr txBox="1"/>
          <p:nvPr/>
        </p:nvSpPr>
        <p:spPr>
          <a:xfrm>
            <a:off x="53832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61829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Text 171"/>
          <p:cNvSpPr txBox="1"/>
          <p:nvPr/>
        </p:nvSpPr>
        <p:spPr>
          <a:xfrm>
            <a:off x="61829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69826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3"/>
          <p:cNvSpPr txBox="1"/>
          <p:nvPr/>
        </p:nvSpPr>
        <p:spPr>
          <a:xfrm>
            <a:off x="69826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7782325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Text 175"/>
          <p:cNvSpPr txBox="1"/>
          <p:nvPr/>
        </p:nvSpPr>
        <p:spPr>
          <a:xfrm>
            <a:off x="7782325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8582025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Text 177"/>
          <p:cNvSpPr txBox="1"/>
          <p:nvPr/>
        </p:nvSpPr>
        <p:spPr>
          <a:xfrm>
            <a:off x="8582025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9381725" y="4202923"/>
            <a:ext cx="1547246" cy="226002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Text 179"/>
          <p:cNvSpPr txBox="1"/>
          <p:nvPr/>
        </p:nvSpPr>
        <p:spPr>
          <a:xfrm>
            <a:off x="9381725" y="4202923"/>
            <a:ext cx="1547246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182" name="Text 180"/>
          <p:cNvSpPr txBox="1"/>
          <p:nvPr/>
        </p:nvSpPr>
        <p:spPr>
          <a:xfrm>
            <a:off x="880563" y="4550619"/>
            <a:ext cx="1112627" cy="20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(µs)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2062729" y="4585388"/>
            <a:ext cx="8866243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Text 182"/>
          <p:cNvSpPr txBox="1"/>
          <p:nvPr/>
        </p:nvSpPr>
        <p:spPr>
          <a:xfrm>
            <a:off x="2410424" y="4620158"/>
            <a:ext cx="347696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2584272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29841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Text 185"/>
          <p:cNvSpPr txBox="1"/>
          <p:nvPr/>
        </p:nvSpPr>
        <p:spPr>
          <a:xfrm>
            <a:off x="27233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7838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Text 187"/>
          <p:cNvSpPr txBox="1"/>
          <p:nvPr/>
        </p:nvSpPr>
        <p:spPr>
          <a:xfrm>
            <a:off x="35230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156.24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45835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Text 189"/>
          <p:cNvSpPr txBox="1"/>
          <p:nvPr/>
        </p:nvSpPr>
        <p:spPr>
          <a:xfrm>
            <a:off x="43227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260.40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53832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Text 191"/>
          <p:cNvSpPr txBox="1"/>
          <p:nvPr/>
        </p:nvSpPr>
        <p:spPr>
          <a:xfrm>
            <a:off x="51224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364.56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1829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Text 193"/>
          <p:cNvSpPr txBox="1"/>
          <p:nvPr/>
        </p:nvSpPr>
        <p:spPr>
          <a:xfrm>
            <a:off x="59221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468.72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69826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Text 195"/>
          <p:cNvSpPr txBox="1"/>
          <p:nvPr/>
        </p:nvSpPr>
        <p:spPr>
          <a:xfrm>
            <a:off x="67218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572.88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77823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Text 197"/>
          <p:cNvSpPr txBox="1"/>
          <p:nvPr/>
        </p:nvSpPr>
        <p:spPr>
          <a:xfrm>
            <a:off x="75215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677.04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85820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Text 199"/>
          <p:cNvSpPr txBox="1"/>
          <p:nvPr/>
        </p:nvSpPr>
        <p:spPr>
          <a:xfrm>
            <a:off x="83212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781.20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93817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Text 201"/>
          <p:cNvSpPr txBox="1"/>
          <p:nvPr/>
        </p:nvSpPr>
        <p:spPr>
          <a:xfrm>
            <a:off x="91209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885.36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10181426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Text 203"/>
          <p:cNvSpPr txBox="1"/>
          <p:nvPr/>
        </p:nvSpPr>
        <p:spPr>
          <a:xfrm>
            <a:off x="9920654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989.52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2666850" y="5033047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>
            <a:off x="2810275" y="5072162"/>
            <a:ext cx="243387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Text 206"/>
          <p:cNvSpPr txBox="1"/>
          <p:nvPr/>
        </p:nvSpPr>
        <p:spPr>
          <a:xfrm>
            <a:off x="3105816" y="4993931"/>
            <a:ext cx="2607719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시점 (b_tick_cnt 도달)</a:t>
            </a:r>
            <a:endParaRPr lang="en-US" sz="1000" dirty="0"/>
          </a:p>
        </p:txBody>
      </p:sp>
      <p:sp>
        <p:nvSpPr>
          <p:cNvPr id="209" name="Text 207"/>
          <p:cNvSpPr txBox="1"/>
          <p:nvPr/>
        </p:nvSpPr>
        <p:spPr>
          <a:xfrm>
            <a:off x="6096000" y="4993931"/>
            <a:ext cx="3476958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frame = 0x30 '0' (LSB first)</a:t>
            </a:r>
            <a:endParaRPr lang="en-US" sz="1000" dirty="0"/>
          </a:p>
        </p:txBody>
      </p:sp>
      <p:sp>
        <p:nvSpPr>
          <p:cNvPr id="210" name="Shape 208"/>
          <p:cNvSpPr/>
          <p:nvPr/>
        </p:nvSpPr>
        <p:spPr>
          <a:xfrm>
            <a:off x="880563" y="5332934"/>
            <a:ext cx="10430874" cy="1182166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Text 209"/>
          <p:cNvSpPr txBox="1"/>
          <p:nvPr/>
        </p:nvSpPr>
        <p:spPr>
          <a:xfrm>
            <a:off x="1054411" y="5419858"/>
            <a:ext cx="5215437" cy="191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 (tb_measure.sv)</a:t>
            </a:r>
            <a:endParaRPr lang="en-US" sz="1200" dirty="0"/>
          </a:p>
        </p:txBody>
      </p:sp>
      <p:sp>
        <p:nvSpPr>
          <p:cNvPr id="212" name="Text 210"/>
          <p:cNvSpPr txBox="1"/>
          <p:nvPr/>
        </p:nvSpPr>
        <p:spPr>
          <a:xfrm>
            <a:off x="1054411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200" dirty="0"/>
          </a:p>
        </p:txBody>
      </p:sp>
      <p:sp>
        <p:nvSpPr>
          <p:cNvPr id="213" name="Text 211"/>
          <p:cNvSpPr txBox="1"/>
          <p:nvPr/>
        </p:nvSpPr>
        <p:spPr>
          <a:xfrm>
            <a:off x="2097498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6.51 µs</a:t>
            </a:r>
            <a:endParaRPr lang="en-US" sz="1350" dirty="0"/>
          </a:p>
        </p:txBody>
      </p:sp>
      <p:sp>
        <p:nvSpPr>
          <p:cNvPr id="214" name="Text 212"/>
          <p:cNvSpPr txBox="1"/>
          <p:nvPr/>
        </p:nvSpPr>
        <p:spPr>
          <a:xfrm>
            <a:off x="4444445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체류</a:t>
            </a:r>
            <a:endParaRPr lang="en-US" sz="1200" dirty="0"/>
          </a:p>
        </p:txBody>
      </p:sp>
      <p:sp>
        <p:nvSpPr>
          <p:cNvPr id="215" name="Text 213"/>
          <p:cNvSpPr txBox="1"/>
          <p:nvPr/>
        </p:nvSpPr>
        <p:spPr>
          <a:xfrm>
            <a:off x="5487532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1350" dirty="0"/>
          </a:p>
        </p:txBody>
      </p:sp>
      <p:sp>
        <p:nvSpPr>
          <p:cNvPr id="216" name="Text 214"/>
          <p:cNvSpPr txBox="1"/>
          <p:nvPr/>
        </p:nvSpPr>
        <p:spPr>
          <a:xfrm>
            <a:off x="7834479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 간격</a:t>
            </a:r>
            <a:endParaRPr lang="en-US" sz="1200" dirty="0"/>
          </a:p>
        </p:txBody>
      </p:sp>
      <p:sp>
        <p:nvSpPr>
          <p:cNvPr id="217" name="Text 215"/>
          <p:cNvSpPr txBox="1"/>
          <p:nvPr/>
        </p:nvSpPr>
        <p:spPr>
          <a:xfrm>
            <a:off x="8877566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1350" dirty="0"/>
          </a:p>
        </p:txBody>
      </p:sp>
      <p:sp>
        <p:nvSpPr>
          <p:cNvPr id="218" name="Text 216"/>
          <p:cNvSpPr txBox="1"/>
          <p:nvPr/>
        </p:nvSpPr>
        <p:spPr>
          <a:xfrm>
            <a:off x="1054411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sample</a:t>
            </a:r>
            <a:endParaRPr lang="en-US" sz="1200" dirty="0"/>
          </a:p>
        </p:txBody>
      </p:sp>
      <p:sp>
        <p:nvSpPr>
          <p:cNvPr id="219" name="Text 217"/>
          <p:cNvSpPr txBox="1"/>
          <p:nvPr/>
        </p:nvSpPr>
        <p:spPr>
          <a:xfrm>
            <a:off x="2097498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+ 156.245 µs</a:t>
            </a:r>
            <a:endParaRPr lang="en-US" sz="1350" dirty="0"/>
          </a:p>
        </p:txBody>
      </p:sp>
      <p:sp>
        <p:nvSpPr>
          <p:cNvPr id="220" name="Text 218"/>
          <p:cNvSpPr txBox="1"/>
          <p:nvPr/>
        </p:nvSpPr>
        <p:spPr>
          <a:xfrm>
            <a:off x="4444445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</a:t>
            </a:r>
            <a:endParaRPr lang="en-US" sz="1200" dirty="0"/>
          </a:p>
        </p:txBody>
      </p:sp>
      <p:sp>
        <p:nvSpPr>
          <p:cNvPr id="221" name="Text 219"/>
          <p:cNvSpPr txBox="1"/>
          <p:nvPr/>
        </p:nvSpPr>
        <p:spPr>
          <a:xfrm>
            <a:off x="5487532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+ 989.525 µs</a:t>
            </a:r>
            <a:endParaRPr lang="en-US" sz="1350" dirty="0"/>
          </a:p>
        </p:txBody>
      </p:sp>
      <p:sp>
        <p:nvSpPr>
          <p:cNvPr id="222" name="Text 220"/>
          <p:cNvSpPr txBox="1"/>
          <p:nvPr/>
        </p:nvSpPr>
        <p:spPr>
          <a:xfrm>
            <a:off x="7834479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시작</a:t>
            </a:r>
            <a:endParaRPr lang="en-US" sz="1200" dirty="0"/>
          </a:p>
        </p:txBody>
      </p:sp>
      <p:sp>
        <p:nvSpPr>
          <p:cNvPr id="223" name="Text 221"/>
          <p:cNvSpPr txBox="1"/>
          <p:nvPr/>
        </p:nvSpPr>
        <p:spPr>
          <a:xfrm>
            <a:off x="8877566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+ 10 ns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FIFO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FIFO: wptr · rptr 두 포인터로 순서를 지키는 원형 버퍼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= wptr 자리에 쓰고 wptr + 1, pop = rptr + 1 → 두 포인터 비교로 full · empty 판단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pop_data = mem[rptr] → pop 전에도 맨 앞 byte가 출력에 보임 (FWFT)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43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143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72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1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191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096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2096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002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8002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907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23907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63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905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8763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905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715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1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8097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527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2766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4099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34099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528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A · B · 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5147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35147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5147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052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1052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1052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958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46958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46958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863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2863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719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34861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 flipV="1">
            <a:off x="554355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525780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671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34671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7053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0483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1722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3055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63055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6484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D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4103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103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4103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008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70008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70008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914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75914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75914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1819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81819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81819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6675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63817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 flipV="1">
            <a:off x="66675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63817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3627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63627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1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76009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A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9439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90678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92011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92011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95440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× 2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93059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 txBox="1"/>
          <p:nvPr/>
        </p:nvSpPr>
        <p:spPr>
          <a:xfrm>
            <a:off x="93059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85" name="Text 83"/>
          <p:cNvSpPr txBox="1"/>
          <p:nvPr/>
        </p:nvSpPr>
        <p:spPr>
          <a:xfrm>
            <a:off x="93059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8964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98964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88" name="Text 86"/>
          <p:cNvSpPr txBox="1"/>
          <p:nvPr/>
        </p:nvSpPr>
        <p:spPr>
          <a:xfrm>
            <a:off x="98964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4870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104870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91" name="Text 89"/>
          <p:cNvSpPr txBox="1"/>
          <p:nvPr/>
        </p:nvSpPr>
        <p:spPr>
          <a:xfrm>
            <a:off x="104870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10775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110775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94" name="Text 92"/>
          <p:cNvSpPr txBox="1"/>
          <p:nvPr/>
        </p:nvSpPr>
        <p:spPr>
          <a:xfrm>
            <a:off x="110775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7442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104584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 flipV="1">
            <a:off x="95631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92773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92583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92583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0</a:t>
            </a:r>
            <a:endParaRPr lang="en-US" sz="1050" dirty="0"/>
          </a:p>
        </p:txBody>
      </p:sp>
      <p:sp>
        <p:nvSpPr>
          <p:cNvPr id="101" name="Text 99"/>
          <p:cNvSpPr txBox="1"/>
          <p:nvPr/>
        </p:nvSpPr>
        <p:spPr>
          <a:xfrm>
            <a:off x="104965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C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38100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495300" y="5210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 txBox="1"/>
          <p:nvPr/>
        </p:nvSpPr>
        <p:spPr>
          <a:xfrm>
            <a:off x="49530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81915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후 wptr이 rptr을 따라잡음 → full ← 1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619125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6305550" y="5210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 txBox="1"/>
          <p:nvPr/>
        </p:nvSpPr>
        <p:spPr>
          <a:xfrm>
            <a:off x="630555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662940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후 rptr이 wptr을 따라잡음 → empty ← 1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381000" y="5772150"/>
            <a:ext cx="561975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495300" y="5972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495300" y="5972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819150" y="5772150"/>
            <a:ext cx="5086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= rptr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· full 둘 다 같음 → flag로 구분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191250" y="5772150"/>
            <a:ext cx="561975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6305550" y="5972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/>
          <p:cNvSpPr txBox="1"/>
          <p:nvPr/>
        </p:nvSpPr>
        <p:spPr>
          <a:xfrm>
            <a:off x="6305550" y="5972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6629400" y="5772150"/>
            <a:ext cx="5086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FWFT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= 조합 출력 → TX가 바로 맨 앞 byte 사용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속도 관계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≤ FPGA 9600.6 bps → FIFO는 대기 없이 통과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frame 1,041,666.7 ns ≥ TX frame 160 tick = 1,041,600 ns → FIFO가 계속 쌓이지 않음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순간 TX는 이미 IDLE (S3 · S4 TX busy 중 rx_done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→ FIFO는 대기 없이 통과만 (최대 1개)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11430000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71500" y="17716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bit frame 길이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21145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bps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71750" y="2152650"/>
            <a:ext cx="5524500" cy="24765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86750" y="2114550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1,041,666.7 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96500" y="2114550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104,166.67 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" y="25527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FPGA TX 9600.6 bps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71750" y="2590800"/>
            <a:ext cx="5524146" cy="24765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286750" y="2552700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1,041,600 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96500" y="2552700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104,160 ns = 16 tick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1000" y="3238500"/>
            <a:ext cx="11430000" cy="3162300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71500" y="33337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입력 개념도 (비율 무시)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" y="37528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(PC)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" y="42481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1500" y="47434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" y="52387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(TX)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05000" y="3771900"/>
            <a:ext cx="2819400" cy="24765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905000" y="37719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83430" y="4248150"/>
            <a:ext cx="0" cy="28575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78680" y="5257800"/>
            <a:ext cx="2819400" cy="24765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678680" y="52578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64380" y="4762500"/>
            <a:ext cx="152400" cy="247650"/>
          </a:xfrm>
          <a:prstGeom prst="rect">
            <a:avLst/>
          </a:prstGeom>
          <a:solidFill>
            <a:srgbClr val="FDE68A"/>
          </a:solidFill>
          <a:ln w="1587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4564380" y="4762500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62500" y="3771900"/>
            <a:ext cx="2819400" cy="24765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762500" y="37719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40930" y="4248150"/>
            <a:ext cx="0" cy="28575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536180" y="5257800"/>
            <a:ext cx="2819400" cy="24765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7536180" y="52578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21880" y="4762500"/>
            <a:ext cx="152400" cy="247650"/>
          </a:xfrm>
          <a:prstGeom prst="rect">
            <a:avLst/>
          </a:prstGeom>
          <a:solidFill>
            <a:srgbClr val="FDE68A"/>
          </a:solidFill>
          <a:ln w="1587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421880" y="4762500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20000" y="3771900"/>
            <a:ext cx="2819400" cy="24765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620000" y="377190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298430" y="4248150"/>
            <a:ext cx="0" cy="28575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393680" y="5257800"/>
            <a:ext cx="1274445" cy="24765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10393680" y="5257800"/>
            <a:ext cx="12744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279380" y="4762500"/>
            <a:ext cx="152400" cy="247650"/>
          </a:xfrm>
          <a:prstGeom prst="rect">
            <a:avLst/>
          </a:prstGeom>
          <a:solidFill>
            <a:srgbClr val="FDE68A"/>
          </a:solidFill>
          <a:ln w="1587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279380" y="4762500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905000" y="5715000"/>
            <a:ext cx="971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순간 앞 echo는 이미 종료 → byte는 FIFO 2단을 4 clk 동안 통과 → 다음 echo 바로 시작 (S4 frame gap 0 clk)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905000" y="5981700"/>
            <a:ext cx="971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· FIFO_TX 최대 점유 1 = 통과 중인 1 byte · full 0회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블록 다이어그램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uart_fifo_loopback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→ FIFO_RX → FIFO_TX → 송신, 신호 레벨로 연결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FIFO_RX push = rx_done, pop = ~tx_full / FIFO_TX push = ~rx_empty, pop = ~tx_busy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uart_tx tx_start = ~FIFO_TX empty → FIFO에 byte가 있는 동안 계속 송신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24000" y="1638300"/>
            <a:ext cx="9525000" cy="3810000"/>
          </a:xfrm>
          <a:prstGeom prst="roundRect">
            <a:avLst>
              <a:gd name="adj" fmla="val 1500"/>
            </a:avLst>
          </a:prstGeom>
          <a:ln w="19050">
            <a:solidFill>
              <a:srgbClr val="818CF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676400" y="16954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uart_fifo_loopback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09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809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95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095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1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FEFCE8"/>
          </a:solidFill>
          <a:ln w="222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381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67750" y="2133600"/>
            <a:ext cx="2000250" cy="1619250"/>
          </a:xfrm>
          <a:prstGeom prst="roundRect">
            <a:avLst>
              <a:gd name="adj" fmla="val 3529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667750" y="2190750"/>
            <a:ext cx="200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2476500"/>
            <a:ext cx="952500" cy="5715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81000" y="247650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01400" y="2476500"/>
            <a:ext cx="666750" cy="5715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1201400" y="2476500"/>
            <a:ext cx="66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33500" y="2762250"/>
            <a:ext cx="4762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1371600" y="2552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668000" y="2762250"/>
            <a:ext cx="5334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744200" y="2552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10000" y="2628900"/>
            <a:ext cx="285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81940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rx_data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13385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96000" y="2628900"/>
            <a:ext cx="285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10540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1985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82000" y="2628900"/>
            <a:ext cx="285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39140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705850" y="25431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tx_data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10000" y="3048000"/>
            <a:ext cx="28575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281940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13385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752850" y="28384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96000" y="3048000"/>
            <a:ext cx="28575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510540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41985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038850" y="28384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flipH="1">
            <a:off x="6096000" y="3448050"/>
            <a:ext cx="285750" cy="0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510540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41985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038850" y="323850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382000" y="3048000"/>
            <a:ext cx="28575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739140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705850" y="2962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324850" y="28384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H="1">
            <a:off x="8382000" y="3448050"/>
            <a:ext cx="285750" cy="0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739140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705850" y="33623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8324850" y="323850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953000" y="4267200"/>
            <a:ext cx="2667000" cy="609600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4953000" y="430530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baud_tick_gen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4953000" y="455295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 6.51 µs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 flipH="1">
            <a:off x="2809875" y="4572000"/>
            <a:ext cx="2143125" cy="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 flipV="1">
            <a:off x="2809875" y="3752850"/>
            <a:ext cx="0" cy="81915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7620000" y="4572000"/>
            <a:ext cx="2047875" cy="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 flipV="1">
            <a:off x="9667875" y="3752850"/>
            <a:ext cx="0" cy="819150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676400" y="51435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 = 정방향 제어 · 주황 = 역방향 (상대 상태로 pop)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81000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95300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495300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819150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1 clk → FIFO_RX 저장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3267075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3381375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3381375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3705225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전달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비어있지 않고 TX 안 찼을 때 1 byte 이동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153150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6267450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6267450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6591300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FIFO_TX에 byte가 있는 동안 1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9039225" y="5619750"/>
            <a:ext cx="27717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9153525" y="58959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9153525" y="58959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9477375" y="5619750"/>
            <a:ext cx="2238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  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TX가 바쁘지 않을 때 FIFO_TX에서 꺼냄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블록 다이어그램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fifo 내부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= control_unit (포인터 · flag) + register_file (4 × 8 bit)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control_unit: {push, pop}와 full · empty로 wptr · rptr · flag 갱신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register_file: we = push &amp; ~full일 때만 쓰기, 읽기 pop_data = mem[rptr] 조합 출력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05000" y="1676400"/>
            <a:ext cx="8382000" cy="4000500"/>
          </a:xfrm>
          <a:prstGeom prst="roundRect">
            <a:avLst>
              <a:gd name="adj" fmla="val 1429"/>
            </a:avLst>
          </a:prstGeom>
          <a:ln w="19050">
            <a:solidFill>
              <a:srgbClr val="818CF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057400" y="17335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 (DEPTH = 4, BIT_WIDTH = 8)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57500" y="2247900"/>
            <a:ext cx="2476500" cy="1905000"/>
          </a:xfrm>
          <a:prstGeom prst="roundRect">
            <a:avLst>
              <a:gd name="adj" fmla="val 3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857500" y="295275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57500" y="31813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U_UART_CONTROL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857500" y="335280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· rptr · full · empty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39000" y="2247900"/>
            <a:ext cx="2286000" cy="28575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239000" y="2324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10500" y="270510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810500" y="270510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mem[0]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0500" y="318135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810500" y="318135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mem[1]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0500" y="365760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10500" y="365760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mem[2]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0500" y="413385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810500" y="413385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mem[3]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" y="24765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771650" y="2571750"/>
            <a:ext cx="108585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" y="29527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771650" y="3048000"/>
            <a:ext cx="108585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571500" y="44767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771650" y="4572000"/>
            <a:ext cx="54673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296150" y="4486275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0" y="2857500"/>
            <a:ext cx="1905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524500" y="26479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→ waddr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34000" y="3429000"/>
            <a:ext cx="1905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5524500" y="32194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 → raddr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15000" y="3810000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715000" y="38100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&amp; ~full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4000500"/>
            <a:ext cx="38100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296150" y="3914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525000" y="2857500"/>
            <a:ext cx="1047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10629900" y="27622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629900" y="29527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mem[rptr]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095750" y="4152900"/>
            <a:ext cx="0" cy="118110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95750" y="5334000"/>
            <a:ext cx="647700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629900" y="523875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· empty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2057400" y="54102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· reset 공통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81000" y="5905500"/>
            <a:ext cx="5619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95300" y="60483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495300" y="6048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19150" y="5905500"/>
            <a:ext cx="5086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{push, pop} 조합별 포인터 · flag 갱신 (다음 장)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91250" y="5905500"/>
            <a:ext cx="5619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305550" y="60483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6305550" y="6048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629400" y="5905500"/>
            <a:ext cx="5086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쓰기는 clk, 읽기는 조합 → FWFT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동작 설계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control_unit 동작표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{push, pop} × empty · 중간 · full 동작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full일 때 push 무시 · empty일 때 pop 무시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+ pop 동시 — empty: push만 · 중간: 둘 다 · full: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pop만 (구조상 spec)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11430000" cy="3238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/ 상태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empty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 (1 ~ 3개)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empty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= rptr일 경우 full ←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 (we = 0)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= wptr일 경우 empty ←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 + pop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 · empty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 · 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개수 유지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pop만 (spec)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 · full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81000" y="5562600"/>
            <a:ext cx="561975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95300" y="5867400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95300" y="586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19150" y="5562600"/>
            <a:ext cx="50863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+ push·pop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= push &amp; ~full → 쓰기 차단 · pop만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clk 입력 byte는 버려짐 (spec)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91250" y="5562600"/>
            <a:ext cx="561975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305550" y="5867400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305550" y="586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5562600"/>
            <a:ext cx="50863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검증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9가지 경우 모두 기준 모델과 비교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mismatch 0 (414 step)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동작 설계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rx_done → tx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→ tx 시작까지 clk 단위 흐름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→ FIFO_RX push → FIFO_RX pop · FIFO_TX push → tx_start → START → tx fall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→ tx fall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clk (40 ns)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02 직결 구조 2 clk 대비 FIFO 2단 통과로 +2 clk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14350" y="16764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7716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= 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0574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중앙 1 clk pulse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81250" y="24384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1000" y="25527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14350" y="25527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6479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 push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29337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+ 1 · empty ← 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81250" y="33147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81000" y="34290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14350" y="34290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5242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pop · TX push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8100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clk에 1 byte 이동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381250" y="41910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81000" y="43053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514350" y="43053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4005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 = 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46863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empty = 0 → START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81250" y="5067300"/>
            <a:ext cx="0" cy="1143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81000" y="5181600"/>
            <a:ext cx="40005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14350" y="5181600"/>
            <a:ext cx="57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52768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fall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55626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START에서 tx ← 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81000" y="611505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로그 3 clk = rx_done을 negedge에서 기록한 값 (posedge 기준 4 clk)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1676400"/>
            <a:ext cx="7239000" cy="4724400"/>
          </a:xfrm>
          <a:prstGeom prst="roundRect">
            <a:avLst>
              <a:gd name="adj" fmla="val 1613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4572000" y="3524250"/>
            <a:ext cx="723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캡처 영역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4762500" y="3848100"/>
            <a:ext cx="685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첫 byte · rx_done ~ tx fall (clk 단위 확대)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762500" y="4152900"/>
            <a:ext cx="685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wcfg 그룹 3 UART_RX · 4 FIFO_RX · 5 FIFO_TX · 6 UART_TX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 ~ E4 위치에 번호 표시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TB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TB: Sender → DUT → TX Monitor → Scoreboard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송신 byte를 queue에 저장 → tx에서 복원한 echo와 순서대로 비교 (손실 · 중복 · 순서 검출)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FIFO는 TB 안 별도 instance (U_FIFO_UT) + 기준 모델로 매 clk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80975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81000" y="19050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52650"/>
            <a:ext cx="19431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send_byte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bit 104,166.667 ns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104,160 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38500" y="1809750"/>
            <a:ext cx="2667000" cy="11430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238500" y="19050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uart_fifo_loopback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14700" y="2152650"/>
            <a:ext cx="2514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DUT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→ FIFO 2단 → tx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67500" y="180975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667500" y="19050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Monitor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43700" y="2152650"/>
            <a:ext cx="19431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frame 복원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· stop bit 검사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25000" y="1809750"/>
            <a:ext cx="2286000" cy="1143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222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525000" y="190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Scoreboard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2152650"/>
            <a:ext cx="2133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echo #n = exp_q[n]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· 중복 · 순서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76500" y="2381250"/>
            <a:ext cx="762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2667000" y="2171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05500" y="2381250"/>
            <a:ext cx="762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096000" y="2171700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63000" y="2381250"/>
            <a:ext cx="762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858250" y="21717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1000" y="3333750"/>
            <a:ext cx="20955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381000" y="3333750"/>
            <a:ext cx="209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exp_q (송신 순서)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28750" y="2952750"/>
            <a:ext cx="0" cy="38100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476500" y="3600450"/>
            <a:ext cx="8191500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 flipV="1">
            <a:off x="10668000" y="2952750"/>
            <a:ext cx="0" cy="64770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238500" y="4095750"/>
            <a:ext cx="2667000" cy="104775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3238500" y="41910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monitor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314700" y="4438650"/>
            <a:ext cx="2514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횟수 · FIFO count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busy 중 rx_done · latency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0" y="2952750"/>
            <a:ext cx="0" cy="114300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667500" y="4095750"/>
            <a:ext cx="5143500" cy="104775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 w="222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667500" y="4191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743700" y="4438650"/>
            <a:ext cx="49911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시나리오별 PASS / FAIL · 통계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오류: [Sn][ERROR] t=$stime · expected vs result · err_flag 펄스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05500" y="4619625"/>
            <a:ext cx="762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668000" y="2952750"/>
            <a:ext cx="0" cy="11430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81000" y="5429250"/>
            <a:ext cx="1143000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71500" y="5524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전용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71500" y="5791200"/>
            <a:ext cx="11049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U_FIFO_UT (fifo, DEPTH 4)  ⇄  기준 모델 (push는 full 아닐 때만 · pop은 empty 아닐 때만)  →  매 step empty · full · pop_data 비교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시나리오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FIFO 검증 시나리오 5개 모두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— FIFO 단독 · 단일 byte · 9600 연속 · 최악 조건 · glitch 회귀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9600 bps 고정 전제, 최악 조건은 PC = FPGA 속도로 여유 0 tick 재현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11430000" cy="43434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(Stimulus)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신호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FIFO 단독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 시퀀스 + 무작위 400 step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ut_full · ut_empty · ut_pop_data vs 모델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불일치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414 /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byte echo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byte, byte마다 echo 대기 (bit 104,166.667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rx_done, FIFO count, tx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/ 256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9600 bps 연속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byte gap 없이 (bit 104,166.667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echo 순서 · 개수, FIFO 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· 중복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최악 조건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 byte gap 없이 (bit 104,160 ns = FPGA 속도)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 vs TX STOP→IDLE, FIFO_TX 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· 중복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glitch 회귀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 glitch 23 case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 · echo 횟수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 / 23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S1 FIFO 단독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</a:t>
            </a:r>
            <a:r>
              <a:rPr lang="en-US" sz="2400" b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: </a:t>
            </a: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414 Step 모두 기준 모델과 일치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고정 시퀀스 (fill · full 중 push · full 중 push+pop · drain · empty 중 pop) + 무작위 400 step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empty · full · pop_data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 0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full 중 push+pop은 pop만 (spec)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1000" y="3495675"/>
            <a:ext cx="781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캡처 영역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3819525"/>
            <a:ext cx="742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· fill → full → push 무시 → push+pop@full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" y="4124325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wcfg 그룹 7 (S1 FIFO unit test)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= 1 구간 앞부분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414 / 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/ mismatch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경우 (횟수)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&amp; full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&amp; empty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+pop &amp; empty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+pop &amp; mid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82000" y="4533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</a:t>
            </a:r>
            <a:r>
              <a:rPr lang="en-US" sz="130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+pop &amp; full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67950" y="4533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82000" y="4914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순환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67950" y="4914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F272DDF-AEE6-A614-BC29-E423BF59F09D}"/>
              </a:ext>
            </a:extLst>
          </p:cNvPr>
          <p:cNvGrpSpPr/>
          <p:nvPr/>
        </p:nvGrpSpPr>
        <p:grpSpPr>
          <a:xfrm>
            <a:off x="8324848" y="5324473"/>
            <a:ext cx="3743327" cy="1000125"/>
            <a:chOff x="7649289" y="3829050"/>
            <a:chExt cx="3180269" cy="1235054"/>
          </a:xfrm>
        </p:grpSpPr>
        <p:pic>
          <p:nvPicPr>
            <p:cNvPr id="34" name="Image 0" descr="/mnt/c/26_AI_CAMP/System_Verilog/homework/UART_FIFO/_build/img/tb_log_1.png">
              <a:extLst>
                <a:ext uri="{FF2B5EF4-FFF2-40B4-BE49-F238E27FC236}">
                  <a16:creationId xmlns:a16="http://schemas.microsoft.com/office/drawing/2014/main" id="{5EAAE40F-88B6-45D8-886E-52723B97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171" b="67396"/>
            <a:stretch>
              <a:fillRect/>
            </a:stretch>
          </p:blipFill>
          <p:spPr>
            <a:xfrm>
              <a:off x="8393777" y="4130653"/>
              <a:ext cx="2435781" cy="933451"/>
            </a:xfrm>
            <a:prstGeom prst="rect">
              <a:avLst/>
            </a:prstGeom>
          </p:spPr>
        </p:pic>
        <p:pic>
          <p:nvPicPr>
            <p:cNvPr id="36" name="Image 0" descr="/mnt/c/26_AI_CAMP/System_Verilog/homework/UART_FIFO/_build/img/tb_log_1.png">
              <a:extLst>
                <a:ext uri="{FF2B5EF4-FFF2-40B4-BE49-F238E27FC236}">
                  <a16:creationId xmlns:a16="http://schemas.microsoft.com/office/drawing/2014/main" id="{7FC76938-82B9-BC91-9A19-BABAC46C3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6114" b="67396"/>
            <a:stretch>
              <a:fillRect/>
            </a:stretch>
          </p:blipFill>
          <p:spPr>
            <a:xfrm>
              <a:off x="7649289" y="3829050"/>
              <a:ext cx="2913221" cy="933450"/>
            </a:xfrm>
            <a:prstGeom prst="rect">
              <a:avLst/>
            </a:prstGeom>
          </p:spPr>
        </p:pic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98ECADBA-5118-F2C0-10D0-85C8D61E9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75" y="1854384"/>
            <a:ext cx="8142516" cy="22127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S2 단일 Byte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단일 Byte Echo: FIFO 추가 후에도 256 / 256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0x00 ~ 0xFF 무작위 순서 256 byte, byte마다 echo 확인 후 다음 송신 (PC bit 104,166.667 ns)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echo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256 일치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frame error 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19250"/>
            <a:ext cx="7810500" cy="4781550"/>
          </a:xfrm>
          <a:prstGeom prst="roundRect">
            <a:avLst>
              <a:gd name="adj" fmla="val 1594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81000" y="3495675"/>
            <a:ext cx="781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캡처 영역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3819525"/>
            <a:ext cx="742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· byte 1개: rx → FIFO_RX → FIFO_TX → tx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" y="4124325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wcfg 그룹 2 ~ 6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= 2 첫 byte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/ 256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 / echoed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결과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 error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→ tx fall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clk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/ TX max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</a:t>
            </a:r>
            <a:endParaRPr lang="en-US" sz="1500" dirty="0"/>
          </a:p>
        </p:txBody>
      </p:sp>
      <p:pic>
        <p:nvPicPr>
          <p:cNvPr id="30" name="Image 0" descr="/mnt/c/26_AI_CAMP/System_Verilog/homework/UART_FIFO/_build/img/tb_log_1.png">
            <a:extLst>
              <a:ext uri="{FF2B5EF4-FFF2-40B4-BE49-F238E27FC236}">
                <a16:creationId xmlns:a16="http://schemas.microsoft.com/office/drawing/2014/main" id="{F0360802-1529-8177-CB37-D7A36713B0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35" r="21259" b="-3444"/>
          <a:stretch>
            <a:fillRect/>
          </a:stretch>
        </p:blipFill>
        <p:spPr>
          <a:xfrm>
            <a:off x="8281987" y="4619625"/>
            <a:ext cx="3767137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S3 9600 연속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9600 bps 연속 256 Byte: 손실 · 중복 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256 byte를 gap 없이 연속 송신 (PC bit 104,166.667 ns) → echo 순서 · 개수 비교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sent 256 = echoed 256 ·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 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19250"/>
            <a:ext cx="7810500" cy="4781550"/>
          </a:xfrm>
          <a:prstGeom prst="roundRect">
            <a:avLst>
              <a:gd name="adj" fmla="val 1594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81000" y="3495675"/>
            <a:ext cx="781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캡처 영역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3819525"/>
            <a:ext cx="742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· 연속 frame 3 ~ 4개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" y="4124325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wcfg 그룹 0 · 2 · 4 · 5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· tx · FIFO 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/ 256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 / echoed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결과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mismatch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max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max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횟수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82000" y="4533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busy 중 rx_done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67950" y="4533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82000" y="4914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frame gap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67950" y="4914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651 clk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S4 최악 조건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 여유 0 tick 최악 조건: Frame 사이 공백 0 clk로 256 / 256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= FPGA 속도 (bit 104,160 ns) 연속 256 byte → rx_done 간격 = TX frame 길이, 여유 0 tick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순간 TX는 이미 IDLE (busy 중 rx_done 0회) → echo frame 공백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clk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256 손실 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19250"/>
            <a:ext cx="7810500" cy="4781550"/>
          </a:xfrm>
          <a:prstGeom prst="roundRect">
            <a:avLst>
              <a:gd name="adj" fmla="val 1594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81000" y="3495675"/>
            <a:ext cx="781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캡처 영역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3819525"/>
            <a:ext cx="742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 · TX STOP → IDLE과 다음 rx_done이 만나는 순간 (clk 단위 확대)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" y="4124325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wcfg 그룹 3 ~ 6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UART_TX c_state · rx_done · FIFO_TX count · tx_start · tx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/ 256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sent / echoed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82000" y="27051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496300" y="285750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496300" y="28575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77300" y="27622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IDLE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877300" y="29908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echo 종료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82000" y="337185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496300" y="352425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496300" y="35242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877300" y="34290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877300" y="36576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TX는 이미 IDLE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82000" y="403860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496300" y="419100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496300" y="4191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77300" y="40957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2단 통과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877300" y="43243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 1 · 4 clk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82000" y="4705350"/>
            <a:ext cx="342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496300" y="4857750"/>
            <a:ext cx="266700" cy="2667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496300" y="4857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877300" y="4762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877300" y="49911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공백 0 clk로 다음 echo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382000" y="54483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busy 중 rx_done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267950" y="54483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382000" y="58293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max / frame gap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267950" y="58293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0 clk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S5 Glitch 회귀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S5 START Glitch 23 Case: FIFO 구조에서도 유지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02와 같은 glitch 23 case (single 16 · burst 2 · glitch 뒤 byte 5)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23 PASS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uart_rx 동일, 02 트러블 슈팅 결과 유지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4953000" cy="20574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처리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 loopback (수정 전)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 재확인 없음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 loopback (수정 후)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중 rx = 1 → IDLE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04 FIFO loopback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uart_rx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81000" y="4191000"/>
            <a:ext cx="495300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95300" y="447675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95300" y="4476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19150" y="4191000"/>
            <a:ext cx="4419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glitch 입력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edge 기준 on / off-tick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ns ~ 50 µs (부록: 02 덱)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81000" y="5143500"/>
            <a:ext cx="495300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95300" y="5429250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95300" y="5429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7"/>
          <p:cNvSpPr txBox="1"/>
          <p:nvPr/>
        </p:nvSpPr>
        <p:spPr>
          <a:xfrm>
            <a:off x="819150" y="5143500"/>
            <a:ext cx="4419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판정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glitch만 → rx_done · echo 0회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뒤 byte → 정상 1회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19750" y="1619250"/>
            <a:ext cx="6191250" cy="4781550"/>
          </a:xfrm>
          <a:prstGeom prst="roundRect">
            <a:avLst>
              <a:gd name="adj" fmla="val 1594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619750" y="3495675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파형 캡처 영역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810250" y="3819525"/>
            <a:ext cx="581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S5 · Tcl console 결과 로그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810250" y="4124325"/>
            <a:ext cx="5810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"[S5] START glitch regression : PASS" 블록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 표 포함 가능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트러블 슈팅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경계 동작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중 확인한 경계 동작 2가지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모두 PASS → FAIL로 이어진 문제 없음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구조상 동작 2가지 확인 — full 중 push+pop은 pop만 · FIFO_TX pop = ~tx_busy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5619750" cy="4724400"/>
          </a:xfrm>
          <a:prstGeom prst="roundRect">
            <a:avLst>
              <a:gd name="adj" fmla="val 16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1809750"/>
            <a:ext cx="266700" cy="2667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33400" y="1809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179070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+ push · pop 동시 → pop만 (구조상 spec)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2247900"/>
            <a:ext cx="52006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register_file we = push &amp; ~full → full 상태에서는 쓰기 차단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control_unit은 pop만 진행 → 그 clk의 입력 byte는 버려짐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시스템에서는 FIFO_RX가 full일 때만 해당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S1에서 push+pop@full 경우를 모델과 비교 → 일치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47625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full 횟수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69958" y="47625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1816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push+pop@full 횟수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69958" y="51816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91250" y="1676400"/>
            <a:ext cx="5619750" cy="4724400"/>
          </a:xfrm>
          <a:prstGeom prst="roundRect">
            <a:avLst>
              <a:gd name="adj" fmla="val 16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43650" y="1809750"/>
            <a:ext cx="266700" cy="2667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43650" y="1809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24650" y="179070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pop = ~tx_busy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19850" y="2247900"/>
            <a:ext cx="52006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tx_busy는 START 진입 다음 clk에 1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TX가 IDLE에서 시작하는 순간 FIFO_TX에 2개가 있을 경우 추가 pop 가능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고정 → FIFO_TX 최대 1개 (S2 ~ S4 실측) → 재현 조건 없음</a:t>
            </a:r>
            <a:endParaRPr lang="en-US" sz="140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echo 손실 0으로 영향 없음 확인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19850" y="47625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S4 FIFO_TX max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80208" y="47625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19850" y="5181600"/>
            <a:ext cx="28603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echo 손실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80208" y="5181600"/>
            <a:ext cx="2340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·  결론 · 고찰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결론 · 고찰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2단 구조로 연속 입력 Echo 손실 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모두 PASS — FIFO 단독 · 단일 byte · 9600 연속 · 최악 조건 · glitch 회귀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9600 고정에서 FIFO는 대기 없이 통과 (최대 1개) · 지연 +2 clk → 연속 입력 echo 손실 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6383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962150"/>
          <a:ext cx="6096000" cy="28003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 FIFO 단독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414 step · mismatch 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 단일 byte echo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9600 bps 연속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S4 최악 조건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S5 START glitch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762750" y="1638300"/>
            <a:ext cx="5048250" cy="219075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762750" y="163830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915150" y="16383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고찰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15150" y="203835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9600 고정 → TX busy 중 rx_done 0회, FIFO 최대 1개 → 보관 기능은 이 조건에서 쓰이지 않음 (PC가 더 빠를 경우 대비)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· overflow는 시스템 입력으로 재현 불가 → FIFO 단독 TB (S1)로 검증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FIFO_RX full 미연결 → overflow 발생 시 표시 없음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762750" y="4000500"/>
            <a:ext cx="5048250" cy="24003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762750" y="400050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15150" y="40005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15150" y="440055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FIFO_TX pop을 uart_tx가 tx_data를 받는 순간과 일치시키는 handshake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· overflow flag를 top 출력으로 → 손실 감지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구간 3 sample 다수결 (02 고찰 유지)</a:t>
            </a:r>
            <a:endParaRPr lang="en-US" sz="1350" dirty="0"/>
          </a:p>
        </p:txBody>
      </p:sp>
      <p:sp>
        <p:nvSpPr>
          <p:cNvPr id="13" name="Text 19"/>
          <p:cNvSpPr txBox="1"/>
          <p:nvPr/>
        </p:nvSpPr>
        <p:spPr>
          <a:xfrm>
            <a:off x="381000" y="51435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요약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8100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38100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77165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92405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192405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FIFO_RX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31470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346710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FEFCE8"/>
          </a:solidFill>
          <a:ln w="22225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346710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FIFO_TX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85775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501015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501015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8125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004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810000"/>
            <a:ext cx="1219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Margin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Margin: Start 검출 지연 최대 1 tick → 늦은 쪽 43.75 %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Margin = sampling 시점에서 bit 경계까지 남은 거리, bit 중앙 sampling = 양쪽 8 tick (50 %)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 fall은 b_tick 순간에만 검출 → 0 ~ 1 tick 늦게 START → 늦은 쪽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tick = 43.75 %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88595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지연 0</a:t>
            </a:r>
            <a:endParaRPr lang="en-US" sz="14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(edge = b_tick)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81200" y="186690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867900" y="186690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857500" y="1866900"/>
            <a:ext cx="701040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956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7338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719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101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482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9245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627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008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2390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6771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1153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5534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9916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4297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981200" y="18669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bit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867900" y="18669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bit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670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196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9248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774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2700" y="1733550"/>
            <a:ext cx="0" cy="72390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305550" y="1676400"/>
            <a:ext cx="114300" cy="1143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8956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 flipH="1">
            <a:off x="28956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4008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 flipH="1">
            <a:off x="64008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2857500" y="2705100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362700" y="2705100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= 50.00 %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381000" y="3352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지연 1 tick</a:t>
            </a:r>
            <a:endParaRPr lang="en-US" sz="14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(worst)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981200" y="333375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867900" y="333375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2857500" y="3333750"/>
            <a:ext cx="701040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2956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7338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1719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6101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0482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4864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9245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3627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68008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72390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76771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1153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5534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89916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4297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1981200" y="3333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bit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9867900" y="3333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bit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26670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4196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61722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79248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96774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00850" y="3200400"/>
            <a:ext cx="0" cy="72390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6743700" y="3143250"/>
            <a:ext cx="114300" cy="1143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2895600" y="4133850"/>
            <a:ext cx="386715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 flipH="1">
            <a:off x="2895600" y="4133850"/>
            <a:ext cx="386715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6838950" y="4133850"/>
            <a:ext cx="29908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 flipH="1">
            <a:off x="6838950" y="4133850"/>
            <a:ext cx="29908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2857500" y="4171950"/>
            <a:ext cx="394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tick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800850" y="4171950"/>
            <a:ext cx="3067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tick = 43.75 %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6477000" y="163830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시점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81000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95300" y="50482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495300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819150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 원인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= 1 순간만 rx 확인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최대 1 tick 늦게 START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4238625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4352925" y="50482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4352925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4676775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늦은 쪽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sample이 오른쪽으로 밀림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다음 bit까지 7 tick (43.75 %)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8096250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8210550" y="50482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8210550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8534400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이른 쪽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여유는 8 ~ 9 tick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최소 50 % 유지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381000" y="5676900"/>
            <a:ext cx="1143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819150" y="5676900"/>
            <a:ext cx="1089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누적 X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START마다 falling edge로 다시 정렬 → 지연은 frame마다 초기화, xsim에서 모든 frame rx fall → rx_done 989.525 µs 동일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16x 선택 이유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16x: Margin · Baud 정확도 · 최대 속도의 균형점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Oversampling N을 키워도 worst margin = 50 − 100/N %로 조금씩만 증가 (16x 43.75 % → 32x 46.88 %)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N이 클수록 F_COUNT 정수 내림 오차 ↑ (32x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+0.16 %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· 같은 clk에서 최대 baud = clk ÷ N ↓</a:t>
            </a:r>
            <a:endParaRPr lang="en-US" sz="15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381000" y="16764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000750" y="1714500"/>
            <a:ext cx="581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F_COUNT = 100 MHz ÷ (9600 × N), Verilog 정수 나눗셈 내림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0750" y="2000250"/>
          <a:ext cx="5810250" cy="26289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F_COUNT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baud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baud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2604.17 → 2604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25.00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1302.08 → 1302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12.50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651.04 → 651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6.25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325.52 → 325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9615.38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+0.16 %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3.125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162.76 → 162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9645.06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+0.47 %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1.563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000750" y="4762500"/>
            <a:ext cx="58102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115050" y="50101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11505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438900" y="4762500"/>
            <a:ext cx="5276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16x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margin 43.75 % · 오차 +0.0064 % · 최대 6.25 Mbps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9600 bps에 충분, 업계 표준 배수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381000" y="5676900"/>
            <a:ext cx="1143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19150" y="5676900"/>
            <a:ext cx="1089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더 키울 경우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32x: margin +3.1 %p 대신 baud 오차 25배 · 최대 속도 절반 → 노이즈 대책은 N보다 sample 다수결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uart_rx ASM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 ASM: START 중앙 정렬 후 16 tick마다 Sampling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 fall 검출 → START 8 tick 동안 rx = 0 유지 확인,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= 1일 경우 IDLE 복귀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(glitch 거름) → bit 중앙 도달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DATA에서 16 tick마다 1 bit shift (8회) → STOP 중앙에서 rx_done 1 clk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17714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5856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12044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17714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7267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47267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17714" y="3024853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635808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7267" y="3241982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147267" y="3241982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88160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2124348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88160" y="3459111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124348" y="3314359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V="1">
            <a:off x="3327605" y="1812549"/>
            <a:ext cx="0" cy="1646562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H="1">
            <a:off x="1617714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586049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95940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635808" y="3694334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17714" y="3676240"/>
            <a:ext cx="0" cy="2189384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17714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 flipV="1">
            <a:off x="3508546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08546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617714" y="1577326"/>
            <a:ext cx="0" cy="126659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255832" y="1541138"/>
            <a:ext cx="307599" cy="144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31827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89969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3626157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31827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915663" y="2590595"/>
            <a:ext cx="832328" cy="39807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3915663" y="2590595"/>
            <a:ext cx="832328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47991" y="2789630"/>
            <a:ext cx="189988" cy="0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4784179" y="264487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37978" y="2536313"/>
            <a:ext cx="1013269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4956073" y="2536313"/>
            <a:ext cx="977081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8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4613" y="3042947"/>
            <a:ext cx="0" cy="108565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100825" y="3151512"/>
            <a:ext cx="687575" cy="180941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5100825" y="3151512"/>
            <a:ext cx="687575" cy="18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IDLE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31827" y="2988665"/>
            <a:ext cx="0" cy="289505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4349921" y="3006759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61380" y="3278170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3861380" y="3278170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2273" y="3495299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4838461" y="33505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31827" y="3712428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4349921" y="3730523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70910" y="3857181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3770910" y="3857181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92743" y="4146687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4901790" y="4164781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046543" y="3947652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5064637" y="3947652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987435" y="4146687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331827" y="4436192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4349921" y="4454286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08063" y="4580945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3626157" y="4580945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 flipV="1">
            <a:off x="6041718" y="1812549"/>
            <a:ext cx="0" cy="2334137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 flipH="1">
            <a:off x="4331827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4300162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6010053" y="346363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4331827" y="5087579"/>
            <a:ext cx="0" cy="77804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4331827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 flipV="1">
            <a:off x="6222659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6222659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7045940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304082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6340270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045940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6575493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6575493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045940" y="3024853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7064034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485023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6485023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516386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7552574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606856" y="3459111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7615903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760656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7778750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701548" y="3459111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7045940" y="3748617"/>
            <a:ext cx="0" cy="162847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 txBox="1"/>
          <p:nvPr/>
        </p:nvSpPr>
        <p:spPr>
          <a:xfrm>
            <a:off x="7064034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322176" y="3911463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 txBox="1"/>
          <p:nvPr/>
        </p:nvSpPr>
        <p:spPr>
          <a:xfrm>
            <a:off x="6340270" y="3911463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{rx, data_reg[7:1]}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045940" y="4418098"/>
            <a:ext cx="0" cy="180941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6485023" y="4599039"/>
            <a:ext cx="1121833" cy="54282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 txBox="1"/>
          <p:nvPr/>
        </p:nvSpPr>
        <p:spPr>
          <a:xfrm>
            <a:off x="6485023" y="4599039"/>
            <a:ext cx="1121833" cy="5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7606856" y="4870450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 txBox="1"/>
          <p:nvPr/>
        </p:nvSpPr>
        <p:spPr>
          <a:xfrm>
            <a:off x="7615903" y="4888544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760656" y="4671415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 txBox="1"/>
          <p:nvPr/>
        </p:nvSpPr>
        <p:spPr>
          <a:xfrm>
            <a:off x="7778750" y="4671415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+ 1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701548" y="4870450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 flipV="1">
            <a:off x="8755831" y="1812549"/>
            <a:ext cx="0" cy="3057901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 flipH="1">
            <a:off x="7045940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7014275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8724166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8724166" y="3427447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 txBox="1"/>
          <p:nvPr/>
        </p:nvSpPr>
        <p:spPr>
          <a:xfrm>
            <a:off x="7064034" y="5159955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7045940" y="5141861"/>
            <a:ext cx="0" cy="72376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7045940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 flipV="1">
            <a:off x="8936772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8936772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9760052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 txBox="1"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9018195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 txBox="1"/>
          <p:nvPr/>
        </p:nvSpPr>
        <p:spPr>
          <a:xfrm>
            <a:off x="9054383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9760052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9289606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 txBox="1"/>
          <p:nvPr/>
        </p:nvSpPr>
        <p:spPr>
          <a:xfrm>
            <a:off x="9289606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9760052" y="3024853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 txBox="1"/>
          <p:nvPr/>
        </p:nvSpPr>
        <p:spPr>
          <a:xfrm>
            <a:off x="9778147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9199136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 txBox="1"/>
          <p:nvPr/>
        </p:nvSpPr>
        <p:spPr>
          <a:xfrm>
            <a:off x="9199136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230499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 txBox="1"/>
          <p:nvPr/>
        </p:nvSpPr>
        <p:spPr>
          <a:xfrm>
            <a:off x="10266687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10320969" y="3459111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 txBox="1"/>
          <p:nvPr/>
        </p:nvSpPr>
        <p:spPr>
          <a:xfrm>
            <a:off x="10330016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10474769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 txBox="1"/>
          <p:nvPr/>
        </p:nvSpPr>
        <p:spPr>
          <a:xfrm>
            <a:off x="10492863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1415661" y="3459111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9760052" y="3748617"/>
            <a:ext cx="0" cy="162847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 txBox="1"/>
          <p:nvPr/>
        </p:nvSpPr>
        <p:spPr>
          <a:xfrm>
            <a:off x="9778147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9126759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 142"/>
          <p:cNvSpPr txBox="1"/>
          <p:nvPr/>
        </p:nvSpPr>
        <p:spPr>
          <a:xfrm>
            <a:off x="9144853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1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 flipV="1">
            <a:off x="11469944" y="1812549"/>
            <a:ext cx="0" cy="1646562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 flipH="1">
            <a:off x="9760052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9728388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11438279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9760052" y="4219063"/>
            <a:ext cx="0" cy="1954161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 flipH="1">
            <a:off x="794433" y="6173224"/>
            <a:ext cx="8965620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 flipV="1">
            <a:off x="794433" y="1703985"/>
            <a:ext cx="0" cy="446923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>
            <a:off x="794433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Text 151"/>
          <p:cNvSpPr txBox="1"/>
          <p:nvPr/>
        </p:nvSpPr>
        <p:spPr>
          <a:xfrm>
            <a:off x="1717231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검출</a:t>
            </a:r>
            <a:endParaRPr lang="en-US" sz="1000" dirty="0"/>
          </a:p>
        </p:txBody>
      </p:sp>
      <p:sp>
        <p:nvSpPr>
          <p:cNvPr id="154" name="Text 152"/>
          <p:cNvSpPr txBox="1"/>
          <p:nvPr/>
        </p:nvSpPr>
        <p:spPr>
          <a:xfrm>
            <a:off x="4431344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· 52.08 µs</a:t>
            </a:r>
            <a:endParaRPr lang="en-US" sz="1000" dirty="0"/>
          </a:p>
        </p:txBody>
      </p:sp>
      <p:sp>
        <p:nvSpPr>
          <p:cNvPr id="155" name="Text 153"/>
          <p:cNvSpPr txBox="1"/>
          <p:nvPr/>
        </p:nvSpPr>
        <p:spPr>
          <a:xfrm>
            <a:off x="7145457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00" dirty="0"/>
          </a:p>
        </p:txBody>
      </p:sp>
      <p:sp>
        <p:nvSpPr>
          <p:cNvPr id="156" name="Text 154"/>
          <p:cNvSpPr txBox="1"/>
          <p:nvPr/>
        </p:nvSpPr>
        <p:spPr>
          <a:xfrm>
            <a:off x="9859570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848715" y="6336071"/>
            <a:ext cx="361882" cy="9047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>
            <a:off x="848715" y="6426541"/>
            <a:ext cx="361882" cy="126659"/>
          </a:xfrm>
          <a:prstGeom prst="rect">
            <a:avLst/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Text 157"/>
          <p:cNvSpPr txBox="1"/>
          <p:nvPr/>
        </p:nvSpPr>
        <p:spPr>
          <a:xfrm>
            <a:off x="1282973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</a:t>
            </a:r>
            <a:endParaRPr lang="en-US" sz="1050" dirty="0"/>
          </a:p>
        </p:txBody>
      </p:sp>
      <p:sp>
        <p:nvSpPr>
          <p:cNvPr id="160" name="Shape 158"/>
          <p:cNvSpPr/>
          <p:nvPr/>
        </p:nvSpPr>
        <p:spPr>
          <a:xfrm>
            <a:off x="2386712" y="6327024"/>
            <a:ext cx="361882" cy="235223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Text 159"/>
          <p:cNvSpPr txBox="1"/>
          <p:nvPr/>
        </p:nvSpPr>
        <p:spPr>
          <a:xfrm>
            <a:off x="2820970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050" dirty="0"/>
          </a:p>
        </p:txBody>
      </p:sp>
      <p:sp>
        <p:nvSpPr>
          <p:cNvPr id="162" name="Shape 160"/>
          <p:cNvSpPr/>
          <p:nvPr/>
        </p:nvSpPr>
        <p:spPr>
          <a:xfrm>
            <a:off x="3924710" y="6354165"/>
            <a:ext cx="398070" cy="1809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 161"/>
          <p:cNvSpPr txBox="1"/>
          <p:nvPr/>
        </p:nvSpPr>
        <p:spPr>
          <a:xfrm>
            <a:off x="4395156" y="6336071"/>
            <a:ext cx="1537997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5987435" y="6408447"/>
            <a:ext cx="72376" cy="72376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Text 163"/>
          <p:cNvSpPr txBox="1"/>
          <p:nvPr/>
        </p:nvSpPr>
        <p:spPr>
          <a:xfrm>
            <a:off x="6114094" y="6336071"/>
            <a:ext cx="904704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050" dirty="0"/>
          </a:p>
        </p:txBody>
      </p:sp>
      <p:sp>
        <p:nvSpPr>
          <p:cNvPr id="166" name="Text 164"/>
          <p:cNvSpPr txBox="1"/>
          <p:nvPr/>
        </p:nvSpPr>
        <p:spPr>
          <a:xfrm>
            <a:off x="7272116" y="6336071"/>
            <a:ext cx="3980699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uart_tx ASM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uart_tx ASM: tx_start 후 각 Bit 16 tick 유지, LSB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IDLE에서 tx_start = 1 → tx_data latch → START(0) · D0 ~ D7 · STOP(1) 각 16 tick 송신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tx_start는 IDLE에서만 확인, tx_busy는 START ~ STOP 동안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17714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5856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12044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17714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11079" y="2590595"/>
            <a:ext cx="1013269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1079" y="2590595"/>
            <a:ext cx="1013269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4348" y="2807724"/>
            <a:ext cx="1203257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2160536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 flipV="1">
            <a:off x="3327605" y="1812549"/>
            <a:ext cx="0" cy="995175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H="1">
            <a:off x="1617714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86049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617714" y="3024853"/>
            <a:ext cx="0" cy="23522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635808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3950" y="3260076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12044" y="3260076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tx_data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17714" y="3766711"/>
            <a:ext cx="0" cy="209891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617714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 flipV="1">
            <a:off x="3508546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508546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617714" y="1577326"/>
            <a:ext cx="0" cy="126659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1255832" y="1541138"/>
            <a:ext cx="307599" cy="144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31827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89969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3626157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0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31827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861380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3861380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31827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4349921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70910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3770910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2273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4838461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743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4901790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46543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5064637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87435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331827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4349921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98534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3716628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 flipV="1">
            <a:off x="6041718" y="1812549"/>
            <a:ext cx="0" cy="1646562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 flipH="1">
            <a:off x="4331827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4300162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010053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331827" y="4219063"/>
            <a:ext cx="0" cy="164656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331827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 flipV="1">
            <a:off x="6222659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222659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7045940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304082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6340270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data_reg[0]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045940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6575493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6575493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045940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7064034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485023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6485023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516386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7552574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606856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7615903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760656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7778750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701548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7045940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 txBox="1"/>
          <p:nvPr/>
        </p:nvSpPr>
        <p:spPr>
          <a:xfrm>
            <a:off x="7064034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412647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6430741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045940" y="4219063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6485023" y="4381910"/>
            <a:ext cx="1121833" cy="54282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6485023" y="4381910"/>
            <a:ext cx="1121833" cy="5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606856" y="4653321"/>
            <a:ext cx="48854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8095397" y="4653321"/>
            <a:ext cx="0" cy="379976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7615903" y="4508568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507339" y="5033297"/>
            <a:ext cx="1176116" cy="6151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7525433" y="5033297"/>
            <a:ext cx="1139927" cy="61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{0, data_reg[7:1]}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+ 1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8683454" y="5340896"/>
            <a:ext cx="72376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 flipV="1">
            <a:off x="8755831" y="1812549"/>
            <a:ext cx="0" cy="3528347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 flipH="1">
            <a:off x="7045940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7014275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8724166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8724166" y="3427447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 txBox="1"/>
          <p:nvPr/>
        </p:nvSpPr>
        <p:spPr>
          <a:xfrm>
            <a:off x="7064034" y="4942826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7045940" y="4924732"/>
            <a:ext cx="0" cy="94089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7045940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 flipV="1">
            <a:off x="8936772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8936772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9760052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 txBox="1"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9018195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9054383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760052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9289606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 txBox="1"/>
          <p:nvPr/>
        </p:nvSpPr>
        <p:spPr>
          <a:xfrm>
            <a:off x="9289606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9760052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 txBox="1"/>
          <p:nvPr/>
        </p:nvSpPr>
        <p:spPr>
          <a:xfrm>
            <a:off x="9778147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9199136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 txBox="1"/>
          <p:nvPr/>
        </p:nvSpPr>
        <p:spPr>
          <a:xfrm>
            <a:off x="9199136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0230499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 txBox="1"/>
          <p:nvPr/>
        </p:nvSpPr>
        <p:spPr>
          <a:xfrm>
            <a:off x="10266687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10320969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 txBox="1"/>
          <p:nvPr/>
        </p:nvSpPr>
        <p:spPr>
          <a:xfrm>
            <a:off x="10330016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10474769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 txBox="1"/>
          <p:nvPr/>
        </p:nvSpPr>
        <p:spPr>
          <a:xfrm>
            <a:off x="10492863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11415661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9760052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26"/>
          <p:cNvSpPr txBox="1"/>
          <p:nvPr/>
        </p:nvSpPr>
        <p:spPr>
          <a:xfrm>
            <a:off x="9778147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9126759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8"/>
          <p:cNvSpPr txBox="1"/>
          <p:nvPr/>
        </p:nvSpPr>
        <p:spPr>
          <a:xfrm>
            <a:off x="9144853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 flipV="1">
            <a:off x="11469944" y="1812549"/>
            <a:ext cx="0" cy="1646562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 flipH="1">
            <a:off x="9760052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9728388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11438279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9760052" y="4219063"/>
            <a:ext cx="0" cy="1954161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 flipH="1">
            <a:off x="794433" y="6173224"/>
            <a:ext cx="89656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 flipV="1">
            <a:off x="794433" y="1703985"/>
            <a:ext cx="0" cy="446923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794433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 txBox="1"/>
          <p:nvPr/>
        </p:nvSpPr>
        <p:spPr>
          <a:xfrm>
            <a:off x="1717231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대기</a:t>
            </a:r>
            <a:endParaRPr lang="en-US" sz="1000" dirty="0"/>
          </a:p>
        </p:txBody>
      </p:sp>
      <p:sp>
        <p:nvSpPr>
          <p:cNvPr id="140" name="Text 138"/>
          <p:cNvSpPr txBox="1"/>
          <p:nvPr/>
        </p:nvSpPr>
        <p:spPr>
          <a:xfrm>
            <a:off x="4431344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104.15 µs</a:t>
            </a:r>
            <a:endParaRPr lang="en-US" sz="1000" dirty="0"/>
          </a:p>
        </p:txBody>
      </p:sp>
      <p:sp>
        <p:nvSpPr>
          <p:cNvPr id="141" name="Text 139"/>
          <p:cNvSpPr txBox="1"/>
          <p:nvPr/>
        </p:nvSpPr>
        <p:spPr>
          <a:xfrm>
            <a:off x="7145457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00" dirty="0"/>
          </a:p>
        </p:txBody>
      </p:sp>
      <p:sp>
        <p:nvSpPr>
          <p:cNvPr id="142" name="Text 140"/>
          <p:cNvSpPr txBox="1"/>
          <p:nvPr/>
        </p:nvSpPr>
        <p:spPr>
          <a:xfrm>
            <a:off x="9859570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848715" y="6336071"/>
            <a:ext cx="361882" cy="9047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848715" y="6426541"/>
            <a:ext cx="361882" cy="126659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/>
          <p:cNvSpPr txBox="1"/>
          <p:nvPr/>
        </p:nvSpPr>
        <p:spPr>
          <a:xfrm>
            <a:off x="1282973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</a:t>
            </a:r>
            <a:endParaRPr lang="en-US" sz="1050" dirty="0"/>
          </a:p>
        </p:txBody>
      </p:sp>
      <p:sp>
        <p:nvSpPr>
          <p:cNvPr id="146" name="Shape 144"/>
          <p:cNvSpPr/>
          <p:nvPr/>
        </p:nvSpPr>
        <p:spPr>
          <a:xfrm>
            <a:off x="2386712" y="6327024"/>
            <a:ext cx="361882" cy="235223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 txBox="1"/>
          <p:nvPr/>
        </p:nvSpPr>
        <p:spPr>
          <a:xfrm>
            <a:off x="2820970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3924710" y="6354165"/>
            <a:ext cx="398070" cy="1809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147"/>
          <p:cNvSpPr txBox="1"/>
          <p:nvPr/>
        </p:nvSpPr>
        <p:spPr>
          <a:xfrm>
            <a:off x="4395156" y="6336071"/>
            <a:ext cx="1537997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</a:t>
            </a:r>
            <a:endParaRPr lang="en-US" sz="1050" dirty="0"/>
          </a:p>
        </p:txBody>
      </p:sp>
      <p:sp>
        <p:nvSpPr>
          <p:cNvPr id="150" name="Shape 148"/>
          <p:cNvSpPr/>
          <p:nvPr/>
        </p:nvSpPr>
        <p:spPr>
          <a:xfrm>
            <a:off x="5987435" y="6408447"/>
            <a:ext cx="72376" cy="72376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149"/>
          <p:cNvSpPr txBox="1"/>
          <p:nvPr/>
        </p:nvSpPr>
        <p:spPr>
          <a:xfrm>
            <a:off x="6114094" y="6336071"/>
            <a:ext cx="904704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7272116" y="6336071"/>
            <a:ext cx="3980699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TB 로그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로그: 시나리오 5개 모두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+ FIFO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S1 414 step mismatch 0 · S2 ~ S4 256 / 256 · S5 23 / 23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S2 ~ S4 FIFO 최대 1 · full 0 · TX busy 중 rx_done 0 · latency 로그 3 clk (negedge 기준, posedge 기준 4 clk)</a:t>
            </a:r>
            <a:endParaRPr lang="en-US" sz="1500" dirty="0"/>
          </a:p>
        </p:txBody>
      </p:sp>
      <p:pic>
        <p:nvPicPr>
          <p:cNvPr id="12" name="Image 0" descr="/mnt/c/26_AI_CAMP/System_Verilog/homework/UART_FIFO/_build/img/tb_log_1.png"/>
          <p:cNvPicPr>
            <a:picLocks noChangeAspect="1"/>
          </p:cNvPicPr>
          <p:nvPr/>
        </p:nvPicPr>
        <p:blipFill>
          <a:blip r:embed="rId3"/>
          <a:srcRect t="32935" b="-3444"/>
          <a:stretch>
            <a:fillRect/>
          </a:stretch>
        </p:blipFill>
        <p:spPr>
          <a:xfrm>
            <a:off x="381000" y="1638300"/>
            <a:ext cx="5905500" cy="1447800"/>
          </a:xfrm>
          <a:prstGeom prst="rect">
            <a:avLst/>
          </a:prstGeom>
        </p:spPr>
      </p:pic>
      <p:pic>
        <p:nvPicPr>
          <p:cNvPr id="13" name="Image 1" descr="/mnt/c/26_AI_CAMP/System_Verilog/homework/UART_FIFO/_build/img/tb_lo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638300"/>
            <a:ext cx="5238750" cy="2877766"/>
          </a:xfrm>
          <a:prstGeom prst="rect">
            <a:avLst/>
          </a:prstGeom>
        </p:spPr>
      </p:pic>
      <p:pic>
        <p:nvPicPr>
          <p:cNvPr id="14" name="Image 2" descr="/mnt/c/26_AI_CAMP/System_Verilog/homework/UART_FIFO/_build/img/tb_log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905250"/>
            <a:ext cx="4953000" cy="2460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5065</Words>
  <Application>Microsoft Office PowerPoint</Application>
  <PresentationFormat>와이드스크린</PresentationFormat>
  <Paragraphs>1103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UART + FIFO Loopback</dc:title>
  <dc:subject>PptxGenJS Presentation</dc:subject>
  <dc:creator>정안성</dc:creator>
  <cp:lastModifiedBy>안성 정</cp:lastModifiedBy>
  <cp:revision>2</cp:revision>
  <dcterms:created xsi:type="dcterms:W3CDTF">2026-10-25T16:14:56Z</dcterms:created>
  <dcterms:modified xsi:type="dcterms:W3CDTF">2026-10-25T17:40:17Z</dcterms:modified>
</cp:coreProperties>
</file>