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84" r:id="rId6"/>
    <p:sldId id="287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85" r:id="rId16"/>
    <p:sldId id="269" r:id="rId17"/>
    <p:sldId id="270" r:id="rId18"/>
    <p:sldId id="271" r:id="rId19"/>
    <p:sldId id="272" r:id="rId20"/>
    <p:sldId id="274" r:id="rId21"/>
    <p:sldId id="275" r:id="rId22"/>
    <p:sldId id="276" r:id="rId23"/>
    <p:sldId id="283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0515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F59E0B"/>
                </a:solidFill>
                <a:latin typeface="맑은 고딕"/>
                <a:ea typeface="맑은 고딕"/>
                <a:cs typeface="맑은 고딕"/>
              </a:rPr>
              <a:t>VERILOG ·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100 MHz 클럭 + 10 Hz Tick으로 만든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0 ~ 9999 카운터 · 4-Digit FND 표시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5585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3E3"/>
                </a:solidFill>
                <a:latin typeface="맑은 고딕"/>
                <a:ea typeface="맑은 고딕"/>
                <a:cs typeface="맑은 고딕"/>
              </a:rPr>
              <a:t>RTL 설계 · 합성 · 시뮬레이션 · Basys3 보드 검증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3E3"/>
                </a:solidFill>
                <a:latin typeface="맑은 고딕"/>
                <a:ea typeface="맑은 고딕"/>
                <a:cs typeface="맑은 고딕"/>
              </a:rPr>
              <a:t>v1 Tick 카운터  →  v2 스위치 제어 (CLEAR &gt; STOP &gt; DOWN)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064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C9D3E3"/>
                </a:solidFill>
                <a:latin typeface="맑은 고딕"/>
                <a:ea typeface="맑은 고딕"/>
                <a:cs typeface="맑은 고딕"/>
              </a:rPr>
              <a:t>정안성  ·  2026. 10. 07</a:t>
            </a:r>
          </a:p>
        </p:txBody>
      </p:sp>
      <p:sp>
        <p:nvSpPr>
          <p:cNvPr id="40" name="CoverAccent 40"/>
          <p:cNvSpPr/>
          <p:nvPr/>
        </p:nvSpPr>
        <p:spPr>
          <a:xfrm>
            <a:off x="733425" y="3810000"/>
            <a:ext cx="609600" cy="571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itleBand 39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59E0B"/>
                </a:solidFill>
                <a:latin typeface="맑은 고딕"/>
                <a:ea typeface="맑은 고딕"/>
                <a:cs typeface="맑은 고딕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One 100 MHz Clock + 10 Hz Tick Drives a 0–9999 Counter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6787"/>
            <a:ext cx="66751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48227"/>
            <a:ext cx="630936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보드 100 MHz 클럭</a:t>
            </a:r>
            <a:r>
              <a:rPr lang="ko-KR" altLang="en-US"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으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로 0.1초 Tick 생성 → 0~9999를 FND에 표시</a:t>
            </a:r>
            <a:endParaRPr lang="en-US" sz="1200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3개로</a:t>
            </a:r>
            <a:r>
              <a:rPr lang="en-US"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STOP · CLEAR · DOWN 제어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6947"/>
            <a:ext cx="66751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928387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진행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4147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294147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tick_gen + tick_counter → 0.1초마다 +1, 9999 다음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339867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ko-KR" altLang="en-US"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보드 및 시뮬레이션</a:t>
            </a:r>
            <a:endParaRPr sz="1050" b="1">
              <a:solidFill>
                <a:srgbClr val="2E7D3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3723915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723915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3개 추가, 8가지 조합을 표 하나로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769635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보드 </a:t>
            </a:r>
            <a:r>
              <a:rPr lang="ko-KR" altLang="en-US"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및 시뮬레이션</a:t>
            </a:r>
            <a:endParaRPr sz="1050" b="1">
              <a:solidFill>
                <a:srgbClr val="2E7D3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153683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153683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 타이밍 통과 — Setup 여유 4.652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199403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리포트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83451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v2 경계값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583451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↔ 0 · 우선순위 전환 시뮬레이션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0" y="4629171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5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시뮬레이션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6787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0" y="1693947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 Hz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2334027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주기 0.1초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100,000,000 ÷ 10,000,000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73768" y="1556787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10928" y="1693947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14 bit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928" y="2334027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카운트 폭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2¹⁴ = 16,384 ≥ 10,000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3339867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98080" y="3477027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+4.652 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4117107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Setup 최소 여유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71개 경로 전부 통과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73768" y="3339867"/>
            <a:ext cx="2103120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10928" y="3477027"/>
            <a:ext cx="18288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6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4117107"/>
            <a:ext cx="182880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보드 확인 스위치 조합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000 · 001 단독 사진 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 / 29</a:t>
            </a:r>
          </a:p>
        </p:txBody>
      </p:sp>
      <p:sp>
        <p:nvSpPr>
          <p:cNvPr id="40" name="SectionNo 40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itleBand 8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59E0B"/>
                </a:solidFill>
                <a:latin typeface="맑은 고딕"/>
                <a:ea typeface="맑은 고딕"/>
                <a:cs typeface="맑은 고딕"/>
              </a:rPr>
              <a:t>DEVELOPMENT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v1 Tick Counter → v2 Switch Priority → Boundary Verified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v1  </a:t>
            </a:r>
            <a:r>
              <a:rPr sz="1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카운터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tick_gen: 1천만 클럭마다 1클럭 펄스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tick_counter: Tick마다 +1, 9999 다음 0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FND_CONTROLLER: 기존 모듈 재사용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검증: Tick 주기, 끝값, 자리 분리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3794760"/>
            <a:ext cx="2006925" cy="816376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30086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330086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330086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267724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517172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267724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517172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811975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811975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811975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749613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999061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749613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999061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293864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293864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293864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231502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480950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231502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80950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775753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775753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2775753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713391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962839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2713391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962839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257800"/>
            <a:ext cx="3154680" cy="685800"/>
          </a:xfrm>
          <a:prstGeom prst="roundRect">
            <a:avLst>
              <a:gd name="adj" fmla="val 12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0.1초마다 +1 동작 확인</a:t>
            </a:r>
          </a:p>
        </p:txBody>
      </p:sp>
      <p:sp>
        <p:nvSpPr>
          <p:cNvPr id="37" name="Freeform 36"/>
          <p:cNvSpPr/>
          <p:nvPr/>
        </p:nvSpPr>
        <p:spPr>
          <a:xfrm>
            <a:off x="4023360" y="3657600"/>
            <a:ext cx="265176" cy="0"/>
          </a:xfrm>
          <a:custGeom>
            <a:avLst/>
            <a:gdLst/>
            <a:ahLst/>
            <a:cxnLst/>
            <a:rect l="l" t="t" r="r" b="b"/>
            <a:pathLst>
              <a:path w="265176">
                <a:moveTo>
                  <a:pt x="0" y="0"/>
                </a:moveTo>
                <a:lnTo>
                  <a:pt x="265176" y="0"/>
                </a:lnTo>
              </a:path>
            </a:pathLst>
          </a:custGeom>
          <a:noFill/>
          <a:ln w="3175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334256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17136" y="146304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v2  </a:t>
            </a:r>
            <a:r>
              <a:rPr sz="1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제어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17136" y="192024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3개: STOP · CLEAR · DOWN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우선순위: CLEAR &gt; STOP &gt; DOWN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8가지 조합을 표 하나로 판정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검증: 보드 — CLEAR 4조합, STOP, DOWN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0056" y="3794760"/>
            <a:ext cx="2006925" cy="816376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207142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207142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5207142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5144780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5394228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144780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5394228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689031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689031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689031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5626669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5876117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5626669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876117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170920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6170920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6170920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6108558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6358006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6108558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6358006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6652809" y="39194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6652809" y="41717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6652809" y="44240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590447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6839895" y="39569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6590447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6839895" y="42341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4517136" y="5257800"/>
            <a:ext cx="3154680" cy="68580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우선순위 보드 + 시뮬레이션 확인</a:t>
            </a:r>
          </a:p>
        </p:txBody>
      </p:sp>
      <p:sp>
        <p:nvSpPr>
          <p:cNvPr id="71" name="Freeform 70"/>
          <p:cNvSpPr/>
          <p:nvPr/>
        </p:nvSpPr>
        <p:spPr>
          <a:xfrm>
            <a:off x="7900416" y="3657600"/>
            <a:ext cx="265176" cy="0"/>
          </a:xfrm>
          <a:custGeom>
            <a:avLst/>
            <a:gdLst/>
            <a:ahLst/>
            <a:cxnLst/>
            <a:rect l="l" t="t" r="r" b="b"/>
            <a:pathLst>
              <a:path w="265176">
                <a:moveTo>
                  <a:pt x="0" y="0"/>
                </a:moveTo>
                <a:lnTo>
                  <a:pt x="265176" y="0"/>
                </a:lnTo>
              </a:path>
            </a:pathLst>
          </a:custGeom>
          <a:noFill/>
          <a:ln w="3175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8211312" y="1325880"/>
            <a:ext cx="35204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394192" y="1463040"/>
            <a:ext cx="315468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Next  </a:t>
            </a:r>
            <a:r>
              <a:rPr sz="16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검증 보강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4192" y="1920240"/>
            <a:ext cx="3154680" cy="1737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남은 경우: Tick 사이 스위치 변화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기대값과 자동 비교하는 TB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Fnd_Controller도 Tick 방식으로 통일</a:t>
            </a:r>
          </a:p>
          <a:p>
            <a:pPr marL="164592" indent="-164592" algn="l">
              <a:spcAft>
                <a:spcPts val="6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 입력 동기화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94192" y="3840480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Tick 끝값을 10으로 줄일 경우</a:t>
            </a:r>
          </a:p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9999 경계까지 약 10만 클럭 (계산값)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394192" y="5257800"/>
            <a:ext cx="3154680" cy="685800"/>
          </a:xfrm>
          <a:prstGeom prst="roundRect">
            <a:avLst>
              <a:gd name="adj" fmla="val 12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제안 — p.28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3 / 29</a:t>
            </a:r>
          </a:p>
        </p:txBody>
      </p:sp>
      <p:sp>
        <p:nvSpPr>
          <p:cNvPr id="81" name="SectionNo 81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59E0B"/>
                </a:solidFill>
                <a:latin typeface="Consolas"/>
                <a:ea typeface="Consolas"/>
                <a:cs typeface="Consolas"/>
              </a:rPr>
              <a:t>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leBand 6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8BDF8"/>
                </a:solidFill>
                <a:latin typeface="맑은 고딕"/>
                <a:ea typeface="맑은 고딕"/>
                <a:cs typeface="맑은 고딕"/>
              </a:rPr>
              <a:t>01 · 개념 이해 — Q1 Clock Distributor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Clock IPs Align Edges Through a Dedicated Clock Tree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5120640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 비트를 클럭으로 나눠 쓰는 방식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20"/>
            <a:ext cx="1143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1430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8-bit</a:t>
            </a:r>
          </a:p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65960" y="251460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59152" y="2395728"/>
            <a:ext cx="5943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39572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CPU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807208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65960" y="292608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59152" y="2807208"/>
            <a:ext cx="5943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280720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I/O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218688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65960" y="333756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359152" y="3218688"/>
            <a:ext cx="5943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71800" y="321868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Bus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630168"/>
            <a:ext cx="41148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65960" y="3749040"/>
            <a:ext cx="365760" cy="0"/>
          </a:xfrm>
          <a:prstGeom prst="line">
            <a:avLst/>
          </a:prstGeom>
          <a:ln w="15875">
            <a:solidFill>
              <a:srgbClr val="1F29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359152" y="3630168"/>
            <a:ext cx="5943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Clk/16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71800" y="3630168"/>
            <a:ext cx="502920" cy="237744"/>
          </a:xfrm>
          <a:prstGeom prst="roundRect">
            <a:avLst>
              <a:gd name="adj" fmla="val 30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24" name="Freeform 23"/>
          <p:cNvSpPr/>
          <p:nvPr/>
        </p:nvSpPr>
        <p:spPr>
          <a:xfrm>
            <a:off x="548640" y="3931920"/>
            <a:ext cx="274320" cy="0"/>
          </a:xfrm>
          <a:custGeom>
            <a:avLst/>
            <a:gdLst/>
            <a:ahLst/>
            <a:cxnLst/>
            <a:rect l="l" t="t" r="r" b="b"/>
            <a:pathLst>
              <a:path w="274320">
                <a:moveTo>
                  <a:pt x="0" y="0"/>
                </a:moveTo>
                <a:lnTo>
                  <a:pt x="274320" y="0"/>
                </a:lnTo>
              </a:path>
            </a:pathLst>
          </a:custGeom>
          <a:noFill/>
          <a:ln w="19050">
            <a:solidFill>
              <a:srgbClr val="1F2937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2920" y="397764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1783080"/>
            <a:ext cx="64008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</a:t>
            </a:r>
          </a:p>
        </p:txBody>
      </p:sp>
      <p:sp>
        <p:nvSpPr>
          <p:cNvPr id="27" name="Freeform 26"/>
          <p:cNvSpPr/>
          <p:nvPr/>
        </p:nvSpPr>
        <p:spPr>
          <a:xfrm>
            <a:off x="3611880" y="201168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108585" y="256032"/>
                </a:lnTo>
                <a:lnTo>
                  <a:pt x="108585" y="0"/>
                </a:lnTo>
                <a:lnTo>
                  <a:pt x="217170" y="0"/>
                </a:lnTo>
                <a:lnTo>
                  <a:pt x="217170" y="256032"/>
                </a:lnTo>
                <a:lnTo>
                  <a:pt x="325755" y="256032"/>
                </a:lnTo>
                <a:lnTo>
                  <a:pt x="325755" y="0"/>
                </a:lnTo>
                <a:lnTo>
                  <a:pt x="434340" y="0"/>
                </a:lnTo>
                <a:lnTo>
                  <a:pt x="434340" y="256032"/>
                </a:lnTo>
                <a:lnTo>
                  <a:pt x="542925" y="256032"/>
                </a:lnTo>
                <a:lnTo>
                  <a:pt x="542925" y="0"/>
                </a:lnTo>
                <a:lnTo>
                  <a:pt x="651510" y="0"/>
                </a:lnTo>
                <a:lnTo>
                  <a:pt x="651510" y="256032"/>
                </a:lnTo>
                <a:lnTo>
                  <a:pt x="760095" y="256032"/>
                </a:lnTo>
                <a:lnTo>
                  <a:pt x="760095" y="0"/>
                </a:lnTo>
                <a:lnTo>
                  <a:pt x="868680" y="0"/>
                </a:lnTo>
                <a:lnTo>
                  <a:pt x="868680" y="256032"/>
                </a:lnTo>
                <a:lnTo>
                  <a:pt x="977265" y="256032"/>
                </a:lnTo>
                <a:lnTo>
                  <a:pt x="977265" y="0"/>
                </a:lnTo>
                <a:lnTo>
                  <a:pt x="1085850" y="0"/>
                </a:lnTo>
                <a:lnTo>
                  <a:pt x="1085850" y="256032"/>
                </a:lnTo>
                <a:lnTo>
                  <a:pt x="1194435" y="256032"/>
                </a:lnTo>
                <a:lnTo>
                  <a:pt x="1194435" y="0"/>
                </a:lnTo>
                <a:lnTo>
                  <a:pt x="1303020" y="0"/>
                </a:lnTo>
                <a:lnTo>
                  <a:pt x="1303020" y="256032"/>
                </a:lnTo>
                <a:lnTo>
                  <a:pt x="1411605" y="256032"/>
                </a:lnTo>
                <a:lnTo>
                  <a:pt x="1411605" y="0"/>
                </a:lnTo>
                <a:lnTo>
                  <a:pt x="1520190" y="0"/>
                </a:lnTo>
                <a:lnTo>
                  <a:pt x="1520190" y="256032"/>
                </a:lnTo>
                <a:lnTo>
                  <a:pt x="1628775" y="256032"/>
                </a:lnTo>
                <a:lnTo>
                  <a:pt x="1628775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60" y="2331720"/>
            <a:ext cx="64008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Clk/2</a:t>
            </a:r>
          </a:p>
        </p:txBody>
      </p:sp>
      <p:sp>
        <p:nvSpPr>
          <p:cNvPr id="29" name="Freeform 28"/>
          <p:cNvSpPr/>
          <p:nvPr/>
        </p:nvSpPr>
        <p:spPr>
          <a:xfrm>
            <a:off x="3611880" y="256032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248442" y="256032"/>
                </a:lnTo>
                <a:lnTo>
                  <a:pt x="248442" y="0"/>
                </a:lnTo>
                <a:lnTo>
                  <a:pt x="465612" y="0"/>
                </a:lnTo>
                <a:lnTo>
                  <a:pt x="465612" y="256032"/>
                </a:lnTo>
                <a:lnTo>
                  <a:pt x="682782" y="256032"/>
                </a:lnTo>
                <a:lnTo>
                  <a:pt x="682782" y="0"/>
                </a:lnTo>
                <a:lnTo>
                  <a:pt x="899952" y="0"/>
                </a:lnTo>
                <a:lnTo>
                  <a:pt x="899952" y="256032"/>
                </a:lnTo>
                <a:lnTo>
                  <a:pt x="1117122" y="256032"/>
                </a:lnTo>
                <a:lnTo>
                  <a:pt x="1117122" y="0"/>
                </a:lnTo>
                <a:lnTo>
                  <a:pt x="1334292" y="0"/>
                </a:lnTo>
                <a:lnTo>
                  <a:pt x="1334292" y="256032"/>
                </a:lnTo>
                <a:lnTo>
                  <a:pt x="1551462" y="256032"/>
                </a:lnTo>
                <a:lnTo>
                  <a:pt x="1551462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60" y="2880360"/>
            <a:ext cx="64008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Clk/4</a:t>
            </a:r>
          </a:p>
        </p:txBody>
      </p:sp>
      <p:sp>
        <p:nvSpPr>
          <p:cNvPr id="31" name="Freeform 30"/>
          <p:cNvSpPr/>
          <p:nvPr/>
        </p:nvSpPr>
        <p:spPr>
          <a:xfrm>
            <a:off x="3611880" y="310896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496885" y="256032"/>
                </a:lnTo>
                <a:lnTo>
                  <a:pt x="496885" y="0"/>
                </a:lnTo>
                <a:lnTo>
                  <a:pt x="931225" y="0"/>
                </a:lnTo>
                <a:lnTo>
                  <a:pt x="931225" y="256032"/>
                </a:lnTo>
                <a:lnTo>
                  <a:pt x="1365565" y="256032"/>
                </a:lnTo>
                <a:lnTo>
                  <a:pt x="1365565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60" y="3429000"/>
            <a:ext cx="64008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Clk/8</a:t>
            </a:r>
          </a:p>
        </p:txBody>
      </p:sp>
      <p:sp>
        <p:nvSpPr>
          <p:cNvPr id="33" name="Freeform 32"/>
          <p:cNvSpPr/>
          <p:nvPr/>
        </p:nvSpPr>
        <p:spPr>
          <a:xfrm>
            <a:off x="3611880" y="3657600"/>
            <a:ext cx="1737360" cy="256032"/>
          </a:xfrm>
          <a:custGeom>
            <a:avLst/>
            <a:gdLst/>
            <a:ahLst/>
            <a:cxnLst/>
            <a:rect l="l" t="t" r="r" b="b"/>
            <a:pathLst>
              <a:path w="1737360" h="256032">
                <a:moveTo>
                  <a:pt x="0" y="256032"/>
                </a:moveTo>
                <a:lnTo>
                  <a:pt x="962497" y="256032"/>
                </a:lnTo>
                <a:lnTo>
                  <a:pt x="962497" y="0"/>
                </a:lnTo>
                <a:lnTo>
                  <a:pt x="1737360" y="0"/>
                </a:lnTo>
              </a:path>
            </a:pathLst>
          </a:custGeom>
          <a:noFill/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3829050" y="1920240"/>
            <a:ext cx="0" cy="1920240"/>
          </a:xfrm>
          <a:prstGeom prst="line">
            <a:avLst/>
          </a:prstGeom>
          <a:ln w="12700">
            <a:solidFill>
              <a:srgbClr val="C6282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0080" y="4434840"/>
            <a:ext cx="4754880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카운터 출력(Q)은 FF 지연 + 일반 배선을 거쳐 나감 → 비트마다 엣지가 조금씩 늦게 도착 (</a:t>
            </a: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Skew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도구가 이 신호를 클럭으로 관리하지 못할 경우 타이밍 검사에서 빠짐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1325880"/>
            <a:ext cx="5928055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934456" y="142646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417320"/>
            <a:ext cx="5287975" cy="3017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타이밍 조절 방법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755648"/>
            <a:ext cx="5242255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IP(MMCM/PLL)는 기준 클럭 하나로 고속 VCO를 만든 뒤 나눠서 출력 → 모든 출력이 같은 기준 엣지에서 나옴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피드백 경로로 클럭 버퍼 지연까지 측정해 입력 클럭과 위상을 맞춤 (Deskew)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06440" y="2743200"/>
            <a:ext cx="5928055" cy="1307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5934456" y="28437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834640"/>
            <a:ext cx="5287975" cy="3017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Clock Skew 관리 방법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172968"/>
            <a:ext cx="5242255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물리: 전용 클럭 버퍼(BUFG) + 칩 전체에 길이를 맞춘 클럭 트리 → FF마다 도착 시간이 거의 같음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도구: 타이밍 분석이 FF마다 클럭 도착 시간을 계산해 Slack에 반영 → 리포트의 Clock Skew 항목으로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806440" y="4160520"/>
            <a:ext cx="5928055" cy="17190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5934456" y="42611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4251960"/>
            <a:ext cx="5287975" cy="3017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IP 내부 구조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÷D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입력 분주</a:t>
            </a:r>
          </a:p>
        </p:txBody>
      </p:sp>
      <p:sp>
        <p:nvSpPr>
          <p:cNvPr id="48" name="Freeform 47"/>
          <p:cNvSpPr/>
          <p:nvPr/>
        </p:nvSpPr>
        <p:spPr>
          <a:xfrm>
            <a:off x="720547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736092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PFD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위상 비교</a:t>
            </a:r>
          </a:p>
        </p:txBody>
      </p:sp>
      <p:sp>
        <p:nvSpPr>
          <p:cNvPr id="50" name="Freeform 49"/>
          <p:cNvSpPr/>
          <p:nvPr/>
        </p:nvSpPr>
        <p:spPr>
          <a:xfrm>
            <a:off x="825703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841248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×M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VCO</a:t>
            </a:r>
          </a:p>
        </p:txBody>
      </p:sp>
      <p:sp>
        <p:nvSpPr>
          <p:cNvPr id="52" name="Freeform 51"/>
          <p:cNvSpPr/>
          <p:nvPr/>
        </p:nvSpPr>
        <p:spPr>
          <a:xfrm>
            <a:off x="930859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946404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÷O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출력 분주</a:t>
            </a:r>
          </a:p>
        </p:txBody>
      </p:sp>
      <p:sp>
        <p:nvSpPr>
          <p:cNvPr id="54" name="Freeform 53"/>
          <p:cNvSpPr/>
          <p:nvPr/>
        </p:nvSpPr>
        <p:spPr>
          <a:xfrm>
            <a:off x="10360152" y="4992624"/>
            <a:ext cx="155448" cy="0"/>
          </a:xfrm>
          <a:custGeom>
            <a:avLst/>
            <a:gdLst/>
            <a:ahLst/>
            <a:cxnLst/>
            <a:rect l="l" t="t" r="r" b="b"/>
            <a:pathLst>
              <a:path w="155448">
                <a:moveTo>
                  <a:pt x="0" y="0"/>
                </a:moveTo>
                <a:lnTo>
                  <a:pt x="155448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10515600" y="4709160"/>
            <a:ext cx="89611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BUFG</a:t>
            </a:r>
          </a:p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클럭 버퍼</a:t>
            </a:r>
          </a:p>
        </p:txBody>
      </p:sp>
      <p:sp>
        <p:nvSpPr>
          <p:cNvPr id="56" name="Freeform 55"/>
          <p:cNvSpPr/>
          <p:nvPr/>
        </p:nvSpPr>
        <p:spPr>
          <a:xfrm>
            <a:off x="7808976" y="5276088"/>
            <a:ext cx="3154680" cy="164592"/>
          </a:xfrm>
          <a:custGeom>
            <a:avLst/>
            <a:gdLst/>
            <a:ahLst/>
            <a:cxnLst/>
            <a:rect l="l" t="t" r="r" b="b"/>
            <a:pathLst>
              <a:path w="3154680" h="164592">
                <a:moveTo>
                  <a:pt x="3154680" y="0"/>
                </a:moveTo>
                <a:lnTo>
                  <a:pt x="3154680" y="164592"/>
                </a:lnTo>
                <a:lnTo>
                  <a:pt x="0" y="164592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1565C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863840" y="545896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00" b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피드백 (버퍼 지연 보상)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5687568"/>
            <a:ext cx="5242255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f_out = f_in × M ÷ (D × O)  ·  위상 일치 시 LOCKED = 1 → 이후 사용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4 / 29</a:t>
            </a:r>
          </a:p>
        </p:txBody>
      </p:sp>
      <p:sp>
        <p:nvSpPr>
          <p:cNvPr id="63" name="SectionNo 63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96793-18B9-7027-4FD2-2CB0C852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Band 21">
            <a:extLst>
              <a:ext uri="{FF2B5EF4-FFF2-40B4-BE49-F238E27FC236}">
                <a16:creationId xmlns:a16="http://schemas.microsoft.com/office/drawing/2014/main" id="{E97EEB51-3990-42E5-40F4-DA87AB244E05}"/>
              </a:ext>
            </a:extLst>
          </p:cNvPr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C5F549-F942-B3F2-C8A0-6836DED4AB4D}"/>
              </a:ext>
            </a:extLst>
          </p:cNvPr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8BDF8"/>
                </a:solidFill>
                <a:latin typeface="맑은 고딕"/>
                <a:ea typeface="맑은 고딕"/>
                <a:cs typeface="맑은 고딕"/>
              </a:rPr>
              <a:t>01 · 개념 이해 — Q2 Setup Violation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8931F9-6828-8493-8F9D-A988138C3407}"/>
              </a:ext>
            </a:extLst>
          </p:cNvPr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Setup Violation — Data Arrives Too Late for the Capture Edge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567A3-2238-DCBB-3A58-BAAD0492176E}"/>
              </a:ext>
            </a:extLst>
          </p:cNvPr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E503C5-9DF3-8E5D-0265-99A1264F2753}"/>
              </a:ext>
            </a:extLst>
          </p:cNvPr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5 / 29</a:t>
            </a:r>
          </a:p>
        </p:txBody>
      </p:sp>
      <p:sp>
        <p:nvSpPr>
          <p:cNvPr id="22" name="SectionNo 22">
            <a:extLst>
              <a:ext uri="{FF2B5EF4-FFF2-40B4-BE49-F238E27FC236}">
                <a16:creationId xmlns:a16="http://schemas.microsoft.com/office/drawing/2014/main" id="{916A5FE4-AD4C-A6C4-0AAB-C30EDB8CAC48}"/>
              </a:ext>
            </a:extLst>
          </p:cNvPr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24" name="Card 24"/>
          <p:cNvSpPr/>
          <p:nvPr/>
        </p:nvSpPr>
        <p:spPr>
          <a:xfrm>
            <a:off x="457200" y="1295400"/>
            <a:ext cx="533400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5" name="DiagHead 25"/>
          <p:cNvSpPr txBox="1"/>
          <p:nvPr/>
        </p:nvSpPr>
        <p:spPr>
          <a:xfrm>
            <a:off x="609600" y="140970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Setup Violation Timing</a:t>
            </a:r>
          </a:p>
        </p:txBody>
      </p:sp>
      <p:sp>
        <p:nvSpPr>
          <p:cNvPr id="26" name="Lbl 26"/>
          <p:cNvSpPr txBox="1"/>
          <p:nvPr/>
        </p:nvSpPr>
        <p:spPr>
          <a:xfrm>
            <a:off x="609600" y="1866900"/>
            <a:ext cx="6667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</a:t>
            </a:r>
          </a:p>
        </p:txBody>
      </p:sp>
      <p:sp>
        <p:nvSpPr>
          <p:cNvPr id="27" name="Lbl 27"/>
          <p:cNvSpPr txBox="1"/>
          <p:nvPr/>
        </p:nvSpPr>
        <p:spPr>
          <a:xfrm>
            <a:off x="609600" y="2762250"/>
            <a:ext cx="857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</a:t>
            </a:r>
          </a:p>
          <a:p>
            <a:pPr algn="l">
              <a:buNone/>
            </a:pPr>
            <a:r>
              <a:rPr lang="ko-KR" sz="900" b="1" dirty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(Capture FF)</a:t>
            </a:r>
          </a:p>
        </p:txBody>
      </p:sp>
      <p:cxnSp>
        <p:nvCxnSpPr>
          <p:cNvPr id="28" name="Line 28"/>
          <p:cNvCxnSpPr/>
          <p:nvPr/>
        </p:nvCxnSpPr>
        <p:spPr>
          <a:xfrm>
            <a:off x="1428750" y="2133600"/>
            <a:ext cx="28575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 flipV="1">
            <a:off x="171450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714500" y="1847850"/>
            <a:ext cx="9525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266700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2667000" y="2133600"/>
            <a:ext cx="9525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3" name="Line 33"/>
          <p:cNvCxnSpPr/>
          <p:nvPr/>
        </p:nvCxnSpPr>
        <p:spPr>
          <a:xfrm flipV="1">
            <a:off x="361950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3619500" y="1847850"/>
            <a:ext cx="9525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457200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4572000" y="2133600"/>
            <a:ext cx="104775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7" name="Line 37"/>
          <p:cNvCxnSpPr/>
          <p:nvPr/>
        </p:nvCxnSpPr>
        <p:spPr>
          <a:xfrm flipV="1">
            <a:off x="561975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714500" y="1733550"/>
            <a:ext cx="0" cy="2038350"/>
          </a:xfrm>
          <a:prstGeom prst="line">
            <a:avLst/>
          </a:prstGeom>
          <a:ln w="12700">
            <a:solidFill>
              <a:srgbClr val="9CA3AF"/>
            </a:solidFill>
            <a:prstDash val="dash"/>
          </a:ln>
        </p:spPr>
      </p:cxnSp>
      <p:sp>
        <p:nvSpPr>
          <p:cNvPr id="39" name="EdgeLbl 39"/>
          <p:cNvSpPr txBox="1"/>
          <p:nvPr/>
        </p:nvSpPr>
        <p:spPr>
          <a:xfrm>
            <a:off x="1143000" y="1638300"/>
            <a:ext cx="1143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ko-KR" sz="950" b="0" dirty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Launch edge</a:t>
            </a:r>
          </a:p>
        </p:txBody>
      </p:sp>
      <p:cxnSp>
        <p:nvCxnSpPr>
          <p:cNvPr id="40" name="Line 40"/>
          <p:cNvCxnSpPr/>
          <p:nvPr/>
        </p:nvCxnSpPr>
        <p:spPr>
          <a:xfrm>
            <a:off x="3619500" y="1733550"/>
            <a:ext cx="0" cy="2038350"/>
          </a:xfrm>
          <a:prstGeom prst="line">
            <a:avLst/>
          </a:prstGeom>
          <a:ln w="12700">
            <a:solidFill>
              <a:srgbClr val="9CA3AF"/>
            </a:solidFill>
            <a:prstDash val="dash"/>
          </a:ln>
        </p:spPr>
      </p:cxnSp>
      <p:sp>
        <p:nvSpPr>
          <p:cNvPr id="41" name="EdgeLbl 41"/>
          <p:cNvSpPr txBox="1"/>
          <p:nvPr/>
        </p:nvSpPr>
        <p:spPr>
          <a:xfrm>
            <a:off x="3048000" y="1638300"/>
            <a:ext cx="1143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ko-KR" sz="950" b="0" dirty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Capture edge</a:t>
            </a:r>
          </a:p>
        </p:txBody>
      </p:sp>
      <p:sp>
        <p:nvSpPr>
          <p:cNvPr id="42" name="Window 42"/>
          <p:cNvSpPr/>
          <p:nvPr/>
        </p:nvSpPr>
        <p:spPr>
          <a:xfrm>
            <a:off x="3238500" y="2724150"/>
            <a:ext cx="381000" cy="457200"/>
          </a:xfrm>
          <a:prstGeom prst="rect">
            <a:avLst/>
          </a:prstGeom>
          <a:solidFill>
            <a:srgbClr val="F59E0B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3" name="WinLbl 43"/>
          <p:cNvSpPr txBox="1"/>
          <p:nvPr/>
        </p:nvSpPr>
        <p:spPr>
          <a:xfrm>
            <a:off x="3238500" y="3200400"/>
            <a:ext cx="381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ko-KR" sz="10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Tsu</a:t>
            </a:r>
          </a:p>
        </p:txBody>
      </p:sp>
      <p:cxnSp>
        <p:nvCxnSpPr>
          <p:cNvPr id="44" name="Line 44"/>
          <p:cNvCxnSpPr/>
          <p:nvPr/>
        </p:nvCxnSpPr>
        <p:spPr>
          <a:xfrm>
            <a:off x="1428750" y="2838450"/>
            <a:ext cx="1943100" cy="0"/>
          </a:xfrm>
          <a:prstGeom prst="line">
            <a:avLst/>
          </a:prstGeom>
          <a:ln w="22225">
            <a:solidFill>
              <a:srgbClr val="94A3B8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1428750" y="3067050"/>
            <a:ext cx="1943100" cy="0"/>
          </a:xfrm>
          <a:prstGeom prst="line">
            <a:avLst/>
          </a:prstGeom>
          <a:ln w="22225">
            <a:solidFill>
              <a:srgbClr val="94A3B8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3371850" y="2838450"/>
            <a:ext cx="152400" cy="22860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47" name="Line 47"/>
          <p:cNvCxnSpPr/>
          <p:nvPr/>
        </p:nvCxnSpPr>
        <p:spPr>
          <a:xfrm flipV="1">
            <a:off x="3371850" y="2838450"/>
            <a:ext cx="152400" cy="22860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3524250" y="2838450"/>
            <a:ext cx="20955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3524250" y="3067050"/>
            <a:ext cx="20955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1714500" y="3467100"/>
            <a:ext cx="1733550" cy="0"/>
          </a:xfrm>
          <a:prstGeom prst="line">
            <a:avLst/>
          </a:prstGeom>
          <a:ln w="19050">
            <a:solidFill>
              <a:srgbClr val="1565C0"/>
            </a:solidFill>
            <a:headEnd type="triangle" w="med" len="med"/>
            <a:tailEnd type="triangle" w="med" len="med"/>
          </a:ln>
        </p:spPr>
      </p:cxnSp>
      <p:sp>
        <p:nvSpPr>
          <p:cNvPr id="51" name="DelayLbl 51"/>
          <p:cNvSpPr txBox="1"/>
          <p:nvPr/>
        </p:nvSpPr>
        <p:spPr>
          <a:xfrm>
            <a:off x="1714500" y="3505200"/>
            <a:ext cx="17335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ko-KR" sz="950" b="0" dirty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Tco + Tlogic + Tnet</a:t>
            </a:r>
          </a:p>
        </p:txBody>
      </p:sp>
      <p:sp>
        <p:nvSpPr>
          <p:cNvPr id="52" name="Result 52"/>
          <p:cNvSpPr txBox="1"/>
          <p:nvPr/>
        </p:nvSpPr>
        <p:spPr>
          <a:xfrm>
            <a:off x="609600" y="3810000"/>
            <a:ext cx="50292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5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데이터가 Tsu 구간 안에 도착 → Setup violation</a:t>
            </a:r>
          </a:p>
        </p:txBody>
      </p:sp>
      <p:sp>
        <p:nvSpPr>
          <p:cNvPr id="53" name="EqBox 53"/>
          <p:cNvSpPr/>
          <p:nvPr/>
        </p:nvSpPr>
        <p:spPr>
          <a:xfrm>
            <a:off x="457200" y="4305300"/>
            <a:ext cx="5334000" cy="1905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4" name="EqText 54"/>
          <p:cNvSpPr txBox="1"/>
          <p:nvPr/>
        </p:nvSpPr>
        <p:spPr>
          <a:xfrm>
            <a:off x="647700" y="4457700"/>
            <a:ext cx="4953000" cy="163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0"/>
              </a:spcAft>
              <a:buNone/>
            </a:pPr>
            <a:r>
              <a:rPr lang="ko-KR" sz="1400" b="1" dirty="0">
                <a:solidFill>
                  <a:srgbClr val="FACC15"/>
                </a:solidFill>
                <a:latin typeface="맑은 고딕"/>
                <a:ea typeface="맑은 고딕"/>
                <a:cs typeface="맑은 고딕"/>
              </a:rPr>
              <a:t>Setup Slack</a:t>
            </a:r>
          </a:p>
          <a:p>
            <a:pPr algn="l">
              <a:spcAft>
                <a:spcPts val="1000"/>
              </a:spcAft>
              <a:buNone/>
            </a:pPr>
            <a:r>
              <a:rPr lang="ko-KR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= (Tclk + Tskew) − (Tco + Tlogic + Tnet + Tsu)</a:t>
            </a:r>
          </a:p>
          <a:p>
            <a:pPr algn="l">
              <a:spcAft>
                <a:spcPts val="1000"/>
              </a:spcAft>
              <a:buNone/>
            </a:pPr>
            <a:r>
              <a:rPr lang="ko-KR" sz="1200" b="0" dirty="0">
                <a:solidFill>
                  <a:srgbClr val="E2E8F0"/>
                </a:solidFill>
                <a:latin typeface="맑은 고딕"/>
                <a:ea typeface="맑은 고딕"/>
                <a:cs typeface="맑은 고딕"/>
              </a:rPr>
              <a:t>Slack &lt; 0 → Negative Slack = Setup violation</a:t>
            </a:r>
          </a:p>
          <a:p>
            <a:pPr algn="l">
              <a:spcAft>
                <a:spcPts val="1000"/>
              </a:spcAft>
              <a:buNone/>
            </a:pPr>
            <a:r>
              <a:rPr lang="ko-KR" sz="1200" b="0" dirty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WNS = 가장 작은 Setup Slack · TNS = Negative Slack의 합</a:t>
            </a:r>
          </a:p>
        </p:txBody>
      </p:sp>
      <p:sp>
        <p:nvSpPr>
          <p:cNvPr id="55" name="Card 55"/>
          <p:cNvSpPr/>
          <p:nvPr/>
        </p:nvSpPr>
        <p:spPr>
          <a:xfrm>
            <a:off x="5943600" y="12954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6" name="CardHead 56"/>
          <p:cNvSpPr txBox="1"/>
          <p:nvPr/>
        </p:nvSpPr>
        <p:spPr>
          <a:xfrm>
            <a:off x="6096000" y="14097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57" name="CardBody 57"/>
          <p:cNvSpPr txBox="1"/>
          <p:nvPr/>
        </p:nvSpPr>
        <p:spPr>
          <a:xfrm>
            <a:off x="6096000" y="17145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Capture 엣지 기준 Tsu 이전까지 데이터 도착 필요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도착이 늦음 → Setup Slack &lt; 0</a:t>
            </a:r>
          </a:p>
        </p:txBody>
      </p:sp>
      <p:sp>
        <p:nvSpPr>
          <p:cNvPr id="58" name="Card 58"/>
          <p:cNvSpPr/>
          <p:nvPr/>
        </p:nvSpPr>
        <p:spPr>
          <a:xfrm>
            <a:off x="8915400" y="12954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9" name="CardHead 59"/>
          <p:cNvSpPr txBox="1"/>
          <p:nvPr/>
        </p:nvSpPr>
        <p:spPr>
          <a:xfrm>
            <a:off x="9067800" y="14097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치명적인 이유</a:t>
            </a:r>
          </a:p>
        </p:txBody>
      </p:sp>
      <p:sp>
        <p:nvSpPr>
          <p:cNvPr id="60" name="CardBody 60"/>
          <p:cNvSpPr txBox="1"/>
          <p:nvPr/>
        </p:nvSpPr>
        <p:spPr>
          <a:xfrm>
            <a:off x="9067800" y="17145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Capture FF가 이전 값 · 중간 전압을 샘플 → 잘못된 값 저장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Metastability → 다음 단까지 오류 전파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RTL 시뮬레이션에서는 안 보이고 보드에서만 간헐적 오동작</a:t>
            </a:r>
          </a:p>
        </p:txBody>
      </p:sp>
      <p:sp>
        <p:nvSpPr>
          <p:cNvPr id="61" name="Card 61"/>
          <p:cNvSpPr/>
          <p:nvPr/>
        </p:nvSpPr>
        <p:spPr>
          <a:xfrm>
            <a:off x="5943600" y="37719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2" name="CardHead 62"/>
          <p:cNvSpPr txBox="1"/>
          <p:nvPr/>
        </p:nvSpPr>
        <p:spPr>
          <a:xfrm>
            <a:off x="6096000" y="38862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발생 원인</a:t>
            </a:r>
          </a:p>
        </p:txBody>
      </p:sp>
      <p:sp>
        <p:nvSpPr>
          <p:cNvPr id="63" name="CardBody 63"/>
          <p:cNvSpPr txBox="1"/>
          <p:nvPr/>
        </p:nvSpPr>
        <p:spPr>
          <a:xfrm>
            <a:off x="6096000" y="41910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조합 logic 단수가 많은 긴 critical path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긴 net · 큰 fan-out → 배선 지연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목표 클럭 주파수 과다 (Tclk 부족)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Capture 클럭이 일찍 도착하는 clock skew</a:t>
            </a:r>
          </a:p>
        </p:txBody>
      </p:sp>
      <p:sp>
        <p:nvSpPr>
          <p:cNvPr id="64" name="Card 64"/>
          <p:cNvSpPr/>
          <p:nvPr/>
        </p:nvSpPr>
        <p:spPr>
          <a:xfrm>
            <a:off x="8915400" y="37719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5" name="CardHead 65"/>
          <p:cNvSpPr txBox="1"/>
          <p:nvPr/>
        </p:nvSpPr>
        <p:spPr>
          <a:xfrm>
            <a:off x="9067800" y="38862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해결 방법</a:t>
            </a:r>
          </a:p>
        </p:txBody>
      </p:sp>
      <p:sp>
        <p:nvSpPr>
          <p:cNvPr id="66" name="CardBody 66"/>
          <p:cNvSpPr txBox="1"/>
          <p:nvPr/>
        </p:nvSpPr>
        <p:spPr>
          <a:xfrm>
            <a:off x="9067800" y="41910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Pipelining — register 삽입으로 경로 분할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logic 최적화 · retiming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register duplication으로 fan-out 감소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주파수 하향 (최후 수단)</a:t>
            </a:r>
          </a:p>
        </p:txBody>
      </p:sp>
    </p:spTree>
    <p:extLst>
      <p:ext uri="{BB962C8B-B14F-4D97-AF65-F5344CB8AC3E}">
        <p14:creationId xmlns:p14="http://schemas.microsoft.com/office/powerpoint/2010/main" val="27895392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96793-18B9-7027-4FD2-2CB0C852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Band 21">
            <a:extLst>
              <a:ext uri="{FF2B5EF4-FFF2-40B4-BE49-F238E27FC236}">
                <a16:creationId xmlns:a16="http://schemas.microsoft.com/office/drawing/2014/main" id="{E97EEB51-3990-42E5-40F4-DA87AB244E05}"/>
              </a:ext>
            </a:extLst>
          </p:cNvPr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C5F549-F942-B3F2-C8A0-6836DED4AB4D}"/>
              </a:ext>
            </a:extLst>
          </p:cNvPr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8BDF8"/>
                </a:solidFill>
                <a:latin typeface="맑은 고딕"/>
                <a:ea typeface="맑은 고딕"/>
                <a:cs typeface="맑은 고딕"/>
              </a:rPr>
              <a:t>01 · 개념 이해 — Q2 Hold Violation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8931F9-6828-8493-8F9D-A988138C3407}"/>
              </a:ext>
            </a:extLst>
          </p:cNvPr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Hold Violation — New Data Arrives Too Soon After the Edge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2567A3-2238-DCBB-3A58-BAAD0492176E}"/>
              </a:ext>
            </a:extLst>
          </p:cNvPr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E503C5-9DF3-8E5D-0265-99A1264F2753}"/>
              </a:ext>
            </a:extLst>
          </p:cNvPr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6 / 29</a:t>
            </a:r>
          </a:p>
        </p:txBody>
      </p:sp>
      <p:sp>
        <p:nvSpPr>
          <p:cNvPr id="22" name="SectionNo 22">
            <a:extLst>
              <a:ext uri="{FF2B5EF4-FFF2-40B4-BE49-F238E27FC236}">
                <a16:creationId xmlns:a16="http://schemas.microsoft.com/office/drawing/2014/main" id="{916A5FE4-AD4C-A6C4-0AAB-C30EDB8CAC48}"/>
              </a:ext>
            </a:extLst>
          </p:cNvPr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24" name="Card 24"/>
          <p:cNvSpPr/>
          <p:nvPr/>
        </p:nvSpPr>
        <p:spPr>
          <a:xfrm>
            <a:off x="457200" y="1295400"/>
            <a:ext cx="533400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5" name="DiagHead 25"/>
          <p:cNvSpPr txBox="1"/>
          <p:nvPr/>
        </p:nvSpPr>
        <p:spPr>
          <a:xfrm>
            <a:off x="609600" y="1409700"/>
            <a:ext cx="5029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Hold Violation Timing</a:t>
            </a:r>
          </a:p>
        </p:txBody>
      </p:sp>
      <p:sp>
        <p:nvSpPr>
          <p:cNvPr id="26" name="Lbl 26"/>
          <p:cNvSpPr txBox="1"/>
          <p:nvPr/>
        </p:nvSpPr>
        <p:spPr>
          <a:xfrm>
            <a:off x="609600" y="1866900"/>
            <a:ext cx="6667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</a:t>
            </a:r>
          </a:p>
        </p:txBody>
      </p:sp>
      <p:sp>
        <p:nvSpPr>
          <p:cNvPr id="27" name="Lbl 27"/>
          <p:cNvSpPr txBox="1"/>
          <p:nvPr/>
        </p:nvSpPr>
        <p:spPr>
          <a:xfrm>
            <a:off x="609600" y="2762250"/>
            <a:ext cx="857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</a:t>
            </a:r>
          </a:p>
          <a:p>
            <a:pPr algn="l">
              <a:buNone/>
            </a:pPr>
            <a:r>
              <a:rPr lang="ko-KR" sz="900" b="1" dirty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(Capture FF)</a:t>
            </a:r>
          </a:p>
        </p:txBody>
      </p:sp>
      <p:cxnSp>
        <p:nvCxnSpPr>
          <p:cNvPr id="28" name="Line 28"/>
          <p:cNvCxnSpPr/>
          <p:nvPr/>
        </p:nvCxnSpPr>
        <p:spPr>
          <a:xfrm>
            <a:off x="1428750" y="2133600"/>
            <a:ext cx="9525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 flipV="1">
            <a:off x="238125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2381250" y="1847850"/>
            <a:ext cx="104775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342900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3429000" y="2133600"/>
            <a:ext cx="104775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3" name="Line 33"/>
          <p:cNvCxnSpPr/>
          <p:nvPr/>
        </p:nvCxnSpPr>
        <p:spPr>
          <a:xfrm flipV="1">
            <a:off x="447675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4476750" y="1847850"/>
            <a:ext cx="11430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5619750" y="1847850"/>
            <a:ext cx="0" cy="28575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2381250" y="1733550"/>
            <a:ext cx="0" cy="2038350"/>
          </a:xfrm>
          <a:prstGeom prst="line">
            <a:avLst/>
          </a:prstGeom>
          <a:ln w="12700">
            <a:solidFill>
              <a:srgbClr val="9CA3AF"/>
            </a:solidFill>
            <a:prstDash val="dash"/>
          </a:ln>
        </p:spPr>
      </p:cxnSp>
      <p:sp>
        <p:nvSpPr>
          <p:cNvPr id="37" name="EdgeLbl 37"/>
          <p:cNvSpPr txBox="1"/>
          <p:nvPr/>
        </p:nvSpPr>
        <p:spPr>
          <a:xfrm>
            <a:off x="1619250" y="1638300"/>
            <a:ext cx="15240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ko-KR" sz="950" b="0" dirty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Launch = Capture edge</a:t>
            </a:r>
          </a:p>
        </p:txBody>
      </p:sp>
      <p:sp>
        <p:nvSpPr>
          <p:cNvPr id="38" name="Window 38"/>
          <p:cNvSpPr/>
          <p:nvPr/>
        </p:nvSpPr>
        <p:spPr>
          <a:xfrm>
            <a:off x="2381250" y="2724150"/>
            <a:ext cx="476250" cy="457200"/>
          </a:xfrm>
          <a:prstGeom prst="rect">
            <a:avLst/>
          </a:prstGeom>
          <a:solidFill>
            <a:srgbClr val="F59E0B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39" name="WinLbl 39"/>
          <p:cNvSpPr txBox="1"/>
          <p:nvPr/>
        </p:nvSpPr>
        <p:spPr>
          <a:xfrm>
            <a:off x="2381250" y="3200400"/>
            <a:ext cx="4762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ko-KR" sz="1000" b="1" dirty="0">
                <a:solidFill>
                  <a:srgbClr val="B45309"/>
                </a:solidFill>
                <a:latin typeface="맑은 고딕"/>
                <a:ea typeface="맑은 고딕"/>
                <a:cs typeface="맑은 고딕"/>
              </a:rPr>
              <a:t>Th</a:t>
            </a:r>
          </a:p>
        </p:txBody>
      </p:sp>
      <p:cxnSp>
        <p:nvCxnSpPr>
          <p:cNvPr id="40" name="Line 40"/>
          <p:cNvCxnSpPr/>
          <p:nvPr/>
        </p:nvCxnSpPr>
        <p:spPr>
          <a:xfrm>
            <a:off x="1428750" y="2838450"/>
            <a:ext cx="1104900" cy="0"/>
          </a:xfrm>
          <a:prstGeom prst="line">
            <a:avLst/>
          </a:prstGeom>
          <a:ln w="22225">
            <a:solidFill>
              <a:srgbClr val="94A3B8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428750" y="3067050"/>
            <a:ext cx="1104900" cy="0"/>
          </a:xfrm>
          <a:prstGeom prst="line">
            <a:avLst/>
          </a:prstGeom>
          <a:ln w="22225">
            <a:solidFill>
              <a:srgbClr val="94A3B8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2533650" y="2838450"/>
            <a:ext cx="152400" cy="22860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43" name="Line 43"/>
          <p:cNvCxnSpPr/>
          <p:nvPr/>
        </p:nvCxnSpPr>
        <p:spPr>
          <a:xfrm flipV="1">
            <a:off x="2533650" y="2838450"/>
            <a:ext cx="152400" cy="22860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2686050" y="2838450"/>
            <a:ext cx="29337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2686050" y="3067050"/>
            <a:ext cx="2933700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2381250" y="3467100"/>
            <a:ext cx="228600" cy="0"/>
          </a:xfrm>
          <a:prstGeom prst="line">
            <a:avLst/>
          </a:prstGeom>
          <a:ln w="19050">
            <a:solidFill>
              <a:srgbClr val="1565C0"/>
            </a:solidFill>
            <a:headEnd type="triangle" w="med" len="med"/>
            <a:tailEnd type="triangle" w="med" len="med"/>
          </a:ln>
        </p:spPr>
      </p:cxnSp>
      <p:sp>
        <p:nvSpPr>
          <p:cNvPr id="47" name="DelayLbl 47"/>
          <p:cNvSpPr txBox="1"/>
          <p:nvPr/>
        </p:nvSpPr>
        <p:spPr>
          <a:xfrm>
            <a:off x="2647950" y="3390900"/>
            <a:ext cx="247650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950" b="0" dirty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Tco + Tlogic (짧은 경로)</a:t>
            </a:r>
          </a:p>
        </p:txBody>
      </p:sp>
      <p:sp>
        <p:nvSpPr>
          <p:cNvPr id="48" name="Result 48"/>
          <p:cNvSpPr txBox="1"/>
          <p:nvPr/>
        </p:nvSpPr>
        <p:spPr>
          <a:xfrm>
            <a:off x="609600" y="3810000"/>
            <a:ext cx="50292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5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새 데이터가 Th 구간 안에 도착 → 이전 값 덮어씀</a:t>
            </a:r>
          </a:p>
        </p:txBody>
      </p:sp>
      <p:sp>
        <p:nvSpPr>
          <p:cNvPr id="49" name="EqBox 49"/>
          <p:cNvSpPr/>
          <p:nvPr/>
        </p:nvSpPr>
        <p:spPr>
          <a:xfrm>
            <a:off x="457200" y="4305300"/>
            <a:ext cx="5334000" cy="1905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0" name="EqText 50"/>
          <p:cNvSpPr txBox="1"/>
          <p:nvPr/>
        </p:nvSpPr>
        <p:spPr>
          <a:xfrm>
            <a:off x="647700" y="4457700"/>
            <a:ext cx="4953000" cy="1638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1000"/>
              </a:spcAft>
              <a:buNone/>
            </a:pPr>
            <a:r>
              <a:rPr lang="ko-KR" sz="1400" b="1" dirty="0">
                <a:solidFill>
                  <a:srgbClr val="FACC15"/>
                </a:solidFill>
                <a:latin typeface="맑은 고딕"/>
                <a:ea typeface="맑은 고딕"/>
                <a:cs typeface="맑은 고딕"/>
              </a:rPr>
              <a:t>Hold Slack</a:t>
            </a:r>
          </a:p>
          <a:p>
            <a:pPr algn="l">
              <a:spcAft>
                <a:spcPts val="1000"/>
              </a:spcAft>
              <a:buNone/>
            </a:pPr>
            <a:r>
              <a:rPr lang="ko-KR" sz="1300" b="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= (Tco + Tlogic + Tnet) − (Th + Tskew)</a:t>
            </a:r>
          </a:p>
          <a:p>
            <a:pPr algn="l">
              <a:spcAft>
                <a:spcPts val="1000"/>
              </a:spcAft>
              <a:buNone/>
            </a:pPr>
            <a:r>
              <a:rPr lang="ko-KR" sz="1200" b="0" dirty="0">
                <a:solidFill>
                  <a:srgbClr val="E2E8F0"/>
                </a:solidFill>
                <a:latin typeface="맑은 고딕"/>
                <a:ea typeface="맑은 고딕"/>
                <a:cs typeface="맑은 고딕"/>
              </a:rPr>
              <a:t>Slack &lt; 0 → Hold violation</a:t>
            </a:r>
          </a:p>
          <a:p>
            <a:pPr algn="l">
              <a:spcAft>
                <a:spcPts val="1000"/>
              </a:spcAft>
              <a:buNone/>
            </a:pPr>
            <a:r>
              <a:rPr lang="ko-KR" sz="1200" b="0" dirty="0">
                <a:solidFill>
                  <a:srgbClr val="CBD5E1"/>
                </a:solidFill>
                <a:latin typeface="맑은 고딕"/>
                <a:ea typeface="맑은 고딕"/>
                <a:cs typeface="맑은 고딕"/>
              </a:rPr>
              <a:t>WHS = 가장 작은 Hold Slack · THS = Negative Hold Slack의 합</a:t>
            </a:r>
          </a:p>
        </p:txBody>
      </p:sp>
      <p:sp>
        <p:nvSpPr>
          <p:cNvPr id="51" name="Card 51"/>
          <p:cNvSpPr/>
          <p:nvPr/>
        </p:nvSpPr>
        <p:spPr>
          <a:xfrm>
            <a:off x="5943600" y="12954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2" name="CardHead 52"/>
          <p:cNvSpPr txBox="1"/>
          <p:nvPr/>
        </p:nvSpPr>
        <p:spPr>
          <a:xfrm>
            <a:off x="6096000" y="14097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53" name="CardBody 53"/>
          <p:cNvSpPr txBox="1"/>
          <p:nvPr/>
        </p:nvSpPr>
        <p:spPr>
          <a:xfrm>
            <a:off x="6096000" y="17145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Capture 엣지 이후 Th 동안 데이터 유지 필요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새 데이터 도착이 빠름 → Hold Slack &lt; 0</a:t>
            </a:r>
          </a:p>
        </p:txBody>
      </p:sp>
      <p:sp>
        <p:nvSpPr>
          <p:cNvPr id="54" name="Card 54"/>
          <p:cNvSpPr/>
          <p:nvPr/>
        </p:nvSpPr>
        <p:spPr>
          <a:xfrm>
            <a:off x="8915400" y="12954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5" name="CardHead 55"/>
          <p:cNvSpPr txBox="1"/>
          <p:nvPr/>
        </p:nvSpPr>
        <p:spPr>
          <a:xfrm>
            <a:off x="9067800" y="14097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치명적인 이유</a:t>
            </a:r>
          </a:p>
        </p:txBody>
      </p:sp>
      <p:sp>
        <p:nvSpPr>
          <p:cNvPr id="56" name="CardBody 56"/>
          <p:cNvSpPr txBox="1"/>
          <p:nvPr/>
        </p:nvSpPr>
        <p:spPr>
          <a:xfrm>
            <a:off x="9067800" y="17145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같은 엣지에서 다음 값이 밀려 들어와 현재 값 덮어씀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주파수와 무관 → 클럭을 늦춰도 해결 불가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모든 동작 속도에서 실패</a:t>
            </a:r>
          </a:p>
        </p:txBody>
      </p:sp>
      <p:sp>
        <p:nvSpPr>
          <p:cNvPr id="57" name="Card 57"/>
          <p:cNvSpPr/>
          <p:nvPr/>
        </p:nvSpPr>
        <p:spPr>
          <a:xfrm>
            <a:off x="5943600" y="37719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8" name="CardHead 58"/>
          <p:cNvSpPr txBox="1"/>
          <p:nvPr/>
        </p:nvSpPr>
        <p:spPr>
          <a:xfrm>
            <a:off x="6096000" y="38862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발생 원인</a:t>
            </a:r>
          </a:p>
        </p:txBody>
      </p:sp>
      <p:sp>
        <p:nvSpPr>
          <p:cNvPr id="59" name="CardBody 59"/>
          <p:cNvSpPr txBox="1"/>
          <p:nvPr/>
        </p:nvSpPr>
        <p:spPr>
          <a:xfrm>
            <a:off x="6096000" y="41910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FF → FF 직결처럼 logic이 거의 없는 짧은 경로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Capture 클럭이 늦게 도착하는 큰 clock skew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일반 배선으로 만든 분주 · gated 클럭</a:t>
            </a:r>
          </a:p>
        </p:txBody>
      </p:sp>
      <p:sp>
        <p:nvSpPr>
          <p:cNvPr id="60" name="Card 60"/>
          <p:cNvSpPr/>
          <p:nvPr/>
        </p:nvSpPr>
        <p:spPr>
          <a:xfrm>
            <a:off x="8915400" y="3771900"/>
            <a:ext cx="2819400" cy="2362200"/>
          </a:xfrm>
          <a:prstGeom prst="roundRect">
            <a:avLst>
              <a:gd name="adj" fmla="val 3225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61" name="CardHead 61"/>
          <p:cNvSpPr txBox="1"/>
          <p:nvPr/>
        </p:nvSpPr>
        <p:spPr>
          <a:xfrm>
            <a:off x="9067800" y="3886200"/>
            <a:ext cx="25146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해결 방법</a:t>
            </a:r>
          </a:p>
        </p:txBody>
      </p:sp>
      <p:sp>
        <p:nvSpPr>
          <p:cNvPr id="62" name="CardBody 62"/>
          <p:cNvSpPr txBox="1"/>
          <p:nvPr/>
        </p:nvSpPr>
        <p:spPr>
          <a:xfrm>
            <a:off x="9067800" y="4191000"/>
            <a:ext cx="2514600" cy="1866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짧은 경로에 delay(buffer) 삽입 — P&amp;R 도구의 hold fixing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전용 클럭 버퍼(BUFG) · 클럭 트리로 skew 축소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분주 클럭 대신 Clock Enable(Tick) → 클럭 1개 유지</a:t>
            </a:r>
          </a:p>
        </p:txBody>
      </p:sp>
    </p:spTree>
    <p:extLst>
      <p:ext uri="{BB962C8B-B14F-4D97-AF65-F5344CB8AC3E}">
        <p14:creationId xmlns:p14="http://schemas.microsoft.com/office/powerpoint/2010/main" val="2789539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Band 21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8BDF8"/>
                </a:solidFill>
                <a:latin typeface="맑은 고딕"/>
                <a:ea typeface="맑은 고딕"/>
                <a:cs typeface="맑은 고딕"/>
              </a:rPr>
              <a:t>01 · 개념 이해 — Q2 Timing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All 71 Paths Pass at 100 MHz — Worst Slack +4.652 ns</a:t>
            </a:r>
          </a:p>
        </p:txBody>
      </p:sp>
      <p:pic>
        <p:nvPicPr>
          <p:cNvPr id="4" name="Picture 3" descr="p03_1.png"/>
          <p:cNvPicPr>
            <a:picLocks noChangeAspect="1"/>
          </p:cNvPicPr>
          <p:nvPr/>
        </p:nvPicPr>
        <p:blipFill>
          <a:blip r:embed="rId2"/>
          <a:srcRect l="26316" t="19178" b="13699"/>
          <a:stretch>
            <a:fillRect/>
          </a:stretch>
        </p:blipFill>
        <p:spPr>
          <a:xfrm>
            <a:off x="457200" y="1445950"/>
            <a:ext cx="7589520" cy="166020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75320" y="1445950"/>
            <a:ext cx="3459175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58200" y="1537390"/>
            <a:ext cx="3093415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+4.652 ns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Setup 최소 여유 </a:t>
            </a:r>
            <a:r>
              <a:rPr lang="en-US" altLang="ko-KR"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en-US"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 ns </a:t>
            </a:r>
            <a:r>
              <a:rPr lang="ko-KR" altLang="en-US"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주기 중</a:t>
            </a:r>
            <a:r>
              <a:rPr lang="en-US" altLang="ko-KR"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49070"/>
            <a:ext cx="357621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3640510"/>
            <a:ext cx="324703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Setup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006270"/>
            <a:ext cx="3247034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데이터가 다음 클럭 엣지 전에 도착하는지 검사 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WNS 4.652 ns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lang="ko-KR" altLang="en-US"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가장 작은 Setup Slack</a:t>
            </a:r>
            <a:endParaRPr sz="1100" b="0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TNS 0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</a:t>
            </a:r>
            <a:r>
              <a:rPr lang="en-US"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Negative Slack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의 합. 0 = 위반 없음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Failing 0 / 71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검사한 도착점 71개 모두 통과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3549070"/>
            <a:ext cx="357621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72330" y="3640510"/>
            <a:ext cx="324703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Hold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2330" y="4006270"/>
            <a:ext cx="3247034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300"/>
              </a:spcAft>
              <a:buChar char="•"/>
            </a:pPr>
            <a:r>
              <a:rPr lang="ko-KR" altLang="en-US"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엣지 직후 데이터가 너무 빨리 바뀌어 직전 값을 덮지 않는지 검사 </a:t>
            </a:r>
          </a:p>
          <a:p>
            <a:pPr marL="164592" indent="-164592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WHS 0.247 ns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0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lang="ko-KR" altLang="en-US" sz="110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가장 작은 Hold Slack</a:t>
            </a:r>
            <a:endParaRPr sz="1100" b="0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THS 0 · Failing 0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위반 없음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클럭을 늦춰도 안 고쳐지는 위반이라 따로 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7" y="3549070"/>
            <a:ext cx="357621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2869" y="3640510"/>
            <a:ext cx="324703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Pulse Width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2869" y="4006270"/>
            <a:ext cx="3247034" cy="1463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300"/>
              </a:spcAft>
              <a:buChar char="•"/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High/Low 폭이 FF · 클럭 버퍼의 최소 요구 폭 이상인지 검사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WPWS 4.500 ns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5 ns 반주기 중 4.5 ns 여유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TPWS 0 · Failing 0 / 58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— 위반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7 / 29</a:t>
            </a:r>
          </a:p>
        </p:txBody>
      </p:sp>
      <p:sp>
        <p:nvSpPr>
          <p:cNvPr id="22" name="SectionNo 22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Band 27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8BDF8"/>
                </a:solidFill>
                <a:latin typeface="맑은 고딕"/>
                <a:ea typeface="맑은 고딕"/>
                <a:cs typeface="맑은 고딕"/>
              </a:rPr>
              <a:t>01 · 개념 이해 — Q3 Why Tick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 Tick Keeps the Whole Design on One Clock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1874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 (10 Hz)</a:t>
            </a:r>
          </a:p>
        </p:txBody>
      </p:sp>
      <p:sp>
        <p:nvSpPr>
          <p:cNvPr id="7" name="Freeform 6"/>
          <p:cNvSpPr/>
          <p:nvPr/>
        </p:nvSpPr>
        <p:spPr>
          <a:xfrm>
            <a:off x="1737360" y="1600200"/>
            <a:ext cx="3657600" cy="274320"/>
          </a:xfrm>
          <a:custGeom>
            <a:avLst/>
            <a:gdLst/>
            <a:ahLst/>
            <a:cxnLst/>
            <a:rect l="l" t="t" r="r" b="b"/>
            <a:pathLst>
              <a:path w="3657600" h="274320">
                <a:moveTo>
                  <a:pt x="0" y="274320"/>
                </a:moveTo>
                <a:lnTo>
                  <a:pt x="41564" y="274320"/>
                </a:lnTo>
                <a:lnTo>
                  <a:pt x="41564" y="0"/>
                </a:lnTo>
                <a:lnTo>
                  <a:pt x="83127" y="0"/>
                </a:lnTo>
                <a:lnTo>
                  <a:pt x="83127" y="274320"/>
                </a:lnTo>
                <a:lnTo>
                  <a:pt x="124691" y="274320"/>
                </a:lnTo>
                <a:lnTo>
                  <a:pt x="124691" y="0"/>
                </a:lnTo>
                <a:lnTo>
                  <a:pt x="166255" y="0"/>
                </a:lnTo>
                <a:lnTo>
                  <a:pt x="166255" y="274320"/>
                </a:lnTo>
                <a:lnTo>
                  <a:pt x="207818" y="274320"/>
                </a:lnTo>
                <a:lnTo>
                  <a:pt x="207818" y="0"/>
                </a:lnTo>
                <a:lnTo>
                  <a:pt x="249382" y="0"/>
                </a:lnTo>
                <a:lnTo>
                  <a:pt x="249382" y="274320"/>
                </a:lnTo>
                <a:lnTo>
                  <a:pt x="290945" y="274320"/>
                </a:lnTo>
                <a:lnTo>
                  <a:pt x="290945" y="0"/>
                </a:lnTo>
                <a:lnTo>
                  <a:pt x="332509" y="0"/>
                </a:lnTo>
                <a:lnTo>
                  <a:pt x="332509" y="274320"/>
                </a:lnTo>
                <a:lnTo>
                  <a:pt x="374073" y="274320"/>
                </a:lnTo>
                <a:lnTo>
                  <a:pt x="374073" y="0"/>
                </a:lnTo>
                <a:lnTo>
                  <a:pt x="415636" y="0"/>
                </a:lnTo>
                <a:lnTo>
                  <a:pt x="415636" y="274320"/>
                </a:lnTo>
                <a:lnTo>
                  <a:pt x="457200" y="274320"/>
                </a:lnTo>
                <a:lnTo>
                  <a:pt x="457200" y="0"/>
                </a:lnTo>
                <a:lnTo>
                  <a:pt x="498764" y="0"/>
                </a:lnTo>
                <a:lnTo>
                  <a:pt x="498764" y="274320"/>
                </a:lnTo>
                <a:lnTo>
                  <a:pt x="540327" y="274320"/>
                </a:lnTo>
                <a:lnTo>
                  <a:pt x="540327" y="0"/>
                </a:lnTo>
                <a:lnTo>
                  <a:pt x="581891" y="0"/>
                </a:lnTo>
                <a:lnTo>
                  <a:pt x="581891" y="274320"/>
                </a:lnTo>
                <a:lnTo>
                  <a:pt x="623455" y="274320"/>
                </a:lnTo>
                <a:lnTo>
                  <a:pt x="623455" y="0"/>
                </a:lnTo>
                <a:lnTo>
                  <a:pt x="665018" y="0"/>
                </a:lnTo>
                <a:lnTo>
                  <a:pt x="665018" y="274320"/>
                </a:lnTo>
                <a:lnTo>
                  <a:pt x="706582" y="274320"/>
                </a:lnTo>
                <a:lnTo>
                  <a:pt x="706582" y="0"/>
                </a:lnTo>
                <a:lnTo>
                  <a:pt x="748145" y="0"/>
                </a:lnTo>
                <a:lnTo>
                  <a:pt x="748145" y="274320"/>
                </a:lnTo>
                <a:lnTo>
                  <a:pt x="789709" y="274320"/>
                </a:lnTo>
                <a:lnTo>
                  <a:pt x="789709" y="0"/>
                </a:lnTo>
                <a:lnTo>
                  <a:pt x="831273" y="0"/>
                </a:lnTo>
                <a:lnTo>
                  <a:pt x="831273" y="274320"/>
                </a:lnTo>
                <a:lnTo>
                  <a:pt x="872836" y="274320"/>
                </a:lnTo>
                <a:lnTo>
                  <a:pt x="872836" y="0"/>
                </a:lnTo>
                <a:lnTo>
                  <a:pt x="914400" y="0"/>
                </a:lnTo>
                <a:lnTo>
                  <a:pt x="914400" y="274320"/>
                </a:lnTo>
                <a:lnTo>
                  <a:pt x="955964" y="274320"/>
                </a:lnTo>
                <a:lnTo>
                  <a:pt x="955964" y="0"/>
                </a:lnTo>
                <a:lnTo>
                  <a:pt x="997527" y="0"/>
                </a:lnTo>
                <a:lnTo>
                  <a:pt x="997527" y="274320"/>
                </a:lnTo>
                <a:lnTo>
                  <a:pt x="1039091" y="274320"/>
                </a:lnTo>
                <a:lnTo>
                  <a:pt x="1039091" y="0"/>
                </a:lnTo>
                <a:lnTo>
                  <a:pt x="1080655" y="0"/>
                </a:lnTo>
                <a:lnTo>
                  <a:pt x="1080655" y="274320"/>
                </a:lnTo>
                <a:lnTo>
                  <a:pt x="1122218" y="274320"/>
                </a:lnTo>
                <a:lnTo>
                  <a:pt x="1122218" y="0"/>
                </a:lnTo>
                <a:lnTo>
                  <a:pt x="1163782" y="0"/>
                </a:lnTo>
                <a:lnTo>
                  <a:pt x="1163782" y="274320"/>
                </a:lnTo>
                <a:lnTo>
                  <a:pt x="1205345" y="274320"/>
                </a:lnTo>
                <a:lnTo>
                  <a:pt x="1205345" y="0"/>
                </a:lnTo>
                <a:lnTo>
                  <a:pt x="1246909" y="0"/>
                </a:lnTo>
                <a:lnTo>
                  <a:pt x="1246909" y="274320"/>
                </a:lnTo>
                <a:lnTo>
                  <a:pt x="1288473" y="274320"/>
                </a:lnTo>
                <a:lnTo>
                  <a:pt x="1288473" y="0"/>
                </a:lnTo>
                <a:lnTo>
                  <a:pt x="1330036" y="0"/>
                </a:lnTo>
                <a:lnTo>
                  <a:pt x="1330036" y="274320"/>
                </a:lnTo>
                <a:lnTo>
                  <a:pt x="1371600" y="274320"/>
                </a:lnTo>
                <a:lnTo>
                  <a:pt x="1371600" y="0"/>
                </a:lnTo>
                <a:lnTo>
                  <a:pt x="1413164" y="0"/>
                </a:lnTo>
                <a:lnTo>
                  <a:pt x="1413164" y="274320"/>
                </a:lnTo>
                <a:lnTo>
                  <a:pt x="1454727" y="274320"/>
                </a:lnTo>
                <a:lnTo>
                  <a:pt x="1454727" y="0"/>
                </a:lnTo>
                <a:lnTo>
                  <a:pt x="1496291" y="0"/>
                </a:lnTo>
                <a:lnTo>
                  <a:pt x="1496291" y="274320"/>
                </a:lnTo>
                <a:lnTo>
                  <a:pt x="1537855" y="274320"/>
                </a:lnTo>
                <a:lnTo>
                  <a:pt x="1537855" y="0"/>
                </a:lnTo>
                <a:lnTo>
                  <a:pt x="1579418" y="0"/>
                </a:lnTo>
                <a:lnTo>
                  <a:pt x="1579418" y="274320"/>
                </a:lnTo>
                <a:lnTo>
                  <a:pt x="1620982" y="274320"/>
                </a:lnTo>
                <a:lnTo>
                  <a:pt x="1620982" y="0"/>
                </a:lnTo>
                <a:lnTo>
                  <a:pt x="1662545" y="0"/>
                </a:lnTo>
                <a:lnTo>
                  <a:pt x="1662545" y="274320"/>
                </a:lnTo>
                <a:lnTo>
                  <a:pt x="1704109" y="274320"/>
                </a:lnTo>
                <a:lnTo>
                  <a:pt x="1704109" y="0"/>
                </a:lnTo>
                <a:lnTo>
                  <a:pt x="1745673" y="0"/>
                </a:lnTo>
                <a:lnTo>
                  <a:pt x="1745673" y="274320"/>
                </a:lnTo>
                <a:lnTo>
                  <a:pt x="1787236" y="274320"/>
                </a:lnTo>
                <a:lnTo>
                  <a:pt x="1787236" y="0"/>
                </a:lnTo>
                <a:lnTo>
                  <a:pt x="1828800" y="0"/>
                </a:lnTo>
                <a:lnTo>
                  <a:pt x="1828800" y="274320"/>
                </a:lnTo>
                <a:lnTo>
                  <a:pt x="1870364" y="274320"/>
                </a:lnTo>
                <a:lnTo>
                  <a:pt x="1870364" y="0"/>
                </a:lnTo>
                <a:lnTo>
                  <a:pt x="1911927" y="0"/>
                </a:lnTo>
                <a:lnTo>
                  <a:pt x="1911927" y="274320"/>
                </a:lnTo>
                <a:lnTo>
                  <a:pt x="1953491" y="274320"/>
                </a:lnTo>
                <a:lnTo>
                  <a:pt x="1953491" y="0"/>
                </a:lnTo>
                <a:lnTo>
                  <a:pt x="1995055" y="0"/>
                </a:lnTo>
                <a:lnTo>
                  <a:pt x="1995055" y="274320"/>
                </a:lnTo>
                <a:lnTo>
                  <a:pt x="2036618" y="274320"/>
                </a:lnTo>
                <a:lnTo>
                  <a:pt x="2036618" y="0"/>
                </a:lnTo>
                <a:lnTo>
                  <a:pt x="2078182" y="0"/>
                </a:lnTo>
                <a:lnTo>
                  <a:pt x="2078182" y="274320"/>
                </a:lnTo>
                <a:lnTo>
                  <a:pt x="2119745" y="274320"/>
                </a:lnTo>
                <a:lnTo>
                  <a:pt x="2119745" y="0"/>
                </a:lnTo>
                <a:lnTo>
                  <a:pt x="2161309" y="0"/>
                </a:lnTo>
                <a:lnTo>
                  <a:pt x="2161309" y="274320"/>
                </a:lnTo>
                <a:lnTo>
                  <a:pt x="2202873" y="274320"/>
                </a:lnTo>
                <a:lnTo>
                  <a:pt x="2202873" y="0"/>
                </a:lnTo>
                <a:lnTo>
                  <a:pt x="2244436" y="0"/>
                </a:lnTo>
                <a:lnTo>
                  <a:pt x="2244436" y="274320"/>
                </a:lnTo>
                <a:lnTo>
                  <a:pt x="2286000" y="274320"/>
                </a:lnTo>
                <a:lnTo>
                  <a:pt x="2286000" y="0"/>
                </a:lnTo>
                <a:lnTo>
                  <a:pt x="2327564" y="0"/>
                </a:lnTo>
                <a:lnTo>
                  <a:pt x="2327564" y="274320"/>
                </a:lnTo>
                <a:lnTo>
                  <a:pt x="2369127" y="274320"/>
                </a:lnTo>
                <a:lnTo>
                  <a:pt x="2369127" y="0"/>
                </a:lnTo>
                <a:lnTo>
                  <a:pt x="2410691" y="0"/>
                </a:lnTo>
                <a:lnTo>
                  <a:pt x="2410691" y="274320"/>
                </a:lnTo>
                <a:lnTo>
                  <a:pt x="2452255" y="274320"/>
                </a:lnTo>
                <a:lnTo>
                  <a:pt x="2452255" y="0"/>
                </a:lnTo>
                <a:lnTo>
                  <a:pt x="2493818" y="0"/>
                </a:lnTo>
                <a:lnTo>
                  <a:pt x="2493818" y="274320"/>
                </a:lnTo>
                <a:lnTo>
                  <a:pt x="2535382" y="274320"/>
                </a:lnTo>
                <a:lnTo>
                  <a:pt x="2535382" y="0"/>
                </a:lnTo>
                <a:lnTo>
                  <a:pt x="2576945" y="0"/>
                </a:lnTo>
                <a:lnTo>
                  <a:pt x="2576945" y="274320"/>
                </a:lnTo>
                <a:lnTo>
                  <a:pt x="2618509" y="274320"/>
                </a:lnTo>
                <a:lnTo>
                  <a:pt x="2618509" y="0"/>
                </a:lnTo>
                <a:lnTo>
                  <a:pt x="2660073" y="0"/>
                </a:lnTo>
                <a:lnTo>
                  <a:pt x="2660073" y="274320"/>
                </a:lnTo>
                <a:lnTo>
                  <a:pt x="2701636" y="274320"/>
                </a:lnTo>
                <a:lnTo>
                  <a:pt x="2701636" y="0"/>
                </a:lnTo>
                <a:lnTo>
                  <a:pt x="2743200" y="0"/>
                </a:lnTo>
                <a:lnTo>
                  <a:pt x="2743200" y="274320"/>
                </a:lnTo>
                <a:lnTo>
                  <a:pt x="2784764" y="274320"/>
                </a:lnTo>
                <a:lnTo>
                  <a:pt x="2784764" y="0"/>
                </a:lnTo>
                <a:lnTo>
                  <a:pt x="2826327" y="0"/>
                </a:lnTo>
                <a:lnTo>
                  <a:pt x="2826327" y="274320"/>
                </a:lnTo>
                <a:lnTo>
                  <a:pt x="2867891" y="274320"/>
                </a:lnTo>
                <a:lnTo>
                  <a:pt x="2867891" y="0"/>
                </a:lnTo>
                <a:lnTo>
                  <a:pt x="2909455" y="0"/>
                </a:lnTo>
                <a:lnTo>
                  <a:pt x="2909455" y="274320"/>
                </a:lnTo>
                <a:lnTo>
                  <a:pt x="2951018" y="274320"/>
                </a:lnTo>
                <a:lnTo>
                  <a:pt x="2951018" y="0"/>
                </a:lnTo>
                <a:lnTo>
                  <a:pt x="2992582" y="0"/>
                </a:lnTo>
                <a:lnTo>
                  <a:pt x="2992582" y="274320"/>
                </a:lnTo>
                <a:lnTo>
                  <a:pt x="3034145" y="274320"/>
                </a:lnTo>
                <a:lnTo>
                  <a:pt x="3034145" y="0"/>
                </a:lnTo>
                <a:lnTo>
                  <a:pt x="3075709" y="0"/>
                </a:lnTo>
                <a:lnTo>
                  <a:pt x="3075709" y="274320"/>
                </a:lnTo>
                <a:lnTo>
                  <a:pt x="3117273" y="274320"/>
                </a:lnTo>
                <a:lnTo>
                  <a:pt x="3117273" y="0"/>
                </a:lnTo>
                <a:lnTo>
                  <a:pt x="3158836" y="0"/>
                </a:lnTo>
                <a:lnTo>
                  <a:pt x="3158836" y="274320"/>
                </a:lnTo>
                <a:lnTo>
                  <a:pt x="3200400" y="274320"/>
                </a:lnTo>
                <a:lnTo>
                  <a:pt x="3200400" y="0"/>
                </a:lnTo>
                <a:lnTo>
                  <a:pt x="3241964" y="0"/>
                </a:lnTo>
                <a:lnTo>
                  <a:pt x="3241964" y="274320"/>
                </a:lnTo>
                <a:lnTo>
                  <a:pt x="3283527" y="274320"/>
                </a:lnTo>
                <a:lnTo>
                  <a:pt x="3283527" y="0"/>
                </a:lnTo>
                <a:lnTo>
                  <a:pt x="3325091" y="0"/>
                </a:lnTo>
                <a:lnTo>
                  <a:pt x="3325091" y="274320"/>
                </a:lnTo>
                <a:lnTo>
                  <a:pt x="3366655" y="274320"/>
                </a:lnTo>
                <a:lnTo>
                  <a:pt x="3366655" y="0"/>
                </a:lnTo>
                <a:lnTo>
                  <a:pt x="3408218" y="0"/>
                </a:lnTo>
                <a:lnTo>
                  <a:pt x="3408218" y="274320"/>
                </a:lnTo>
                <a:lnTo>
                  <a:pt x="3449782" y="274320"/>
                </a:lnTo>
                <a:lnTo>
                  <a:pt x="3449782" y="0"/>
                </a:lnTo>
                <a:lnTo>
                  <a:pt x="3491345" y="0"/>
                </a:lnTo>
                <a:lnTo>
                  <a:pt x="3491345" y="274320"/>
                </a:lnTo>
                <a:lnTo>
                  <a:pt x="3532909" y="274320"/>
                </a:lnTo>
                <a:lnTo>
                  <a:pt x="3532909" y="0"/>
                </a:lnTo>
                <a:lnTo>
                  <a:pt x="3574473" y="0"/>
                </a:lnTo>
                <a:lnTo>
                  <a:pt x="3574473" y="274320"/>
                </a:lnTo>
                <a:lnTo>
                  <a:pt x="3616036" y="274320"/>
                </a:lnTo>
                <a:lnTo>
                  <a:pt x="3616036" y="0"/>
                </a:lnTo>
                <a:lnTo>
                  <a:pt x="3657600" y="0"/>
                </a:lnTo>
              </a:path>
            </a:pathLst>
          </a:custGeom>
          <a:noFill/>
          <a:ln w="952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Freeform 7"/>
          <p:cNvSpPr/>
          <p:nvPr/>
        </p:nvSpPr>
        <p:spPr>
          <a:xfrm>
            <a:off x="5852160" y="1600200"/>
            <a:ext cx="3108960" cy="274320"/>
          </a:xfrm>
          <a:custGeom>
            <a:avLst/>
            <a:gdLst/>
            <a:ahLst/>
            <a:cxnLst/>
            <a:rect l="l" t="t" r="r" b="b"/>
            <a:pathLst>
              <a:path w="3108960" h="274320">
                <a:moveTo>
                  <a:pt x="0" y="274320"/>
                </a:moveTo>
                <a:lnTo>
                  <a:pt x="42013" y="274320"/>
                </a:lnTo>
                <a:lnTo>
                  <a:pt x="42013" y="0"/>
                </a:lnTo>
                <a:lnTo>
                  <a:pt x="84026" y="0"/>
                </a:lnTo>
                <a:lnTo>
                  <a:pt x="84026" y="274320"/>
                </a:lnTo>
                <a:lnTo>
                  <a:pt x="126039" y="274320"/>
                </a:lnTo>
                <a:lnTo>
                  <a:pt x="126039" y="0"/>
                </a:lnTo>
                <a:lnTo>
                  <a:pt x="168052" y="0"/>
                </a:lnTo>
                <a:lnTo>
                  <a:pt x="168052" y="274320"/>
                </a:lnTo>
                <a:lnTo>
                  <a:pt x="210065" y="274320"/>
                </a:lnTo>
                <a:lnTo>
                  <a:pt x="210065" y="0"/>
                </a:lnTo>
                <a:lnTo>
                  <a:pt x="252078" y="0"/>
                </a:lnTo>
                <a:lnTo>
                  <a:pt x="252078" y="274320"/>
                </a:lnTo>
                <a:lnTo>
                  <a:pt x="294091" y="274320"/>
                </a:lnTo>
                <a:lnTo>
                  <a:pt x="294091" y="0"/>
                </a:lnTo>
                <a:lnTo>
                  <a:pt x="336104" y="0"/>
                </a:lnTo>
                <a:lnTo>
                  <a:pt x="336104" y="274320"/>
                </a:lnTo>
                <a:lnTo>
                  <a:pt x="378117" y="274320"/>
                </a:lnTo>
                <a:lnTo>
                  <a:pt x="378117" y="0"/>
                </a:lnTo>
                <a:lnTo>
                  <a:pt x="420130" y="0"/>
                </a:lnTo>
                <a:lnTo>
                  <a:pt x="420130" y="274320"/>
                </a:lnTo>
                <a:lnTo>
                  <a:pt x="462143" y="274320"/>
                </a:lnTo>
                <a:lnTo>
                  <a:pt x="462143" y="0"/>
                </a:lnTo>
                <a:lnTo>
                  <a:pt x="504156" y="0"/>
                </a:lnTo>
                <a:lnTo>
                  <a:pt x="504156" y="274320"/>
                </a:lnTo>
                <a:lnTo>
                  <a:pt x="546169" y="274320"/>
                </a:lnTo>
                <a:lnTo>
                  <a:pt x="546169" y="0"/>
                </a:lnTo>
                <a:lnTo>
                  <a:pt x="588182" y="0"/>
                </a:lnTo>
                <a:lnTo>
                  <a:pt x="588182" y="274320"/>
                </a:lnTo>
                <a:lnTo>
                  <a:pt x="630195" y="274320"/>
                </a:lnTo>
                <a:lnTo>
                  <a:pt x="630195" y="0"/>
                </a:lnTo>
                <a:lnTo>
                  <a:pt x="672208" y="0"/>
                </a:lnTo>
                <a:lnTo>
                  <a:pt x="672208" y="274320"/>
                </a:lnTo>
                <a:lnTo>
                  <a:pt x="714221" y="274320"/>
                </a:lnTo>
                <a:lnTo>
                  <a:pt x="714221" y="0"/>
                </a:lnTo>
                <a:lnTo>
                  <a:pt x="756234" y="0"/>
                </a:lnTo>
                <a:lnTo>
                  <a:pt x="756234" y="274320"/>
                </a:lnTo>
                <a:lnTo>
                  <a:pt x="798246" y="274320"/>
                </a:lnTo>
                <a:lnTo>
                  <a:pt x="798246" y="0"/>
                </a:lnTo>
                <a:lnTo>
                  <a:pt x="840259" y="0"/>
                </a:lnTo>
                <a:lnTo>
                  <a:pt x="840259" y="274320"/>
                </a:lnTo>
                <a:lnTo>
                  <a:pt x="882272" y="274320"/>
                </a:lnTo>
                <a:lnTo>
                  <a:pt x="882272" y="0"/>
                </a:lnTo>
                <a:lnTo>
                  <a:pt x="924285" y="0"/>
                </a:lnTo>
                <a:lnTo>
                  <a:pt x="924285" y="274320"/>
                </a:lnTo>
                <a:lnTo>
                  <a:pt x="966298" y="274320"/>
                </a:lnTo>
                <a:lnTo>
                  <a:pt x="966298" y="0"/>
                </a:lnTo>
                <a:lnTo>
                  <a:pt x="1008311" y="0"/>
                </a:lnTo>
                <a:lnTo>
                  <a:pt x="1008311" y="274320"/>
                </a:lnTo>
                <a:lnTo>
                  <a:pt x="1050324" y="274320"/>
                </a:lnTo>
                <a:lnTo>
                  <a:pt x="1050324" y="0"/>
                </a:lnTo>
                <a:lnTo>
                  <a:pt x="1092337" y="0"/>
                </a:lnTo>
                <a:lnTo>
                  <a:pt x="1092337" y="274320"/>
                </a:lnTo>
                <a:lnTo>
                  <a:pt x="1134350" y="274320"/>
                </a:lnTo>
                <a:lnTo>
                  <a:pt x="1134350" y="0"/>
                </a:lnTo>
                <a:lnTo>
                  <a:pt x="1176363" y="0"/>
                </a:lnTo>
                <a:lnTo>
                  <a:pt x="1176363" y="274320"/>
                </a:lnTo>
                <a:lnTo>
                  <a:pt x="1218376" y="274320"/>
                </a:lnTo>
                <a:lnTo>
                  <a:pt x="1218376" y="0"/>
                </a:lnTo>
                <a:lnTo>
                  <a:pt x="1260389" y="0"/>
                </a:lnTo>
                <a:lnTo>
                  <a:pt x="1260389" y="274320"/>
                </a:lnTo>
                <a:lnTo>
                  <a:pt x="1302402" y="274320"/>
                </a:lnTo>
                <a:lnTo>
                  <a:pt x="1302402" y="0"/>
                </a:lnTo>
                <a:lnTo>
                  <a:pt x="1344415" y="0"/>
                </a:lnTo>
                <a:lnTo>
                  <a:pt x="1344415" y="274320"/>
                </a:lnTo>
                <a:lnTo>
                  <a:pt x="1386428" y="274320"/>
                </a:lnTo>
                <a:lnTo>
                  <a:pt x="1386428" y="0"/>
                </a:lnTo>
                <a:lnTo>
                  <a:pt x="1428441" y="0"/>
                </a:lnTo>
                <a:lnTo>
                  <a:pt x="1428441" y="274320"/>
                </a:lnTo>
                <a:lnTo>
                  <a:pt x="1470454" y="274320"/>
                </a:lnTo>
                <a:lnTo>
                  <a:pt x="1470454" y="0"/>
                </a:lnTo>
                <a:lnTo>
                  <a:pt x="1512467" y="0"/>
                </a:lnTo>
                <a:lnTo>
                  <a:pt x="1512467" y="274320"/>
                </a:lnTo>
                <a:lnTo>
                  <a:pt x="1554480" y="274320"/>
                </a:lnTo>
                <a:lnTo>
                  <a:pt x="1554480" y="0"/>
                </a:lnTo>
                <a:lnTo>
                  <a:pt x="1596493" y="0"/>
                </a:lnTo>
                <a:lnTo>
                  <a:pt x="1596493" y="274320"/>
                </a:lnTo>
                <a:lnTo>
                  <a:pt x="1638506" y="274320"/>
                </a:lnTo>
                <a:lnTo>
                  <a:pt x="1638506" y="0"/>
                </a:lnTo>
                <a:lnTo>
                  <a:pt x="1680519" y="0"/>
                </a:lnTo>
                <a:lnTo>
                  <a:pt x="1680519" y="274320"/>
                </a:lnTo>
                <a:lnTo>
                  <a:pt x="1722532" y="274320"/>
                </a:lnTo>
                <a:lnTo>
                  <a:pt x="1722532" y="0"/>
                </a:lnTo>
                <a:lnTo>
                  <a:pt x="1764545" y="0"/>
                </a:lnTo>
                <a:lnTo>
                  <a:pt x="1764545" y="274320"/>
                </a:lnTo>
                <a:lnTo>
                  <a:pt x="1806558" y="274320"/>
                </a:lnTo>
                <a:lnTo>
                  <a:pt x="1806558" y="0"/>
                </a:lnTo>
                <a:lnTo>
                  <a:pt x="1848571" y="0"/>
                </a:lnTo>
                <a:lnTo>
                  <a:pt x="1848571" y="274320"/>
                </a:lnTo>
                <a:lnTo>
                  <a:pt x="1890584" y="274320"/>
                </a:lnTo>
                <a:lnTo>
                  <a:pt x="1890584" y="0"/>
                </a:lnTo>
                <a:lnTo>
                  <a:pt x="1932597" y="0"/>
                </a:lnTo>
                <a:lnTo>
                  <a:pt x="1932597" y="274320"/>
                </a:lnTo>
                <a:lnTo>
                  <a:pt x="1974610" y="274320"/>
                </a:lnTo>
                <a:lnTo>
                  <a:pt x="1974610" y="0"/>
                </a:lnTo>
                <a:lnTo>
                  <a:pt x="2016623" y="0"/>
                </a:lnTo>
                <a:lnTo>
                  <a:pt x="2016623" y="274320"/>
                </a:lnTo>
                <a:lnTo>
                  <a:pt x="2058636" y="274320"/>
                </a:lnTo>
                <a:lnTo>
                  <a:pt x="2058636" y="0"/>
                </a:lnTo>
                <a:lnTo>
                  <a:pt x="2100649" y="0"/>
                </a:lnTo>
                <a:lnTo>
                  <a:pt x="2100649" y="274320"/>
                </a:lnTo>
                <a:lnTo>
                  <a:pt x="2142662" y="274320"/>
                </a:lnTo>
                <a:lnTo>
                  <a:pt x="2142662" y="0"/>
                </a:lnTo>
                <a:lnTo>
                  <a:pt x="2184675" y="0"/>
                </a:lnTo>
                <a:lnTo>
                  <a:pt x="2184675" y="274320"/>
                </a:lnTo>
                <a:lnTo>
                  <a:pt x="2226688" y="274320"/>
                </a:lnTo>
                <a:lnTo>
                  <a:pt x="2226688" y="0"/>
                </a:lnTo>
                <a:lnTo>
                  <a:pt x="2268701" y="0"/>
                </a:lnTo>
                <a:lnTo>
                  <a:pt x="2268701" y="274320"/>
                </a:lnTo>
                <a:lnTo>
                  <a:pt x="2310714" y="274320"/>
                </a:lnTo>
                <a:lnTo>
                  <a:pt x="2310714" y="0"/>
                </a:lnTo>
                <a:lnTo>
                  <a:pt x="2352726" y="0"/>
                </a:lnTo>
                <a:lnTo>
                  <a:pt x="2352726" y="274320"/>
                </a:lnTo>
                <a:lnTo>
                  <a:pt x="2394739" y="274320"/>
                </a:lnTo>
                <a:lnTo>
                  <a:pt x="2394739" y="0"/>
                </a:lnTo>
                <a:lnTo>
                  <a:pt x="2436752" y="0"/>
                </a:lnTo>
                <a:lnTo>
                  <a:pt x="2436752" y="274320"/>
                </a:lnTo>
                <a:lnTo>
                  <a:pt x="2478765" y="274320"/>
                </a:lnTo>
                <a:lnTo>
                  <a:pt x="2478765" y="0"/>
                </a:lnTo>
                <a:lnTo>
                  <a:pt x="2520778" y="0"/>
                </a:lnTo>
                <a:lnTo>
                  <a:pt x="2520778" y="274320"/>
                </a:lnTo>
                <a:lnTo>
                  <a:pt x="2562791" y="274320"/>
                </a:lnTo>
                <a:lnTo>
                  <a:pt x="2562791" y="0"/>
                </a:lnTo>
                <a:lnTo>
                  <a:pt x="2604804" y="0"/>
                </a:lnTo>
                <a:lnTo>
                  <a:pt x="2604804" y="274320"/>
                </a:lnTo>
                <a:lnTo>
                  <a:pt x="2646817" y="274320"/>
                </a:lnTo>
                <a:lnTo>
                  <a:pt x="2646817" y="0"/>
                </a:lnTo>
                <a:lnTo>
                  <a:pt x="2688830" y="0"/>
                </a:lnTo>
                <a:lnTo>
                  <a:pt x="2688830" y="274320"/>
                </a:lnTo>
                <a:lnTo>
                  <a:pt x="2730843" y="274320"/>
                </a:lnTo>
                <a:lnTo>
                  <a:pt x="2730843" y="0"/>
                </a:lnTo>
                <a:lnTo>
                  <a:pt x="2772856" y="0"/>
                </a:lnTo>
                <a:lnTo>
                  <a:pt x="2772856" y="274320"/>
                </a:lnTo>
                <a:lnTo>
                  <a:pt x="2814869" y="274320"/>
                </a:lnTo>
                <a:lnTo>
                  <a:pt x="2814869" y="0"/>
                </a:lnTo>
                <a:lnTo>
                  <a:pt x="2856882" y="0"/>
                </a:lnTo>
                <a:lnTo>
                  <a:pt x="2856882" y="274320"/>
                </a:lnTo>
                <a:lnTo>
                  <a:pt x="2898895" y="274320"/>
                </a:lnTo>
                <a:lnTo>
                  <a:pt x="2898895" y="0"/>
                </a:lnTo>
                <a:lnTo>
                  <a:pt x="2940908" y="0"/>
                </a:lnTo>
                <a:lnTo>
                  <a:pt x="2940908" y="274320"/>
                </a:lnTo>
                <a:lnTo>
                  <a:pt x="2982921" y="274320"/>
                </a:lnTo>
                <a:lnTo>
                  <a:pt x="2982921" y="0"/>
                </a:lnTo>
                <a:lnTo>
                  <a:pt x="3024934" y="0"/>
                </a:lnTo>
                <a:lnTo>
                  <a:pt x="3024934" y="274320"/>
                </a:lnTo>
                <a:lnTo>
                  <a:pt x="3066947" y="274320"/>
                </a:lnTo>
                <a:lnTo>
                  <a:pt x="3066947" y="0"/>
                </a:lnTo>
                <a:lnTo>
                  <a:pt x="3108960" y="0"/>
                </a:lnTo>
              </a:path>
            </a:pathLst>
          </a:custGeom>
          <a:noFill/>
          <a:ln w="952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Freeform 8"/>
          <p:cNvSpPr/>
          <p:nvPr/>
        </p:nvSpPr>
        <p:spPr>
          <a:xfrm>
            <a:off x="9326880" y="1600200"/>
            <a:ext cx="2011680" cy="274320"/>
          </a:xfrm>
          <a:custGeom>
            <a:avLst/>
            <a:gdLst/>
            <a:ahLst/>
            <a:cxnLst/>
            <a:rect l="l" t="t" r="r" b="b"/>
            <a:pathLst>
              <a:path w="2011680" h="274320">
                <a:moveTo>
                  <a:pt x="0" y="274320"/>
                </a:moveTo>
                <a:lnTo>
                  <a:pt x="41910" y="274320"/>
                </a:lnTo>
                <a:lnTo>
                  <a:pt x="41910" y="0"/>
                </a:lnTo>
                <a:lnTo>
                  <a:pt x="83820" y="0"/>
                </a:lnTo>
                <a:lnTo>
                  <a:pt x="83820" y="274320"/>
                </a:lnTo>
                <a:lnTo>
                  <a:pt x="125730" y="274320"/>
                </a:lnTo>
                <a:lnTo>
                  <a:pt x="125730" y="0"/>
                </a:lnTo>
                <a:lnTo>
                  <a:pt x="167640" y="0"/>
                </a:lnTo>
                <a:lnTo>
                  <a:pt x="167640" y="274320"/>
                </a:lnTo>
                <a:lnTo>
                  <a:pt x="209550" y="274320"/>
                </a:lnTo>
                <a:lnTo>
                  <a:pt x="209550" y="0"/>
                </a:lnTo>
                <a:lnTo>
                  <a:pt x="251460" y="0"/>
                </a:lnTo>
                <a:lnTo>
                  <a:pt x="251460" y="274320"/>
                </a:lnTo>
                <a:lnTo>
                  <a:pt x="293370" y="274320"/>
                </a:lnTo>
                <a:lnTo>
                  <a:pt x="293370" y="0"/>
                </a:lnTo>
                <a:lnTo>
                  <a:pt x="335280" y="0"/>
                </a:lnTo>
                <a:lnTo>
                  <a:pt x="335280" y="274320"/>
                </a:lnTo>
                <a:lnTo>
                  <a:pt x="377190" y="274320"/>
                </a:lnTo>
                <a:lnTo>
                  <a:pt x="377190" y="0"/>
                </a:lnTo>
                <a:lnTo>
                  <a:pt x="419100" y="0"/>
                </a:lnTo>
                <a:lnTo>
                  <a:pt x="419100" y="274320"/>
                </a:lnTo>
                <a:lnTo>
                  <a:pt x="461010" y="274320"/>
                </a:lnTo>
                <a:lnTo>
                  <a:pt x="461010" y="0"/>
                </a:lnTo>
                <a:lnTo>
                  <a:pt x="502920" y="0"/>
                </a:lnTo>
                <a:lnTo>
                  <a:pt x="502920" y="274320"/>
                </a:lnTo>
                <a:lnTo>
                  <a:pt x="544830" y="274320"/>
                </a:lnTo>
                <a:lnTo>
                  <a:pt x="544830" y="0"/>
                </a:lnTo>
                <a:lnTo>
                  <a:pt x="586740" y="0"/>
                </a:lnTo>
                <a:lnTo>
                  <a:pt x="586740" y="274320"/>
                </a:lnTo>
                <a:lnTo>
                  <a:pt x="628650" y="274320"/>
                </a:lnTo>
                <a:lnTo>
                  <a:pt x="628650" y="0"/>
                </a:lnTo>
                <a:lnTo>
                  <a:pt x="670560" y="0"/>
                </a:lnTo>
                <a:lnTo>
                  <a:pt x="670560" y="274320"/>
                </a:lnTo>
                <a:lnTo>
                  <a:pt x="712470" y="274320"/>
                </a:lnTo>
                <a:lnTo>
                  <a:pt x="712470" y="0"/>
                </a:lnTo>
                <a:lnTo>
                  <a:pt x="754380" y="0"/>
                </a:lnTo>
                <a:lnTo>
                  <a:pt x="754380" y="274320"/>
                </a:lnTo>
                <a:lnTo>
                  <a:pt x="796290" y="274320"/>
                </a:lnTo>
                <a:lnTo>
                  <a:pt x="796290" y="0"/>
                </a:lnTo>
                <a:lnTo>
                  <a:pt x="838200" y="0"/>
                </a:lnTo>
                <a:lnTo>
                  <a:pt x="838200" y="274320"/>
                </a:lnTo>
                <a:lnTo>
                  <a:pt x="880110" y="274320"/>
                </a:lnTo>
                <a:lnTo>
                  <a:pt x="880110" y="0"/>
                </a:lnTo>
                <a:lnTo>
                  <a:pt x="922020" y="0"/>
                </a:lnTo>
                <a:lnTo>
                  <a:pt x="922020" y="274320"/>
                </a:lnTo>
                <a:lnTo>
                  <a:pt x="963930" y="274320"/>
                </a:lnTo>
                <a:lnTo>
                  <a:pt x="963930" y="0"/>
                </a:lnTo>
                <a:lnTo>
                  <a:pt x="1005840" y="0"/>
                </a:lnTo>
                <a:lnTo>
                  <a:pt x="1005840" y="274320"/>
                </a:lnTo>
                <a:lnTo>
                  <a:pt x="1047750" y="274320"/>
                </a:lnTo>
                <a:lnTo>
                  <a:pt x="1047750" y="0"/>
                </a:lnTo>
                <a:lnTo>
                  <a:pt x="1089660" y="0"/>
                </a:lnTo>
                <a:lnTo>
                  <a:pt x="1089660" y="274320"/>
                </a:lnTo>
                <a:lnTo>
                  <a:pt x="1131570" y="274320"/>
                </a:lnTo>
                <a:lnTo>
                  <a:pt x="1131570" y="0"/>
                </a:lnTo>
                <a:lnTo>
                  <a:pt x="1173480" y="0"/>
                </a:lnTo>
                <a:lnTo>
                  <a:pt x="1173480" y="274320"/>
                </a:lnTo>
                <a:lnTo>
                  <a:pt x="1215390" y="274320"/>
                </a:lnTo>
                <a:lnTo>
                  <a:pt x="1215390" y="0"/>
                </a:lnTo>
                <a:lnTo>
                  <a:pt x="1257300" y="0"/>
                </a:lnTo>
                <a:lnTo>
                  <a:pt x="1257300" y="274320"/>
                </a:lnTo>
                <a:lnTo>
                  <a:pt x="1299210" y="274320"/>
                </a:lnTo>
                <a:lnTo>
                  <a:pt x="1299210" y="0"/>
                </a:lnTo>
                <a:lnTo>
                  <a:pt x="1341120" y="0"/>
                </a:lnTo>
                <a:lnTo>
                  <a:pt x="1341120" y="274320"/>
                </a:lnTo>
                <a:lnTo>
                  <a:pt x="1383030" y="274320"/>
                </a:lnTo>
                <a:lnTo>
                  <a:pt x="1383030" y="0"/>
                </a:lnTo>
                <a:lnTo>
                  <a:pt x="1424940" y="0"/>
                </a:lnTo>
                <a:lnTo>
                  <a:pt x="1424940" y="274320"/>
                </a:lnTo>
                <a:lnTo>
                  <a:pt x="1466850" y="274320"/>
                </a:lnTo>
                <a:lnTo>
                  <a:pt x="1466850" y="0"/>
                </a:lnTo>
                <a:lnTo>
                  <a:pt x="1508760" y="0"/>
                </a:lnTo>
                <a:lnTo>
                  <a:pt x="1508760" y="274320"/>
                </a:lnTo>
                <a:lnTo>
                  <a:pt x="1550670" y="274320"/>
                </a:lnTo>
                <a:lnTo>
                  <a:pt x="1550670" y="0"/>
                </a:lnTo>
                <a:lnTo>
                  <a:pt x="1592580" y="0"/>
                </a:lnTo>
                <a:lnTo>
                  <a:pt x="1592580" y="274320"/>
                </a:lnTo>
                <a:lnTo>
                  <a:pt x="1634490" y="274320"/>
                </a:lnTo>
                <a:lnTo>
                  <a:pt x="1634490" y="0"/>
                </a:lnTo>
                <a:lnTo>
                  <a:pt x="1676400" y="0"/>
                </a:lnTo>
                <a:lnTo>
                  <a:pt x="1676400" y="274320"/>
                </a:lnTo>
                <a:lnTo>
                  <a:pt x="1718310" y="274320"/>
                </a:lnTo>
                <a:lnTo>
                  <a:pt x="1718310" y="0"/>
                </a:lnTo>
                <a:lnTo>
                  <a:pt x="1760220" y="0"/>
                </a:lnTo>
                <a:lnTo>
                  <a:pt x="1760220" y="274320"/>
                </a:lnTo>
                <a:lnTo>
                  <a:pt x="1802130" y="274320"/>
                </a:lnTo>
                <a:lnTo>
                  <a:pt x="1802130" y="0"/>
                </a:lnTo>
                <a:lnTo>
                  <a:pt x="1844040" y="0"/>
                </a:lnTo>
                <a:lnTo>
                  <a:pt x="1844040" y="274320"/>
                </a:lnTo>
                <a:lnTo>
                  <a:pt x="1885950" y="274320"/>
                </a:lnTo>
                <a:lnTo>
                  <a:pt x="1885950" y="0"/>
                </a:lnTo>
                <a:lnTo>
                  <a:pt x="1927860" y="0"/>
                </a:lnTo>
                <a:lnTo>
                  <a:pt x="1927860" y="274320"/>
                </a:lnTo>
                <a:lnTo>
                  <a:pt x="1969770" y="274320"/>
                </a:lnTo>
                <a:lnTo>
                  <a:pt x="1969770" y="0"/>
                </a:lnTo>
                <a:lnTo>
                  <a:pt x="2011680" y="0"/>
                </a:lnTo>
              </a:path>
            </a:pathLst>
          </a:custGeom>
          <a:noFill/>
          <a:ln w="952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40680" y="1645920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1645920"/>
            <a:ext cx="3657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12" name="Freeform 11"/>
          <p:cNvSpPr/>
          <p:nvPr/>
        </p:nvSpPr>
        <p:spPr>
          <a:xfrm>
            <a:off x="1737360" y="2240280"/>
            <a:ext cx="9601200" cy="274320"/>
          </a:xfrm>
          <a:custGeom>
            <a:avLst/>
            <a:gdLst/>
            <a:ahLst/>
            <a:cxnLst/>
            <a:rect l="l" t="t" r="r" b="b"/>
            <a:pathLst>
              <a:path w="9601200" h="274320">
                <a:moveTo>
                  <a:pt x="0" y="274320"/>
                </a:moveTo>
                <a:lnTo>
                  <a:pt x="1554480" y="274320"/>
                </a:lnTo>
                <a:lnTo>
                  <a:pt x="1554480" y="0"/>
                </a:lnTo>
                <a:lnTo>
                  <a:pt x="1636776" y="0"/>
                </a:lnTo>
                <a:lnTo>
                  <a:pt x="1636776" y="274320"/>
                </a:lnTo>
                <a:lnTo>
                  <a:pt x="3383280" y="274320"/>
                </a:lnTo>
                <a:lnTo>
                  <a:pt x="3383280" y="0"/>
                </a:lnTo>
                <a:lnTo>
                  <a:pt x="3465576" y="0"/>
                </a:lnTo>
                <a:lnTo>
                  <a:pt x="3465576" y="274320"/>
                </a:lnTo>
                <a:lnTo>
                  <a:pt x="5486400" y="274320"/>
                </a:lnTo>
                <a:lnTo>
                  <a:pt x="5486400" y="0"/>
                </a:lnTo>
                <a:lnTo>
                  <a:pt x="5568696" y="0"/>
                </a:lnTo>
                <a:lnTo>
                  <a:pt x="5568696" y="274320"/>
                </a:lnTo>
                <a:lnTo>
                  <a:pt x="6858000" y="274320"/>
                </a:lnTo>
                <a:lnTo>
                  <a:pt x="6858000" y="0"/>
                </a:lnTo>
                <a:lnTo>
                  <a:pt x="6940296" y="0"/>
                </a:lnTo>
                <a:lnTo>
                  <a:pt x="6940296" y="274320"/>
                </a:lnTo>
                <a:lnTo>
                  <a:pt x="9601200" y="274320"/>
                </a:lnTo>
              </a:path>
            </a:pathLst>
          </a:custGeom>
          <a:noFill/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755648" y="2788920"/>
            <a:ext cx="1517904" cy="0"/>
          </a:xfrm>
          <a:prstGeom prst="line">
            <a:avLst/>
          </a:prstGeom>
          <a:ln w="12700">
            <a:solidFill>
              <a:srgbClr val="6B728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737360" y="281635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0.1 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10128" y="2788920"/>
            <a:ext cx="1792224" cy="0"/>
          </a:xfrm>
          <a:prstGeom prst="line">
            <a:avLst/>
          </a:prstGeom>
          <a:ln w="12700">
            <a:solidFill>
              <a:srgbClr val="6B728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40" y="281635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0.1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2697480"/>
            <a:ext cx="25603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1 s = Tick 10개</a:t>
            </a:r>
          </a:p>
          <a:p>
            <a:pPr algn="l"/>
            <a:r>
              <a:rPr sz="1000" b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 폭 = 1클럭(10 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8328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5135728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✗  분주 클럭으로 카운터를 돌릴 경우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분주 출력은 일반 배선 → Skew가 큼 (Q1)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도메인이 늘어남 → 도메인 사이 신호 전달 시 메타스테이블 위험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도구가 새 클럭을 모를 경우 그 경로는 타이밍 검사 누락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조합 논리로 만든 클럭은 Glitch → 의도치 않은 엣지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전용 클럭 버퍼 수가 제한됨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8" y="338328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5888" y="3474720"/>
            <a:ext cx="5135728" cy="2011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 Tick을 쓸 경우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모든 FF가 100 MHz 클럭 1개 → 전 경로가 타이밍 검사 대상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= 1클럭 폭 '일 허가' 신호 → FF의 CE 핀으로 연결됨 (p.13)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 자원은 그대로 쓰고, 일의 단위(0.1초)만 정의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주기는 숫자 하나(끝값)로 변경, 여러 주기 Tick도 같은 클럭에서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8 / 29</a:t>
            </a:r>
          </a:p>
        </p:txBody>
      </p:sp>
      <p:sp>
        <p:nvSpPr>
          <p:cNvPr id="28" name="SectionNo 28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Band 29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8BDF8"/>
                </a:solidFill>
                <a:latin typeface="맑은 고딕"/>
                <a:ea typeface="맑은 고딕"/>
                <a:cs typeface="맑은 고딕"/>
              </a:rPr>
              <a:t>01 · 개념 이해 — Q4 Combinational vs Sequential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Combinational Reacts at Once, Sequential Waits for the Edge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5176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조합 출력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순차 출력</a:t>
            </a:r>
          </a:p>
        </p:txBody>
      </p:sp>
      <p:sp>
        <p:nvSpPr>
          <p:cNvPr id="9" name="Freeform 8"/>
          <p:cNvSpPr/>
          <p:nvPr/>
        </p:nvSpPr>
        <p:spPr>
          <a:xfrm>
            <a:off x="2103120" y="158191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777240" y="274320"/>
                </a:lnTo>
                <a:lnTo>
                  <a:pt x="777240" y="0"/>
                </a:lnTo>
                <a:lnTo>
                  <a:pt x="1554480" y="0"/>
                </a:lnTo>
                <a:lnTo>
                  <a:pt x="1554480" y="274320"/>
                </a:lnTo>
                <a:lnTo>
                  <a:pt x="2331720" y="274320"/>
                </a:lnTo>
                <a:lnTo>
                  <a:pt x="2331720" y="0"/>
                </a:lnTo>
                <a:lnTo>
                  <a:pt x="3108960" y="0"/>
                </a:lnTo>
                <a:lnTo>
                  <a:pt x="3108960" y="274320"/>
                </a:lnTo>
                <a:lnTo>
                  <a:pt x="3886200" y="274320"/>
                </a:lnTo>
                <a:lnTo>
                  <a:pt x="3886200" y="0"/>
                </a:lnTo>
                <a:lnTo>
                  <a:pt x="4663440" y="0"/>
                </a:lnTo>
                <a:lnTo>
                  <a:pt x="4663440" y="274320"/>
                </a:lnTo>
                <a:lnTo>
                  <a:pt x="5440680" y="274320"/>
                </a:lnTo>
                <a:lnTo>
                  <a:pt x="5440680" y="0"/>
                </a:lnTo>
                <a:lnTo>
                  <a:pt x="6217920" y="0"/>
                </a:lnTo>
                <a:lnTo>
                  <a:pt x="6217920" y="274320"/>
                </a:lnTo>
                <a:lnTo>
                  <a:pt x="6995160" y="274320"/>
                </a:lnTo>
                <a:lnTo>
                  <a:pt x="6995160" y="0"/>
                </a:lnTo>
                <a:lnTo>
                  <a:pt x="7772400" y="0"/>
                </a:lnTo>
                <a:lnTo>
                  <a:pt x="7772400" y="274320"/>
                </a:lnTo>
                <a:lnTo>
                  <a:pt x="8549640" y="274320"/>
                </a:lnTo>
                <a:lnTo>
                  <a:pt x="8549640" y="0"/>
                </a:lnTo>
                <a:lnTo>
                  <a:pt x="9326880" y="0"/>
                </a:lnTo>
              </a:path>
            </a:pathLst>
          </a:custGeom>
          <a:noFill/>
          <a:ln w="15875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2103120" y="213055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1958645" y="274320"/>
                </a:lnTo>
                <a:lnTo>
                  <a:pt x="1958645" y="0"/>
                </a:lnTo>
                <a:lnTo>
                  <a:pt x="3357677" y="0"/>
                </a:lnTo>
                <a:lnTo>
                  <a:pt x="3357677" y="274320"/>
                </a:lnTo>
                <a:lnTo>
                  <a:pt x="4943246" y="274320"/>
                </a:lnTo>
                <a:lnTo>
                  <a:pt x="4943246" y="0"/>
                </a:lnTo>
                <a:lnTo>
                  <a:pt x="5083150" y="0"/>
                </a:lnTo>
                <a:lnTo>
                  <a:pt x="5083150" y="274320"/>
                </a:lnTo>
                <a:lnTo>
                  <a:pt x="6528816" y="274320"/>
                </a:lnTo>
                <a:lnTo>
                  <a:pt x="6528816" y="0"/>
                </a:lnTo>
                <a:lnTo>
                  <a:pt x="9326880" y="0"/>
                </a:lnTo>
              </a:path>
            </a:pathLst>
          </a:custGeom>
          <a:noFill/>
          <a:ln w="1905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2103120" y="267919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2070567" y="274320"/>
                </a:lnTo>
                <a:lnTo>
                  <a:pt x="2070567" y="0"/>
                </a:lnTo>
                <a:lnTo>
                  <a:pt x="3469599" y="0"/>
                </a:lnTo>
                <a:lnTo>
                  <a:pt x="3469599" y="274320"/>
                </a:lnTo>
                <a:lnTo>
                  <a:pt x="5055169" y="274320"/>
                </a:lnTo>
                <a:lnTo>
                  <a:pt x="5055169" y="0"/>
                </a:lnTo>
                <a:lnTo>
                  <a:pt x="5195072" y="0"/>
                </a:lnTo>
                <a:lnTo>
                  <a:pt x="5195072" y="274320"/>
                </a:lnTo>
                <a:lnTo>
                  <a:pt x="6640739" y="274320"/>
                </a:lnTo>
                <a:lnTo>
                  <a:pt x="6640739" y="0"/>
                </a:lnTo>
                <a:lnTo>
                  <a:pt x="9326880" y="0"/>
                </a:lnTo>
              </a:path>
            </a:pathLst>
          </a:custGeom>
          <a:noFill/>
          <a:ln w="2222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2103120" y="3227832"/>
            <a:ext cx="9326880" cy="274320"/>
          </a:xfrm>
          <a:custGeom>
            <a:avLst/>
            <a:gdLst/>
            <a:ahLst/>
            <a:cxnLst/>
            <a:rect l="l" t="t" r="r" b="b"/>
            <a:pathLst>
              <a:path w="9326880" h="274320">
                <a:moveTo>
                  <a:pt x="0" y="274320"/>
                </a:moveTo>
                <a:lnTo>
                  <a:pt x="2387681" y="274320"/>
                </a:lnTo>
                <a:lnTo>
                  <a:pt x="2387681" y="0"/>
                </a:lnTo>
                <a:lnTo>
                  <a:pt x="3942161" y="0"/>
                </a:lnTo>
                <a:lnTo>
                  <a:pt x="3942161" y="274320"/>
                </a:lnTo>
                <a:lnTo>
                  <a:pt x="7051121" y="274320"/>
                </a:lnTo>
                <a:lnTo>
                  <a:pt x="7051121" y="0"/>
                </a:lnTo>
                <a:lnTo>
                  <a:pt x="9326880" y="0"/>
                </a:lnTo>
              </a:path>
            </a:pathLst>
          </a:custGeom>
          <a:noFill/>
          <a:ln w="2222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288036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43484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8932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4380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9828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652760" y="1508760"/>
            <a:ext cx="0" cy="2057400"/>
          </a:xfrm>
          <a:prstGeom prst="line">
            <a:avLst/>
          </a:prstGeom>
          <a:ln w="9525">
            <a:solidFill>
              <a:srgbClr val="9CA3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17613" y="2633472"/>
            <a:ext cx="123444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← Glitch도 통과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17613" y="3182112"/>
            <a:ext cx="1325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← 엣지 사이 변화 무시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3611880"/>
            <a:ext cx="9326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회색 점선 = 클럭 상승 엣지 — 순차 출력은 이 순간에만 바뀌고, 조합 출력은 입력 직후(전파 지연) 바로 바뀜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224528"/>
            <a:ext cx="5135728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조합 회로 </a:t>
            </a:r>
          </a:p>
          <a:p>
            <a:pPr marL="164592" indent="-164592" algn="l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출력 = f(현재 입력) </a:t>
            </a:r>
            <a:endParaRPr lang="en-US" sz="1300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입력 변화 시 전파 지연 후 즉시 출력 변화, 중간 Glitch 가능성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8" y="4114800"/>
            <a:ext cx="5501488" cy="21031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15888" y="4224528"/>
            <a:ext cx="5135728" cy="1920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순차 회로 </a:t>
            </a:r>
          </a:p>
          <a:p>
            <a:pPr marL="164592" indent="-164592" algn="l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출력 =</a:t>
            </a:r>
            <a:r>
              <a:rPr lang="en-US"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엣지 이 후 이전에 저장 된 값 출력 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lang="en-US" sz="1300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900"/>
              </a:spcAft>
              <a:buChar char="•"/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엣지에서만 갱신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9 / 29</a:t>
            </a:r>
          </a:p>
        </p:txBody>
      </p:sp>
      <p:sp>
        <p:nvSpPr>
          <p:cNvPr id="30" name="SectionNo 30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8BDF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Band 106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4D399"/>
                </a:solidFill>
                <a:latin typeface="맑은 고딕"/>
                <a:ea typeface="맑은 고딕"/>
                <a:cs typeface="맑은 고딕"/>
              </a:rPr>
              <a:t>02 · v1 설계 — 블록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Top Block Diagram — Red Sequential, Blue Combinational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1234440"/>
            <a:ext cx="9144000" cy="4754880"/>
          </a:xfrm>
          <a:prstGeom prst="roundRect">
            <a:avLst>
              <a:gd name="adj" fmla="val 2000"/>
            </a:avLst>
          </a:prstGeom>
          <a:noFill/>
          <a:ln w="1587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98448" y="12618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counter_10000 (Top)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0200" y="1600200"/>
            <a:ext cx="2743200" cy="233172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1640" y="1627632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Counter_datapath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600200"/>
            <a:ext cx="5669280" cy="4206240"/>
          </a:xfrm>
          <a:prstGeom prst="roundRect">
            <a:avLst>
              <a:gd name="adj" fmla="val 2000"/>
            </a:avLst>
          </a:prstGeom>
          <a:solidFill>
            <a:srgbClr val="F1F8EE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720" y="1627632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FND_CONTROLLER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83080" y="2103120"/>
            <a:ext cx="1005840" cy="132588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2157984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tick_gen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GEN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25603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856232" y="2505456"/>
            <a:ext cx="623621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306324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56232" y="3008376"/>
            <a:ext cx="623621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7889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011680" y="2734056"/>
            <a:ext cx="704088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o_tic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2103120"/>
            <a:ext cx="1097280" cy="132588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063240" y="2157984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tick_counter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46888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36392" y="2414016"/>
            <a:ext cx="68031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7889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36392" y="2734056"/>
            <a:ext cx="68031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i_tick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10896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36392" y="3054096"/>
            <a:ext cx="68031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27889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9272" y="2734056"/>
            <a:ext cx="768096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[13:0]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1828800"/>
            <a:ext cx="1645920" cy="160020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09160" y="188366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digit_splitter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U_SPLIT #(14)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33172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82312" y="2276856"/>
            <a:ext cx="102047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i_data[13:0]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33172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29784" y="2276856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260604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129784" y="2551176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288036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129784" y="2825496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15468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29784" y="3099816"/>
            <a:ext cx="115214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1828800"/>
            <a:ext cx="1737360" cy="210312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49440" y="1883664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Fnd_Controller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U_FND_CON · FSM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03720" y="2331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22592" y="2276856"/>
            <a:ext cx="1077163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03720" y="260604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22592" y="2551176"/>
            <a:ext cx="1077163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03720" y="288036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022592" y="2825496"/>
            <a:ext cx="1077163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03720" y="315468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022592" y="3099816"/>
            <a:ext cx="1077163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digit_1000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03720" y="3474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22592" y="3419856"/>
            <a:ext cx="1077163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i_clk(1kHz)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03720" y="37033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022592" y="3648456"/>
            <a:ext cx="1077163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i_reset_n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41080" y="2331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397496" y="2276856"/>
            <a:ext cx="121615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o_fnd_com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32461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91256"/>
            <a:ext cx="121615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o_hex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09160" y="41605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709160" y="421538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clock_div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U_CLK_DIV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63440" y="4617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782312" y="4562856"/>
            <a:ext cx="907085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489204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782312" y="4837176"/>
            <a:ext cx="907085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i_reset_n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26480" y="4617720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074920" y="4562856"/>
            <a:ext cx="1024128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o_clk_1kHz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680960" y="4526280"/>
            <a:ext cx="1600200" cy="86868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680960" y="4581144"/>
            <a:ext cx="16002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fnd_decoder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U_FND_DEC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635240" y="502920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754112" y="4974336"/>
            <a:ext cx="99212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i_hex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235440" y="5029200"/>
            <a:ext cx="91440" cy="9144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087868" y="4974336"/>
            <a:ext cx="112014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o_fnd_data</a:t>
            </a:r>
          </a:p>
        </p:txBody>
      </p:sp>
      <p:sp>
        <p:nvSpPr>
          <p:cNvPr id="72" name="Pentagon 71"/>
          <p:cNvSpPr/>
          <p:nvPr/>
        </p:nvSpPr>
        <p:spPr>
          <a:xfrm>
            <a:off x="274320" y="5111496"/>
            <a:ext cx="82296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73" name="Pentagon 72"/>
          <p:cNvSpPr/>
          <p:nvPr/>
        </p:nvSpPr>
        <p:spPr>
          <a:xfrm>
            <a:off x="274320" y="5522976"/>
            <a:ext cx="82296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74" name="Pentagon 73"/>
          <p:cNvSpPr/>
          <p:nvPr/>
        </p:nvSpPr>
        <p:spPr>
          <a:xfrm>
            <a:off x="10469880" y="2231136"/>
            <a:ext cx="1261872" cy="292608"/>
          </a:xfrm>
          <a:prstGeom prst="homePlate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o_fnd_com[3:0]</a:t>
            </a:r>
          </a:p>
        </p:txBody>
      </p:sp>
      <p:sp>
        <p:nvSpPr>
          <p:cNvPr id="75" name="Pentagon 74"/>
          <p:cNvSpPr/>
          <p:nvPr/>
        </p:nvSpPr>
        <p:spPr>
          <a:xfrm>
            <a:off x="10469880" y="4928616"/>
            <a:ext cx="1261872" cy="292608"/>
          </a:xfrm>
          <a:prstGeom prst="homePlate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o_fnd_data[7:0]</a:t>
            </a:r>
          </a:p>
        </p:txBody>
      </p:sp>
      <p:sp>
        <p:nvSpPr>
          <p:cNvPr id="76" name="Freeform 75"/>
          <p:cNvSpPr/>
          <p:nvPr/>
        </p:nvSpPr>
        <p:spPr>
          <a:xfrm>
            <a:off x="1097280" y="2606040"/>
            <a:ext cx="640080" cy="2651760"/>
          </a:xfrm>
          <a:custGeom>
            <a:avLst/>
            <a:gdLst/>
            <a:ahLst/>
            <a:cxnLst/>
            <a:rect l="l" t="t" r="r" b="b"/>
            <a:pathLst>
              <a:path w="640080" h="2651760">
                <a:moveTo>
                  <a:pt x="0" y="2651760"/>
                </a:moveTo>
                <a:lnTo>
                  <a:pt x="228600" y="2651760"/>
                </a:lnTo>
                <a:lnTo>
                  <a:pt x="228600" y="0"/>
                </a:lnTo>
                <a:lnTo>
                  <a:pt x="64008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Freeform 76"/>
          <p:cNvSpPr/>
          <p:nvPr/>
        </p:nvSpPr>
        <p:spPr>
          <a:xfrm>
            <a:off x="1325880" y="1965960"/>
            <a:ext cx="1691640" cy="548640"/>
          </a:xfrm>
          <a:custGeom>
            <a:avLst/>
            <a:gdLst/>
            <a:ahLst/>
            <a:cxnLst/>
            <a:rect l="l" t="t" r="r" b="b"/>
            <a:pathLst>
              <a:path w="1691640" h="548640">
                <a:moveTo>
                  <a:pt x="0" y="0"/>
                </a:moveTo>
                <a:lnTo>
                  <a:pt x="1600200" y="0"/>
                </a:lnTo>
                <a:lnTo>
                  <a:pt x="1600200" y="548640"/>
                </a:lnTo>
                <a:lnTo>
                  <a:pt x="1691640" y="54864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Connector 77"/>
          <p:cNvCxnSpPr/>
          <p:nvPr/>
        </p:nvCxnSpPr>
        <p:spPr>
          <a:xfrm>
            <a:off x="1325880" y="1965960"/>
            <a:ext cx="0" cy="640080"/>
          </a:xfrm>
          <a:prstGeom prst="line">
            <a:avLst/>
          </a:prstGeom>
          <a:ln w="22225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Freeform 78"/>
          <p:cNvSpPr/>
          <p:nvPr/>
        </p:nvSpPr>
        <p:spPr>
          <a:xfrm>
            <a:off x="1325880" y="4663440"/>
            <a:ext cx="3337560" cy="0"/>
          </a:xfrm>
          <a:custGeom>
            <a:avLst/>
            <a:gdLst/>
            <a:ahLst/>
            <a:cxnLst/>
            <a:rect l="l" t="t" r="r" b="b"/>
            <a:pathLst>
              <a:path w="3337560">
                <a:moveTo>
                  <a:pt x="0" y="0"/>
                </a:moveTo>
                <a:lnTo>
                  <a:pt x="333756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Freeform 79"/>
          <p:cNvSpPr/>
          <p:nvPr/>
        </p:nvSpPr>
        <p:spPr>
          <a:xfrm>
            <a:off x="1097280" y="3108960"/>
            <a:ext cx="640080" cy="2560320"/>
          </a:xfrm>
          <a:custGeom>
            <a:avLst/>
            <a:gdLst/>
            <a:ahLst/>
            <a:cxnLst/>
            <a:rect l="l" t="t" r="r" b="b"/>
            <a:pathLst>
              <a:path w="640080" h="2560320">
                <a:moveTo>
                  <a:pt x="0" y="2560320"/>
                </a:moveTo>
                <a:lnTo>
                  <a:pt x="365760" y="2560320"/>
                </a:lnTo>
                <a:lnTo>
                  <a:pt x="365760" y="0"/>
                </a:lnTo>
                <a:lnTo>
                  <a:pt x="64008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Freeform 80"/>
          <p:cNvSpPr/>
          <p:nvPr/>
        </p:nvSpPr>
        <p:spPr>
          <a:xfrm>
            <a:off x="1463040" y="3154680"/>
            <a:ext cx="1554480" cy="457200"/>
          </a:xfrm>
          <a:custGeom>
            <a:avLst/>
            <a:gdLst/>
            <a:ahLst/>
            <a:cxnLst/>
            <a:rect l="l" t="t" r="r" b="b"/>
            <a:pathLst>
              <a:path w="1554480" h="457200">
                <a:moveTo>
                  <a:pt x="0" y="457200"/>
                </a:moveTo>
                <a:lnTo>
                  <a:pt x="1463040" y="457200"/>
                </a:lnTo>
                <a:lnTo>
                  <a:pt x="1463040" y="0"/>
                </a:lnTo>
                <a:lnTo>
                  <a:pt x="155448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Freeform 81"/>
          <p:cNvSpPr/>
          <p:nvPr/>
        </p:nvSpPr>
        <p:spPr>
          <a:xfrm>
            <a:off x="1463040" y="4937760"/>
            <a:ext cx="3200400" cy="0"/>
          </a:xfrm>
          <a:custGeom>
            <a:avLst/>
            <a:gdLst/>
            <a:ahLst/>
            <a:cxnLst/>
            <a:rect l="l" t="t" r="r" b="b"/>
            <a:pathLst>
              <a:path w="3200400">
                <a:moveTo>
                  <a:pt x="0" y="0"/>
                </a:moveTo>
                <a:lnTo>
                  <a:pt x="320040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Freeform 82"/>
          <p:cNvSpPr/>
          <p:nvPr/>
        </p:nvSpPr>
        <p:spPr>
          <a:xfrm>
            <a:off x="4434840" y="3749040"/>
            <a:ext cx="2468880" cy="1188720"/>
          </a:xfrm>
          <a:custGeom>
            <a:avLst/>
            <a:gdLst/>
            <a:ahLst/>
            <a:cxnLst/>
            <a:rect l="l" t="t" r="r" b="b"/>
            <a:pathLst>
              <a:path w="2468880" h="1188720">
                <a:moveTo>
                  <a:pt x="0" y="1188720"/>
                </a:moveTo>
                <a:lnTo>
                  <a:pt x="0" y="274320"/>
                </a:lnTo>
                <a:lnTo>
                  <a:pt x="2331720" y="274320"/>
                </a:lnTo>
                <a:lnTo>
                  <a:pt x="2331720" y="0"/>
                </a:lnTo>
                <a:lnTo>
                  <a:pt x="2468880" y="0"/>
                </a:lnTo>
              </a:path>
            </a:pathLst>
          </a:custGeom>
          <a:noFill/>
          <a:ln w="19050">
            <a:solidFill>
              <a:srgbClr val="4B5563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566160" y="495604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inverter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0" y="4041648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inverter</a:t>
            </a:r>
          </a:p>
        </p:txBody>
      </p:sp>
      <p:sp>
        <p:nvSpPr>
          <p:cNvPr id="86" name="Freeform 85"/>
          <p:cNvSpPr/>
          <p:nvPr/>
        </p:nvSpPr>
        <p:spPr>
          <a:xfrm>
            <a:off x="2788920" y="2834640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Freeform 86"/>
          <p:cNvSpPr/>
          <p:nvPr/>
        </p:nvSpPr>
        <p:spPr>
          <a:xfrm>
            <a:off x="4160520" y="2377440"/>
            <a:ext cx="502920" cy="457200"/>
          </a:xfrm>
          <a:custGeom>
            <a:avLst/>
            <a:gdLst/>
            <a:ahLst/>
            <a:cxnLst/>
            <a:rect l="l" t="t" r="r" b="b"/>
            <a:pathLst>
              <a:path w="502920" h="457200">
                <a:moveTo>
                  <a:pt x="0" y="457200"/>
                </a:moveTo>
                <a:lnTo>
                  <a:pt x="274320" y="457200"/>
                </a:lnTo>
                <a:lnTo>
                  <a:pt x="274320" y="0"/>
                </a:lnTo>
                <a:lnTo>
                  <a:pt x="502920" y="0"/>
                </a:lnTo>
              </a:path>
            </a:pathLst>
          </a:custGeom>
          <a:noFill/>
          <a:ln w="3175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114800" y="2880360"/>
            <a:ext cx="41148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8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14 bit</a:t>
            </a:r>
          </a:p>
        </p:txBody>
      </p:sp>
      <p:sp>
        <p:nvSpPr>
          <p:cNvPr id="89" name="Freeform 88"/>
          <p:cNvSpPr/>
          <p:nvPr/>
        </p:nvSpPr>
        <p:spPr>
          <a:xfrm>
            <a:off x="6355080" y="237744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Freeform 89"/>
          <p:cNvSpPr/>
          <p:nvPr/>
        </p:nvSpPr>
        <p:spPr>
          <a:xfrm>
            <a:off x="6355080" y="265176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Freeform 90"/>
          <p:cNvSpPr/>
          <p:nvPr/>
        </p:nvSpPr>
        <p:spPr>
          <a:xfrm>
            <a:off x="6355080" y="292608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Freeform 91"/>
          <p:cNvSpPr/>
          <p:nvPr/>
        </p:nvSpPr>
        <p:spPr>
          <a:xfrm>
            <a:off x="6355080" y="3200400"/>
            <a:ext cx="548640" cy="0"/>
          </a:xfrm>
          <a:custGeom>
            <a:avLst/>
            <a:gdLst/>
            <a:ahLst/>
            <a:cxnLst/>
            <a:rect l="l" t="t" r="r" b="b"/>
            <a:pathLst>
              <a:path w="548640">
                <a:moveTo>
                  <a:pt x="0" y="0"/>
                </a:moveTo>
                <a:lnTo>
                  <a:pt x="54864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Freeform 92"/>
          <p:cNvSpPr/>
          <p:nvPr/>
        </p:nvSpPr>
        <p:spPr>
          <a:xfrm>
            <a:off x="6172200" y="3520440"/>
            <a:ext cx="731520" cy="1143000"/>
          </a:xfrm>
          <a:custGeom>
            <a:avLst/>
            <a:gdLst/>
            <a:ahLst/>
            <a:cxnLst/>
            <a:rect l="l" t="t" r="r" b="b"/>
            <a:pathLst>
              <a:path w="731520" h="1143000">
                <a:moveTo>
                  <a:pt x="0" y="1143000"/>
                </a:moveTo>
                <a:lnTo>
                  <a:pt x="411480" y="1143000"/>
                </a:lnTo>
                <a:lnTo>
                  <a:pt x="411480" y="0"/>
                </a:lnTo>
                <a:lnTo>
                  <a:pt x="73152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Freeform 93"/>
          <p:cNvSpPr/>
          <p:nvPr/>
        </p:nvSpPr>
        <p:spPr>
          <a:xfrm>
            <a:off x="8686800" y="2377440"/>
            <a:ext cx="1783080" cy="0"/>
          </a:xfrm>
          <a:custGeom>
            <a:avLst/>
            <a:gdLst/>
            <a:ahLst/>
            <a:cxnLst/>
            <a:rect l="l" t="t" r="r" b="b"/>
            <a:pathLst>
              <a:path w="1783080">
                <a:moveTo>
                  <a:pt x="0" y="0"/>
                </a:moveTo>
                <a:lnTo>
                  <a:pt x="178308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Freeform 94"/>
          <p:cNvSpPr/>
          <p:nvPr/>
        </p:nvSpPr>
        <p:spPr>
          <a:xfrm>
            <a:off x="7452360" y="3291840"/>
            <a:ext cx="1508760" cy="1783080"/>
          </a:xfrm>
          <a:custGeom>
            <a:avLst/>
            <a:gdLst/>
            <a:ahLst/>
            <a:cxnLst/>
            <a:rect l="l" t="t" r="r" b="b"/>
            <a:pathLst>
              <a:path w="1508760" h="1783080">
                <a:moveTo>
                  <a:pt x="1234440" y="0"/>
                </a:moveTo>
                <a:lnTo>
                  <a:pt x="1508760" y="0"/>
                </a:lnTo>
                <a:lnTo>
                  <a:pt x="1508760" y="960120"/>
                </a:lnTo>
                <a:lnTo>
                  <a:pt x="0" y="960120"/>
                </a:lnTo>
                <a:lnTo>
                  <a:pt x="0" y="1783080"/>
                </a:lnTo>
                <a:lnTo>
                  <a:pt x="182880" y="178308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Freeform 95"/>
          <p:cNvSpPr/>
          <p:nvPr/>
        </p:nvSpPr>
        <p:spPr>
          <a:xfrm>
            <a:off x="9281160" y="5074920"/>
            <a:ext cx="1188720" cy="0"/>
          </a:xfrm>
          <a:custGeom>
            <a:avLst/>
            <a:gdLst/>
            <a:ahLst/>
            <a:cxnLst/>
            <a:rect l="l" t="t" r="r" b="b"/>
            <a:pathLst>
              <a:path w="1188720">
                <a:moveTo>
                  <a:pt x="0" y="0"/>
                </a:moveTo>
                <a:lnTo>
                  <a:pt x="1188720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457200" y="6108192"/>
            <a:ext cx="256032" cy="182880"/>
          </a:xfrm>
          <a:prstGeom prst="roundRect">
            <a:avLst>
              <a:gd name="adj" fmla="val 10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77240" y="6062472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순차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566160" y="6108192"/>
            <a:ext cx="256032" cy="182880"/>
          </a:xfrm>
          <a:prstGeom prst="roundRect">
            <a:avLst>
              <a:gd name="adj" fmla="val 10000"/>
            </a:avLst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3886200" y="606247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조합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49440" y="395020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8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상태 = 순차 · 출력 선택 = 조합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10 / 29</a:t>
            </a:r>
          </a:p>
        </p:txBody>
      </p:sp>
      <p:sp>
        <p:nvSpPr>
          <p:cNvPr id="107" name="SectionNo 107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Band 78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4D399"/>
                </a:solidFill>
                <a:latin typeface="맑은 고딕"/>
                <a:ea typeface="맑은 고딕"/>
                <a:cs typeface="맑은 고딕"/>
              </a:rPr>
              <a:t>02 · v1 설계 — 모듈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Module Roles — Count 1234 from Tick to Segments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39496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1231849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10512"/>
            <a:ext cx="1469593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1천만 클럭마다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1클럭 펄스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1506169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0.1 s</a:t>
            </a:r>
          </a:p>
        </p:txBody>
      </p:sp>
      <p:sp>
        <p:nvSpPr>
          <p:cNvPr id="9" name="Freeform 8"/>
          <p:cNvSpPr/>
          <p:nvPr/>
        </p:nvSpPr>
        <p:spPr>
          <a:xfrm>
            <a:off x="2164537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374849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57145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6329" y="1417320"/>
            <a:ext cx="1231849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4577" y="1810512"/>
            <a:ext cx="1469593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Tick마다 +1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다음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93721" y="2606040"/>
            <a:ext cx="1477670" cy="621792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633442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633442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633442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585161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2778282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585161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778282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984571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984571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984571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936291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129412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2936291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129412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335701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335701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5701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287420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480542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287420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480542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686830" y="2697480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686830" y="2892796"/>
            <a:ext cx="144841" cy="48280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686830" y="3088112"/>
            <a:ext cx="144841" cy="48280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3638550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831671" y="2726448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638550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3831671" y="2941076"/>
            <a:ext cx="48280" cy="166348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Freeform 42"/>
          <p:cNvSpPr/>
          <p:nvPr/>
        </p:nvSpPr>
        <p:spPr>
          <a:xfrm>
            <a:off x="4082186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292498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4374794" y="1408176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3978" y="1417320"/>
            <a:ext cx="1231849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digit_splitter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2226" y="1810512"/>
            <a:ext cx="1469593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÷10 · 나머지로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4자리 분리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3938" y="2514600"/>
            <a:ext cx="1506169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1|2|3|4</a:t>
            </a:r>
          </a:p>
        </p:txBody>
      </p:sp>
      <p:sp>
        <p:nvSpPr>
          <p:cNvPr id="49" name="Freeform 48"/>
          <p:cNvSpPr/>
          <p:nvPr/>
        </p:nvSpPr>
        <p:spPr>
          <a:xfrm>
            <a:off x="5999836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210148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292444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1628" y="1417320"/>
            <a:ext cx="1231849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clock_div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19876" y="1810512"/>
            <a:ext cx="1469593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MHz →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약 1 kHz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1588" y="2514600"/>
            <a:ext cx="1506169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 ms</a:t>
            </a:r>
          </a:p>
        </p:txBody>
      </p:sp>
      <p:sp>
        <p:nvSpPr>
          <p:cNvPr id="55" name="Freeform 54"/>
          <p:cNvSpPr/>
          <p:nvPr/>
        </p:nvSpPr>
        <p:spPr>
          <a:xfrm>
            <a:off x="7917485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8127797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8210093" y="140817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9277" y="1417320"/>
            <a:ext cx="1231849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Fnd_Controller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37525" y="1810512"/>
            <a:ext cx="1469593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 ms마다 한 자리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AN0→AN3 순환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19237" y="2514600"/>
            <a:ext cx="1506169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AN0</a:t>
            </a:r>
          </a:p>
        </p:txBody>
      </p:sp>
      <p:sp>
        <p:nvSpPr>
          <p:cNvPr id="61" name="Freeform 60"/>
          <p:cNvSpPr/>
          <p:nvPr/>
        </p:nvSpPr>
        <p:spPr>
          <a:xfrm>
            <a:off x="9835134" y="2377440"/>
            <a:ext cx="192024" cy="0"/>
          </a:xfrm>
          <a:custGeom>
            <a:avLst/>
            <a:gdLst/>
            <a:ahLst/>
            <a:cxnLst/>
            <a:rect l="l" t="t" r="r" b="b"/>
            <a:pathLst>
              <a:path w="192024">
                <a:moveTo>
                  <a:pt x="0" y="0"/>
                </a:moveTo>
                <a:lnTo>
                  <a:pt x="192024" y="0"/>
                </a:lnTo>
              </a:path>
            </a:pathLst>
          </a:custGeom>
          <a:noFill/>
          <a:ln w="25400">
            <a:solidFill>
              <a:srgbClr val="6B728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045446" y="1325880"/>
            <a:ext cx="1689049" cy="214884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10127742" y="1408176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56926" y="1417320"/>
            <a:ext cx="1231849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fnd_decoder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55174" y="1810512"/>
            <a:ext cx="1469593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숫자 → 켤 세그먼트</a:t>
            </a:r>
          </a:p>
          <a:p>
            <a:pPr algn="ctr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(0일 때 켜짐)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615651" y="2487168"/>
            <a:ext cx="567842" cy="822960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10806029" y="2615184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10806029" y="2867467"/>
            <a:ext cx="187086" cy="62362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0806029" y="3119750"/>
            <a:ext cx="187086" cy="62362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10743667" y="26526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0993115" y="2652601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10743667" y="29298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10993115" y="2929829"/>
            <a:ext cx="62362" cy="214866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4" name="Table 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528480"/>
              </p:ext>
            </p:extLst>
          </p:nvPr>
        </p:nvGraphicFramePr>
        <p:xfrm>
          <a:off x="457200" y="3657600"/>
          <a:ext cx="11277294" cy="2496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08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55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1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87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10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모듈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종류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하는 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설계 이유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tick_gen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~ 9,999,999를 세고 끝값에서 1클럭 펄스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카운터는 100 MHz 그대로 두고 '0.1초 단위'만 만들기 위해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tick_counter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Tick이 온 클럭에서만 +1, 9999 다음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 bit(최대 16,383)가 9999를 담는 최소 폭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digit_splitter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2진 값 → 천·백·십·일의 자리 숫자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FND는 자리마다 0~9 숫자 하나를 받기 때문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④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clock_div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 MHz를 약 1 kHz 스캔 클럭으로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4자리를 빠르게 돌려 동시에 켜진 것처럼 보이게 (잔상)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⑤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Fnd_Controller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순차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4개 상태 순환 — 상태값이 곧 자리 선택 신호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세그먼트 선을 4자리가 공유 → 한 번에 한 자리만 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fnd_decoder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숫자 0~9 → 세그먼트 8개 On/Off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공통</a:t>
                      </a:r>
                      <a:r>
                        <a:rPr lang="ko-KR" altLang="en-US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lang="en-US" alt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Anode</a:t>
                      </a:r>
                      <a:r>
                        <a:rPr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FND라 0일 때 켜짐 (Active-Low)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11 / 29</a:t>
            </a:r>
          </a:p>
        </p:txBody>
      </p:sp>
      <p:sp>
        <p:nvSpPr>
          <p:cNvPr id="79" name="SectionNo 79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Band 27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4D399"/>
                </a:solidFill>
                <a:latin typeface="맑은 고딕"/>
                <a:ea typeface="맑은 고딕"/>
                <a:cs typeface="맑은 고딕"/>
              </a:rPr>
              <a:t>02 · v1 설계 — Counter_datapath 내부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Tick Generator Emits One 10 ns Pulse per 10M Clocks</a:t>
            </a:r>
          </a:p>
        </p:txBody>
      </p:sp>
      <p:pic>
        <p:nvPicPr>
          <p:cNvPr id="4" name="Picture 3" descr="p07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4206240" cy="1114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94656" y="1695155"/>
            <a:ext cx="6888175" cy="10972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Counter_datapath = tick_gen (GEN) → Tick → tick_counter (TICK)</a:t>
            </a:r>
          </a:p>
        </p:txBody>
      </p:sp>
      <p:pic>
        <p:nvPicPr>
          <p:cNvPr id="6" name="Picture 5" descr="p07_1.png"/>
          <p:cNvPicPr>
            <a:picLocks noChangeAspect="1"/>
          </p:cNvPicPr>
          <p:nvPr/>
        </p:nvPicPr>
        <p:blipFill>
          <a:blip r:embed="rId3"/>
          <a:srcRect l="2421" t="12712" r="13923" b="8475"/>
          <a:stretch>
            <a:fillRect/>
          </a:stretch>
        </p:blipFill>
        <p:spPr>
          <a:xfrm>
            <a:off x="457200" y="2514600"/>
            <a:ext cx="7406640" cy="1993683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704330" y="301578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3794482" y="28710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4866355" y="2710303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6259789" y="3621395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1" name="Oval 10"/>
          <p:cNvSpPr/>
          <p:nvPr/>
        </p:nvSpPr>
        <p:spPr>
          <a:xfrm>
            <a:off x="7144084" y="3299833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2" name="Oval 11"/>
          <p:cNvSpPr/>
          <p:nvPr/>
        </p:nvSpPr>
        <p:spPr>
          <a:xfrm>
            <a:off x="8092440" y="247802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2468880"/>
            <a:ext cx="3258007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adder (+1)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현재 값 + 1을 매 클럭 계산</a:t>
            </a:r>
          </a:p>
        </p:txBody>
      </p:sp>
      <p:sp>
        <p:nvSpPr>
          <p:cNvPr id="14" name="Oval 13"/>
          <p:cNvSpPr/>
          <p:nvPr/>
        </p:nvSpPr>
        <p:spPr>
          <a:xfrm>
            <a:off x="8092440" y="31181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3108960"/>
            <a:ext cx="3258007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MUX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값 = 9,999,999일 때 0, 그 외 +1 결과 → 끝에서 0으로 되돌림</a:t>
            </a:r>
          </a:p>
        </p:txBody>
      </p:sp>
      <p:sp>
        <p:nvSpPr>
          <p:cNvPr id="16" name="Oval 15"/>
          <p:cNvSpPr/>
          <p:nvPr/>
        </p:nvSpPr>
        <p:spPr>
          <a:xfrm>
            <a:off x="8092440" y="37581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3749040"/>
            <a:ext cx="3258007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24-bit register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2²⁴ = 16,777,216 ≥ 1천만 → 24 bit. 리셋 버튼에 즉시 0 (비동기 CLR)</a:t>
            </a:r>
          </a:p>
        </p:txBody>
      </p:sp>
      <p:sp>
        <p:nvSpPr>
          <p:cNvPr id="18" name="Oval 17"/>
          <p:cNvSpPr/>
          <p:nvPr/>
        </p:nvSpPr>
        <p:spPr>
          <a:xfrm>
            <a:off x="8092440" y="439826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4389120"/>
            <a:ext cx="3258007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comparator (ROM 기호)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'값 = 끝값' 비교. 24 bit 입력 → 1 bit 출력 표라 도구가 ROM 기호로 그림</a:t>
            </a:r>
          </a:p>
        </p:txBody>
      </p:sp>
      <p:sp>
        <p:nvSpPr>
          <p:cNvPr id="20" name="Oval 19"/>
          <p:cNvSpPr/>
          <p:nvPr/>
        </p:nvSpPr>
        <p:spPr>
          <a:xfrm>
            <a:off x="8092440" y="503834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6488" y="5029200"/>
            <a:ext cx="3258007" cy="6217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register</a:t>
            </a:r>
          </a:p>
          <a:p>
            <a:pPr algn="l"/>
            <a:r>
              <a:rPr sz="10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비교 결과를 한 클럭 뒤 출력 → Glitch 없는 깨끗한 1클럭(10 ns) 펄스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12 / 29</a:t>
            </a:r>
          </a:p>
        </p:txBody>
      </p:sp>
      <p:sp>
        <p:nvSpPr>
          <p:cNvPr id="28" name="SectionNo 28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897853-2D12-4576-0EDA-E4579BFEE8A2}"/>
              </a:ext>
            </a:extLst>
          </p:cNvPr>
          <p:cNvSpPr txBox="1"/>
          <p:nvPr/>
        </p:nvSpPr>
        <p:spPr>
          <a:xfrm>
            <a:off x="3504397" y="452941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GEN </a:t>
            </a:r>
            <a:r>
              <a:rPr lang="ko-KR" altLang="en-US"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내부 합성 결과</a:t>
            </a:r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Band 25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34D399"/>
                </a:solidFill>
                <a:latin typeface="맑은 고딕"/>
                <a:ea typeface="맑은 고딕"/>
                <a:cs typeface="맑은 고딕"/>
              </a:rPr>
              <a:t>02 · v1 설계 — Counter_datapath 내부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Tick Enters the Clock-Enable Pin, Not a Second Clock</a:t>
            </a:r>
          </a:p>
        </p:txBody>
      </p:sp>
      <p:pic>
        <p:nvPicPr>
          <p:cNvPr id="4" name="Picture 3" descr="p07_2.png"/>
          <p:cNvPicPr>
            <a:picLocks noChangeAspect="1"/>
          </p:cNvPicPr>
          <p:nvPr/>
        </p:nvPicPr>
        <p:blipFill>
          <a:blip r:embed="rId2"/>
          <a:srcRect t="17241" b="12315"/>
          <a:stretch>
            <a:fillRect/>
          </a:stretch>
        </p:blipFill>
        <p:spPr>
          <a:xfrm>
            <a:off x="457200" y="1325880"/>
            <a:ext cx="7406640" cy="1626957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505515" y="1922305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3428284" y="179715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5089373" y="1398948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38368" y="2122293"/>
            <a:ext cx="227547" cy="125151"/>
          </a:xfrm>
          <a:prstGeom prst="rect">
            <a:avLst/>
          </a:prstGeom>
          <a:noFill/>
          <a:ln w="317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236074" y="1862216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0" name="Oval 9"/>
          <p:cNvSpPr/>
          <p:nvPr/>
        </p:nvSpPr>
        <p:spPr>
          <a:xfrm>
            <a:off x="8092440" y="138074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6488" y="1371600"/>
            <a:ext cx="3258007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adder (+1)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현재 값 + 1</a:t>
            </a:r>
          </a:p>
        </p:txBody>
      </p:sp>
      <p:sp>
        <p:nvSpPr>
          <p:cNvPr id="12" name="Oval 11"/>
          <p:cNvSpPr/>
          <p:nvPr/>
        </p:nvSpPr>
        <p:spPr>
          <a:xfrm>
            <a:off x="8092440" y="211226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6488" y="2103120"/>
            <a:ext cx="3258007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MUX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값 = 9999일 때 0 → 0~9999 순환</a:t>
            </a:r>
          </a:p>
        </p:txBody>
      </p:sp>
      <p:sp>
        <p:nvSpPr>
          <p:cNvPr id="14" name="Oval 13"/>
          <p:cNvSpPr/>
          <p:nvPr/>
        </p:nvSpPr>
        <p:spPr>
          <a:xfrm>
            <a:off x="8092440" y="284378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6488" y="2834640"/>
            <a:ext cx="3258007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14-bit register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2¹⁴ = 16,384 ≥ 10,000. 리셋 시 즉시 0</a:t>
            </a:r>
          </a:p>
        </p:txBody>
      </p:sp>
      <p:sp>
        <p:nvSpPr>
          <p:cNvPr id="16" name="Oval 15"/>
          <p:cNvSpPr/>
          <p:nvPr/>
        </p:nvSpPr>
        <p:spPr>
          <a:xfrm>
            <a:off x="8092440" y="3575304"/>
            <a:ext cx="292608" cy="29260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6488" y="3566160"/>
            <a:ext cx="3258007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CE 핀 = Tick</a:t>
            </a:r>
          </a:p>
          <a:p>
            <a:pPr algn="l">
              <a:spcAft>
                <a:spcPts val="1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1인 클럭에서만 새 값을 받아들임. 클럭은 100 MHz 그대로, '언제 일할지'만 Tick이 결정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34840"/>
            <a:ext cx="5501488" cy="146304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135728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분주 클럭 방식일 경우</a:t>
            </a:r>
          </a:p>
          <a:p>
            <a:pPr marL="164592" indent="-164592" algn="l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register 클럭(C) 핀에 분주 신호 입력</a:t>
            </a:r>
          </a:p>
          <a:p>
            <a:pPr marL="164592" indent="-164592" algn="l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새 클럭 도메인, 일반 배선 Skew, 타이밍 검사 누락 위험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8" y="4434840"/>
            <a:ext cx="5501488" cy="1463040"/>
          </a:xfrm>
          <a:prstGeom prst="roundRect">
            <a:avLst>
              <a:gd name="adj" fmla="val 6000"/>
            </a:avLst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5888" y="4526280"/>
            <a:ext cx="5135728" cy="1645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Tick 방식</a:t>
            </a:r>
          </a:p>
          <a:p>
            <a:pPr marL="164592" indent="-164592" algn="l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클럭(C) 핀은 100 MHz 그대로, Tick은 CE 핀으로</a:t>
            </a:r>
          </a:p>
          <a:p>
            <a:pPr marL="164592" indent="-164592" algn="l">
              <a:spcAft>
                <a:spcPts val="4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코드는 'Tick일 때 +1'만 작성 → 합성기가 CE로 연결 — Q3 답의 증거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13 / 29</a:t>
            </a:r>
          </a:p>
        </p:txBody>
      </p:sp>
      <p:sp>
        <p:nvSpPr>
          <p:cNvPr id="26" name="SectionNo 26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34D399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Band 23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A78BFA"/>
                </a:solidFill>
                <a:latin typeface="맑은 고딕"/>
                <a:ea typeface="맑은 고딕"/>
                <a:cs typeface="맑은 고딕"/>
              </a:rPr>
              <a:t>03 · v1 검증 — Tick 주기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Tick Period Measured at 100 ms (10 Hz)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E2787B2-F6F0-9AAE-489A-4C8F18A92AC4}"/>
              </a:ext>
            </a:extLst>
          </p:cNvPr>
          <p:cNvGrpSpPr/>
          <p:nvPr/>
        </p:nvGrpSpPr>
        <p:grpSpPr>
          <a:xfrm>
            <a:off x="457200" y="1325880"/>
            <a:ext cx="11277295" cy="2692396"/>
            <a:chOff x="457200" y="1325880"/>
            <a:chExt cx="11277295" cy="2692396"/>
          </a:xfrm>
        </p:grpSpPr>
        <p:pic>
          <p:nvPicPr>
            <p:cNvPr id="4" name="Picture 3" descr="p08_2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325880"/>
              <a:ext cx="11277295" cy="2692396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2888049" y="1879744"/>
              <a:ext cx="8846446" cy="430783"/>
            </a:xfrm>
            <a:prstGeom prst="rect">
              <a:avLst/>
            </a:prstGeom>
            <a:solidFill>
              <a:srgbClr val="000000">
                <a:alpha val="77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Rectangle 5"/>
            <p:cNvSpPr/>
            <p:nvPr/>
          </p:nvSpPr>
          <p:spPr>
            <a:xfrm>
              <a:off x="2888049" y="2541305"/>
              <a:ext cx="8846446" cy="230777"/>
            </a:xfrm>
            <a:prstGeom prst="rect">
              <a:avLst/>
            </a:prstGeom>
            <a:solidFill>
              <a:srgbClr val="000000">
                <a:alpha val="77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Rectangle 6"/>
            <p:cNvSpPr/>
            <p:nvPr/>
          </p:nvSpPr>
          <p:spPr>
            <a:xfrm>
              <a:off x="749517" y="2341298"/>
              <a:ext cx="338473" cy="184621"/>
            </a:xfrm>
            <a:prstGeom prst="rect">
              <a:avLst/>
            </a:prstGeom>
            <a:noFill/>
            <a:ln w="28575">
              <a:solidFill>
                <a:srgbClr val="76FF0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6749715" y="1518194"/>
              <a:ext cx="0" cy="2269306"/>
            </a:xfrm>
            <a:prstGeom prst="line">
              <a:avLst/>
            </a:prstGeom>
            <a:ln w="25400">
              <a:solidFill>
                <a:srgbClr val="FFD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/>
            <p:cNvCxnSpPr/>
            <p:nvPr/>
          </p:nvCxnSpPr>
          <p:spPr>
            <a:xfrm>
              <a:off x="10595996" y="1518194"/>
              <a:ext cx="0" cy="2269306"/>
            </a:xfrm>
            <a:prstGeom prst="line">
              <a:avLst/>
            </a:prstGeom>
            <a:ln w="25400">
              <a:solidFill>
                <a:srgbClr val="FFD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/>
            <p:cNvCxnSpPr/>
            <p:nvPr/>
          </p:nvCxnSpPr>
          <p:spPr>
            <a:xfrm>
              <a:off x="6780486" y="2902855"/>
              <a:ext cx="3784740" cy="0"/>
            </a:xfrm>
            <a:prstGeom prst="line">
              <a:avLst/>
            </a:prstGeom>
            <a:ln w="19050">
              <a:solidFill>
                <a:srgbClr val="FFFFFF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/>
            <p:cNvSpPr/>
            <p:nvPr/>
          </p:nvSpPr>
          <p:spPr>
            <a:xfrm>
              <a:off x="8072836" y="2956703"/>
              <a:ext cx="1234440" cy="29260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36576" rIns="36576" bIns="36576" rtlCol="0" anchor="ctr"/>
            <a:lstStyle/>
            <a:p>
              <a:pPr algn="ctr"/>
              <a:r>
                <a:rPr sz="120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100 ms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46795" y="3110554"/>
              <a:ext cx="1005840" cy="256032"/>
            </a:xfrm>
            <a:prstGeom prst="rect">
              <a:avLst/>
            </a:prstGeom>
            <a:solidFill>
              <a:srgbClr val="FFD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36576" rIns="36576" bIns="36576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Tick ①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0093076" y="3110554"/>
              <a:ext cx="1005840" cy="256032"/>
            </a:xfrm>
            <a:prstGeom prst="rect">
              <a:avLst/>
            </a:prstGeom>
            <a:solidFill>
              <a:srgbClr val="FFD6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36576" rIns="36576" bIns="36576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Tick ②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457200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4402325"/>
            <a:ext cx="3247034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계산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100,000,000 Hz ÷ 10 Hz = 10,000,000 클럭마다 Tick 1번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끝값 9,999,999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7738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72330" y="4402325"/>
            <a:ext cx="3247034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측정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커서 100.000005 ms → 200.000005 ms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간격 100.000000 ms = 10 Hz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8277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2869" y="4402325"/>
            <a:ext cx="3247034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+5 ns 이유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클럭 상승 엣지가 5, 15, 25 ns…에 있어 Tick도 엣지 시각에 맞춰 뜸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주기에는 영향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14 / 29</a:t>
            </a:r>
          </a:p>
        </p:txBody>
      </p:sp>
      <p:sp>
        <p:nvSpPr>
          <p:cNvPr id="24" name="SectionNo 24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63997-51D5-02B5-AF7D-01EEA620B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Band 23">
            <a:extLst>
              <a:ext uri="{FF2B5EF4-FFF2-40B4-BE49-F238E27FC236}">
                <a16:creationId xmlns:a16="http://schemas.microsoft.com/office/drawing/2014/main" id="{406F033C-6E98-C0DA-7D09-57D209523BF7}"/>
              </a:ext>
            </a:extLst>
          </p:cNvPr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5F84D0-EAB0-EC65-0BEB-91835E48877D}"/>
              </a:ext>
            </a:extLst>
          </p:cNvPr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A78BFA"/>
                </a:solidFill>
                <a:latin typeface="맑은 고딕"/>
                <a:ea typeface="맑은 고딕"/>
                <a:cs typeface="맑은 고딕"/>
              </a:rPr>
              <a:t>03 · v1 검증 — Tick 경계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0FCBE5-4766-A7B8-CF22-095DB5001CF6}"/>
              </a:ext>
            </a:extLst>
          </p:cNvPr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9,999,999 Rolls to 0 with a One-Clock Tick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D94F918-DD70-2FFD-89CB-916A4006C7C6}"/>
              </a:ext>
            </a:extLst>
          </p:cNvPr>
          <p:cNvSpPr/>
          <p:nvPr/>
        </p:nvSpPr>
        <p:spPr>
          <a:xfrm>
            <a:off x="457200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E36D54-0F9F-834B-28F7-01A475E41524}"/>
              </a:ext>
            </a:extLst>
          </p:cNvPr>
          <p:cNvSpPr txBox="1"/>
          <p:nvPr/>
        </p:nvSpPr>
        <p:spPr>
          <a:xfrm>
            <a:off x="621792" y="4402325"/>
            <a:ext cx="3247034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tick_gen 끝값 비교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r_counter = 9,999,999 → comparator 출력 1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MUX가 0 선택 → 다음 엣지에 0 복귀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C16CBF-7FDC-B0AA-F817-4A17BFBDAFEA}"/>
              </a:ext>
            </a:extLst>
          </p:cNvPr>
          <p:cNvSpPr/>
          <p:nvPr/>
        </p:nvSpPr>
        <p:spPr>
          <a:xfrm>
            <a:off x="4307738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1018CB-AFB5-59AA-6573-263EA54C27A7}"/>
              </a:ext>
            </a:extLst>
          </p:cNvPr>
          <p:cNvSpPr txBox="1"/>
          <p:nvPr/>
        </p:nvSpPr>
        <p:spPr>
          <a:xfrm>
            <a:off x="4472330" y="4402325"/>
            <a:ext cx="3247034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register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비교 결과를 한 클럭 뒤 출력 → Glitch 없음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카운트가 0이 되는 엣지 = Tick이 1이 되는 엣지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A1EB57B-FDC4-210D-B650-9DA3E35EEF03}"/>
              </a:ext>
            </a:extLst>
          </p:cNvPr>
          <p:cNvSpPr/>
          <p:nvPr/>
        </p:nvSpPr>
        <p:spPr>
          <a:xfrm>
            <a:off x="8158277" y="4292597"/>
            <a:ext cx="357621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FEF39A-0627-1FEB-7E93-95FB96BBDF27}"/>
              </a:ext>
            </a:extLst>
          </p:cNvPr>
          <p:cNvSpPr txBox="1"/>
          <p:nvPr/>
        </p:nvSpPr>
        <p:spPr>
          <a:xfrm>
            <a:off x="8322869" y="4402325"/>
            <a:ext cx="3247034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1클럭 폭 이유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tick_counter는 Tick = 1인 클럭마다 +1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1클럭(10 ns) 폭 → Tick 1번에 +1 보장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9399C7-02A8-F190-5F8D-A8B02D8EF9B0}"/>
              </a:ext>
            </a:extLst>
          </p:cNvPr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0BAA4E-ED45-671A-DF04-47D5D661172F}"/>
              </a:ext>
            </a:extLst>
          </p:cNvPr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15 / 29</a:t>
            </a:r>
          </a:p>
        </p:txBody>
      </p:sp>
      <p:sp>
        <p:nvSpPr>
          <p:cNvPr id="24" name="SectionNo 24">
            <a:extLst>
              <a:ext uri="{FF2B5EF4-FFF2-40B4-BE49-F238E27FC236}">
                <a16:creationId xmlns:a16="http://schemas.microsoft.com/office/drawing/2014/main" id="{128A461F-9668-5AE0-C38D-77985A1CDE0F}"/>
              </a:ext>
            </a:extLst>
          </p:cNvPr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91ABCF76-8125-8CE6-DBE2-54BA435B9D0F}"/>
              </a:ext>
            </a:extLst>
          </p:cNvPr>
          <p:cNvGrpSpPr/>
          <p:nvPr/>
        </p:nvGrpSpPr>
        <p:grpSpPr>
          <a:xfrm>
            <a:off x="457200" y="1653485"/>
            <a:ext cx="11277296" cy="2351586"/>
            <a:chOff x="457200" y="3873838"/>
            <a:chExt cx="11277296" cy="1955171"/>
          </a:xfrm>
        </p:grpSpPr>
        <p:pic>
          <p:nvPicPr>
            <p:cNvPr id="33" name="Picture 3" descr="p08_1.png">
              <a:extLst>
                <a:ext uri="{FF2B5EF4-FFF2-40B4-BE49-F238E27FC236}">
                  <a16:creationId xmlns:a16="http://schemas.microsoft.com/office/drawing/2014/main" id="{573EF567-BB9B-9EAC-2591-A65761C1A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3873838"/>
              <a:ext cx="11277295" cy="1955171"/>
            </a:xfrm>
            <a:prstGeom prst="rect">
              <a:avLst/>
            </a:prstGeom>
          </p:spPr>
        </p:pic>
        <p:sp>
          <p:nvSpPr>
            <p:cNvPr id="34" name="Rectangle 4">
              <a:extLst>
                <a:ext uri="{FF2B5EF4-FFF2-40B4-BE49-F238E27FC236}">
                  <a16:creationId xmlns:a16="http://schemas.microsoft.com/office/drawing/2014/main" id="{E7CF39A2-7FD2-0923-45AA-853E15179E05}"/>
                </a:ext>
              </a:extLst>
            </p:cNvPr>
            <p:cNvSpPr/>
            <p:nvPr/>
          </p:nvSpPr>
          <p:spPr>
            <a:xfrm>
              <a:off x="2973349" y="4698805"/>
              <a:ext cx="8761147" cy="247490"/>
            </a:xfrm>
            <a:prstGeom prst="rect">
              <a:avLst/>
            </a:prstGeom>
            <a:solidFill>
              <a:srgbClr val="000000">
                <a:alpha val="77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Rectangle 5">
              <a:extLst>
                <a:ext uri="{FF2B5EF4-FFF2-40B4-BE49-F238E27FC236}">
                  <a16:creationId xmlns:a16="http://schemas.microsoft.com/office/drawing/2014/main" id="{1EB283D0-BCEC-7FA8-7C56-FC57421F68EE}"/>
                </a:ext>
              </a:extLst>
            </p:cNvPr>
            <p:cNvSpPr/>
            <p:nvPr/>
          </p:nvSpPr>
          <p:spPr>
            <a:xfrm>
              <a:off x="688191" y="4987543"/>
              <a:ext cx="346486" cy="173243"/>
            </a:xfrm>
            <a:prstGeom prst="rect">
              <a:avLst/>
            </a:prstGeom>
            <a:noFill/>
            <a:ln w="28575">
              <a:solidFill>
                <a:srgbClr val="76FF0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6" name="Connector 6">
              <a:extLst>
                <a:ext uri="{FF2B5EF4-FFF2-40B4-BE49-F238E27FC236}">
                  <a16:creationId xmlns:a16="http://schemas.microsoft.com/office/drawing/2014/main" id="{EFD8AF4B-171D-3EB8-3EBD-06C4AFD16770}"/>
                </a:ext>
              </a:extLst>
            </p:cNvPr>
            <p:cNvCxnSpPr/>
            <p:nvPr/>
          </p:nvCxnSpPr>
          <p:spPr>
            <a:xfrm>
              <a:off x="10191807" y="4121328"/>
              <a:ext cx="0" cy="1707681"/>
            </a:xfrm>
            <a:prstGeom prst="line">
              <a:avLst/>
            </a:prstGeom>
            <a:ln w="25400">
              <a:solidFill>
                <a:srgbClr val="FFD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7">
              <a:extLst>
                <a:ext uri="{FF2B5EF4-FFF2-40B4-BE49-F238E27FC236}">
                  <a16:creationId xmlns:a16="http://schemas.microsoft.com/office/drawing/2014/main" id="{0A6FFF81-33E0-7A9F-05B4-B05563509449}"/>
                </a:ext>
              </a:extLst>
            </p:cNvPr>
            <p:cNvSpPr/>
            <p:nvPr/>
          </p:nvSpPr>
          <p:spPr>
            <a:xfrm>
              <a:off x="9139244" y="5523771"/>
              <a:ext cx="1280160" cy="2743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36576" rIns="36576" bIns="36576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끝값 9,999,999</a:t>
              </a:r>
            </a:p>
          </p:txBody>
        </p:sp>
        <p:sp>
          <p:nvSpPr>
            <p:cNvPr id="38" name="Rectangle 8">
              <a:extLst>
                <a:ext uri="{FF2B5EF4-FFF2-40B4-BE49-F238E27FC236}">
                  <a16:creationId xmlns:a16="http://schemas.microsoft.com/office/drawing/2014/main" id="{DFCD9444-954C-04D5-CBBB-9776E9489FC1}"/>
                </a:ext>
              </a:extLst>
            </p:cNvPr>
            <p:cNvSpPr/>
            <p:nvPr/>
          </p:nvSpPr>
          <p:spPr>
            <a:xfrm>
              <a:off x="10512851" y="5523771"/>
              <a:ext cx="1097280" cy="2743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36576" rIns="36576" bIns="36576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0으로 복귀</a:t>
              </a:r>
            </a:p>
          </p:txBody>
        </p:sp>
        <p:sp>
          <p:nvSpPr>
            <p:cNvPr id="39" name="Rectangle 9">
              <a:extLst>
                <a:ext uri="{FF2B5EF4-FFF2-40B4-BE49-F238E27FC236}">
                  <a16:creationId xmlns:a16="http://schemas.microsoft.com/office/drawing/2014/main" id="{E64CB0DD-5206-3A71-9934-DDA6AE3DBEC4}"/>
                </a:ext>
              </a:extLst>
            </p:cNvPr>
            <p:cNvSpPr/>
            <p:nvPr/>
          </p:nvSpPr>
          <p:spPr>
            <a:xfrm>
              <a:off x="8824679" y="4954544"/>
              <a:ext cx="1234440" cy="237744"/>
            </a:xfrm>
            <a:prstGeom prst="rect">
              <a:avLst/>
            </a:prstGeom>
            <a:solidFill>
              <a:srgbClr val="76FF0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36576" rIns="36576" bIns="36576" rtlCol="0" anchor="ctr"/>
            <a:lstStyle/>
            <a:p>
              <a:pPr algn="ctr"/>
              <a:r>
                <a:rPr sz="1050" b="1">
                  <a:solidFill>
                    <a:srgbClr val="000000"/>
                  </a:solidFill>
                  <a:latin typeface="맑은 고딕"/>
                  <a:ea typeface="맑은 고딕"/>
                  <a:cs typeface="맑은 고딕"/>
                </a:rPr>
                <a:t>1클럭 = 10 ns 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58651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Band 16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A78BFA"/>
                </a:solidFill>
                <a:latin typeface="맑은 고딕"/>
                <a:ea typeface="맑은 고딕"/>
                <a:cs typeface="맑은 고딕"/>
              </a:rPr>
              <a:t>03 · v1 검증 — 카운터 끝값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Counter Wraps from 9999 to 0</a:t>
            </a:r>
          </a:p>
        </p:txBody>
      </p:sp>
      <p:pic>
        <p:nvPicPr>
          <p:cNvPr id="4" name="Picture 3" descr="p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11277295" cy="16400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019152" y="1804879"/>
            <a:ext cx="9715343" cy="197847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7363" y="2304703"/>
            <a:ext cx="833041" cy="15619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0182956" y="1325880"/>
            <a:ext cx="0" cy="1640050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9451436" y="2575442"/>
            <a:ext cx="146304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1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9999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16 / 29</a:t>
            </a:r>
          </a:p>
        </p:txBody>
      </p:sp>
      <p:sp>
        <p:nvSpPr>
          <p:cNvPr id="17" name="SectionNo 17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Rounded Rectangle 5">
            <a:extLst>
              <a:ext uri="{FF2B5EF4-FFF2-40B4-BE49-F238E27FC236}">
                <a16:creationId xmlns:a16="http://schemas.microsoft.com/office/drawing/2014/main" id="{D81E4B10-2932-6D33-0DA9-BB13AE1834D5}"/>
              </a:ext>
            </a:extLst>
          </p:cNvPr>
          <p:cNvSpPr/>
          <p:nvPr/>
        </p:nvSpPr>
        <p:spPr>
          <a:xfrm>
            <a:off x="1645920" y="3591872"/>
            <a:ext cx="2743200" cy="233172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446AAD9-0052-0D22-7FF7-363053C551C0}"/>
              </a:ext>
            </a:extLst>
          </p:cNvPr>
          <p:cNvSpPr txBox="1"/>
          <p:nvPr/>
        </p:nvSpPr>
        <p:spPr>
          <a:xfrm>
            <a:off x="1737360" y="3619304"/>
            <a:ext cx="25603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0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Counter_datapath</a:t>
            </a:r>
          </a:p>
        </p:txBody>
      </p:sp>
      <p:sp>
        <p:nvSpPr>
          <p:cNvPr id="22" name="Rounded Rectangle 9">
            <a:extLst>
              <a:ext uri="{FF2B5EF4-FFF2-40B4-BE49-F238E27FC236}">
                <a16:creationId xmlns:a16="http://schemas.microsoft.com/office/drawing/2014/main" id="{AC9CEE98-8EEE-018D-6F7E-F3C0DDED9180}"/>
              </a:ext>
            </a:extLst>
          </p:cNvPr>
          <p:cNvSpPr/>
          <p:nvPr/>
        </p:nvSpPr>
        <p:spPr>
          <a:xfrm>
            <a:off x="1828800" y="4094792"/>
            <a:ext cx="1005840" cy="132588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174CCD-3D06-7E90-B290-C9A208D09F31}"/>
              </a:ext>
            </a:extLst>
          </p:cNvPr>
          <p:cNvSpPr txBox="1"/>
          <p:nvPr/>
        </p:nvSpPr>
        <p:spPr>
          <a:xfrm>
            <a:off x="1828800" y="4149656"/>
            <a:ext cx="100584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tick_gen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GEN</a:t>
            </a:r>
          </a:p>
        </p:txBody>
      </p:sp>
      <p:sp>
        <p:nvSpPr>
          <p:cNvPr id="24" name="Rectangle 11">
            <a:extLst>
              <a:ext uri="{FF2B5EF4-FFF2-40B4-BE49-F238E27FC236}">
                <a16:creationId xmlns:a16="http://schemas.microsoft.com/office/drawing/2014/main" id="{CB3EC3C4-03E3-2C3F-3D15-B82B4E0A6D01}"/>
              </a:ext>
            </a:extLst>
          </p:cNvPr>
          <p:cNvSpPr/>
          <p:nvPr/>
        </p:nvSpPr>
        <p:spPr>
          <a:xfrm>
            <a:off x="1783080" y="455199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4D0898-1A57-A04F-453A-55EF6F147EF8}"/>
              </a:ext>
            </a:extLst>
          </p:cNvPr>
          <p:cNvSpPr txBox="1"/>
          <p:nvPr/>
        </p:nvSpPr>
        <p:spPr>
          <a:xfrm>
            <a:off x="1901952" y="4497128"/>
            <a:ext cx="623621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000B60FD-9444-442D-C654-AE7807FBC4E7}"/>
              </a:ext>
            </a:extLst>
          </p:cNvPr>
          <p:cNvSpPr/>
          <p:nvPr/>
        </p:nvSpPr>
        <p:spPr>
          <a:xfrm>
            <a:off x="1783080" y="505491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144C7B-4D1C-0718-CE30-8FE0E878BF50}"/>
              </a:ext>
            </a:extLst>
          </p:cNvPr>
          <p:cNvSpPr txBox="1"/>
          <p:nvPr/>
        </p:nvSpPr>
        <p:spPr>
          <a:xfrm>
            <a:off x="1901952" y="5000048"/>
            <a:ext cx="623621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28" name="Rectangle 15">
            <a:extLst>
              <a:ext uri="{FF2B5EF4-FFF2-40B4-BE49-F238E27FC236}">
                <a16:creationId xmlns:a16="http://schemas.microsoft.com/office/drawing/2014/main" id="{DDC3C830-B077-4A17-2A79-C002E3A88BD5}"/>
              </a:ext>
            </a:extLst>
          </p:cNvPr>
          <p:cNvSpPr/>
          <p:nvPr/>
        </p:nvSpPr>
        <p:spPr>
          <a:xfrm>
            <a:off x="2788920" y="478059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8FA91B-04AC-5204-5292-75E9B4B94DB7}"/>
              </a:ext>
            </a:extLst>
          </p:cNvPr>
          <p:cNvSpPr txBox="1"/>
          <p:nvPr/>
        </p:nvSpPr>
        <p:spPr>
          <a:xfrm>
            <a:off x="2057400" y="4725728"/>
            <a:ext cx="704088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o_tic</a:t>
            </a:r>
          </a:p>
        </p:txBody>
      </p:sp>
      <p:sp>
        <p:nvSpPr>
          <p:cNvPr id="30" name="Rounded Rectangle 17">
            <a:extLst>
              <a:ext uri="{FF2B5EF4-FFF2-40B4-BE49-F238E27FC236}">
                <a16:creationId xmlns:a16="http://schemas.microsoft.com/office/drawing/2014/main" id="{10A53102-E029-6260-040A-9B907E901455}"/>
              </a:ext>
            </a:extLst>
          </p:cNvPr>
          <p:cNvSpPr/>
          <p:nvPr/>
        </p:nvSpPr>
        <p:spPr>
          <a:xfrm>
            <a:off x="3108960" y="4094792"/>
            <a:ext cx="1097280" cy="132588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905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325AF8-406F-EE4E-D0D2-31E924460C37}"/>
              </a:ext>
            </a:extLst>
          </p:cNvPr>
          <p:cNvSpPr txBox="1"/>
          <p:nvPr/>
        </p:nvSpPr>
        <p:spPr>
          <a:xfrm>
            <a:off x="3108960" y="4149656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tick_counter</a:t>
            </a:r>
          </a:p>
          <a:p>
            <a:pPr algn="ctr"/>
            <a:r>
              <a:rPr sz="8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</a:t>
            </a:r>
          </a:p>
        </p:txBody>
      </p:sp>
      <p:sp>
        <p:nvSpPr>
          <p:cNvPr id="32" name="Rectangle 19">
            <a:extLst>
              <a:ext uri="{FF2B5EF4-FFF2-40B4-BE49-F238E27FC236}">
                <a16:creationId xmlns:a16="http://schemas.microsoft.com/office/drawing/2014/main" id="{D8E32F01-5416-CDDC-38A9-65C117210F92}"/>
              </a:ext>
            </a:extLst>
          </p:cNvPr>
          <p:cNvSpPr/>
          <p:nvPr/>
        </p:nvSpPr>
        <p:spPr>
          <a:xfrm>
            <a:off x="3063240" y="446055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892A4D-811F-309C-8B69-6B895D17BEBA}"/>
              </a:ext>
            </a:extLst>
          </p:cNvPr>
          <p:cNvSpPr txBox="1"/>
          <p:nvPr/>
        </p:nvSpPr>
        <p:spPr>
          <a:xfrm>
            <a:off x="3182112" y="4405688"/>
            <a:ext cx="68031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i_clk</a:t>
            </a:r>
          </a:p>
        </p:txBody>
      </p:sp>
      <p:sp>
        <p:nvSpPr>
          <p:cNvPr id="34" name="Rectangle 21">
            <a:extLst>
              <a:ext uri="{FF2B5EF4-FFF2-40B4-BE49-F238E27FC236}">
                <a16:creationId xmlns:a16="http://schemas.microsoft.com/office/drawing/2014/main" id="{2EBC0B4A-F570-43B8-1970-4B43B5EE3777}"/>
              </a:ext>
            </a:extLst>
          </p:cNvPr>
          <p:cNvSpPr/>
          <p:nvPr/>
        </p:nvSpPr>
        <p:spPr>
          <a:xfrm>
            <a:off x="3063240" y="478059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F769C8-AB78-2C6E-FDE2-16C3B4711A84}"/>
              </a:ext>
            </a:extLst>
          </p:cNvPr>
          <p:cNvSpPr txBox="1"/>
          <p:nvPr/>
        </p:nvSpPr>
        <p:spPr>
          <a:xfrm>
            <a:off x="3182112" y="4725728"/>
            <a:ext cx="68031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i_tick</a:t>
            </a:r>
          </a:p>
        </p:txBody>
      </p:sp>
      <p:sp>
        <p:nvSpPr>
          <p:cNvPr id="36" name="Rectangle 23">
            <a:extLst>
              <a:ext uri="{FF2B5EF4-FFF2-40B4-BE49-F238E27FC236}">
                <a16:creationId xmlns:a16="http://schemas.microsoft.com/office/drawing/2014/main" id="{1A2FCF29-B309-0E17-CC6C-4AFAA60C2657}"/>
              </a:ext>
            </a:extLst>
          </p:cNvPr>
          <p:cNvSpPr/>
          <p:nvPr/>
        </p:nvSpPr>
        <p:spPr>
          <a:xfrm>
            <a:off x="3063240" y="510063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D1BF72-531F-595D-EE06-481C18E6D0FC}"/>
              </a:ext>
            </a:extLst>
          </p:cNvPr>
          <p:cNvSpPr txBox="1"/>
          <p:nvPr/>
        </p:nvSpPr>
        <p:spPr>
          <a:xfrm>
            <a:off x="3182112" y="5045768"/>
            <a:ext cx="68031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i_reset</a:t>
            </a:r>
          </a:p>
        </p:txBody>
      </p:sp>
      <p:sp>
        <p:nvSpPr>
          <p:cNvPr id="38" name="Rectangle 25">
            <a:extLst>
              <a:ext uri="{FF2B5EF4-FFF2-40B4-BE49-F238E27FC236}">
                <a16:creationId xmlns:a16="http://schemas.microsoft.com/office/drawing/2014/main" id="{DFF21191-D5BF-DC8A-78A6-4D41FACC07B1}"/>
              </a:ext>
            </a:extLst>
          </p:cNvPr>
          <p:cNvSpPr/>
          <p:nvPr/>
        </p:nvSpPr>
        <p:spPr>
          <a:xfrm>
            <a:off x="4160520" y="4780592"/>
            <a:ext cx="91440" cy="9144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36F45A-2C59-C385-ADD6-B8E597F3E240}"/>
              </a:ext>
            </a:extLst>
          </p:cNvPr>
          <p:cNvSpPr txBox="1"/>
          <p:nvPr/>
        </p:nvSpPr>
        <p:spPr>
          <a:xfrm>
            <a:off x="3364992" y="4725728"/>
            <a:ext cx="768096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8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[13:0]</a:t>
            </a:r>
          </a:p>
        </p:txBody>
      </p:sp>
      <p:sp>
        <p:nvSpPr>
          <p:cNvPr id="43" name="Freeform 85">
            <a:extLst>
              <a:ext uri="{FF2B5EF4-FFF2-40B4-BE49-F238E27FC236}">
                <a16:creationId xmlns:a16="http://schemas.microsoft.com/office/drawing/2014/main" id="{5A40D1E2-F68D-C7D6-A8C6-9A6C670E5E07}"/>
              </a:ext>
            </a:extLst>
          </p:cNvPr>
          <p:cNvSpPr/>
          <p:nvPr/>
        </p:nvSpPr>
        <p:spPr>
          <a:xfrm>
            <a:off x="2834640" y="4826312"/>
            <a:ext cx="228600" cy="0"/>
          </a:xfrm>
          <a:custGeom>
            <a:avLst/>
            <a:gdLst/>
            <a:ahLst/>
            <a:cxnLst/>
            <a:rect l="l" t="t" r="r" b="b"/>
            <a:pathLst>
              <a:path w="228600">
                <a:moveTo>
                  <a:pt x="0" y="0"/>
                </a:moveTo>
                <a:lnTo>
                  <a:pt x="22860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D560E249-2AEC-5556-E9E7-EF7F42A6AE01}"/>
              </a:ext>
            </a:extLst>
          </p:cNvPr>
          <p:cNvCxnSpPr/>
          <p:nvPr/>
        </p:nvCxnSpPr>
        <p:spPr>
          <a:xfrm>
            <a:off x="4251960" y="4826312"/>
            <a:ext cx="184404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ocusBox 48"/>
          <p:cNvSpPr/>
          <p:nvPr/>
        </p:nvSpPr>
        <p:spPr>
          <a:xfrm>
            <a:off x="3028950" y="4014645"/>
            <a:ext cx="1257300" cy="1476375"/>
          </a:xfrm>
          <a:prstGeom prst="roundRect">
            <a:avLst>
              <a:gd name="adj" fmla="val 6060"/>
            </a:avLst>
          </a:prstGeom>
          <a:noFill/>
          <a:ln w="31750">
            <a:solidFill>
              <a:srgbClr val="FACC15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49" name="OutLabel 49"/>
          <p:cNvSpPr txBox="1"/>
          <p:nvPr/>
        </p:nvSpPr>
        <p:spPr>
          <a:xfrm>
            <a:off x="4305300" y="4576620"/>
            <a:ext cx="1771650" cy="2095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050" b="1" dirty="0">
                <a:solidFill>
                  <a:srgbClr val="1565C0"/>
                </a:solidFill>
                <a:latin typeface="Consolas"/>
                <a:ea typeface="Consolas"/>
                <a:cs typeface="Consolas"/>
              </a:rPr>
              <a:t>o_counter[13:0]</a:t>
            </a:r>
          </a:p>
        </p:txBody>
      </p:sp>
      <p:sp>
        <p:nvSpPr>
          <p:cNvPr id="50" name="Card 50"/>
          <p:cNvSpPr/>
          <p:nvPr/>
        </p:nvSpPr>
        <p:spPr>
          <a:xfrm>
            <a:off x="6477000" y="3200400"/>
            <a:ext cx="5257800" cy="29718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51" name="CardHead 51"/>
          <p:cNvSpPr txBox="1"/>
          <p:nvPr/>
        </p:nvSpPr>
        <p:spPr>
          <a:xfrm>
            <a:off x="6667500" y="3333750"/>
            <a:ext cx="48768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40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tick_counter — 9999 다음 0이 나오는 이유</a:t>
            </a:r>
          </a:p>
        </p:txBody>
      </p:sp>
      <p:sp>
        <p:nvSpPr>
          <p:cNvPr id="52" name="Num 52"/>
          <p:cNvSpPr txBox="1"/>
          <p:nvPr/>
        </p:nvSpPr>
        <p:spPr>
          <a:xfrm>
            <a:off x="6667500" y="37528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sz="12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3" name="RowHead 53"/>
          <p:cNvSpPr txBox="1"/>
          <p:nvPr/>
        </p:nvSpPr>
        <p:spPr>
          <a:xfrm>
            <a:off x="7067550" y="3733800"/>
            <a:ext cx="44767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25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comparator</a:t>
            </a:r>
          </a:p>
        </p:txBody>
      </p:sp>
      <p:sp>
        <p:nvSpPr>
          <p:cNvPr id="54" name="RowBody 54"/>
          <p:cNvSpPr txBox="1"/>
          <p:nvPr/>
        </p:nvSpPr>
        <p:spPr>
          <a:xfrm>
            <a:off x="7067550" y="396240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50" b="0" dirty="0">
                <a:solidFill>
                  <a:srgbClr val="374151"/>
                </a:solidFill>
                <a:latin typeface="맑은 고딕"/>
                <a:ea typeface="맑은 고딕"/>
                <a:cs typeface="맑은 고딕"/>
              </a:rPr>
              <a:t>o_counter = 9999 (COUNT − 1) 감지</a:t>
            </a:r>
          </a:p>
        </p:txBody>
      </p:sp>
      <p:sp>
        <p:nvSpPr>
          <p:cNvPr id="55" name="Num 55"/>
          <p:cNvSpPr txBox="1"/>
          <p:nvPr/>
        </p:nvSpPr>
        <p:spPr>
          <a:xfrm>
            <a:off x="6667500" y="43434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sz="12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56" name="RowHead 56"/>
          <p:cNvSpPr txBox="1"/>
          <p:nvPr/>
        </p:nvSpPr>
        <p:spPr>
          <a:xfrm>
            <a:off x="7067550" y="4324350"/>
            <a:ext cx="44767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25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MUX</a:t>
            </a:r>
          </a:p>
        </p:txBody>
      </p:sp>
      <p:sp>
        <p:nvSpPr>
          <p:cNvPr id="57" name="RowBody 57"/>
          <p:cNvSpPr txBox="1"/>
          <p:nvPr/>
        </p:nvSpPr>
        <p:spPr>
          <a:xfrm>
            <a:off x="7067550" y="45529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50" b="0" dirty="0">
                <a:solidFill>
                  <a:srgbClr val="374151"/>
                </a:solidFill>
                <a:latin typeface="맑은 고딕"/>
                <a:ea typeface="맑은 고딕"/>
                <a:cs typeface="맑은 고딕"/>
              </a:rPr>
              <a:t>+1 결과(10000) 대신 0 선택</a:t>
            </a:r>
          </a:p>
        </p:txBody>
      </p:sp>
      <p:sp>
        <p:nvSpPr>
          <p:cNvPr id="58" name="Num 58"/>
          <p:cNvSpPr txBox="1"/>
          <p:nvPr/>
        </p:nvSpPr>
        <p:spPr>
          <a:xfrm>
            <a:off x="6667500" y="493395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sz="12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59" name="RowHead 59"/>
          <p:cNvSpPr txBox="1"/>
          <p:nvPr/>
        </p:nvSpPr>
        <p:spPr>
          <a:xfrm>
            <a:off x="7067550" y="4914900"/>
            <a:ext cx="44767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25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14-bit register</a:t>
            </a:r>
          </a:p>
        </p:txBody>
      </p:sp>
      <p:sp>
        <p:nvSpPr>
          <p:cNvPr id="60" name="RowBody 60"/>
          <p:cNvSpPr txBox="1"/>
          <p:nvPr/>
        </p:nvSpPr>
        <p:spPr>
          <a:xfrm>
            <a:off x="7067550" y="514350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50" b="0" dirty="0">
                <a:solidFill>
                  <a:srgbClr val="374151"/>
                </a:solidFill>
                <a:latin typeface="맑은 고딕"/>
                <a:ea typeface="맑은 고딕"/>
                <a:cs typeface="맑은 고딕"/>
              </a:rPr>
              <a:t>Tick 엣지에서 0 저장 → 9999 다음 0</a:t>
            </a:r>
          </a:p>
        </p:txBody>
      </p:sp>
      <p:sp>
        <p:nvSpPr>
          <p:cNvPr id="61" name="Num 61"/>
          <p:cNvSpPr txBox="1"/>
          <p:nvPr/>
        </p:nvSpPr>
        <p:spPr>
          <a:xfrm>
            <a:off x="6667500" y="5524500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sz="12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62" name="RowHead 62"/>
          <p:cNvSpPr txBox="1"/>
          <p:nvPr/>
        </p:nvSpPr>
        <p:spPr>
          <a:xfrm>
            <a:off x="7067550" y="5505450"/>
            <a:ext cx="447675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25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  <p:sp>
        <p:nvSpPr>
          <p:cNvPr id="63" name="RowBody 63"/>
          <p:cNvSpPr txBox="1"/>
          <p:nvPr/>
        </p:nvSpPr>
        <p:spPr>
          <a:xfrm>
            <a:off x="7067550" y="57340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150" b="0" dirty="0">
                <a:solidFill>
                  <a:srgbClr val="374151"/>
                </a:solidFill>
                <a:latin typeface="맑은 고딕"/>
                <a:ea typeface="맑은 고딕"/>
                <a:cs typeface="맑은 고딕"/>
              </a:rPr>
              <a:t>10000은 저장되지 않음 → 0 ~ 9999 4자리 유지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Band 25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A78BFA"/>
                </a:solidFill>
                <a:latin typeface="맑은 고딕"/>
                <a:ea typeface="맑은 고딕"/>
                <a:cs typeface="맑은 고딕"/>
              </a:rPr>
              <a:t>03 · v1 검증 — Top 연결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Each Tick Adds 1 on the Full Top</a:t>
            </a:r>
          </a:p>
        </p:txBody>
      </p:sp>
      <p:pic>
        <p:nvPicPr>
          <p:cNvPr id="4" name="Picture 3" descr="p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23864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582973" y="1721358"/>
            <a:ext cx="9151522" cy="574895"/>
          </a:xfrm>
          <a:prstGeom prst="rect">
            <a:avLst/>
          </a:prstGeom>
          <a:solidFill>
            <a:srgbClr val="000000">
              <a:alpha val="7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7527" y="2302938"/>
            <a:ext cx="481307" cy="17380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7527" y="2496798"/>
            <a:ext cx="882397" cy="173805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7526" y="2690103"/>
            <a:ext cx="955705" cy="755939"/>
          </a:xfrm>
          <a:prstGeom prst="rect">
            <a:avLst/>
          </a:prstGeom>
          <a:noFill/>
          <a:ln w="28575">
            <a:solidFill>
              <a:srgbClr val="76FF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5063043" y="1280160"/>
            <a:ext cx="0" cy="2386482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405454" y="1280160"/>
            <a:ext cx="0" cy="2386482"/>
          </a:xfrm>
          <a:prstGeom prst="line">
            <a:avLst/>
          </a:prstGeom>
          <a:ln w="25400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944171" y="2270968"/>
            <a:ext cx="237744" cy="237744"/>
          </a:xfrm>
          <a:prstGeom prst="ellipse">
            <a:avLst/>
          </a:prstGeom>
          <a:noFill/>
          <a:ln w="28575">
            <a:solidFill>
              <a:srgbClr val="FF17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5103151" y="2216035"/>
            <a:ext cx="3242139" cy="0"/>
          </a:xfrm>
          <a:prstGeom prst="line">
            <a:avLst/>
          </a:prstGeom>
          <a:ln w="19050">
            <a:solidFill>
              <a:srgbClr val="FFFFFF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83733" y="2135817"/>
            <a:ext cx="914400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100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79967" y="3940962"/>
            <a:ext cx="3576218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44559" y="4050690"/>
            <a:ext cx="324703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 ↑ → 카운트 +1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Tick이 뜬 클럭에서 0000 → 0001 → 0002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 ms 간격 = 0.1초마다 +1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0505" y="3940962"/>
            <a:ext cx="3576218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5097" y="4050690"/>
            <a:ext cx="324703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자리 분리</a:t>
            </a:r>
            <a:r>
              <a:rPr lang="en-US"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확인</a:t>
            </a:r>
            <a:endParaRPr sz="1300" b="1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1의 자리가 카운트와 같은 시각에 바뀜</a:t>
            </a:r>
          </a:p>
          <a:p>
            <a:pPr marL="164592" indent="-164592" algn="l">
              <a:spcAft>
                <a:spcPts val="300"/>
              </a:spcAft>
              <a:buChar char="•"/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digit_splitter(조합 회로) → 클럭 대기 없음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17 / 29</a:t>
            </a:r>
          </a:p>
        </p:txBody>
      </p:sp>
      <p:sp>
        <p:nvSpPr>
          <p:cNvPr id="26" name="SectionNo 26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itleBand 8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7185"/>
                </a:solidFill>
                <a:latin typeface="맑은 고딕"/>
                <a:ea typeface="맑은 고딕"/>
                <a:cs typeface="맑은 고딕"/>
              </a:rPr>
              <a:t>04 · v2 설계 — 요구사항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v2 Switch Priority: CLEAR &gt; STOP &gt; DOWN &gt;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87452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SW0</a:t>
            </a: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V17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16459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STOP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HOLD (현재 값)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1325880"/>
            <a:ext cx="187452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6040" y="1417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SW1</a:t>
            </a: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V16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74520"/>
            <a:ext cx="16459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CLEAR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325880"/>
            <a:ext cx="187452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720" y="141732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</a:t>
            </a:r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W16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20"/>
            <a:ext cx="16459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DOWN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−1 (0 다음 9999)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3716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우선순위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1783080"/>
            <a:ext cx="1024128" cy="56692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783080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16" name="Oval 15"/>
          <p:cNvSpPr/>
          <p:nvPr/>
        </p:nvSpPr>
        <p:spPr>
          <a:xfrm>
            <a:off x="7882128" y="1783080"/>
            <a:ext cx="1024128" cy="566928"/>
          </a:xfrm>
          <a:prstGeom prst="ellipse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1783080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18" name="Oval 17"/>
          <p:cNvSpPr/>
          <p:nvPr/>
        </p:nvSpPr>
        <p:spPr>
          <a:xfrm>
            <a:off x="9180576" y="1783080"/>
            <a:ext cx="1024128" cy="56692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DOWN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04704" y="1783080"/>
            <a:ext cx="27432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&gt;</a:t>
            </a:r>
          </a:p>
        </p:txBody>
      </p:sp>
      <p:sp>
        <p:nvSpPr>
          <p:cNvPr id="20" name="Oval 19"/>
          <p:cNvSpPr/>
          <p:nvPr/>
        </p:nvSpPr>
        <p:spPr>
          <a:xfrm>
            <a:off x="10479024" y="1783080"/>
            <a:ext cx="10241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UP (기본)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4688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여러 스위치 동시 ON 시 왼쪽 우선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063240"/>
            <a:ext cx="11277295" cy="31546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1089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counter_10000_v2 (Top)</a:t>
            </a:r>
          </a:p>
        </p:txBody>
      </p:sp>
      <p:sp>
        <p:nvSpPr>
          <p:cNvPr id="24" name="Pentagon 23"/>
          <p:cNvSpPr/>
          <p:nvPr/>
        </p:nvSpPr>
        <p:spPr>
          <a:xfrm>
            <a:off x="594360" y="346557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CLK 100 MHz</a:t>
            </a:r>
          </a:p>
        </p:txBody>
      </p:sp>
      <p:sp>
        <p:nvSpPr>
          <p:cNvPr id="25" name="Pentagon 24"/>
          <p:cNvSpPr/>
          <p:nvPr/>
        </p:nvSpPr>
        <p:spPr>
          <a:xfrm>
            <a:off x="594360" y="392277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Reset (BTNC)</a:t>
            </a:r>
          </a:p>
        </p:txBody>
      </p:sp>
      <p:sp>
        <p:nvSpPr>
          <p:cNvPr id="26" name="Pentagon 25"/>
          <p:cNvSpPr/>
          <p:nvPr/>
        </p:nvSpPr>
        <p:spPr>
          <a:xfrm>
            <a:off x="594360" y="456285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SW0 STOP</a:t>
            </a:r>
          </a:p>
        </p:txBody>
      </p:sp>
      <p:sp>
        <p:nvSpPr>
          <p:cNvPr id="27" name="Pentagon 26"/>
          <p:cNvSpPr/>
          <p:nvPr/>
        </p:nvSpPr>
        <p:spPr>
          <a:xfrm>
            <a:off x="594360" y="497433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SW1 CLEAR</a:t>
            </a:r>
          </a:p>
        </p:txBody>
      </p:sp>
      <p:sp>
        <p:nvSpPr>
          <p:cNvPr id="28" name="Pentagon 27"/>
          <p:cNvSpPr/>
          <p:nvPr/>
        </p:nvSpPr>
        <p:spPr>
          <a:xfrm>
            <a:off x="594360" y="5385816"/>
            <a:ext cx="1325880" cy="292608"/>
          </a:xfrm>
          <a:prstGeom prst="homePlate">
            <a:avLst/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54864" rIns="54864" bIns="54864" rtlCol="0" anchor="ctr"/>
          <a:lstStyle/>
          <a:p>
            <a:pPr algn="l"/>
            <a:r>
              <a:rPr sz="9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DOWN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7440" y="3429000"/>
            <a:ext cx="4206240" cy="2514600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468880" y="345643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Counter_Datapath_v2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384048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tick_gen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0.1초 Tick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3840480"/>
            <a:ext cx="1828800" cy="1874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20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tick_counter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Tick마다 8가지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스위치 조합 판정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(p.19 Table)</a:t>
            </a:r>
          </a:p>
        </p:txBody>
      </p:sp>
      <p:sp>
        <p:nvSpPr>
          <p:cNvPr id="33" name="Freeform 32"/>
          <p:cNvSpPr/>
          <p:nvPr/>
        </p:nvSpPr>
        <p:spPr>
          <a:xfrm>
            <a:off x="4069080" y="4389120"/>
            <a:ext cx="411480" cy="0"/>
          </a:xfrm>
          <a:custGeom>
            <a:avLst/>
            <a:gdLst/>
            <a:ahLst/>
            <a:cxnLst/>
            <a:rect l="l" t="t" r="r" b="b"/>
            <a:pathLst>
              <a:path w="411480">
                <a:moveTo>
                  <a:pt x="0" y="0"/>
                </a:moveTo>
                <a:lnTo>
                  <a:pt x="411480" y="0"/>
                </a:lnTo>
              </a:path>
            </a:pathLst>
          </a:custGeom>
          <a:noFill/>
          <a:ln w="22225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023360" y="4133088"/>
            <a:ext cx="5029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Tick</a:t>
            </a:r>
          </a:p>
        </p:txBody>
      </p:sp>
      <p:sp>
        <p:nvSpPr>
          <p:cNvPr id="35" name="Freeform 34"/>
          <p:cNvSpPr/>
          <p:nvPr/>
        </p:nvSpPr>
        <p:spPr>
          <a:xfrm>
            <a:off x="1965960" y="3611880"/>
            <a:ext cx="685800" cy="594360"/>
          </a:xfrm>
          <a:custGeom>
            <a:avLst/>
            <a:gdLst/>
            <a:ahLst/>
            <a:cxnLst/>
            <a:rect l="l" t="t" r="r" b="b"/>
            <a:pathLst>
              <a:path w="685800" h="594360">
                <a:moveTo>
                  <a:pt x="0" y="0"/>
                </a:moveTo>
                <a:lnTo>
                  <a:pt x="548640" y="0"/>
                </a:lnTo>
                <a:lnTo>
                  <a:pt x="548640" y="594360"/>
                </a:lnTo>
                <a:lnTo>
                  <a:pt x="685800" y="594360"/>
                </a:lnTo>
              </a:path>
            </a:pathLst>
          </a:custGeom>
          <a:noFill/>
          <a:ln w="1905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Freeform 35"/>
          <p:cNvSpPr/>
          <p:nvPr/>
        </p:nvSpPr>
        <p:spPr>
          <a:xfrm>
            <a:off x="1965960" y="4069080"/>
            <a:ext cx="411480" cy="0"/>
          </a:xfrm>
          <a:custGeom>
            <a:avLst/>
            <a:gdLst/>
            <a:ahLst/>
            <a:cxnLst/>
            <a:rect l="l" t="t" r="r" b="b"/>
            <a:pathLst>
              <a:path w="411480">
                <a:moveTo>
                  <a:pt x="0" y="0"/>
                </a:moveTo>
                <a:lnTo>
                  <a:pt x="411480" y="0"/>
                </a:lnTo>
              </a:path>
            </a:pathLst>
          </a:custGeom>
          <a:noFill/>
          <a:ln w="190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Freeform 36"/>
          <p:cNvSpPr/>
          <p:nvPr/>
        </p:nvSpPr>
        <p:spPr>
          <a:xfrm>
            <a:off x="1965960" y="4709160"/>
            <a:ext cx="2514600" cy="0"/>
          </a:xfrm>
          <a:custGeom>
            <a:avLst/>
            <a:gdLst/>
            <a:ahLst/>
            <a:cxnLst/>
            <a:rect l="l" t="t" r="r" b="b"/>
            <a:pathLst>
              <a:path w="2514600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Freeform 37"/>
          <p:cNvSpPr/>
          <p:nvPr/>
        </p:nvSpPr>
        <p:spPr>
          <a:xfrm>
            <a:off x="1965960" y="5120640"/>
            <a:ext cx="2514600" cy="0"/>
          </a:xfrm>
          <a:custGeom>
            <a:avLst/>
            <a:gdLst/>
            <a:ahLst/>
            <a:cxnLst/>
            <a:rect l="l" t="t" r="r" b="b"/>
            <a:pathLst>
              <a:path w="2514600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eeform 38"/>
          <p:cNvSpPr/>
          <p:nvPr/>
        </p:nvSpPr>
        <p:spPr>
          <a:xfrm>
            <a:off x="1965960" y="5532120"/>
            <a:ext cx="2514600" cy="0"/>
          </a:xfrm>
          <a:custGeom>
            <a:avLst/>
            <a:gdLst/>
            <a:ahLst/>
            <a:cxnLst/>
            <a:rect l="l" t="t" r="r" b="b"/>
            <a:pathLst>
              <a:path w="2514600">
                <a:moveTo>
                  <a:pt x="0" y="0"/>
                </a:moveTo>
                <a:lnTo>
                  <a:pt x="2514600" y="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086600" y="3429000"/>
            <a:ext cx="2926080" cy="2514600"/>
          </a:xfrm>
          <a:prstGeom prst="roundRect">
            <a:avLst>
              <a:gd name="adj" fmla="val 3000"/>
            </a:avLst>
          </a:prstGeom>
          <a:solidFill>
            <a:srgbClr val="F1F8EE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178040" y="3456432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FND_CONTROLLER (v1과 동일)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3840480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digit_splitter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0" y="4526280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FDECEC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clock_div · Fnd_Controller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5212080"/>
            <a:ext cx="2468880" cy="502920"/>
          </a:xfrm>
          <a:prstGeom prst="roundRect">
            <a:avLst>
              <a:gd name="adj" fmla="val 12000"/>
            </a:avLst>
          </a:prstGeom>
          <a:solidFill>
            <a:srgbClr val="E3F0FD"/>
          </a:solidFill>
          <a:ln w="127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5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fnd_decoder</a:t>
            </a:r>
          </a:p>
        </p:txBody>
      </p:sp>
      <p:sp>
        <p:nvSpPr>
          <p:cNvPr id="45" name="Freeform 44"/>
          <p:cNvSpPr/>
          <p:nvPr/>
        </p:nvSpPr>
        <p:spPr>
          <a:xfrm>
            <a:off x="6355080" y="47548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3175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0" y="4480560"/>
            <a:ext cx="7315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0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14 bit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87000" y="4251960"/>
            <a:ext cx="1228954" cy="548640"/>
          </a:xfrm>
          <a:prstGeom prst="roundRect">
            <a:avLst>
              <a:gd name="adj" fmla="val 8000"/>
            </a:avLst>
          </a:prstGeom>
          <a:solidFill>
            <a:srgbClr val="1A0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10411541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0411541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10411541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10369296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10538277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0369296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10538277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10695920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10695920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10695920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ounded Rectangle 57"/>
          <p:cNvSpPr/>
          <p:nvPr/>
        </p:nvSpPr>
        <p:spPr>
          <a:xfrm>
            <a:off x="10653674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10822656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10653674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10822656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10980298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ounded Rectangle 62"/>
          <p:cNvSpPr/>
          <p:nvPr/>
        </p:nvSpPr>
        <p:spPr>
          <a:xfrm>
            <a:off x="10980298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10980298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10938053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11107034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10938053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ounded Rectangle 67"/>
          <p:cNvSpPr/>
          <p:nvPr/>
        </p:nvSpPr>
        <p:spPr>
          <a:xfrm>
            <a:off x="11107034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ounded Rectangle 68"/>
          <p:cNvSpPr/>
          <p:nvPr/>
        </p:nvSpPr>
        <p:spPr>
          <a:xfrm>
            <a:off x="11264676" y="4334256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11264676" y="4505157"/>
            <a:ext cx="126736" cy="42245"/>
          </a:xfrm>
          <a:prstGeom prst="roundRect">
            <a:avLst>
              <a:gd name="adj" fmla="val 50000"/>
            </a:avLst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11264676" y="4676059"/>
            <a:ext cx="126736" cy="42245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11222431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ounded Rectangle 72"/>
          <p:cNvSpPr/>
          <p:nvPr/>
        </p:nvSpPr>
        <p:spPr>
          <a:xfrm>
            <a:off x="11391412" y="43596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11222431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ounded Rectangle 74"/>
          <p:cNvSpPr/>
          <p:nvPr/>
        </p:nvSpPr>
        <p:spPr>
          <a:xfrm>
            <a:off x="11391412" y="4547403"/>
            <a:ext cx="42245" cy="145554"/>
          </a:xfrm>
          <a:prstGeom prst="roundRect">
            <a:avLst>
              <a:gd name="adj" fmla="val 50000"/>
            </a:avLst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Freeform 75"/>
          <p:cNvSpPr/>
          <p:nvPr/>
        </p:nvSpPr>
        <p:spPr>
          <a:xfrm>
            <a:off x="10012680" y="4572000"/>
            <a:ext cx="246888" cy="0"/>
          </a:xfrm>
          <a:custGeom>
            <a:avLst/>
            <a:gdLst/>
            <a:ahLst/>
            <a:cxnLst/>
            <a:rect l="l" t="t" r="r" b="b"/>
            <a:pathLst>
              <a:path w="246888">
                <a:moveTo>
                  <a:pt x="0" y="0"/>
                </a:moveTo>
                <a:lnTo>
                  <a:pt x="246888" y="0"/>
                </a:lnTo>
              </a:path>
            </a:pathLst>
          </a:custGeom>
          <a:noFill/>
          <a:ln w="25400">
            <a:solidFill>
              <a:srgbClr val="1E3A8A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18 / 29</a:t>
            </a:r>
          </a:p>
        </p:txBody>
      </p:sp>
      <p:sp>
        <p:nvSpPr>
          <p:cNvPr id="81" name="SectionNo 81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718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Band 14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7185"/>
                </a:solidFill>
                <a:latin typeface="맑은 고딕"/>
                <a:ea typeface="맑은 고딕"/>
                <a:cs typeface="맑은 고딕"/>
              </a:rPr>
              <a:t>04 · v2 설계 — 동작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 Switch Codes Map to 4 Actions in One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977144"/>
              </p:ext>
            </p:extLst>
          </p:nvPr>
        </p:nvGraphicFramePr>
        <p:xfrm>
          <a:off x="2301239" y="1667256"/>
          <a:ext cx="7589521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54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46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46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69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2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57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SW2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SW1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SW0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Action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때 카운트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+1 (9999 다음 0)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스위치 없음 → 기본 동작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HOLD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3F0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−1 (0 다음 9999)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E3F0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DOWN만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HOLD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STOP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19 / 29</a:t>
            </a:r>
          </a:p>
        </p:txBody>
      </p:sp>
      <p:sp>
        <p:nvSpPr>
          <p:cNvPr id="15" name="SectionNo 15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718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ableName 17"/>
          <p:cNvSpPr txBox="1"/>
          <p:nvPr/>
        </p:nvSpPr>
        <p:spPr>
          <a:xfrm>
            <a:off x="2301239" y="1343406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400" b="1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Switch Action Table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Band 28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7185"/>
                </a:solidFill>
                <a:latin typeface="맑은 고딕"/>
                <a:ea typeface="맑은 고딕"/>
                <a:cs typeface="맑은 고딕"/>
              </a:rPr>
              <a:t>04 · v2 설계 — 보드 입출력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Board I/O Pin Map (FND_COU.xdc)</a:t>
            </a:r>
          </a:p>
        </p:txBody>
      </p:sp>
      <p:pic>
        <p:nvPicPr>
          <p:cNvPr id="4" name="Picture 3" descr="p13_1.jpg"/>
          <p:cNvPicPr>
            <a:picLocks noChangeAspect="1"/>
          </p:cNvPicPr>
          <p:nvPr/>
        </p:nvPicPr>
        <p:blipFill>
          <a:blip r:embed="rId2"/>
          <a:srcRect l="2761" t="3896" r="12422"/>
          <a:stretch>
            <a:fillRect/>
          </a:stretch>
        </p:blipFill>
        <p:spPr>
          <a:xfrm>
            <a:off x="457200" y="1371600"/>
            <a:ext cx="6492240" cy="3909079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 flipV="1">
            <a:off x="3283358" y="3072205"/>
            <a:ext cx="0" cy="544474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3210206" y="3543527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30660" y="2797885"/>
            <a:ext cx="1828800" cy="27432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CLK 100 MHz · W5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5063574" y="2623190"/>
            <a:ext cx="0" cy="914251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90422" y="3464289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60628" y="2348870"/>
            <a:ext cx="1828800" cy="27432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Reset · BTNC · U18</a:t>
            </a:r>
          </a:p>
        </p:txBody>
      </p:sp>
      <p:cxnSp>
        <p:nvCxnSpPr>
          <p:cNvPr id="11" name="Connector 10"/>
          <p:cNvCxnSpPr/>
          <p:nvPr/>
        </p:nvCxnSpPr>
        <p:spPr>
          <a:xfrm flipH="1" flipV="1">
            <a:off x="3817936" y="4493394"/>
            <a:ext cx="2423644" cy="364682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168428" y="4784924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989136" y="4356234"/>
            <a:ext cx="1828800" cy="274320"/>
          </a:xfrm>
          <a:prstGeom prst="rect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SW0 STOP · V17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3817936" y="4794499"/>
            <a:ext cx="2053866" cy="63577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5798650" y="4784924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989136" y="4657339"/>
            <a:ext cx="1828800" cy="274320"/>
          </a:xfrm>
          <a:prstGeom prst="rect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SW1 CLEAR · V16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817936" y="4858076"/>
            <a:ext cx="1710501" cy="237528"/>
          </a:xfrm>
          <a:prstGeom prst="line">
            <a:avLst/>
          </a:prstGeom>
          <a:ln w="22225">
            <a:solidFill>
              <a:srgbClr val="FFD6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55285" y="4784924"/>
            <a:ext cx="146304" cy="146304"/>
          </a:xfrm>
          <a:prstGeom prst="ellipse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989136" y="4958444"/>
            <a:ext cx="1828800" cy="274320"/>
          </a:xfrm>
          <a:prstGeom prst="rect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SW2 DOWN · W16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23168" y="3616679"/>
            <a:ext cx="1769650" cy="475428"/>
          </a:xfrm>
          <a:prstGeom prst="rect">
            <a:avLst/>
          </a:prstGeom>
          <a:noFill/>
          <a:ln w="31750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223168" y="3220489"/>
            <a:ext cx="1920240" cy="2743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36576" rIns="36576" bIns="36576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FND 4자리 (세그먼트 · 자리)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380746"/>
              </p:ext>
            </p:extLst>
          </p:nvPr>
        </p:nvGraphicFramePr>
        <p:xfrm>
          <a:off x="7315200" y="1819275"/>
          <a:ext cx="4419295" cy="30723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15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2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90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61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보드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방향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i_clk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 MHz 오실레이터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i_reset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BTNC (가운데 버튼)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U18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i_sw0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SW0 — 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i_sw1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SW1 — 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i_sw2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SW2 —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W16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o_fnd_data[0:7]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세그먼트 CA~CG, DP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W7 W6 U8 V8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U5 V5 U7 V7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o_fnd_com[0:3]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자리 AN0~AN3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U2 U4 V4 W4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출력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20 / 29</a:t>
            </a:r>
          </a:p>
        </p:txBody>
      </p:sp>
      <p:sp>
        <p:nvSpPr>
          <p:cNvPr id="29" name="SectionNo 29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7185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Band 1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923C"/>
                </a:solidFill>
                <a:latin typeface="맑은 고딕"/>
                <a:ea typeface="맑은 고딕"/>
                <a:cs typeface="맑은 고딕"/>
              </a:rPr>
              <a:t>05 · v2 검증 — 경계값 시뮬레이션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Boundary Plan — 8 of 10 Cases Confirmed in Simulation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11277599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5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453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061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76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315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항목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(SW2 SW1 SW0)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 결과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 끝값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9998 → 9999 →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DOWN 끝값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 → 0 → 9999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다음 Tick에 0 (최대 0.1초 지연)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전부 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001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Tick이 와도 HOLD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HOLD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 p.22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사이 스위치 변화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사이에 켰다 끔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변화 없음 (Tick 때만 판정)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미실시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BTNC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즉시 0 (클럭 대기 없음)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5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시작 시 1회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21 / 29</a:t>
            </a:r>
          </a:p>
        </p:txBody>
      </p:sp>
      <p:sp>
        <p:nvSpPr>
          <p:cNvPr id="13" name="SectionNo 13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923C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WaveFrame 61"/>
          <p:cNvSpPr/>
          <p:nvPr/>
        </p:nvSpPr>
        <p:spPr>
          <a:xfrm>
            <a:off x="323850" y="1428750"/>
            <a:ext cx="11544300" cy="2218612"/>
          </a:xfrm>
          <a:prstGeom prst="roundRect">
            <a:avLst>
              <a:gd name="adj" fmla="val 5270"/>
            </a:avLst>
          </a:prstGeom>
          <a:solidFill>
            <a:srgbClr val="0B1220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C5A4325-3937-AFB8-051A-9D9BAA7206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79" b="45377"/>
          <a:stretch>
            <a:fillRect/>
          </a:stretch>
        </p:blipFill>
        <p:spPr>
          <a:xfrm>
            <a:off x="370031" y="1748020"/>
            <a:ext cx="11487150" cy="1715616"/>
          </a:xfrm>
          <a:prstGeom prst="rect">
            <a:avLst/>
          </a:prstGeom>
        </p:spPr>
      </p:pic>
      <p:sp>
        <p:nvSpPr>
          <p:cNvPr id="58" name="TitleBand 58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923C"/>
                </a:solidFill>
                <a:latin typeface="맑은 고딕"/>
                <a:ea typeface="맑은 고딕"/>
                <a:cs typeface="맑은 고딕"/>
              </a:rPr>
              <a:t>05 · v2 검증 — 시뮬레이션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Simulation — All 8 Switch Codes and Both Wraps Match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22 / 29</a:t>
            </a:r>
          </a:p>
        </p:txBody>
      </p:sp>
      <p:sp>
        <p:nvSpPr>
          <p:cNvPr id="59" name="SectionNo 59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923C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cxnSp>
        <p:nvCxnSpPr>
          <p:cNvPr id="64" name="SegLine 64"/>
          <p:cNvCxnSpPr/>
          <p:nvPr/>
        </p:nvCxnSpPr>
        <p:spPr>
          <a:xfrm>
            <a:off x="2768178" y="1790700"/>
            <a:ext cx="0" cy="1007516"/>
          </a:xfrm>
          <a:prstGeom prst="line">
            <a:avLst/>
          </a:prstGeom>
          <a:ln w="12700">
            <a:solidFill>
              <a:srgbClr val="FACC15"/>
            </a:solidFill>
            <a:prstDash val="dash"/>
          </a:ln>
        </p:spPr>
      </p:cxn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4D35604-0ADE-3EA6-E35A-1CDF65944472}"/>
              </a:ext>
            </a:extLst>
          </p:cNvPr>
          <p:cNvGrpSpPr/>
          <p:nvPr/>
        </p:nvGrpSpPr>
        <p:grpSpPr>
          <a:xfrm>
            <a:off x="2786939" y="1504950"/>
            <a:ext cx="9023772" cy="266700"/>
            <a:chOff x="2786939" y="1504950"/>
            <a:chExt cx="9023772" cy="266700"/>
          </a:xfrm>
        </p:grpSpPr>
        <p:sp>
          <p:nvSpPr>
            <p:cNvPr id="63" name="Seg 63"/>
            <p:cNvSpPr txBox="1"/>
            <p:nvPr/>
          </p:nvSpPr>
          <p:spPr>
            <a:xfrm>
              <a:off x="2786939" y="1504950"/>
              <a:ext cx="771406" cy="2667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UP</a:t>
              </a:r>
            </a:p>
          </p:txBody>
        </p:sp>
        <p:sp>
          <p:nvSpPr>
            <p:cNvPr id="65" name="Seg 65"/>
            <p:cNvSpPr txBox="1"/>
            <p:nvPr/>
          </p:nvSpPr>
          <p:spPr>
            <a:xfrm>
              <a:off x="3577396" y="1504950"/>
              <a:ext cx="376178" cy="266700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9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CLEAR</a:t>
              </a:r>
            </a:p>
          </p:txBody>
        </p:sp>
        <p:sp>
          <p:nvSpPr>
            <p:cNvPr id="67" name="Seg 67"/>
            <p:cNvSpPr txBox="1"/>
            <p:nvPr/>
          </p:nvSpPr>
          <p:spPr>
            <a:xfrm>
              <a:off x="3972624" y="1504950"/>
              <a:ext cx="771406" cy="2667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DOWN</a:t>
              </a:r>
            </a:p>
          </p:txBody>
        </p:sp>
        <p:sp>
          <p:nvSpPr>
            <p:cNvPr id="69" name="Seg 69"/>
            <p:cNvSpPr txBox="1"/>
            <p:nvPr/>
          </p:nvSpPr>
          <p:spPr>
            <a:xfrm>
              <a:off x="4763081" y="1504950"/>
              <a:ext cx="1166635" cy="2667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UP</a:t>
              </a:r>
            </a:p>
          </p:txBody>
        </p:sp>
        <p:sp>
          <p:nvSpPr>
            <p:cNvPr id="71" name="Seg 71"/>
            <p:cNvSpPr txBox="1"/>
            <p:nvPr/>
          </p:nvSpPr>
          <p:spPr>
            <a:xfrm>
              <a:off x="5948765" y="1504950"/>
              <a:ext cx="376178" cy="266700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9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CLEAR</a:t>
              </a:r>
            </a:p>
          </p:txBody>
        </p:sp>
        <p:sp>
          <p:nvSpPr>
            <p:cNvPr id="73" name="Seg 73"/>
            <p:cNvSpPr txBox="1"/>
            <p:nvPr/>
          </p:nvSpPr>
          <p:spPr>
            <a:xfrm>
              <a:off x="6343993" y="1504950"/>
              <a:ext cx="771406" cy="2667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UP</a:t>
              </a:r>
            </a:p>
          </p:txBody>
        </p:sp>
        <p:sp>
          <p:nvSpPr>
            <p:cNvPr id="75" name="Seg 75"/>
            <p:cNvSpPr txBox="1"/>
            <p:nvPr/>
          </p:nvSpPr>
          <p:spPr>
            <a:xfrm>
              <a:off x="7134450" y="1504950"/>
              <a:ext cx="771406" cy="2667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STOP</a:t>
              </a:r>
            </a:p>
          </p:txBody>
        </p:sp>
        <p:sp>
          <p:nvSpPr>
            <p:cNvPr id="77" name="Seg 77"/>
            <p:cNvSpPr txBox="1"/>
            <p:nvPr/>
          </p:nvSpPr>
          <p:spPr>
            <a:xfrm>
              <a:off x="7924906" y="1504950"/>
              <a:ext cx="376178" cy="266700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9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CLEAR</a:t>
              </a:r>
            </a:p>
          </p:txBody>
        </p:sp>
        <p:sp>
          <p:nvSpPr>
            <p:cNvPr id="79" name="Seg 79"/>
            <p:cNvSpPr txBox="1"/>
            <p:nvPr/>
          </p:nvSpPr>
          <p:spPr>
            <a:xfrm>
              <a:off x="8320134" y="1504950"/>
              <a:ext cx="1166635" cy="2667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UP</a:t>
              </a:r>
            </a:p>
          </p:txBody>
        </p:sp>
        <p:sp>
          <p:nvSpPr>
            <p:cNvPr id="81" name="Seg 81"/>
            <p:cNvSpPr txBox="1"/>
            <p:nvPr/>
          </p:nvSpPr>
          <p:spPr>
            <a:xfrm>
              <a:off x="9505819" y="1504950"/>
              <a:ext cx="771406" cy="2667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STOP</a:t>
              </a:r>
            </a:p>
          </p:txBody>
        </p:sp>
        <p:sp>
          <p:nvSpPr>
            <p:cNvPr id="83" name="Seg 83"/>
            <p:cNvSpPr txBox="1"/>
            <p:nvPr/>
          </p:nvSpPr>
          <p:spPr>
            <a:xfrm>
              <a:off x="10296276" y="1504950"/>
              <a:ext cx="1514435" cy="266700"/>
            </a:xfrm>
            <a:prstGeom prst="rect">
              <a:avLst/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CLEAR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0118F419-8E79-9659-760A-3E38DF1AF6FC}"/>
              </a:ext>
            </a:extLst>
          </p:cNvPr>
          <p:cNvGrpSpPr/>
          <p:nvPr/>
        </p:nvGrpSpPr>
        <p:grpSpPr>
          <a:xfrm>
            <a:off x="3558635" y="1790700"/>
            <a:ext cx="6718880" cy="1856662"/>
            <a:chOff x="3558635" y="1790700"/>
            <a:chExt cx="6718880" cy="1007516"/>
          </a:xfrm>
        </p:grpSpPr>
        <p:cxnSp>
          <p:nvCxnSpPr>
            <p:cNvPr id="66" name="SegLine 66"/>
            <p:cNvCxnSpPr/>
            <p:nvPr/>
          </p:nvCxnSpPr>
          <p:spPr>
            <a:xfrm>
              <a:off x="3558635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68" name="SegLine 68"/>
            <p:cNvCxnSpPr/>
            <p:nvPr/>
          </p:nvCxnSpPr>
          <p:spPr>
            <a:xfrm>
              <a:off x="3953863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70" name="SegLine 70"/>
            <p:cNvCxnSpPr/>
            <p:nvPr/>
          </p:nvCxnSpPr>
          <p:spPr>
            <a:xfrm>
              <a:off x="4744320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72" name="SegLine 72"/>
            <p:cNvCxnSpPr/>
            <p:nvPr/>
          </p:nvCxnSpPr>
          <p:spPr>
            <a:xfrm>
              <a:off x="5930004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74" name="SegLine 74"/>
            <p:cNvCxnSpPr/>
            <p:nvPr/>
          </p:nvCxnSpPr>
          <p:spPr>
            <a:xfrm>
              <a:off x="6325232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76" name="SegLine 76"/>
            <p:cNvCxnSpPr/>
            <p:nvPr/>
          </p:nvCxnSpPr>
          <p:spPr>
            <a:xfrm>
              <a:off x="7115689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78" name="SegLine 78"/>
            <p:cNvCxnSpPr/>
            <p:nvPr/>
          </p:nvCxnSpPr>
          <p:spPr>
            <a:xfrm>
              <a:off x="7906145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80" name="SegLine 80"/>
            <p:cNvCxnSpPr/>
            <p:nvPr/>
          </p:nvCxnSpPr>
          <p:spPr>
            <a:xfrm>
              <a:off x="8301373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82" name="SegLine 82"/>
            <p:cNvCxnSpPr/>
            <p:nvPr/>
          </p:nvCxnSpPr>
          <p:spPr>
            <a:xfrm>
              <a:off x="9487058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  <p:cxnSp>
          <p:nvCxnSpPr>
            <p:cNvPr id="84" name="SegLine 84"/>
            <p:cNvCxnSpPr/>
            <p:nvPr/>
          </p:nvCxnSpPr>
          <p:spPr>
            <a:xfrm>
              <a:off x="10277515" y="1790700"/>
              <a:ext cx="0" cy="1007516"/>
            </a:xfrm>
            <a:prstGeom prst="line">
              <a:avLst/>
            </a:prstGeom>
            <a:ln w="12700">
              <a:solidFill>
                <a:srgbClr val="FACC15"/>
              </a:solidFill>
              <a:prstDash val="dash"/>
            </a:ln>
          </p:spPr>
        </p:cxnSp>
      </p:grpSp>
      <p:sp>
        <p:nvSpPr>
          <p:cNvPr id="85" name="NameBox 85"/>
          <p:cNvSpPr/>
          <p:nvPr/>
        </p:nvSpPr>
        <p:spPr>
          <a:xfrm>
            <a:off x="400050" y="2157946"/>
            <a:ext cx="1295400" cy="569129"/>
          </a:xfrm>
          <a:prstGeom prst="roundRect">
            <a:avLst>
              <a:gd name="adj" fmla="val 6694"/>
            </a:avLst>
          </a:prstGeom>
          <a:noFill/>
          <a:ln w="25400">
            <a:solidFill>
              <a:srgbClr val="4ADE80"/>
            </a:solidFill>
          </a:ln>
        </p:spPr>
        <p:txBody>
          <a:bodyPr rtlCol="0" anchor="ctr"/>
          <a:lstStyle/>
          <a:p>
            <a:endParaRPr lang="ko-KR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C3A2D7A-337D-4FE5-9FFA-214BDF9ECE9E}"/>
              </a:ext>
            </a:extLst>
          </p:cNvPr>
          <p:cNvGrpSpPr/>
          <p:nvPr/>
        </p:nvGrpSpPr>
        <p:grpSpPr>
          <a:xfrm>
            <a:off x="3496663" y="2746839"/>
            <a:ext cx="7085652" cy="228600"/>
            <a:chOff x="3496663" y="2931566"/>
            <a:chExt cx="7085652" cy="228600"/>
          </a:xfrm>
        </p:grpSpPr>
        <p:sp>
          <p:nvSpPr>
            <p:cNvPr id="89" name="PriTag 89"/>
            <p:cNvSpPr txBox="1"/>
            <p:nvPr/>
          </p:nvSpPr>
          <p:spPr>
            <a:xfrm>
              <a:off x="3496663" y="2931566"/>
              <a:ext cx="914400" cy="228600"/>
            </a:xfrm>
            <a:prstGeom prst="roundRect">
              <a:avLst>
                <a:gd name="adj" fmla="val 16666"/>
              </a:avLst>
            </a:prstGeom>
            <a:solidFill>
              <a:srgbClr val="FACC15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111827"/>
                  </a:solidFill>
                  <a:latin typeface="맑은 고딕"/>
                  <a:ea typeface="맑은 고딕"/>
                  <a:cs typeface="맑은 고딕"/>
                </a:rPr>
                <a:t>① 0 → 9999</a:t>
              </a:r>
            </a:p>
          </p:txBody>
        </p:sp>
        <p:sp>
          <p:nvSpPr>
            <p:cNvPr id="90" name="PriTag 90"/>
            <p:cNvSpPr txBox="1"/>
            <p:nvPr/>
          </p:nvSpPr>
          <p:spPr>
            <a:xfrm>
              <a:off x="4682348" y="2931566"/>
              <a:ext cx="914400" cy="228600"/>
            </a:xfrm>
            <a:prstGeom prst="roundRect">
              <a:avLst>
                <a:gd name="adj" fmla="val 16666"/>
              </a:avLst>
            </a:prstGeom>
            <a:solidFill>
              <a:srgbClr val="FACC15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111827"/>
                  </a:solidFill>
                  <a:latin typeface="맑은 고딕"/>
                  <a:ea typeface="맑은 고딕"/>
                  <a:cs typeface="맑은 고딕"/>
                </a:rPr>
                <a:t>② 9999 → 0</a:t>
              </a:r>
            </a:p>
          </p:txBody>
        </p:sp>
        <p:sp>
          <p:nvSpPr>
            <p:cNvPr id="91" name="PriTag 91"/>
            <p:cNvSpPr txBox="1"/>
            <p:nvPr/>
          </p:nvSpPr>
          <p:spPr>
            <a:xfrm>
              <a:off x="5625204" y="2931566"/>
              <a:ext cx="609600" cy="228600"/>
            </a:xfrm>
            <a:prstGeom prst="roundRect">
              <a:avLst>
                <a:gd name="adj" fmla="val 16666"/>
              </a:avLst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③ 011</a:t>
              </a:r>
            </a:p>
          </p:txBody>
        </p:sp>
        <p:sp>
          <p:nvSpPr>
            <p:cNvPr id="92" name="PriTag 92"/>
            <p:cNvSpPr txBox="1"/>
            <p:nvPr/>
          </p:nvSpPr>
          <p:spPr>
            <a:xfrm>
              <a:off x="6810889" y="2931566"/>
              <a:ext cx="609600" cy="228600"/>
            </a:xfrm>
            <a:prstGeom prst="roundRect">
              <a:avLst>
                <a:gd name="adj" fmla="val 16666"/>
              </a:avLst>
            </a:prstGeom>
            <a:solidFill>
              <a:srgbClr val="E65100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④ 001</a:t>
              </a:r>
            </a:p>
          </p:txBody>
        </p:sp>
        <p:sp>
          <p:nvSpPr>
            <p:cNvPr id="93" name="PriTag 93"/>
            <p:cNvSpPr txBox="1"/>
            <p:nvPr/>
          </p:nvSpPr>
          <p:spPr>
            <a:xfrm>
              <a:off x="7601345" y="2931566"/>
              <a:ext cx="609600" cy="228600"/>
            </a:xfrm>
            <a:prstGeom prst="roundRect">
              <a:avLst>
                <a:gd name="adj" fmla="val 16666"/>
              </a:avLst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⑤ 110</a:t>
              </a:r>
            </a:p>
          </p:txBody>
        </p:sp>
        <p:sp>
          <p:nvSpPr>
            <p:cNvPr id="94" name="PriTag 94"/>
            <p:cNvSpPr txBox="1"/>
            <p:nvPr/>
          </p:nvSpPr>
          <p:spPr>
            <a:xfrm>
              <a:off x="9182258" y="2931566"/>
              <a:ext cx="609600" cy="228600"/>
            </a:xfrm>
            <a:prstGeom prst="roundRect">
              <a:avLst>
                <a:gd name="adj" fmla="val 16666"/>
              </a:avLst>
            </a:prstGeom>
            <a:solidFill>
              <a:srgbClr val="E65100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⑥ 101</a:t>
              </a:r>
            </a:p>
          </p:txBody>
        </p:sp>
        <p:sp>
          <p:nvSpPr>
            <p:cNvPr id="95" name="PriTag 95"/>
            <p:cNvSpPr txBox="1"/>
            <p:nvPr/>
          </p:nvSpPr>
          <p:spPr>
            <a:xfrm>
              <a:off x="9972715" y="2931566"/>
              <a:ext cx="609600" cy="228600"/>
            </a:xfrm>
            <a:prstGeom prst="roundRect">
              <a:avLst>
                <a:gd name="adj" fmla="val 16666"/>
              </a:avLst>
            </a:prstGeom>
            <a:solidFill>
              <a:srgbClr val="C62828"/>
            </a:solidFill>
            <a:ln>
              <a:noFill/>
            </a:ln>
          </p:spPr>
          <p:txBody>
            <a:bodyPr wrap="square" lIns="0" tIns="0" rIns="0" bIns="0" anchor="ctr">
              <a:noAutofit/>
            </a:bodyPr>
            <a:lstStyle/>
            <a:p>
              <a:pPr algn="ctr">
                <a:buNone/>
              </a:pPr>
              <a:r>
                <a:rPr lang="ko-KR" sz="1050" b="1" dirty="0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⑦ 111</a:t>
              </a:r>
            </a:p>
          </p:txBody>
        </p:sp>
      </p:grpSp>
      <p:sp>
        <p:nvSpPr>
          <p:cNvPr id="96" name="Card 96"/>
          <p:cNvSpPr/>
          <p:nvPr/>
        </p:nvSpPr>
        <p:spPr>
          <a:xfrm>
            <a:off x="381000" y="3870032"/>
            <a:ext cx="27432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97" name="CardHead 97"/>
          <p:cNvSpPr txBox="1"/>
          <p:nvPr/>
        </p:nvSpPr>
        <p:spPr>
          <a:xfrm>
            <a:off x="533400" y="3984332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①② UP · DOWN 경계</a:t>
            </a:r>
          </a:p>
        </p:txBody>
      </p:sp>
      <p:sp>
        <p:nvSpPr>
          <p:cNvPr id="98" name="CardBody 98"/>
          <p:cNvSpPr txBox="1"/>
          <p:nvPr/>
        </p:nvSpPr>
        <p:spPr>
          <a:xfrm>
            <a:off x="533400" y="4289132"/>
            <a:ext cx="2438400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0에서 DOWN → 9999, 이어서 9998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UP으로 9998 → 9999 → 0 순환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9999까지 1,000초 대기 대신 0에서 DOWN으로 경계 직행</a:t>
            </a:r>
          </a:p>
        </p:txBody>
      </p:sp>
      <p:sp>
        <p:nvSpPr>
          <p:cNvPr id="99" name="Card 99"/>
          <p:cNvSpPr/>
          <p:nvPr/>
        </p:nvSpPr>
        <p:spPr>
          <a:xfrm>
            <a:off x="3276600" y="3870032"/>
            <a:ext cx="27432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0" name="CardHead 100"/>
          <p:cNvSpPr txBox="1"/>
          <p:nvPr/>
        </p:nvSpPr>
        <p:spPr>
          <a:xfrm>
            <a:off x="3429000" y="3984332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③⑤⑦ CLEAR 우선</a:t>
            </a:r>
          </a:p>
        </p:txBody>
      </p:sp>
      <p:sp>
        <p:nvSpPr>
          <p:cNvPr id="101" name="CardBody 101"/>
          <p:cNvSpPr txBox="1"/>
          <p:nvPr/>
        </p:nvSpPr>
        <p:spPr>
          <a:xfrm>
            <a:off x="3429000" y="4289132"/>
            <a:ext cx="2438400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010 · 011 · 110 · 111 모두 다음 Tick에 0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STOP · DOWN과 함께 켜도 CLEAR 우선</a:t>
            </a:r>
          </a:p>
        </p:txBody>
      </p:sp>
      <p:sp>
        <p:nvSpPr>
          <p:cNvPr id="102" name="Card 102"/>
          <p:cNvSpPr/>
          <p:nvPr/>
        </p:nvSpPr>
        <p:spPr>
          <a:xfrm>
            <a:off x="6172200" y="3870032"/>
            <a:ext cx="27432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3" name="CardHead 103"/>
          <p:cNvSpPr txBox="1"/>
          <p:nvPr/>
        </p:nvSpPr>
        <p:spPr>
          <a:xfrm>
            <a:off x="6324600" y="3984332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④⑥ STOP 우선</a:t>
            </a:r>
          </a:p>
        </p:txBody>
      </p:sp>
      <p:sp>
        <p:nvSpPr>
          <p:cNvPr id="104" name="CardBody 104"/>
          <p:cNvSpPr txBox="1"/>
          <p:nvPr/>
        </p:nvSpPr>
        <p:spPr>
          <a:xfrm>
            <a:off x="6324600" y="4289132"/>
            <a:ext cx="2438400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001: 2 → 2 → 2, 2 Tick 동안 HOLD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101: DOWN이 켜져도 3 HOLD → STOP &gt; DOWN</a:t>
            </a:r>
          </a:p>
        </p:txBody>
      </p:sp>
      <p:sp>
        <p:nvSpPr>
          <p:cNvPr id="105" name="Card 105"/>
          <p:cNvSpPr/>
          <p:nvPr/>
        </p:nvSpPr>
        <p:spPr>
          <a:xfrm>
            <a:off x="9067800" y="3870032"/>
            <a:ext cx="27432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06" name="CardHead 106"/>
          <p:cNvSpPr txBox="1"/>
          <p:nvPr/>
        </p:nvSpPr>
        <p:spPr>
          <a:xfrm>
            <a:off x="9220200" y="3984332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350" b="1" dirty="0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8 / 8 스위치 코드</a:t>
            </a:r>
          </a:p>
        </p:txBody>
      </p:sp>
      <p:sp>
        <p:nvSpPr>
          <p:cNvPr id="107" name="CardBody 107"/>
          <p:cNvSpPr txBox="1"/>
          <p:nvPr/>
        </p:nvSpPr>
        <p:spPr>
          <a:xfrm>
            <a:off x="9220200" y="4289132"/>
            <a:ext cx="2438400" cy="1885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000 ~ 111 전 조합 기대 동작 일치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경계 2곳 (0 → 9999, 9999 → 0) 확인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Band 26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923C"/>
                </a:solidFill>
                <a:latin typeface="맑은 고딕"/>
                <a:ea typeface="맑은 고딕"/>
                <a:cs typeface="맑은 고딕"/>
              </a:rPr>
              <a:t>05 · v2 검증 — 시나리오 구간 해설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Scenario Breakdown — Each Step Targets One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23 / 29</a:t>
            </a:r>
          </a:p>
        </p:txBody>
      </p:sp>
      <p:graphicFrame>
        <p:nvGraphicFramePr>
          <p:cNvPr id="12" name="Scenario Table 12"/>
          <p:cNvGraphicFramePr>
            <a:graphicFrameLocks noGrp="1"/>
          </p:cNvGraphicFramePr>
          <p:nvPr/>
        </p:nvGraphicFramePr>
        <p:xfrm>
          <a:off x="457200" y="1276350"/>
          <a:ext cx="11277600" cy="3413379"/>
        </p:xfrm>
        <a:graphic>
          <a:graphicData uri="http://schemas.openxmlformats.org/drawingml/2006/table">
            <a:tbl>
              <a:tblPr firstRow="1"/>
              <a:tblGrid>
                <a:gridCol w="41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66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#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Tick (ms)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SW2 SW1 SW0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Action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카운트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확인 의도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100 – 200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 → 1 → 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기본 동작 — Tick마다 +1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300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2 →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단독 — 다음 Tick에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400 – 500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565C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 → 9999 → 9998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DOWN 경계 — 0 다음 9999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600 – 800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9998 → 9999 → 0 → 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 경계 — 9999 다음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900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 →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1000 – 1100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 → 1 → 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후 다시 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1200 – 1300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001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2 → 2 → 2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 단독 — Tick이 와도 유지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1400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2 →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1500 – 1700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0 → 1 → 2 → 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후 다시 UP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1800 – 1900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101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3 → 3 → 3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STOP &gt; DOWN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2000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111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>
                          <a:solidFill>
                            <a:srgbClr val="1F2937"/>
                          </a:solidFill>
                          <a:latin typeface="Consolas"/>
                          <a:ea typeface="Consolas"/>
                          <a:cs typeface="Consolas"/>
                        </a:rPr>
                        <a:t>3 → 0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10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CLEAR &gt; STOP &gt; DOWN — 전부 켬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3" name="Sum 13"/>
          <p:cNvSpPr/>
          <p:nvPr/>
        </p:nvSpPr>
        <p:spPr>
          <a:xfrm>
            <a:off x="457200" y="4800600"/>
            <a:ext cx="27051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4" name="SumHead 14"/>
          <p:cNvSpPr txBox="1"/>
          <p:nvPr/>
        </p:nvSpPr>
        <p:spPr>
          <a:xfrm>
            <a:off x="590550" y="4914900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400" b="1" dirty="0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스위치 코드 8 / 8</a:t>
            </a:r>
          </a:p>
        </p:txBody>
      </p:sp>
      <p:sp>
        <p:nvSpPr>
          <p:cNvPr id="15" name="SumBody 15"/>
          <p:cNvSpPr txBox="1"/>
          <p:nvPr/>
        </p:nvSpPr>
        <p:spPr>
          <a:xfrm>
            <a:off x="590550" y="5238750"/>
            <a:ext cx="2438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000 ~ 111 전 조합 확인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111 = 전부 켬 → CLEAR (#11)</a:t>
            </a:r>
          </a:p>
        </p:txBody>
      </p:sp>
      <p:sp>
        <p:nvSpPr>
          <p:cNvPr id="16" name="Sum 16"/>
          <p:cNvSpPr/>
          <p:nvPr/>
        </p:nvSpPr>
        <p:spPr>
          <a:xfrm>
            <a:off x="3314700" y="4800600"/>
            <a:ext cx="27051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17" name="SumHead 17"/>
          <p:cNvSpPr txBox="1"/>
          <p:nvPr/>
        </p:nvSpPr>
        <p:spPr>
          <a:xfrm>
            <a:off x="3448050" y="4914900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400" b="1" dirty="0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경계 2 / 2</a:t>
            </a:r>
          </a:p>
        </p:txBody>
      </p:sp>
      <p:sp>
        <p:nvSpPr>
          <p:cNvPr id="18" name="SumBody 18"/>
          <p:cNvSpPr txBox="1"/>
          <p:nvPr/>
        </p:nvSpPr>
        <p:spPr>
          <a:xfrm>
            <a:off x="3448050" y="5238750"/>
            <a:ext cx="2438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DOWN 0 → 9999 (#3)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UP 9999 → 0 (#4)</a:t>
            </a:r>
          </a:p>
        </p:txBody>
      </p:sp>
      <p:sp>
        <p:nvSpPr>
          <p:cNvPr id="19" name="Sum 19"/>
          <p:cNvSpPr/>
          <p:nvPr/>
        </p:nvSpPr>
        <p:spPr>
          <a:xfrm>
            <a:off x="6172200" y="4800600"/>
            <a:ext cx="27051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0" name="SumHead 20"/>
          <p:cNvSpPr txBox="1"/>
          <p:nvPr/>
        </p:nvSpPr>
        <p:spPr>
          <a:xfrm>
            <a:off x="6305550" y="4914900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400" b="1" dirty="0">
                <a:solidFill>
                  <a:srgbClr val="C62828"/>
                </a:solidFill>
                <a:latin typeface="맑은 고딕"/>
                <a:ea typeface="맑은 고딕"/>
                <a:cs typeface="맑은 고딕"/>
              </a:rPr>
              <a:t>우선순위 4건</a:t>
            </a:r>
          </a:p>
        </p:txBody>
      </p:sp>
      <p:sp>
        <p:nvSpPr>
          <p:cNvPr id="21" name="SumBody 21"/>
          <p:cNvSpPr txBox="1"/>
          <p:nvPr/>
        </p:nvSpPr>
        <p:spPr>
          <a:xfrm>
            <a:off x="6305550" y="5238750"/>
            <a:ext cx="2438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CLEAR &gt; STOP (#5) · CLEAR &gt; DOWN (#8)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STOP &gt; DOWN (#10) · 전부 켬 → CLEAR (#11)</a:t>
            </a:r>
          </a:p>
        </p:txBody>
      </p:sp>
      <p:sp>
        <p:nvSpPr>
          <p:cNvPr id="22" name="Sum 22"/>
          <p:cNvSpPr/>
          <p:nvPr/>
        </p:nvSpPr>
        <p:spPr>
          <a:xfrm>
            <a:off x="9029700" y="4800600"/>
            <a:ext cx="270510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3" name="SumHead 23"/>
          <p:cNvSpPr txBox="1"/>
          <p:nvPr/>
        </p:nvSpPr>
        <p:spPr>
          <a:xfrm>
            <a:off x="9163050" y="4914900"/>
            <a:ext cx="24384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ko-KR" sz="1400" b="1" dirty="0">
                <a:solidFill>
                  <a:srgbClr val="4B5563"/>
                </a:solidFill>
                <a:latin typeface="맑은 고딕"/>
                <a:ea typeface="맑은 고딕"/>
                <a:cs typeface="맑은 고딕"/>
              </a:rPr>
              <a:t>판정 방식</a:t>
            </a:r>
          </a:p>
        </p:txBody>
      </p:sp>
      <p:sp>
        <p:nvSpPr>
          <p:cNvPr id="24" name="SumBody 24"/>
          <p:cNvSpPr txBox="1"/>
          <p:nvPr/>
        </p:nvSpPr>
        <p:spPr>
          <a:xfrm>
            <a:off x="9163050" y="5238750"/>
            <a:ext cx="2438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파형 · 콘솔 로그 눈 비교 (자동 비교 없음)</a:t>
            </a:r>
          </a:p>
          <a:p>
            <a:pPr marL="171450" indent="-171450" algn="l">
              <a:spcAft>
                <a:spcPts val="400"/>
              </a:spcAft>
              <a:buFont typeface="Arial"/>
              <a:buChar char="•"/>
            </a:pPr>
            <a:r>
              <a:rPr lang="ko-KR" sz="1100" b="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→ 자동 판정 TB 제안 (p.28)</a:t>
            </a:r>
          </a:p>
        </p:txBody>
      </p:sp>
      <p:sp>
        <p:nvSpPr>
          <p:cNvPr id="27" name="SectionNo 27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923C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itleBand 46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923C"/>
                </a:solidFill>
                <a:latin typeface="맑은 고딕"/>
                <a:ea typeface="맑은 고딕"/>
                <a:cs typeface="맑은 고딕"/>
              </a:rPr>
              <a:t>05 · v2 검증 — 보드 결과 ① CLEAR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Board — CLEAR Wins in All 4 Combinations</a:t>
            </a:r>
          </a:p>
        </p:txBody>
      </p:sp>
      <p:pic>
        <p:nvPicPr>
          <p:cNvPr id="4" name="Picture 3" descr="p16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06" y="1280160"/>
            <a:ext cx="3529189" cy="1874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191256"/>
            <a:ext cx="3886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110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CLEAR + DOWN</a:t>
            </a:r>
          </a:p>
        </p:txBody>
      </p:sp>
      <p:pic>
        <p:nvPicPr>
          <p:cNvPr id="6" name="Picture 5" descr="p16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5634" y="1280160"/>
            <a:ext cx="3430372" cy="1874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3191256"/>
            <a:ext cx="3886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010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CLEAR만</a:t>
            </a:r>
          </a:p>
        </p:txBody>
      </p:sp>
      <p:pic>
        <p:nvPicPr>
          <p:cNvPr id="8" name="Picture 7" descr="p16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123" y="3749040"/>
            <a:ext cx="2864354" cy="1874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60136"/>
            <a:ext cx="3886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111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전부 켬</a:t>
            </a:r>
          </a:p>
        </p:txBody>
      </p:sp>
      <p:pic>
        <p:nvPicPr>
          <p:cNvPr id="10" name="Picture 9" descr="p16_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2089" y="3749040"/>
            <a:ext cx="3277463" cy="1874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5660136"/>
            <a:ext cx="3886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5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011</a:t>
            </a:r>
            <a:r>
              <a:rPr sz="1150" b="0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CLEAR + STOP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2757976"/>
            <a:ext cx="3139135" cy="17712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78240" y="2895135"/>
            <a:ext cx="2773375" cy="125198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4가지 조합 모두 0000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CLEAR 스위치(SW1) ON → 다른 스위치와 상관없이 0</a:t>
            </a:r>
          </a:p>
          <a:p>
            <a:pPr algn="l">
              <a:spcAft>
                <a:spcPts val="600"/>
              </a:spcAft>
            </a:pPr>
            <a:endParaRPr sz="1200" b="0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24 / 29</a:t>
            </a:r>
          </a:p>
        </p:txBody>
      </p:sp>
      <p:sp>
        <p:nvSpPr>
          <p:cNvPr id="47" name="SectionNo 47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923C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Band 15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923C"/>
                </a:solidFill>
                <a:latin typeface="맑은 고딕"/>
                <a:ea typeface="맑은 고딕"/>
                <a:cs typeface="맑은 고딕"/>
              </a:rPr>
              <a:t>05 · v2 검증 — 보드 결과 ② STOP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Board — STOP Holds the Count Even with DOWN On</a:t>
            </a:r>
          </a:p>
        </p:txBody>
      </p:sp>
      <p:pic>
        <p:nvPicPr>
          <p:cNvPr id="4" name="Picture 3" descr="p17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3931920" cy="24945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893576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011</a:t>
            </a:r>
          </a:p>
        </p:txBody>
      </p:sp>
      <p:pic>
        <p:nvPicPr>
          <p:cNvPr id="6" name="Picture 5" descr="p17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325880"/>
            <a:ext cx="3931920" cy="24511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7720" y="3850217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101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15400" y="1325880"/>
            <a:ext cx="2819095" cy="245118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98280" y="2100348"/>
            <a:ext cx="2453335" cy="4663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✓ 101: STOP &gt; DOWN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STOP과 DOWN이 함께 켜져도 HOLD</a:t>
            </a:r>
          </a:p>
          <a:p>
            <a:pPr algn="l">
              <a:spcAft>
                <a:spcPts val="600"/>
              </a:spcAft>
            </a:pPr>
            <a:endParaRPr sz="1200" b="0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" y="4434840"/>
            <a:ext cx="8138160" cy="914400"/>
          </a:xfrm>
          <a:prstGeom prst="roundRect">
            <a:avLst>
              <a:gd name="adj" fmla="val 6000"/>
            </a:avLst>
          </a:prstGeom>
          <a:solidFill>
            <a:srgbClr val="E3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4507992"/>
            <a:ext cx="7845552" cy="7680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STOP</a:t>
            </a:r>
            <a:r>
              <a:rPr lang="en-US"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 : </a:t>
            </a:r>
            <a:r>
              <a:rPr sz="12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register CE를 끄는 방식 → Tick이 와도 HOLD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25 / 29</a:t>
            </a:r>
          </a:p>
        </p:txBody>
      </p:sp>
      <p:sp>
        <p:nvSpPr>
          <p:cNvPr id="16" name="SectionNo 16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923C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itleBand 4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B923C"/>
                </a:solidFill>
                <a:latin typeface="맑은 고딕"/>
                <a:ea typeface="맑은 고딕"/>
                <a:cs typeface="맑은 고딕"/>
              </a:rPr>
              <a:t>05 · v2 검증 — 보드 결과 ③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Board — DOWN Counts Back One Step per Tick</a:t>
            </a:r>
          </a:p>
        </p:txBody>
      </p:sp>
      <p:pic>
        <p:nvPicPr>
          <p:cNvPr id="4" name="Picture 3" descr="p18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836" y="2110971"/>
            <a:ext cx="4222866" cy="2445090"/>
          </a:xfrm>
          <a:prstGeom prst="rect">
            <a:avLst/>
          </a:prstGeom>
        </p:spPr>
      </p:pic>
      <p:pic>
        <p:nvPicPr>
          <p:cNvPr id="5" name="Picture 4" descr="p18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6302" y="2110971"/>
            <a:ext cx="3931920" cy="2445091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26 / 29</a:t>
            </a:r>
          </a:p>
        </p:txBody>
      </p:sp>
      <p:sp>
        <p:nvSpPr>
          <p:cNvPr id="43" name="SectionNo 43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B923C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5A685F-9AD8-B713-E7AC-C60CBCBD9D2F}"/>
              </a:ext>
            </a:extLst>
          </p:cNvPr>
          <p:cNvSpPr txBox="1"/>
          <p:nvPr/>
        </p:nvSpPr>
        <p:spPr>
          <a:xfrm>
            <a:off x="3891742" y="4600425"/>
            <a:ext cx="393192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SW2 SW1 SW0 = </a:t>
            </a:r>
            <a:r>
              <a:rPr lang="en-US" sz="1200" b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100</a:t>
            </a:r>
            <a:endParaRPr sz="1200" b="1">
              <a:solidFill>
                <a:srgbClr val="1F293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Band 13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ACC15"/>
                </a:solidFill>
                <a:latin typeface="맑은 고딕"/>
                <a:ea typeface="맑은 고딕"/>
                <a:cs typeface="맑은 고딕"/>
              </a:rPr>
              <a:t>06 · 평가 — 검증 방법론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Verification Score 23 / 40 — Automatic Checking Missing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822960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근거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17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입력 커버리지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●●●●○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v2 시나리오 시뮬레이션 8/8 코드 + UP · DOWN 경계 / 보드 6/8 조합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기대값 독립성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●○○○○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기대값 없이 파형을 눈으로 비교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관측 지점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 카운트 · 자리 신호 관찰, 실제 FND 출력 핀 해석 없음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판정 타이밍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E7D32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●●●●○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커서로 Tick 시각(100.000005 ms)과 1클럭 폭까지 정밀 확인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자동 판정 · 리포트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C62828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●○○○○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오류 수 · PASS/FAIL 출력 없음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보드용 Top 시뮬레이션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●●●●○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v1 · v2 Top 전체 시뮬레이션 ✓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문제 해결 절차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●●●●○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우선순위를 보드 + 시뮬레이션 양쪽에서 확인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문서화 · 재현성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E651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●●●○○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커서 시각 기록 양호 / 실제 Tick 주기로 2초 진행 → 느림</a:t>
                      </a:r>
                    </a:p>
                  </a:txBody>
                  <a:tcPr marL="73152" marR="73152" marT="27432" marB="27432" anchor="ctr">
                    <a:lnL w="9525">
                      <a:solidFill>
                        <a:srgbClr val="D1D5DB"/>
                      </a:solidFill>
                    </a:lnL>
                    <a:lnR w="9525">
                      <a:solidFill>
                        <a:srgbClr val="D1D5DB"/>
                      </a:solidFill>
                    </a:lnR>
                    <a:lnT w="9525">
                      <a:solidFill>
                        <a:srgbClr val="D1D5DB"/>
                      </a:solidFill>
                    </a:lnT>
                    <a:lnB w="9525">
                      <a:solidFill>
                        <a:srgbClr val="D1D5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961120" y="1325880"/>
            <a:ext cx="2773375" cy="2103120"/>
          </a:xfrm>
          <a:prstGeom prst="roundRect">
            <a:avLst>
              <a:gd name="adj" fmla="val 6000"/>
            </a:avLst>
          </a:prstGeom>
          <a:solidFill>
            <a:srgbClr val="17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0" y="1463040"/>
            <a:ext cx="2773375" cy="1920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23</a:t>
            </a:r>
            <a:r>
              <a:rPr sz="2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/ 40</a:t>
            </a:r>
          </a:p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C+ · 자동 판정 보강 필요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3566160"/>
            <a:ext cx="2773375" cy="848822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07424" y="3602000"/>
            <a:ext cx="2480767" cy="1234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endParaRPr sz="1300" b="1">
              <a:solidFill>
                <a:srgbClr val="C62828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ick과 스위치 변화가 겹치는 순간은 보드로 재현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27 / 29</a:t>
            </a:r>
          </a:p>
        </p:txBody>
      </p:sp>
      <p:sp>
        <p:nvSpPr>
          <p:cNvPr id="14" name="SectionNo 14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ACC15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Band 23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endParaRPr lang="ko-KR"/>
          </a:p>
        </p:txBody>
      </p:sp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ACC15"/>
                </a:solidFill>
                <a:latin typeface="맑은 고딕"/>
                <a:ea typeface="맑은 고딕"/>
                <a:cs typeface="맑은 고딕"/>
              </a:rPr>
              <a:t>06 · 평가 — 개선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0096500" cy="438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Next — Self-Checking TB and Single-Clock FND Scan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94360" y="1463040"/>
            <a:ext cx="365760" cy="36576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481328"/>
            <a:ext cx="467852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Tick 주기를 바꿀 수 있는 시뮬레이션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467852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TB에서 Tick 끝값만 10으로 덮어쓰기</a:t>
            </a:r>
          </a:p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9999 경계까지 1천억 → 약 10만 클럭 (계산값)</a:t>
            </a:r>
          </a:p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p.21의 10가지 경우를 몇 ms 안에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8" y="132588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370168" y="1463040"/>
            <a:ext cx="365760" cy="36576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3088" y="1481328"/>
            <a:ext cx="467852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565C0"/>
                </a:solidFill>
                <a:latin typeface="맑은 고딕"/>
                <a:ea typeface="맑은 고딕"/>
                <a:cs typeface="맑은 고딕"/>
              </a:rPr>
              <a:t>자동 판정 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3088" y="1965960"/>
            <a:ext cx="467852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입력 → 설계와 독립된 기대값 모델 → 비교 → 오류 수 · PASS/FAIL</a:t>
            </a:r>
          </a:p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FND 출력 핀(세그먼트 · 자리)을 숫자로 되돌려 비교</a:t>
            </a:r>
          </a:p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사람 눈 대신 로그가 판정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9476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950208"/>
            <a:ext cx="467852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2E7D32"/>
                </a:solidFill>
                <a:latin typeface="맑은 고딕"/>
                <a:ea typeface="맑은 고딕"/>
                <a:cs typeface="맑은 고딕"/>
              </a:rPr>
              <a:t>Fnd_Controller도 Tick으로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425604"/>
            <a:ext cx="467852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1 kHz 분주 클럭 → 100 MHz 클럭 + 1 kHz Tick(CE)</a:t>
            </a:r>
          </a:p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설계 전체가 클럭 1개 → 모든 경로가 타이밍 검사 대상</a:t>
            </a:r>
          </a:p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Q3 원칙(p.8)을 설계 전체에 일관 적용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8" y="3794760"/>
            <a:ext cx="5501488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370168" y="3931920"/>
            <a:ext cx="365760" cy="365760"/>
          </a:xfrm>
          <a:prstGeom prst="ellipse">
            <a:avLst/>
          </a:prstGeom>
          <a:solidFill>
            <a:srgbClr val="E65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3088" y="3950208"/>
            <a:ext cx="4678528" cy="3474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E65100"/>
                </a:solidFill>
                <a:latin typeface="맑은 고딕"/>
                <a:ea typeface="맑은 고딕"/>
                <a:cs typeface="맑은 고딕"/>
              </a:rPr>
              <a:t>스위치 입력 동기화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3088" y="4434840"/>
            <a:ext cx="4678528" cy="1554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500"/>
              </a:spcAft>
              <a:buChar char="•"/>
            </a:pPr>
            <a:r>
              <a:rPr sz="1200" b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스위치는 클럭과 무관하게 바뀜 → FF 2단으로 받아 메타스테이블 방지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64748B"/>
                </a:solidFill>
                <a:latin typeface="맑은 고딕"/>
                <a:ea typeface="맑은 고딕"/>
                <a:cs typeface="맑은 고딕"/>
              </a:rPr>
              <a:t>28 / 29</a:t>
            </a:r>
          </a:p>
        </p:txBody>
      </p:sp>
      <p:sp>
        <p:nvSpPr>
          <p:cNvPr id="24" name="SectionNo 24"/>
          <p:cNvSpPr txBox="1"/>
          <p:nvPr/>
        </p:nvSpPr>
        <p:spPr>
          <a:xfrm>
            <a:off x="10572750" y="133350"/>
            <a:ext cx="1238250" cy="800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ko-KR" sz="4400" b="1" dirty="0">
                <a:solidFill>
                  <a:srgbClr val="FACC15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11277295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1">
                <a:solidFill>
                  <a:srgbClr val="F59E0B"/>
                </a:solidFill>
                <a:latin typeface="맑은 고딕"/>
                <a:ea typeface="맑은 고딕"/>
                <a:cs typeface="맑은 고딕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30352"/>
            <a:ext cx="11277295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One Clock, Many Rates — Tick = Enable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76218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311901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7DD3A8"/>
                </a:solidFill>
                <a:latin typeface="맑은 고딕"/>
                <a:ea typeface="맑은 고딕"/>
                <a:cs typeface="맑은 고딕"/>
              </a:rPr>
              <a:t>설계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23160"/>
            <a:ext cx="3119018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100 MHz 클럭 1개 + 0.1초 Tick으로 0~9999 카운터 완성</a:t>
            </a:r>
          </a:p>
          <a:p>
            <a:pPr marL="164592" indent="-164592" algn="l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스위치 8조합을 표 하나로 판정 — CLEAR &gt; STOP &gt; DOW</a:t>
            </a:r>
            <a:r>
              <a:rPr lang="en-US"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N</a:t>
            </a:r>
            <a:endParaRPr sz="1500" b="0">
              <a:solidFill>
                <a:srgbClr val="E5E7EB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합성 결과에서 Tick이 register CE 핀으로 연결됨을 확인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1554480"/>
            <a:ext cx="3576218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36338" y="1783080"/>
            <a:ext cx="311901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FFB74D"/>
                </a:solidFill>
                <a:latin typeface="맑은 고딕"/>
                <a:ea typeface="맑은 고딕"/>
                <a:cs typeface="맑은 고딕"/>
              </a:rPr>
              <a:t>검증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6338" y="2423160"/>
            <a:ext cx="3119018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Tick 주기 100 ms, 1클럭 폭, 9999 → 0 시뮬레이션 확인</a:t>
            </a:r>
          </a:p>
          <a:p>
            <a:pPr marL="164592" indent="-164592" algn="l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v2 우선순위 시뮬레이션 8/8 코드 + 보드 6/8 조합 확인</a:t>
            </a:r>
          </a:p>
          <a:p>
            <a:pPr marL="164592" indent="-164592" algn="l">
              <a:spcAft>
                <a:spcPts val="1600"/>
              </a:spcAft>
              <a:buChar char="•"/>
            </a:pPr>
            <a:r>
              <a:rPr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UP · DOWN 경계(9999 ↔ 0) 시뮬레이션 확인 — 평가 23 / 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7" y="1554480"/>
            <a:ext cx="3576218" cy="402336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6877" y="1783080"/>
            <a:ext cx="3119018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ko-KR" altLang="en-US" sz="1900" b="1">
                <a:solidFill>
                  <a:srgbClr val="90CAF9"/>
                </a:solidFill>
                <a:latin typeface="맑은 고딕"/>
                <a:ea typeface="맑은 고딕"/>
                <a:cs typeface="맑은 고딕"/>
              </a:rPr>
              <a:t>고찰</a:t>
            </a:r>
            <a:endParaRPr sz="1900" b="1">
              <a:solidFill>
                <a:srgbClr val="90CAF9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86877" y="2423160"/>
            <a:ext cx="3119018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64592" indent="-164592" algn="l">
              <a:spcAft>
                <a:spcPts val="1600"/>
              </a:spcAft>
              <a:buChar char="•"/>
            </a:pPr>
            <a:r>
              <a:rPr 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Clock resource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를 온전히 사용하기 위한 방법으로 </a:t>
            </a: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tick 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방식으로 모듈 분업화 스킬을 알게됨</a:t>
            </a:r>
            <a:endParaRPr lang="en-US" altLang="ko-KR" sz="1500">
              <a:solidFill>
                <a:srgbClr val="E5E7EB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1600"/>
              </a:spcAft>
              <a:buChar char="•"/>
            </a:pP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경계값에서의 동작만 확인하여 </a:t>
            </a: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Whole Case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에 대한 검증 시나리오가 필요</a:t>
            </a: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추후 연구</a:t>
            </a: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 marL="164592" indent="-164592" algn="l">
              <a:spcAft>
                <a:spcPts val="1600"/>
              </a:spcAft>
              <a:buChar char="•"/>
            </a:pP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FND_CONTROLLER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의 </a:t>
            </a: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Anode 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제어도 </a:t>
            </a:r>
            <a:r>
              <a:rPr lang="en-US" altLang="ko-KR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tick</a:t>
            </a:r>
            <a:r>
              <a:rPr lang="ko-KR" altLang="en-US" sz="150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으로 구현할 수 있을 것으로 추론됨 </a:t>
            </a:r>
            <a:endParaRPr lang="en-US" altLang="ko-KR" sz="1500">
              <a:solidFill>
                <a:srgbClr val="E5E7EB"/>
              </a:solidFill>
              <a:latin typeface="맑은 고딕"/>
              <a:ea typeface="맑은 고딕"/>
              <a:cs typeface="맑은 고딕"/>
            </a:endParaRPr>
          </a:p>
          <a:p>
            <a:pPr marL="164592" indent="-164592" algn="l">
              <a:spcAft>
                <a:spcPts val="1600"/>
              </a:spcAft>
              <a:buChar char="•"/>
            </a:pPr>
            <a:endParaRPr lang="en-US" sz="1500">
              <a:solidFill>
                <a:srgbClr val="E5E7EB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600"/>
              </a:spcAft>
            </a:pPr>
            <a:r>
              <a:rPr lang="ko-KR" altLang="en-US" sz="1500" b="0">
                <a:solidFill>
                  <a:srgbClr val="E5E7EB"/>
                </a:solidFill>
                <a:latin typeface="맑은 고딕"/>
                <a:ea typeface="맑은 고딕"/>
                <a:cs typeface="맑은 고딕"/>
              </a:rPr>
              <a:t> </a:t>
            </a:r>
            <a:endParaRPr sz="1500" b="0">
              <a:solidFill>
                <a:srgbClr val="E5E7E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900" b="0">
                <a:solidFill>
                  <a:srgbClr val="8A9BB5"/>
                </a:solidFill>
                <a:latin typeface="맑은 고딕"/>
                <a:ea typeface="맑은 고딕"/>
                <a:cs typeface="맑은 고딕"/>
              </a:rPr>
              <a:t>정안성 · Tick 기반 0~9999 카운터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2895" y="6473952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900" b="0">
                <a:solidFill>
                  <a:srgbClr val="8A9BB5"/>
                </a:solidFill>
                <a:latin typeface="맑은 고딕"/>
                <a:ea typeface="맑은 고딕"/>
                <a:cs typeface="맑은 고딕"/>
              </a:rPr>
              <a:t>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4272</Words>
  <Application>Microsoft Office PowerPoint</Application>
  <PresentationFormat>와이드스크린</PresentationFormat>
  <Paragraphs>950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 기반 0~9999 카운터</dc:title>
  <dc:subject/>
  <dc:creator>정안성</dc:creator>
  <cp:keywords/>
  <dc:description>generated using python-pptx</dc:description>
  <cp:lastModifiedBy>안성 정</cp:lastModifiedBy>
  <cp:revision>6</cp:revision>
  <dcterms:created xsi:type="dcterms:W3CDTF">2013-01-27T09:14:16Z</dcterms:created>
  <dcterms:modified xsi:type="dcterms:W3CDTF">2026-10-07T16:19:52Z</dcterms:modified>
  <cp:category/>
</cp:coreProperties>
</file>