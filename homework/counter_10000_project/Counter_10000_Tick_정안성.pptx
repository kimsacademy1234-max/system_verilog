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3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VERILOG ·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100 MHz 클럭 + 10 Hz Tick으로 만든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 ~ 9999 카운터 · 4-Digit FND 표시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8036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3E3"/>
                </a:solidFill>
                <a:latin typeface="맑은 고딕"/>
                <a:ea typeface="맑은 고딕"/>
                <a:cs typeface="맑은 고딕"/>
              </a:rPr>
              <a:t>RTL 설계 · 합성 · 시뮬레이션 · Basys3 보드 검증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3E3"/>
                </a:solidFill>
                <a:latin typeface="맑은 고딕"/>
                <a:ea typeface="맑은 고딕"/>
                <a:cs typeface="맑은 고딕"/>
              </a:rPr>
              <a:t>v1 Tick 카운터  →  v2 스위치 제어 (Clear &gt; Stop &gt; Down)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931920"/>
            <a:ext cx="3560674" cy="1448410"/>
          </a:xfrm>
          <a:prstGeom prst="roundRect">
            <a:avLst>
              <a:gd name="adj" fmla="val 8000"/>
            </a:avLst>
          </a:prstGeom>
          <a:solidFill>
            <a:srgbClr val="1A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3447" y="4153205"/>
            <a:ext cx="331927" cy="11064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63447" y="4600804"/>
            <a:ext cx="331927" cy="11064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63447" y="5048402"/>
            <a:ext cx="331927" cy="11064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52805" y="4219590"/>
            <a:ext cx="110642" cy="381213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395374" y="4219590"/>
            <a:ext cx="110642" cy="381213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2805" y="4711446"/>
            <a:ext cx="110642" cy="381213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95374" y="4711446"/>
            <a:ext cx="110642" cy="381213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918411" y="4153205"/>
            <a:ext cx="331927" cy="11064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918411" y="4600804"/>
            <a:ext cx="331927" cy="11064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918411" y="5048402"/>
            <a:ext cx="331927" cy="11064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807769" y="4219590"/>
            <a:ext cx="110642" cy="381213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50338" y="4219590"/>
            <a:ext cx="110642" cy="381213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807769" y="4711446"/>
            <a:ext cx="110642" cy="381213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250338" y="4711446"/>
            <a:ext cx="110642" cy="381213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73375" y="4153205"/>
            <a:ext cx="331927" cy="11064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773375" y="4600804"/>
            <a:ext cx="331927" cy="11064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773375" y="5048402"/>
            <a:ext cx="331927" cy="11064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662733" y="4219590"/>
            <a:ext cx="110642" cy="381213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105302" y="4219590"/>
            <a:ext cx="110642" cy="381213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662733" y="4711446"/>
            <a:ext cx="110642" cy="381213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105302" y="4711446"/>
            <a:ext cx="110642" cy="381213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28339" y="4153205"/>
            <a:ext cx="331927" cy="11064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628339" y="4600804"/>
            <a:ext cx="331927" cy="11064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628339" y="5048402"/>
            <a:ext cx="331927" cy="11064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517697" y="4219590"/>
            <a:ext cx="110642" cy="381213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960266" y="4219590"/>
            <a:ext cx="110642" cy="381213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517697" y="4711446"/>
            <a:ext cx="110642" cy="381213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960266" y="4711446"/>
            <a:ext cx="110642" cy="381213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8064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>
                <a:solidFill>
                  <a:srgbClr val="C9D3E3"/>
                </a:solidFill>
                <a:latin typeface="맑은 고딕"/>
                <a:ea typeface="맑은 고딕"/>
                <a:cs typeface="맑은 고딕"/>
              </a:rPr>
              <a:t>정안성  ·  2026. 10. 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14800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참조 파일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9FB0C8"/>
                </a:solidFill>
                <a:latin typeface="맑은 고딕"/>
                <a:ea typeface="맑은 고딕"/>
                <a:cs typeface="맑은 고딕"/>
              </a:rPr>
              <a:t>vfile/source_file/1007_source_file/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9FB0C8"/>
                </a:solidFill>
                <a:latin typeface="맑은 고딕"/>
                <a:ea typeface="맑은 고딕"/>
                <a:cs typeface="맑은 고딕"/>
              </a:rPr>
              <a:t>vfile/constraint/FND_COU.xdc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A 10 Hz Tick on One 100 MHz Clock Drives a 0–9999 Counter with Switch Priority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6675120" cy="11430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630936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목표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보드 100 MHz 클럭 하나만으로 0.1초 Tick을 만들어 0~9999를 FND에 표시하고, 스위치 3개로 멈춤 · 초기화 · 감소를 제어한다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06040"/>
            <a:ext cx="6675120" cy="22402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진행 결과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06324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 생성기 + 카운터 → 0.1초마다 +1, 9999 다음 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3108960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5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시뮬레이션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9300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v2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49300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스위치 3개 추가, 8가지 조합을 표 하나로 판정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53872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5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보드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92277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합성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922776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100 MHz 타이밍 통과 — Setup 여유 4.652 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968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5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리포트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5254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v2 경계값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4352544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9999 ↔ 0 · 우선순위 전환 시뮬레이션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0" y="4398264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50" b="1">
                <a:solidFill>
                  <a:srgbClr val="E65100"/>
                </a:solidFill>
                <a:latin typeface="맑은 고딕"/>
                <a:ea typeface="맑은 고딕"/>
                <a:cs typeface="맑은 고딕"/>
              </a:rPr>
              <a:t>결과 공란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1325880"/>
            <a:ext cx="2103120" cy="166420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0" y="146304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6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10 Hz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0" y="210312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 주기 0.1초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100,000,000 ÷ 10,000,000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73768" y="1325880"/>
            <a:ext cx="2103120" cy="166420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10928" y="146304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6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14 bit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928" y="210312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카운트 폭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2¹⁴ = 16,384 ≥ 10,000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3108960"/>
            <a:ext cx="2103120" cy="166420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0" y="324612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6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+4.652 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0" y="388620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Setup 최소 여유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71개 경로 전부 통과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73768" y="3108960"/>
            <a:ext cx="2103120" cy="166420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10928" y="324612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6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6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0928" y="388620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보드 확인 스위치 조합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000 · 001 단독 사진 없음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029200"/>
            <a:ext cx="5532120" cy="114300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" y="5102352"/>
            <a:ext cx="5239512" cy="9966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남은 일 </a:t>
            </a: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— v2 경계값 시뮬레이션 결과 미첨부(p.20~21), 자동 판정 TB 없음. 검증 평가 19 / 40 (p.25)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9632" y="5029200"/>
            <a:ext cx="5532120" cy="1143000"/>
          </a:xfrm>
          <a:prstGeom prst="roundRect">
            <a:avLst>
              <a:gd name="adj" fmla="val 6000"/>
            </a:avLst>
          </a:prstGeom>
          <a:solidFill>
            <a:srgbClr val="E3F0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5102352"/>
            <a:ext cx="5239512" cy="9966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개선 제안 </a:t>
            </a: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— FND 스캔(1 kHz)은 아직 분주 클럭. Tick 방식으로 통일하면 설계 전체가 클럭 1개로 동작 (p.26)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DEVELOPMENT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v1 Counts on a Tick, v2 Adds Switch Priority, Next Step Is Boundary Verification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3520440" cy="48463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v1  </a:t>
            </a:r>
            <a:r>
              <a:rPr sz="16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 카운터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3154680" cy="1737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164592" indent="-164592">
              <a:spcAft>
                <a:spcPts val="6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 생성기: 1천만 클럭마다 1클럭 펄스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카운터: Tick마다 +1, 9999 다음 0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FND 표시부: 기존 모듈 재사용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검증: 시뮬레이션 — Tick 주기, 끝값, 자리 분리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3794760"/>
            <a:ext cx="2006925" cy="816376"/>
          </a:xfrm>
          <a:prstGeom prst="roundRect">
            <a:avLst>
              <a:gd name="adj" fmla="val 8000"/>
            </a:avLst>
          </a:prstGeom>
          <a:solidFill>
            <a:srgbClr val="1A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30086" y="3919484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330086" y="4171767"/>
            <a:ext cx="187086" cy="62362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330086" y="4424050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67724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17172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267724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517172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811975" y="3919484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811975" y="4171767"/>
            <a:ext cx="187086" cy="62362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811975" y="4424050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749613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999061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749613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999061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293864" y="3919484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293864" y="4171767"/>
            <a:ext cx="187086" cy="62362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293864" y="4424050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231502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480950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231502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480950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775753" y="3919484"/>
            <a:ext cx="187086" cy="62362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775753" y="4171767"/>
            <a:ext cx="187086" cy="62362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775753" y="4424050"/>
            <a:ext cx="187086" cy="62362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713391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962839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713391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962839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257800"/>
            <a:ext cx="3154680" cy="685800"/>
          </a:xfrm>
          <a:prstGeom prst="roundRect">
            <a:avLst>
              <a:gd name="adj" fmla="val 12000"/>
            </a:avLst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0.1초마다 +1 동작 확인</a:t>
            </a:r>
          </a:p>
        </p:txBody>
      </p:sp>
      <p:sp>
        <p:nvSpPr>
          <p:cNvPr id="37" name="Freeform 36"/>
          <p:cNvSpPr/>
          <p:nvPr/>
        </p:nvSpPr>
        <p:spPr>
          <a:xfrm>
            <a:off x="4023360" y="3657600"/>
            <a:ext cx="265176" cy="0"/>
          </a:xfrm>
          <a:custGeom>
            <a:avLst/>
            <a:gdLst/>
            <a:ahLst/>
            <a:cxnLst/>
            <a:rect l="l" t="t" r="r" b="b"/>
            <a:pathLst>
              <a:path w="265176" h="0">
                <a:moveTo>
                  <a:pt x="0" y="0"/>
                </a:moveTo>
                <a:lnTo>
                  <a:pt x="265176" y="0"/>
                </a:lnTo>
              </a:path>
            </a:pathLst>
          </a:custGeom>
          <a:noFill/>
          <a:ln w="31750">
            <a:solidFill>
              <a:srgbClr val="6B728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334256" y="1325880"/>
            <a:ext cx="3520440" cy="48463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17136" y="146304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v2  </a:t>
            </a:r>
            <a:r>
              <a:rPr sz="16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스위치 제어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17136" y="1920240"/>
            <a:ext cx="3154680" cy="1737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164592" indent="-164592">
              <a:spcAft>
                <a:spcPts val="6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스위치 3개: 멈춤 · 초기화 · 감소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우선순위: 초기화 &gt; 멈춤 &gt; 감소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8가지 조합을 표 하나로 판정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검증: 보드 — 초기화 4조합, 멈춤, 감소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0056" y="3794760"/>
            <a:ext cx="2006925" cy="816376"/>
          </a:xfrm>
          <a:prstGeom prst="roundRect">
            <a:avLst>
              <a:gd name="adj" fmla="val 8000"/>
            </a:avLst>
          </a:prstGeom>
          <a:solidFill>
            <a:srgbClr val="1A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207142" y="3919484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207142" y="4171767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207142" y="4424050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144780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394228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144780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394228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689031" y="3919484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689031" y="4171767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689031" y="4424050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626669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876117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626669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76117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170920" y="3919484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70920" y="4171767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170920" y="4424050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108558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358006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108558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358006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6652809" y="3919484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652809" y="4171767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652809" y="4424050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590447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839895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590447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6839895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4517136" y="5257800"/>
            <a:ext cx="3154680" cy="685800"/>
          </a:xfrm>
          <a:prstGeom prst="roundRect">
            <a:avLst>
              <a:gd name="adj" fmla="val 12000"/>
            </a:avLst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E65100"/>
                </a:solidFill>
                <a:latin typeface="맑은 고딕"/>
                <a:ea typeface="맑은 고딕"/>
                <a:cs typeface="맑은 고딕"/>
              </a:rPr>
              <a:t>우선순위 보드 확인 · 시뮬레이션 공란</a:t>
            </a:r>
          </a:p>
        </p:txBody>
      </p:sp>
      <p:sp>
        <p:nvSpPr>
          <p:cNvPr id="71" name="Freeform 70"/>
          <p:cNvSpPr/>
          <p:nvPr/>
        </p:nvSpPr>
        <p:spPr>
          <a:xfrm>
            <a:off x="7900416" y="3657600"/>
            <a:ext cx="265176" cy="0"/>
          </a:xfrm>
          <a:custGeom>
            <a:avLst/>
            <a:gdLst/>
            <a:ahLst/>
            <a:cxnLst/>
            <a:rect l="l" t="t" r="r" b="b"/>
            <a:pathLst>
              <a:path w="265176" h="0">
                <a:moveTo>
                  <a:pt x="0" y="0"/>
                </a:moveTo>
                <a:lnTo>
                  <a:pt x="265176" y="0"/>
                </a:lnTo>
              </a:path>
            </a:pathLst>
          </a:custGeom>
          <a:noFill/>
          <a:ln w="31750">
            <a:solidFill>
              <a:srgbClr val="6B728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8211312" y="1325880"/>
            <a:ext cx="3520440" cy="48463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94192" y="146304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Next  </a:t>
            </a:r>
            <a:r>
              <a:rPr sz="16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검증 보강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4192" y="1920240"/>
            <a:ext cx="3154680" cy="1737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164592" indent="-164592">
              <a:spcAft>
                <a:spcPts val="6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 주기를 줄인 시뮬레이션으로 경계값 확인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기대값과 자동 비교하는 TB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FND 스캔도 Tick 방식으로 통일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스위치 입력 동기화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94192" y="384048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Tick 끝값을 10으로 줄이면</a:t>
            </a:r>
          </a:p>
          <a:p>
            <a:pPr algn="ctr"/>
            <a:r>
              <a:rPr sz="12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9999 경계까지 약 10만 클럭 (계산값)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394192" y="5257800"/>
            <a:ext cx="3154680" cy="685800"/>
          </a:xfrm>
          <a:prstGeom prst="roundRect">
            <a:avLst>
              <a:gd name="adj" fmla="val 12000"/>
            </a:avLst>
          </a:prstGeom>
          <a:solidFill>
            <a:srgbClr val="E3F0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제안 — p.26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01 · 개념 이해 — Q1 Clock Distributor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Clock IPs Align Edges with a Dedicated Clock Tree — Not with Counter Bits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5120640" cy="48463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질문의 그림 — 카운터 비트를 클럭으로 나눠 쓰는 방식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74520"/>
            <a:ext cx="11430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1143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8-bit</a:t>
            </a:r>
          </a:p>
          <a:p>
            <a:pPr algn="ctr"/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카운터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41148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10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B0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65960" y="2514600"/>
            <a:ext cx="365760" cy="0"/>
          </a:xfrm>
          <a:prstGeom prst="line">
            <a:avLst/>
          </a:prstGeom>
          <a:ln w="15875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359152" y="2395728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Clk/2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71800" y="2395728"/>
            <a:ext cx="502920" cy="237744"/>
          </a:xfrm>
          <a:prstGeom prst="roundRect">
            <a:avLst>
              <a:gd name="adj" fmla="val 30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CPU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807208"/>
            <a:ext cx="41148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10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B1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65960" y="2926080"/>
            <a:ext cx="365760" cy="0"/>
          </a:xfrm>
          <a:prstGeom prst="line">
            <a:avLst/>
          </a:prstGeom>
          <a:ln w="15875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359152" y="2807208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Clk/4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71800" y="2807208"/>
            <a:ext cx="502920" cy="237744"/>
          </a:xfrm>
          <a:prstGeom prst="roundRect">
            <a:avLst>
              <a:gd name="adj" fmla="val 30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I/O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218688"/>
            <a:ext cx="41148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10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B2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65960" y="3337560"/>
            <a:ext cx="365760" cy="0"/>
          </a:xfrm>
          <a:prstGeom prst="line">
            <a:avLst/>
          </a:prstGeom>
          <a:ln w="15875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359152" y="3218688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Clk/8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71800" y="3218688"/>
            <a:ext cx="502920" cy="237744"/>
          </a:xfrm>
          <a:prstGeom prst="roundRect">
            <a:avLst>
              <a:gd name="adj" fmla="val 30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Bus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630168"/>
            <a:ext cx="41148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10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B3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965960" y="3749040"/>
            <a:ext cx="365760" cy="0"/>
          </a:xfrm>
          <a:prstGeom prst="line">
            <a:avLst/>
          </a:prstGeom>
          <a:ln w="15875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359152" y="3630168"/>
            <a:ext cx="59436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Clk/16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71800" y="3630168"/>
            <a:ext cx="502920" cy="237744"/>
          </a:xfrm>
          <a:prstGeom prst="roundRect">
            <a:avLst>
              <a:gd name="adj" fmla="val 30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</p:txBody>
      </p:sp>
      <p:sp>
        <p:nvSpPr>
          <p:cNvPr id="24" name="Freeform 23"/>
          <p:cNvSpPr/>
          <p:nvPr/>
        </p:nvSpPr>
        <p:spPr>
          <a:xfrm>
            <a:off x="548640" y="3931920"/>
            <a:ext cx="274320" cy="0"/>
          </a:xfrm>
          <a:custGeom>
            <a:avLst/>
            <a:gdLst/>
            <a:ahLst/>
            <a:cxnLst/>
            <a:rect l="l" t="t" r="r" b="b"/>
            <a:pathLst>
              <a:path w="274320" h="0">
                <a:moveTo>
                  <a:pt x="0" y="0"/>
                </a:moveTo>
                <a:lnTo>
                  <a:pt x="274320" y="0"/>
                </a:lnTo>
              </a:path>
            </a:pathLst>
          </a:custGeom>
          <a:noFill/>
          <a:ln w="19050">
            <a:solidFill>
              <a:srgbClr val="1F2937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97764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Clk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1783080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Clk</a:t>
            </a:r>
          </a:p>
        </p:txBody>
      </p:sp>
      <p:sp>
        <p:nvSpPr>
          <p:cNvPr id="27" name="Freeform 26"/>
          <p:cNvSpPr/>
          <p:nvPr/>
        </p:nvSpPr>
        <p:spPr>
          <a:xfrm>
            <a:off x="3611880" y="2011680"/>
            <a:ext cx="1737360" cy="256032"/>
          </a:xfrm>
          <a:custGeom>
            <a:avLst/>
            <a:gdLst/>
            <a:ahLst/>
            <a:cxnLst/>
            <a:rect l="l" t="t" r="r" b="b"/>
            <a:pathLst>
              <a:path w="1737360" h="256032">
                <a:moveTo>
                  <a:pt x="0" y="256032"/>
                </a:moveTo>
                <a:lnTo>
                  <a:pt x="108585" y="256032"/>
                </a:lnTo>
                <a:lnTo>
                  <a:pt x="108585" y="0"/>
                </a:lnTo>
                <a:lnTo>
                  <a:pt x="217170" y="0"/>
                </a:lnTo>
                <a:lnTo>
                  <a:pt x="217170" y="256032"/>
                </a:lnTo>
                <a:lnTo>
                  <a:pt x="325755" y="256032"/>
                </a:lnTo>
                <a:lnTo>
                  <a:pt x="325755" y="0"/>
                </a:lnTo>
                <a:lnTo>
                  <a:pt x="434340" y="0"/>
                </a:lnTo>
                <a:lnTo>
                  <a:pt x="434340" y="256032"/>
                </a:lnTo>
                <a:lnTo>
                  <a:pt x="542925" y="256032"/>
                </a:lnTo>
                <a:lnTo>
                  <a:pt x="542925" y="0"/>
                </a:lnTo>
                <a:lnTo>
                  <a:pt x="651510" y="0"/>
                </a:lnTo>
                <a:lnTo>
                  <a:pt x="651510" y="256032"/>
                </a:lnTo>
                <a:lnTo>
                  <a:pt x="760095" y="256032"/>
                </a:lnTo>
                <a:lnTo>
                  <a:pt x="760095" y="0"/>
                </a:lnTo>
                <a:lnTo>
                  <a:pt x="868680" y="0"/>
                </a:lnTo>
                <a:lnTo>
                  <a:pt x="868680" y="256032"/>
                </a:lnTo>
                <a:lnTo>
                  <a:pt x="977265" y="256032"/>
                </a:lnTo>
                <a:lnTo>
                  <a:pt x="977265" y="0"/>
                </a:lnTo>
                <a:lnTo>
                  <a:pt x="1085850" y="0"/>
                </a:lnTo>
                <a:lnTo>
                  <a:pt x="1085850" y="256032"/>
                </a:lnTo>
                <a:lnTo>
                  <a:pt x="1194435" y="256032"/>
                </a:lnTo>
                <a:lnTo>
                  <a:pt x="1194435" y="0"/>
                </a:lnTo>
                <a:lnTo>
                  <a:pt x="1303020" y="0"/>
                </a:lnTo>
                <a:lnTo>
                  <a:pt x="1303020" y="256032"/>
                </a:lnTo>
                <a:lnTo>
                  <a:pt x="1411605" y="256032"/>
                </a:lnTo>
                <a:lnTo>
                  <a:pt x="1411605" y="0"/>
                </a:lnTo>
                <a:lnTo>
                  <a:pt x="1520190" y="0"/>
                </a:lnTo>
                <a:lnTo>
                  <a:pt x="1520190" y="256032"/>
                </a:lnTo>
                <a:lnTo>
                  <a:pt x="1628775" y="256032"/>
                </a:lnTo>
                <a:lnTo>
                  <a:pt x="1628775" y="0"/>
                </a:lnTo>
                <a:lnTo>
                  <a:pt x="1737360" y="0"/>
                </a:lnTo>
              </a:path>
            </a:pathLst>
          </a:custGeom>
          <a:noFill/>
          <a:ln w="15875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2331720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Clk/2</a:t>
            </a:r>
          </a:p>
        </p:txBody>
      </p:sp>
      <p:sp>
        <p:nvSpPr>
          <p:cNvPr id="29" name="Freeform 28"/>
          <p:cNvSpPr/>
          <p:nvPr/>
        </p:nvSpPr>
        <p:spPr>
          <a:xfrm>
            <a:off x="3611880" y="2560320"/>
            <a:ext cx="1737360" cy="256032"/>
          </a:xfrm>
          <a:custGeom>
            <a:avLst/>
            <a:gdLst/>
            <a:ahLst/>
            <a:cxnLst/>
            <a:rect l="l" t="t" r="r" b="b"/>
            <a:pathLst>
              <a:path w="1737360" h="256032">
                <a:moveTo>
                  <a:pt x="0" y="256032"/>
                </a:moveTo>
                <a:lnTo>
                  <a:pt x="248442" y="256032"/>
                </a:lnTo>
                <a:lnTo>
                  <a:pt x="248442" y="0"/>
                </a:lnTo>
                <a:lnTo>
                  <a:pt x="465612" y="0"/>
                </a:lnTo>
                <a:lnTo>
                  <a:pt x="465612" y="256032"/>
                </a:lnTo>
                <a:lnTo>
                  <a:pt x="682782" y="256032"/>
                </a:lnTo>
                <a:lnTo>
                  <a:pt x="682782" y="0"/>
                </a:lnTo>
                <a:lnTo>
                  <a:pt x="899952" y="0"/>
                </a:lnTo>
                <a:lnTo>
                  <a:pt x="899952" y="256032"/>
                </a:lnTo>
                <a:lnTo>
                  <a:pt x="1117122" y="256032"/>
                </a:lnTo>
                <a:lnTo>
                  <a:pt x="1117122" y="0"/>
                </a:lnTo>
                <a:lnTo>
                  <a:pt x="1334292" y="0"/>
                </a:lnTo>
                <a:lnTo>
                  <a:pt x="1334292" y="256032"/>
                </a:lnTo>
                <a:lnTo>
                  <a:pt x="1551462" y="256032"/>
                </a:lnTo>
                <a:lnTo>
                  <a:pt x="1551462" y="0"/>
                </a:lnTo>
                <a:lnTo>
                  <a:pt x="1737360" y="0"/>
                </a:lnTo>
              </a:path>
            </a:pathLst>
          </a:custGeom>
          <a:noFill/>
          <a:ln w="15875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09160" y="2880360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Clk/4</a:t>
            </a:r>
          </a:p>
        </p:txBody>
      </p:sp>
      <p:sp>
        <p:nvSpPr>
          <p:cNvPr id="31" name="Freeform 30"/>
          <p:cNvSpPr/>
          <p:nvPr/>
        </p:nvSpPr>
        <p:spPr>
          <a:xfrm>
            <a:off x="3611880" y="3108960"/>
            <a:ext cx="1737360" cy="256032"/>
          </a:xfrm>
          <a:custGeom>
            <a:avLst/>
            <a:gdLst/>
            <a:ahLst/>
            <a:cxnLst/>
            <a:rect l="l" t="t" r="r" b="b"/>
            <a:pathLst>
              <a:path w="1737360" h="256032">
                <a:moveTo>
                  <a:pt x="0" y="256032"/>
                </a:moveTo>
                <a:lnTo>
                  <a:pt x="496885" y="256032"/>
                </a:lnTo>
                <a:lnTo>
                  <a:pt x="496885" y="0"/>
                </a:lnTo>
                <a:lnTo>
                  <a:pt x="931225" y="0"/>
                </a:lnTo>
                <a:lnTo>
                  <a:pt x="931225" y="256032"/>
                </a:lnTo>
                <a:lnTo>
                  <a:pt x="1365565" y="256032"/>
                </a:lnTo>
                <a:lnTo>
                  <a:pt x="1365565" y="0"/>
                </a:lnTo>
                <a:lnTo>
                  <a:pt x="1737360" y="0"/>
                </a:lnTo>
              </a:path>
            </a:pathLst>
          </a:custGeom>
          <a:noFill/>
          <a:ln w="15875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9160" y="3429000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Clk/8</a:t>
            </a:r>
          </a:p>
        </p:txBody>
      </p:sp>
      <p:sp>
        <p:nvSpPr>
          <p:cNvPr id="33" name="Freeform 32"/>
          <p:cNvSpPr/>
          <p:nvPr/>
        </p:nvSpPr>
        <p:spPr>
          <a:xfrm>
            <a:off x="3611880" y="3657600"/>
            <a:ext cx="1737360" cy="256032"/>
          </a:xfrm>
          <a:custGeom>
            <a:avLst/>
            <a:gdLst/>
            <a:ahLst/>
            <a:cxnLst/>
            <a:rect l="l" t="t" r="r" b="b"/>
            <a:pathLst>
              <a:path w="1737360" h="256032">
                <a:moveTo>
                  <a:pt x="0" y="256032"/>
                </a:moveTo>
                <a:lnTo>
                  <a:pt x="962497" y="256032"/>
                </a:lnTo>
                <a:lnTo>
                  <a:pt x="962497" y="0"/>
                </a:lnTo>
                <a:lnTo>
                  <a:pt x="1737360" y="0"/>
                </a:lnTo>
              </a:path>
            </a:pathLst>
          </a:custGeom>
          <a:noFill/>
          <a:ln w="15875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3829050" y="1920240"/>
            <a:ext cx="0" cy="1920240"/>
          </a:xfrm>
          <a:prstGeom prst="line">
            <a:avLst/>
          </a:prstGeom>
          <a:ln w="12700">
            <a:solidFill>
              <a:srgbClr val="C6282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40080" y="4434840"/>
            <a:ext cx="4754880" cy="1645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카운터 출력(Q)은 FF 지연 + 일반 배선을 거쳐 나감 → 비트마다 엣지가 조금씩 늦게 도착 (</a:t>
            </a:r>
            <a:r>
              <a:rPr sz="11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Skew</a:t>
            </a: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)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도구가 이 신호를 클럭으로 관리하지 못하면 타이밍 검사에서 빠짐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06440" y="1325880"/>
            <a:ext cx="5928055" cy="1307592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934456" y="142646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1417320"/>
            <a:ext cx="5287975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각 클럭의 타이밍을 어떻게 맞추나?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1755648"/>
            <a:ext cx="5242255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164592" indent="-164592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클럭 IP(MMCM/PLL)는 기준 클럭 하나로 고속 VCO를 만든 뒤 나눠서 출력 → 모든 출력이 같은 기준 엣지에서 나옴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피드백 경로로 클럭 버퍼 지연까지 측정해 입력 클럭과 위상을 맞춤 (Deskew)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806440" y="2743200"/>
            <a:ext cx="5928055" cy="1307592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934456" y="284378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0" y="2834640"/>
            <a:ext cx="5287975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Clock Skew는 어떻게 잡아내나?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3172968"/>
            <a:ext cx="5242255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164592" indent="-164592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물리: 전용 클럭 버퍼(BUFG) + 칩 전체에 길이를 맞춘 클럭 트리 → FF마다 도착 시간이 거의 같음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도구: 타이밍 분석이 FF마다 클럭 도착 시간을 계산해 Slack에 반영 → 리포트의 Clock Skew 항목으로 확인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806440" y="4160520"/>
            <a:ext cx="5928055" cy="1719072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934456" y="426110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9360" y="4251960"/>
            <a:ext cx="5287975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내부 IP 로직은 어떻게 되어 있나?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09360" y="4709160"/>
            <a:ext cx="89611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÷D</a:t>
            </a:r>
          </a:p>
          <a:p>
            <a:pPr algn="ctr"/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입력 분주</a:t>
            </a:r>
          </a:p>
        </p:txBody>
      </p:sp>
      <p:sp>
        <p:nvSpPr>
          <p:cNvPr id="48" name="Freeform 47"/>
          <p:cNvSpPr/>
          <p:nvPr/>
        </p:nvSpPr>
        <p:spPr>
          <a:xfrm>
            <a:off x="7205472" y="4992624"/>
            <a:ext cx="155448" cy="0"/>
          </a:xfrm>
          <a:custGeom>
            <a:avLst/>
            <a:gdLst/>
            <a:ahLst/>
            <a:cxnLst/>
            <a:rect l="l" t="t" r="r" b="b"/>
            <a:pathLst>
              <a:path w="155448" h="0">
                <a:moveTo>
                  <a:pt x="0" y="0"/>
                </a:moveTo>
                <a:lnTo>
                  <a:pt x="155448" y="0"/>
                </a:lnTo>
              </a:path>
            </a:pathLst>
          </a:custGeom>
          <a:noFill/>
          <a:ln w="15875">
            <a:solidFill>
              <a:srgbClr val="1565C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360920" y="4709160"/>
            <a:ext cx="89611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PFD</a:t>
            </a:r>
          </a:p>
          <a:p>
            <a:pPr algn="ctr"/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위상 비교</a:t>
            </a:r>
          </a:p>
        </p:txBody>
      </p:sp>
      <p:sp>
        <p:nvSpPr>
          <p:cNvPr id="50" name="Freeform 49"/>
          <p:cNvSpPr/>
          <p:nvPr/>
        </p:nvSpPr>
        <p:spPr>
          <a:xfrm>
            <a:off x="8257032" y="4992624"/>
            <a:ext cx="155448" cy="0"/>
          </a:xfrm>
          <a:custGeom>
            <a:avLst/>
            <a:gdLst/>
            <a:ahLst/>
            <a:cxnLst/>
            <a:rect l="l" t="t" r="r" b="b"/>
            <a:pathLst>
              <a:path w="155448" h="0">
                <a:moveTo>
                  <a:pt x="0" y="0"/>
                </a:moveTo>
                <a:lnTo>
                  <a:pt x="155448" y="0"/>
                </a:lnTo>
              </a:path>
            </a:pathLst>
          </a:custGeom>
          <a:noFill/>
          <a:ln w="15875">
            <a:solidFill>
              <a:srgbClr val="1565C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8412480" y="4709160"/>
            <a:ext cx="89611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×M</a:t>
            </a:r>
          </a:p>
          <a:p>
            <a:pPr algn="ctr"/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VCO</a:t>
            </a:r>
          </a:p>
        </p:txBody>
      </p:sp>
      <p:sp>
        <p:nvSpPr>
          <p:cNvPr id="52" name="Freeform 51"/>
          <p:cNvSpPr/>
          <p:nvPr/>
        </p:nvSpPr>
        <p:spPr>
          <a:xfrm>
            <a:off x="9308592" y="4992624"/>
            <a:ext cx="155448" cy="0"/>
          </a:xfrm>
          <a:custGeom>
            <a:avLst/>
            <a:gdLst/>
            <a:ahLst/>
            <a:cxnLst/>
            <a:rect l="l" t="t" r="r" b="b"/>
            <a:pathLst>
              <a:path w="155448" h="0">
                <a:moveTo>
                  <a:pt x="0" y="0"/>
                </a:moveTo>
                <a:lnTo>
                  <a:pt x="155448" y="0"/>
                </a:lnTo>
              </a:path>
            </a:pathLst>
          </a:custGeom>
          <a:noFill/>
          <a:ln w="15875">
            <a:solidFill>
              <a:srgbClr val="1565C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464040" y="4709160"/>
            <a:ext cx="89611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÷O</a:t>
            </a:r>
          </a:p>
          <a:p>
            <a:pPr algn="ctr"/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출력 분주</a:t>
            </a:r>
          </a:p>
        </p:txBody>
      </p:sp>
      <p:sp>
        <p:nvSpPr>
          <p:cNvPr id="54" name="Freeform 53"/>
          <p:cNvSpPr/>
          <p:nvPr/>
        </p:nvSpPr>
        <p:spPr>
          <a:xfrm>
            <a:off x="10360152" y="4992624"/>
            <a:ext cx="155448" cy="0"/>
          </a:xfrm>
          <a:custGeom>
            <a:avLst/>
            <a:gdLst/>
            <a:ahLst/>
            <a:cxnLst/>
            <a:rect l="l" t="t" r="r" b="b"/>
            <a:pathLst>
              <a:path w="155448" h="0">
                <a:moveTo>
                  <a:pt x="0" y="0"/>
                </a:moveTo>
                <a:lnTo>
                  <a:pt x="155448" y="0"/>
                </a:lnTo>
              </a:path>
            </a:pathLst>
          </a:custGeom>
          <a:noFill/>
          <a:ln w="15875">
            <a:solidFill>
              <a:srgbClr val="1565C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515600" y="4709160"/>
            <a:ext cx="89611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BUFG</a:t>
            </a:r>
          </a:p>
          <a:p>
            <a:pPr algn="ctr"/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클럭 버퍼</a:t>
            </a:r>
          </a:p>
        </p:txBody>
      </p:sp>
      <p:sp>
        <p:nvSpPr>
          <p:cNvPr id="56" name="Freeform 55"/>
          <p:cNvSpPr/>
          <p:nvPr/>
        </p:nvSpPr>
        <p:spPr>
          <a:xfrm>
            <a:off x="7808976" y="5276088"/>
            <a:ext cx="3154680" cy="164592"/>
          </a:xfrm>
          <a:custGeom>
            <a:avLst/>
            <a:gdLst/>
            <a:ahLst/>
            <a:cxnLst/>
            <a:rect l="l" t="t" r="r" b="b"/>
            <a:pathLst>
              <a:path w="3154680" h="164592">
                <a:moveTo>
                  <a:pt x="3154680" y="0"/>
                </a:moveTo>
                <a:lnTo>
                  <a:pt x="3154680" y="164592"/>
                </a:lnTo>
                <a:lnTo>
                  <a:pt x="0" y="164592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1565C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63840" y="54589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00" b="0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피드백 (버퍼 지연 보상)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0" y="5687568"/>
            <a:ext cx="524225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f_out = f_in × M ÷ (D × O)</a:t>
            </a: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 ·  위상이 맞으면 LOCKED = 1 → 그때부터 사용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01 · 개념 이해 — Q2 Timing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All 71 Timing Paths Pass at 100 MHz — the Tightest Path Still Has 4.652 ns to Spare</a:t>
            </a:r>
          </a:p>
        </p:txBody>
      </p:sp>
      <p:pic>
        <p:nvPicPr>
          <p:cNvPr id="4" name="Picture 3" descr="p03_1.png"/>
          <p:cNvPicPr>
            <a:picLocks noChangeAspect="1"/>
          </p:cNvPicPr>
          <p:nvPr/>
        </p:nvPicPr>
        <p:blipFill>
          <a:blip r:embed="rId2"/>
          <a:srcRect l="26316" t="19178" b="13699"/>
          <a:stretch>
            <a:fillRect/>
          </a:stretch>
        </p:blipFill>
        <p:spPr>
          <a:xfrm>
            <a:off x="457200" y="1325880"/>
            <a:ext cx="7589520" cy="16602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75320" y="1325880"/>
            <a:ext cx="3459175" cy="17830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58200" y="1417320"/>
            <a:ext cx="3093415" cy="1645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+4.652 ns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Setup 최소 여유 (10 ns 주기 중)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단순 환산 시 약 187 MHz까지 여유 — </a:t>
            </a:r>
            <a:r>
              <a:rPr sz="1100" b="1">
                <a:solidFill>
                  <a:srgbClr val="E65100"/>
                </a:solidFill>
                <a:latin typeface="맑은 고딕"/>
                <a:ea typeface="맑은 고딕"/>
                <a:cs typeface="맑은 고딕"/>
              </a:rPr>
              <a:t>추정</a:t>
            </a:r>
            <a:r>
              <a:rPr sz="11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(1 ÷ (10 − 4.652) ns)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29000"/>
            <a:ext cx="3576218" cy="196596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3520440"/>
            <a:ext cx="3247034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Setup — 너무 늦지 않은가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886200"/>
            <a:ext cx="3247034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164592" indent="-164592">
              <a:spcAft>
                <a:spcPts val="300"/>
              </a:spcAft>
              <a:buChar char="•"/>
            </a:pP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데이터가 다음 클럭 엣지 전에 도착하는지 검사 (최대 지연)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WNS 4.652 ns</a:t>
            </a: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— 가장 빠듯한 경로의 남은 시간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TNS 0</a:t>
            </a: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— 음수 여유의 합. 0이면 위반 없음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Failing 0 / 71</a:t>
            </a: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— 검사한 도착점 71개 모두 통과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3429000"/>
            <a:ext cx="3576218" cy="196596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2330" y="3520440"/>
            <a:ext cx="3247034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Hold — 너무 빠르지 않은가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2330" y="3886200"/>
            <a:ext cx="3247034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164592" indent="-164592">
              <a:spcAft>
                <a:spcPts val="300"/>
              </a:spcAft>
              <a:buChar char="•"/>
            </a:pP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엣지 직후 데이터가 너무 빨리 바뀌어 직전 값을 덮지 않는지 검사 (최소 지연)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WHS 0.247 ns</a:t>
            </a: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&gt; 0 → 통과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THS 0 · Failing 0</a:t>
            </a: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— 위반 없음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클럭을 늦춰도 안 고쳐지는 위반이라 따로 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7" y="3429000"/>
            <a:ext cx="3576218" cy="196596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2869" y="3520440"/>
            <a:ext cx="3247034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>
                <a:solidFill>
                  <a:srgbClr val="E65100"/>
                </a:solidFill>
                <a:latin typeface="맑은 고딕"/>
                <a:ea typeface="맑은 고딕"/>
                <a:cs typeface="맑은 고딕"/>
              </a:rPr>
              <a:t>Pulse Width — 클럭 폭이 충분한가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2869" y="3886200"/>
            <a:ext cx="3247034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164592" indent="-164592">
              <a:spcAft>
                <a:spcPts val="300"/>
              </a:spcAft>
              <a:buChar char="•"/>
            </a:pP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클럭 High/Low 폭이 FF · 클럭 버퍼의 최소 요구 폭 이상인지 검사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WPWS 4.500 ns</a:t>
            </a: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— 5 ns 반주기 중 4.5 ns 여유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TPWS 0 · Failing 0 / 58</a:t>
            </a: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— 위반 없음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532120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5605272"/>
            <a:ext cx="10984687" cy="5394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>
                <a:solidFill>
                  <a:srgbClr val="E65100"/>
                </a:solidFill>
                <a:latin typeface="맑은 고딕"/>
                <a:ea typeface="맑은 고딕"/>
                <a:cs typeface="맑은 고딕"/>
              </a:rPr>
              <a:t>주의 </a:t>
            </a: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— 1 kHz 분주 클럭으로 도는 FND 스캔 레지스터는 별도 클럭 제약이 없어 이 검사에서 빠졌을 가능성 → Check Timing(29) 항목 확인 필요 (</a:t>
            </a:r>
            <a:r>
              <a:rPr sz="11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추정</a:t>
            </a: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01 · 개념 이해 — Q3 Why Tick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Divided Clocks Split the Design into Clock Domains; a Tick Keeps Everything on One 100 MHz Clock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11277295" cy="18745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100 MHz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Tick (10 Hz)</a:t>
            </a:r>
          </a:p>
        </p:txBody>
      </p:sp>
      <p:sp>
        <p:nvSpPr>
          <p:cNvPr id="7" name="Freeform 6"/>
          <p:cNvSpPr/>
          <p:nvPr/>
        </p:nvSpPr>
        <p:spPr>
          <a:xfrm>
            <a:off x="1737360" y="1600200"/>
            <a:ext cx="3657600" cy="274320"/>
          </a:xfrm>
          <a:custGeom>
            <a:avLst/>
            <a:gdLst/>
            <a:ahLst/>
            <a:cxnLst/>
            <a:rect l="l" t="t" r="r" b="b"/>
            <a:pathLst>
              <a:path w="3657600" h="274320">
                <a:moveTo>
                  <a:pt x="0" y="274320"/>
                </a:moveTo>
                <a:lnTo>
                  <a:pt x="41564" y="274320"/>
                </a:lnTo>
                <a:lnTo>
                  <a:pt x="41564" y="0"/>
                </a:lnTo>
                <a:lnTo>
                  <a:pt x="83127" y="0"/>
                </a:lnTo>
                <a:lnTo>
                  <a:pt x="83127" y="274320"/>
                </a:lnTo>
                <a:lnTo>
                  <a:pt x="124691" y="274320"/>
                </a:lnTo>
                <a:lnTo>
                  <a:pt x="124691" y="0"/>
                </a:lnTo>
                <a:lnTo>
                  <a:pt x="166255" y="0"/>
                </a:lnTo>
                <a:lnTo>
                  <a:pt x="166255" y="274320"/>
                </a:lnTo>
                <a:lnTo>
                  <a:pt x="207818" y="274320"/>
                </a:lnTo>
                <a:lnTo>
                  <a:pt x="207818" y="0"/>
                </a:lnTo>
                <a:lnTo>
                  <a:pt x="249382" y="0"/>
                </a:lnTo>
                <a:lnTo>
                  <a:pt x="249382" y="274320"/>
                </a:lnTo>
                <a:lnTo>
                  <a:pt x="290945" y="274320"/>
                </a:lnTo>
                <a:lnTo>
                  <a:pt x="290945" y="0"/>
                </a:lnTo>
                <a:lnTo>
                  <a:pt x="332509" y="0"/>
                </a:lnTo>
                <a:lnTo>
                  <a:pt x="332509" y="274320"/>
                </a:lnTo>
                <a:lnTo>
                  <a:pt x="374073" y="274320"/>
                </a:lnTo>
                <a:lnTo>
                  <a:pt x="374073" y="0"/>
                </a:lnTo>
                <a:lnTo>
                  <a:pt x="415636" y="0"/>
                </a:lnTo>
                <a:lnTo>
                  <a:pt x="415636" y="274320"/>
                </a:lnTo>
                <a:lnTo>
                  <a:pt x="457200" y="274320"/>
                </a:lnTo>
                <a:lnTo>
                  <a:pt x="457200" y="0"/>
                </a:lnTo>
                <a:lnTo>
                  <a:pt x="498764" y="0"/>
                </a:lnTo>
                <a:lnTo>
                  <a:pt x="498764" y="274320"/>
                </a:lnTo>
                <a:lnTo>
                  <a:pt x="540327" y="274320"/>
                </a:lnTo>
                <a:lnTo>
                  <a:pt x="540327" y="0"/>
                </a:lnTo>
                <a:lnTo>
                  <a:pt x="581891" y="0"/>
                </a:lnTo>
                <a:lnTo>
                  <a:pt x="581891" y="274320"/>
                </a:lnTo>
                <a:lnTo>
                  <a:pt x="623455" y="274320"/>
                </a:lnTo>
                <a:lnTo>
                  <a:pt x="623455" y="0"/>
                </a:lnTo>
                <a:lnTo>
                  <a:pt x="665018" y="0"/>
                </a:lnTo>
                <a:lnTo>
                  <a:pt x="665018" y="274320"/>
                </a:lnTo>
                <a:lnTo>
                  <a:pt x="706582" y="274320"/>
                </a:lnTo>
                <a:lnTo>
                  <a:pt x="706582" y="0"/>
                </a:lnTo>
                <a:lnTo>
                  <a:pt x="748145" y="0"/>
                </a:lnTo>
                <a:lnTo>
                  <a:pt x="748145" y="274320"/>
                </a:lnTo>
                <a:lnTo>
                  <a:pt x="789709" y="274320"/>
                </a:lnTo>
                <a:lnTo>
                  <a:pt x="789709" y="0"/>
                </a:lnTo>
                <a:lnTo>
                  <a:pt x="831273" y="0"/>
                </a:lnTo>
                <a:lnTo>
                  <a:pt x="831273" y="274320"/>
                </a:lnTo>
                <a:lnTo>
                  <a:pt x="872836" y="274320"/>
                </a:lnTo>
                <a:lnTo>
                  <a:pt x="872836" y="0"/>
                </a:lnTo>
                <a:lnTo>
                  <a:pt x="914400" y="0"/>
                </a:lnTo>
                <a:lnTo>
                  <a:pt x="914400" y="274320"/>
                </a:lnTo>
                <a:lnTo>
                  <a:pt x="955964" y="274320"/>
                </a:lnTo>
                <a:lnTo>
                  <a:pt x="955964" y="0"/>
                </a:lnTo>
                <a:lnTo>
                  <a:pt x="997527" y="0"/>
                </a:lnTo>
                <a:lnTo>
                  <a:pt x="997527" y="274320"/>
                </a:lnTo>
                <a:lnTo>
                  <a:pt x="1039091" y="274320"/>
                </a:lnTo>
                <a:lnTo>
                  <a:pt x="1039091" y="0"/>
                </a:lnTo>
                <a:lnTo>
                  <a:pt x="1080655" y="0"/>
                </a:lnTo>
                <a:lnTo>
                  <a:pt x="1080655" y="274320"/>
                </a:lnTo>
                <a:lnTo>
                  <a:pt x="1122218" y="274320"/>
                </a:lnTo>
                <a:lnTo>
                  <a:pt x="1122218" y="0"/>
                </a:lnTo>
                <a:lnTo>
                  <a:pt x="1163782" y="0"/>
                </a:lnTo>
                <a:lnTo>
                  <a:pt x="1163782" y="274320"/>
                </a:lnTo>
                <a:lnTo>
                  <a:pt x="1205345" y="274320"/>
                </a:lnTo>
                <a:lnTo>
                  <a:pt x="1205345" y="0"/>
                </a:lnTo>
                <a:lnTo>
                  <a:pt x="1246909" y="0"/>
                </a:lnTo>
                <a:lnTo>
                  <a:pt x="1246909" y="274320"/>
                </a:lnTo>
                <a:lnTo>
                  <a:pt x="1288473" y="274320"/>
                </a:lnTo>
                <a:lnTo>
                  <a:pt x="1288473" y="0"/>
                </a:lnTo>
                <a:lnTo>
                  <a:pt x="1330036" y="0"/>
                </a:lnTo>
                <a:lnTo>
                  <a:pt x="1330036" y="274320"/>
                </a:lnTo>
                <a:lnTo>
                  <a:pt x="1371600" y="274320"/>
                </a:lnTo>
                <a:lnTo>
                  <a:pt x="1371600" y="0"/>
                </a:lnTo>
                <a:lnTo>
                  <a:pt x="1413164" y="0"/>
                </a:lnTo>
                <a:lnTo>
                  <a:pt x="1413164" y="274320"/>
                </a:lnTo>
                <a:lnTo>
                  <a:pt x="1454727" y="274320"/>
                </a:lnTo>
                <a:lnTo>
                  <a:pt x="1454727" y="0"/>
                </a:lnTo>
                <a:lnTo>
                  <a:pt x="1496291" y="0"/>
                </a:lnTo>
                <a:lnTo>
                  <a:pt x="1496291" y="274320"/>
                </a:lnTo>
                <a:lnTo>
                  <a:pt x="1537855" y="274320"/>
                </a:lnTo>
                <a:lnTo>
                  <a:pt x="1537855" y="0"/>
                </a:lnTo>
                <a:lnTo>
                  <a:pt x="1579418" y="0"/>
                </a:lnTo>
                <a:lnTo>
                  <a:pt x="1579418" y="274320"/>
                </a:lnTo>
                <a:lnTo>
                  <a:pt x="1620982" y="274320"/>
                </a:lnTo>
                <a:lnTo>
                  <a:pt x="1620982" y="0"/>
                </a:lnTo>
                <a:lnTo>
                  <a:pt x="1662545" y="0"/>
                </a:lnTo>
                <a:lnTo>
                  <a:pt x="1662545" y="274320"/>
                </a:lnTo>
                <a:lnTo>
                  <a:pt x="1704109" y="274320"/>
                </a:lnTo>
                <a:lnTo>
                  <a:pt x="1704109" y="0"/>
                </a:lnTo>
                <a:lnTo>
                  <a:pt x="1745673" y="0"/>
                </a:lnTo>
                <a:lnTo>
                  <a:pt x="1745673" y="274320"/>
                </a:lnTo>
                <a:lnTo>
                  <a:pt x="1787236" y="274320"/>
                </a:lnTo>
                <a:lnTo>
                  <a:pt x="1787236" y="0"/>
                </a:lnTo>
                <a:lnTo>
                  <a:pt x="1828800" y="0"/>
                </a:lnTo>
                <a:lnTo>
                  <a:pt x="1828800" y="274320"/>
                </a:lnTo>
                <a:lnTo>
                  <a:pt x="1870364" y="274320"/>
                </a:lnTo>
                <a:lnTo>
                  <a:pt x="1870364" y="0"/>
                </a:lnTo>
                <a:lnTo>
                  <a:pt x="1911927" y="0"/>
                </a:lnTo>
                <a:lnTo>
                  <a:pt x="1911927" y="274320"/>
                </a:lnTo>
                <a:lnTo>
                  <a:pt x="1953491" y="274320"/>
                </a:lnTo>
                <a:lnTo>
                  <a:pt x="1953491" y="0"/>
                </a:lnTo>
                <a:lnTo>
                  <a:pt x="1995055" y="0"/>
                </a:lnTo>
                <a:lnTo>
                  <a:pt x="1995055" y="274320"/>
                </a:lnTo>
                <a:lnTo>
                  <a:pt x="2036618" y="274320"/>
                </a:lnTo>
                <a:lnTo>
                  <a:pt x="2036618" y="0"/>
                </a:lnTo>
                <a:lnTo>
                  <a:pt x="2078182" y="0"/>
                </a:lnTo>
                <a:lnTo>
                  <a:pt x="2078182" y="274320"/>
                </a:lnTo>
                <a:lnTo>
                  <a:pt x="2119745" y="274320"/>
                </a:lnTo>
                <a:lnTo>
                  <a:pt x="2119745" y="0"/>
                </a:lnTo>
                <a:lnTo>
                  <a:pt x="2161309" y="0"/>
                </a:lnTo>
                <a:lnTo>
                  <a:pt x="2161309" y="274320"/>
                </a:lnTo>
                <a:lnTo>
                  <a:pt x="2202873" y="274320"/>
                </a:lnTo>
                <a:lnTo>
                  <a:pt x="2202873" y="0"/>
                </a:lnTo>
                <a:lnTo>
                  <a:pt x="2244436" y="0"/>
                </a:lnTo>
                <a:lnTo>
                  <a:pt x="2244436" y="274320"/>
                </a:lnTo>
                <a:lnTo>
                  <a:pt x="2286000" y="274320"/>
                </a:lnTo>
                <a:lnTo>
                  <a:pt x="2286000" y="0"/>
                </a:lnTo>
                <a:lnTo>
                  <a:pt x="2327564" y="0"/>
                </a:lnTo>
                <a:lnTo>
                  <a:pt x="2327564" y="274320"/>
                </a:lnTo>
                <a:lnTo>
                  <a:pt x="2369127" y="274320"/>
                </a:lnTo>
                <a:lnTo>
                  <a:pt x="2369127" y="0"/>
                </a:lnTo>
                <a:lnTo>
                  <a:pt x="2410691" y="0"/>
                </a:lnTo>
                <a:lnTo>
                  <a:pt x="2410691" y="274320"/>
                </a:lnTo>
                <a:lnTo>
                  <a:pt x="2452255" y="274320"/>
                </a:lnTo>
                <a:lnTo>
                  <a:pt x="2452255" y="0"/>
                </a:lnTo>
                <a:lnTo>
                  <a:pt x="2493818" y="0"/>
                </a:lnTo>
                <a:lnTo>
                  <a:pt x="2493818" y="274320"/>
                </a:lnTo>
                <a:lnTo>
                  <a:pt x="2535382" y="274320"/>
                </a:lnTo>
                <a:lnTo>
                  <a:pt x="2535382" y="0"/>
                </a:lnTo>
                <a:lnTo>
                  <a:pt x="2576945" y="0"/>
                </a:lnTo>
                <a:lnTo>
                  <a:pt x="2576945" y="274320"/>
                </a:lnTo>
                <a:lnTo>
                  <a:pt x="2618509" y="274320"/>
                </a:lnTo>
                <a:lnTo>
                  <a:pt x="2618509" y="0"/>
                </a:lnTo>
                <a:lnTo>
                  <a:pt x="2660073" y="0"/>
                </a:lnTo>
                <a:lnTo>
                  <a:pt x="2660073" y="274320"/>
                </a:lnTo>
                <a:lnTo>
                  <a:pt x="2701636" y="274320"/>
                </a:lnTo>
                <a:lnTo>
                  <a:pt x="2701636" y="0"/>
                </a:lnTo>
                <a:lnTo>
                  <a:pt x="2743200" y="0"/>
                </a:lnTo>
                <a:lnTo>
                  <a:pt x="2743200" y="274320"/>
                </a:lnTo>
                <a:lnTo>
                  <a:pt x="2784764" y="274320"/>
                </a:lnTo>
                <a:lnTo>
                  <a:pt x="2784764" y="0"/>
                </a:lnTo>
                <a:lnTo>
                  <a:pt x="2826327" y="0"/>
                </a:lnTo>
                <a:lnTo>
                  <a:pt x="2826327" y="274320"/>
                </a:lnTo>
                <a:lnTo>
                  <a:pt x="2867891" y="274320"/>
                </a:lnTo>
                <a:lnTo>
                  <a:pt x="2867891" y="0"/>
                </a:lnTo>
                <a:lnTo>
                  <a:pt x="2909455" y="0"/>
                </a:lnTo>
                <a:lnTo>
                  <a:pt x="2909455" y="274320"/>
                </a:lnTo>
                <a:lnTo>
                  <a:pt x="2951018" y="274320"/>
                </a:lnTo>
                <a:lnTo>
                  <a:pt x="2951018" y="0"/>
                </a:lnTo>
                <a:lnTo>
                  <a:pt x="2992582" y="0"/>
                </a:lnTo>
                <a:lnTo>
                  <a:pt x="2992582" y="274320"/>
                </a:lnTo>
                <a:lnTo>
                  <a:pt x="3034145" y="274320"/>
                </a:lnTo>
                <a:lnTo>
                  <a:pt x="3034145" y="0"/>
                </a:lnTo>
                <a:lnTo>
                  <a:pt x="3075709" y="0"/>
                </a:lnTo>
                <a:lnTo>
                  <a:pt x="3075709" y="274320"/>
                </a:lnTo>
                <a:lnTo>
                  <a:pt x="3117273" y="274320"/>
                </a:lnTo>
                <a:lnTo>
                  <a:pt x="3117273" y="0"/>
                </a:lnTo>
                <a:lnTo>
                  <a:pt x="3158836" y="0"/>
                </a:lnTo>
                <a:lnTo>
                  <a:pt x="3158836" y="274320"/>
                </a:lnTo>
                <a:lnTo>
                  <a:pt x="3200400" y="274320"/>
                </a:lnTo>
                <a:lnTo>
                  <a:pt x="3200400" y="0"/>
                </a:lnTo>
                <a:lnTo>
                  <a:pt x="3241964" y="0"/>
                </a:lnTo>
                <a:lnTo>
                  <a:pt x="3241964" y="274320"/>
                </a:lnTo>
                <a:lnTo>
                  <a:pt x="3283527" y="274320"/>
                </a:lnTo>
                <a:lnTo>
                  <a:pt x="3283527" y="0"/>
                </a:lnTo>
                <a:lnTo>
                  <a:pt x="3325091" y="0"/>
                </a:lnTo>
                <a:lnTo>
                  <a:pt x="3325091" y="274320"/>
                </a:lnTo>
                <a:lnTo>
                  <a:pt x="3366655" y="274320"/>
                </a:lnTo>
                <a:lnTo>
                  <a:pt x="3366655" y="0"/>
                </a:lnTo>
                <a:lnTo>
                  <a:pt x="3408218" y="0"/>
                </a:lnTo>
                <a:lnTo>
                  <a:pt x="3408218" y="274320"/>
                </a:lnTo>
                <a:lnTo>
                  <a:pt x="3449782" y="274320"/>
                </a:lnTo>
                <a:lnTo>
                  <a:pt x="3449782" y="0"/>
                </a:lnTo>
                <a:lnTo>
                  <a:pt x="3491345" y="0"/>
                </a:lnTo>
                <a:lnTo>
                  <a:pt x="3491345" y="274320"/>
                </a:lnTo>
                <a:lnTo>
                  <a:pt x="3532909" y="274320"/>
                </a:lnTo>
                <a:lnTo>
                  <a:pt x="3532909" y="0"/>
                </a:lnTo>
                <a:lnTo>
                  <a:pt x="3574473" y="0"/>
                </a:lnTo>
                <a:lnTo>
                  <a:pt x="3574473" y="274320"/>
                </a:lnTo>
                <a:lnTo>
                  <a:pt x="3616036" y="274320"/>
                </a:lnTo>
                <a:lnTo>
                  <a:pt x="3616036" y="0"/>
                </a:lnTo>
                <a:lnTo>
                  <a:pt x="3657600" y="0"/>
                </a:lnTo>
              </a:path>
            </a:pathLst>
          </a:custGeom>
          <a:noFill/>
          <a:ln w="9525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5852160" y="1600200"/>
            <a:ext cx="3108960" cy="274320"/>
          </a:xfrm>
          <a:custGeom>
            <a:avLst/>
            <a:gdLst/>
            <a:ahLst/>
            <a:cxnLst/>
            <a:rect l="l" t="t" r="r" b="b"/>
            <a:pathLst>
              <a:path w="3108960" h="274320">
                <a:moveTo>
                  <a:pt x="0" y="274320"/>
                </a:moveTo>
                <a:lnTo>
                  <a:pt x="42013" y="274320"/>
                </a:lnTo>
                <a:lnTo>
                  <a:pt x="42013" y="0"/>
                </a:lnTo>
                <a:lnTo>
                  <a:pt x="84026" y="0"/>
                </a:lnTo>
                <a:lnTo>
                  <a:pt x="84026" y="274320"/>
                </a:lnTo>
                <a:lnTo>
                  <a:pt x="126039" y="274320"/>
                </a:lnTo>
                <a:lnTo>
                  <a:pt x="126039" y="0"/>
                </a:lnTo>
                <a:lnTo>
                  <a:pt x="168052" y="0"/>
                </a:lnTo>
                <a:lnTo>
                  <a:pt x="168052" y="274320"/>
                </a:lnTo>
                <a:lnTo>
                  <a:pt x="210065" y="274320"/>
                </a:lnTo>
                <a:lnTo>
                  <a:pt x="210065" y="0"/>
                </a:lnTo>
                <a:lnTo>
                  <a:pt x="252078" y="0"/>
                </a:lnTo>
                <a:lnTo>
                  <a:pt x="252078" y="274320"/>
                </a:lnTo>
                <a:lnTo>
                  <a:pt x="294091" y="274320"/>
                </a:lnTo>
                <a:lnTo>
                  <a:pt x="294091" y="0"/>
                </a:lnTo>
                <a:lnTo>
                  <a:pt x="336104" y="0"/>
                </a:lnTo>
                <a:lnTo>
                  <a:pt x="336104" y="274320"/>
                </a:lnTo>
                <a:lnTo>
                  <a:pt x="378117" y="274320"/>
                </a:lnTo>
                <a:lnTo>
                  <a:pt x="378117" y="0"/>
                </a:lnTo>
                <a:lnTo>
                  <a:pt x="420130" y="0"/>
                </a:lnTo>
                <a:lnTo>
                  <a:pt x="420130" y="274320"/>
                </a:lnTo>
                <a:lnTo>
                  <a:pt x="462143" y="274320"/>
                </a:lnTo>
                <a:lnTo>
                  <a:pt x="462143" y="0"/>
                </a:lnTo>
                <a:lnTo>
                  <a:pt x="504156" y="0"/>
                </a:lnTo>
                <a:lnTo>
                  <a:pt x="504156" y="274320"/>
                </a:lnTo>
                <a:lnTo>
                  <a:pt x="546169" y="274320"/>
                </a:lnTo>
                <a:lnTo>
                  <a:pt x="546169" y="0"/>
                </a:lnTo>
                <a:lnTo>
                  <a:pt x="588182" y="0"/>
                </a:lnTo>
                <a:lnTo>
                  <a:pt x="588182" y="274320"/>
                </a:lnTo>
                <a:lnTo>
                  <a:pt x="630195" y="274320"/>
                </a:lnTo>
                <a:lnTo>
                  <a:pt x="630195" y="0"/>
                </a:lnTo>
                <a:lnTo>
                  <a:pt x="672208" y="0"/>
                </a:lnTo>
                <a:lnTo>
                  <a:pt x="672208" y="274320"/>
                </a:lnTo>
                <a:lnTo>
                  <a:pt x="714221" y="274320"/>
                </a:lnTo>
                <a:lnTo>
                  <a:pt x="714221" y="0"/>
                </a:lnTo>
                <a:lnTo>
                  <a:pt x="756234" y="0"/>
                </a:lnTo>
                <a:lnTo>
                  <a:pt x="756234" y="274320"/>
                </a:lnTo>
                <a:lnTo>
                  <a:pt x="798246" y="274320"/>
                </a:lnTo>
                <a:lnTo>
                  <a:pt x="798246" y="0"/>
                </a:lnTo>
                <a:lnTo>
                  <a:pt x="840259" y="0"/>
                </a:lnTo>
                <a:lnTo>
                  <a:pt x="840259" y="274320"/>
                </a:lnTo>
                <a:lnTo>
                  <a:pt x="882272" y="274320"/>
                </a:lnTo>
                <a:lnTo>
                  <a:pt x="882272" y="0"/>
                </a:lnTo>
                <a:lnTo>
                  <a:pt x="924285" y="0"/>
                </a:lnTo>
                <a:lnTo>
                  <a:pt x="924285" y="274320"/>
                </a:lnTo>
                <a:lnTo>
                  <a:pt x="966298" y="274320"/>
                </a:lnTo>
                <a:lnTo>
                  <a:pt x="966298" y="0"/>
                </a:lnTo>
                <a:lnTo>
                  <a:pt x="1008311" y="0"/>
                </a:lnTo>
                <a:lnTo>
                  <a:pt x="1008311" y="274320"/>
                </a:lnTo>
                <a:lnTo>
                  <a:pt x="1050324" y="274320"/>
                </a:lnTo>
                <a:lnTo>
                  <a:pt x="1050324" y="0"/>
                </a:lnTo>
                <a:lnTo>
                  <a:pt x="1092337" y="0"/>
                </a:lnTo>
                <a:lnTo>
                  <a:pt x="1092337" y="274320"/>
                </a:lnTo>
                <a:lnTo>
                  <a:pt x="1134350" y="274320"/>
                </a:lnTo>
                <a:lnTo>
                  <a:pt x="1134350" y="0"/>
                </a:lnTo>
                <a:lnTo>
                  <a:pt x="1176363" y="0"/>
                </a:lnTo>
                <a:lnTo>
                  <a:pt x="1176363" y="274320"/>
                </a:lnTo>
                <a:lnTo>
                  <a:pt x="1218376" y="274320"/>
                </a:lnTo>
                <a:lnTo>
                  <a:pt x="1218376" y="0"/>
                </a:lnTo>
                <a:lnTo>
                  <a:pt x="1260389" y="0"/>
                </a:lnTo>
                <a:lnTo>
                  <a:pt x="1260389" y="274320"/>
                </a:lnTo>
                <a:lnTo>
                  <a:pt x="1302402" y="274320"/>
                </a:lnTo>
                <a:lnTo>
                  <a:pt x="1302402" y="0"/>
                </a:lnTo>
                <a:lnTo>
                  <a:pt x="1344415" y="0"/>
                </a:lnTo>
                <a:lnTo>
                  <a:pt x="1344415" y="274320"/>
                </a:lnTo>
                <a:lnTo>
                  <a:pt x="1386428" y="274320"/>
                </a:lnTo>
                <a:lnTo>
                  <a:pt x="1386428" y="0"/>
                </a:lnTo>
                <a:lnTo>
                  <a:pt x="1428441" y="0"/>
                </a:lnTo>
                <a:lnTo>
                  <a:pt x="1428441" y="274320"/>
                </a:lnTo>
                <a:lnTo>
                  <a:pt x="1470454" y="274320"/>
                </a:lnTo>
                <a:lnTo>
                  <a:pt x="1470454" y="0"/>
                </a:lnTo>
                <a:lnTo>
                  <a:pt x="1512467" y="0"/>
                </a:lnTo>
                <a:lnTo>
                  <a:pt x="1512467" y="274320"/>
                </a:lnTo>
                <a:lnTo>
                  <a:pt x="1554480" y="274320"/>
                </a:lnTo>
                <a:lnTo>
                  <a:pt x="1554480" y="0"/>
                </a:lnTo>
                <a:lnTo>
                  <a:pt x="1596493" y="0"/>
                </a:lnTo>
                <a:lnTo>
                  <a:pt x="1596493" y="274320"/>
                </a:lnTo>
                <a:lnTo>
                  <a:pt x="1638506" y="274320"/>
                </a:lnTo>
                <a:lnTo>
                  <a:pt x="1638506" y="0"/>
                </a:lnTo>
                <a:lnTo>
                  <a:pt x="1680519" y="0"/>
                </a:lnTo>
                <a:lnTo>
                  <a:pt x="1680519" y="274320"/>
                </a:lnTo>
                <a:lnTo>
                  <a:pt x="1722532" y="274320"/>
                </a:lnTo>
                <a:lnTo>
                  <a:pt x="1722532" y="0"/>
                </a:lnTo>
                <a:lnTo>
                  <a:pt x="1764545" y="0"/>
                </a:lnTo>
                <a:lnTo>
                  <a:pt x="1764545" y="274320"/>
                </a:lnTo>
                <a:lnTo>
                  <a:pt x="1806558" y="274320"/>
                </a:lnTo>
                <a:lnTo>
                  <a:pt x="1806558" y="0"/>
                </a:lnTo>
                <a:lnTo>
                  <a:pt x="1848571" y="0"/>
                </a:lnTo>
                <a:lnTo>
                  <a:pt x="1848571" y="274320"/>
                </a:lnTo>
                <a:lnTo>
                  <a:pt x="1890584" y="274320"/>
                </a:lnTo>
                <a:lnTo>
                  <a:pt x="1890584" y="0"/>
                </a:lnTo>
                <a:lnTo>
                  <a:pt x="1932597" y="0"/>
                </a:lnTo>
                <a:lnTo>
                  <a:pt x="1932597" y="274320"/>
                </a:lnTo>
                <a:lnTo>
                  <a:pt x="1974610" y="274320"/>
                </a:lnTo>
                <a:lnTo>
                  <a:pt x="1974610" y="0"/>
                </a:lnTo>
                <a:lnTo>
                  <a:pt x="2016623" y="0"/>
                </a:lnTo>
                <a:lnTo>
                  <a:pt x="2016623" y="274320"/>
                </a:lnTo>
                <a:lnTo>
                  <a:pt x="2058636" y="274320"/>
                </a:lnTo>
                <a:lnTo>
                  <a:pt x="2058636" y="0"/>
                </a:lnTo>
                <a:lnTo>
                  <a:pt x="2100649" y="0"/>
                </a:lnTo>
                <a:lnTo>
                  <a:pt x="2100649" y="274320"/>
                </a:lnTo>
                <a:lnTo>
                  <a:pt x="2142662" y="274320"/>
                </a:lnTo>
                <a:lnTo>
                  <a:pt x="2142662" y="0"/>
                </a:lnTo>
                <a:lnTo>
                  <a:pt x="2184675" y="0"/>
                </a:lnTo>
                <a:lnTo>
                  <a:pt x="2184675" y="274320"/>
                </a:lnTo>
                <a:lnTo>
                  <a:pt x="2226688" y="274320"/>
                </a:lnTo>
                <a:lnTo>
                  <a:pt x="2226688" y="0"/>
                </a:lnTo>
                <a:lnTo>
                  <a:pt x="2268701" y="0"/>
                </a:lnTo>
                <a:lnTo>
                  <a:pt x="2268701" y="274320"/>
                </a:lnTo>
                <a:lnTo>
                  <a:pt x="2310714" y="274320"/>
                </a:lnTo>
                <a:lnTo>
                  <a:pt x="2310714" y="0"/>
                </a:lnTo>
                <a:lnTo>
                  <a:pt x="2352726" y="0"/>
                </a:lnTo>
                <a:lnTo>
                  <a:pt x="2352726" y="274320"/>
                </a:lnTo>
                <a:lnTo>
                  <a:pt x="2394739" y="274320"/>
                </a:lnTo>
                <a:lnTo>
                  <a:pt x="2394739" y="0"/>
                </a:lnTo>
                <a:lnTo>
                  <a:pt x="2436752" y="0"/>
                </a:lnTo>
                <a:lnTo>
                  <a:pt x="2436752" y="274320"/>
                </a:lnTo>
                <a:lnTo>
                  <a:pt x="2478765" y="274320"/>
                </a:lnTo>
                <a:lnTo>
                  <a:pt x="2478765" y="0"/>
                </a:lnTo>
                <a:lnTo>
                  <a:pt x="2520778" y="0"/>
                </a:lnTo>
                <a:lnTo>
                  <a:pt x="2520778" y="274320"/>
                </a:lnTo>
                <a:lnTo>
                  <a:pt x="2562791" y="274320"/>
                </a:lnTo>
                <a:lnTo>
                  <a:pt x="2562791" y="0"/>
                </a:lnTo>
                <a:lnTo>
                  <a:pt x="2604804" y="0"/>
                </a:lnTo>
                <a:lnTo>
                  <a:pt x="2604804" y="274320"/>
                </a:lnTo>
                <a:lnTo>
                  <a:pt x="2646817" y="274320"/>
                </a:lnTo>
                <a:lnTo>
                  <a:pt x="2646817" y="0"/>
                </a:lnTo>
                <a:lnTo>
                  <a:pt x="2688830" y="0"/>
                </a:lnTo>
                <a:lnTo>
                  <a:pt x="2688830" y="274320"/>
                </a:lnTo>
                <a:lnTo>
                  <a:pt x="2730843" y="274320"/>
                </a:lnTo>
                <a:lnTo>
                  <a:pt x="2730843" y="0"/>
                </a:lnTo>
                <a:lnTo>
                  <a:pt x="2772856" y="0"/>
                </a:lnTo>
                <a:lnTo>
                  <a:pt x="2772856" y="274320"/>
                </a:lnTo>
                <a:lnTo>
                  <a:pt x="2814869" y="274320"/>
                </a:lnTo>
                <a:lnTo>
                  <a:pt x="2814869" y="0"/>
                </a:lnTo>
                <a:lnTo>
                  <a:pt x="2856882" y="0"/>
                </a:lnTo>
                <a:lnTo>
                  <a:pt x="2856882" y="274320"/>
                </a:lnTo>
                <a:lnTo>
                  <a:pt x="2898895" y="274320"/>
                </a:lnTo>
                <a:lnTo>
                  <a:pt x="2898895" y="0"/>
                </a:lnTo>
                <a:lnTo>
                  <a:pt x="2940908" y="0"/>
                </a:lnTo>
                <a:lnTo>
                  <a:pt x="2940908" y="274320"/>
                </a:lnTo>
                <a:lnTo>
                  <a:pt x="2982921" y="274320"/>
                </a:lnTo>
                <a:lnTo>
                  <a:pt x="2982921" y="0"/>
                </a:lnTo>
                <a:lnTo>
                  <a:pt x="3024934" y="0"/>
                </a:lnTo>
                <a:lnTo>
                  <a:pt x="3024934" y="274320"/>
                </a:lnTo>
                <a:lnTo>
                  <a:pt x="3066947" y="274320"/>
                </a:lnTo>
                <a:lnTo>
                  <a:pt x="3066947" y="0"/>
                </a:lnTo>
                <a:lnTo>
                  <a:pt x="3108960" y="0"/>
                </a:lnTo>
              </a:path>
            </a:pathLst>
          </a:custGeom>
          <a:noFill/>
          <a:ln w="9525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326880" y="1600200"/>
            <a:ext cx="2011680" cy="274320"/>
          </a:xfrm>
          <a:custGeom>
            <a:avLst/>
            <a:gdLst/>
            <a:ahLst/>
            <a:cxnLst/>
            <a:rect l="l" t="t" r="r" b="b"/>
            <a:pathLst>
              <a:path w="2011680" h="274320">
                <a:moveTo>
                  <a:pt x="0" y="274320"/>
                </a:moveTo>
                <a:lnTo>
                  <a:pt x="41910" y="274320"/>
                </a:lnTo>
                <a:lnTo>
                  <a:pt x="41910" y="0"/>
                </a:lnTo>
                <a:lnTo>
                  <a:pt x="83820" y="0"/>
                </a:lnTo>
                <a:lnTo>
                  <a:pt x="83820" y="274320"/>
                </a:lnTo>
                <a:lnTo>
                  <a:pt x="125730" y="274320"/>
                </a:lnTo>
                <a:lnTo>
                  <a:pt x="125730" y="0"/>
                </a:lnTo>
                <a:lnTo>
                  <a:pt x="167640" y="0"/>
                </a:lnTo>
                <a:lnTo>
                  <a:pt x="167640" y="274320"/>
                </a:lnTo>
                <a:lnTo>
                  <a:pt x="209550" y="274320"/>
                </a:lnTo>
                <a:lnTo>
                  <a:pt x="209550" y="0"/>
                </a:lnTo>
                <a:lnTo>
                  <a:pt x="251460" y="0"/>
                </a:lnTo>
                <a:lnTo>
                  <a:pt x="251460" y="274320"/>
                </a:lnTo>
                <a:lnTo>
                  <a:pt x="293370" y="274320"/>
                </a:lnTo>
                <a:lnTo>
                  <a:pt x="293370" y="0"/>
                </a:lnTo>
                <a:lnTo>
                  <a:pt x="335280" y="0"/>
                </a:lnTo>
                <a:lnTo>
                  <a:pt x="335280" y="274320"/>
                </a:lnTo>
                <a:lnTo>
                  <a:pt x="377190" y="274320"/>
                </a:lnTo>
                <a:lnTo>
                  <a:pt x="377190" y="0"/>
                </a:lnTo>
                <a:lnTo>
                  <a:pt x="419100" y="0"/>
                </a:lnTo>
                <a:lnTo>
                  <a:pt x="419100" y="274320"/>
                </a:lnTo>
                <a:lnTo>
                  <a:pt x="461010" y="274320"/>
                </a:lnTo>
                <a:lnTo>
                  <a:pt x="461010" y="0"/>
                </a:lnTo>
                <a:lnTo>
                  <a:pt x="502920" y="0"/>
                </a:lnTo>
                <a:lnTo>
                  <a:pt x="502920" y="274320"/>
                </a:lnTo>
                <a:lnTo>
                  <a:pt x="544830" y="274320"/>
                </a:lnTo>
                <a:lnTo>
                  <a:pt x="544830" y="0"/>
                </a:lnTo>
                <a:lnTo>
                  <a:pt x="586740" y="0"/>
                </a:lnTo>
                <a:lnTo>
                  <a:pt x="586740" y="274320"/>
                </a:lnTo>
                <a:lnTo>
                  <a:pt x="628650" y="274320"/>
                </a:lnTo>
                <a:lnTo>
                  <a:pt x="628650" y="0"/>
                </a:lnTo>
                <a:lnTo>
                  <a:pt x="670560" y="0"/>
                </a:lnTo>
                <a:lnTo>
                  <a:pt x="670560" y="274320"/>
                </a:lnTo>
                <a:lnTo>
                  <a:pt x="712470" y="274320"/>
                </a:lnTo>
                <a:lnTo>
                  <a:pt x="712470" y="0"/>
                </a:lnTo>
                <a:lnTo>
                  <a:pt x="754380" y="0"/>
                </a:lnTo>
                <a:lnTo>
                  <a:pt x="754380" y="274320"/>
                </a:lnTo>
                <a:lnTo>
                  <a:pt x="796290" y="274320"/>
                </a:lnTo>
                <a:lnTo>
                  <a:pt x="796290" y="0"/>
                </a:lnTo>
                <a:lnTo>
                  <a:pt x="838200" y="0"/>
                </a:lnTo>
                <a:lnTo>
                  <a:pt x="838200" y="274320"/>
                </a:lnTo>
                <a:lnTo>
                  <a:pt x="880110" y="274320"/>
                </a:lnTo>
                <a:lnTo>
                  <a:pt x="880110" y="0"/>
                </a:lnTo>
                <a:lnTo>
                  <a:pt x="922020" y="0"/>
                </a:lnTo>
                <a:lnTo>
                  <a:pt x="922020" y="274320"/>
                </a:lnTo>
                <a:lnTo>
                  <a:pt x="963930" y="274320"/>
                </a:lnTo>
                <a:lnTo>
                  <a:pt x="963930" y="0"/>
                </a:lnTo>
                <a:lnTo>
                  <a:pt x="1005840" y="0"/>
                </a:lnTo>
                <a:lnTo>
                  <a:pt x="1005840" y="274320"/>
                </a:lnTo>
                <a:lnTo>
                  <a:pt x="1047750" y="274320"/>
                </a:lnTo>
                <a:lnTo>
                  <a:pt x="1047750" y="0"/>
                </a:lnTo>
                <a:lnTo>
                  <a:pt x="1089660" y="0"/>
                </a:lnTo>
                <a:lnTo>
                  <a:pt x="1089660" y="274320"/>
                </a:lnTo>
                <a:lnTo>
                  <a:pt x="1131570" y="274320"/>
                </a:lnTo>
                <a:lnTo>
                  <a:pt x="1131570" y="0"/>
                </a:lnTo>
                <a:lnTo>
                  <a:pt x="1173480" y="0"/>
                </a:lnTo>
                <a:lnTo>
                  <a:pt x="1173480" y="274320"/>
                </a:lnTo>
                <a:lnTo>
                  <a:pt x="1215390" y="274320"/>
                </a:lnTo>
                <a:lnTo>
                  <a:pt x="1215390" y="0"/>
                </a:lnTo>
                <a:lnTo>
                  <a:pt x="1257300" y="0"/>
                </a:lnTo>
                <a:lnTo>
                  <a:pt x="1257300" y="274320"/>
                </a:lnTo>
                <a:lnTo>
                  <a:pt x="1299210" y="274320"/>
                </a:lnTo>
                <a:lnTo>
                  <a:pt x="1299210" y="0"/>
                </a:lnTo>
                <a:lnTo>
                  <a:pt x="1341120" y="0"/>
                </a:lnTo>
                <a:lnTo>
                  <a:pt x="1341120" y="274320"/>
                </a:lnTo>
                <a:lnTo>
                  <a:pt x="1383030" y="274320"/>
                </a:lnTo>
                <a:lnTo>
                  <a:pt x="1383030" y="0"/>
                </a:lnTo>
                <a:lnTo>
                  <a:pt x="1424940" y="0"/>
                </a:lnTo>
                <a:lnTo>
                  <a:pt x="1424940" y="274320"/>
                </a:lnTo>
                <a:lnTo>
                  <a:pt x="1466850" y="274320"/>
                </a:lnTo>
                <a:lnTo>
                  <a:pt x="1466850" y="0"/>
                </a:lnTo>
                <a:lnTo>
                  <a:pt x="1508760" y="0"/>
                </a:lnTo>
                <a:lnTo>
                  <a:pt x="1508760" y="274320"/>
                </a:lnTo>
                <a:lnTo>
                  <a:pt x="1550670" y="274320"/>
                </a:lnTo>
                <a:lnTo>
                  <a:pt x="1550670" y="0"/>
                </a:lnTo>
                <a:lnTo>
                  <a:pt x="1592580" y="0"/>
                </a:lnTo>
                <a:lnTo>
                  <a:pt x="1592580" y="274320"/>
                </a:lnTo>
                <a:lnTo>
                  <a:pt x="1634490" y="274320"/>
                </a:lnTo>
                <a:lnTo>
                  <a:pt x="1634490" y="0"/>
                </a:lnTo>
                <a:lnTo>
                  <a:pt x="1676400" y="0"/>
                </a:lnTo>
                <a:lnTo>
                  <a:pt x="1676400" y="274320"/>
                </a:lnTo>
                <a:lnTo>
                  <a:pt x="1718310" y="274320"/>
                </a:lnTo>
                <a:lnTo>
                  <a:pt x="1718310" y="0"/>
                </a:lnTo>
                <a:lnTo>
                  <a:pt x="1760220" y="0"/>
                </a:lnTo>
                <a:lnTo>
                  <a:pt x="1760220" y="274320"/>
                </a:lnTo>
                <a:lnTo>
                  <a:pt x="1802130" y="274320"/>
                </a:lnTo>
                <a:lnTo>
                  <a:pt x="1802130" y="0"/>
                </a:lnTo>
                <a:lnTo>
                  <a:pt x="1844040" y="0"/>
                </a:lnTo>
                <a:lnTo>
                  <a:pt x="1844040" y="274320"/>
                </a:lnTo>
                <a:lnTo>
                  <a:pt x="1885950" y="274320"/>
                </a:lnTo>
                <a:lnTo>
                  <a:pt x="1885950" y="0"/>
                </a:lnTo>
                <a:lnTo>
                  <a:pt x="1927860" y="0"/>
                </a:lnTo>
                <a:lnTo>
                  <a:pt x="1927860" y="274320"/>
                </a:lnTo>
                <a:lnTo>
                  <a:pt x="1969770" y="274320"/>
                </a:lnTo>
                <a:lnTo>
                  <a:pt x="1969770" y="0"/>
                </a:lnTo>
                <a:lnTo>
                  <a:pt x="2011680" y="0"/>
                </a:lnTo>
              </a:path>
            </a:pathLst>
          </a:custGeom>
          <a:noFill/>
          <a:ln w="9525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40680" y="164592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400" y="164592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</p:txBody>
      </p:sp>
      <p:sp>
        <p:nvSpPr>
          <p:cNvPr id="12" name="Freeform 11"/>
          <p:cNvSpPr/>
          <p:nvPr/>
        </p:nvSpPr>
        <p:spPr>
          <a:xfrm>
            <a:off x="1737360" y="2240280"/>
            <a:ext cx="9601200" cy="274320"/>
          </a:xfrm>
          <a:custGeom>
            <a:avLst/>
            <a:gdLst/>
            <a:ahLst/>
            <a:cxnLst/>
            <a:rect l="l" t="t" r="r" b="b"/>
            <a:pathLst>
              <a:path w="9601200" h="274320">
                <a:moveTo>
                  <a:pt x="0" y="274320"/>
                </a:moveTo>
                <a:lnTo>
                  <a:pt x="1554480" y="274320"/>
                </a:lnTo>
                <a:lnTo>
                  <a:pt x="1554480" y="0"/>
                </a:lnTo>
                <a:lnTo>
                  <a:pt x="1636776" y="0"/>
                </a:lnTo>
                <a:lnTo>
                  <a:pt x="1636776" y="274320"/>
                </a:lnTo>
                <a:lnTo>
                  <a:pt x="3383280" y="274320"/>
                </a:lnTo>
                <a:lnTo>
                  <a:pt x="3383280" y="0"/>
                </a:lnTo>
                <a:lnTo>
                  <a:pt x="3465576" y="0"/>
                </a:lnTo>
                <a:lnTo>
                  <a:pt x="3465576" y="274320"/>
                </a:lnTo>
                <a:lnTo>
                  <a:pt x="5486400" y="274320"/>
                </a:lnTo>
                <a:lnTo>
                  <a:pt x="5486400" y="0"/>
                </a:lnTo>
                <a:lnTo>
                  <a:pt x="5568696" y="0"/>
                </a:lnTo>
                <a:lnTo>
                  <a:pt x="5568696" y="274320"/>
                </a:lnTo>
                <a:lnTo>
                  <a:pt x="6858000" y="274320"/>
                </a:lnTo>
                <a:lnTo>
                  <a:pt x="6858000" y="0"/>
                </a:lnTo>
                <a:lnTo>
                  <a:pt x="6940296" y="0"/>
                </a:lnTo>
                <a:lnTo>
                  <a:pt x="6940296" y="274320"/>
                </a:lnTo>
                <a:lnTo>
                  <a:pt x="9601200" y="274320"/>
                </a:lnTo>
              </a:path>
            </a:pathLst>
          </a:custGeom>
          <a:noFill/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755648" y="2788920"/>
            <a:ext cx="1517904" cy="0"/>
          </a:xfrm>
          <a:prstGeom prst="line">
            <a:avLst/>
          </a:prstGeom>
          <a:ln w="12700">
            <a:solidFill>
              <a:srgbClr val="6B728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737360" y="2816352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0.1 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310128" y="2788920"/>
            <a:ext cx="1792224" cy="0"/>
          </a:xfrm>
          <a:prstGeom prst="line">
            <a:avLst/>
          </a:prstGeom>
          <a:ln w="12700">
            <a:solidFill>
              <a:srgbClr val="6B728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91840" y="28163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0.1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269748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1 s = Tick 10개</a:t>
            </a:r>
          </a:p>
          <a:p>
            <a:pPr algn="l"/>
            <a:r>
              <a:rPr sz="1000" b="0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Tick 폭 = 1클럭(10 ns)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83280"/>
            <a:ext cx="5501488" cy="210312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74720"/>
            <a:ext cx="5135728" cy="2011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✗  분주 클럭으로 카운터를 돌리면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분주 출력은 일반 배선 → Skew가 큼 (Q1)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클럭 도메인이 늘어남 → 도메인 사이 신호 전달 시 메타스테이블 위험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도구가 새 클럭을 모르면 그 경로는 타이밍 검사 누락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조합 논리로 만든 클럭은 Glitch → 의도치 않은 엣지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전용 클럭 버퍼 수가 제한됨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8" y="3383280"/>
            <a:ext cx="5501488" cy="210312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5888" y="3474720"/>
            <a:ext cx="5135728" cy="2011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✓  Tick을 쓰면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모든 FF가 100 MHz 클럭 1개 → 전 경로가 타이밍 검사 대상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 = 1클럭 폭 '일 허가' 신호 → FF의 CE 핀으로 연결됨 (p.11)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100 MHz 자원은 그대로 쓰고, 일의 단위(0.1초)만 정의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주기는 숫자 하나(끝값)로 변경, 여러 주기 Tick도 같은 클럭에서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623560"/>
            <a:ext cx="11277295" cy="594360"/>
          </a:xfrm>
          <a:prstGeom prst="roundRect">
            <a:avLst>
              <a:gd name="adj" fmla="val 6000"/>
            </a:avLst>
          </a:prstGeom>
          <a:solidFill>
            <a:srgbClr val="E3F0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5696712"/>
            <a:ext cx="10984687" cy="4480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이 프로젝트 </a:t>
            </a: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— 카운터는 Tick ✓  /  FND 스캔은 아직 1 kHz 분주 클럭 ✗ → Tick으로 통일 제안 (p.26)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01 · 개념 이해 — Q4 Combinational vs Sequential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Combinational Output Follows the Input Immediately; Sequential Output Waits for the Clock Edge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11277295" cy="26060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클럭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031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5176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조합 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0040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순차 출력</a:t>
            </a:r>
          </a:p>
        </p:txBody>
      </p:sp>
      <p:sp>
        <p:nvSpPr>
          <p:cNvPr id="9" name="Freeform 8"/>
          <p:cNvSpPr/>
          <p:nvPr/>
        </p:nvSpPr>
        <p:spPr>
          <a:xfrm>
            <a:off x="2103120" y="1581912"/>
            <a:ext cx="9326880" cy="274320"/>
          </a:xfrm>
          <a:custGeom>
            <a:avLst/>
            <a:gdLst/>
            <a:ahLst/>
            <a:cxnLst/>
            <a:rect l="l" t="t" r="r" b="b"/>
            <a:pathLst>
              <a:path w="9326880" h="274320">
                <a:moveTo>
                  <a:pt x="0" y="274320"/>
                </a:moveTo>
                <a:lnTo>
                  <a:pt x="777240" y="274320"/>
                </a:lnTo>
                <a:lnTo>
                  <a:pt x="777240" y="0"/>
                </a:lnTo>
                <a:lnTo>
                  <a:pt x="1554480" y="0"/>
                </a:lnTo>
                <a:lnTo>
                  <a:pt x="1554480" y="274320"/>
                </a:lnTo>
                <a:lnTo>
                  <a:pt x="2331720" y="274320"/>
                </a:lnTo>
                <a:lnTo>
                  <a:pt x="2331720" y="0"/>
                </a:lnTo>
                <a:lnTo>
                  <a:pt x="3108960" y="0"/>
                </a:lnTo>
                <a:lnTo>
                  <a:pt x="3108960" y="274320"/>
                </a:lnTo>
                <a:lnTo>
                  <a:pt x="3886200" y="274320"/>
                </a:lnTo>
                <a:lnTo>
                  <a:pt x="3886200" y="0"/>
                </a:lnTo>
                <a:lnTo>
                  <a:pt x="4663440" y="0"/>
                </a:lnTo>
                <a:lnTo>
                  <a:pt x="4663440" y="274320"/>
                </a:lnTo>
                <a:lnTo>
                  <a:pt x="5440680" y="274320"/>
                </a:lnTo>
                <a:lnTo>
                  <a:pt x="5440680" y="0"/>
                </a:lnTo>
                <a:lnTo>
                  <a:pt x="6217920" y="0"/>
                </a:lnTo>
                <a:lnTo>
                  <a:pt x="6217920" y="274320"/>
                </a:lnTo>
                <a:lnTo>
                  <a:pt x="6995160" y="274320"/>
                </a:lnTo>
                <a:lnTo>
                  <a:pt x="6995160" y="0"/>
                </a:lnTo>
                <a:lnTo>
                  <a:pt x="7772400" y="0"/>
                </a:lnTo>
                <a:lnTo>
                  <a:pt x="7772400" y="274320"/>
                </a:lnTo>
                <a:lnTo>
                  <a:pt x="8549640" y="274320"/>
                </a:lnTo>
                <a:lnTo>
                  <a:pt x="8549640" y="0"/>
                </a:lnTo>
                <a:lnTo>
                  <a:pt x="9326880" y="0"/>
                </a:lnTo>
              </a:path>
            </a:pathLst>
          </a:custGeom>
          <a:noFill/>
          <a:ln w="15875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2103120" y="2130552"/>
            <a:ext cx="9326880" cy="274320"/>
          </a:xfrm>
          <a:custGeom>
            <a:avLst/>
            <a:gdLst/>
            <a:ahLst/>
            <a:cxnLst/>
            <a:rect l="l" t="t" r="r" b="b"/>
            <a:pathLst>
              <a:path w="9326880" h="274320">
                <a:moveTo>
                  <a:pt x="0" y="274320"/>
                </a:moveTo>
                <a:lnTo>
                  <a:pt x="1958645" y="274320"/>
                </a:lnTo>
                <a:lnTo>
                  <a:pt x="1958645" y="0"/>
                </a:lnTo>
                <a:lnTo>
                  <a:pt x="3357677" y="0"/>
                </a:lnTo>
                <a:lnTo>
                  <a:pt x="3357677" y="274320"/>
                </a:lnTo>
                <a:lnTo>
                  <a:pt x="4943246" y="274320"/>
                </a:lnTo>
                <a:lnTo>
                  <a:pt x="4943246" y="0"/>
                </a:lnTo>
                <a:lnTo>
                  <a:pt x="5083150" y="0"/>
                </a:lnTo>
                <a:lnTo>
                  <a:pt x="5083150" y="274320"/>
                </a:lnTo>
                <a:lnTo>
                  <a:pt x="6528816" y="274320"/>
                </a:lnTo>
                <a:lnTo>
                  <a:pt x="6528816" y="0"/>
                </a:lnTo>
                <a:lnTo>
                  <a:pt x="9326880" y="0"/>
                </a:lnTo>
              </a:path>
            </a:pathLst>
          </a:custGeom>
          <a:noFill/>
          <a:ln w="1905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2103120" y="2679192"/>
            <a:ext cx="9326880" cy="274320"/>
          </a:xfrm>
          <a:custGeom>
            <a:avLst/>
            <a:gdLst/>
            <a:ahLst/>
            <a:cxnLst/>
            <a:rect l="l" t="t" r="r" b="b"/>
            <a:pathLst>
              <a:path w="9326880" h="274320">
                <a:moveTo>
                  <a:pt x="0" y="274320"/>
                </a:moveTo>
                <a:lnTo>
                  <a:pt x="2070567" y="274320"/>
                </a:lnTo>
                <a:lnTo>
                  <a:pt x="2070567" y="0"/>
                </a:lnTo>
                <a:lnTo>
                  <a:pt x="3469599" y="0"/>
                </a:lnTo>
                <a:lnTo>
                  <a:pt x="3469599" y="274320"/>
                </a:lnTo>
                <a:lnTo>
                  <a:pt x="5055169" y="274320"/>
                </a:lnTo>
                <a:lnTo>
                  <a:pt x="5055169" y="0"/>
                </a:lnTo>
                <a:lnTo>
                  <a:pt x="5195072" y="0"/>
                </a:lnTo>
                <a:lnTo>
                  <a:pt x="5195072" y="274320"/>
                </a:lnTo>
                <a:lnTo>
                  <a:pt x="6640739" y="274320"/>
                </a:lnTo>
                <a:lnTo>
                  <a:pt x="6640739" y="0"/>
                </a:lnTo>
                <a:lnTo>
                  <a:pt x="9326880" y="0"/>
                </a:lnTo>
              </a:path>
            </a:pathLst>
          </a:custGeom>
          <a:noFill/>
          <a:ln w="22225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2103120" y="3227832"/>
            <a:ext cx="9326880" cy="274320"/>
          </a:xfrm>
          <a:custGeom>
            <a:avLst/>
            <a:gdLst/>
            <a:ahLst/>
            <a:cxnLst/>
            <a:rect l="l" t="t" r="r" b="b"/>
            <a:pathLst>
              <a:path w="9326880" h="274320">
                <a:moveTo>
                  <a:pt x="0" y="274320"/>
                </a:moveTo>
                <a:lnTo>
                  <a:pt x="2387681" y="274320"/>
                </a:lnTo>
                <a:lnTo>
                  <a:pt x="2387681" y="0"/>
                </a:lnTo>
                <a:lnTo>
                  <a:pt x="3942161" y="0"/>
                </a:lnTo>
                <a:lnTo>
                  <a:pt x="3942161" y="274320"/>
                </a:lnTo>
                <a:lnTo>
                  <a:pt x="7051121" y="274320"/>
                </a:lnTo>
                <a:lnTo>
                  <a:pt x="7051121" y="0"/>
                </a:lnTo>
                <a:lnTo>
                  <a:pt x="9326880" y="0"/>
                </a:lnTo>
              </a:path>
            </a:pathLst>
          </a:custGeom>
          <a:noFill/>
          <a:ln w="2222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2880360" y="1508760"/>
            <a:ext cx="0" cy="2057400"/>
          </a:xfrm>
          <a:prstGeom prst="line">
            <a:avLst/>
          </a:prstGeom>
          <a:ln w="9525">
            <a:solidFill>
              <a:srgbClr val="9CA3A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434840" y="1508760"/>
            <a:ext cx="0" cy="2057400"/>
          </a:xfrm>
          <a:prstGeom prst="line">
            <a:avLst/>
          </a:prstGeom>
          <a:ln w="9525">
            <a:solidFill>
              <a:srgbClr val="9CA3A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989320" y="1508760"/>
            <a:ext cx="0" cy="2057400"/>
          </a:xfrm>
          <a:prstGeom prst="line">
            <a:avLst/>
          </a:prstGeom>
          <a:ln w="9525">
            <a:solidFill>
              <a:srgbClr val="9CA3A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543800" y="1508760"/>
            <a:ext cx="0" cy="2057400"/>
          </a:xfrm>
          <a:prstGeom prst="line">
            <a:avLst/>
          </a:prstGeom>
          <a:ln w="9525">
            <a:solidFill>
              <a:srgbClr val="9CA3A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098280" y="1508760"/>
            <a:ext cx="0" cy="2057400"/>
          </a:xfrm>
          <a:prstGeom prst="line">
            <a:avLst/>
          </a:prstGeom>
          <a:ln w="9525">
            <a:solidFill>
              <a:srgbClr val="9CA3A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652760" y="1508760"/>
            <a:ext cx="0" cy="2057400"/>
          </a:xfrm>
          <a:prstGeom prst="line">
            <a:avLst/>
          </a:prstGeom>
          <a:ln w="9525">
            <a:solidFill>
              <a:srgbClr val="9CA3A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17613" y="2633472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← Glitch도 통과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17613" y="318211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← 엣지 사이 변화 무시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3611880"/>
            <a:ext cx="932688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회색 점선 = 클럭 상승 엣지 — 순차 출력은 이 순간에만 바뀌고, 조합 출력은 입력 직후(전파 지연) 바로 바뀜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14800"/>
            <a:ext cx="5501488" cy="2103120"/>
          </a:xfrm>
          <a:prstGeom prst="roundRect">
            <a:avLst>
              <a:gd name="adj" fmla="val 6000"/>
            </a:avLst>
          </a:prstGeom>
          <a:solidFill>
            <a:srgbClr val="E3F0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224528"/>
            <a:ext cx="5135728" cy="1920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900"/>
              </a:spcAft>
            </a:pPr>
            <a:r>
              <a:rPr sz="15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조합 회로 — 지금 입력만 본다</a:t>
            </a:r>
          </a:p>
          <a:p>
            <a:pPr algn="l" marL="164592" indent="-164592">
              <a:spcAft>
                <a:spcPts val="900"/>
              </a:spcAft>
              <a:buChar char="•"/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출력 = f(현재 입력) · 기억 없음 · 클럭 없음</a:t>
            </a:r>
          </a:p>
          <a:p>
            <a:pPr algn="l" marL="164592" indent="-164592">
              <a:spcAft>
                <a:spcPts val="900"/>
              </a:spcAft>
              <a:buChar char="•"/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입력이 바뀌면 전파 지연 후 즉시 출력 변화, 중간 Glitch 가능</a:t>
            </a:r>
          </a:p>
          <a:p>
            <a:pPr algn="l" marL="164592" indent="-164592">
              <a:spcAft>
                <a:spcPts val="900"/>
              </a:spcAft>
              <a:buChar char="•"/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이 설계: 자리 분리기, 7-세그먼트 디코더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8" y="4114800"/>
            <a:ext cx="5501488" cy="210312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5888" y="4224528"/>
            <a:ext cx="5135728" cy="1920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900"/>
              </a:spcAft>
            </a:pPr>
            <a:r>
              <a:rPr sz="15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순차 회로 — 입력 + 기억(상태)을 본다</a:t>
            </a:r>
          </a:p>
          <a:p>
            <a:pPr algn="l" marL="164592" indent="-164592">
              <a:spcAft>
                <a:spcPts val="900"/>
              </a:spcAft>
              <a:buChar char="•"/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출력 = f(입력, 저장된 상태) · FF가 값을 기억</a:t>
            </a:r>
          </a:p>
          <a:p>
            <a:pPr algn="l" marL="164592" indent="-164592">
              <a:spcAft>
                <a:spcPts val="900"/>
              </a:spcAft>
              <a:buChar char="•"/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클럭 엣지에서만 갱신, 그 사이는 값 유지 → 출력이 깨끗함</a:t>
            </a:r>
          </a:p>
          <a:p>
            <a:pPr algn="l" marL="164592" indent="-164592">
              <a:spcAft>
                <a:spcPts val="900"/>
              </a:spcAft>
              <a:buChar char="•"/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이 설계: Tick 생성기, 카운터, 분주기, FND 스캔 상태기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02 · v1 설계 — 블록 다이어그램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Top-Level Block Diagram — Sequential Blocks in Red, Combinational Blocks in Blue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1234440"/>
            <a:ext cx="9144000" cy="4754880"/>
          </a:xfrm>
          <a:prstGeom prst="roundRect">
            <a:avLst>
              <a:gd name="adj" fmla="val 2000"/>
            </a:avLst>
          </a:prstGeom>
          <a:noFill/>
          <a:ln w="15875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98448" y="12618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counter_10000 (Top)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00200" y="1600200"/>
            <a:ext cx="2743200" cy="2331720"/>
          </a:xfrm>
          <a:prstGeom prst="roundRect">
            <a:avLst>
              <a:gd name="adj" fmla="val 3000"/>
            </a:avLst>
          </a:prstGeom>
          <a:solidFill>
            <a:srgbClr val="EEF2F6"/>
          </a:solidFill>
          <a:ln w="1270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1640" y="162763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Counter_datapath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600200"/>
            <a:ext cx="5669280" cy="4206240"/>
          </a:xfrm>
          <a:prstGeom prst="roundRect">
            <a:avLst>
              <a:gd name="adj" fmla="val 2000"/>
            </a:avLst>
          </a:prstGeom>
          <a:solidFill>
            <a:srgbClr val="F1F8EE"/>
          </a:solidFill>
          <a:ln w="1270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62763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FND_CONTROLLER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83080" y="2103120"/>
            <a:ext cx="1005840" cy="132588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83080" y="2157984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tick_gen</a:t>
            </a:r>
          </a:p>
          <a:p>
            <a:pPr algn="ctr"/>
            <a:r>
              <a:rPr sz="8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GEN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7360" y="256032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56232" y="2505456"/>
            <a:ext cx="623621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i_clk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306324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56232" y="3008376"/>
            <a:ext cx="623621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i_reset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278892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" y="2734056"/>
            <a:ext cx="70408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o_tic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63240" y="2103120"/>
            <a:ext cx="1097280" cy="132588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63240" y="215798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tick_counter</a:t>
            </a:r>
          </a:p>
          <a:p>
            <a:pPr algn="ctr"/>
            <a:r>
              <a:rPr sz="8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TICK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246888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36392" y="2414016"/>
            <a:ext cx="68031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i_clk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17520" y="278892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36392" y="2734056"/>
            <a:ext cx="68031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i_tick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310896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36392" y="3054096"/>
            <a:ext cx="68031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i_reset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278892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19272" y="2734056"/>
            <a:ext cx="768096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[13:0]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09160" y="1828800"/>
            <a:ext cx="1645920" cy="1600200"/>
          </a:xfrm>
          <a:prstGeom prst="roundRect">
            <a:avLst>
              <a:gd name="adj" fmla="val 6000"/>
            </a:avLst>
          </a:prstGeom>
          <a:solidFill>
            <a:srgbClr val="E3F0FD"/>
          </a:solidFill>
          <a:ln w="1905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09160" y="1883664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digit_splitter</a:t>
            </a:r>
          </a:p>
          <a:p>
            <a:pPr algn="ctr"/>
            <a:r>
              <a:rPr sz="8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U_SPLIT #(14)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63440" y="2331720"/>
            <a:ext cx="91440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82312" y="2276856"/>
            <a:ext cx="102047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i_data[13:0]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331720"/>
            <a:ext cx="91440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9784" y="2276856"/>
            <a:ext cx="115214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digit_1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2606040"/>
            <a:ext cx="91440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9784" y="2551176"/>
            <a:ext cx="115214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digit_10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2880360"/>
            <a:ext cx="91440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9784" y="2825496"/>
            <a:ext cx="115214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digit_100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3154680"/>
            <a:ext cx="91440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29784" y="3099816"/>
            <a:ext cx="115214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digit_1000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49440" y="1828800"/>
            <a:ext cx="1737360" cy="210312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49440" y="1883664"/>
            <a:ext cx="17373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Fnd_Controller</a:t>
            </a:r>
          </a:p>
          <a:p>
            <a:pPr algn="ctr"/>
            <a:r>
              <a:rPr sz="8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U_FND_CON · FSM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903720" y="233172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22592" y="2276856"/>
            <a:ext cx="1077163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digit_1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03720" y="260604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22592" y="2551176"/>
            <a:ext cx="1077163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digit_10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903720" y="288036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22592" y="2825496"/>
            <a:ext cx="1077163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digit_100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03720" y="315468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22592" y="3099816"/>
            <a:ext cx="1077163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digit_1000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03720" y="347472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22592" y="3419856"/>
            <a:ext cx="1077163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i_clk(1kHz)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903720" y="370332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022592" y="3648456"/>
            <a:ext cx="1077163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i_reset_n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41080" y="233172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97496" y="2276856"/>
            <a:ext cx="1216152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o_fnd_com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641080" y="324612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97496" y="3191256"/>
            <a:ext cx="1216152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o_hex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709160" y="4160520"/>
            <a:ext cx="1463040" cy="105156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09160" y="4215384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clock_div</a:t>
            </a:r>
          </a:p>
          <a:p>
            <a:pPr algn="ctr"/>
            <a:r>
              <a:rPr sz="8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U_CLK_DIV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663440" y="461772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82312" y="4562856"/>
            <a:ext cx="907085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i_clk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663440" y="489204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82312" y="4837176"/>
            <a:ext cx="907085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i_reset_n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26480" y="461772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74920" y="4562856"/>
            <a:ext cx="102412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o_clk_1kHz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680960" y="4526280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E3F0FD"/>
          </a:solidFill>
          <a:ln w="1905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680960" y="4581144"/>
            <a:ext cx="160020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fnd_decoder</a:t>
            </a:r>
          </a:p>
          <a:p>
            <a:pPr algn="ctr"/>
            <a:r>
              <a:rPr sz="8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U_FND_DEC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635240" y="5029200"/>
            <a:ext cx="91440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54112" y="4974336"/>
            <a:ext cx="99212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i_hex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235440" y="5029200"/>
            <a:ext cx="91440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87868" y="4974336"/>
            <a:ext cx="112014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o_fnd_data</a:t>
            </a:r>
          </a:p>
        </p:txBody>
      </p:sp>
      <p:sp>
        <p:nvSpPr>
          <p:cNvPr id="72" name="Pentagon 71"/>
          <p:cNvSpPr/>
          <p:nvPr/>
        </p:nvSpPr>
        <p:spPr>
          <a:xfrm>
            <a:off x="274320" y="5111496"/>
            <a:ext cx="822960" cy="292608"/>
          </a:xfrm>
          <a:prstGeom prst="homePlate">
            <a:avLst/>
          </a:prstGeom>
          <a:solidFill>
            <a:srgbClr val="E3F0FD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l"/>
            <a:r>
              <a:rPr sz="9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i_clk</a:t>
            </a:r>
          </a:p>
        </p:txBody>
      </p:sp>
      <p:sp>
        <p:nvSpPr>
          <p:cNvPr id="73" name="Pentagon 72"/>
          <p:cNvSpPr/>
          <p:nvPr/>
        </p:nvSpPr>
        <p:spPr>
          <a:xfrm>
            <a:off x="274320" y="5522976"/>
            <a:ext cx="822960" cy="292608"/>
          </a:xfrm>
          <a:prstGeom prst="homePlate">
            <a:avLst/>
          </a:prstGeom>
          <a:solidFill>
            <a:srgbClr val="E3F0FD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l"/>
            <a:r>
              <a:rPr sz="9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i_reset</a:t>
            </a:r>
          </a:p>
        </p:txBody>
      </p:sp>
      <p:sp>
        <p:nvSpPr>
          <p:cNvPr id="74" name="Pentagon 73"/>
          <p:cNvSpPr/>
          <p:nvPr/>
        </p:nvSpPr>
        <p:spPr>
          <a:xfrm>
            <a:off x="10469880" y="2231136"/>
            <a:ext cx="1261872" cy="292608"/>
          </a:xfrm>
          <a:prstGeom prst="homePlate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l"/>
            <a:r>
              <a:rPr sz="9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o_fnd_com[3:0]</a:t>
            </a:r>
          </a:p>
        </p:txBody>
      </p:sp>
      <p:sp>
        <p:nvSpPr>
          <p:cNvPr id="75" name="Pentagon 74"/>
          <p:cNvSpPr/>
          <p:nvPr/>
        </p:nvSpPr>
        <p:spPr>
          <a:xfrm>
            <a:off x="10469880" y="4928616"/>
            <a:ext cx="1261872" cy="292608"/>
          </a:xfrm>
          <a:prstGeom prst="homePlate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l"/>
            <a:r>
              <a:rPr sz="9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o_fnd_data[7:0]</a:t>
            </a:r>
          </a:p>
        </p:txBody>
      </p:sp>
      <p:sp>
        <p:nvSpPr>
          <p:cNvPr id="76" name="Freeform 75"/>
          <p:cNvSpPr/>
          <p:nvPr/>
        </p:nvSpPr>
        <p:spPr>
          <a:xfrm>
            <a:off x="1097280" y="2606040"/>
            <a:ext cx="640080" cy="2651760"/>
          </a:xfrm>
          <a:custGeom>
            <a:avLst/>
            <a:gdLst/>
            <a:ahLst/>
            <a:cxnLst/>
            <a:rect l="l" t="t" r="r" b="b"/>
            <a:pathLst>
              <a:path w="640080" h="2651760">
                <a:moveTo>
                  <a:pt x="0" y="2651760"/>
                </a:moveTo>
                <a:lnTo>
                  <a:pt x="228600" y="2651760"/>
                </a:lnTo>
                <a:lnTo>
                  <a:pt x="228600" y="0"/>
                </a:lnTo>
                <a:lnTo>
                  <a:pt x="640080" y="0"/>
                </a:lnTo>
              </a:path>
            </a:pathLst>
          </a:custGeom>
          <a:noFill/>
          <a:ln w="22225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1325880" y="1965960"/>
            <a:ext cx="1691640" cy="548640"/>
          </a:xfrm>
          <a:custGeom>
            <a:avLst/>
            <a:gdLst/>
            <a:ahLst/>
            <a:cxnLst/>
            <a:rect l="l" t="t" r="r" b="b"/>
            <a:pathLst>
              <a:path w="1691640" h="548640">
                <a:moveTo>
                  <a:pt x="0" y="0"/>
                </a:moveTo>
                <a:lnTo>
                  <a:pt x="1600200" y="0"/>
                </a:lnTo>
                <a:lnTo>
                  <a:pt x="1600200" y="548640"/>
                </a:lnTo>
                <a:lnTo>
                  <a:pt x="1691640" y="548640"/>
                </a:lnTo>
              </a:path>
            </a:pathLst>
          </a:custGeom>
          <a:noFill/>
          <a:ln w="22225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325880" y="1965960"/>
            <a:ext cx="0" cy="640080"/>
          </a:xfrm>
          <a:prstGeom prst="line">
            <a:avLst/>
          </a:prstGeom>
          <a:ln w="22225">
            <a:solidFill>
              <a:srgbClr val="1E3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25880" y="4663440"/>
            <a:ext cx="3337560" cy="0"/>
          </a:xfrm>
          <a:custGeom>
            <a:avLst/>
            <a:gdLst/>
            <a:ahLst/>
            <a:cxnLst/>
            <a:rect l="l" t="t" r="r" b="b"/>
            <a:pathLst>
              <a:path w="3337560" h="0">
                <a:moveTo>
                  <a:pt x="0" y="0"/>
                </a:moveTo>
                <a:lnTo>
                  <a:pt x="3337560" y="0"/>
                </a:lnTo>
              </a:path>
            </a:pathLst>
          </a:custGeom>
          <a:noFill/>
          <a:ln w="22225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1097280" y="3108960"/>
            <a:ext cx="640080" cy="2560320"/>
          </a:xfrm>
          <a:custGeom>
            <a:avLst/>
            <a:gdLst/>
            <a:ahLst/>
            <a:cxnLst/>
            <a:rect l="l" t="t" r="r" b="b"/>
            <a:pathLst>
              <a:path w="640080" h="2560320">
                <a:moveTo>
                  <a:pt x="0" y="2560320"/>
                </a:moveTo>
                <a:lnTo>
                  <a:pt x="365760" y="2560320"/>
                </a:lnTo>
                <a:lnTo>
                  <a:pt x="365760" y="0"/>
                </a:lnTo>
                <a:lnTo>
                  <a:pt x="640080" y="0"/>
                </a:lnTo>
              </a:path>
            </a:pathLst>
          </a:custGeom>
          <a:noFill/>
          <a:ln w="19050">
            <a:solidFill>
              <a:srgbClr val="4B5563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1463040" y="3154680"/>
            <a:ext cx="1554480" cy="457200"/>
          </a:xfrm>
          <a:custGeom>
            <a:avLst/>
            <a:gdLst/>
            <a:ahLst/>
            <a:cxnLst/>
            <a:rect l="l" t="t" r="r" b="b"/>
            <a:pathLst>
              <a:path w="1554480" h="457200">
                <a:moveTo>
                  <a:pt x="0" y="457200"/>
                </a:moveTo>
                <a:lnTo>
                  <a:pt x="1463040" y="457200"/>
                </a:lnTo>
                <a:lnTo>
                  <a:pt x="1463040" y="0"/>
                </a:lnTo>
                <a:lnTo>
                  <a:pt x="1554480" y="0"/>
                </a:lnTo>
              </a:path>
            </a:pathLst>
          </a:custGeom>
          <a:noFill/>
          <a:ln w="19050">
            <a:solidFill>
              <a:srgbClr val="4B5563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463040" y="4937760"/>
            <a:ext cx="3200400" cy="0"/>
          </a:xfrm>
          <a:custGeom>
            <a:avLst/>
            <a:gdLst/>
            <a:ahLst/>
            <a:cxnLst/>
            <a:rect l="l" t="t" r="r" b="b"/>
            <a:pathLst>
              <a:path w="3200400" h="0">
                <a:moveTo>
                  <a:pt x="0" y="0"/>
                </a:moveTo>
                <a:lnTo>
                  <a:pt x="3200400" y="0"/>
                </a:lnTo>
              </a:path>
            </a:pathLst>
          </a:custGeom>
          <a:noFill/>
          <a:ln w="19050">
            <a:solidFill>
              <a:srgbClr val="4B5563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4434840" y="3749040"/>
            <a:ext cx="2468880" cy="1188720"/>
          </a:xfrm>
          <a:custGeom>
            <a:avLst/>
            <a:gdLst/>
            <a:ahLst/>
            <a:cxnLst/>
            <a:rect l="l" t="t" r="r" b="b"/>
            <a:pathLst>
              <a:path w="2468880" h="1188720">
                <a:moveTo>
                  <a:pt x="0" y="1188720"/>
                </a:moveTo>
                <a:lnTo>
                  <a:pt x="0" y="274320"/>
                </a:lnTo>
                <a:lnTo>
                  <a:pt x="2331720" y="274320"/>
                </a:lnTo>
                <a:lnTo>
                  <a:pt x="2331720" y="0"/>
                </a:lnTo>
                <a:lnTo>
                  <a:pt x="2468880" y="0"/>
                </a:lnTo>
              </a:path>
            </a:pathLst>
          </a:custGeom>
          <a:noFill/>
          <a:ln w="19050">
            <a:solidFill>
              <a:srgbClr val="4B5563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566160" y="4956048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반전(~)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60720" y="4041648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반전(~)</a:t>
            </a:r>
          </a:p>
        </p:txBody>
      </p:sp>
      <p:sp>
        <p:nvSpPr>
          <p:cNvPr id="86" name="Freeform 85"/>
          <p:cNvSpPr/>
          <p:nvPr/>
        </p:nvSpPr>
        <p:spPr>
          <a:xfrm>
            <a:off x="2788920" y="2834640"/>
            <a:ext cx="228600" cy="0"/>
          </a:xfrm>
          <a:custGeom>
            <a:avLst/>
            <a:gdLst/>
            <a:ahLst/>
            <a:cxnLst/>
            <a:rect l="l" t="t" r="r" b="b"/>
            <a:pathLst>
              <a:path w="228600" h="0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/>
          <a:ln w="22225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4160520" y="2377440"/>
            <a:ext cx="502920" cy="457200"/>
          </a:xfrm>
          <a:custGeom>
            <a:avLst/>
            <a:gdLst/>
            <a:ahLst/>
            <a:cxnLst/>
            <a:rect l="l" t="t" r="r" b="b"/>
            <a:pathLst>
              <a:path w="502920" h="457200">
                <a:moveTo>
                  <a:pt x="0" y="457200"/>
                </a:moveTo>
                <a:lnTo>
                  <a:pt x="274320" y="457200"/>
                </a:lnTo>
                <a:lnTo>
                  <a:pt x="274320" y="0"/>
                </a:lnTo>
                <a:lnTo>
                  <a:pt x="502920" y="0"/>
                </a:lnTo>
              </a:path>
            </a:pathLst>
          </a:custGeom>
          <a:noFill/>
          <a:ln w="31750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114800" y="2880360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8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14 bit</a:t>
            </a:r>
          </a:p>
        </p:txBody>
      </p:sp>
      <p:sp>
        <p:nvSpPr>
          <p:cNvPr id="89" name="Freeform 88"/>
          <p:cNvSpPr/>
          <p:nvPr/>
        </p:nvSpPr>
        <p:spPr>
          <a:xfrm>
            <a:off x="6355080" y="2377440"/>
            <a:ext cx="548640" cy="0"/>
          </a:xfrm>
          <a:custGeom>
            <a:avLst/>
            <a:gdLst/>
            <a:ahLst/>
            <a:cxnLst/>
            <a:rect l="l" t="t" r="r" b="b"/>
            <a:pathLst>
              <a:path w="548640" h="0">
                <a:moveTo>
                  <a:pt x="0" y="0"/>
                </a:moveTo>
                <a:lnTo>
                  <a:pt x="548640" y="0"/>
                </a:lnTo>
              </a:path>
            </a:pathLst>
          </a:custGeom>
          <a:noFill/>
          <a:ln w="25400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6355080" y="2651760"/>
            <a:ext cx="548640" cy="0"/>
          </a:xfrm>
          <a:custGeom>
            <a:avLst/>
            <a:gdLst/>
            <a:ahLst/>
            <a:cxnLst/>
            <a:rect l="l" t="t" r="r" b="b"/>
            <a:pathLst>
              <a:path w="548640" h="0">
                <a:moveTo>
                  <a:pt x="0" y="0"/>
                </a:moveTo>
                <a:lnTo>
                  <a:pt x="548640" y="0"/>
                </a:lnTo>
              </a:path>
            </a:pathLst>
          </a:custGeom>
          <a:noFill/>
          <a:ln w="25400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6355080" y="2926080"/>
            <a:ext cx="548640" cy="0"/>
          </a:xfrm>
          <a:custGeom>
            <a:avLst/>
            <a:gdLst/>
            <a:ahLst/>
            <a:cxnLst/>
            <a:rect l="l" t="t" r="r" b="b"/>
            <a:pathLst>
              <a:path w="548640" h="0">
                <a:moveTo>
                  <a:pt x="0" y="0"/>
                </a:moveTo>
                <a:lnTo>
                  <a:pt x="548640" y="0"/>
                </a:lnTo>
              </a:path>
            </a:pathLst>
          </a:custGeom>
          <a:noFill/>
          <a:ln w="25400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6355080" y="3200400"/>
            <a:ext cx="548640" cy="0"/>
          </a:xfrm>
          <a:custGeom>
            <a:avLst/>
            <a:gdLst/>
            <a:ahLst/>
            <a:cxnLst/>
            <a:rect l="l" t="t" r="r" b="b"/>
            <a:pathLst>
              <a:path w="548640" h="0">
                <a:moveTo>
                  <a:pt x="0" y="0"/>
                </a:moveTo>
                <a:lnTo>
                  <a:pt x="548640" y="0"/>
                </a:lnTo>
              </a:path>
            </a:pathLst>
          </a:custGeom>
          <a:noFill/>
          <a:ln w="25400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6172200" y="3520440"/>
            <a:ext cx="731520" cy="1143000"/>
          </a:xfrm>
          <a:custGeom>
            <a:avLst/>
            <a:gdLst/>
            <a:ahLst/>
            <a:cxnLst/>
            <a:rect l="l" t="t" r="r" b="b"/>
            <a:pathLst>
              <a:path w="731520" h="1143000">
                <a:moveTo>
                  <a:pt x="0" y="1143000"/>
                </a:moveTo>
                <a:lnTo>
                  <a:pt x="411480" y="1143000"/>
                </a:lnTo>
                <a:lnTo>
                  <a:pt x="411480" y="0"/>
                </a:lnTo>
                <a:lnTo>
                  <a:pt x="731520" y="0"/>
                </a:lnTo>
              </a:path>
            </a:pathLst>
          </a:custGeom>
          <a:noFill/>
          <a:ln w="22225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8686800" y="2377440"/>
            <a:ext cx="1783080" cy="0"/>
          </a:xfrm>
          <a:custGeom>
            <a:avLst/>
            <a:gdLst/>
            <a:ahLst/>
            <a:cxnLst/>
            <a:rect l="l" t="t" r="r" b="b"/>
            <a:pathLst>
              <a:path w="1783080" h="0">
                <a:moveTo>
                  <a:pt x="0" y="0"/>
                </a:moveTo>
                <a:lnTo>
                  <a:pt x="1783080" y="0"/>
                </a:lnTo>
              </a:path>
            </a:pathLst>
          </a:custGeom>
          <a:noFill/>
          <a:ln w="25400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7452360" y="3291840"/>
            <a:ext cx="1508760" cy="1783080"/>
          </a:xfrm>
          <a:custGeom>
            <a:avLst/>
            <a:gdLst/>
            <a:ahLst/>
            <a:cxnLst/>
            <a:rect l="l" t="t" r="r" b="b"/>
            <a:pathLst>
              <a:path w="1508760" h="1783080">
                <a:moveTo>
                  <a:pt x="1234440" y="0"/>
                </a:moveTo>
                <a:lnTo>
                  <a:pt x="1508760" y="0"/>
                </a:lnTo>
                <a:lnTo>
                  <a:pt x="1508760" y="960120"/>
                </a:lnTo>
                <a:lnTo>
                  <a:pt x="0" y="960120"/>
                </a:lnTo>
                <a:lnTo>
                  <a:pt x="0" y="1783080"/>
                </a:lnTo>
                <a:lnTo>
                  <a:pt x="182880" y="1783080"/>
                </a:lnTo>
              </a:path>
            </a:pathLst>
          </a:custGeom>
          <a:noFill/>
          <a:ln w="25400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9281160" y="5074920"/>
            <a:ext cx="1188720" cy="0"/>
          </a:xfrm>
          <a:custGeom>
            <a:avLst/>
            <a:gdLst/>
            <a:ahLst/>
            <a:cxnLst/>
            <a:rect l="l" t="t" r="r" b="b"/>
            <a:pathLst>
              <a:path w="1188720" h="0">
                <a:moveTo>
                  <a:pt x="0" y="0"/>
                </a:moveTo>
                <a:lnTo>
                  <a:pt x="1188720" y="0"/>
                </a:lnTo>
              </a:path>
            </a:pathLst>
          </a:custGeom>
          <a:noFill/>
          <a:ln w="25400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57200" y="6108192"/>
            <a:ext cx="256032" cy="182880"/>
          </a:xfrm>
          <a:prstGeom prst="roundRect">
            <a:avLst>
              <a:gd name="adj" fmla="val 10000"/>
            </a:avLst>
          </a:prstGeom>
          <a:solidFill>
            <a:srgbClr val="FDECEC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77240" y="606247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순차</a:t>
            </a: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— 클럭 엣지에서 갱신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566160" y="6108192"/>
            <a:ext cx="256032" cy="182880"/>
          </a:xfrm>
          <a:prstGeom prst="roundRect">
            <a:avLst>
              <a:gd name="adj" fmla="val 10000"/>
            </a:avLst>
          </a:prstGeom>
          <a:solidFill>
            <a:srgbClr val="E3F0FD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886200" y="60624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조합</a:t>
            </a: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— 입력 즉시 반영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603504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b="1">
                <a:solidFill>
                  <a:srgbClr val="E65100"/>
                </a:solidFill>
                <a:latin typeface="맑은 고딕"/>
                <a:ea typeface="맑은 고딕"/>
                <a:cs typeface="맑은 고딕"/>
              </a:rPr>
              <a:t>원본 대비 수정: </a:t>
            </a:r>
            <a:r>
              <a:rPr sz="9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자리 분리기 폭 9 → 14 bit, 카운터 입력 i_sel[1:0] → i_tick, 색 = 조합/순차 기준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949440" y="3950208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8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상태 = 순차 · 출력 선택 = 조합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02 · v1 설계 — 모듈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Module Roles — Tracing Count 1234 from the Tick to the Lit Segments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1689049" cy="214884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 w="1587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39496" y="1408176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417320"/>
            <a:ext cx="1231849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Tick 생성기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10512"/>
            <a:ext cx="1469593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1천만 클럭마다</a:t>
            </a:r>
          </a:p>
          <a:p>
            <a:pPr algn="ctr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1클럭 펄스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14600"/>
            <a:ext cx="1506169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0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0.1 s</a:t>
            </a:r>
          </a:p>
        </p:txBody>
      </p:sp>
      <p:sp>
        <p:nvSpPr>
          <p:cNvPr id="9" name="Freeform 8"/>
          <p:cNvSpPr/>
          <p:nvPr/>
        </p:nvSpPr>
        <p:spPr>
          <a:xfrm>
            <a:off x="2164537" y="2377440"/>
            <a:ext cx="192024" cy="0"/>
          </a:xfrm>
          <a:custGeom>
            <a:avLst/>
            <a:gdLst/>
            <a:ahLst/>
            <a:cxnLst/>
            <a:rect l="l" t="t" r="r" b="b"/>
            <a:pathLst>
              <a:path w="192024" h="0">
                <a:moveTo>
                  <a:pt x="0" y="0"/>
                </a:moveTo>
                <a:lnTo>
                  <a:pt x="192024" y="0"/>
                </a:lnTo>
              </a:path>
            </a:pathLst>
          </a:custGeom>
          <a:noFill/>
          <a:ln w="25400">
            <a:solidFill>
              <a:srgbClr val="6B728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74849" y="1325880"/>
            <a:ext cx="1689049" cy="214884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 w="1587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57145" y="1408176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6329" y="1417320"/>
            <a:ext cx="1231849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카운터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4577" y="1810512"/>
            <a:ext cx="1469593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Tick마다 +1</a:t>
            </a:r>
          </a:p>
          <a:p>
            <a:pPr algn="ctr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9999 다음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93721" y="2606040"/>
            <a:ext cx="1477670" cy="621792"/>
          </a:xfrm>
          <a:prstGeom prst="roundRect">
            <a:avLst>
              <a:gd name="adj" fmla="val 8000"/>
            </a:avLst>
          </a:prstGeom>
          <a:solidFill>
            <a:srgbClr val="1A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33442" y="2697480"/>
            <a:ext cx="144841" cy="48280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33442" y="2892796"/>
            <a:ext cx="144841" cy="48280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33442" y="3088112"/>
            <a:ext cx="144841" cy="48280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585161" y="2726448"/>
            <a:ext cx="48280" cy="166348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778282" y="2726448"/>
            <a:ext cx="48280" cy="16634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585161" y="2941076"/>
            <a:ext cx="48280" cy="166348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778282" y="2941076"/>
            <a:ext cx="48280" cy="16634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984571" y="2697480"/>
            <a:ext cx="144841" cy="48280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984571" y="2892796"/>
            <a:ext cx="144841" cy="48280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984571" y="3088112"/>
            <a:ext cx="144841" cy="48280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936291" y="2726448"/>
            <a:ext cx="48280" cy="166348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129412" y="2726448"/>
            <a:ext cx="48280" cy="16634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36291" y="2941076"/>
            <a:ext cx="48280" cy="16634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129412" y="2941076"/>
            <a:ext cx="48280" cy="166348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335701" y="2697480"/>
            <a:ext cx="144841" cy="48280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335701" y="2892796"/>
            <a:ext cx="144841" cy="48280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335701" y="3088112"/>
            <a:ext cx="144841" cy="48280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287420" y="2726448"/>
            <a:ext cx="48280" cy="166348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480542" y="2726448"/>
            <a:ext cx="48280" cy="16634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287420" y="2941076"/>
            <a:ext cx="48280" cy="166348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480542" y="2941076"/>
            <a:ext cx="48280" cy="16634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686830" y="2697480"/>
            <a:ext cx="144841" cy="48280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686830" y="2892796"/>
            <a:ext cx="144841" cy="48280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686830" y="3088112"/>
            <a:ext cx="144841" cy="48280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638550" y="2726448"/>
            <a:ext cx="48280" cy="16634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831671" y="2726448"/>
            <a:ext cx="48280" cy="16634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638550" y="2941076"/>
            <a:ext cx="48280" cy="166348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831671" y="2941076"/>
            <a:ext cx="48280" cy="16634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4082186" y="2377440"/>
            <a:ext cx="192024" cy="0"/>
          </a:xfrm>
          <a:custGeom>
            <a:avLst/>
            <a:gdLst/>
            <a:ahLst/>
            <a:cxnLst/>
            <a:rect l="l" t="t" r="r" b="b"/>
            <a:pathLst>
              <a:path w="192024" h="0">
                <a:moveTo>
                  <a:pt x="0" y="0"/>
                </a:moveTo>
                <a:lnTo>
                  <a:pt x="192024" y="0"/>
                </a:lnTo>
              </a:path>
            </a:pathLst>
          </a:custGeom>
          <a:noFill/>
          <a:ln w="25400">
            <a:solidFill>
              <a:srgbClr val="6B728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292498" y="1325880"/>
            <a:ext cx="1689049" cy="2148840"/>
          </a:xfrm>
          <a:prstGeom prst="roundRect">
            <a:avLst>
              <a:gd name="adj" fmla="val 6000"/>
            </a:avLst>
          </a:prstGeom>
          <a:solidFill>
            <a:srgbClr val="E3F0FD"/>
          </a:solidFill>
          <a:ln w="15875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374794" y="1408176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03978" y="1417320"/>
            <a:ext cx="1231849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자리 분리기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02226" y="1810512"/>
            <a:ext cx="1469593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÷10 · 나머지로</a:t>
            </a:r>
          </a:p>
          <a:p>
            <a:pPr algn="ctr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4자리 분리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83938" y="2514600"/>
            <a:ext cx="1506169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0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1|2|3|4</a:t>
            </a:r>
          </a:p>
        </p:txBody>
      </p:sp>
      <p:sp>
        <p:nvSpPr>
          <p:cNvPr id="49" name="Freeform 48"/>
          <p:cNvSpPr/>
          <p:nvPr/>
        </p:nvSpPr>
        <p:spPr>
          <a:xfrm>
            <a:off x="5999836" y="2377440"/>
            <a:ext cx="192024" cy="0"/>
          </a:xfrm>
          <a:custGeom>
            <a:avLst/>
            <a:gdLst/>
            <a:ahLst/>
            <a:cxnLst/>
            <a:rect l="l" t="t" r="r" b="b"/>
            <a:pathLst>
              <a:path w="192024" h="0">
                <a:moveTo>
                  <a:pt x="0" y="0"/>
                </a:moveTo>
                <a:lnTo>
                  <a:pt x="192024" y="0"/>
                </a:lnTo>
              </a:path>
            </a:pathLst>
          </a:custGeom>
          <a:noFill/>
          <a:ln w="25400">
            <a:solidFill>
              <a:srgbClr val="6B728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210148" y="1325880"/>
            <a:ext cx="1689049" cy="214884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 w="1587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292444" y="1408176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1628" y="1417320"/>
            <a:ext cx="1231849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분주기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19876" y="1810512"/>
            <a:ext cx="1469593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100 MHz →</a:t>
            </a:r>
          </a:p>
          <a:p>
            <a:pPr algn="ctr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약 1 kHz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01588" y="2514600"/>
            <a:ext cx="1506169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0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 ms</a:t>
            </a:r>
          </a:p>
        </p:txBody>
      </p:sp>
      <p:sp>
        <p:nvSpPr>
          <p:cNvPr id="55" name="Freeform 54"/>
          <p:cNvSpPr/>
          <p:nvPr/>
        </p:nvSpPr>
        <p:spPr>
          <a:xfrm>
            <a:off x="7917485" y="2377440"/>
            <a:ext cx="192024" cy="0"/>
          </a:xfrm>
          <a:custGeom>
            <a:avLst/>
            <a:gdLst/>
            <a:ahLst/>
            <a:cxnLst/>
            <a:rect l="l" t="t" r="r" b="b"/>
            <a:pathLst>
              <a:path w="192024" h="0">
                <a:moveTo>
                  <a:pt x="0" y="0"/>
                </a:moveTo>
                <a:lnTo>
                  <a:pt x="192024" y="0"/>
                </a:lnTo>
              </a:path>
            </a:pathLst>
          </a:custGeom>
          <a:noFill/>
          <a:ln w="25400">
            <a:solidFill>
              <a:srgbClr val="6B728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127797" y="1325880"/>
            <a:ext cx="1689049" cy="214884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 w="1587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210093" y="1408176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39277" y="1417320"/>
            <a:ext cx="1231849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FND 스캔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37525" y="1810512"/>
            <a:ext cx="1469593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 ms마다 한 자리</a:t>
            </a:r>
          </a:p>
          <a:p>
            <a:pPr algn="ctr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AN0→AN3 순환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19237" y="2514600"/>
            <a:ext cx="1506169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0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AN0</a:t>
            </a:r>
          </a:p>
        </p:txBody>
      </p:sp>
      <p:sp>
        <p:nvSpPr>
          <p:cNvPr id="61" name="Freeform 60"/>
          <p:cNvSpPr/>
          <p:nvPr/>
        </p:nvSpPr>
        <p:spPr>
          <a:xfrm>
            <a:off x="9835134" y="2377440"/>
            <a:ext cx="192024" cy="0"/>
          </a:xfrm>
          <a:custGeom>
            <a:avLst/>
            <a:gdLst/>
            <a:ahLst/>
            <a:cxnLst/>
            <a:rect l="l" t="t" r="r" b="b"/>
            <a:pathLst>
              <a:path w="192024" h="0">
                <a:moveTo>
                  <a:pt x="0" y="0"/>
                </a:moveTo>
                <a:lnTo>
                  <a:pt x="192024" y="0"/>
                </a:lnTo>
              </a:path>
            </a:pathLst>
          </a:custGeom>
          <a:noFill/>
          <a:ln w="25400">
            <a:solidFill>
              <a:srgbClr val="6B728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0045446" y="1325880"/>
            <a:ext cx="1689049" cy="2148840"/>
          </a:xfrm>
          <a:prstGeom prst="roundRect">
            <a:avLst>
              <a:gd name="adj" fmla="val 6000"/>
            </a:avLst>
          </a:prstGeom>
          <a:solidFill>
            <a:srgbClr val="E3F0FD"/>
          </a:solidFill>
          <a:ln w="15875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0127742" y="1408176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56926" y="1417320"/>
            <a:ext cx="1231849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7-세그 디코더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55174" y="1810512"/>
            <a:ext cx="1469593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숫자 → 켤 세그먼트</a:t>
            </a:r>
          </a:p>
          <a:p>
            <a:pPr algn="ctr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(0일 때 켜짐)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0615651" y="2487168"/>
            <a:ext cx="567842" cy="822960"/>
          </a:xfrm>
          <a:prstGeom prst="roundRect">
            <a:avLst>
              <a:gd name="adj" fmla="val 8000"/>
            </a:avLst>
          </a:prstGeom>
          <a:solidFill>
            <a:srgbClr val="1A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10806029" y="2615184"/>
            <a:ext cx="187086" cy="62362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0806029" y="2867467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10806029" y="3119750"/>
            <a:ext cx="187086" cy="62362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10743667" y="26526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10993115" y="26526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0743667" y="29298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10993115" y="29298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4" name="Table 73"/>
          <p:cNvGraphicFramePr>
            <a:graphicFrameLocks noGrp="1"/>
          </p:cNvGraphicFramePr>
          <p:nvPr/>
        </p:nvGraphicFramePr>
        <p:xfrm>
          <a:off x="457200" y="3657600"/>
          <a:ext cx="11277294" cy="24963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0849"/>
                <a:gridCol w="2305580"/>
                <a:gridCol w="601456"/>
                <a:gridCol w="3608734"/>
                <a:gridCol w="4410675"/>
              </a:tblGrid>
              <a:tr h="356616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모듈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종류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하는 일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이렇게 만들었나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Tick 생성기 (tick_gen)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순차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 ~ 9,999,999를 세고 끝값에서 1클럭 펄스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카운터는 100 MHz 그대로 두고 '0.1초 단위'만 만들기 위해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카운터 (tick_counter)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순차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Tick이 온 클럭에서만 +1, 9999 다음 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 bit(최대 16,383)가 9999를 담는 최소 폭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자리 분리기 (digit_splitter)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565C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2진 값 → 천·백·십·일의 자리 숫자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FND는 자리마다 0~9 숫자 하나를 받기 때문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④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분주기 (clock_div)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순차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 MHz를 약 1 kHz 스캔 클럭으로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4자리를 빠르게 돌려 동시에 켜진 것처럼 보이게 (잔상)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⑤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FND 스캔 (Fnd_Controller)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순차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4개 상태 순환 — 상태값이 곧 자리 선택 신호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세그먼트 선을 4자리가 공유 → 한 번에 한 자리만 켬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⑥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7-세그 디코더 (fnd_decoder)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565C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숫자 0~9 → 세그먼트 8개 On/Off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애노드 FND라 0일 때 켜짐 (Active-Low)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5" name="TextBox 74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02 · v1 설계 — Counter_datapath 내부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Inside the Tick Generator — Count 0 to 9,999,999, Then Emit One 10 ns Pulse</a:t>
            </a:r>
          </a:p>
        </p:txBody>
      </p:sp>
      <p:pic>
        <p:nvPicPr>
          <p:cNvPr id="4" name="Picture 3" descr="p07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4206240" cy="11140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46320" y="1325880"/>
            <a:ext cx="6888175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Datapath = Tick 생성기(GEN) → Tick → 카운터(TICK)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두 블록 모두 </a:t>
            </a:r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같은 100 MHz 클럭 · 같은 리셋</a:t>
            </a: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— 연결은 Tick 1가닥뿐. 아래는 GEN 내부 합성 결과</a:t>
            </a:r>
          </a:p>
        </p:txBody>
      </p:sp>
      <p:pic>
        <p:nvPicPr>
          <p:cNvPr id="6" name="Picture 5" descr="p07_1.png"/>
          <p:cNvPicPr>
            <a:picLocks noChangeAspect="1"/>
          </p:cNvPicPr>
          <p:nvPr/>
        </p:nvPicPr>
        <p:blipFill>
          <a:blip r:embed="rId3"/>
          <a:srcRect l="2421" t="12712" r="13923" b="8475"/>
          <a:stretch>
            <a:fillRect/>
          </a:stretch>
        </p:blipFill>
        <p:spPr>
          <a:xfrm>
            <a:off x="457200" y="2514600"/>
            <a:ext cx="7406640" cy="1993683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704330" y="3015786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3794482" y="287108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4866355" y="2710303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Oval 9"/>
          <p:cNvSpPr/>
          <p:nvPr/>
        </p:nvSpPr>
        <p:spPr>
          <a:xfrm>
            <a:off x="6259789" y="3621395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1" name="Oval 10"/>
          <p:cNvSpPr/>
          <p:nvPr/>
        </p:nvSpPr>
        <p:spPr>
          <a:xfrm>
            <a:off x="7144084" y="3299833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2" name="Oval 11"/>
          <p:cNvSpPr/>
          <p:nvPr/>
        </p:nvSpPr>
        <p:spPr>
          <a:xfrm>
            <a:off x="8092440" y="247802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6488" y="2468880"/>
            <a:ext cx="3258007" cy="6217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덧셈기 (+1)</a:t>
            </a:r>
          </a:p>
          <a:p>
            <a:pPr algn="l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현재 값 + 1을 매 클럭 계산</a:t>
            </a:r>
          </a:p>
        </p:txBody>
      </p:sp>
      <p:sp>
        <p:nvSpPr>
          <p:cNvPr id="14" name="Oval 13"/>
          <p:cNvSpPr/>
          <p:nvPr/>
        </p:nvSpPr>
        <p:spPr>
          <a:xfrm>
            <a:off x="8092440" y="311810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6488" y="3108960"/>
            <a:ext cx="3258007" cy="6217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선택기 (MUX)</a:t>
            </a:r>
          </a:p>
          <a:p>
            <a:pPr algn="l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값이 끝값 9,999,999면 0, 아니면 +1 결과 → 끝에서 0으로 되돌림</a:t>
            </a:r>
          </a:p>
        </p:txBody>
      </p:sp>
      <p:sp>
        <p:nvSpPr>
          <p:cNvPr id="16" name="Oval 15"/>
          <p:cNvSpPr/>
          <p:nvPr/>
        </p:nvSpPr>
        <p:spPr>
          <a:xfrm>
            <a:off x="8092440" y="375818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6488" y="3749040"/>
            <a:ext cx="3258007" cy="6217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24 bit 레지스터</a:t>
            </a:r>
          </a:p>
          <a:p>
            <a:pPr algn="l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2²⁴ = 16,777,216 ≥ 1천만 → 24 bit. 리셋 버튼에 즉시 0 (비동기 CLR)</a:t>
            </a:r>
          </a:p>
        </p:txBody>
      </p:sp>
      <p:sp>
        <p:nvSpPr>
          <p:cNvPr id="18" name="Oval 17"/>
          <p:cNvSpPr/>
          <p:nvPr/>
        </p:nvSpPr>
        <p:spPr>
          <a:xfrm>
            <a:off x="8092440" y="439826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4389120"/>
            <a:ext cx="3258007" cy="6217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비교기 (ROM 기호)</a:t>
            </a:r>
          </a:p>
          <a:p>
            <a:pPr algn="l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'값 = 끝값?' 판단. 24 bit 입력 → 1 bit 출력 표라 도구가 ROM 기호로 그림</a:t>
            </a:r>
          </a:p>
        </p:txBody>
      </p:sp>
      <p:sp>
        <p:nvSpPr>
          <p:cNvPr id="20" name="Oval 19"/>
          <p:cNvSpPr/>
          <p:nvPr/>
        </p:nvSpPr>
        <p:spPr>
          <a:xfrm>
            <a:off x="8092440" y="503834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6488" y="5029200"/>
            <a:ext cx="3258007" cy="6217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 레지스터</a:t>
            </a:r>
          </a:p>
          <a:p>
            <a:pPr algn="l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비교 결과를 한 클럭 뒤 출력 → Glitch 없는 깨끗한 1클럭(10 ns) 펄스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715000"/>
            <a:ext cx="11277295" cy="530352"/>
          </a:xfrm>
          <a:prstGeom prst="roundRect">
            <a:avLst>
              <a:gd name="adj" fmla="val 6000"/>
            </a:avLst>
          </a:prstGeom>
          <a:solidFill>
            <a:srgbClr val="E3F0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5788152"/>
            <a:ext cx="10984687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왜 이런 모양? </a:t>
            </a: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— 코드의 '+1 / 끝값이면 0 / 끝값일 때 Tick = 1' 세 문장이 그대로 덧셈기 · 선택기 · 비교기로 바뀐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02 · v1 설계 — Counter_datapath 내부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Inside the Counter — The Tick Lands on the Register's Clock-Enable Pin, Not on a Second Clock</a:t>
            </a:r>
          </a:p>
        </p:txBody>
      </p:sp>
      <p:pic>
        <p:nvPicPr>
          <p:cNvPr id="4" name="Picture 3" descr="p07_2.png"/>
          <p:cNvPicPr>
            <a:picLocks noChangeAspect="1"/>
          </p:cNvPicPr>
          <p:nvPr/>
        </p:nvPicPr>
        <p:blipFill>
          <a:blip r:embed="rId2"/>
          <a:srcRect t="17241" b="12315"/>
          <a:stretch>
            <a:fillRect/>
          </a:stretch>
        </p:blipFill>
        <p:spPr>
          <a:xfrm>
            <a:off x="457200" y="1325880"/>
            <a:ext cx="7406640" cy="1626957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1505515" y="1922305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Oval 5"/>
          <p:cNvSpPr/>
          <p:nvPr/>
        </p:nvSpPr>
        <p:spPr>
          <a:xfrm>
            <a:off x="3428284" y="179715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7" name="Oval 6"/>
          <p:cNvSpPr/>
          <p:nvPr/>
        </p:nvSpPr>
        <p:spPr>
          <a:xfrm>
            <a:off x="5089373" y="1398948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638368" y="2122293"/>
            <a:ext cx="227547" cy="125151"/>
          </a:xfrm>
          <a:prstGeom prst="rect">
            <a:avLst/>
          </a:prstGeom>
          <a:noFill/>
          <a:ln w="317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236074" y="1862216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0" name="Oval 9"/>
          <p:cNvSpPr/>
          <p:nvPr/>
        </p:nvSpPr>
        <p:spPr>
          <a:xfrm>
            <a:off x="8092440" y="138074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6488" y="1371600"/>
            <a:ext cx="3258007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덧셈기 (+1)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현재 값 + 1</a:t>
            </a:r>
          </a:p>
        </p:txBody>
      </p:sp>
      <p:sp>
        <p:nvSpPr>
          <p:cNvPr id="12" name="Oval 11"/>
          <p:cNvSpPr/>
          <p:nvPr/>
        </p:nvSpPr>
        <p:spPr>
          <a:xfrm>
            <a:off x="8092440" y="211226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6488" y="2103120"/>
            <a:ext cx="3258007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선택기 (MUX)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값이 9999면 0 → 0~9999 순환</a:t>
            </a:r>
          </a:p>
        </p:txBody>
      </p:sp>
      <p:sp>
        <p:nvSpPr>
          <p:cNvPr id="14" name="Oval 13"/>
          <p:cNvSpPr/>
          <p:nvPr/>
        </p:nvSpPr>
        <p:spPr>
          <a:xfrm>
            <a:off x="8092440" y="284378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6488" y="2834640"/>
            <a:ext cx="3258007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14 bit 레지스터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2¹⁴ = 16,384 ≥ 10,000. 리셋 시 즉시 0</a:t>
            </a:r>
          </a:p>
        </p:txBody>
      </p:sp>
      <p:sp>
        <p:nvSpPr>
          <p:cNvPr id="16" name="Oval 15"/>
          <p:cNvSpPr/>
          <p:nvPr/>
        </p:nvSpPr>
        <p:spPr>
          <a:xfrm>
            <a:off x="8092440" y="357530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6488" y="3566160"/>
            <a:ext cx="3258007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CE 핀 = Tick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Tick이 1인 클럭에서만 새 값을 받아들임. 클럭은 100 MHz 그대로, '언제 일할지'만 Tick이 결정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34840"/>
            <a:ext cx="5501488" cy="146304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526280"/>
            <a:ext cx="5135728" cy="1645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분주 클럭 방식이었다면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레지스터의 클럭(C) 핀에 분주 신호가 들어감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→ 새 클럭 도메인, 일반 배선 Skew, 타이밍 검사 누락 위험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8" y="4434840"/>
            <a:ext cx="5501488" cy="146304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5888" y="4526280"/>
            <a:ext cx="5135728" cy="1645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Tick 방식 (이 설계)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클럭(C) 핀은 100 MHz 그대로, Tick은 CE 핀으로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코드에는 'Tick이 오면 +1'만 썼는데 합성기가 CE로 연결 — Q3 답의 증거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03 · v1 검증 — Tick 주기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 Fires Every 100 ms — Exactly 10 Hz from the 100 MHz Clock</a:t>
            </a:r>
          </a:p>
        </p:txBody>
      </p:sp>
      <p:pic>
        <p:nvPicPr>
          <p:cNvPr id="4" name="Picture 3" descr="p08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1277295" cy="26923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888049" y="1879744"/>
            <a:ext cx="8846446" cy="430783"/>
          </a:xfrm>
          <a:prstGeom prst="rect">
            <a:avLst/>
          </a:prstGeom>
          <a:solidFill>
            <a:srgbClr val="000000">
              <a:alpha val="7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888049" y="2541305"/>
            <a:ext cx="8846446" cy="230777"/>
          </a:xfrm>
          <a:prstGeom prst="rect">
            <a:avLst/>
          </a:prstGeom>
          <a:solidFill>
            <a:srgbClr val="000000">
              <a:alpha val="7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517" y="2341298"/>
            <a:ext cx="338473" cy="184621"/>
          </a:xfrm>
          <a:prstGeom prst="rect">
            <a:avLst/>
          </a:prstGeom>
          <a:noFill/>
          <a:ln w="28575">
            <a:solidFill>
              <a:srgbClr val="76FF0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749715" y="1518194"/>
            <a:ext cx="0" cy="2269306"/>
          </a:xfrm>
          <a:prstGeom prst="line">
            <a:avLst/>
          </a:prstGeom>
          <a:ln w="25400">
            <a:solidFill>
              <a:srgbClr val="FFD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95996" y="1518194"/>
            <a:ext cx="0" cy="2269306"/>
          </a:xfrm>
          <a:prstGeom prst="line">
            <a:avLst/>
          </a:prstGeom>
          <a:ln w="25400">
            <a:solidFill>
              <a:srgbClr val="FFD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780486" y="2902855"/>
            <a:ext cx="3784740" cy="0"/>
          </a:xfrm>
          <a:prstGeom prst="line">
            <a:avLst/>
          </a:prstGeom>
          <a:ln w="19050">
            <a:solidFill>
              <a:srgbClr val="FFFFFF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072836" y="2956703"/>
            <a:ext cx="1234440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36576" bIns="36576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100 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6795" y="3110554"/>
            <a:ext cx="1005840" cy="256032"/>
          </a:xfrm>
          <a:prstGeom prst="rect">
            <a:avLst/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36576" bIns="36576" wrap="square"/>
          <a:lstStyle/>
          <a:p>
            <a:pPr algn="ctr"/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Tick 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93076" y="3110554"/>
            <a:ext cx="1005840" cy="256032"/>
          </a:xfrm>
          <a:prstGeom prst="rect">
            <a:avLst/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36576" bIns="36576" wrap="square"/>
          <a:lstStyle/>
          <a:p>
            <a:pPr algn="ctr"/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Tick 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2597"/>
            <a:ext cx="3576218" cy="14173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402325"/>
            <a:ext cx="3247034" cy="1234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100,000,000 Hz ÷ 10 Hz = 10,000,000 클럭마다 Tick 1번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→ 끝값 9,999,999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07738" y="4292597"/>
            <a:ext cx="3576218" cy="14173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2330" y="4402325"/>
            <a:ext cx="3247034" cy="1234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측정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커서 100.000005 ms → 200.000005 ms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간격 100.000000 ms = 정확히 10 Hz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8277" y="4292597"/>
            <a:ext cx="3576218" cy="14173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2869" y="4402325"/>
            <a:ext cx="3247034" cy="1234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+5 ns는 왜?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클럭 상승 엣지가 5, 15, 25 ns…에 있어 Tick도 엣지 시각에 맞춰 뜸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주기에는 영향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03 · v1 검증 — Tick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At the Boundary, Count 9,999,999 Rolls to 0 and the Tick Is High for Exactly One Clock</a:t>
            </a:r>
          </a:p>
        </p:txBody>
      </p:sp>
      <p:pic>
        <p:nvPicPr>
          <p:cNvPr id="4" name="Picture 3" descr="p08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1277295" cy="195517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973349" y="2150847"/>
            <a:ext cx="8761147" cy="247490"/>
          </a:xfrm>
          <a:prstGeom prst="rect">
            <a:avLst/>
          </a:prstGeom>
          <a:solidFill>
            <a:srgbClr val="000000">
              <a:alpha val="7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8191" y="2439585"/>
            <a:ext cx="346486" cy="173243"/>
          </a:xfrm>
          <a:prstGeom prst="rect">
            <a:avLst/>
          </a:prstGeom>
          <a:noFill/>
          <a:ln w="28575">
            <a:solidFill>
              <a:srgbClr val="76FF0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0191807" y="1573370"/>
            <a:ext cx="0" cy="1707681"/>
          </a:xfrm>
          <a:prstGeom prst="line">
            <a:avLst/>
          </a:prstGeom>
          <a:ln w="25400">
            <a:solidFill>
              <a:srgbClr val="FFD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9139244" y="2975813"/>
            <a:ext cx="128016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36576" bIns="36576" wrap="square"/>
          <a:lstStyle/>
          <a:p>
            <a:pPr algn="ctr"/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끝값 9,999,999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2851" y="2975813"/>
            <a:ext cx="109728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36576" bIns="36576" wrap="square"/>
          <a:lstStyle/>
          <a:p>
            <a:pPr algn="ctr"/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0으로 복귀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24679" y="2406586"/>
            <a:ext cx="1234440" cy="237744"/>
          </a:xfrm>
          <a:prstGeom prst="rect">
            <a:avLst/>
          </a:prstGeom>
          <a:solidFill>
            <a:srgbClr val="76FF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36576" bIns="36576" wrap="square"/>
          <a:lstStyle/>
          <a:p>
            <a:pPr algn="ctr"/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1클럭 = 10 ns 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01091"/>
            <a:ext cx="5501488" cy="13716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3710819"/>
            <a:ext cx="520888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Tick이 끝값 '다음' 클럭에 뜨는 이유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Tick도 레지스터 출력(p.10 ⑤) → 비교 결과가 한 클럭 늦게 나옴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카운트가 0이 되는 엣지와 Tick = 1이 되는 엣지가 같음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8" y="3601091"/>
            <a:ext cx="5501488" cy="13716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2" y="3710819"/>
            <a:ext cx="520888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1클럭 폭이 중요한 이유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카운터는 Tick이 1인 클럭마다 +1 → 폭이 2클럭이면 +2가 됨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정확히 1클럭(10 ns) → Tick 1번에 카운터 +1 보장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03 · v1 검증 — 카운터 끝값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Counter Boundary — After 9999 the Count Returns to 0</a:t>
            </a:r>
          </a:p>
        </p:txBody>
      </p:sp>
      <p:pic>
        <p:nvPicPr>
          <p:cNvPr id="4" name="Picture 3" descr="p09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1277295" cy="16400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019152" y="1804879"/>
            <a:ext cx="9715343" cy="197847"/>
          </a:xfrm>
          <a:prstGeom prst="rect">
            <a:avLst/>
          </a:prstGeom>
          <a:solidFill>
            <a:srgbClr val="000000">
              <a:alpha val="7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7363" y="2304703"/>
            <a:ext cx="833041" cy="156195"/>
          </a:xfrm>
          <a:prstGeom prst="rect">
            <a:avLst/>
          </a:prstGeom>
          <a:noFill/>
          <a:ln w="28575">
            <a:solidFill>
              <a:srgbClr val="76FF0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0182956" y="1325880"/>
            <a:ext cx="0" cy="1640050"/>
          </a:xfrm>
          <a:prstGeom prst="line">
            <a:avLst/>
          </a:prstGeom>
          <a:ln w="25400">
            <a:solidFill>
              <a:srgbClr val="FFD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9451436" y="2575442"/>
            <a:ext cx="146304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36576" bIns="36576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9999 → 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285970"/>
            <a:ext cx="5501488" cy="18288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3395698"/>
            <a:ext cx="5208880" cy="1645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확인한 것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9999 다음 값이 10000이 아니라 0 → 4자리 범위 유지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끝값 비교(9999)와 0 되돌림 선택기(p.11 ②)가 의도대로 동작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8" y="3285970"/>
            <a:ext cx="5501488" cy="18288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2" y="3395698"/>
            <a:ext cx="5208880" cy="1645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캡처 해석 (참고)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이 캡처에서는 카운트가 10 ns마다 +1 → 매 클럭 증가 조건으로 끝값을 빠르게 확인한 것으로 보임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Tick이 같은 시각에 뜬 것은 1천만이 1만의 배수라 겹친 것 — 실제 Tick 주기로 9999까지는 1,000초 (1천억 클럭, 계산값)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03 · v1 검증 — Top 연결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Linked Top Output — Each Tick Adds 1, and the Ones Digit Matches the Count</a:t>
            </a:r>
          </a:p>
        </p:txBody>
      </p:sp>
      <p:pic>
        <p:nvPicPr>
          <p:cNvPr id="4" name="Picture 3" descr="p1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77295" cy="23864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582973" y="1721358"/>
            <a:ext cx="9151522" cy="574895"/>
          </a:xfrm>
          <a:prstGeom prst="rect">
            <a:avLst/>
          </a:prstGeom>
          <a:solidFill>
            <a:srgbClr val="000000">
              <a:alpha val="7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82973" y="2683973"/>
            <a:ext cx="9151522" cy="574895"/>
          </a:xfrm>
          <a:prstGeom prst="rect">
            <a:avLst/>
          </a:prstGeom>
          <a:solidFill>
            <a:srgbClr val="000000">
              <a:alpha val="7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7527" y="2302938"/>
            <a:ext cx="481307" cy="173805"/>
          </a:xfrm>
          <a:prstGeom prst="rect">
            <a:avLst/>
          </a:prstGeom>
          <a:noFill/>
          <a:ln w="28575">
            <a:solidFill>
              <a:srgbClr val="76FF0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7527" y="2496798"/>
            <a:ext cx="882397" cy="173805"/>
          </a:xfrm>
          <a:prstGeom prst="rect">
            <a:avLst/>
          </a:prstGeom>
          <a:noFill/>
          <a:ln w="28575">
            <a:solidFill>
              <a:srgbClr val="76FF0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7527" y="3272237"/>
            <a:ext cx="815548" cy="173805"/>
          </a:xfrm>
          <a:prstGeom prst="rect">
            <a:avLst/>
          </a:prstGeom>
          <a:noFill/>
          <a:ln w="28575">
            <a:solidFill>
              <a:srgbClr val="76FF0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5063043" y="1280160"/>
            <a:ext cx="0" cy="2386482"/>
          </a:xfrm>
          <a:prstGeom prst="line">
            <a:avLst/>
          </a:prstGeom>
          <a:ln w="25400">
            <a:solidFill>
              <a:srgbClr val="FFD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405454" y="1280160"/>
            <a:ext cx="0" cy="2386482"/>
          </a:xfrm>
          <a:prstGeom prst="line">
            <a:avLst/>
          </a:prstGeom>
          <a:ln w="25400">
            <a:solidFill>
              <a:srgbClr val="FFD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944171" y="2270968"/>
            <a:ext cx="237744" cy="237744"/>
          </a:xfrm>
          <a:prstGeom prst="ellipse">
            <a:avLst/>
          </a:prstGeom>
          <a:noFill/>
          <a:ln w="28575">
            <a:solidFill>
              <a:srgbClr val="FF17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103151" y="2216035"/>
            <a:ext cx="3242139" cy="0"/>
          </a:xfrm>
          <a:prstGeom prst="line">
            <a:avLst/>
          </a:prstGeom>
          <a:ln w="19050">
            <a:solidFill>
              <a:srgbClr val="FFFFFF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283733" y="2135817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36576" bIns="36576" wrap="square"/>
          <a:lstStyle/>
          <a:p>
            <a:pPr algn="ctr"/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100 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78982" y="2831039"/>
            <a:ext cx="2926080" cy="274320"/>
          </a:xfrm>
          <a:prstGeom prst="rect">
            <a:avLst/>
          </a:prstGeom>
          <a:solidFill>
            <a:srgbClr val="76FF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36576" bIns="36576" wrap="square"/>
          <a:lstStyle/>
          <a:p>
            <a:pPr algn="ctr"/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1의 자리 = 카운트 값 (0 → 1 → 2)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40962"/>
            <a:ext cx="3576218" cy="14630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050690"/>
            <a:ext cx="3247034" cy="128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 ↑ → 카운트 +1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Tick이 뜬 클럭에서 0000 → 0001 → 0002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100 ms 간격 = 0.1초마다 +1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07738" y="3940962"/>
            <a:ext cx="3576218" cy="14630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2330" y="4050690"/>
            <a:ext cx="3247034" cy="128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자리 분리 즉시 반영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1의 자리가 카운트와 같은 시각에 바뀜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자리 분리기는 조합 회로 → 클럭 대기 없음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58277" y="3940962"/>
            <a:ext cx="3576218" cy="14630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2869" y="4050690"/>
            <a:ext cx="3247034" cy="128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초록 띠 = 자리 스캔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FND 자리 선택 신호는 1 ms마다 바뀌어 이 배율에선 꽉 찬 띠로 보임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어둡게 처리한 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04 · v2 설계 — 요구사항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v2 Adds Three Switches — Clear Beats Stop, and Stop Beats Down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1874520" cy="150876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SW0</a:t>
            </a: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V17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164592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멈춤 · STOP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현재 값 유지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68880" y="1325880"/>
            <a:ext cx="1874520" cy="150876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06040" y="14173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SW1</a:t>
            </a: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V16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74520"/>
            <a:ext cx="164592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초기화 · CLEAR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0으로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325880"/>
            <a:ext cx="1874520" cy="150876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4173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SW2</a:t>
            </a: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W16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1874520"/>
            <a:ext cx="164592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감소 · DOWN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1씩 감소 (0 다음 9999)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3716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우선순위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0" y="1783080"/>
            <a:ext cx="1024128" cy="56692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Clear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8" y="1783080"/>
            <a:ext cx="2743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600" b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&gt;</a:t>
            </a:r>
          </a:p>
        </p:txBody>
      </p:sp>
      <p:sp>
        <p:nvSpPr>
          <p:cNvPr id="16" name="Oval 15"/>
          <p:cNvSpPr/>
          <p:nvPr/>
        </p:nvSpPr>
        <p:spPr>
          <a:xfrm>
            <a:off x="7882128" y="1783080"/>
            <a:ext cx="1024128" cy="566928"/>
          </a:xfrm>
          <a:prstGeom prst="ellipse">
            <a:avLst/>
          </a:prstGeom>
          <a:solidFill>
            <a:srgbClr val="E65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Stop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06256" y="1783080"/>
            <a:ext cx="2743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600" b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&gt;</a:t>
            </a:r>
          </a:p>
        </p:txBody>
      </p:sp>
      <p:sp>
        <p:nvSpPr>
          <p:cNvPr id="18" name="Oval 17"/>
          <p:cNvSpPr/>
          <p:nvPr/>
        </p:nvSpPr>
        <p:spPr>
          <a:xfrm>
            <a:off x="9180576" y="1783080"/>
            <a:ext cx="1024128" cy="56692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04704" y="1783080"/>
            <a:ext cx="2743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600" b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&gt;</a:t>
            </a:r>
          </a:p>
        </p:txBody>
      </p:sp>
      <p:sp>
        <p:nvSpPr>
          <p:cNvPr id="20" name="Oval 19"/>
          <p:cNvSpPr/>
          <p:nvPr/>
        </p:nvSpPr>
        <p:spPr>
          <a:xfrm>
            <a:off x="10479024" y="1783080"/>
            <a:ext cx="1024128" cy="56692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Up(기본)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4688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여러 스위치가 동시에 켜지면 왼쪽이 이김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063240"/>
            <a:ext cx="11277295" cy="31546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1089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counter_10000_v2 (Top)</a:t>
            </a:r>
          </a:p>
        </p:txBody>
      </p:sp>
      <p:sp>
        <p:nvSpPr>
          <p:cNvPr id="24" name="Pentagon 23"/>
          <p:cNvSpPr/>
          <p:nvPr/>
        </p:nvSpPr>
        <p:spPr>
          <a:xfrm>
            <a:off x="594360" y="3465576"/>
            <a:ext cx="1325880" cy="292608"/>
          </a:xfrm>
          <a:prstGeom prst="homePlate">
            <a:avLst/>
          </a:prstGeom>
          <a:solidFill>
            <a:srgbClr val="E3F0FD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l"/>
            <a:r>
              <a:rPr sz="9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CLK 100 MHz</a:t>
            </a:r>
          </a:p>
        </p:txBody>
      </p:sp>
      <p:sp>
        <p:nvSpPr>
          <p:cNvPr id="25" name="Pentagon 24"/>
          <p:cNvSpPr/>
          <p:nvPr/>
        </p:nvSpPr>
        <p:spPr>
          <a:xfrm>
            <a:off x="594360" y="3922776"/>
            <a:ext cx="1325880" cy="292608"/>
          </a:xfrm>
          <a:prstGeom prst="homePlate">
            <a:avLst/>
          </a:prstGeom>
          <a:solidFill>
            <a:srgbClr val="E3F0FD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l"/>
            <a:r>
              <a:rPr sz="9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Reset (BTNC)</a:t>
            </a:r>
          </a:p>
        </p:txBody>
      </p:sp>
      <p:sp>
        <p:nvSpPr>
          <p:cNvPr id="26" name="Pentagon 25"/>
          <p:cNvSpPr/>
          <p:nvPr/>
        </p:nvSpPr>
        <p:spPr>
          <a:xfrm>
            <a:off x="594360" y="4562856"/>
            <a:ext cx="1325880" cy="292608"/>
          </a:xfrm>
          <a:prstGeom prst="homePlate">
            <a:avLst/>
          </a:prstGeom>
          <a:solidFill>
            <a:srgbClr val="E3F0FD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l"/>
            <a:r>
              <a:rPr sz="9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SW0 멈춤</a:t>
            </a:r>
          </a:p>
        </p:txBody>
      </p:sp>
      <p:sp>
        <p:nvSpPr>
          <p:cNvPr id="27" name="Pentagon 26"/>
          <p:cNvSpPr/>
          <p:nvPr/>
        </p:nvSpPr>
        <p:spPr>
          <a:xfrm>
            <a:off x="594360" y="4974336"/>
            <a:ext cx="1325880" cy="292608"/>
          </a:xfrm>
          <a:prstGeom prst="homePlate">
            <a:avLst/>
          </a:prstGeom>
          <a:solidFill>
            <a:srgbClr val="E3F0FD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l"/>
            <a:r>
              <a:rPr sz="9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SW1 초기화</a:t>
            </a:r>
          </a:p>
        </p:txBody>
      </p:sp>
      <p:sp>
        <p:nvSpPr>
          <p:cNvPr id="28" name="Pentagon 27"/>
          <p:cNvSpPr/>
          <p:nvPr/>
        </p:nvSpPr>
        <p:spPr>
          <a:xfrm>
            <a:off x="594360" y="5385816"/>
            <a:ext cx="1325880" cy="292608"/>
          </a:xfrm>
          <a:prstGeom prst="homePlate">
            <a:avLst/>
          </a:prstGeom>
          <a:solidFill>
            <a:srgbClr val="E3F0FD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l"/>
            <a:r>
              <a:rPr sz="9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SW2 감소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377440" y="3429000"/>
            <a:ext cx="4206240" cy="2514600"/>
          </a:xfrm>
          <a:prstGeom prst="roundRect">
            <a:avLst>
              <a:gd name="adj" fmla="val 3000"/>
            </a:avLst>
          </a:prstGeom>
          <a:solidFill>
            <a:srgbClr val="EEF2F6"/>
          </a:solidFill>
          <a:ln w="1270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468880" y="3456432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Counter_Datapath_v2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3840480"/>
            <a:ext cx="1371600" cy="109728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Tick 생성기</a:t>
            </a:r>
          </a:p>
          <a:p>
            <a:pPr algn="ctr"/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0.1초 Tick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26280" y="3840480"/>
            <a:ext cx="1828800" cy="187452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카운터</a:t>
            </a:r>
          </a:p>
          <a:p>
            <a:pPr algn="ctr"/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Tick마다 8가지</a:t>
            </a:r>
          </a:p>
          <a:p>
            <a:pPr algn="ctr"/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스위치 조합 판정</a:t>
            </a:r>
          </a:p>
          <a:p>
            <a:pPr algn="ctr"/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(p.17 표)</a:t>
            </a:r>
          </a:p>
        </p:txBody>
      </p:sp>
      <p:sp>
        <p:nvSpPr>
          <p:cNvPr id="33" name="Freeform 32"/>
          <p:cNvSpPr/>
          <p:nvPr/>
        </p:nvSpPr>
        <p:spPr>
          <a:xfrm>
            <a:off x="4069080" y="4389120"/>
            <a:ext cx="411480" cy="0"/>
          </a:xfrm>
          <a:custGeom>
            <a:avLst/>
            <a:gdLst/>
            <a:ahLst/>
            <a:cxnLst/>
            <a:rect l="l" t="t" r="r" b="b"/>
            <a:pathLst>
              <a:path w="411480" h="0">
                <a:moveTo>
                  <a:pt x="0" y="0"/>
                </a:moveTo>
                <a:lnTo>
                  <a:pt x="411480" y="0"/>
                </a:lnTo>
              </a:path>
            </a:pathLst>
          </a:custGeom>
          <a:noFill/>
          <a:ln w="22225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23360" y="4133088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Tick</a:t>
            </a:r>
          </a:p>
        </p:txBody>
      </p:sp>
      <p:sp>
        <p:nvSpPr>
          <p:cNvPr id="35" name="Freeform 34"/>
          <p:cNvSpPr/>
          <p:nvPr/>
        </p:nvSpPr>
        <p:spPr>
          <a:xfrm>
            <a:off x="1965960" y="3611880"/>
            <a:ext cx="685800" cy="594360"/>
          </a:xfrm>
          <a:custGeom>
            <a:avLst/>
            <a:gdLst/>
            <a:ahLst/>
            <a:cxnLst/>
            <a:rect l="l" t="t" r="r" b="b"/>
            <a:pathLst>
              <a:path w="685800" h="594360">
                <a:moveTo>
                  <a:pt x="0" y="0"/>
                </a:moveTo>
                <a:lnTo>
                  <a:pt x="548640" y="0"/>
                </a:lnTo>
                <a:lnTo>
                  <a:pt x="548640" y="594360"/>
                </a:lnTo>
                <a:lnTo>
                  <a:pt x="685800" y="594360"/>
                </a:lnTo>
              </a:path>
            </a:pathLst>
          </a:custGeom>
          <a:noFill/>
          <a:ln w="19050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1965960" y="4069080"/>
            <a:ext cx="411480" cy="0"/>
          </a:xfrm>
          <a:custGeom>
            <a:avLst/>
            <a:gdLst/>
            <a:ahLst/>
            <a:cxnLst/>
            <a:rect l="l" t="t" r="r" b="b"/>
            <a:pathLst>
              <a:path w="411480" h="0">
                <a:moveTo>
                  <a:pt x="0" y="0"/>
                </a:moveTo>
                <a:lnTo>
                  <a:pt x="411480" y="0"/>
                </a:lnTo>
              </a:path>
            </a:pathLst>
          </a:custGeom>
          <a:noFill/>
          <a:ln w="19050">
            <a:solidFill>
              <a:srgbClr val="4B55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965960" y="4709160"/>
            <a:ext cx="2514600" cy="0"/>
          </a:xfrm>
          <a:custGeom>
            <a:avLst/>
            <a:gdLst/>
            <a:ahLst/>
            <a:cxnLst/>
            <a:rect l="l" t="t" r="r" b="b"/>
            <a:pathLst>
              <a:path w="2514600" h="0">
                <a:moveTo>
                  <a:pt x="0" y="0"/>
                </a:moveTo>
                <a:lnTo>
                  <a:pt x="2514600" y="0"/>
                </a:lnTo>
              </a:path>
            </a:pathLst>
          </a:custGeom>
          <a:noFill/>
          <a:ln w="22225">
            <a:solidFill>
              <a:srgbClr val="E6510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965960" y="5120640"/>
            <a:ext cx="2514600" cy="0"/>
          </a:xfrm>
          <a:custGeom>
            <a:avLst/>
            <a:gdLst/>
            <a:ahLst/>
            <a:cxnLst/>
            <a:rect l="l" t="t" r="r" b="b"/>
            <a:pathLst>
              <a:path w="2514600" h="0">
                <a:moveTo>
                  <a:pt x="0" y="0"/>
                </a:moveTo>
                <a:lnTo>
                  <a:pt x="2514600" y="0"/>
                </a:lnTo>
              </a:path>
            </a:pathLst>
          </a:custGeom>
          <a:noFill/>
          <a:ln w="22225">
            <a:solidFill>
              <a:srgbClr val="E6510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1965960" y="5532120"/>
            <a:ext cx="2514600" cy="0"/>
          </a:xfrm>
          <a:custGeom>
            <a:avLst/>
            <a:gdLst/>
            <a:ahLst/>
            <a:cxnLst/>
            <a:rect l="l" t="t" r="r" b="b"/>
            <a:pathLst>
              <a:path w="2514600" h="0">
                <a:moveTo>
                  <a:pt x="0" y="0"/>
                </a:moveTo>
                <a:lnTo>
                  <a:pt x="2514600" y="0"/>
                </a:lnTo>
              </a:path>
            </a:pathLst>
          </a:custGeom>
          <a:noFill/>
          <a:ln w="22225">
            <a:solidFill>
              <a:srgbClr val="E6510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086600" y="3429000"/>
            <a:ext cx="2926080" cy="2514600"/>
          </a:xfrm>
          <a:prstGeom prst="roundRect">
            <a:avLst>
              <a:gd name="adj" fmla="val 3000"/>
            </a:avLst>
          </a:prstGeom>
          <a:solidFill>
            <a:srgbClr val="F1F8EE"/>
          </a:solidFill>
          <a:ln w="1270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78040" y="345643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FND 제어부 (v1과 동일)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0" y="3840480"/>
            <a:ext cx="2468880" cy="502920"/>
          </a:xfrm>
          <a:prstGeom prst="roundRect">
            <a:avLst>
              <a:gd name="adj" fmla="val 12000"/>
            </a:avLst>
          </a:prstGeom>
          <a:solidFill>
            <a:srgbClr val="E3F0FD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5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자리 분리기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0" y="4526280"/>
            <a:ext cx="2468880" cy="502920"/>
          </a:xfrm>
          <a:prstGeom prst="roundRect">
            <a:avLst>
              <a:gd name="adj" fmla="val 12000"/>
            </a:avLst>
          </a:prstGeom>
          <a:solidFill>
            <a:srgbClr val="FDECEC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분주기 · FND 스캔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0" y="5212080"/>
            <a:ext cx="2468880" cy="502920"/>
          </a:xfrm>
          <a:prstGeom prst="roundRect">
            <a:avLst>
              <a:gd name="adj" fmla="val 12000"/>
            </a:avLst>
          </a:prstGeom>
          <a:solidFill>
            <a:srgbClr val="E3F0FD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5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7-세그 디코더</a:t>
            </a:r>
          </a:p>
        </p:txBody>
      </p:sp>
      <p:sp>
        <p:nvSpPr>
          <p:cNvPr id="45" name="Freeform 44"/>
          <p:cNvSpPr/>
          <p:nvPr/>
        </p:nvSpPr>
        <p:spPr>
          <a:xfrm>
            <a:off x="6355080" y="4754880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31750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448056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14 bit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287000" y="4251960"/>
            <a:ext cx="1228954" cy="548640"/>
          </a:xfrm>
          <a:prstGeom prst="roundRect">
            <a:avLst>
              <a:gd name="adj" fmla="val 8000"/>
            </a:avLst>
          </a:prstGeom>
          <a:solidFill>
            <a:srgbClr val="1A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411541" y="4334256"/>
            <a:ext cx="126736" cy="42245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411541" y="4505157"/>
            <a:ext cx="126736" cy="42245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411541" y="4676059"/>
            <a:ext cx="126736" cy="42245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0369296" y="43596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0538277" y="43596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0369296" y="45474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0538277" y="45474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695920" y="4334256"/>
            <a:ext cx="126736" cy="42245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0695920" y="4505157"/>
            <a:ext cx="126736" cy="42245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0695920" y="4676059"/>
            <a:ext cx="126736" cy="42245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0653674" y="43596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0822656" y="43596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10653674" y="45474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0822656" y="45474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0980298" y="4334256"/>
            <a:ext cx="126736" cy="42245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10980298" y="4505157"/>
            <a:ext cx="126736" cy="42245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10980298" y="4676059"/>
            <a:ext cx="126736" cy="42245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0938053" y="43596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11107034" y="43596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10938053" y="45474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1107034" y="45474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11264676" y="4334256"/>
            <a:ext cx="126736" cy="42245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11264676" y="4505157"/>
            <a:ext cx="126736" cy="42245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11264676" y="4676059"/>
            <a:ext cx="126736" cy="42245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1222431" y="43596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11391412" y="43596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11222431" y="45474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11391412" y="45474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10012680" y="4572000"/>
            <a:ext cx="246888" cy="0"/>
          </a:xfrm>
          <a:custGeom>
            <a:avLst/>
            <a:gdLst/>
            <a:ahLst/>
            <a:cxnLst/>
            <a:rect l="l" t="t" r="r" b="b"/>
            <a:pathLst>
              <a:path w="246888" h="0">
                <a:moveTo>
                  <a:pt x="0" y="0"/>
                </a:moveTo>
                <a:lnTo>
                  <a:pt x="246888" y="0"/>
                </a:lnTo>
              </a:path>
            </a:pathLst>
          </a:custGeom>
          <a:noFill/>
          <a:ln w="25400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04 · v2 설계 — 동작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Eight Switch Combinations Collapse into Four Actions — Priority Lives in One Lookup Table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25880"/>
          <a:ext cx="7589521" cy="4114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54657"/>
                <a:gridCol w="954657"/>
                <a:gridCol w="954657"/>
                <a:gridCol w="906924"/>
                <a:gridCol w="1622916"/>
                <a:gridCol w="219571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SW2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감소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SW1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초기화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SW0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멈춤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동작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Tick 때 카운트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증가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 (9999 다음 0)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아무것도 안 켬 → 기본 동작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E651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멈춤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 유지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멈춤만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초기화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초기화만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초기화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초기화 &gt; 멈춤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565C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감소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E3F0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−1 (0 다음 9999)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E3F0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감소만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E651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멈춤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 유지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멈춤 &gt; 감소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초기화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초기화 &gt; 감소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초기화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초기화 &gt; 멈춤 &gt; 감소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321040" y="1325880"/>
            <a:ext cx="3413455" cy="21488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67344" y="1435608"/>
            <a:ext cx="3120847" cy="1965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어떻게 구현했나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Tick이 온 클럭에서만 스위치 3개를 묶어 8가지 경우를 표(case)로 판정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우선순위를 조건 순서가 아니라 경우별로 직접 적음 → 빠진 조합이 없는지 눈으로 확인 가능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21040" y="3611880"/>
            <a:ext cx="3413455" cy="13258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67344" y="3721608"/>
            <a:ext cx="3120847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4가지 동작, 8가지 입력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초기화 4 · 멈춤 2 · 감소 1 · 증가 1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초기화 스위치가 켜진 4줄은 모두 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5074920"/>
            <a:ext cx="3413455" cy="1188720"/>
          </a:xfrm>
          <a:prstGeom prst="roundRect">
            <a:avLst>
              <a:gd name="adj" fmla="val 6000"/>
            </a:avLst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67344" y="5148072"/>
            <a:ext cx="3120847" cy="10424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>
                <a:solidFill>
                  <a:srgbClr val="E65100"/>
                </a:solidFill>
                <a:latin typeface="맑은 고딕"/>
                <a:ea typeface="맑은 고딕"/>
                <a:cs typeface="맑은 고딕"/>
              </a:rPr>
              <a:t>설계 특성 </a:t>
            </a: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— 초기화도 Tick 때만 반영 → 스위치를 올린 뒤 최대 0.1초 후 0. 리셋 버튼(BTNC)은 즉시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04 · v2 설계 — 합성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v2 Netlist — +1 and −1 Are Both Computed Every Clock; Stop Simply Disables the Register</a:t>
            </a:r>
          </a:p>
        </p:txBody>
      </p:sp>
      <p:pic>
        <p:nvPicPr>
          <p:cNvPr id="4" name="Picture 3" descr="p14_1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57200" y="1280160"/>
            <a:ext cx="7589520" cy="3138354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987023" y="1471919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Oval 5"/>
          <p:cNvSpPr/>
          <p:nvPr/>
        </p:nvSpPr>
        <p:spPr>
          <a:xfrm>
            <a:off x="987023" y="2238196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7" name="Oval 6"/>
          <p:cNvSpPr/>
          <p:nvPr/>
        </p:nvSpPr>
        <p:spPr>
          <a:xfrm>
            <a:off x="5719908" y="2345249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8" name="Oval 7"/>
          <p:cNvSpPr/>
          <p:nvPr/>
        </p:nvSpPr>
        <p:spPr>
          <a:xfrm>
            <a:off x="3635185" y="2936860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5719908" y="2824172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0" name="Oval 9"/>
          <p:cNvSpPr/>
          <p:nvPr/>
        </p:nvSpPr>
        <p:spPr>
          <a:xfrm>
            <a:off x="6283347" y="2824172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11" name="Oval 10"/>
          <p:cNvSpPr/>
          <p:nvPr/>
        </p:nvSpPr>
        <p:spPr>
          <a:xfrm>
            <a:off x="8275320" y="128930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8" y="1280160"/>
            <a:ext cx="3075127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증가 경로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+1, 9999면 0</a:t>
            </a:r>
          </a:p>
        </p:txBody>
      </p:sp>
      <p:sp>
        <p:nvSpPr>
          <p:cNvPr id="13" name="Oval 12"/>
          <p:cNvSpPr/>
          <p:nvPr/>
        </p:nvSpPr>
        <p:spPr>
          <a:xfrm>
            <a:off x="8275320" y="1947672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59368" y="1938528"/>
            <a:ext cx="3075127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감소 경로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−1, 0이면 9999</a:t>
            </a:r>
          </a:p>
        </p:txBody>
      </p:sp>
      <p:sp>
        <p:nvSpPr>
          <p:cNvPr id="15" name="Oval 14"/>
          <p:cNvSpPr/>
          <p:nvPr/>
        </p:nvSpPr>
        <p:spPr>
          <a:xfrm>
            <a:off x="8275320" y="2606040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9368" y="2596896"/>
            <a:ext cx="3075127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동작 선택기 (6입력)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초기화 4조합 → 0, 감소 → ②, 그 외 → ①</a:t>
            </a:r>
          </a:p>
        </p:txBody>
      </p:sp>
      <p:sp>
        <p:nvSpPr>
          <p:cNvPr id="17" name="Oval 16"/>
          <p:cNvSpPr/>
          <p:nvPr/>
        </p:nvSpPr>
        <p:spPr>
          <a:xfrm>
            <a:off x="8275320" y="3264408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59368" y="3255264"/>
            <a:ext cx="3075127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멈춤 판정 표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스위치 3 bit → '값을 바꿔도 되나' 1 bit (001·101이면 0)</a:t>
            </a:r>
          </a:p>
        </p:txBody>
      </p:sp>
      <p:sp>
        <p:nvSpPr>
          <p:cNvPr id="19" name="Oval 18"/>
          <p:cNvSpPr/>
          <p:nvPr/>
        </p:nvSpPr>
        <p:spPr>
          <a:xfrm>
            <a:off x="8275320" y="3922776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59368" y="3913632"/>
            <a:ext cx="3075127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Tick과 결합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 = 1일 때만 ④ 결과를 통과</a:t>
            </a:r>
          </a:p>
        </p:txBody>
      </p:sp>
      <p:sp>
        <p:nvSpPr>
          <p:cNvPr id="21" name="Oval 20"/>
          <p:cNvSpPr/>
          <p:nvPr/>
        </p:nvSpPr>
        <p:spPr>
          <a:xfrm>
            <a:off x="8275320" y="458114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4572000"/>
            <a:ext cx="3075127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레지스터 CE 핀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⑤가 0이면 값 유지 → 멈춤은 '쓰기 금지'로 구현됨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486400"/>
            <a:ext cx="11277295" cy="731520"/>
          </a:xfrm>
          <a:prstGeom prst="roundRect">
            <a:avLst>
              <a:gd name="adj" fmla="val 6000"/>
            </a:avLst>
          </a:prstGeom>
          <a:solidFill>
            <a:srgbClr val="E3F0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5559552"/>
            <a:ext cx="10984687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왜 이런 모양? </a:t>
            </a: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— 하드웨어는 경우마다 회로를 미리 다 만들어 두고 고르기만 함. '+1'과 '−1'이 동시에 계산되고, '값 유지'는 같은 값을 다시 넣는 대신 레지스터 쓰기를 막는 방식으로 합성됨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04 · v2 설계 — 보드 입출력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Board I/O — Pin Map from FND_COU.xdc</a:t>
            </a:r>
          </a:p>
        </p:txBody>
      </p:sp>
      <p:pic>
        <p:nvPicPr>
          <p:cNvPr id="4" name="Picture 3" descr="p13_1.jpg"/>
          <p:cNvPicPr>
            <a:picLocks noChangeAspect="1"/>
          </p:cNvPicPr>
          <p:nvPr/>
        </p:nvPicPr>
        <p:blipFill>
          <a:blip r:embed="rId2"/>
          <a:srcRect l="2761" t="3896" r="12422"/>
          <a:stretch>
            <a:fillRect/>
          </a:stretch>
        </p:blipFill>
        <p:spPr>
          <a:xfrm>
            <a:off x="457200" y="1371600"/>
            <a:ext cx="6492240" cy="3909079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 flipV="1">
            <a:off x="3283358" y="3072205"/>
            <a:ext cx="0" cy="544474"/>
          </a:xfrm>
          <a:prstGeom prst="line">
            <a:avLst/>
          </a:prstGeom>
          <a:ln w="22225">
            <a:solidFill>
              <a:srgbClr val="FFD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3210206" y="3543527"/>
            <a:ext cx="146304" cy="146304"/>
          </a:xfrm>
          <a:prstGeom prst="ellipse">
            <a:avLst/>
          </a:prstGeom>
          <a:noFill/>
          <a:ln w="31750">
            <a:solidFill>
              <a:srgbClr val="FFD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30660" y="2797885"/>
            <a:ext cx="1828800" cy="27432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36576" bIns="36576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CLK 100 MHz · W5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5063574" y="2623190"/>
            <a:ext cx="0" cy="914251"/>
          </a:xfrm>
          <a:prstGeom prst="line">
            <a:avLst/>
          </a:prstGeom>
          <a:ln w="22225">
            <a:solidFill>
              <a:srgbClr val="FFD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4990422" y="3464289"/>
            <a:ext cx="146304" cy="146304"/>
          </a:xfrm>
          <a:prstGeom prst="ellipse">
            <a:avLst/>
          </a:prstGeom>
          <a:noFill/>
          <a:ln w="31750">
            <a:solidFill>
              <a:srgbClr val="FFD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60628" y="2348870"/>
            <a:ext cx="1828800" cy="2743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36576" bIns="36576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Reset · BTNC · U18</a:t>
            </a:r>
          </a:p>
        </p:txBody>
      </p:sp>
      <p:cxnSp>
        <p:nvCxnSpPr>
          <p:cNvPr id="11" name="Connector 10"/>
          <p:cNvCxnSpPr/>
          <p:nvPr/>
        </p:nvCxnSpPr>
        <p:spPr>
          <a:xfrm flipH="1" flipV="1">
            <a:off x="3817936" y="4493394"/>
            <a:ext cx="2423644" cy="364682"/>
          </a:xfrm>
          <a:prstGeom prst="line">
            <a:avLst/>
          </a:prstGeom>
          <a:ln w="22225">
            <a:solidFill>
              <a:srgbClr val="FFD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6168428" y="4784924"/>
            <a:ext cx="146304" cy="146304"/>
          </a:xfrm>
          <a:prstGeom prst="ellipse">
            <a:avLst/>
          </a:prstGeom>
          <a:noFill/>
          <a:ln w="31750">
            <a:solidFill>
              <a:srgbClr val="FFD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89136" y="4356234"/>
            <a:ext cx="1828800" cy="274320"/>
          </a:xfrm>
          <a:prstGeom prst="rect">
            <a:avLst/>
          </a:prstGeom>
          <a:solidFill>
            <a:srgbClr val="E65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36576" bIns="36576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SW0 멈춤 · V17</a:t>
            </a:r>
          </a:p>
        </p:txBody>
      </p:sp>
      <p:cxnSp>
        <p:nvCxnSpPr>
          <p:cNvPr id="14" name="Connector 13"/>
          <p:cNvCxnSpPr/>
          <p:nvPr/>
        </p:nvCxnSpPr>
        <p:spPr>
          <a:xfrm flipH="1" flipV="1">
            <a:off x="3817936" y="4794499"/>
            <a:ext cx="2053866" cy="63577"/>
          </a:xfrm>
          <a:prstGeom prst="line">
            <a:avLst/>
          </a:prstGeom>
          <a:ln w="22225">
            <a:solidFill>
              <a:srgbClr val="FFD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5798650" y="4784924"/>
            <a:ext cx="146304" cy="146304"/>
          </a:xfrm>
          <a:prstGeom prst="ellipse">
            <a:avLst/>
          </a:prstGeom>
          <a:noFill/>
          <a:ln w="31750">
            <a:solidFill>
              <a:srgbClr val="FFD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89136" y="4657339"/>
            <a:ext cx="1828800" cy="274320"/>
          </a:xfrm>
          <a:prstGeom prst="rect">
            <a:avLst/>
          </a:prstGeom>
          <a:solidFill>
            <a:srgbClr val="E65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36576" bIns="36576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SW1 초기화 · V16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3817936" y="4858076"/>
            <a:ext cx="1710501" cy="237528"/>
          </a:xfrm>
          <a:prstGeom prst="line">
            <a:avLst/>
          </a:prstGeom>
          <a:ln w="22225">
            <a:solidFill>
              <a:srgbClr val="FFD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455285" y="4784924"/>
            <a:ext cx="146304" cy="146304"/>
          </a:xfrm>
          <a:prstGeom prst="ellipse">
            <a:avLst/>
          </a:prstGeom>
          <a:noFill/>
          <a:ln w="31750">
            <a:solidFill>
              <a:srgbClr val="FFD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89136" y="4958444"/>
            <a:ext cx="1828800" cy="274320"/>
          </a:xfrm>
          <a:prstGeom prst="rect">
            <a:avLst/>
          </a:prstGeom>
          <a:solidFill>
            <a:srgbClr val="E65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36576" bIns="36576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SW2 감소 · W16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23168" y="3616679"/>
            <a:ext cx="1769650" cy="475428"/>
          </a:xfrm>
          <a:prstGeom prst="rect">
            <a:avLst/>
          </a:prstGeom>
          <a:noFill/>
          <a:ln w="31750">
            <a:solidFill>
              <a:srgbClr val="FFD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23168" y="3220489"/>
            <a:ext cx="1920240" cy="2743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36576" bIns="36576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FND 4자리 (세그먼트 · 자리)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7315200" y="1371600"/>
          <a:ext cx="4419295" cy="3072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81596"/>
                <a:gridCol w="1502560"/>
                <a:gridCol w="1149017"/>
                <a:gridCol w="486122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신호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보드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핀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방향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i_clk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 MHz 오실레이터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W5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i_reset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BTNC (가운데 버튼)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U18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i_sw0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SW0 — 멈춤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V17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i_sw1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SW1 — 초기화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V16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i_sw2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SW2 — 감소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W16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o_fnd_data[0:7]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세그먼트 CA~CG, DP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W7 W6 U8 V8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U5 V5 U7 V7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o_fnd_com[0:3]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자리 AN0~AN3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U2 U4 V4 W4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7315200" y="4800600"/>
            <a:ext cx="4419295" cy="1417320"/>
          </a:xfrm>
          <a:prstGeom prst="roundRect">
            <a:avLst>
              <a:gd name="adj" fmla="val 6000"/>
            </a:avLst>
          </a:prstGeom>
          <a:solidFill>
            <a:srgbClr val="E3F0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61504" y="4873752"/>
            <a:ext cx="4126687" cy="12710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클럭 제약</a:t>
            </a:r>
          </a:p>
          <a:p>
            <a:pPr algn="l"/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10 ns 주기(100 MHz) create_clock → 타이밍 분석의 기준 (p.5)</a:t>
            </a:r>
          </a:p>
          <a:p>
            <a:pPr algn="l"/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자리 선택 · 세그먼트 모두 0일 때 켜짐 (Active-Low)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05 · v2 검증 — 경계값 시뮬레이션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Boundary Test Plan — Ten Cases to Check in Simulation (Results Pending)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25880"/>
          <a:ext cx="7863840" cy="45262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88338"/>
                <a:gridCol w="1844604"/>
                <a:gridCol w="1747520"/>
                <a:gridCol w="2815449"/>
                <a:gridCol w="1067929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#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항목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(SW2 SW1 SW0)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기대 결과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증가 끝값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000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9998 → 9999 → 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감소 끝값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 → 0 → 9999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초기화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010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다음 Tick에 0 (최대 0.1초 지연)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초기화 &gt; 멈춤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011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초기화 &gt; 감소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전부 켬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멈춤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001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Tick이 와도 값 유지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멈춤 &gt; 감소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 유지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Tick 사이 스위치 변화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Tick 사이에 켰다 끔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 없음 (Tick 때만 판정)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리셋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BTNC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0 (클럭 대기 없음)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595360" y="1325880"/>
            <a:ext cx="3139135" cy="23774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41664" y="1435608"/>
            <a:ext cx="2846527" cy="2194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시뮬레이션 시간 줄이기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실제 Tick(1천만 클럭)으로 9999까지 가려면 1천억 클럭 — 계산값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TB에서 Tick 끝값만 10으로 바꾸면 경계까지 약 10만 클럭(1 ms) — 계산값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설계 코드는 그대로, 숫자 하나만 TB에서 덮어씀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3840480"/>
            <a:ext cx="3139135" cy="23774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41664" y="3950208"/>
            <a:ext cx="2846527" cy="2194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판정 방법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기대값을 설계와 따로 계산해 Tick마다 비교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불일치 수 · PASS/FAIL을 로그로 출력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결과 열은 시뮬레이션 후 채움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05 · v2 검증 — 시뮬레이션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Simulation Result — Do Up, Down, Clear, and Stop Behave Correctly at the Boundary Values?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11277295" cy="489204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19050">
            <a:solidFill>
              <a:srgbClr val="BDBDB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7295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400" b="1">
                <a:solidFill>
                  <a:srgbClr val="9E9E9E"/>
                </a:solidFill>
                <a:latin typeface="맑은 고딕"/>
                <a:ea typeface="맑은 고딕"/>
                <a:cs typeface="맑은 고딕"/>
              </a:rPr>
              <a:t>시뮬레이션 파형 캡처 자리</a:t>
            </a:r>
          </a:p>
          <a:p>
            <a:pPr algn="ctr"/>
            <a:r>
              <a:rPr sz="1100" b="0">
                <a:solidFill>
                  <a:srgbClr val="9E9E9E"/>
                </a:solidFill>
                <a:latin typeface="맑은 고딕"/>
                <a:ea typeface="맑은 고딕"/>
                <a:cs typeface="맑은 고딕"/>
              </a:rPr>
              <a:t>9999 → 0 · 0 → 9999 · 우선순위 전환 구간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05 · v2 검증 — 보드 결과 ① 초기화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Board Result — Clear Wins in All Four Combinations and the Display Shows 0000</a:t>
            </a:r>
          </a:p>
        </p:txBody>
      </p:sp>
      <p:pic>
        <p:nvPicPr>
          <p:cNvPr id="4" name="Picture 3" descr="p16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706" y="1280160"/>
            <a:ext cx="3529189" cy="1874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191256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SW2 SW1 SW0 = 110</a:t>
            </a:r>
            <a:r>
              <a:rPr sz="11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 초기화 + 감소</a:t>
            </a:r>
          </a:p>
        </p:txBody>
      </p:sp>
      <p:pic>
        <p:nvPicPr>
          <p:cNvPr id="6" name="Picture 5" descr="p16_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5634" y="1280160"/>
            <a:ext cx="3430372" cy="1874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17720" y="3191256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SW2 SW1 SW0 = 010</a:t>
            </a:r>
            <a:r>
              <a:rPr sz="11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 초기화만</a:t>
            </a:r>
          </a:p>
        </p:txBody>
      </p:sp>
      <p:pic>
        <p:nvPicPr>
          <p:cNvPr id="8" name="Picture 7" descr="p16_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123" y="3749040"/>
            <a:ext cx="2864354" cy="1874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660136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SW2 SW1 SW0 = 111</a:t>
            </a:r>
            <a:r>
              <a:rPr sz="11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 전부 켬</a:t>
            </a:r>
          </a:p>
        </p:txBody>
      </p:sp>
      <p:pic>
        <p:nvPicPr>
          <p:cNvPr id="10" name="Picture 9" descr="p16_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2089" y="3749040"/>
            <a:ext cx="3277463" cy="1874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17720" y="5660136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SW2 SW1 SW0 = 011</a:t>
            </a:r>
            <a:r>
              <a:rPr sz="11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 초기화 + 멈춤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0" y="1280160"/>
            <a:ext cx="3139135" cy="493776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1417320"/>
            <a:ext cx="2773375" cy="4754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✓ 4가지 조합 모두 0000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초기화 스위치(SW1)가 켜지면 다른 스위치와 상관없이 0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동작 표(p.17)의 초기화 4줄과 일치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E65100"/>
                </a:solidFill>
                <a:latin typeface="맑은 고딕"/>
                <a:ea typeface="맑은 고딕"/>
                <a:cs typeface="맑은 고딕"/>
              </a:rPr>
              <a:t>한계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사진은 결과 화면 1장 — 0이 된 시점(최대 0.1초 지연)은 시뮬레이션에서 확인 (p.20 ③)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5029200"/>
            <a:ext cx="1682496" cy="722376"/>
          </a:xfrm>
          <a:prstGeom prst="roundRect">
            <a:avLst>
              <a:gd name="adj" fmla="val 8000"/>
            </a:avLst>
          </a:prstGeom>
          <a:solidFill>
            <a:srgbClr val="1A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71889" y="5138928"/>
            <a:ext cx="165964" cy="55321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71889" y="5362727"/>
            <a:ext cx="165964" cy="55321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71889" y="5586527"/>
            <a:ext cx="165964" cy="55321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16568" y="5172121"/>
            <a:ext cx="55321" cy="190607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37853" y="5172121"/>
            <a:ext cx="55321" cy="190607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16568" y="5418049"/>
            <a:ext cx="55321" cy="190607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37853" y="5418049"/>
            <a:ext cx="55321" cy="190607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567367" y="5138928"/>
            <a:ext cx="165964" cy="55321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567367" y="5362727"/>
            <a:ext cx="165964" cy="55321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567367" y="5586527"/>
            <a:ext cx="165964" cy="55321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512046" y="5172121"/>
            <a:ext cx="55321" cy="190607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3331" y="5172121"/>
            <a:ext cx="55321" cy="190607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12046" y="5418049"/>
            <a:ext cx="55321" cy="190607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33331" y="5418049"/>
            <a:ext cx="55321" cy="190607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962845" y="5138928"/>
            <a:ext cx="165964" cy="55321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62845" y="5362727"/>
            <a:ext cx="165964" cy="55321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962845" y="5586527"/>
            <a:ext cx="165964" cy="55321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907524" y="5172121"/>
            <a:ext cx="55321" cy="190607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128809" y="5172121"/>
            <a:ext cx="55321" cy="190607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907524" y="5418049"/>
            <a:ext cx="55321" cy="190607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0128809" y="5418049"/>
            <a:ext cx="55321" cy="190607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358323" y="5138928"/>
            <a:ext cx="165964" cy="55321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358323" y="5362727"/>
            <a:ext cx="165964" cy="55321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358323" y="5586527"/>
            <a:ext cx="165964" cy="55321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303002" y="5172121"/>
            <a:ext cx="55321" cy="190607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524287" y="5172121"/>
            <a:ext cx="55321" cy="190607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303002" y="5418049"/>
            <a:ext cx="55321" cy="190607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524287" y="5418049"/>
            <a:ext cx="55321" cy="190607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05 · v2 검증 — 보드 결과 ② 멈춤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Board Result — Stop Holds the Count, and with Down Also On (101) Stop Still Wins</a:t>
            </a:r>
          </a:p>
        </p:txBody>
      </p:sp>
      <p:pic>
        <p:nvPicPr>
          <p:cNvPr id="4" name="Picture 3" descr="p17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3931920" cy="24945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893576"/>
            <a:ext cx="393192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SW2 SW1 SW0 = 011</a:t>
            </a:r>
          </a:p>
        </p:txBody>
      </p:sp>
      <p:pic>
        <p:nvPicPr>
          <p:cNvPr id="6" name="Picture 5" descr="p17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325880"/>
            <a:ext cx="3931920" cy="24511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17720" y="3850217"/>
            <a:ext cx="393192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SW2 SW1 SW0 = 101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15400" y="1325880"/>
            <a:ext cx="2819095" cy="48920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98280" y="1463040"/>
            <a:ext cx="2453335" cy="4663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✓ 101: 멈춤 &gt; 감소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멈춤과 감소가 함께 켜져도 값이 줄지 않고 유지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E65100"/>
                </a:solidFill>
                <a:latin typeface="맑은 고딕"/>
                <a:ea typeface="맑은 고딕"/>
                <a:cs typeface="맑은 고딕"/>
              </a:rPr>
              <a:t>확인 필요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011은 동작 표상 초기화 조건(→ 0000). 사진 입력값 라벨 확인 후 수정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3484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3F0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4507992"/>
            <a:ext cx="7845552" cy="7680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멈춤은 '쓰기 금지' </a:t>
            </a: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— 레지스터 CE를 끄는 방식(p.18 ⑥)이라 Tick이 와도 값이 그대로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05 · v2 검증 — 보드 결과 ③ 감소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Board Result — Down Mode Counts Backward One Step per Tick</a:t>
            </a:r>
          </a:p>
        </p:txBody>
      </p:sp>
      <p:pic>
        <p:nvPicPr>
          <p:cNvPr id="4" name="Picture 3" descr="p18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3931920" cy="2151362"/>
          </a:xfrm>
          <a:prstGeom prst="rect">
            <a:avLst/>
          </a:prstGeom>
        </p:spPr>
      </p:pic>
      <p:pic>
        <p:nvPicPr>
          <p:cNvPr id="5" name="Picture 4" descr="p18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325880"/>
            <a:ext cx="3931920" cy="24450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069080"/>
            <a:ext cx="809244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SW2만 켬 (100) — 감소</a:t>
            </a: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 사진 2장 사이 표시값이 줄어듦 (99xx대)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325880"/>
            <a:ext cx="2819095" cy="48920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98280" y="1463040"/>
            <a:ext cx="2453335" cy="4663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✓ 감소 동작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Tick마다 1씩 감소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E65100"/>
                </a:solidFill>
                <a:latin typeface="맑은 고딕"/>
                <a:ea typeface="맑은 고딕"/>
                <a:cs typeface="맑은 고딕"/>
              </a:rPr>
              <a:t>남은 확인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0 다음 9999 되돌림 순간은 사진으로 잡기 어려움 → 경계값 시뮬레이션(p.20 ②)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68880" y="4617720"/>
            <a:ext cx="2276856" cy="960120"/>
          </a:xfrm>
          <a:prstGeom prst="roundRect">
            <a:avLst>
              <a:gd name="adj" fmla="val 8000"/>
            </a:avLst>
          </a:prstGeom>
          <a:solidFill>
            <a:srgbClr val="1A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81478" y="4754880"/>
            <a:ext cx="226314" cy="7543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81478" y="5060061"/>
            <a:ext cx="226314" cy="7543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81478" y="5365242"/>
            <a:ext cx="226314" cy="7543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06040" y="4800143"/>
            <a:ext cx="75438" cy="25991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07792" y="4800143"/>
            <a:ext cx="75438" cy="25991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06040" y="5135499"/>
            <a:ext cx="75438" cy="259918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907792" y="5135499"/>
            <a:ext cx="75438" cy="25991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23260" y="4754880"/>
            <a:ext cx="226314" cy="7543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23260" y="5060061"/>
            <a:ext cx="226314" cy="7543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223260" y="5365242"/>
            <a:ext cx="226314" cy="7543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147822" y="4800143"/>
            <a:ext cx="75438" cy="25991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49574" y="4800143"/>
            <a:ext cx="75438" cy="25991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147822" y="5135499"/>
            <a:ext cx="75438" cy="259918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449574" y="5135499"/>
            <a:ext cx="75438" cy="25991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65042" y="4754880"/>
            <a:ext cx="226314" cy="7543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765042" y="5060061"/>
            <a:ext cx="226314" cy="7543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765042" y="5365242"/>
            <a:ext cx="226314" cy="7543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89604" y="4800143"/>
            <a:ext cx="75438" cy="25991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991356" y="4800143"/>
            <a:ext cx="75438" cy="25991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689604" y="5135499"/>
            <a:ext cx="75438" cy="259918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991356" y="5135499"/>
            <a:ext cx="75438" cy="25991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306824" y="4754880"/>
            <a:ext cx="226314" cy="7543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306824" y="5060061"/>
            <a:ext cx="226314" cy="7543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306824" y="5365242"/>
            <a:ext cx="226314" cy="7543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231386" y="4800143"/>
            <a:ext cx="75438" cy="25991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533138" y="4800143"/>
            <a:ext cx="75438" cy="25991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231386" y="5135499"/>
            <a:ext cx="75438" cy="259918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33138" y="5135499"/>
            <a:ext cx="75438" cy="25991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94960" y="480060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0 → 9999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감소 경계 (기대 동작)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06 · 평가 — 검증 방법론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Verification Assessment 19 / 40 — Tick Timing Is Proven; Switch Logic Rests on Board Photos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25880"/>
          <a:ext cx="8229600" cy="4114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28800"/>
                <a:gridCol w="1005840"/>
                <a:gridCol w="539496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점수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커버리지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●●○○○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v1 Tick · 끝값 확인 / v2 스위치는 보드 사진 6/8 조합, 시뮬레이션 없음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기대값 독립성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●○○○○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기대값 없이 파형을 눈으로 비교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관측 지점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●●○○○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카운트 · 자리 신호 관찰, 실제 FND 출력 핀 해석 없음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 타이밍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●●●●○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커서로 Tick 시각(100.000005 ms)과 1클럭 폭까지 정밀 확인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판정 · 리포트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●○○○○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수 · PASS/FAIL 출력 없음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보드용 Top 시뮬레이션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E651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●●●○○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v1 Top 전체 시뮬레이션 ✓ / v2 Top 미실시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문제 해결 절차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E651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●●●○○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우선순위를 조합별로 보드에서 재확인, 시뮬레이션 근거 없음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문서화 · 재현성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E651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●●●○○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커서 시각 기록 양호 / TB가 실시간 3억 ns 대기로 느림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961120" y="1325880"/>
            <a:ext cx="2773375" cy="2103120"/>
          </a:xfrm>
          <a:prstGeom prst="roundRect">
            <a:avLst>
              <a:gd name="adj" fmla="val 6000"/>
            </a:avLst>
          </a:prstGeom>
          <a:solidFill>
            <a:srgbClr val="17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0" y="1463040"/>
            <a:ext cx="2773375" cy="1920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4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19</a:t>
            </a:r>
            <a:r>
              <a:rPr sz="20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/ 40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 · 보강 필요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3566160"/>
            <a:ext cx="2773375" cy="141732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07424" y="3675888"/>
            <a:ext cx="2480767" cy="1234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가장 큰 빈칸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스위치 판정이 Tick 때만 일어나는 구조 — Tick과 스위치 변화가 겹치는 순간은 보드로 재현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5120640"/>
            <a:ext cx="2773375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기준: v2 경계값 시뮬레이션 결과 첨부 전 · 결함 주입 미실시. 결과 추가 시 재평가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06 · 평가 — 개선 제안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Next Steps — A Fast Self-Checking Testbench and a Single-Clock FND Scan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5501488" cy="22860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94360" y="1463040"/>
            <a:ext cx="365760" cy="36576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481328"/>
            <a:ext cx="4678528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Tick 주기를 바꿀 수 있는 시뮬레이션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65960"/>
            <a:ext cx="4678528" cy="1554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164592" indent="-164592">
              <a:spcAft>
                <a:spcPts val="5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TB에서 Tick 끝값만 10으로 덮어쓰기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9999 경계까지 1천억 → 약 10만 클럭 (계산값)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p.20의 10가지 경우를 몇 ms 안에 확인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8" y="1325880"/>
            <a:ext cx="5501488" cy="22860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70168" y="1463040"/>
            <a:ext cx="365760" cy="36576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73088" y="1481328"/>
            <a:ext cx="4678528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자동 판정 TB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3088" y="1965960"/>
            <a:ext cx="4678528" cy="1554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164592" indent="-164592">
              <a:spcAft>
                <a:spcPts val="5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입력 → 설계와 독립된 기대값 모델 → 비교 → 오류 수 · PASS/FAIL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FND 출력 핀(세그먼트 · 자리)을 숫자로 되돌려 비교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사람 눈 대신 로그가 판정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794760"/>
            <a:ext cx="5501488" cy="22860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3931920"/>
            <a:ext cx="365760" cy="36576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950208"/>
            <a:ext cx="4678528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FND 스캔도 Tick으로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34840"/>
            <a:ext cx="4678528" cy="1554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164592" indent="-164592">
              <a:spcAft>
                <a:spcPts val="5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 kHz 분주 클럭 → 100 MHz 클럭 + 1 kHz Tick(CE)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설계 전체가 클럭 1개 → 모든 경로가 타이밍 검사 대상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Q3 원칙(p.6)을 설계 전체에 일관 적용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8" y="3794760"/>
            <a:ext cx="5501488" cy="22860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0168" y="3931920"/>
            <a:ext cx="365760" cy="365760"/>
          </a:xfrm>
          <a:prstGeom prst="ellipse">
            <a:avLst/>
          </a:prstGeom>
          <a:solidFill>
            <a:srgbClr val="E65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3088" y="3950208"/>
            <a:ext cx="4678528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E65100"/>
                </a:solidFill>
                <a:latin typeface="맑은 고딕"/>
                <a:ea typeface="맑은 고딕"/>
                <a:cs typeface="맑은 고딕"/>
              </a:rPr>
              <a:t>스위치 입력 동기화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3088" y="4434840"/>
            <a:ext cx="4678528" cy="1554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164592" indent="-164592">
              <a:spcAft>
                <a:spcPts val="5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스위치는 클럭과 무관하게 바뀜 → FF 2단으로 받아 메타스테이블 방지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참고: 분주기는 100,001클럭 주기(≈999.99 Hz) — 동작 영향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  <a:ea typeface="맑은 고딕"/>
                <a:cs typeface="맑은 고딕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3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One Clock, Many Rates — Ticks Let 100 MHz Logic Work in 0.1-Second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576218" cy="4023360"/>
          </a:xfrm>
          <a:prstGeom prst="roundRect">
            <a:avLst>
              <a:gd name="adj" fmla="val 6000"/>
            </a:avLst>
          </a:prstGeom>
          <a:solidFill>
            <a:srgbClr val="22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3119018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>
                <a:solidFill>
                  <a:srgbClr val="7DD3A8"/>
                </a:solidFill>
                <a:latin typeface="맑은 고딕"/>
                <a:ea typeface="맑은 고딕"/>
                <a:cs typeface="맑은 고딕"/>
              </a:rPr>
              <a:t>설계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23160"/>
            <a:ext cx="3119018" cy="3017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164592" indent="-164592">
              <a:spcAft>
                <a:spcPts val="1600"/>
              </a:spcAft>
              <a:buChar char="•"/>
            </a:pPr>
            <a:r>
              <a:rPr sz="1500" b="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100 MHz 클럭 1개 + 0.1초 Tick으로 0~9999 카운터 완성</a:t>
            </a:r>
          </a:p>
          <a:p>
            <a:pPr algn="l" marL="164592" indent="-164592">
              <a:spcAft>
                <a:spcPts val="1600"/>
              </a:spcAft>
              <a:buChar char="•"/>
            </a:pPr>
            <a:r>
              <a:rPr sz="1500" b="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스위치 8조합을 표 하나로 판정 — 초기화 &gt; 멈춤 &gt; 감소</a:t>
            </a:r>
          </a:p>
          <a:p>
            <a:pPr algn="l" marL="164592" indent="-164592">
              <a:spcAft>
                <a:spcPts val="1600"/>
              </a:spcAft>
              <a:buChar char="•"/>
            </a:pPr>
            <a:r>
              <a:rPr sz="1500" b="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합성 결과에서 Tick이 레지스터 CE 핀으로 연결됨을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7738" y="1554480"/>
            <a:ext cx="3576218" cy="4023360"/>
          </a:xfrm>
          <a:prstGeom prst="roundRect">
            <a:avLst>
              <a:gd name="adj" fmla="val 6000"/>
            </a:avLst>
          </a:prstGeom>
          <a:solidFill>
            <a:srgbClr val="22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6338" y="1783080"/>
            <a:ext cx="3119018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>
                <a:solidFill>
                  <a:srgbClr val="FFB74D"/>
                </a:solidFill>
                <a:latin typeface="맑은 고딕"/>
                <a:ea typeface="맑은 고딕"/>
                <a:cs typeface="맑은 고딕"/>
              </a:rPr>
              <a:t>검증 현황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6338" y="2423160"/>
            <a:ext cx="3119018" cy="3017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164592" indent="-164592">
              <a:spcAft>
                <a:spcPts val="1600"/>
              </a:spcAft>
              <a:buChar char="•"/>
            </a:pPr>
            <a:r>
              <a:rPr sz="1500" b="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Tick 주기 100 ms, 1클럭 폭, 9999 → 0 시뮬레이션 확인</a:t>
            </a:r>
          </a:p>
          <a:p>
            <a:pPr algn="l" marL="164592" indent="-164592">
              <a:spcAft>
                <a:spcPts val="1600"/>
              </a:spcAft>
              <a:buChar char="•"/>
            </a:pPr>
            <a:r>
              <a:rPr sz="1500" b="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v2 우선순위는 보드 사진으로 확인 (6/8 조합)</a:t>
            </a:r>
          </a:p>
          <a:p>
            <a:pPr algn="l" marL="164592" indent="-164592">
              <a:spcAft>
                <a:spcPts val="1600"/>
              </a:spcAft>
              <a:buChar char="•"/>
            </a:pPr>
            <a:r>
              <a:rPr sz="1500" b="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v2 경계값 시뮬레이션 결과 공란 — 평가 19 / 40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8277" y="1554480"/>
            <a:ext cx="3576218" cy="4023360"/>
          </a:xfrm>
          <a:prstGeom prst="roundRect">
            <a:avLst>
              <a:gd name="adj" fmla="val 6000"/>
            </a:avLst>
          </a:prstGeom>
          <a:solidFill>
            <a:srgbClr val="22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6877" y="1783080"/>
            <a:ext cx="3119018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>
                <a:solidFill>
                  <a:srgbClr val="90CAF9"/>
                </a:solidFill>
                <a:latin typeface="맑은 고딕"/>
                <a:ea typeface="맑은 고딕"/>
                <a:cs typeface="맑은 고딕"/>
              </a:rPr>
              <a:t>배운 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6877" y="2423160"/>
            <a:ext cx="3119018" cy="3017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164592" indent="-164592">
              <a:spcAft>
                <a:spcPts val="1600"/>
              </a:spcAft>
              <a:buChar char="•"/>
            </a:pPr>
            <a:r>
              <a:rPr sz="1500" b="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클럭을 나누지 말고 '일할 때'를 나눈다 — Tick = Enable</a:t>
            </a:r>
          </a:p>
          <a:p>
            <a:pPr algn="l" marL="164592" indent="-164592">
              <a:spcAft>
                <a:spcPts val="1600"/>
              </a:spcAft>
              <a:buChar char="•"/>
            </a:pPr>
            <a:r>
              <a:rPr sz="1500" b="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하드웨어는 모든 경우를 병렬로 만들고 고르기만 한다</a:t>
            </a:r>
          </a:p>
          <a:p>
            <a:pPr algn="l" marL="164592" indent="-164592">
              <a:spcAft>
                <a:spcPts val="1600"/>
              </a:spcAft>
              <a:buChar char="•"/>
            </a:pPr>
            <a:r>
              <a:rPr sz="1500" b="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긴 주기 설계는 TB에서 주기를 줄여야 경계값을 볼 수 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8A9BB5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00" b="0">
                <a:solidFill>
                  <a:srgbClr val="8A9BB5"/>
                </a:solidFill>
                <a:latin typeface="맑은 고딕"/>
                <a:ea typeface="맑은 고딕"/>
                <a:cs typeface="맑은 고딕"/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Tick 기반 0~9999 카운터</dc:title>
  <dc:subject/>
  <dc:creator>정안성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