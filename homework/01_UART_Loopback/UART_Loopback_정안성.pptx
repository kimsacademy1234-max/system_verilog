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맑은 고딕"/>
              </a:defRPr>
            </a:pPr>
            <a:r>
              <a:rPr sz="1300" b="0" i="0" u="none" strike="noStrike">
                <a:solidFill>
                  <a:srgbClr val="475569"/>
                </a:solidFill>
                <a:latin typeface="맑은 고딕"/>
              </a:rPr>
              <a:t>Worst sampling margin (%) = 50 − 100 / 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worst margin (%)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172A"/>
                    </a:solidFill>
                    <a:latin typeface="맑은 고딕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369A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4x</c:v>
                  </c:pt>
                  <c:pt idx="1">
                    <c:v>8x</c:v>
                  </c:pt>
                  <c:pt idx="2">
                    <c:v>16x</c:v>
                  </c:pt>
                  <c:pt idx="3">
                    <c:v>32x</c:v>
                  </c:pt>
                  <c:pt idx="4">
                    <c:v>64x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37.5</c:v>
                </c:pt>
                <c:pt idx="2">
                  <c:v>43.75</c:v>
                </c:pt>
                <c:pt idx="3">
                  <c:v>46.88</c:v>
                </c:pt>
                <c:pt idx="4">
                  <c:v>48.44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1" i="0" strike="noStrike" sz="1300" u="none">
                  <a:solidFill>
                    <a:srgbClr val="0F172A"/>
                  </a:solidFill>
                  <a:latin typeface="맑은 고딕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475569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맑은 고딕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100" Type="http://schemas.openxmlformats.org/officeDocument/2006/relationships/image" Target="../media/hw_image2.png"/><Relationship Id="rId101" Type="http://schemas.openxmlformats.org/officeDocument/2006/relationships/image" Target="../media/hw_image3.png"/><Relationship Id="rId102" Type="http://schemas.openxmlformats.org/officeDocument/2006/relationships/image" Target="../media/hw_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100" Type="http://schemas.openxmlformats.org/officeDocument/2006/relationships/image" Target="../media/hw_image5.png"/><Relationship Id="rId101" Type="http://schemas.openxmlformats.org/officeDocument/2006/relationships/image" Target="../media/hw_image6.png"/><Relationship Id="rId102" Type="http://schemas.openxmlformats.org/officeDocument/2006/relationships/image" Target="../media/hw_image7.png"/><Relationship Id="rId103" Type="http://schemas.openxmlformats.org/officeDocument/2006/relationships/image" Target="../media/hw_image8.png"/><Relationship Id="rId104" Type="http://schemas.openxmlformats.org/officeDocument/2006/relationships/image" Target="../media/hw_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100" Type="http://schemas.openxmlformats.org/officeDocument/2006/relationships/image" Target="../media/hw_image10.png"/><Relationship Id="rId101" Type="http://schemas.openxmlformats.org/officeDocument/2006/relationships/image" Target="../media/hw_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100" Type="http://schemas.openxmlformats.org/officeDocument/2006/relationships/image" Target="../media/hw_image12.png"/><Relationship Id="rId101" Type="http://schemas.openxmlformats.org/officeDocument/2006/relationships/image" Target="../media/hw_image13.png"/><Relationship Id="rId102" Type="http://schemas.openxmlformats.org/officeDocument/2006/relationships/image" Target="../media/hw_image1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100" Type="http://schemas.openxmlformats.org/officeDocument/2006/relationships/image" Target="../media/hw_image15.png"/><Relationship Id="rId101" Type="http://schemas.openxmlformats.org/officeDocument/2006/relationships/image" Target="../media/hw_image16.png"/><Relationship Id="rId102" Type="http://schemas.openxmlformats.org/officeDocument/2006/relationships/image" Target="../media/hw_image17.png"/><Relationship Id="rId103" Type="http://schemas.openxmlformats.org/officeDocument/2006/relationships/image" Target="../media/hw_image18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100" Type="http://schemas.openxmlformats.org/officeDocument/2006/relationships/image" Target="../media/hw_image19.png"/><Relationship Id="rId101" Type="http://schemas.openxmlformats.org/officeDocument/2006/relationships/image" Target="../media/hw_image20.png"/><Relationship Id="rId102" Type="http://schemas.openxmlformats.org/officeDocument/2006/relationships/image" Target="../media/hw_image21.png"/><Relationship Id="rId103" Type="http://schemas.openxmlformats.org/officeDocument/2006/relationships/image" Target="../media/hw_image22.png"/><Relationship Id="rId104" Type="http://schemas.openxmlformats.org/officeDocument/2006/relationships/image" Target="../media/hw_image23.png"/><Relationship Id="rId105" Type="http://schemas.openxmlformats.org/officeDocument/2006/relationships/image" Target="../media/hw_image24.png"/><Relationship Id="rId106" Type="http://schemas.openxmlformats.org/officeDocument/2006/relationships/image" Target="../media/hw_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34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09600" y="1619250"/>
            <a:ext cx="419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18CF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VERILOG  ·  TEAM PROJECT 02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09600" y="1962150"/>
            <a:ext cx="43815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Loopback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2590800"/>
            <a:ext cx="4381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· 시뮬레이션 검증 · 보드 시연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09600" y="36195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6195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6195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9200" y="36195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19200" y="39243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24000" y="39243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24000" y="39243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39243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39243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3600" y="39243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33600" y="39243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38400" y="39243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438400" y="39243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2743200" y="36195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36195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48000" y="36195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48000" y="36195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52800" y="36195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2800" y="39243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0" y="39243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0" y="39243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962400" y="3619500"/>
            <a:ext cx="0" cy="30480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962400" y="36195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67200" y="3619500"/>
            <a:ext cx="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67200" y="3619500"/>
            <a:ext cx="304800" cy="0"/>
          </a:xfrm>
          <a:prstGeom prst="line">
            <a:avLst/>
          </a:prstGeom>
          <a:noFill/>
          <a:ln w="28575">
            <a:solidFill>
              <a:srgbClr val="818CF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2192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15240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8288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21336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24384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27432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30480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33528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36576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3962400" y="4000500"/>
            <a:ext cx="3048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09600" y="4248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0x30 '0'  ·  8N1  ·  9600 bps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09600" y="5715000"/>
            <a:ext cx="2857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09600" y="598170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2026. 10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096000" y="16192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6096000" y="18288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</a:t>
            </a:r>
            <a:endParaRPr lang="en-US" sz="2800" dirty="0"/>
          </a:p>
        </p:txBody>
      </p:sp>
      <p:sp>
        <p:nvSpPr>
          <p:cNvPr id="46" name="Text 44"/>
          <p:cNvSpPr txBox="1"/>
          <p:nvPr/>
        </p:nvSpPr>
        <p:spPr>
          <a:xfrm>
            <a:off x="6096000" y="22479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Basys-3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096000" y="25527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096000" y="26670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</a:t>
            </a:r>
            <a:endParaRPr lang="en-US" sz="1200" dirty="0"/>
          </a:p>
        </p:txBody>
      </p:sp>
      <p:sp>
        <p:nvSpPr>
          <p:cNvPr id="49" name="Text 47"/>
          <p:cNvSpPr txBox="1"/>
          <p:nvPr/>
        </p:nvSpPr>
        <p:spPr>
          <a:xfrm>
            <a:off x="6096000" y="28765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9600 bps</a:t>
            </a:r>
            <a:endParaRPr lang="en-US" sz="2800" dirty="0"/>
          </a:p>
        </p:txBody>
      </p:sp>
      <p:sp>
        <p:nvSpPr>
          <p:cNvPr id="50" name="Text 48"/>
          <p:cNvSpPr txBox="1"/>
          <p:nvPr/>
        </p:nvSpPr>
        <p:spPr>
          <a:xfrm>
            <a:off x="6096000" y="32956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8N1 · LSB first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6096000" y="360045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096000" y="371475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oversampling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096000" y="392430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16x</a:t>
            </a:r>
            <a:endParaRPr lang="en-US" sz="2800" dirty="0"/>
          </a:p>
        </p:txBody>
      </p:sp>
      <p:sp>
        <p:nvSpPr>
          <p:cNvPr id="54" name="Text 52"/>
          <p:cNvSpPr txBox="1"/>
          <p:nvPr/>
        </p:nvSpPr>
        <p:spPr>
          <a:xfrm>
            <a:off x="6096000" y="434340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6.51 µs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096000" y="4648200"/>
            <a:ext cx="5334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6096000" y="4762500"/>
            <a:ext cx="285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sampling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096000" y="4972050"/>
            <a:ext cx="4953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BIT mode</a:t>
            </a:r>
            <a:endParaRPr lang="en-US" sz="2800" dirty="0"/>
          </a:p>
        </p:txBody>
      </p:sp>
      <p:sp>
        <p:nvSpPr>
          <p:cNvPr id="58" name="Text 56"/>
          <p:cNvSpPr txBox="1"/>
          <p:nvPr/>
        </p:nvSpPr>
        <p:spPr>
          <a:xfrm>
            <a:off x="6096000" y="5391150"/>
            <a:ext cx="495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1회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3400" y="609600"/>
            <a:ext cx="3810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33400" y="1219200"/>
            <a:ext cx="40005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→ uart_rx → uart_tx → PC loopback으로</a:t>
            </a:r>
            <a:endParaRPr lang="en-US" sz="13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· TX를 한 번에 검증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26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4953000" y="4953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5676900" y="4953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Summary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5676900" y="7429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수치 · 검증 결과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572750" y="5334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3000" y="10096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953000" y="10858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5676900" y="10858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목적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676900" y="13335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대상 · 목표 동작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10572750" y="11239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53000" y="16002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53000" y="16764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676900" y="16764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Reference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5676900" y="19240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프로토콜 · 16x oversampling · margin · 16x 선택 이유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10572750" y="17145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5 – 8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53000" y="21907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53000" y="22669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5676900" y="22669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블록 다이어그램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676900" y="25146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uart_loopback · top_ascii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572750" y="23050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9 – 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953000" y="27813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53000" y="28575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676900" y="28575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ASM 차트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5676900" y="31051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 · uart_tx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572750" y="28956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11 – 12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953000" y="33718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953000" y="34480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200" dirty="0"/>
          </a:p>
        </p:txBody>
      </p:sp>
      <p:sp>
        <p:nvSpPr>
          <p:cNvPr id="31" name="Text 29"/>
          <p:cNvSpPr txBox="1"/>
          <p:nvPr/>
        </p:nvSpPr>
        <p:spPr>
          <a:xfrm>
            <a:off x="5676900" y="34480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시뮬레이션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676900" y="36957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· RX 타이밍 · Data sampling · TX echo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10572750" y="34861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13 – 16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53000" y="39624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953000" y="40386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91C1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200" dirty="0"/>
          </a:p>
        </p:txBody>
      </p:sp>
      <p:sp>
        <p:nvSpPr>
          <p:cNvPr id="36" name="Text 34"/>
          <p:cNvSpPr txBox="1"/>
          <p:nvPr/>
        </p:nvSpPr>
        <p:spPr>
          <a:xfrm>
            <a:off x="5676900" y="40386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 슈팅</a:t>
            </a:r>
            <a:endParaRPr lang="en-US" sz="1700" dirty="0"/>
          </a:p>
        </p:txBody>
      </p:sp>
      <p:sp>
        <p:nvSpPr>
          <p:cNvPr id="37" name="Text 35"/>
          <p:cNvSpPr txBox="1"/>
          <p:nvPr/>
        </p:nvSpPr>
        <p:spPr>
          <a:xfrm>
            <a:off x="5676900" y="42862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현상 → 원인 → 해결 → 적용 결과</a:t>
            </a:r>
            <a:endParaRPr lang="en-US" sz="1150" dirty="0"/>
          </a:p>
        </p:txBody>
      </p:sp>
      <p:sp>
        <p:nvSpPr>
          <p:cNvPr id="38" name="Text 36"/>
          <p:cNvSpPr txBox="1"/>
          <p:nvPr/>
        </p:nvSpPr>
        <p:spPr>
          <a:xfrm>
            <a:off x="10572750" y="40767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17 – 18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953000" y="45529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4953000" y="46291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5676900" y="46291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</a:t>
            </a:r>
            <a:endParaRPr lang="en-US" sz="1700" dirty="0"/>
          </a:p>
        </p:txBody>
      </p:sp>
      <p:sp>
        <p:nvSpPr>
          <p:cNvPr id="42" name="Text 40"/>
          <p:cNvSpPr txBox="1"/>
          <p:nvPr/>
        </p:nvSpPr>
        <p:spPr>
          <a:xfrm>
            <a:off x="5676900" y="48768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ComPortMaster · Basys-3 FND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10572750" y="46672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19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953000" y="51435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953000" y="521970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2200" dirty="0"/>
          </a:p>
        </p:txBody>
      </p:sp>
      <p:sp>
        <p:nvSpPr>
          <p:cNvPr id="46" name="Text 44"/>
          <p:cNvSpPr txBox="1"/>
          <p:nvPr/>
        </p:nvSpPr>
        <p:spPr>
          <a:xfrm>
            <a:off x="5676900" y="52197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고찰</a:t>
            </a:r>
            <a:endParaRPr lang="en-US" sz="1700" dirty="0"/>
          </a:p>
        </p:txBody>
      </p:sp>
      <p:sp>
        <p:nvSpPr>
          <p:cNvPr id="47" name="Text 45"/>
          <p:cNvSpPr txBox="1"/>
          <p:nvPr/>
        </p:nvSpPr>
        <p:spPr>
          <a:xfrm>
            <a:off x="5676900" y="546735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· ONE BIT mode 한계 · 개선 방향</a:t>
            </a:r>
            <a:endParaRPr lang="en-US" sz="1150" dirty="0"/>
          </a:p>
        </p:txBody>
      </p:sp>
      <p:sp>
        <p:nvSpPr>
          <p:cNvPr id="48" name="Text 46"/>
          <p:cNvSpPr txBox="1"/>
          <p:nvPr/>
        </p:nvSpPr>
        <p:spPr>
          <a:xfrm>
            <a:off x="10572750" y="525780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953000" y="573405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53000" y="5810250"/>
            <a:ext cx="60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51" name="Text 49"/>
          <p:cNvSpPr txBox="1"/>
          <p:nvPr/>
        </p:nvSpPr>
        <p:spPr>
          <a:xfrm>
            <a:off x="5676900" y="581025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APPENDIX</a:t>
            </a:r>
            <a:endParaRPr lang="en-US" sz="1700" dirty="0"/>
          </a:p>
        </p:txBody>
      </p:sp>
      <p:sp>
        <p:nvSpPr>
          <p:cNvPr id="52" name="Text 50"/>
          <p:cNvSpPr txBox="1"/>
          <p:nvPr/>
        </p:nvSpPr>
        <p:spPr>
          <a:xfrm>
            <a:off x="5676900" y="6057900"/>
            <a:ext cx="495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입력 방법 · 폭 기준 · 결과</a:t>
            </a:r>
            <a:endParaRPr lang="en-US" sz="1150" dirty="0"/>
          </a:p>
        </p:txBody>
      </p:sp>
      <p:sp>
        <p:nvSpPr>
          <p:cNvPr id="53" name="Text 51"/>
          <p:cNvSpPr txBox="1"/>
          <p:nvPr/>
        </p:nvSpPr>
        <p:spPr>
          <a:xfrm>
            <a:off x="10572750" y="5848350"/>
            <a:ext cx="114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p. 22 – 26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953000" y="6324600"/>
            <a:ext cx="676275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00  ·  Summary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Summary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16x Oversampling UART Loopback 구현 · 검증 결과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uart_rx 출력을 uart_tx 입력에 직결 → PC 송신 byte를 그대로 echo · FND 4자리 표시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256 byte echo · START glitch 23 case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PASS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data bit glitch는 bit 중앙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case FAIL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(ONE BIT mode)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96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Oversampling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096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16x</a:t>
            </a:r>
            <a:endParaRPr lang="en-US" sz="4600" dirty="0"/>
          </a:p>
        </p:txBody>
      </p:sp>
      <p:sp>
        <p:nvSpPr>
          <p:cNvPr id="15" name="Shape 13"/>
          <p:cNvSpPr/>
          <p:nvPr/>
        </p:nvSpPr>
        <p:spPr>
          <a:xfrm>
            <a:off x="6096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96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6.51 µs · 1 bit = 16 tick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291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577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동작 주파수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4577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</a:t>
            </a:r>
            <a:endParaRPr lang="en-US" sz="4600" dirty="0"/>
          </a:p>
        </p:txBody>
      </p:sp>
      <p:sp>
        <p:nvSpPr>
          <p:cNvPr id="20" name="Shape 18"/>
          <p:cNvSpPr/>
          <p:nvPr/>
        </p:nvSpPr>
        <p:spPr>
          <a:xfrm>
            <a:off x="44577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577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÷ 651 → 153.6 kHz b_tick → 9600.6 bps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77200" y="1752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05800" y="1924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margin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305800" y="2228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43.75 %</a:t>
            </a:r>
            <a:endParaRPr lang="en-US" sz="4600" dirty="0"/>
          </a:p>
        </p:txBody>
      </p:sp>
      <p:sp>
        <p:nvSpPr>
          <p:cNvPr id="25" name="Shape 23"/>
          <p:cNvSpPr/>
          <p:nvPr/>
        </p:nvSpPr>
        <p:spPr>
          <a:xfrm>
            <a:off x="8305800" y="3143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305800" y="3238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검출 지연 1 tick 반영 (늦은 쪽)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810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096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Loopback echo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096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256</a:t>
            </a:r>
            <a:endParaRPr lang="en-US" sz="4600" dirty="0"/>
          </a:p>
        </p:txBody>
      </p:sp>
      <p:sp>
        <p:nvSpPr>
          <p:cNvPr id="30" name="Shape 28"/>
          <p:cNvSpPr/>
          <p:nvPr/>
        </p:nvSpPr>
        <p:spPr>
          <a:xfrm>
            <a:off x="6096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96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0x00 ~ 0xFF 송신 = echo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2291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4577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glitch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44577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23</a:t>
            </a:r>
            <a:endParaRPr lang="en-US" sz="4600" dirty="0"/>
          </a:p>
        </p:txBody>
      </p:sp>
      <p:sp>
        <p:nvSpPr>
          <p:cNvPr id="35" name="Shape 33"/>
          <p:cNvSpPr/>
          <p:nvPr/>
        </p:nvSpPr>
        <p:spPr>
          <a:xfrm>
            <a:off x="44577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4577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전 6 / 23 → 수정 후 전부 PASS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077200" y="4038600"/>
            <a:ext cx="3657600" cy="2000250"/>
          </a:xfrm>
          <a:prstGeom prst="roundRect">
            <a:avLst>
              <a:gd name="adj" fmla="val 381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05800" y="421005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bit glitch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8305800" y="4514850"/>
            <a:ext cx="32385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/ 320</a:t>
            </a:r>
            <a:endParaRPr lang="en-US" sz="4600" dirty="0"/>
          </a:p>
        </p:txBody>
      </p:sp>
      <p:sp>
        <p:nvSpPr>
          <p:cNvPr id="40" name="Shape 38"/>
          <p:cNvSpPr/>
          <p:nvPr/>
        </p:nvSpPr>
        <p:spPr>
          <a:xfrm>
            <a:off x="8305800" y="542925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305800" y="5524500"/>
            <a:ext cx="323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sampling edge 64 case FAIL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·  목적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목적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PC ↔ FPGA UART 송수신 구현 · Loopback으로 RX · TX 동시 검증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받은 byte를 그대로 되돌려 보내는 loopback → echo 하나로 uart_rx · uart_tx 둘 다 확인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수신 문자를 FND에 표시 · glitch가 들어와도 가짜 byte를 받지 않는 RX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143000" y="1695450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143000" y="17526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0383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sender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86100" y="2028825"/>
            <a:ext cx="59055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14750" y="1695450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14750" y="17526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714750" y="20383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57850" y="2028825"/>
            <a:ext cx="59055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86500" y="1695450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6500" y="17526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286500" y="20383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LSB first 송신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2028825"/>
            <a:ext cx="590550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58250" y="1695450"/>
            <a:ext cx="1905000" cy="666750"/>
          </a:xfrm>
          <a:prstGeom prst="roundRect">
            <a:avLst>
              <a:gd name="adj" fmla="val 11429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58250" y="1752600"/>
            <a:ext cx="190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858250" y="2038350"/>
            <a:ext cx="1905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receiver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3086100" y="1809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657850" y="182880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8229600" y="18097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2686050"/>
          <a:ext cx="11430000" cy="914400"/>
        </p:xfrm>
        <a:graphic>
          <a:graphicData uri="http://schemas.openxmlformats.org/drawingml/2006/table">
            <a:tbl>
              <a:tblPr/>
              <a:tblGrid>
                <a:gridCol w="571500"/>
                <a:gridCol w="2095500"/>
                <a:gridCol w="6572250"/>
                <a:gridCol w="219075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대상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목표 동작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BE123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uart_rx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 fall → START 8 tick으로 bit 중앙 정렬 → 16 tick마다 1 bit → rx_done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 #1 · #2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D4ED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uart_tx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tx_start → START · D0 ~ D7 (LSB first) · STOP 각 16 tick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 #3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338C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uart_loopback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 → tx_start, rx_data → tx_data 직결 → echo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 #3 · 256 case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475569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top_ascii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ASCII → hex → FND 4자리 shift, hex 외 문자 '-'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 시연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C2626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내성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구간 glitch → IDLE 복귀, 가짜 byte 없음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 #4 · #5</a:t>
                      </a:r>
                      <a:endParaRPr lang="en-US" sz="1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프로토콜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UART: Clock 없이 Start Bit로 시점을 맞추는 비동기 직렬 통신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TX · RX 선이 따로 → 송신 · 수신 동시 가능 (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full-duplex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), 공유 clock 없음 → 양쪽이 baud만 약속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8N1 frame = START(0) → D0 ~ D7 (LSB first) → STOP(1), 이 설계는 bit 중앙 1회 sampling (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BIT mode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76400"/>
            <a:ext cx="38100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71500" y="17716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66750" y="2190750"/>
            <a:ext cx="1143000" cy="1905000"/>
          </a:xfrm>
          <a:prstGeom prst="roundRect">
            <a:avLst>
              <a:gd name="adj" fmla="val 5000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6750" y="22479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66750" y="24765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USB-UART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62250" y="2190750"/>
            <a:ext cx="1143000" cy="1905000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762250" y="224790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FPGA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762250" y="2476500"/>
            <a:ext cx="114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Basys-3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428750" y="28670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819400" y="28670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1428750" y="34385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819400" y="3438525"/>
            <a:ext cx="3429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809750" y="2952750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1809750" y="3524250"/>
            <a:ext cx="95250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2000250" y="27622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송신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2000250" y="3562350"/>
            <a:ext cx="571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수신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6750" y="4191000"/>
            <a:ext cx="3238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 2개 → 동시 송수신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381500" y="1676400"/>
            <a:ext cx="7429500" cy="2857500"/>
          </a:xfrm>
          <a:prstGeom prst="round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0" y="1771650"/>
            <a:ext cx="3810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8N1 frame  ·  '0' = 0x30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762500" y="2343150"/>
            <a:ext cx="3810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435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1435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7531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531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627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3627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9723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723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819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819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1915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915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801100" y="234315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8011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4107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4107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020300" y="281940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20300" y="281940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flipV="1">
            <a:off x="10629900" y="2343150"/>
            <a:ext cx="0" cy="47625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629900" y="2343150"/>
            <a:ext cx="6096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239500" y="2343150"/>
            <a:ext cx="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239500" y="2343150"/>
            <a:ext cx="381000" cy="0"/>
          </a:xfrm>
          <a:prstGeom prst="line">
            <a:avLst/>
          </a:prstGeom>
          <a:noFill/>
          <a:ln w="28575">
            <a:solidFill>
              <a:srgbClr val="0F172A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1435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050" dirty="0"/>
          </a:p>
        </p:txBody>
      </p:sp>
      <p:sp>
        <p:nvSpPr>
          <p:cNvPr id="55" name="Text 53"/>
          <p:cNvSpPr txBox="1"/>
          <p:nvPr/>
        </p:nvSpPr>
        <p:spPr>
          <a:xfrm>
            <a:off x="57531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63627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</a:t>
            </a:r>
            <a:endParaRPr lang="en-US" sz="1050" dirty="0"/>
          </a:p>
        </p:txBody>
      </p:sp>
      <p:sp>
        <p:nvSpPr>
          <p:cNvPr id="57" name="Text 55"/>
          <p:cNvSpPr txBox="1"/>
          <p:nvPr/>
        </p:nvSpPr>
        <p:spPr>
          <a:xfrm>
            <a:off x="69723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</a:t>
            </a:r>
            <a:endParaRPr lang="en-US" sz="1050" dirty="0"/>
          </a:p>
        </p:txBody>
      </p:sp>
      <p:sp>
        <p:nvSpPr>
          <p:cNvPr id="58" name="Text 56"/>
          <p:cNvSpPr txBox="1"/>
          <p:nvPr/>
        </p:nvSpPr>
        <p:spPr>
          <a:xfrm>
            <a:off x="75819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81915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</a:t>
            </a:r>
            <a:endParaRPr lang="en-US" sz="1050" dirty="0"/>
          </a:p>
        </p:txBody>
      </p:sp>
      <p:sp>
        <p:nvSpPr>
          <p:cNvPr id="60" name="Text 58"/>
          <p:cNvSpPr txBox="1"/>
          <p:nvPr/>
        </p:nvSpPr>
        <p:spPr>
          <a:xfrm>
            <a:off x="88011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</a:t>
            </a:r>
            <a:endParaRPr lang="en-US" sz="1050" dirty="0"/>
          </a:p>
        </p:txBody>
      </p:sp>
      <p:sp>
        <p:nvSpPr>
          <p:cNvPr id="61" name="Text 59"/>
          <p:cNvSpPr txBox="1"/>
          <p:nvPr/>
        </p:nvSpPr>
        <p:spPr>
          <a:xfrm>
            <a:off x="94107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100203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</a:t>
            </a:r>
            <a:endParaRPr lang="en-US" sz="1050" dirty="0"/>
          </a:p>
        </p:txBody>
      </p:sp>
      <p:sp>
        <p:nvSpPr>
          <p:cNvPr id="63" name="Text 61"/>
          <p:cNvSpPr txBox="1"/>
          <p:nvPr/>
        </p:nvSpPr>
        <p:spPr>
          <a:xfrm>
            <a:off x="10629900" y="2876550"/>
            <a:ext cx="609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5143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7531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627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9723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819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191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11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94107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00203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06299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239500" y="2266950"/>
            <a:ext cx="0" cy="59055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1435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57531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7" name="Text 75"/>
          <p:cNvSpPr txBox="1"/>
          <p:nvPr/>
        </p:nvSpPr>
        <p:spPr>
          <a:xfrm>
            <a:off x="63627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8" name="Text 76"/>
          <p:cNvSpPr txBox="1"/>
          <p:nvPr/>
        </p:nvSpPr>
        <p:spPr>
          <a:xfrm>
            <a:off x="69723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79" name="Text 77"/>
          <p:cNvSpPr txBox="1"/>
          <p:nvPr/>
        </p:nvSpPr>
        <p:spPr>
          <a:xfrm>
            <a:off x="75819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0" name="Text 78"/>
          <p:cNvSpPr txBox="1"/>
          <p:nvPr/>
        </p:nvSpPr>
        <p:spPr>
          <a:xfrm>
            <a:off x="81915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88011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2" name="Text 80"/>
          <p:cNvSpPr txBox="1"/>
          <p:nvPr/>
        </p:nvSpPr>
        <p:spPr>
          <a:xfrm>
            <a:off x="94107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3" name="Text 81"/>
          <p:cNvSpPr txBox="1"/>
          <p:nvPr/>
        </p:nvSpPr>
        <p:spPr>
          <a:xfrm>
            <a:off x="100203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84" name="Text 82"/>
          <p:cNvSpPr txBox="1"/>
          <p:nvPr/>
        </p:nvSpPr>
        <p:spPr>
          <a:xfrm>
            <a:off x="10629900" y="2152650"/>
            <a:ext cx="6096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5" name="Text 83"/>
          <p:cNvSpPr txBox="1"/>
          <p:nvPr/>
        </p:nvSpPr>
        <p:spPr>
          <a:xfrm>
            <a:off x="4419600" y="2152650"/>
            <a:ext cx="3238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54483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4102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8" name="Shape 86"/>
          <p:cNvSpPr/>
          <p:nvPr/>
        </p:nvSpPr>
        <p:spPr>
          <a:xfrm>
            <a:off x="60579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0198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0" name="Shape 88"/>
          <p:cNvSpPr/>
          <p:nvPr/>
        </p:nvSpPr>
        <p:spPr>
          <a:xfrm>
            <a:off x="66675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66294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2" name="Shape 90"/>
          <p:cNvSpPr/>
          <p:nvPr/>
        </p:nvSpPr>
        <p:spPr>
          <a:xfrm>
            <a:off x="72771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72390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4" name="Shape 92"/>
          <p:cNvSpPr/>
          <p:nvPr/>
        </p:nvSpPr>
        <p:spPr>
          <a:xfrm>
            <a:off x="78867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78486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6" name="Shape 94"/>
          <p:cNvSpPr/>
          <p:nvPr/>
        </p:nvSpPr>
        <p:spPr>
          <a:xfrm>
            <a:off x="84963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84582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8" name="Shape 96"/>
          <p:cNvSpPr/>
          <p:nvPr/>
        </p:nvSpPr>
        <p:spPr>
          <a:xfrm>
            <a:off x="91059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0678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0" name="Shape 98"/>
          <p:cNvSpPr/>
          <p:nvPr/>
        </p:nvSpPr>
        <p:spPr>
          <a:xfrm>
            <a:off x="97155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6774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2" name="Shape 100"/>
          <p:cNvSpPr/>
          <p:nvPr/>
        </p:nvSpPr>
        <p:spPr>
          <a:xfrm>
            <a:off x="103251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02870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4" name="Shape 102"/>
          <p:cNvSpPr/>
          <p:nvPr/>
        </p:nvSpPr>
        <p:spPr>
          <a:xfrm>
            <a:off x="10934700" y="3143250"/>
            <a:ext cx="0" cy="13335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0896600" y="3105150"/>
            <a:ext cx="76200" cy="762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5143500" y="3314700"/>
            <a:ext cx="6096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1회 sampling (ONE BIT mode)</a:t>
            </a:r>
            <a:endParaRPr lang="en-US" sz="1150" dirty="0"/>
          </a:p>
        </p:txBody>
      </p:sp>
      <p:sp>
        <p:nvSpPr>
          <p:cNvPr id="107" name="Text 105"/>
          <p:cNvSpPr txBox="1"/>
          <p:nvPr/>
        </p:nvSpPr>
        <p:spPr>
          <a:xfrm>
            <a:off x="4572000" y="3657600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bit = 16 tick</a:t>
            </a:r>
            <a:endParaRPr lang="en-US" sz="1100" dirty="0"/>
          </a:p>
        </p:txBody>
      </p:sp>
      <p:sp>
        <p:nvSpPr>
          <p:cNvPr id="108" name="Text 106"/>
          <p:cNvSpPr txBox="1"/>
          <p:nvPr/>
        </p:nvSpPr>
        <p:spPr>
          <a:xfrm>
            <a:off x="4572000" y="3829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BIT</a:t>
            </a:r>
            <a:endParaRPr lang="en-US" sz="1150" dirty="0"/>
          </a:p>
        </p:txBody>
      </p:sp>
      <p:sp>
        <p:nvSpPr>
          <p:cNvPr id="109" name="Shape 107"/>
          <p:cNvSpPr/>
          <p:nvPr/>
        </p:nvSpPr>
        <p:spPr>
          <a:xfrm>
            <a:off x="6096000" y="3810000"/>
            <a:ext cx="335280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63055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65151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67246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9342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1437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3533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75628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7724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9819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1915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010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6106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88201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902970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9239250" y="3810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724775" y="3848100"/>
            <a:ext cx="95250" cy="13335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26" name="Text 124"/>
          <p:cNvSpPr txBox="1"/>
          <p:nvPr/>
        </p:nvSpPr>
        <p:spPr>
          <a:xfrm>
            <a:off x="9563100" y="38290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설계</a:t>
            </a:r>
            <a:endParaRPr lang="en-US" sz="1100" dirty="0"/>
          </a:p>
        </p:txBody>
      </p:sp>
      <p:sp>
        <p:nvSpPr>
          <p:cNvPr id="127" name="Text 125"/>
          <p:cNvSpPr txBox="1"/>
          <p:nvPr/>
        </p:nvSpPr>
        <p:spPr>
          <a:xfrm>
            <a:off x="4572000" y="4210050"/>
            <a:ext cx="1428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3-sample 다수결</a:t>
            </a:r>
            <a:endParaRPr lang="en-US" sz="1150" dirty="0"/>
          </a:p>
        </p:txBody>
      </p:sp>
      <p:sp>
        <p:nvSpPr>
          <p:cNvPr id="128" name="Shape 126"/>
          <p:cNvSpPr/>
          <p:nvPr/>
        </p:nvSpPr>
        <p:spPr>
          <a:xfrm>
            <a:off x="6096000" y="4191000"/>
            <a:ext cx="3352800" cy="20955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3055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5151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7246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9342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71437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73533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5628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724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79819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81915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84010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86106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8201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902970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9239250" y="4191000"/>
            <a:ext cx="0" cy="20955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>
            <a:off x="751522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72477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934325" y="4229100"/>
            <a:ext cx="95250" cy="13335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147" name="Text 145"/>
          <p:cNvSpPr txBox="1"/>
          <p:nvPr/>
        </p:nvSpPr>
        <p:spPr>
          <a:xfrm>
            <a:off x="9563100" y="421005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일반 UART 옵션</a:t>
            </a:r>
            <a:endParaRPr lang="en-US" sz="1100" dirty="0"/>
          </a:p>
        </p:txBody>
      </p:sp>
      <p:sp>
        <p:nvSpPr>
          <p:cNvPr id="148" name="Shape 146"/>
          <p:cNvSpPr/>
          <p:nvPr/>
        </p:nvSpPr>
        <p:spPr>
          <a:xfrm>
            <a:off x="381000" y="47434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495300" y="50101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0" name="Text 148"/>
          <p:cNvSpPr txBox="1"/>
          <p:nvPr/>
        </p:nvSpPr>
        <p:spPr>
          <a:xfrm>
            <a:off x="49530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51" name="Text 149"/>
          <p:cNvSpPr txBox="1"/>
          <p:nvPr/>
        </p:nvSpPr>
        <p:spPr>
          <a:xfrm>
            <a:off x="819150" y="47434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bit 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→ 0 falling edge = frame 시작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edge로 bit 경계 재정렬</a:t>
            </a:r>
            <a:endParaRPr lang="en-US" sz="1400" dirty="0"/>
          </a:p>
        </p:txBody>
      </p:sp>
      <p:sp>
        <p:nvSpPr>
          <p:cNvPr id="152" name="Shape 150"/>
          <p:cNvSpPr/>
          <p:nvPr/>
        </p:nvSpPr>
        <p:spPr>
          <a:xfrm>
            <a:off x="6191250" y="47434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6305550" y="50101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4" name="Text 152"/>
          <p:cNvSpPr txBox="1"/>
          <p:nvPr/>
        </p:nvSpPr>
        <p:spPr>
          <a:xfrm>
            <a:off x="630555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55" name="Text 153"/>
          <p:cNvSpPr txBox="1"/>
          <p:nvPr/>
        </p:nvSpPr>
        <p:spPr>
          <a:xfrm>
            <a:off x="6629400" y="47434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 bit 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항상 1 → 다음 falling edge 보장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오차가 frame마다 초기화</a:t>
            </a:r>
            <a:endParaRPr lang="en-US" sz="1400" dirty="0"/>
          </a:p>
        </p:txBody>
      </p:sp>
      <p:sp>
        <p:nvSpPr>
          <p:cNvPr id="156" name="Shape 154"/>
          <p:cNvSpPr/>
          <p:nvPr/>
        </p:nvSpPr>
        <p:spPr>
          <a:xfrm>
            <a:off x="381000" y="56578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8" name="Text 156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59" name="Text 157"/>
          <p:cNvSpPr txBox="1"/>
          <p:nvPr/>
        </p:nvSpPr>
        <p:spPr>
          <a:xfrm>
            <a:off x="819150" y="56578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LSB first 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D0부터 송신 → 0x30은 0,0,0,0,1,1,0,0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RX는 MSB에 넣고 오른쪽 shift</a:t>
            </a:r>
            <a:endParaRPr lang="en-US" sz="1400" dirty="0"/>
          </a:p>
        </p:txBody>
      </p:sp>
      <p:sp>
        <p:nvSpPr>
          <p:cNvPr id="160" name="Shape 158"/>
          <p:cNvSpPr/>
          <p:nvPr/>
        </p:nvSpPr>
        <p:spPr>
          <a:xfrm>
            <a:off x="6191250" y="5657850"/>
            <a:ext cx="5619750" cy="76200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30555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2" name="Text 160"/>
          <p:cNvSpPr txBox="1"/>
          <p:nvPr/>
        </p:nvSpPr>
        <p:spPr>
          <a:xfrm>
            <a:off x="630555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63" name="Text 161"/>
          <p:cNvSpPr txBox="1"/>
          <p:nvPr/>
        </p:nvSpPr>
        <p:spPr>
          <a:xfrm>
            <a:off x="6629400" y="5657850"/>
            <a:ext cx="50863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 BIT mode   </a:t>
            </a:r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sample 1개로 판정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glitch에 취약 (부록)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동작 주파수 · 16x Oversampling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MHz ÷ 651 = b_tick, 16 tick = 1 bit (104.16 µs)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F_COUNT = 100 MHz ÷ (9600 × 16) =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651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b_tick 6.51 µs, 1 bit = 16 tick = 104.16 µs (9600.6 bps)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START 8 tick 대기로 bit 중앙 정렬 → 이후 16 tick마다 sampling, rx_done은 STOP 중앙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80563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2256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F_COUNT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002256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 MHz ÷ 153,600  </a:t>
            </a:r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651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97049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3051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44745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3644745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651 × 10 ns  </a:t>
            </a:r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6.51 µs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939537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65539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87233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bit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87233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 </a:t>
            </a:r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104.16 µs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582025" y="1829899"/>
            <a:ext cx="208617" cy="0"/>
          </a:xfrm>
          <a:prstGeom prst="line">
            <a:avLst/>
          </a:prstGeom>
          <a:noFill/>
          <a:ln w="25400">
            <a:solidFill>
              <a:srgbClr val="0369A1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808027" y="1543050"/>
            <a:ext cx="2399101" cy="573698"/>
          </a:xfrm>
          <a:prstGeom prst="round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29721" y="1577820"/>
            <a:ext cx="2173099" cy="173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중앙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929721" y="1769052"/>
            <a:ext cx="2225253" cy="27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8 tick  </a:t>
            </a:r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52.08 µs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2584272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33839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D0=0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1836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D1=0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4983373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D2=0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57830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D3=0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65827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D4=1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7382474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D5=1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182175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D6=0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8981875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D7=0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781576" y="2238442"/>
            <a:ext cx="799700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584272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3839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836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83373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7830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5827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82474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82175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81875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781576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81276" y="2255826"/>
            <a:ext cx="0" cy="486774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80563" y="2412290"/>
            <a:ext cx="1112627" cy="2955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62729" y="2447059"/>
            <a:ext cx="521544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584272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584272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839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839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1836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1836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983373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983373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783074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83074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6582774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582774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82474" y="2447059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82474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182175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82175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981875" y="2690446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981875" y="2690446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9781576" y="2447059"/>
            <a:ext cx="0" cy="243387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781576" y="2447059"/>
            <a:ext cx="79970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581276" y="2447059"/>
            <a:ext cx="0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0581276" y="2447059"/>
            <a:ext cx="347696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841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29450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4" name="Shape 72"/>
          <p:cNvSpPr/>
          <p:nvPr/>
        </p:nvSpPr>
        <p:spPr>
          <a:xfrm>
            <a:off x="37838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37447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6" name="Shape 74"/>
          <p:cNvSpPr/>
          <p:nvPr/>
        </p:nvSpPr>
        <p:spPr>
          <a:xfrm>
            <a:off x="4583523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7" name="Shape 75"/>
          <p:cNvSpPr/>
          <p:nvPr/>
        </p:nvSpPr>
        <p:spPr>
          <a:xfrm>
            <a:off x="4544407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8" name="Shape 76"/>
          <p:cNvSpPr/>
          <p:nvPr/>
        </p:nvSpPr>
        <p:spPr>
          <a:xfrm>
            <a:off x="53832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79" name="Shape 77"/>
          <p:cNvSpPr/>
          <p:nvPr/>
        </p:nvSpPr>
        <p:spPr>
          <a:xfrm>
            <a:off x="5344108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0" name="Shape 78"/>
          <p:cNvSpPr/>
          <p:nvPr/>
        </p:nvSpPr>
        <p:spPr>
          <a:xfrm>
            <a:off x="61829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1" name="Shape 79"/>
          <p:cNvSpPr/>
          <p:nvPr/>
        </p:nvSpPr>
        <p:spPr>
          <a:xfrm>
            <a:off x="6143808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2" name="Shape 80"/>
          <p:cNvSpPr/>
          <p:nvPr/>
        </p:nvSpPr>
        <p:spPr>
          <a:xfrm>
            <a:off x="6982624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3" name="Shape 81"/>
          <p:cNvSpPr/>
          <p:nvPr/>
        </p:nvSpPr>
        <p:spPr>
          <a:xfrm>
            <a:off x="6943509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4" name="Shape 82"/>
          <p:cNvSpPr/>
          <p:nvPr/>
        </p:nvSpPr>
        <p:spPr>
          <a:xfrm>
            <a:off x="77823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5" name="Shape 83"/>
          <p:cNvSpPr/>
          <p:nvPr/>
        </p:nvSpPr>
        <p:spPr>
          <a:xfrm>
            <a:off x="7743209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6" name="Shape 84"/>
          <p:cNvSpPr/>
          <p:nvPr/>
        </p:nvSpPr>
        <p:spPr>
          <a:xfrm>
            <a:off x="85820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7" name="Shape 85"/>
          <p:cNvSpPr/>
          <p:nvPr/>
        </p:nvSpPr>
        <p:spPr>
          <a:xfrm>
            <a:off x="8542909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88" name="Shape 86"/>
          <p:cNvSpPr/>
          <p:nvPr/>
        </p:nvSpPr>
        <p:spPr>
          <a:xfrm>
            <a:off x="9381725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89" name="Shape 87"/>
          <p:cNvSpPr/>
          <p:nvPr/>
        </p:nvSpPr>
        <p:spPr>
          <a:xfrm>
            <a:off x="9342610" y="2651330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0" name="Shape 88"/>
          <p:cNvSpPr/>
          <p:nvPr/>
        </p:nvSpPr>
        <p:spPr>
          <a:xfrm>
            <a:off x="10181426" y="2377520"/>
            <a:ext cx="0" cy="2381716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91" name="Shape 89"/>
          <p:cNvSpPr/>
          <p:nvPr/>
        </p:nvSpPr>
        <p:spPr>
          <a:xfrm>
            <a:off x="10142310" y="2407943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880563" y="2899064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c_state</a:t>
            </a:r>
            <a:endParaRPr lang="en-US" sz="1100" dirty="0"/>
          </a:p>
        </p:txBody>
      </p:sp>
      <p:sp>
        <p:nvSpPr>
          <p:cNvPr id="93" name="Shape 91"/>
          <p:cNvSpPr/>
          <p:nvPr/>
        </p:nvSpPr>
        <p:spPr>
          <a:xfrm>
            <a:off x="2062729" y="2899064"/>
            <a:ext cx="521544" cy="2607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2062729" y="2899064"/>
            <a:ext cx="521544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2584272" y="2899064"/>
            <a:ext cx="399850" cy="260772"/>
          </a:xfrm>
          <a:prstGeom prst="rect">
            <a:avLst/>
          </a:prstGeom>
          <a:solidFill>
            <a:srgbClr val="FFE4E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2584272" y="2899064"/>
            <a:ext cx="399850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2984123" y="2899064"/>
            <a:ext cx="6397603" cy="260772"/>
          </a:xfrm>
          <a:prstGeom prst="rect">
            <a:avLst/>
          </a:prstGeom>
          <a:solidFill>
            <a:srgbClr val="FECDD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2984123" y="2899064"/>
            <a:ext cx="639760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9381725" y="2899064"/>
            <a:ext cx="799700" cy="260772"/>
          </a:xfrm>
          <a:prstGeom prst="rect">
            <a:avLst/>
          </a:prstGeom>
          <a:solidFill>
            <a:srgbClr val="FDA4A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381725" y="2899064"/>
            <a:ext cx="799700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10181426" y="2899064"/>
            <a:ext cx="747546" cy="260772"/>
          </a:xfrm>
          <a:prstGeom prst="rect">
            <a:avLst/>
          </a:prstGeom>
          <a:solidFill>
            <a:srgbClr val="F1F5F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10181426" y="2899064"/>
            <a:ext cx="747546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950" dirty="0"/>
          </a:p>
        </p:txBody>
      </p:sp>
      <p:sp>
        <p:nvSpPr>
          <p:cNvPr id="103" name="Text 101"/>
          <p:cNvSpPr txBox="1"/>
          <p:nvPr/>
        </p:nvSpPr>
        <p:spPr>
          <a:xfrm>
            <a:off x="880563" y="3281529"/>
            <a:ext cx="1112627" cy="312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 수</a:t>
            </a:r>
            <a:endParaRPr lang="en-US" sz="1100" dirty="0"/>
          </a:p>
        </p:txBody>
      </p:sp>
      <p:sp>
        <p:nvSpPr>
          <p:cNvPr id="104" name="Shape 102"/>
          <p:cNvSpPr/>
          <p:nvPr/>
        </p:nvSpPr>
        <p:spPr>
          <a:xfrm>
            <a:off x="2601657" y="3333683"/>
            <a:ext cx="36508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601657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29667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2436502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</a:t>
            </a:r>
            <a:endParaRPr lang="en-US" sz="900" dirty="0"/>
          </a:p>
        </p:txBody>
      </p:sp>
      <p:sp>
        <p:nvSpPr>
          <p:cNvPr id="108" name="Text 106"/>
          <p:cNvSpPr txBox="1"/>
          <p:nvPr/>
        </p:nvSpPr>
        <p:spPr>
          <a:xfrm>
            <a:off x="2436502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3001507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3001507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7664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3036277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13" name="Text 111"/>
          <p:cNvSpPr txBox="1"/>
          <p:nvPr/>
        </p:nvSpPr>
        <p:spPr>
          <a:xfrm>
            <a:off x="3036277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14" name="Shape 112"/>
          <p:cNvSpPr/>
          <p:nvPr/>
        </p:nvSpPr>
        <p:spPr>
          <a:xfrm>
            <a:off x="38012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38012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456613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17" name="Text 115"/>
          <p:cNvSpPr txBox="1"/>
          <p:nvPr/>
        </p:nvSpPr>
        <p:spPr>
          <a:xfrm>
            <a:off x="3835977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18" name="Text 116"/>
          <p:cNvSpPr txBox="1"/>
          <p:nvPr/>
        </p:nvSpPr>
        <p:spPr>
          <a:xfrm>
            <a:off x="3835977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46009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46009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6583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2" name="Text 120"/>
          <p:cNvSpPr txBox="1"/>
          <p:nvPr/>
        </p:nvSpPr>
        <p:spPr>
          <a:xfrm>
            <a:off x="46356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23" name="Text 121"/>
          <p:cNvSpPr txBox="1"/>
          <p:nvPr/>
        </p:nvSpPr>
        <p:spPr>
          <a:xfrm>
            <a:off x="46356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400608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5400608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616553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27" name="Text 125"/>
          <p:cNvSpPr txBox="1"/>
          <p:nvPr/>
        </p:nvSpPr>
        <p:spPr>
          <a:xfrm>
            <a:off x="54353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28" name="Text 126"/>
          <p:cNvSpPr txBox="1"/>
          <p:nvPr/>
        </p:nvSpPr>
        <p:spPr>
          <a:xfrm>
            <a:off x="54353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2003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62003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69652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2" name="Text 130"/>
          <p:cNvSpPr txBox="1"/>
          <p:nvPr/>
        </p:nvSpPr>
        <p:spPr>
          <a:xfrm>
            <a:off x="6235078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33" name="Text 131"/>
          <p:cNvSpPr txBox="1"/>
          <p:nvPr/>
        </p:nvSpPr>
        <p:spPr>
          <a:xfrm>
            <a:off x="6235078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34" name="Shape 132"/>
          <p:cNvSpPr/>
          <p:nvPr/>
        </p:nvSpPr>
        <p:spPr>
          <a:xfrm>
            <a:off x="70000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0000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77649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7" name="Text 135"/>
          <p:cNvSpPr txBox="1"/>
          <p:nvPr/>
        </p:nvSpPr>
        <p:spPr>
          <a:xfrm>
            <a:off x="70347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38" name="Text 136"/>
          <p:cNvSpPr txBox="1"/>
          <p:nvPr/>
        </p:nvSpPr>
        <p:spPr>
          <a:xfrm>
            <a:off x="70347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7799709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7799709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856464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2" name="Text 140"/>
          <p:cNvSpPr txBox="1"/>
          <p:nvPr/>
        </p:nvSpPr>
        <p:spPr>
          <a:xfrm>
            <a:off x="78344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43" name="Text 141"/>
          <p:cNvSpPr txBox="1"/>
          <p:nvPr/>
        </p:nvSpPr>
        <p:spPr>
          <a:xfrm>
            <a:off x="78344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44" name="Shape 142"/>
          <p:cNvSpPr/>
          <p:nvPr/>
        </p:nvSpPr>
        <p:spPr>
          <a:xfrm>
            <a:off x="8599410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859941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9364341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8634179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48" name="Text 146"/>
          <p:cNvSpPr txBox="1"/>
          <p:nvPr/>
        </p:nvSpPr>
        <p:spPr>
          <a:xfrm>
            <a:off x="8634179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49" name="Shape 147"/>
          <p:cNvSpPr/>
          <p:nvPr/>
        </p:nvSpPr>
        <p:spPr>
          <a:xfrm>
            <a:off x="9399110" y="3333683"/>
            <a:ext cx="764931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9399110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164041" y="3281529"/>
            <a:ext cx="0" cy="10430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2" name="Text 150"/>
          <p:cNvSpPr txBox="1"/>
          <p:nvPr/>
        </p:nvSpPr>
        <p:spPr>
          <a:xfrm>
            <a:off x="9433880" y="3385838"/>
            <a:ext cx="695392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</a:t>
            </a:r>
            <a:endParaRPr lang="en-US" sz="900" dirty="0"/>
          </a:p>
        </p:txBody>
      </p:sp>
      <p:sp>
        <p:nvSpPr>
          <p:cNvPr id="153" name="Text 151"/>
          <p:cNvSpPr txBox="1"/>
          <p:nvPr/>
        </p:nvSpPr>
        <p:spPr>
          <a:xfrm>
            <a:off x="9433880" y="3516224"/>
            <a:ext cx="695392" cy="121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800" dirty="0"/>
          </a:p>
        </p:txBody>
      </p:sp>
      <p:sp>
        <p:nvSpPr>
          <p:cNvPr id="154" name="Text 152"/>
          <p:cNvSpPr txBox="1"/>
          <p:nvPr/>
        </p:nvSpPr>
        <p:spPr>
          <a:xfrm>
            <a:off x="880563" y="3768303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100" dirty="0"/>
          </a:p>
        </p:txBody>
      </p:sp>
      <p:sp>
        <p:nvSpPr>
          <p:cNvPr id="155" name="Shape 153"/>
          <p:cNvSpPr/>
          <p:nvPr/>
        </p:nvSpPr>
        <p:spPr>
          <a:xfrm>
            <a:off x="2062729" y="3976921"/>
            <a:ext cx="8118697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10181426" y="3803073"/>
            <a:ext cx="0" cy="173848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181426" y="3803073"/>
            <a:ext cx="43462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224888" y="3803073"/>
            <a:ext cx="0" cy="173848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224888" y="3976921"/>
            <a:ext cx="704084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160" name="Text 158"/>
          <p:cNvSpPr txBox="1"/>
          <p:nvPr/>
        </p:nvSpPr>
        <p:spPr>
          <a:xfrm>
            <a:off x="10268350" y="3768303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clk</a:t>
            </a:r>
            <a:endParaRPr lang="en-US" sz="900" dirty="0"/>
          </a:p>
        </p:txBody>
      </p:sp>
      <p:sp>
        <p:nvSpPr>
          <p:cNvPr id="161" name="Text 159"/>
          <p:cNvSpPr txBox="1"/>
          <p:nvPr/>
        </p:nvSpPr>
        <p:spPr>
          <a:xfrm>
            <a:off x="880563" y="4185538"/>
            <a:ext cx="111262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</a:t>
            </a:r>
            <a:endParaRPr lang="en-US" sz="1100" dirty="0"/>
          </a:p>
        </p:txBody>
      </p:sp>
      <p:sp>
        <p:nvSpPr>
          <p:cNvPr id="162" name="Shape 160"/>
          <p:cNvSpPr/>
          <p:nvPr/>
        </p:nvSpPr>
        <p:spPr>
          <a:xfrm>
            <a:off x="2062729" y="4202923"/>
            <a:ext cx="921394" cy="22600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2062729" y="4202923"/>
            <a:ext cx="921394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prev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29841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5" name="Text 163"/>
          <p:cNvSpPr txBox="1"/>
          <p:nvPr/>
        </p:nvSpPr>
        <p:spPr>
          <a:xfrm>
            <a:off x="29841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66" name="Shape 164"/>
          <p:cNvSpPr/>
          <p:nvPr/>
        </p:nvSpPr>
        <p:spPr>
          <a:xfrm>
            <a:off x="37838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7" name="Text 165"/>
          <p:cNvSpPr txBox="1"/>
          <p:nvPr/>
        </p:nvSpPr>
        <p:spPr>
          <a:xfrm>
            <a:off x="37838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68" name="Shape 166"/>
          <p:cNvSpPr/>
          <p:nvPr/>
        </p:nvSpPr>
        <p:spPr>
          <a:xfrm>
            <a:off x="4583523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69" name="Text 167"/>
          <p:cNvSpPr txBox="1"/>
          <p:nvPr/>
        </p:nvSpPr>
        <p:spPr>
          <a:xfrm>
            <a:off x="4583523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0" name="Shape 168"/>
          <p:cNvSpPr/>
          <p:nvPr/>
        </p:nvSpPr>
        <p:spPr>
          <a:xfrm>
            <a:off x="53832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1" name="Text 169"/>
          <p:cNvSpPr txBox="1"/>
          <p:nvPr/>
        </p:nvSpPr>
        <p:spPr>
          <a:xfrm>
            <a:off x="53832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2" name="Shape 170"/>
          <p:cNvSpPr/>
          <p:nvPr/>
        </p:nvSpPr>
        <p:spPr>
          <a:xfrm>
            <a:off x="61829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3" name="Text 171"/>
          <p:cNvSpPr txBox="1"/>
          <p:nvPr/>
        </p:nvSpPr>
        <p:spPr>
          <a:xfrm>
            <a:off x="61829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</a:t>
            </a:r>
            <a:endParaRPr lang="en-US" sz="1000" dirty="0"/>
          </a:p>
        </p:txBody>
      </p:sp>
      <p:sp>
        <p:nvSpPr>
          <p:cNvPr id="174" name="Shape 172"/>
          <p:cNvSpPr/>
          <p:nvPr/>
        </p:nvSpPr>
        <p:spPr>
          <a:xfrm>
            <a:off x="6982624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5" name="Text 173"/>
          <p:cNvSpPr txBox="1"/>
          <p:nvPr/>
        </p:nvSpPr>
        <p:spPr>
          <a:xfrm>
            <a:off x="6982624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endParaRPr lang="en-US" sz="1000" dirty="0"/>
          </a:p>
        </p:txBody>
      </p:sp>
      <p:sp>
        <p:nvSpPr>
          <p:cNvPr id="176" name="Shape 174"/>
          <p:cNvSpPr/>
          <p:nvPr/>
        </p:nvSpPr>
        <p:spPr>
          <a:xfrm>
            <a:off x="7782325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7" name="Text 175"/>
          <p:cNvSpPr txBox="1"/>
          <p:nvPr/>
        </p:nvSpPr>
        <p:spPr>
          <a:xfrm>
            <a:off x="7782325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C0</a:t>
            </a:r>
            <a:endParaRPr lang="en-US" sz="1000" dirty="0"/>
          </a:p>
        </p:txBody>
      </p:sp>
      <p:sp>
        <p:nvSpPr>
          <p:cNvPr id="178" name="Shape 176"/>
          <p:cNvSpPr/>
          <p:nvPr/>
        </p:nvSpPr>
        <p:spPr>
          <a:xfrm>
            <a:off x="8582025" y="4202923"/>
            <a:ext cx="799700" cy="22600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79" name="Text 177"/>
          <p:cNvSpPr txBox="1"/>
          <p:nvPr/>
        </p:nvSpPr>
        <p:spPr>
          <a:xfrm>
            <a:off x="8582025" y="4202923"/>
            <a:ext cx="799700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9381725" y="4202923"/>
            <a:ext cx="1547246" cy="226002"/>
          </a:xfrm>
          <a:prstGeom prst="rect">
            <a:avLst/>
          </a:prstGeom>
          <a:solidFill>
            <a:srgbClr val="DCFCE7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81" name="Text 179"/>
          <p:cNvSpPr txBox="1"/>
          <p:nvPr/>
        </p:nvSpPr>
        <p:spPr>
          <a:xfrm>
            <a:off x="9381725" y="4202923"/>
            <a:ext cx="1547246" cy="2260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1000" dirty="0"/>
          </a:p>
        </p:txBody>
      </p:sp>
      <p:sp>
        <p:nvSpPr>
          <p:cNvPr id="182" name="Text 180"/>
          <p:cNvSpPr txBox="1"/>
          <p:nvPr/>
        </p:nvSpPr>
        <p:spPr>
          <a:xfrm>
            <a:off x="880563" y="4550619"/>
            <a:ext cx="1112627" cy="2086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(µs)</a:t>
            </a:r>
            <a:endParaRPr lang="en-US" sz="1100" dirty="0"/>
          </a:p>
        </p:txBody>
      </p:sp>
      <p:sp>
        <p:nvSpPr>
          <p:cNvPr id="183" name="Shape 181"/>
          <p:cNvSpPr/>
          <p:nvPr/>
        </p:nvSpPr>
        <p:spPr>
          <a:xfrm>
            <a:off x="2062729" y="4585388"/>
            <a:ext cx="8866243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4" name="Text 182"/>
          <p:cNvSpPr txBox="1"/>
          <p:nvPr/>
        </p:nvSpPr>
        <p:spPr>
          <a:xfrm>
            <a:off x="2410424" y="4620158"/>
            <a:ext cx="347696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2584272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29841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87" name="Text 185"/>
          <p:cNvSpPr txBox="1"/>
          <p:nvPr/>
        </p:nvSpPr>
        <p:spPr>
          <a:xfrm>
            <a:off x="27233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</a:t>
            </a:r>
            <a:endParaRPr lang="en-US" sz="850" dirty="0"/>
          </a:p>
        </p:txBody>
      </p:sp>
      <p:sp>
        <p:nvSpPr>
          <p:cNvPr id="188" name="Shape 186"/>
          <p:cNvSpPr/>
          <p:nvPr/>
        </p:nvSpPr>
        <p:spPr>
          <a:xfrm>
            <a:off x="37838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89" name="Text 187"/>
          <p:cNvSpPr txBox="1"/>
          <p:nvPr/>
        </p:nvSpPr>
        <p:spPr>
          <a:xfrm>
            <a:off x="35230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156.24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4583523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1" name="Text 189"/>
          <p:cNvSpPr txBox="1"/>
          <p:nvPr/>
        </p:nvSpPr>
        <p:spPr>
          <a:xfrm>
            <a:off x="4322751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260.40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53832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3" name="Text 191"/>
          <p:cNvSpPr txBox="1"/>
          <p:nvPr/>
        </p:nvSpPr>
        <p:spPr>
          <a:xfrm>
            <a:off x="51224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364.56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61829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5" name="Text 193"/>
          <p:cNvSpPr txBox="1"/>
          <p:nvPr/>
        </p:nvSpPr>
        <p:spPr>
          <a:xfrm>
            <a:off x="59221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468.72</a:t>
            </a:r>
            <a:endParaRPr lang="en-US" sz="850" dirty="0"/>
          </a:p>
        </p:txBody>
      </p:sp>
      <p:sp>
        <p:nvSpPr>
          <p:cNvPr id="196" name="Shape 194"/>
          <p:cNvSpPr/>
          <p:nvPr/>
        </p:nvSpPr>
        <p:spPr>
          <a:xfrm>
            <a:off x="6982624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7" name="Text 195"/>
          <p:cNvSpPr txBox="1"/>
          <p:nvPr/>
        </p:nvSpPr>
        <p:spPr>
          <a:xfrm>
            <a:off x="6721852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572.88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77823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99" name="Text 197"/>
          <p:cNvSpPr txBox="1"/>
          <p:nvPr/>
        </p:nvSpPr>
        <p:spPr>
          <a:xfrm>
            <a:off x="75215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677.04</a:t>
            </a:r>
            <a:endParaRPr lang="en-US" sz="850" dirty="0"/>
          </a:p>
        </p:txBody>
      </p:sp>
      <p:sp>
        <p:nvSpPr>
          <p:cNvPr id="200" name="Shape 198"/>
          <p:cNvSpPr/>
          <p:nvPr/>
        </p:nvSpPr>
        <p:spPr>
          <a:xfrm>
            <a:off x="85820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01" name="Text 199"/>
          <p:cNvSpPr txBox="1"/>
          <p:nvPr/>
        </p:nvSpPr>
        <p:spPr>
          <a:xfrm>
            <a:off x="83212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781.20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9381725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03" name="Text 201"/>
          <p:cNvSpPr txBox="1"/>
          <p:nvPr/>
        </p:nvSpPr>
        <p:spPr>
          <a:xfrm>
            <a:off x="9120953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885.36</a:t>
            </a:r>
            <a:endParaRPr lang="en-US" sz="850" dirty="0"/>
          </a:p>
        </p:txBody>
      </p:sp>
      <p:sp>
        <p:nvSpPr>
          <p:cNvPr id="204" name="Shape 202"/>
          <p:cNvSpPr/>
          <p:nvPr/>
        </p:nvSpPr>
        <p:spPr>
          <a:xfrm>
            <a:off x="10181426" y="4550619"/>
            <a:ext cx="0" cy="69539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05" name="Text 203"/>
          <p:cNvSpPr txBox="1"/>
          <p:nvPr/>
        </p:nvSpPr>
        <p:spPr>
          <a:xfrm>
            <a:off x="9920654" y="4759236"/>
            <a:ext cx="521544" cy="1390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989.52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2666850" y="5033047"/>
            <a:ext cx="78232" cy="78232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07" name="Shape 205"/>
          <p:cNvSpPr/>
          <p:nvPr/>
        </p:nvSpPr>
        <p:spPr>
          <a:xfrm>
            <a:off x="2810275" y="5072162"/>
            <a:ext cx="243387" cy="0"/>
          </a:xfrm>
          <a:prstGeom prst="line">
            <a:avLst/>
          </a:prstGeom>
          <a:noFill/>
          <a:ln w="12700">
            <a:solidFill>
              <a:srgbClr val="EA580C"/>
            </a:solidFill>
            <a:prstDash val="dash"/>
          </a:ln>
        </p:spPr>
      </p:sp>
      <p:sp>
        <p:nvSpPr>
          <p:cNvPr id="208" name="Text 206"/>
          <p:cNvSpPr txBox="1"/>
          <p:nvPr/>
        </p:nvSpPr>
        <p:spPr>
          <a:xfrm>
            <a:off x="3105816" y="4993931"/>
            <a:ext cx="2607719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시점 (b_tick_cnt 도달)</a:t>
            </a:r>
            <a:endParaRPr lang="en-US" sz="1000" dirty="0"/>
          </a:p>
        </p:txBody>
      </p:sp>
      <p:sp>
        <p:nvSpPr>
          <p:cNvPr id="209" name="Text 207"/>
          <p:cNvSpPr txBox="1"/>
          <p:nvPr/>
        </p:nvSpPr>
        <p:spPr>
          <a:xfrm>
            <a:off x="6096000" y="4993931"/>
            <a:ext cx="3476958" cy="156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예시 frame = 0x30 '0' (LSB first)</a:t>
            </a:r>
            <a:endParaRPr lang="en-US" sz="1000" dirty="0"/>
          </a:p>
        </p:txBody>
      </p:sp>
      <p:sp>
        <p:nvSpPr>
          <p:cNvPr id="210" name="Shape 208"/>
          <p:cNvSpPr/>
          <p:nvPr/>
        </p:nvSpPr>
        <p:spPr>
          <a:xfrm>
            <a:off x="880563" y="5332934"/>
            <a:ext cx="10430874" cy="1182166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1054411" y="5419858"/>
            <a:ext cx="5215437" cy="1912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xsim 측정 (tb_measure.sv)</a:t>
            </a:r>
            <a:endParaRPr lang="en-US" sz="1200" dirty="0"/>
          </a:p>
        </p:txBody>
      </p:sp>
      <p:sp>
        <p:nvSpPr>
          <p:cNvPr id="212" name="Text 210"/>
          <p:cNvSpPr txBox="1"/>
          <p:nvPr/>
        </p:nvSpPr>
        <p:spPr>
          <a:xfrm>
            <a:off x="1054411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주기</a:t>
            </a:r>
            <a:endParaRPr lang="en-US" sz="1200" dirty="0"/>
          </a:p>
        </p:txBody>
      </p:sp>
      <p:sp>
        <p:nvSpPr>
          <p:cNvPr id="213" name="Text 211"/>
          <p:cNvSpPr txBox="1"/>
          <p:nvPr/>
        </p:nvSpPr>
        <p:spPr>
          <a:xfrm>
            <a:off x="2097498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6.51 µs</a:t>
            </a:r>
            <a:endParaRPr lang="en-US" sz="1350" dirty="0"/>
          </a:p>
        </p:txBody>
      </p:sp>
      <p:sp>
        <p:nvSpPr>
          <p:cNvPr id="214" name="Text 212"/>
          <p:cNvSpPr txBox="1"/>
          <p:nvPr/>
        </p:nvSpPr>
        <p:spPr>
          <a:xfrm>
            <a:off x="4444445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체류</a:t>
            </a:r>
            <a:endParaRPr lang="en-US" sz="1200" dirty="0"/>
          </a:p>
        </p:txBody>
      </p:sp>
      <p:sp>
        <p:nvSpPr>
          <p:cNvPr id="215" name="Text 213"/>
          <p:cNvSpPr txBox="1"/>
          <p:nvPr/>
        </p:nvSpPr>
        <p:spPr>
          <a:xfrm>
            <a:off x="5487532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52.08 µs</a:t>
            </a:r>
            <a:endParaRPr lang="en-US" sz="1350" dirty="0"/>
          </a:p>
        </p:txBody>
      </p:sp>
      <p:sp>
        <p:nvSpPr>
          <p:cNvPr id="216" name="Text 214"/>
          <p:cNvSpPr txBox="1"/>
          <p:nvPr/>
        </p:nvSpPr>
        <p:spPr>
          <a:xfrm>
            <a:off x="7834479" y="5680630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 간격</a:t>
            </a:r>
            <a:endParaRPr lang="en-US" sz="1200" dirty="0"/>
          </a:p>
        </p:txBody>
      </p:sp>
      <p:sp>
        <p:nvSpPr>
          <p:cNvPr id="217" name="Text 215"/>
          <p:cNvSpPr txBox="1"/>
          <p:nvPr/>
        </p:nvSpPr>
        <p:spPr>
          <a:xfrm>
            <a:off x="8877566" y="5680630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104.16 µs</a:t>
            </a:r>
            <a:endParaRPr lang="en-US" sz="1350" dirty="0"/>
          </a:p>
        </p:txBody>
      </p:sp>
      <p:sp>
        <p:nvSpPr>
          <p:cNvPr id="218" name="Text 216"/>
          <p:cNvSpPr txBox="1"/>
          <p:nvPr/>
        </p:nvSpPr>
        <p:spPr>
          <a:xfrm>
            <a:off x="1054411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sample</a:t>
            </a:r>
            <a:endParaRPr lang="en-US" sz="1200" dirty="0"/>
          </a:p>
        </p:txBody>
      </p:sp>
      <p:sp>
        <p:nvSpPr>
          <p:cNvPr id="219" name="Text 217"/>
          <p:cNvSpPr txBox="1"/>
          <p:nvPr/>
        </p:nvSpPr>
        <p:spPr>
          <a:xfrm>
            <a:off x="2097498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+ 156.245 µs</a:t>
            </a:r>
            <a:endParaRPr lang="en-US" sz="1350" dirty="0"/>
          </a:p>
        </p:txBody>
      </p:sp>
      <p:sp>
        <p:nvSpPr>
          <p:cNvPr id="220" name="Text 218"/>
          <p:cNvSpPr txBox="1"/>
          <p:nvPr/>
        </p:nvSpPr>
        <p:spPr>
          <a:xfrm>
            <a:off x="4444445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</a:t>
            </a:r>
            <a:endParaRPr lang="en-US" sz="1200" dirty="0"/>
          </a:p>
        </p:txBody>
      </p:sp>
      <p:sp>
        <p:nvSpPr>
          <p:cNvPr id="221" name="Text 219"/>
          <p:cNvSpPr txBox="1"/>
          <p:nvPr/>
        </p:nvSpPr>
        <p:spPr>
          <a:xfrm>
            <a:off x="5487532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+ 989.525 µs</a:t>
            </a:r>
            <a:endParaRPr lang="en-US" sz="1350" dirty="0"/>
          </a:p>
        </p:txBody>
      </p:sp>
      <p:sp>
        <p:nvSpPr>
          <p:cNvPr id="222" name="Text 220"/>
          <p:cNvSpPr txBox="1"/>
          <p:nvPr/>
        </p:nvSpPr>
        <p:spPr>
          <a:xfrm>
            <a:off x="7834479" y="6063095"/>
            <a:ext cx="1043087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시작</a:t>
            </a:r>
            <a:endParaRPr lang="en-US" sz="1200" dirty="0"/>
          </a:p>
        </p:txBody>
      </p:sp>
      <p:sp>
        <p:nvSpPr>
          <p:cNvPr id="223" name="Text 221"/>
          <p:cNvSpPr txBox="1"/>
          <p:nvPr/>
        </p:nvSpPr>
        <p:spPr>
          <a:xfrm>
            <a:off x="8877566" y="6063095"/>
            <a:ext cx="2260023" cy="260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+ 10 ns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Margin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Margin: Start 검출 지연 최대 1 tick → 늦은 쪽 43.75 %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Margin = sampling 시점에서 bit 경계까지 남은 거리, bit 중앙 sampling = 양쪽 8 tick (50 %)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 fall은 b_tick 순간에만 검출 → 0 ~ 1 tick 늦게 START → 늦은 쪽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tick = 43.75 %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88595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지연 0</a:t>
            </a:r>
            <a:endParaRPr lang="en-US" sz="14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(edge = b_tick)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81200" y="186690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7900" y="186690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57500" y="1866900"/>
            <a:ext cx="701040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56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338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719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01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482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245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627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8008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390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771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153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5534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99160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429750" y="186690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981200" y="18669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bit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9867900" y="186690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bit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26670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4196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1722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79248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9677400" y="234315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62700" y="1733550"/>
            <a:ext cx="0" cy="72390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05550" y="1676400"/>
            <a:ext cx="114300" cy="1143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40" name="Shape 38"/>
          <p:cNvSpPr/>
          <p:nvPr/>
        </p:nvSpPr>
        <p:spPr>
          <a:xfrm>
            <a:off x="28956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 flipH="1">
            <a:off x="28956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64008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 flipH="1">
            <a:off x="6400800" y="2667000"/>
            <a:ext cx="342900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2857500" y="2705100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6362700" y="2705100"/>
            <a:ext cx="3505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= 50.00 %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381000" y="3352800"/>
            <a:ext cx="1524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검출 지연 1 tick</a:t>
            </a:r>
            <a:endParaRPr lang="en-US" sz="14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(worst)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1981200" y="333375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867900" y="3333750"/>
            <a:ext cx="87630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857500" y="3333750"/>
            <a:ext cx="7010400" cy="4572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956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338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1719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6101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482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4864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245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627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008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390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6771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1153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5534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99160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429750" y="3333750"/>
            <a:ext cx="0" cy="4572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981200" y="3333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이전 bit</a:t>
            </a:r>
            <a:endParaRPr lang="en-US" sz="1050" dirty="0"/>
          </a:p>
        </p:txBody>
      </p:sp>
      <p:sp>
        <p:nvSpPr>
          <p:cNvPr id="66" name="Text 64"/>
          <p:cNvSpPr txBox="1"/>
          <p:nvPr/>
        </p:nvSpPr>
        <p:spPr>
          <a:xfrm>
            <a:off x="9867900" y="3333750"/>
            <a:ext cx="87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bit</a:t>
            </a:r>
            <a:endParaRPr lang="en-US" sz="1050" dirty="0"/>
          </a:p>
        </p:txBody>
      </p:sp>
      <p:sp>
        <p:nvSpPr>
          <p:cNvPr id="67" name="Text 65"/>
          <p:cNvSpPr txBox="1"/>
          <p:nvPr/>
        </p:nvSpPr>
        <p:spPr>
          <a:xfrm>
            <a:off x="26670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4196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69" name="Text 67"/>
          <p:cNvSpPr txBox="1"/>
          <p:nvPr/>
        </p:nvSpPr>
        <p:spPr>
          <a:xfrm>
            <a:off x="61722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70" name="Text 68"/>
          <p:cNvSpPr txBox="1"/>
          <p:nvPr/>
        </p:nvSpPr>
        <p:spPr>
          <a:xfrm>
            <a:off x="79248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71" name="Text 69"/>
          <p:cNvSpPr txBox="1"/>
          <p:nvPr/>
        </p:nvSpPr>
        <p:spPr>
          <a:xfrm>
            <a:off x="9677400" y="38100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6800850" y="3200400"/>
            <a:ext cx="0" cy="723900"/>
          </a:xfrm>
          <a:prstGeom prst="line">
            <a:avLst/>
          </a:prstGeom>
          <a:noFill/>
          <a:ln w="31750">
            <a:solidFill>
              <a:srgbClr val="EA580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43700" y="3143250"/>
            <a:ext cx="114300" cy="11430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74" name="Shape 72"/>
          <p:cNvSpPr/>
          <p:nvPr/>
        </p:nvSpPr>
        <p:spPr>
          <a:xfrm>
            <a:off x="2895600" y="4133850"/>
            <a:ext cx="386715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 flipH="1">
            <a:off x="2895600" y="4133850"/>
            <a:ext cx="3867150" cy="0"/>
          </a:xfrm>
          <a:prstGeom prst="line">
            <a:avLst/>
          </a:prstGeom>
          <a:noFill/>
          <a:ln w="25400">
            <a:solidFill>
              <a:srgbClr val="15803D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6838950" y="4133850"/>
            <a:ext cx="29908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H="1">
            <a:off x="6838950" y="4133850"/>
            <a:ext cx="2990850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2857500" y="4171950"/>
            <a:ext cx="39433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tick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800850" y="4171950"/>
            <a:ext cx="30670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tick = 43.75 %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6477000" y="1638300"/>
            <a:ext cx="1524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sampling 시점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81000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95300" y="50482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495300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84" name="Text 82"/>
          <p:cNvSpPr txBox="1"/>
          <p:nvPr/>
        </p:nvSpPr>
        <p:spPr>
          <a:xfrm>
            <a:off x="819150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지연 원인 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= 1 순간만 rx 확인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최대 1 tick 늦게 START</a:t>
            </a:r>
            <a:endParaRPr lang="en-US" sz="1350" dirty="0"/>
          </a:p>
        </p:txBody>
      </p:sp>
      <p:sp>
        <p:nvSpPr>
          <p:cNvPr id="85" name="Shape 83"/>
          <p:cNvSpPr/>
          <p:nvPr/>
        </p:nvSpPr>
        <p:spPr>
          <a:xfrm>
            <a:off x="4238625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352925" y="50482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4352925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88" name="Text 86"/>
          <p:cNvSpPr txBox="1"/>
          <p:nvPr/>
        </p:nvSpPr>
        <p:spPr>
          <a:xfrm>
            <a:off x="4676775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늦은 쪽 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sample이 오른쪽으로 밀림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다음 bit까지 7 tick (43.75 %)</a:t>
            </a:r>
            <a:endParaRPr lang="en-US" sz="1350" dirty="0"/>
          </a:p>
        </p:txBody>
      </p:sp>
      <p:sp>
        <p:nvSpPr>
          <p:cNvPr id="89" name="Shape 87"/>
          <p:cNvSpPr/>
          <p:nvPr/>
        </p:nvSpPr>
        <p:spPr>
          <a:xfrm>
            <a:off x="8096250" y="4762500"/>
            <a:ext cx="3714750" cy="8001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210550" y="50482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8210550" y="50482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2" name="Text 90"/>
          <p:cNvSpPr txBox="1"/>
          <p:nvPr/>
        </p:nvSpPr>
        <p:spPr>
          <a:xfrm>
            <a:off x="8534400" y="4762500"/>
            <a:ext cx="318135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이른 쪽 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왼쪽 여유는 8 ~ 9 tick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최소 50 % 유지</a:t>
            </a:r>
            <a:endParaRPr lang="en-US" sz="1350" dirty="0"/>
          </a:p>
        </p:txBody>
      </p:sp>
      <p:sp>
        <p:nvSpPr>
          <p:cNvPr id="93" name="Shape 91"/>
          <p:cNvSpPr/>
          <p:nvPr/>
        </p:nvSpPr>
        <p:spPr>
          <a:xfrm>
            <a:off x="381000" y="5676900"/>
            <a:ext cx="1143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96" name="Text 94"/>
          <p:cNvSpPr txBox="1"/>
          <p:nvPr/>
        </p:nvSpPr>
        <p:spPr>
          <a:xfrm>
            <a:off x="819150" y="5676900"/>
            <a:ext cx="1089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누적 X 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START마다 falling edge로 다시 정렬 → 지연은 frame마다 초기화, xsim에서 모든 frame rx fall → rx_done 989.525 µs 동일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·  UART Reference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16x 선택 이유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16x: Margin · Baud 정확도 · 최대 속도의 균형점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Oversampling N을 키워도 worst margin = 50 − 100/N %로 조금씩만 증가 (16x 43.75 % → 32x 46.88 %)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N이 클수록 F_COUNT 정수 내림 오차 ↑ (32x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+0.16 %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 · 같은 clk에서 최대 baud = clk ÷ N ↓</a:t>
            </a:r>
            <a:endParaRPr lang="en-US" sz="15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381000" y="1676400"/>
          <a:ext cx="533400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6000750" y="1714500"/>
            <a:ext cx="58102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369A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F_COUNT = 100 MHz ÷ (9600 × N), Verilog 정수 나눗셈 내림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00750" y="2000250"/>
          <a:ext cx="5810250" cy="914400"/>
        </p:xfrm>
        <a:graphic>
          <a:graphicData uri="http://schemas.openxmlformats.org/drawingml/2006/table">
            <a:tbl>
              <a:tblPr/>
              <a:tblGrid>
                <a:gridCol w="666750"/>
                <a:gridCol w="1524000"/>
                <a:gridCol w="1238250"/>
                <a:gridCol w="1047750"/>
                <a:gridCol w="1333500"/>
              </a:tblGrid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F_COUNT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실제 baud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오차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최대 baud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2604.17 → 2604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25.00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1302.08 → 1302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12.50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651.04 → 651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9600.61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+0.0064 %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6.25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325.52 → 325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9615.38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+0.16 %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3.125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64x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162.76 → 162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9645.06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+0.47 %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1.563 Mbps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6000750" y="4762500"/>
            <a:ext cx="581025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15050" y="50101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115050" y="50101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438900" y="4762500"/>
            <a:ext cx="52768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16x 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margin 43.75 % · 오차 +0.0064 % · 최대 6.25 Mbps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9600 bps에 충분, 업계 표준 배수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381000" y="5676900"/>
            <a:ext cx="11430000" cy="72390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95300" y="5924550"/>
            <a:ext cx="228600" cy="228600"/>
          </a:xfrm>
          <a:prstGeom prst="ellipse">
            <a:avLst/>
          </a:prstGeom>
          <a:solidFill>
            <a:srgbClr val="0369A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95300" y="592455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819150" y="5676900"/>
            <a:ext cx="108966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더 키울 경우   </a:t>
            </a:r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32x: margin +3.1 %p 대신 baud 오차 25배 · 최대 속도 절반 → 노이즈 대책은 N보다 sample 다수결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블록 다이어그램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uart_loopback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출력이 TX 입력으로 직결된 Loopback 구조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PC sender가 보낸 '0'(0x30)을 uart_rx가 복원 → rx_data · rx_done이 uart_tx의 tx_data · tx_start로 직결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baud_tick_gen 하나를 RX · TX가 공유 (b_tick 6.51 µs) → PC receiver로 0x30 그대로 echo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76250" y="1638300"/>
            <a:ext cx="2286000" cy="476250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22225">
            <a:solidFill>
              <a:srgbClr val="1580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6250" y="17145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(Computer)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04850" y="2114550"/>
            <a:ext cx="18288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850" y="220980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4850" y="245745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 '0' → 0x30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14550" y="2771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4850" y="4800600"/>
            <a:ext cx="1828800" cy="112395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5875">
            <a:solidFill>
              <a:srgbClr val="1580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850" y="4895850"/>
            <a:ext cx="18288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receiver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850" y="5143500"/>
            <a:ext cx="1828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0x30 수신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114550" y="5438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19500" y="1638300"/>
            <a:ext cx="5619750" cy="4762500"/>
          </a:xfrm>
          <a:prstGeom prst="roundRect">
            <a:avLst>
              <a:gd name="adj" fmla="val 1200"/>
            </a:avLst>
          </a:prstGeom>
          <a:ln w="19050">
            <a:solidFill>
              <a:srgbClr val="818CF8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3771900" y="1695450"/>
            <a:ext cx="2857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uart_loopback  (uart.v)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667500" y="1695450"/>
            <a:ext cx="2381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 · rst → 3 modules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91000" y="2095500"/>
            <a:ext cx="2857500" cy="1238250"/>
          </a:xfrm>
          <a:prstGeom prst="roundRect">
            <a:avLst>
              <a:gd name="adj" fmla="val 4615"/>
            </a:avLst>
          </a:prstGeom>
          <a:solidFill>
            <a:srgbClr val="FFF1F2"/>
          </a:solidFill>
          <a:ln w="22225">
            <a:solidFill>
              <a:srgbClr val="BE123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191000" y="249555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191000" y="272415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U_UART_RX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4248150" y="2771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91250" y="225742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rx_data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191250" y="27717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238750" y="315277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62500" y="3657600"/>
            <a:ext cx="1714500" cy="66675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22225">
            <a:solidFill>
              <a:srgbClr val="B45309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62500" y="3771900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baud_tick_gen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4762500" y="4000500"/>
            <a:ext cx="1714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F_COUNT = 651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191000" y="4667250"/>
            <a:ext cx="2857500" cy="142875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22225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191000" y="5219700"/>
            <a:ext cx="285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191000" y="5448300"/>
            <a:ext cx="2857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U_UART_TX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5238750" y="4695825"/>
            <a:ext cx="762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248150" y="5438775"/>
            <a:ext cx="381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191250" y="496252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6191250" y="54387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6191250" y="5819775"/>
            <a:ext cx="800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tx_data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V="1">
            <a:off x="5619750" y="3333750"/>
            <a:ext cx="0" cy="32385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619750" y="4324350"/>
            <a:ext cx="0" cy="34290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5695950" y="342900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w_b_tick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5695950" y="44005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w_b_tick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533650" y="2857500"/>
            <a:ext cx="1657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028950" y="2628900"/>
            <a:ext cx="533400" cy="190500"/>
          </a:xfrm>
          <a:prstGeom prst="roundRect">
            <a:avLst>
              <a:gd name="adj" fmla="val 20000"/>
            </a:avLst>
          </a:prstGeom>
          <a:solidFill>
            <a:srgbClr val="FEF9C3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028950" y="2628900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0x30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7048500" y="2343150"/>
            <a:ext cx="152400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72500" y="2343150"/>
            <a:ext cx="0" cy="356235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H="1">
            <a:off x="7048500" y="5905500"/>
            <a:ext cx="1524000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048500" y="2857500"/>
            <a:ext cx="9525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01000" y="2857500"/>
            <a:ext cx="0" cy="219075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H="1">
            <a:off x="7048500" y="5048250"/>
            <a:ext cx="95250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6" name="Text 54"/>
          <p:cNvSpPr txBox="1"/>
          <p:nvPr/>
        </p:nvSpPr>
        <p:spPr>
          <a:xfrm>
            <a:off x="7239000" y="2133600"/>
            <a:ext cx="1333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w_rx_data[7:0]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8629650" y="4000500"/>
            <a:ext cx="495300" cy="190500"/>
          </a:xfrm>
          <a:prstGeom prst="roundRect">
            <a:avLst>
              <a:gd name="adj" fmla="val 20000"/>
            </a:avLst>
          </a:prstGeom>
          <a:solidFill>
            <a:srgbClr val="FEF9C3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629650" y="4000500"/>
            <a:ext cx="4953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0x30</a:t>
            </a:r>
            <a:endParaRPr lang="en-US" sz="1050" dirty="0"/>
          </a:p>
        </p:txBody>
      </p:sp>
      <p:sp>
        <p:nvSpPr>
          <p:cNvPr id="59" name="Text 57"/>
          <p:cNvSpPr txBox="1"/>
          <p:nvPr/>
        </p:nvSpPr>
        <p:spPr>
          <a:xfrm>
            <a:off x="7239000" y="2647950"/>
            <a:ext cx="8572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w_rx_done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058150" y="4000500"/>
            <a:ext cx="4762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clk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048500" y="5524500"/>
            <a:ext cx="342900" cy="0"/>
          </a:xfrm>
          <a:prstGeom prst="line">
            <a:avLst/>
          </a:prstGeom>
          <a:noFill/>
          <a:ln w="15875">
            <a:solidFill>
              <a:srgbClr val="64748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334250" y="5467350"/>
            <a:ext cx="114300" cy="11430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7334250" y="5467350"/>
            <a:ext cx="114300" cy="11430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486650" y="5438775"/>
            <a:ext cx="2857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 flipH="1">
            <a:off x="2533650" y="5524500"/>
            <a:ext cx="1657350" cy="0"/>
          </a:xfrm>
          <a:prstGeom prst="line">
            <a:avLst/>
          </a:prstGeom>
          <a:noFill/>
          <a:ln w="2540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6" name="Shape 64"/>
          <p:cNvSpPr/>
          <p:nvPr/>
        </p:nvSpPr>
        <p:spPr>
          <a:xfrm>
            <a:off x="3028950" y="5295900"/>
            <a:ext cx="533400" cy="190500"/>
          </a:xfrm>
          <a:prstGeom prst="roundRect">
            <a:avLst>
              <a:gd name="adj" fmla="val 20000"/>
            </a:avLst>
          </a:prstGeom>
          <a:solidFill>
            <a:srgbClr val="FEF9C3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3028950" y="5295900"/>
            <a:ext cx="5334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0x30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525000" y="163830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658350" y="17526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658350" y="17526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71" name="Text 69"/>
          <p:cNvSpPr txBox="1"/>
          <p:nvPr/>
        </p:nvSpPr>
        <p:spPr>
          <a:xfrm>
            <a:off x="10001250" y="1752600"/>
            <a:ext cx="171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9677400" y="207645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'0' → 0x30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frame 송신</a:t>
            </a:r>
            <a:endParaRPr lang="en-US" sz="1350" dirty="0"/>
          </a:p>
        </p:txBody>
      </p:sp>
      <p:sp>
        <p:nvSpPr>
          <p:cNvPr id="73" name="Shape 71"/>
          <p:cNvSpPr/>
          <p:nvPr/>
        </p:nvSpPr>
        <p:spPr>
          <a:xfrm>
            <a:off x="9525000" y="285750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658350" y="29718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9658350" y="29718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76" name="Text 74"/>
          <p:cNvSpPr txBox="1"/>
          <p:nvPr/>
        </p:nvSpPr>
        <p:spPr>
          <a:xfrm>
            <a:off x="10001250" y="2971800"/>
            <a:ext cx="171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uart_rx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9677400" y="329565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sampling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rx_data 0x30</a:t>
            </a:r>
            <a:endParaRPr lang="en-US" sz="1350" dirty="0"/>
          </a:p>
        </p:txBody>
      </p:sp>
      <p:sp>
        <p:nvSpPr>
          <p:cNvPr id="78" name="Shape 76"/>
          <p:cNvSpPr/>
          <p:nvPr/>
        </p:nvSpPr>
        <p:spPr>
          <a:xfrm>
            <a:off x="9525000" y="407670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658350" y="41910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9658350" y="41910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10001250" y="4191000"/>
            <a:ext cx="171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9677400" y="451485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중앙 1 clk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tx_start</a:t>
            </a:r>
            <a:endParaRPr lang="en-US" sz="1350" dirty="0"/>
          </a:p>
        </p:txBody>
      </p:sp>
      <p:sp>
        <p:nvSpPr>
          <p:cNvPr id="83" name="Shape 81"/>
          <p:cNvSpPr/>
          <p:nvPr/>
        </p:nvSpPr>
        <p:spPr>
          <a:xfrm>
            <a:off x="9525000" y="5295900"/>
            <a:ext cx="2286000" cy="1104900"/>
          </a:xfrm>
          <a:prstGeom prst="roundRect">
            <a:avLst>
              <a:gd name="adj" fmla="val 689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658350" y="5410200"/>
            <a:ext cx="247650" cy="2476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658350" y="54102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86" name="Text 84"/>
          <p:cNvSpPr txBox="1"/>
          <p:nvPr/>
        </p:nvSpPr>
        <p:spPr>
          <a:xfrm>
            <a:off x="10001250" y="5410200"/>
            <a:ext cx="1714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uart_tx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9677400" y="5734050"/>
            <a:ext cx="2057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0x30 LSB first</a:t>
            </a:r>
            <a:endParaRPr lang="en-US" sz="13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receiver</a:t>
            </a:r>
            <a:endParaRPr lang="en-US" sz="1350" dirty="0"/>
          </a:p>
        </p:txBody>
      </p:sp>
      <p:sp>
        <p:nvSpPr>
          <p:cNvPr id="88" name="Shape 86"/>
          <p:cNvSpPr/>
          <p:nvPr/>
        </p:nvSpPr>
        <p:spPr>
          <a:xfrm>
            <a:off x="685800" y="2000250"/>
            <a:ext cx="209550" cy="2095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685800" y="20002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4076700" y="1981200"/>
            <a:ext cx="209550" cy="2095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076700" y="19812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8115300" y="2933700"/>
            <a:ext cx="209550" cy="2095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8115300" y="293370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4076700" y="4552950"/>
            <a:ext cx="209550" cy="20955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4076700" y="4552950"/>
            <a:ext cx="20955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·  블록 다이어그램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top_ascii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top_ascii: rx_done마다 수신 문자를 FND 4자리로 Shift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rx_done마다 ASCII → hex → 7-seg font 변환 후 anode_reg 8 bit shift → 최근 4글자 표시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hex 외 문자 (CR · LF 등)는 8'hFF → fnd_decoder default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'-'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reset 값도 '----'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83511" y="1543050"/>
            <a:ext cx="11224978" cy="4171950"/>
          </a:xfrm>
          <a:prstGeom prst="roundRect">
            <a:avLst>
              <a:gd name="adj" fmla="val 179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3178" y="1617883"/>
            <a:ext cx="1870830" cy="18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top_ascii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231843" y="2179132"/>
            <a:ext cx="1683747" cy="1122498"/>
          </a:xfrm>
          <a:prstGeom prst="roundRect">
            <a:avLst>
              <a:gd name="adj" fmla="val 5000"/>
            </a:avLst>
          </a:prstGeom>
          <a:solidFill>
            <a:srgbClr val="EEF2FF"/>
          </a:solidFill>
          <a:ln w="22225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31843" y="2497173"/>
            <a:ext cx="1683747" cy="22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uart_loopback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231843" y="2721673"/>
            <a:ext cx="1683747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U_UART_LOOP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31843" y="2890047"/>
            <a:ext cx="1683747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uart.v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851004" y="2179132"/>
            <a:ext cx="1496664" cy="112249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51004" y="2497173"/>
            <a:ext cx="1496664" cy="22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Ascii_decoder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3851004" y="2721673"/>
            <a:ext cx="1496664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U_ASCII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3851004" y="2890047"/>
            <a:ext cx="1496664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ASCII → hex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89541" y="2179132"/>
            <a:ext cx="1403122" cy="1122498"/>
          </a:xfrm>
          <a:prstGeom prst="roundRect">
            <a:avLst>
              <a:gd name="adj" fmla="val 5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189541" y="2497173"/>
            <a:ext cx="1403122" cy="22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fnd_decoder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189541" y="2721673"/>
            <a:ext cx="1403122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U_FND_DEC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189541" y="2890047"/>
            <a:ext cx="1403122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hex → segment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434537" y="2085591"/>
            <a:ext cx="1122498" cy="1309581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dash"/>
          </a:ln>
        </p:spPr>
      </p:sp>
      <p:sp>
        <p:nvSpPr>
          <p:cNvPr id="27" name="Text 25"/>
          <p:cNvSpPr txBox="1"/>
          <p:nvPr/>
        </p:nvSpPr>
        <p:spPr>
          <a:xfrm>
            <a:off x="8434537" y="2441048"/>
            <a:ext cx="1122498" cy="205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anode_reg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8434537" y="2646839"/>
            <a:ext cx="1122498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[31:0]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434537" y="2833922"/>
            <a:ext cx="1122498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8bit shift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 rot="5400000">
            <a:off x="9622514" y="2506527"/>
            <a:ext cx="1085081" cy="467707"/>
          </a:xfrm>
          <a:prstGeom prst="trapezoid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912492" y="2572006"/>
            <a:ext cx="505124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MUX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9912492" y="2740381"/>
            <a:ext cx="505124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4:1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577053" y="2469111"/>
            <a:ext cx="374166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988635" y="2553298"/>
            <a:ext cx="243208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77053" y="2918110"/>
            <a:ext cx="374166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 flipH="1">
            <a:off x="988635" y="3002297"/>
            <a:ext cx="243208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915590" y="2553298"/>
            <a:ext cx="935415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2971715" y="2347507"/>
            <a:ext cx="841873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o_rx_data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15590" y="3002297"/>
            <a:ext cx="935415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2971715" y="2796506"/>
            <a:ext cx="841873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o_rx_done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154120" y="2960203"/>
            <a:ext cx="84187" cy="84187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42" name="Shape 40"/>
          <p:cNvSpPr/>
          <p:nvPr/>
        </p:nvSpPr>
        <p:spPr>
          <a:xfrm>
            <a:off x="3196214" y="3002297"/>
            <a:ext cx="0" cy="692207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96214" y="3694504"/>
            <a:ext cx="5799572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995786" y="3395171"/>
            <a:ext cx="0" cy="299333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9051911" y="3451296"/>
            <a:ext cx="280624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47668" y="2740381"/>
            <a:ext cx="841873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7" name="Text 45"/>
          <p:cNvSpPr txBox="1"/>
          <p:nvPr/>
        </p:nvSpPr>
        <p:spPr>
          <a:xfrm>
            <a:off x="5347668" y="2534590"/>
            <a:ext cx="841873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w_fnd_hex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5487980" y="2759089"/>
            <a:ext cx="561249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[7:0]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7592664" y="2740381"/>
            <a:ext cx="841873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7592664" y="2534590"/>
            <a:ext cx="841873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w_fnd_font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7732976" y="2759089"/>
            <a:ext cx="561249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[7:0]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557035" y="2740381"/>
            <a:ext cx="374166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3" name="Text 51"/>
          <p:cNvSpPr txBox="1"/>
          <p:nvPr/>
        </p:nvSpPr>
        <p:spPr>
          <a:xfrm>
            <a:off x="9603805" y="2534590"/>
            <a:ext cx="280624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398908" y="2740381"/>
            <a:ext cx="243208" cy="0"/>
          </a:xfrm>
          <a:prstGeom prst="line">
            <a:avLst/>
          </a:prstGeom>
          <a:noFill/>
          <a:ln w="444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10698241" y="2572006"/>
            <a:ext cx="897998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fnd_font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10698241" y="2740381"/>
            <a:ext cx="897998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[7:0]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5347668" y="4274461"/>
            <a:ext cx="1777288" cy="935415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5347668" y="4498961"/>
            <a:ext cx="1777288" cy="22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clock_tick_gen</a:t>
            </a:r>
            <a:endParaRPr lang="en-US" sz="1450" dirty="0"/>
          </a:p>
        </p:txBody>
      </p:sp>
      <p:sp>
        <p:nvSpPr>
          <p:cNvPr id="59" name="Text 57"/>
          <p:cNvSpPr txBox="1"/>
          <p:nvPr/>
        </p:nvSpPr>
        <p:spPr>
          <a:xfrm>
            <a:off x="5347668" y="4723460"/>
            <a:ext cx="1777288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U_CLOCK_4K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5347668" y="4891835"/>
            <a:ext cx="1777288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CLK_FRQ = 4000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7779747" y="4274461"/>
            <a:ext cx="1309581" cy="935415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22225">
            <a:solidFill>
              <a:srgbClr val="475569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779747" y="4498961"/>
            <a:ext cx="1309581" cy="22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counter_4</a:t>
            </a:r>
            <a:endParaRPr lang="en-US" sz="1450" dirty="0"/>
          </a:p>
        </p:txBody>
      </p:sp>
      <p:sp>
        <p:nvSpPr>
          <p:cNvPr id="63" name="Text 61"/>
          <p:cNvSpPr txBox="1"/>
          <p:nvPr/>
        </p:nvSpPr>
        <p:spPr>
          <a:xfrm>
            <a:off x="7779747" y="4723460"/>
            <a:ext cx="1309581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U_COUNT</a:t>
            </a:r>
            <a:endParaRPr lang="en-US" sz="1000" dirty="0"/>
          </a:p>
        </p:txBody>
      </p:sp>
      <p:sp>
        <p:nvSpPr>
          <p:cNvPr id="64" name="Text 62"/>
          <p:cNvSpPr txBox="1"/>
          <p:nvPr/>
        </p:nvSpPr>
        <p:spPr>
          <a:xfrm>
            <a:off x="7779747" y="4891835"/>
            <a:ext cx="1309581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→ 3 반복</a:t>
            </a:r>
            <a:endParaRPr lang="en-US" sz="1050" dirty="0"/>
          </a:p>
        </p:txBody>
      </p:sp>
      <p:sp>
        <p:nvSpPr>
          <p:cNvPr id="65" name="Shape 63"/>
          <p:cNvSpPr/>
          <p:nvPr/>
        </p:nvSpPr>
        <p:spPr>
          <a:xfrm>
            <a:off x="9837659" y="4442836"/>
            <a:ext cx="767040" cy="598665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dash"/>
          </a:ln>
        </p:spPr>
      </p:sp>
      <p:sp>
        <p:nvSpPr>
          <p:cNvPr id="66" name="Text 64"/>
          <p:cNvSpPr txBox="1"/>
          <p:nvPr/>
        </p:nvSpPr>
        <p:spPr>
          <a:xfrm>
            <a:off x="9837659" y="4573794"/>
            <a:ext cx="767040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</a:t>
            </a:r>
            <a:endParaRPr lang="en-US" sz="1200" dirty="0"/>
          </a:p>
        </p:txBody>
      </p:sp>
      <p:sp>
        <p:nvSpPr>
          <p:cNvPr id="67" name="Text 65"/>
          <p:cNvSpPr txBox="1"/>
          <p:nvPr/>
        </p:nvSpPr>
        <p:spPr>
          <a:xfrm>
            <a:off x="9837659" y="4742169"/>
            <a:ext cx="767040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decoder</a:t>
            </a:r>
            <a:endParaRPr lang="en-US" sz="1000" dirty="0"/>
          </a:p>
        </p:txBody>
      </p:sp>
      <p:sp>
        <p:nvSpPr>
          <p:cNvPr id="68" name="Text 66"/>
          <p:cNvSpPr txBox="1"/>
          <p:nvPr/>
        </p:nvSpPr>
        <p:spPr>
          <a:xfrm>
            <a:off x="4505795" y="4657981"/>
            <a:ext cx="561249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5104460" y="4742169"/>
            <a:ext cx="243208" cy="0"/>
          </a:xfrm>
          <a:prstGeom prst="line">
            <a:avLst/>
          </a:prstGeom>
          <a:noFill/>
          <a:ln w="15875">
            <a:solidFill>
              <a:srgbClr val="0F172A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7124956" y="4742169"/>
            <a:ext cx="654790" cy="0"/>
          </a:xfrm>
          <a:prstGeom prst="line">
            <a:avLst/>
          </a:prstGeom>
          <a:noFill/>
          <a:ln w="2222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7124956" y="4536377"/>
            <a:ext cx="654790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w_clk_4k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089327" y="4742169"/>
            <a:ext cx="748332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3" name="Text 71"/>
          <p:cNvSpPr txBox="1"/>
          <p:nvPr/>
        </p:nvSpPr>
        <p:spPr>
          <a:xfrm>
            <a:off x="9108036" y="4536377"/>
            <a:ext cx="467707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w_sel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9477524" y="4700075"/>
            <a:ext cx="84187" cy="84187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5" name="Shape 73"/>
          <p:cNvSpPr/>
          <p:nvPr/>
        </p:nvSpPr>
        <p:spPr>
          <a:xfrm flipV="1">
            <a:off x="9519618" y="3975128"/>
            <a:ext cx="0" cy="76704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519618" y="3975128"/>
            <a:ext cx="645436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10165054" y="3226797"/>
            <a:ext cx="0" cy="748332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10211825" y="3413880"/>
            <a:ext cx="374166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0604699" y="4742169"/>
            <a:ext cx="130958" cy="0"/>
          </a:xfrm>
          <a:prstGeom prst="line">
            <a:avLst/>
          </a:prstGeom>
          <a:noFill/>
          <a:ln w="317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80" name="Text 78"/>
          <p:cNvSpPr txBox="1"/>
          <p:nvPr/>
        </p:nvSpPr>
        <p:spPr>
          <a:xfrm>
            <a:off x="10773074" y="4573794"/>
            <a:ext cx="897998" cy="168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fnd_com</a:t>
            </a:r>
            <a:endParaRPr lang="en-US" sz="1200" dirty="0"/>
          </a:p>
        </p:txBody>
      </p:sp>
      <p:sp>
        <p:nvSpPr>
          <p:cNvPr id="81" name="Text 79"/>
          <p:cNvSpPr txBox="1"/>
          <p:nvPr/>
        </p:nvSpPr>
        <p:spPr>
          <a:xfrm>
            <a:off x="10773074" y="4742169"/>
            <a:ext cx="897998" cy="149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[3:0]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1119593" y="2066882"/>
            <a:ext cx="243208" cy="243208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1119593" y="2066882"/>
            <a:ext cx="243208" cy="24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3738755" y="2066882"/>
            <a:ext cx="243208" cy="243208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3738755" y="2066882"/>
            <a:ext cx="243208" cy="24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8322287" y="1973341"/>
            <a:ext cx="243208" cy="243208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8322287" y="1973341"/>
            <a:ext cx="243208" cy="24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235418" y="4162211"/>
            <a:ext cx="243208" cy="243208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5235418" y="4162211"/>
            <a:ext cx="243208" cy="243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90" name="Text 88"/>
          <p:cNvSpPr txBox="1"/>
          <p:nvPr/>
        </p:nvSpPr>
        <p:spPr>
          <a:xfrm>
            <a:off x="633178" y="5434376"/>
            <a:ext cx="6547904" cy="1870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실선 = module instance   ·   점선 = top_ascii 내부 always 블록</a:t>
            </a:r>
            <a:endParaRPr lang="en-US" sz="1100" dirty="0"/>
          </a:p>
        </p:txBody>
      </p:sp>
      <p:sp>
        <p:nvSpPr>
          <p:cNvPr id="91" name="Shape 89"/>
          <p:cNvSpPr/>
          <p:nvPr/>
        </p:nvSpPr>
        <p:spPr>
          <a:xfrm>
            <a:off x="381000" y="5829300"/>
            <a:ext cx="2762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495300" y="60102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3" name="Text 91"/>
          <p:cNvSpPr txBox="1"/>
          <p:nvPr/>
        </p:nvSpPr>
        <p:spPr>
          <a:xfrm>
            <a:off x="495300" y="6010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4" name="Text 92"/>
          <p:cNvSpPr txBox="1"/>
          <p:nvPr/>
        </p:nvSpPr>
        <p:spPr>
          <a:xfrm>
            <a:off x="819150" y="5829300"/>
            <a:ext cx="2228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echo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rx_data · rx_done</a:t>
            </a:r>
            <a:endParaRPr lang="en-US" sz="1300" dirty="0"/>
          </a:p>
        </p:txBody>
      </p:sp>
      <p:sp>
        <p:nvSpPr>
          <p:cNvPr id="95" name="Shape 93"/>
          <p:cNvSpPr/>
          <p:nvPr/>
        </p:nvSpPr>
        <p:spPr>
          <a:xfrm>
            <a:off x="3267075" y="5829300"/>
            <a:ext cx="2762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3381375" y="60102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3381375" y="6010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98" name="Text 96"/>
          <p:cNvSpPr txBox="1"/>
          <p:nvPr/>
        </p:nvSpPr>
        <p:spPr>
          <a:xfrm>
            <a:off x="3705225" y="5829300"/>
            <a:ext cx="2228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decode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hex 외 → 8'hFF</a:t>
            </a:r>
            <a:endParaRPr lang="en-US" sz="1300" dirty="0"/>
          </a:p>
        </p:txBody>
      </p:sp>
      <p:sp>
        <p:nvSpPr>
          <p:cNvPr id="99" name="Shape 97"/>
          <p:cNvSpPr/>
          <p:nvPr/>
        </p:nvSpPr>
        <p:spPr>
          <a:xfrm>
            <a:off x="6153150" y="5829300"/>
            <a:ext cx="2762250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267450" y="60102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6267450" y="6010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02" name="Text 100"/>
          <p:cNvSpPr txBox="1"/>
          <p:nvPr/>
        </p:nvSpPr>
        <p:spPr>
          <a:xfrm>
            <a:off x="6591300" y="5829300"/>
            <a:ext cx="22288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rx_done마다 8 bit</a:t>
            </a:r>
            <a:endParaRPr lang="en-US" sz="1300" dirty="0"/>
          </a:p>
        </p:txBody>
      </p:sp>
      <p:sp>
        <p:nvSpPr>
          <p:cNvPr id="103" name="Shape 101"/>
          <p:cNvSpPr/>
          <p:nvPr/>
        </p:nvSpPr>
        <p:spPr>
          <a:xfrm>
            <a:off x="9039225" y="5829300"/>
            <a:ext cx="2771775" cy="59055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153525" y="6010275"/>
            <a:ext cx="228600" cy="228600"/>
          </a:xfrm>
          <a:prstGeom prst="ellipse">
            <a:avLst/>
          </a:prstGeom>
          <a:solidFill>
            <a:srgbClr val="4338C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153525" y="601027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106" name="Text 104"/>
          <p:cNvSpPr txBox="1"/>
          <p:nvPr/>
        </p:nvSpPr>
        <p:spPr>
          <a:xfrm>
            <a:off x="9477375" y="5829300"/>
            <a:ext cx="223837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   </a:t>
            </a:r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kHz digit 선택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ASM 차트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uart_rx ASM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uart_rx ASM: START 중앙 정렬 후 16 tick마다 Sampling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 fall 검출 → START 8 tick 동안 rx = 0 유지 확인,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= 1일 경우 IDLE 복귀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(glitch 거름) → bit 중앙 도달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DATA에서 16 tick마다 1 bit shift (8회) → STOP 중앙에서 rx_done 1 clk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17714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5856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2044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17714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47267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47267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617714" y="3024853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1635808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147267" y="3241982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47267" y="3241982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88160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24348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88160" y="3459111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24348" y="3314359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 flipV="1">
            <a:off x="3327605" y="1812549"/>
            <a:ext cx="0" cy="1646562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H="1">
            <a:off x="1617714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86049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1" name="Shape 29"/>
          <p:cNvSpPr/>
          <p:nvPr/>
        </p:nvSpPr>
        <p:spPr>
          <a:xfrm>
            <a:off x="3295940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635808" y="3694334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617714" y="3676240"/>
            <a:ext cx="0" cy="2189384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17714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508546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508546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17714" y="1577326"/>
            <a:ext cx="0" cy="126659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255832" y="1541138"/>
            <a:ext cx="307599" cy="144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331827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589969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626157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31827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915663" y="2590595"/>
            <a:ext cx="832328" cy="398070"/>
          </a:xfrm>
          <a:prstGeom prst="diamond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915663" y="2590595"/>
            <a:ext cx="832328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747991" y="2789630"/>
            <a:ext cx="189988" cy="0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48" name="Text 46"/>
          <p:cNvSpPr txBox="1"/>
          <p:nvPr/>
        </p:nvSpPr>
        <p:spPr>
          <a:xfrm>
            <a:off x="4784179" y="264487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37978" y="2536313"/>
            <a:ext cx="1013269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956073" y="2536313"/>
            <a:ext cx="977081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8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444613" y="3042947"/>
            <a:ext cx="0" cy="108565"/>
          </a:xfrm>
          <a:prstGeom prst="line">
            <a:avLst/>
          </a:prstGeom>
          <a:noFill/>
          <a:ln w="1587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100825" y="3151512"/>
            <a:ext cx="687575" cy="180941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5100825" y="3151512"/>
            <a:ext cx="687575" cy="1809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IDLE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331827" y="2988665"/>
            <a:ext cx="0" cy="289505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4349921" y="3006759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861380" y="3278170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861380" y="3278170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02273" y="3495299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838461" y="33505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31827" y="3712428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4349921" y="3730523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770910" y="3857181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3770910" y="3857181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4892743" y="4146687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65" name="Text 63"/>
          <p:cNvSpPr txBox="1"/>
          <p:nvPr/>
        </p:nvSpPr>
        <p:spPr>
          <a:xfrm>
            <a:off x="4901790" y="4164781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5046543" y="3947652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064637" y="3947652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5987435" y="4146687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331827" y="4436192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4349921" y="4454286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3608063" y="4580945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3626157" y="4580945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 0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 flipV="1">
            <a:off x="6041718" y="1812549"/>
            <a:ext cx="0" cy="2334137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H="1">
            <a:off x="4331827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4300162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76" name="Shape 74"/>
          <p:cNvSpPr/>
          <p:nvPr/>
        </p:nvSpPr>
        <p:spPr>
          <a:xfrm>
            <a:off x="6010053" y="346363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77" name="Shape 75"/>
          <p:cNvSpPr/>
          <p:nvPr/>
        </p:nvSpPr>
        <p:spPr>
          <a:xfrm>
            <a:off x="4331827" y="5087579"/>
            <a:ext cx="0" cy="77804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331827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flipV="1">
            <a:off x="6222659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6222659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045940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82" name="Shape 80"/>
          <p:cNvSpPr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6304082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340270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7045940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87" name="Shape 85"/>
          <p:cNvSpPr/>
          <p:nvPr/>
        </p:nvSpPr>
        <p:spPr>
          <a:xfrm>
            <a:off x="6575493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575493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7045940" y="3024853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90" name="Text 88"/>
          <p:cNvSpPr txBox="1"/>
          <p:nvPr/>
        </p:nvSpPr>
        <p:spPr>
          <a:xfrm>
            <a:off x="7064034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485023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6485023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516386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7552574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606856" y="3459111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96" name="Text 94"/>
          <p:cNvSpPr txBox="1"/>
          <p:nvPr/>
        </p:nvSpPr>
        <p:spPr>
          <a:xfrm>
            <a:off x="7615903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97" name="Shape 95"/>
          <p:cNvSpPr/>
          <p:nvPr/>
        </p:nvSpPr>
        <p:spPr>
          <a:xfrm>
            <a:off x="7760656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778750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701548" y="3459111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045940" y="3748617"/>
            <a:ext cx="0" cy="162847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01" name="Text 99"/>
          <p:cNvSpPr txBox="1"/>
          <p:nvPr/>
        </p:nvSpPr>
        <p:spPr>
          <a:xfrm>
            <a:off x="7064034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6322176" y="3911463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6340270" y="3911463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{rx, data_reg[7:1]}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7045940" y="4418098"/>
            <a:ext cx="0" cy="180941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05" name="Shape 103"/>
          <p:cNvSpPr/>
          <p:nvPr/>
        </p:nvSpPr>
        <p:spPr>
          <a:xfrm>
            <a:off x="6485023" y="4599039"/>
            <a:ext cx="1121833" cy="54282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6485023" y="4599039"/>
            <a:ext cx="1121833" cy="5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107" name="Shape 105"/>
          <p:cNvSpPr/>
          <p:nvPr/>
        </p:nvSpPr>
        <p:spPr>
          <a:xfrm>
            <a:off x="7606856" y="4870450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08" name="Text 106"/>
          <p:cNvSpPr txBox="1"/>
          <p:nvPr/>
        </p:nvSpPr>
        <p:spPr>
          <a:xfrm>
            <a:off x="7615903" y="4888544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7760656" y="4671415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7778750" y="4671415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bit_cnt + 1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8701548" y="4870450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8755831" y="1812549"/>
            <a:ext cx="0" cy="3057901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H="1">
            <a:off x="7045940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014275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15" name="Shape 113"/>
          <p:cNvSpPr/>
          <p:nvPr/>
        </p:nvSpPr>
        <p:spPr>
          <a:xfrm>
            <a:off x="8724166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16" name="Shape 114"/>
          <p:cNvSpPr/>
          <p:nvPr/>
        </p:nvSpPr>
        <p:spPr>
          <a:xfrm>
            <a:off x="8724166" y="3427447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17" name="Text 115"/>
          <p:cNvSpPr txBox="1"/>
          <p:nvPr/>
        </p:nvSpPr>
        <p:spPr>
          <a:xfrm>
            <a:off x="7064034" y="5159955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7045940" y="5141861"/>
            <a:ext cx="0" cy="72376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045940" y="5865625"/>
            <a:ext cx="1890832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8936772" y="1703985"/>
            <a:ext cx="0" cy="416164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8936772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9760052" y="1703985"/>
            <a:ext cx="0" cy="21712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24" name="Text 122"/>
          <p:cNvSpPr txBox="1"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125" name="Shape 123"/>
          <p:cNvSpPr/>
          <p:nvPr/>
        </p:nvSpPr>
        <p:spPr>
          <a:xfrm>
            <a:off x="9018195" y="2138243"/>
            <a:ext cx="1483715" cy="379976"/>
          </a:xfrm>
          <a:prstGeom prst="rect">
            <a:avLst/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9054383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50" dirty="0"/>
          </a:p>
        </p:txBody>
      </p:sp>
      <p:sp>
        <p:nvSpPr>
          <p:cNvPr id="127" name="Shape 125"/>
          <p:cNvSpPr/>
          <p:nvPr/>
        </p:nvSpPr>
        <p:spPr>
          <a:xfrm>
            <a:off x="9760052" y="2518219"/>
            <a:ext cx="0" cy="72376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28" name="Shape 126"/>
          <p:cNvSpPr/>
          <p:nvPr/>
        </p:nvSpPr>
        <p:spPr>
          <a:xfrm>
            <a:off x="9289606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29" name="Text 127"/>
          <p:cNvSpPr txBox="1"/>
          <p:nvPr/>
        </p:nvSpPr>
        <p:spPr>
          <a:xfrm>
            <a:off x="9289606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130" name="Shape 128"/>
          <p:cNvSpPr/>
          <p:nvPr/>
        </p:nvSpPr>
        <p:spPr>
          <a:xfrm>
            <a:off x="9760052" y="3024853"/>
            <a:ext cx="0" cy="144753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31" name="Text 129"/>
          <p:cNvSpPr txBox="1"/>
          <p:nvPr/>
        </p:nvSpPr>
        <p:spPr>
          <a:xfrm>
            <a:off x="9778147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9199136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33" name="Text 131"/>
          <p:cNvSpPr txBox="1"/>
          <p:nvPr/>
        </p:nvSpPr>
        <p:spPr>
          <a:xfrm>
            <a:off x="9199136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134" name="Shape 132"/>
          <p:cNvSpPr/>
          <p:nvPr/>
        </p:nvSpPr>
        <p:spPr>
          <a:xfrm>
            <a:off x="10230499" y="2807724"/>
            <a:ext cx="1239445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35" name="Text 133"/>
          <p:cNvSpPr txBox="1"/>
          <p:nvPr/>
        </p:nvSpPr>
        <p:spPr>
          <a:xfrm>
            <a:off x="10266687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10320969" y="3459111"/>
            <a:ext cx="153800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37" name="Text 135"/>
          <p:cNvSpPr txBox="1"/>
          <p:nvPr/>
        </p:nvSpPr>
        <p:spPr>
          <a:xfrm>
            <a:off x="10330016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38" name="Shape 136"/>
          <p:cNvSpPr/>
          <p:nvPr/>
        </p:nvSpPr>
        <p:spPr>
          <a:xfrm>
            <a:off x="10474769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10492863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11415661" y="3459111"/>
            <a:ext cx="54282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9760052" y="3748617"/>
            <a:ext cx="0" cy="162847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142" name="Text 140"/>
          <p:cNvSpPr txBox="1"/>
          <p:nvPr/>
        </p:nvSpPr>
        <p:spPr>
          <a:xfrm>
            <a:off x="9778147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43" name="Shape 141"/>
          <p:cNvSpPr/>
          <p:nvPr/>
        </p:nvSpPr>
        <p:spPr>
          <a:xfrm>
            <a:off x="9126759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BE123C"/>
            </a:solidFill>
            <a:prstDash val="solid"/>
          </a:ln>
        </p:spPr>
      </p:sp>
      <p:sp>
        <p:nvSpPr>
          <p:cNvPr id="144" name="Text 142"/>
          <p:cNvSpPr txBox="1"/>
          <p:nvPr/>
        </p:nvSpPr>
        <p:spPr>
          <a:xfrm>
            <a:off x="9144853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← 1</a:t>
            </a:r>
            <a:endParaRPr lang="en-US" sz="900" dirty="0"/>
          </a:p>
        </p:txBody>
      </p:sp>
      <p:sp>
        <p:nvSpPr>
          <p:cNvPr id="145" name="Shape 143"/>
          <p:cNvSpPr/>
          <p:nvPr/>
        </p:nvSpPr>
        <p:spPr>
          <a:xfrm flipV="1">
            <a:off x="11469944" y="1812549"/>
            <a:ext cx="0" cy="1646562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flipH="1">
            <a:off x="9760052" y="1812549"/>
            <a:ext cx="1709891" cy="0"/>
          </a:xfrm>
          <a:prstGeom prst="line">
            <a:avLst/>
          </a:prstGeom>
          <a:noFill/>
          <a:ln w="15875">
            <a:solidFill>
              <a:srgbClr val="BE123C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9728388" y="1780885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48" name="Shape 146"/>
          <p:cNvSpPr/>
          <p:nvPr/>
        </p:nvSpPr>
        <p:spPr>
          <a:xfrm>
            <a:off x="11438279" y="2776060"/>
            <a:ext cx="63329" cy="63329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49" name="Shape 147"/>
          <p:cNvSpPr/>
          <p:nvPr/>
        </p:nvSpPr>
        <p:spPr>
          <a:xfrm>
            <a:off x="9760052" y="4219063"/>
            <a:ext cx="0" cy="1954161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H="1">
            <a:off x="794433" y="6173224"/>
            <a:ext cx="8965620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794433" y="1703985"/>
            <a:ext cx="0" cy="4469239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794433" y="1703985"/>
            <a:ext cx="823281" cy="0"/>
          </a:xfrm>
          <a:prstGeom prst="line">
            <a:avLst/>
          </a:prstGeom>
          <a:noFill/>
          <a:ln w="19050">
            <a:solidFill>
              <a:srgbClr val="BE123C"/>
            </a:solidFill>
            <a:prstDash val="solid"/>
          </a:ln>
        </p:spPr>
      </p:sp>
      <p:sp>
        <p:nvSpPr>
          <p:cNvPr id="153" name="Text 151"/>
          <p:cNvSpPr txBox="1"/>
          <p:nvPr/>
        </p:nvSpPr>
        <p:spPr>
          <a:xfrm>
            <a:off x="1717231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fall 검출</a:t>
            </a:r>
            <a:endParaRPr lang="en-US" sz="1000" dirty="0"/>
          </a:p>
        </p:txBody>
      </p:sp>
      <p:sp>
        <p:nvSpPr>
          <p:cNvPr id="154" name="Text 152"/>
          <p:cNvSpPr txBox="1"/>
          <p:nvPr/>
        </p:nvSpPr>
        <p:spPr>
          <a:xfrm>
            <a:off x="4431344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tick · 52.08 µs</a:t>
            </a:r>
            <a:endParaRPr lang="en-US" sz="1000" dirty="0"/>
          </a:p>
        </p:txBody>
      </p:sp>
      <p:sp>
        <p:nvSpPr>
          <p:cNvPr id="155" name="Text 153"/>
          <p:cNvSpPr txBox="1"/>
          <p:nvPr/>
        </p:nvSpPr>
        <p:spPr>
          <a:xfrm>
            <a:off x="7145457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00" dirty="0"/>
          </a:p>
        </p:txBody>
      </p:sp>
      <p:sp>
        <p:nvSpPr>
          <p:cNvPr id="156" name="Text 154"/>
          <p:cNvSpPr txBox="1"/>
          <p:nvPr/>
        </p:nvSpPr>
        <p:spPr>
          <a:xfrm>
            <a:off x="9859570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00" dirty="0"/>
          </a:p>
        </p:txBody>
      </p:sp>
      <p:sp>
        <p:nvSpPr>
          <p:cNvPr id="157" name="Shape 155"/>
          <p:cNvSpPr/>
          <p:nvPr/>
        </p:nvSpPr>
        <p:spPr>
          <a:xfrm>
            <a:off x="848715" y="6336071"/>
            <a:ext cx="361882" cy="9047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158" name="Shape 156"/>
          <p:cNvSpPr/>
          <p:nvPr/>
        </p:nvSpPr>
        <p:spPr>
          <a:xfrm>
            <a:off x="848715" y="6426541"/>
            <a:ext cx="361882" cy="126659"/>
          </a:xfrm>
          <a:prstGeom prst="rect">
            <a:avLst/>
          </a:prstGeom>
          <a:solidFill>
            <a:srgbClr val="FFF1F2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59" name="Text 157"/>
          <p:cNvSpPr txBox="1"/>
          <p:nvPr/>
        </p:nvSpPr>
        <p:spPr>
          <a:xfrm>
            <a:off x="1282973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</a:t>
            </a:r>
            <a:endParaRPr lang="en-US" sz="1050" dirty="0"/>
          </a:p>
        </p:txBody>
      </p:sp>
      <p:sp>
        <p:nvSpPr>
          <p:cNvPr id="160" name="Shape 158"/>
          <p:cNvSpPr/>
          <p:nvPr/>
        </p:nvSpPr>
        <p:spPr>
          <a:xfrm>
            <a:off x="2386712" y="6327024"/>
            <a:ext cx="361882" cy="235223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1" name="Text 159"/>
          <p:cNvSpPr txBox="1"/>
          <p:nvPr/>
        </p:nvSpPr>
        <p:spPr>
          <a:xfrm>
            <a:off x="2820970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050" dirty="0"/>
          </a:p>
        </p:txBody>
      </p:sp>
      <p:sp>
        <p:nvSpPr>
          <p:cNvPr id="162" name="Shape 160"/>
          <p:cNvSpPr/>
          <p:nvPr/>
        </p:nvSpPr>
        <p:spPr>
          <a:xfrm>
            <a:off x="3924710" y="6354165"/>
            <a:ext cx="398070" cy="1809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3" name="Text 161"/>
          <p:cNvSpPr txBox="1"/>
          <p:nvPr/>
        </p:nvSpPr>
        <p:spPr>
          <a:xfrm>
            <a:off x="4395156" y="6336071"/>
            <a:ext cx="1537997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</a:t>
            </a:r>
            <a:endParaRPr lang="en-US" sz="1050" dirty="0"/>
          </a:p>
        </p:txBody>
      </p:sp>
      <p:sp>
        <p:nvSpPr>
          <p:cNvPr id="164" name="Shape 162"/>
          <p:cNvSpPr/>
          <p:nvPr/>
        </p:nvSpPr>
        <p:spPr>
          <a:xfrm>
            <a:off x="5987435" y="6408447"/>
            <a:ext cx="72376" cy="72376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65" name="Text 163"/>
          <p:cNvSpPr txBox="1"/>
          <p:nvPr/>
        </p:nvSpPr>
        <p:spPr>
          <a:xfrm>
            <a:off x="6114094" y="6336071"/>
            <a:ext cx="904704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050" dirty="0"/>
          </a:p>
        </p:txBody>
      </p:sp>
      <p:sp>
        <p:nvSpPr>
          <p:cNvPr id="166" name="Text 164"/>
          <p:cNvSpPr txBox="1"/>
          <p:nvPr/>
        </p:nvSpPr>
        <p:spPr>
          <a:xfrm>
            <a:off x="7272116" y="6336071"/>
            <a:ext cx="3980699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·  ASM 차트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uart_tx ASM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uart_tx ASM: tx_start 후 각 Bit 16 tick 유지, LSB First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IDLE에서 tx_start = 1 → tx_data latch → START(0) · D0 ~ D7 · STOP(1) 각 16 tick 송신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tx_start는 IDLE에서만 확인, tx_busy는 START ~ STOP 동안 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617714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75856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5856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2044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0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617714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111079" y="2590595"/>
            <a:ext cx="1013269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11079" y="2590595"/>
            <a:ext cx="1013269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tx_start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124348" y="2807724"/>
            <a:ext cx="1203257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60536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 flipV="1">
            <a:off x="3327605" y="1812549"/>
            <a:ext cx="0" cy="995175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>
            <a:off x="1617714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6049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5" name="Shape 23"/>
          <p:cNvSpPr/>
          <p:nvPr/>
        </p:nvSpPr>
        <p:spPr>
          <a:xfrm>
            <a:off x="1617714" y="3024853"/>
            <a:ext cx="0" cy="23522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1635808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93950" y="3260076"/>
            <a:ext cx="1447527" cy="506634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12044" y="3260076"/>
            <a:ext cx="1411339" cy="5066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 0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 tx_data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17714" y="3766711"/>
            <a:ext cx="0" cy="2098914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17714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3508546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08546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617714" y="1577326"/>
            <a:ext cx="0" cy="126659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255832" y="1541138"/>
            <a:ext cx="307599" cy="144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31827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3589969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589969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626157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0</a:t>
            </a:r>
            <a:endParaRPr lang="en-US" sz="9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tx_busy ← 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331827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861380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3861380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31827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4349921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770910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770910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802273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38461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92743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0" name="Text 48"/>
          <p:cNvSpPr txBox="1"/>
          <p:nvPr/>
        </p:nvSpPr>
        <p:spPr>
          <a:xfrm>
            <a:off x="4901790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46543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5064637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987435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331827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55" name="Text 53"/>
          <p:cNvSpPr txBox="1"/>
          <p:nvPr/>
        </p:nvSpPr>
        <p:spPr>
          <a:xfrm>
            <a:off x="4349921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698534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3716628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 flipV="1">
            <a:off x="6041718" y="1812549"/>
            <a:ext cx="0" cy="1646562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H="1">
            <a:off x="4331827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300162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1" name="Shape 59"/>
          <p:cNvSpPr/>
          <p:nvPr/>
        </p:nvSpPr>
        <p:spPr>
          <a:xfrm>
            <a:off x="6010053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62" name="Shape 60"/>
          <p:cNvSpPr/>
          <p:nvPr/>
        </p:nvSpPr>
        <p:spPr>
          <a:xfrm>
            <a:off x="4331827" y="4219063"/>
            <a:ext cx="0" cy="164656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4331827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6222659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222659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045940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6304082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6304082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340270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data_reg[0]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045940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575493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575493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7045940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7064034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485023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485023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516386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7552574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606856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7615903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760656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7778750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8701548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045940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86" name="Text 84"/>
          <p:cNvSpPr txBox="1"/>
          <p:nvPr/>
        </p:nvSpPr>
        <p:spPr>
          <a:xfrm>
            <a:off x="7064034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6412647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430741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7045940" y="4219063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6485023" y="4381910"/>
            <a:ext cx="1121833" cy="542823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6485023" y="4381910"/>
            <a:ext cx="1121833" cy="5428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7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606856" y="4653321"/>
            <a:ext cx="48854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095397" y="4653321"/>
            <a:ext cx="0" cy="379976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94" name="Text 92"/>
          <p:cNvSpPr txBox="1"/>
          <p:nvPr/>
        </p:nvSpPr>
        <p:spPr>
          <a:xfrm>
            <a:off x="7615903" y="4508568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7507339" y="5033297"/>
            <a:ext cx="1176116" cy="615199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7525433" y="5033297"/>
            <a:ext cx="1139927" cy="6151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data_reg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{0, data_reg[7:1]}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bit_count + 1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8683454" y="5340896"/>
            <a:ext cx="72376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flipV="1">
            <a:off x="8755831" y="1812549"/>
            <a:ext cx="0" cy="3528347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H="1">
            <a:off x="7045940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7014275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1" name="Shape 99"/>
          <p:cNvSpPr/>
          <p:nvPr/>
        </p:nvSpPr>
        <p:spPr>
          <a:xfrm>
            <a:off x="8724166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2" name="Shape 100"/>
          <p:cNvSpPr/>
          <p:nvPr/>
        </p:nvSpPr>
        <p:spPr>
          <a:xfrm>
            <a:off x="8724166" y="3427447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7064034" y="4942826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7045940" y="4924732"/>
            <a:ext cx="0" cy="940892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7045940" y="5865625"/>
            <a:ext cx="1890832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flipV="1">
            <a:off x="8936772" y="1703985"/>
            <a:ext cx="0" cy="416164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8936772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760052" y="1703985"/>
            <a:ext cx="0" cy="21712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09" name="Shape 107"/>
          <p:cNvSpPr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9018195" y="1921114"/>
            <a:ext cx="148371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200" dirty="0"/>
          </a:p>
        </p:txBody>
      </p:sp>
      <p:sp>
        <p:nvSpPr>
          <p:cNvPr id="111" name="Shape 109"/>
          <p:cNvSpPr/>
          <p:nvPr/>
        </p:nvSpPr>
        <p:spPr>
          <a:xfrm>
            <a:off x="9018195" y="2138243"/>
            <a:ext cx="1483715" cy="379976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9054383" y="2138243"/>
            <a:ext cx="1411339" cy="379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← 1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9760052" y="2518219"/>
            <a:ext cx="0" cy="72376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4" name="Shape 112"/>
          <p:cNvSpPr/>
          <p:nvPr/>
        </p:nvSpPr>
        <p:spPr>
          <a:xfrm>
            <a:off x="9289606" y="2590595"/>
            <a:ext cx="940892" cy="434258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9289606" y="2590595"/>
            <a:ext cx="940892" cy="434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9760052" y="3024853"/>
            <a:ext cx="0" cy="144753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17" name="Text 115"/>
          <p:cNvSpPr txBox="1"/>
          <p:nvPr/>
        </p:nvSpPr>
        <p:spPr>
          <a:xfrm>
            <a:off x="9778147" y="3042947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9199136" y="3169606"/>
            <a:ext cx="1121833" cy="579011"/>
          </a:xfrm>
          <a:prstGeom prst="diamond">
            <a:avLst/>
          </a:prstGeom>
          <a:solidFill>
            <a:srgbClr val="FFFFFF"/>
          </a:solidFill>
          <a:ln w="15875">
            <a:solidFill>
              <a:srgbClr val="0F172A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9199136" y="3169606"/>
            <a:ext cx="1121833" cy="5790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</a:t>
            </a:r>
            <a:endParaRPr lang="en-US" sz="9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 15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0230499" y="2807724"/>
            <a:ext cx="1239445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10266687" y="2662972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950" dirty="0"/>
          </a:p>
        </p:txBody>
      </p:sp>
      <p:sp>
        <p:nvSpPr>
          <p:cNvPr id="122" name="Shape 120"/>
          <p:cNvSpPr/>
          <p:nvPr/>
        </p:nvSpPr>
        <p:spPr>
          <a:xfrm>
            <a:off x="10320969" y="3459111"/>
            <a:ext cx="153800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3" name="Text 121"/>
          <p:cNvSpPr txBox="1"/>
          <p:nvPr/>
        </p:nvSpPr>
        <p:spPr>
          <a:xfrm>
            <a:off x="10330016" y="3477205"/>
            <a:ext cx="126659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10474769" y="3260076"/>
            <a:ext cx="940892" cy="398070"/>
          </a:xfrm>
          <a:prstGeom prst="roundRect">
            <a:avLst>
              <a:gd name="adj" fmla="val 36364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25" name="Text 123"/>
          <p:cNvSpPr txBox="1"/>
          <p:nvPr/>
        </p:nvSpPr>
        <p:spPr>
          <a:xfrm>
            <a:off x="10492863" y="3260076"/>
            <a:ext cx="904704" cy="398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+ 1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11415661" y="3459111"/>
            <a:ext cx="54282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9760052" y="3748617"/>
            <a:ext cx="0" cy="162847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  <a:tailEnd type="triangle"/>
          </a:ln>
        </p:spPr>
      </p:sp>
      <p:sp>
        <p:nvSpPr>
          <p:cNvPr id="128" name="Text 126"/>
          <p:cNvSpPr txBox="1"/>
          <p:nvPr/>
        </p:nvSpPr>
        <p:spPr>
          <a:xfrm>
            <a:off x="9778147" y="3766711"/>
            <a:ext cx="180941" cy="126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9126759" y="3911463"/>
            <a:ext cx="1266586" cy="307599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 w="15875">
            <a:solidFill>
              <a:srgbClr val="1D4ED8"/>
            </a:solidFill>
            <a:prstDash val="solid"/>
          </a:ln>
        </p:spPr>
      </p:sp>
      <p:sp>
        <p:nvSpPr>
          <p:cNvPr id="130" name="Text 128"/>
          <p:cNvSpPr txBox="1"/>
          <p:nvPr/>
        </p:nvSpPr>
        <p:spPr>
          <a:xfrm>
            <a:off x="9144853" y="3911463"/>
            <a:ext cx="1230398" cy="3075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b_tick_cnt ← 0</a:t>
            </a:r>
            <a:endParaRPr lang="en-US" sz="900" dirty="0"/>
          </a:p>
        </p:txBody>
      </p:sp>
      <p:sp>
        <p:nvSpPr>
          <p:cNvPr id="131" name="Shape 129"/>
          <p:cNvSpPr/>
          <p:nvPr/>
        </p:nvSpPr>
        <p:spPr>
          <a:xfrm flipV="1">
            <a:off x="11469944" y="1812549"/>
            <a:ext cx="0" cy="1646562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H="1">
            <a:off x="9760052" y="1812549"/>
            <a:ext cx="1709891" cy="0"/>
          </a:xfrm>
          <a:prstGeom prst="line">
            <a:avLst/>
          </a:prstGeom>
          <a:noFill/>
          <a:ln w="15875">
            <a:solidFill>
              <a:srgbClr val="1D4ED8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9728388" y="1780885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4" name="Shape 132"/>
          <p:cNvSpPr/>
          <p:nvPr/>
        </p:nvSpPr>
        <p:spPr>
          <a:xfrm>
            <a:off x="11438279" y="2776060"/>
            <a:ext cx="63329" cy="63329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5" name="Shape 133"/>
          <p:cNvSpPr/>
          <p:nvPr/>
        </p:nvSpPr>
        <p:spPr>
          <a:xfrm>
            <a:off x="9760052" y="4219063"/>
            <a:ext cx="0" cy="1954161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H="1">
            <a:off x="794433" y="6173224"/>
            <a:ext cx="8965620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794433" y="1703985"/>
            <a:ext cx="0" cy="4469239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794433" y="1703985"/>
            <a:ext cx="823281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139" name="Text 137"/>
          <p:cNvSpPr txBox="1"/>
          <p:nvPr/>
        </p:nvSpPr>
        <p:spPr>
          <a:xfrm>
            <a:off x="1717231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rx_done 대기</a:t>
            </a:r>
            <a:endParaRPr lang="en-US" sz="1000" dirty="0"/>
          </a:p>
        </p:txBody>
      </p:sp>
      <p:sp>
        <p:nvSpPr>
          <p:cNvPr id="140" name="Text 138"/>
          <p:cNvSpPr txBox="1"/>
          <p:nvPr/>
        </p:nvSpPr>
        <p:spPr>
          <a:xfrm>
            <a:off x="4431344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104.15 µs</a:t>
            </a:r>
            <a:endParaRPr lang="en-US" sz="1000" dirty="0"/>
          </a:p>
        </p:txBody>
      </p:sp>
      <p:sp>
        <p:nvSpPr>
          <p:cNvPr id="141" name="Text 139"/>
          <p:cNvSpPr txBox="1"/>
          <p:nvPr/>
        </p:nvSpPr>
        <p:spPr>
          <a:xfrm>
            <a:off x="7145457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× 8 · 833.28 µs</a:t>
            </a:r>
            <a:endParaRPr lang="en-US" sz="1000" dirty="0"/>
          </a:p>
        </p:txBody>
      </p:sp>
      <p:sp>
        <p:nvSpPr>
          <p:cNvPr id="142" name="Text 140"/>
          <p:cNvSpPr txBox="1"/>
          <p:nvPr/>
        </p:nvSpPr>
        <p:spPr>
          <a:xfrm>
            <a:off x="9859570" y="5938001"/>
            <a:ext cx="1646562" cy="1628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tick · 104.16 µs</a:t>
            </a:r>
            <a:endParaRPr lang="en-US" sz="1000" dirty="0"/>
          </a:p>
        </p:txBody>
      </p:sp>
      <p:sp>
        <p:nvSpPr>
          <p:cNvPr id="143" name="Shape 141"/>
          <p:cNvSpPr/>
          <p:nvPr/>
        </p:nvSpPr>
        <p:spPr>
          <a:xfrm>
            <a:off x="848715" y="6336071"/>
            <a:ext cx="361882" cy="9047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4" name="Shape 142"/>
          <p:cNvSpPr/>
          <p:nvPr/>
        </p:nvSpPr>
        <p:spPr>
          <a:xfrm>
            <a:off x="848715" y="6426541"/>
            <a:ext cx="361882" cy="126659"/>
          </a:xfrm>
          <a:prstGeom prst="rect">
            <a:avLst/>
          </a:prstGeom>
          <a:solidFill>
            <a:srgbClr val="EFF6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5" name="Text 143"/>
          <p:cNvSpPr txBox="1"/>
          <p:nvPr/>
        </p:nvSpPr>
        <p:spPr>
          <a:xfrm>
            <a:off x="1282973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State box</a:t>
            </a:r>
            <a:endParaRPr lang="en-US" sz="1050" dirty="0"/>
          </a:p>
        </p:txBody>
      </p:sp>
      <p:sp>
        <p:nvSpPr>
          <p:cNvPr id="146" name="Shape 144"/>
          <p:cNvSpPr/>
          <p:nvPr/>
        </p:nvSpPr>
        <p:spPr>
          <a:xfrm>
            <a:off x="2386712" y="6327024"/>
            <a:ext cx="361882" cy="235223"/>
          </a:xfrm>
          <a:prstGeom prst="diamond">
            <a:avLst/>
          </a:prstGeom>
          <a:solidFill>
            <a:srgbClr val="FFFFFF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7" name="Text 145"/>
          <p:cNvSpPr txBox="1"/>
          <p:nvPr/>
        </p:nvSpPr>
        <p:spPr>
          <a:xfrm>
            <a:off x="2820970" y="6336071"/>
            <a:ext cx="1085645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Decision box</a:t>
            </a:r>
            <a:endParaRPr lang="en-US" sz="1050" dirty="0"/>
          </a:p>
        </p:txBody>
      </p:sp>
      <p:sp>
        <p:nvSpPr>
          <p:cNvPr id="148" name="Shape 146"/>
          <p:cNvSpPr/>
          <p:nvPr/>
        </p:nvSpPr>
        <p:spPr>
          <a:xfrm>
            <a:off x="3924710" y="6354165"/>
            <a:ext cx="398070" cy="180941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9" name="Text 147"/>
          <p:cNvSpPr txBox="1"/>
          <p:nvPr/>
        </p:nvSpPr>
        <p:spPr>
          <a:xfrm>
            <a:off x="4395156" y="6336071"/>
            <a:ext cx="1537997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 output</a:t>
            </a:r>
            <a:endParaRPr lang="en-US" sz="1050" dirty="0"/>
          </a:p>
        </p:txBody>
      </p:sp>
      <p:sp>
        <p:nvSpPr>
          <p:cNvPr id="150" name="Shape 148"/>
          <p:cNvSpPr/>
          <p:nvPr/>
        </p:nvSpPr>
        <p:spPr>
          <a:xfrm>
            <a:off x="5987435" y="6408447"/>
            <a:ext cx="72376" cy="7237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1" name="Text 149"/>
          <p:cNvSpPr txBox="1"/>
          <p:nvPr/>
        </p:nvSpPr>
        <p:spPr>
          <a:xfrm>
            <a:off x="6114094" y="6336071"/>
            <a:ext cx="904704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path merge</a:t>
            </a:r>
            <a:endParaRPr lang="en-US" sz="1050" dirty="0"/>
          </a:p>
        </p:txBody>
      </p:sp>
      <p:sp>
        <p:nvSpPr>
          <p:cNvPr id="152" name="Text 150"/>
          <p:cNvSpPr txBox="1"/>
          <p:nvPr/>
        </p:nvSpPr>
        <p:spPr>
          <a:xfrm>
            <a:off x="7272116" y="6336071"/>
            <a:ext cx="3980699" cy="2171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←  다음 clock edge 갱신   ·   T / F  조건 참 / 거짓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시나리오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UART_LOOPBACK 검증 시나리오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시나리오 5개 — RX 타이밍 · Data sampling · TX echo (256 case) · START glitch (23 case) · Data bit glitch (320 case)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#1 ~ #4 기대값 일치, #5는 bit 중앙 glitch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case FAIL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ONE BIT mode 한계 (고찰)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676400"/>
          <a:ext cx="11430000" cy="914400"/>
        </p:xfrm>
        <a:graphic>
          <a:graphicData uri="http://schemas.openxmlformats.org/drawingml/2006/table">
            <a:tbl>
              <a:tblPr/>
              <a:tblGrid>
                <a:gridCol w="419100"/>
                <a:gridCol w="2095500"/>
                <a:gridCol w="2857500"/>
                <a:gridCol w="2095500"/>
                <a:gridCol w="2819400"/>
                <a:gridCol w="114300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시나리오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 (Stimulus)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확인 신호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예상 결과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 프로토콜 동작 타이밍 분석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p. 14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 1 → 0 후 9600 bps 간격 데이터 송신 (sender), stop 0 → 1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rx, c_state, b_tick_cnt, state 간 타이밍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 1 → 0 후 다음 b_tick에서 START, b_tick_cnt == 7에서 DATA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일치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 sampling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p. 15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8'h00 ~ 8'hFF 256 case input (rx sender)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rx, rx_data_reg, tx, tx_data_reg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 구간 b_tick_cnt == 15마다 rx_data shift, LSB부터 채움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일치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TX 송신 · Loopback echo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p. 16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#2와 같은 256 byte, receive_uart로 tx 역변환 후 비교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rx_done, tx_start, tx, tx c_state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 → tx_start, START · D0 ~ D7 · STOP, echo = 송신 byte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glitch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p. 17 · 부록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 ns ~ 50 µs low pulse 16개 · burst 2개 · glitch 뒤 byte 5개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rx_done 횟수, tx echo 횟수, rx_data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무시 (rx_done · echo 0회), 뒤 byte 정상 1회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 / 23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E40A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Data bit glitch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0x55 · 0xAA, bit 0 ~ 7에 20 ns ~ 6 µs 반대 레벨 pulse, bit 중앙 ±0 · 1 · 7 tick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rx_data, tx echo, rx_done 횟수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tick 미만 glitch → data 유지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320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#1 RX 프로토콜 타이밍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타이밍: rx Fall 다음 b_tick에 START, 8 tick 뒤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① rx deassert → b_tick = 1인 clk에 IDLE → START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② Sampling timing 일치 — START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52.08 µs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· DATA bit 간격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104.16 µs</a:t>
            </a:r>
            <a:endParaRPr lang="en-US" sz="1500" dirty="0"/>
          </a:p>
        </p:txBody>
      </p:sp>
      <p:grpSp>
        <p:nvGrpSpPr>
          <p:cNvPr id="5212" name="그룹 211">
            <a:extLst>
              <a:ext uri="{FF2B5EF4-FFF2-40B4-BE49-F238E27FC236}">
                <a16:creationId xmlns:a16="http://schemas.microsoft.com/office/drawing/2014/main" id="{5348E959-B213-B099-1315-A6383C1329A2}"/>
              </a:ext>
            </a:extLst>
          </p:cNvPr>
          <p:cNvGrpSpPr/>
          <p:nvPr/>
        </p:nvGrpSpPr>
        <p:grpSpPr>
          <a:xfrm>
            <a:off x="1418208" y="1684662"/>
            <a:ext cx="9373993" cy="4254945"/>
            <a:chOff x="493371" y="1840906"/>
            <a:chExt cx="8369637" cy="3799058"/>
          </a:xfrm>
        </p:grpSpPr>
        <p:grpSp>
          <p:nvGrpSpPr>
            <p:cNvPr id="5060" name="그룹 59">
              <a:extLst>
                <a:ext uri="{FF2B5EF4-FFF2-40B4-BE49-F238E27FC236}">
                  <a16:creationId xmlns:a16="http://schemas.microsoft.com/office/drawing/2014/main" id="{86AF7A36-EFBE-C877-986A-EF000E589D88}"/>
                </a:ext>
              </a:extLst>
            </p:cNvPr>
            <p:cNvGrpSpPr/>
            <p:nvPr/>
          </p:nvGrpSpPr>
          <p:grpSpPr>
            <a:xfrm>
              <a:off x="493371" y="1840906"/>
              <a:ext cx="8369637" cy="3799058"/>
              <a:chOff x="1145838" y="1646392"/>
              <a:chExt cx="9579974" cy="4011449"/>
            </a:xfrm>
          </p:grpSpPr>
          <p:grpSp>
            <p:nvGrpSpPr>
              <p:cNvPr id="5046" name="그룹 45">
                <a:extLst>
                  <a:ext uri="{FF2B5EF4-FFF2-40B4-BE49-F238E27FC236}">
                    <a16:creationId xmlns:a16="http://schemas.microsoft.com/office/drawing/2014/main" id="{BD8E7452-1CBC-A247-FB24-85E47554850B}"/>
                  </a:ext>
                </a:extLst>
              </p:cNvPr>
              <p:cNvGrpSpPr/>
              <p:nvPr/>
            </p:nvGrpSpPr>
            <p:grpSpPr>
              <a:xfrm>
                <a:off x="1145838" y="1646392"/>
                <a:ext cx="9579974" cy="4011449"/>
                <a:chOff x="1238603" y="1429231"/>
                <a:chExt cx="9579974" cy="4011449"/>
              </a:xfrm>
            </p:grpSpPr>
            <p:grpSp>
              <p:nvGrpSpPr>
                <p:cNvPr id="5018" name="그룹 17">
                  <a:extLst>
                    <a:ext uri="{FF2B5EF4-FFF2-40B4-BE49-F238E27FC236}">
                      <a16:creationId xmlns:a16="http://schemas.microsoft.com/office/drawing/2014/main" id="{9BC5FFC8-F1AB-EAF6-AE33-E3603BC765C6}"/>
                    </a:ext>
                  </a:extLst>
                </p:cNvPr>
                <p:cNvGrpSpPr/>
                <p:nvPr/>
              </p:nvGrpSpPr>
              <p:grpSpPr>
                <a:xfrm>
                  <a:off x="1238603" y="1429231"/>
                  <a:ext cx="9579974" cy="4011449"/>
                  <a:chOff x="699406" y="1764511"/>
                  <a:chExt cx="10585881" cy="4367139"/>
                </a:xfrm>
              </p:grpSpPr>
              <p:grpSp>
                <p:nvGrpSpPr>
                  <p:cNvPr id="5003" name="그룹 2">
                    <a:extLst>
                      <a:ext uri="{FF2B5EF4-FFF2-40B4-BE49-F238E27FC236}">
                        <a16:creationId xmlns:a16="http://schemas.microsoft.com/office/drawing/2014/main" id="{91B01CCB-3832-0E15-2F80-62C6AB335C45}"/>
                      </a:ext>
                    </a:extLst>
                  </p:cNvPr>
                  <p:cNvGrpSpPr/>
                  <p:nvPr/>
                </p:nvGrpSpPr>
                <p:grpSpPr>
                  <a:xfrm>
                    <a:off x="699406" y="1764511"/>
                    <a:ext cx="10585881" cy="3854853"/>
                    <a:chOff x="775031" y="1062145"/>
                    <a:chExt cx="10585881" cy="3854853"/>
                  </a:xfrm>
                </p:grpSpPr>
                <p:pic>
                  <p:nvPicPr>
                    <p:cNvPr id="5005" name="그림 4">
                      <a:extLst>
                        <a:ext uri="{FF2B5EF4-FFF2-40B4-BE49-F238E27FC236}">
                          <a16:creationId xmlns:a16="http://schemas.microsoft.com/office/drawing/2014/main" id="{77179456-6193-D2A5-B7FC-A8A6C87AEB03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00"/>
                    <a:srcRect r="21571"/>
                    <a:stretch>
                      <a:fillRect/>
                    </a:stretch>
                  </p:blipFill>
                  <p:spPr>
                    <a:xfrm>
                      <a:off x="775031" y="1692287"/>
                      <a:ext cx="7446451" cy="3224711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5002" name="그룹 1">
                      <a:extLst>
                        <a:ext uri="{FF2B5EF4-FFF2-40B4-BE49-F238E27FC236}">
                          <a16:creationId xmlns:a16="http://schemas.microsoft.com/office/drawing/2014/main" id="{E5C322DE-60E6-DDC8-A994-BAA6A8C364D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434840" y="1062145"/>
                      <a:ext cx="6926072" cy="1722269"/>
                      <a:chOff x="4434840" y="1042267"/>
                      <a:chExt cx="6926072" cy="1722269"/>
                    </a:xfrm>
                  </p:grpSpPr>
                  <p:sp>
                    <p:nvSpPr>
                      <p:cNvPr id="5006" name="직사각형 5">
                        <a:extLst>
                          <a:ext uri="{FF2B5EF4-FFF2-40B4-BE49-F238E27FC236}">
                            <a16:creationId xmlns:a16="http://schemas.microsoft.com/office/drawing/2014/main" id="{29594841-0734-2593-515E-47AD250ACD9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434840" y="2316480"/>
                        <a:ext cx="223520" cy="3302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pic>
                    <p:nvPicPr>
                      <p:cNvPr id="5009" name="그림 8">
                        <a:extLst>
                          <a:ext uri="{FF2B5EF4-FFF2-40B4-BE49-F238E27FC236}">
                            <a16:creationId xmlns:a16="http://schemas.microsoft.com/office/drawing/2014/main" id="{D22846A3-5AA4-B7FD-F55B-0150B73A2B9B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>
                      <a:blip r:embed="rId101"/>
                      <a:stretch>
                        <a:fillRect/>
                      </a:stretch>
                    </p:blipFill>
                    <p:spPr>
                      <a:xfrm>
                        <a:off x="6902825" y="1042267"/>
                        <a:ext cx="4458087" cy="1722269"/>
                      </a:xfrm>
                      <a:prstGeom prst="rect">
                        <a:avLst/>
                      </a:prstGeom>
                    </p:spPr>
                  </p:pic>
                  <p:sp>
                    <p:nvSpPr>
                      <p:cNvPr id="5010" name="직사각형 9">
                        <a:extLst>
                          <a:ext uri="{FF2B5EF4-FFF2-40B4-BE49-F238E27FC236}">
                            <a16:creationId xmlns:a16="http://schemas.microsoft.com/office/drawing/2014/main" id="{B4F94369-027C-7EC0-D1A3-B6DCB2F0B87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114032" y="1648025"/>
                        <a:ext cx="262128" cy="90209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cxnSp>
                    <p:nvCxnSpPr>
                      <p:cNvPr id="5014" name="직선 화살표 연결선 13">
                        <a:extLst>
                          <a:ext uri="{FF2B5EF4-FFF2-40B4-BE49-F238E27FC236}">
                            <a16:creationId xmlns:a16="http://schemas.microsoft.com/office/drawing/2014/main" id="{58892D85-91D4-95BE-4A36-F9EF2952085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0326624" y="1706880"/>
                        <a:ext cx="0" cy="390144"/>
                      </a:xfrm>
                      <a:prstGeom prst="straightConnector1">
                        <a:avLst/>
                      </a:prstGeom>
                      <a:ln>
                        <a:solidFill>
                          <a:srgbClr val="FF0000"/>
                        </a:solidFill>
                        <a:tailEnd type="triangl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017" name="직사각형 16">
                        <a:extLst>
                          <a:ext uri="{FF2B5EF4-FFF2-40B4-BE49-F238E27FC236}">
                            <a16:creationId xmlns:a16="http://schemas.microsoft.com/office/drawing/2014/main" id="{341C5BF8-6D75-C8C1-6B61-E2EA8D3511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954512" y="2054352"/>
                        <a:ext cx="262128" cy="101527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ko-KR" altLang="en-US"/>
                      </a:p>
                    </p:txBody>
                  </p:sp>
                  <p:cxnSp>
                    <p:nvCxnSpPr>
                      <p:cNvPr id="5019" name="직선 연결선 18">
                        <a:extLst>
                          <a:ext uri="{FF2B5EF4-FFF2-40B4-BE49-F238E27FC236}">
                            <a16:creationId xmlns:a16="http://schemas.microsoft.com/office/drawing/2014/main" id="{89C6EF9A-B40E-3D85-5CEC-886F3CAD4E2F}"/>
                          </a:ext>
                        </a:extLst>
                      </p:cNvPr>
                      <p:cNvCxnSpPr/>
                      <p:nvPr/>
                    </p:nvCxnSpPr>
                    <p:spPr>
                      <a:xfrm flipV="1">
                        <a:off x="4658360" y="1042267"/>
                        <a:ext cx="2244465" cy="1274213"/>
                      </a:xfrm>
                      <a:prstGeom prst="lin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20" name="직선 연결선 19">
                        <a:extLst>
                          <a:ext uri="{FF2B5EF4-FFF2-40B4-BE49-F238E27FC236}">
                            <a16:creationId xmlns:a16="http://schemas.microsoft.com/office/drawing/2014/main" id="{24E3B6E6-0301-5395-5A13-1F9620F9B71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658360" y="2650900"/>
                        <a:ext cx="2282942" cy="113636"/>
                      </a:xfrm>
                      <a:prstGeom prst="line">
                        <a:avLst/>
                      </a:prstGeom>
                      <a:ln>
                        <a:solidFill>
                          <a:srgbClr val="FF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pic>
                <p:nvPicPr>
                  <p:cNvPr id="5008" name="그림 7">
                    <a:extLst>
                      <a:ext uri="{FF2B5EF4-FFF2-40B4-BE49-F238E27FC236}">
                        <a16:creationId xmlns:a16="http://schemas.microsoft.com/office/drawing/2014/main" id="{CD8CC1E2-E10E-152C-9826-9882DE3FD8E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1310054" y="4347414"/>
                    <a:ext cx="8405518" cy="1784236"/>
                  </a:xfrm>
                  <a:prstGeom prst="rect">
                    <a:avLst/>
                  </a:prstGeom>
                </p:spPr>
              </p:pic>
              <p:sp>
                <p:nvSpPr>
                  <p:cNvPr id="5012" name="직사각형 11">
                    <a:extLst>
                      <a:ext uri="{FF2B5EF4-FFF2-40B4-BE49-F238E27FC236}">
                        <a16:creationId xmlns:a16="http://schemas.microsoft.com/office/drawing/2014/main" id="{7B8A1C52-11AC-BE44-481F-3B623542D925}"/>
                      </a:ext>
                    </a:extLst>
                  </p:cNvPr>
                  <p:cNvSpPr/>
                  <p:nvPr/>
                </p:nvSpPr>
                <p:spPr>
                  <a:xfrm>
                    <a:off x="4275980" y="3562279"/>
                    <a:ext cx="1554540" cy="592391"/>
                  </a:xfrm>
                  <a:prstGeom prst="rect">
                    <a:avLst/>
                  </a:prstGeom>
                  <a:noFill/>
                  <a:ln>
                    <a:solidFill>
                      <a:srgbClr val="FF00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sp>
                <p:nvSpPr>
                  <p:cNvPr id="5013" name="타원 12">
                    <a:extLst>
                      <a:ext uri="{FF2B5EF4-FFF2-40B4-BE49-F238E27FC236}">
                        <a16:creationId xmlns:a16="http://schemas.microsoft.com/office/drawing/2014/main" id="{DD7EF713-7C4D-934A-EC65-43C27C18EB41}"/>
                      </a:ext>
                    </a:extLst>
                  </p:cNvPr>
                  <p:cNvSpPr/>
                  <p:nvPr/>
                </p:nvSpPr>
                <p:spPr>
                  <a:xfrm>
                    <a:off x="4248531" y="2929223"/>
                    <a:ext cx="162483" cy="155130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1</a:t>
                    </a:r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016" name="타원 15">
                    <a:extLst>
                      <a:ext uri="{FF2B5EF4-FFF2-40B4-BE49-F238E27FC236}">
                        <a16:creationId xmlns:a16="http://schemas.microsoft.com/office/drawing/2014/main" id="{BA5E7099-3573-A79C-2213-AF2AEBC4AE8C}"/>
                      </a:ext>
                    </a:extLst>
                  </p:cNvPr>
                  <p:cNvSpPr/>
                  <p:nvPr/>
                </p:nvSpPr>
                <p:spPr>
                  <a:xfrm>
                    <a:off x="4173386" y="3458650"/>
                    <a:ext cx="162483" cy="155130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200">
                        <a:solidFill>
                          <a:schemeClr val="tx1"/>
                        </a:solidFill>
                      </a:rPr>
                      <a:t>2</a:t>
                    </a:r>
                    <a:endParaRPr lang="ko-KR" altLang="en-US" sz="1200">
                      <a:solidFill>
                        <a:schemeClr val="tx1"/>
                      </a:solidFill>
                    </a:endParaRPr>
                  </a:p>
                </p:txBody>
              </p:sp>
            </p:grpSp>
            <p:cxnSp>
              <p:nvCxnSpPr>
                <p:cNvPr id="5033" name="직선 연결선 32">
                  <a:extLst>
                    <a:ext uri="{FF2B5EF4-FFF2-40B4-BE49-F238E27FC236}">
                      <a16:creationId xmlns:a16="http://schemas.microsoft.com/office/drawing/2014/main" id="{C95B44EE-7FF7-3858-0003-4C2F3CEB5C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294243" y="3080576"/>
                  <a:ext cx="0" cy="544143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6" name="직선 연결선 35">
                  <a:extLst>
                    <a:ext uri="{FF2B5EF4-FFF2-40B4-BE49-F238E27FC236}">
                      <a16:creationId xmlns:a16="http://schemas.microsoft.com/office/drawing/2014/main" id="{F688B980-C21C-D36D-4D82-9AB2566A1D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98747" y="3080576"/>
                  <a:ext cx="0" cy="544143"/>
                </a:xfrm>
                <a:prstGeom prst="line">
                  <a:avLst/>
                </a:prstGeom>
                <a:ln>
                  <a:solidFill>
                    <a:srgbClr val="FFFF00"/>
                  </a:solidFill>
                  <a:prstDash val="sysDot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045" name="그룹 44">
                  <a:extLst>
                    <a:ext uri="{FF2B5EF4-FFF2-40B4-BE49-F238E27FC236}">
                      <a16:creationId xmlns:a16="http://schemas.microsoft.com/office/drawing/2014/main" id="{D8A4BAB5-F759-86FF-C73C-352DC24812A6}"/>
                    </a:ext>
                  </a:extLst>
                </p:cNvPr>
                <p:cNvGrpSpPr/>
                <p:nvPr/>
              </p:nvGrpSpPr>
              <p:grpSpPr>
                <a:xfrm>
                  <a:off x="4452302" y="3981723"/>
                  <a:ext cx="4805223" cy="1458956"/>
                  <a:chOff x="4452302" y="3981723"/>
                  <a:chExt cx="4805223" cy="1458956"/>
                </a:xfrm>
              </p:grpSpPr>
              <p:cxnSp>
                <p:nvCxnSpPr>
                  <p:cNvPr id="5027" name="직선 화살표 연결선 26">
                    <a:extLst>
                      <a:ext uri="{FF2B5EF4-FFF2-40B4-BE49-F238E27FC236}">
                        <a16:creationId xmlns:a16="http://schemas.microsoft.com/office/drawing/2014/main" id="{B435D158-92E6-F6D5-390D-B6F8CCD196DD}"/>
                      </a:ext>
                    </a:extLst>
                  </p:cNvPr>
                  <p:cNvCxnSpPr/>
                  <p:nvPr/>
                </p:nvCxnSpPr>
                <p:spPr>
                  <a:xfrm>
                    <a:off x="4452302" y="5115339"/>
                    <a:ext cx="954585" cy="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28" name="직선 화살표 연결선 27">
                    <a:extLst>
                      <a:ext uri="{FF2B5EF4-FFF2-40B4-BE49-F238E27FC236}">
                        <a16:creationId xmlns:a16="http://schemas.microsoft.com/office/drawing/2014/main" id="{F544B20C-90B0-95BD-1C18-440AD00A94A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06887" y="5115339"/>
                    <a:ext cx="1888435" cy="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0" name="직선 화살표 연결선 29">
                    <a:extLst>
                      <a:ext uri="{FF2B5EF4-FFF2-40B4-BE49-F238E27FC236}">
                        <a16:creationId xmlns:a16="http://schemas.microsoft.com/office/drawing/2014/main" id="{66ED45C2-2D50-28A5-1B00-D36778204B6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95322" y="5115339"/>
                    <a:ext cx="1888435" cy="0"/>
                  </a:xfrm>
                  <a:prstGeom prst="straightConnector1">
                    <a:avLst/>
                  </a:prstGeom>
                  <a:ln>
                    <a:solidFill>
                      <a:srgbClr val="FFFF00"/>
                    </a:solidFill>
                    <a:headEnd type="triangle"/>
                    <a:tailEnd type="triangle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7" name="직선 연결선 36">
                    <a:extLst>
                      <a:ext uri="{FF2B5EF4-FFF2-40B4-BE49-F238E27FC236}">
                        <a16:creationId xmlns:a16="http://schemas.microsoft.com/office/drawing/2014/main" id="{E09030D6-0BBC-A10B-E519-6316E63E7C8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406887" y="3981723"/>
                    <a:ext cx="0" cy="1458956"/>
                  </a:xfrm>
                  <a:prstGeom prst="line">
                    <a:avLst/>
                  </a:prstGeom>
                  <a:ln>
                    <a:solidFill>
                      <a:srgbClr val="FFFF00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8" name="직선 연결선 37">
                    <a:extLst>
                      <a:ext uri="{FF2B5EF4-FFF2-40B4-BE49-F238E27FC236}">
                        <a16:creationId xmlns:a16="http://schemas.microsoft.com/office/drawing/2014/main" id="{E505517C-67FC-5BAE-BEF5-51AF3AEA6B9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297623" y="3988349"/>
                    <a:ext cx="0" cy="1445704"/>
                  </a:xfrm>
                  <a:prstGeom prst="line">
                    <a:avLst/>
                  </a:prstGeom>
                  <a:ln>
                    <a:solidFill>
                      <a:srgbClr val="FFFF00"/>
                    </a:solidFill>
                    <a:prstDash val="sysDot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042" name="TextBox 41">
                    <a:extLst>
                      <a:ext uri="{FF2B5EF4-FFF2-40B4-BE49-F238E27FC236}">
                        <a16:creationId xmlns:a16="http://schemas.microsoft.com/office/drawing/2014/main" id="{FD98F457-680A-94A4-D551-FB8455C40710}"/>
                      </a:ext>
                    </a:extLst>
                  </p:cNvPr>
                  <p:cNvSpPr txBox="1"/>
                  <p:nvPr/>
                </p:nvSpPr>
                <p:spPr>
                  <a:xfrm>
                    <a:off x="4881126" y="5115339"/>
                    <a:ext cx="1258956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>
                        <a:highlight>
                          <a:srgbClr val="FFFF00"/>
                        </a:highlight>
                      </a:rPr>
                      <a:t>52.08us</a:t>
                    </a:r>
                    <a:endParaRPr lang="ko-KR" altLang="en-US" sz="1000"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5043" name="TextBox 42">
                    <a:extLst>
                      <a:ext uri="{FF2B5EF4-FFF2-40B4-BE49-F238E27FC236}">
                        <a16:creationId xmlns:a16="http://schemas.microsoft.com/office/drawing/2014/main" id="{92F061E4-AC98-89BD-C5E2-E75C67A3D0C0}"/>
                      </a:ext>
                    </a:extLst>
                  </p:cNvPr>
                  <p:cNvSpPr txBox="1"/>
                  <p:nvPr/>
                </p:nvSpPr>
                <p:spPr>
                  <a:xfrm>
                    <a:off x="6028590" y="5115339"/>
                    <a:ext cx="1258956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>
                        <a:highlight>
                          <a:srgbClr val="FFFF00"/>
                        </a:highlight>
                      </a:rPr>
                      <a:t>104.16us</a:t>
                    </a:r>
                    <a:endParaRPr lang="ko-KR" altLang="en-US" sz="1000">
                      <a:highlight>
                        <a:srgbClr val="FFFF00"/>
                      </a:highlight>
                    </a:endParaRPr>
                  </a:p>
                </p:txBody>
              </p:sp>
              <p:sp>
                <p:nvSpPr>
                  <p:cNvPr id="5044" name="TextBox 43">
                    <a:extLst>
                      <a:ext uri="{FF2B5EF4-FFF2-40B4-BE49-F238E27FC236}">
                        <a16:creationId xmlns:a16="http://schemas.microsoft.com/office/drawing/2014/main" id="{3125730F-0655-DD18-401C-E257E98DF6E9}"/>
                      </a:ext>
                    </a:extLst>
                  </p:cNvPr>
                  <p:cNvSpPr txBox="1"/>
                  <p:nvPr/>
                </p:nvSpPr>
                <p:spPr>
                  <a:xfrm>
                    <a:off x="7998569" y="5115339"/>
                    <a:ext cx="1258956" cy="2462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ko-KR" sz="1000">
                        <a:highlight>
                          <a:srgbClr val="FFFF00"/>
                        </a:highlight>
                      </a:rPr>
                      <a:t>104.16us</a:t>
                    </a:r>
                    <a:endParaRPr lang="ko-KR" altLang="en-US" sz="1000">
                      <a:highlight>
                        <a:srgbClr val="FFFF00"/>
                      </a:highlight>
                    </a:endParaRPr>
                  </a:p>
                </p:txBody>
              </p:sp>
            </p:grpSp>
          </p:grpSp>
          <p:cxnSp>
            <p:nvCxnSpPr>
              <p:cNvPr id="5052" name="직선 연결선 51">
                <a:extLst>
                  <a:ext uri="{FF2B5EF4-FFF2-40B4-BE49-F238E27FC236}">
                    <a16:creationId xmlns:a16="http://schemas.microsoft.com/office/drawing/2014/main" id="{BC2F29C5-66FC-ACA6-8EED-5E068F301FA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705074" y="3841880"/>
                <a:ext cx="2649769" cy="262573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4" name="직선 연결선 53">
                <a:extLst>
                  <a:ext uri="{FF2B5EF4-FFF2-40B4-BE49-F238E27FC236}">
                    <a16:creationId xmlns:a16="http://schemas.microsoft.com/office/drawing/2014/main" id="{7364C764-3DA7-3471-A958-D966ADB0A5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794820" y="3834908"/>
                <a:ext cx="3520514" cy="193556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7" name="직사각형 56">
              <a:extLst>
                <a:ext uri="{FF2B5EF4-FFF2-40B4-BE49-F238E27FC236}">
                  <a16:creationId xmlns:a16="http://schemas.microsoft.com/office/drawing/2014/main" id="{F3685495-3D39-7D60-3E20-9C1B67D6F32B}"/>
                </a:ext>
              </a:extLst>
            </p:cNvPr>
            <p:cNvSpPr/>
            <p:nvPr/>
          </p:nvSpPr>
          <p:spPr>
            <a:xfrm>
              <a:off x="1069575" y="4863893"/>
              <a:ext cx="524145" cy="10591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#2 Data Sampling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Sampling: b_tick_cnt == 15마다 1 bit Shift, STOP에서 8 bit 완성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DATA 구간 b_tick_cnt == 15마다 rx를 data_reg MSB에 넣고 오른쪽 shift → D0 ~ D7 수신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STOP 중앙 (b_tick_cnt == 15)에서 rx_done 1 clk → ASM STOP 동작과 일치</a:t>
            </a:r>
            <a:endParaRPr lang="en-US" sz="1500" dirty="0"/>
          </a:p>
        </p:txBody>
      </p:sp>
      <p:grpSp>
        <p:nvGrpSpPr>
          <p:cNvPr id="5119" name="그룹 118">
            <a:extLst>
              <a:ext uri="{FF2B5EF4-FFF2-40B4-BE49-F238E27FC236}">
                <a16:creationId xmlns:a16="http://schemas.microsoft.com/office/drawing/2014/main" id="{40A9B1CB-79C6-26D9-9247-23F1529CCCDF}"/>
              </a:ext>
            </a:extLst>
          </p:cNvPr>
          <p:cNvGrpSpPr/>
          <p:nvPr/>
        </p:nvGrpSpPr>
        <p:grpSpPr>
          <a:xfrm>
            <a:off x="690462" y="1807999"/>
            <a:ext cx="10031896" cy="2515491"/>
            <a:chOff x="677210" y="2231737"/>
            <a:chExt cx="10031896" cy="2515491"/>
          </a:xfrm>
        </p:grpSpPr>
        <p:grpSp>
          <p:nvGrpSpPr>
            <p:cNvPr id="5105" name="그룹 104">
              <a:extLst>
                <a:ext uri="{FF2B5EF4-FFF2-40B4-BE49-F238E27FC236}">
                  <a16:creationId xmlns:a16="http://schemas.microsoft.com/office/drawing/2014/main" id="{9A1379B2-C946-DFE7-1E40-9F5AEEC51986}"/>
                </a:ext>
              </a:extLst>
            </p:cNvPr>
            <p:cNvGrpSpPr/>
            <p:nvPr/>
          </p:nvGrpSpPr>
          <p:grpSpPr>
            <a:xfrm>
              <a:off x="677210" y="2231737"/>
              <a:ext cx="10031896" cy="2515491"/>
              <a:chOff x="677210" y="2231737"/>
              <a:chExt cx="10031896" cy="2515491"/>
            </a:xfrm>
          </p:grpSpPr>
          <p:pic>
            <p:nvPicPr>
              <p:cNvPr id="5011" name="그림 10">
                <a:extLst>
                  <a:ext uri="{FF2B5EF4-FFF2-40B4-BE49-F238E27FC236}">
                    <a16:creationId xmlns:a16="http://schemas.microsoft.com/office/drawing/2014/main" id="{3969A735-8062-A680-00A9-F6D4D80B70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677210" y="2231737"/>
                <a:ext cx="10031896" cy="2515491"/>
              </a:xfrm>
              <a:prstGeom prst="rect">
                <a:avLst/>
              </a:prstGeom>
            </p:spPr>
          </p:pic>
          <p:grpSp>
            <p:nvGrpSpPr>
              <p:cNvPr id="5031" name="그룹 30">
                <a:extLst>
                  <a:ext uri="{FF2B5EF4-FFF2-40B4-BE49-F238E27FC236}">
                    <a16:creationId xmlns:a16="http://schemas.microsoft.com/office/drawing/2014/main" id="{5E1A3FD7-5F58-D7EC-146C-0084CA9DCC9C}"/>
                  </a:ext>
                </a:extLst>
              </p:cNvPr>
              <p:cNvGrpSpPr/>
              <p:nvPr/>
            </p:nvGrpSpPr>
            <p:grpSpPr>
              <a:xfrm>
                <a:off x="51411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5023" name="직선 연결선 22">
                  <a:extLst>
                    <a:ext uri="{FF2B5EF4-FFF2-40B4-BE49-F238E27FC236}">
                      <a16:creationId xmlns:a16="http://schemas.microsoft.com/office/drawing/2014/main" id="{152F38C6-21F6-B4F1-4DB7-FD3A25E397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9" name="직선 연결선 28">
                  <a:extLst>
                    <a:ext uri="{FF2B5EF4-FFF2-40B4-BE49-F238E27FC236}">
                      <a16:creationId xmlns:a16="http://schemas.microsoft.com/office/drawing/2014/main" id="{4606B337-40DD-5ACF-8801-9C4E7D3456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49" name="그룹 48">
                <a:extLst>
                  <a:ext uri="{FF2B5EF4-FFF2-40B4-BE49-F238E27FC236}">
                    <a16:creationId xmlns:a16="http://schemas.microsoft.com/office/drawing/2014/main" id="{1BE61FCD-F824-45C6-6523-9EF9CE68CAF5}"/>
                  </a:ext>
                </a:extLst>
              </p:cNvPr>
              <p:cNvGrpSpPr/>
              <p:nvPr/>
            </p:nvGrpSpPr>
            <p:grpSpPr>
              <a:xfrm>
                <a:off x="6182596" y="2458720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5050" name="직선 연결선 49">
                  <a:extLst>
                    <a:ext uri="{FF2B5EF4-FFF2-40B4-BE49-F238E27FC236}">
                      <a16:creationId xmlns:a16="http://schemas.microsoft.com/office/drawing/2014/main" id="{CE1BEC24-A2F8-227A-8A30-95A618DD1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51" name="직선 연결선 50">
                  <a:extLst>
                    <a:ext uri="{FF2B5EF4-FFF2-40B4-BE49-F238E27FC236}">
                      <a16:creationId xmlns:a16="http://schemas.microsoft.com/office/drawing/2014/main" id="{E11B48F5-63E8-E044-E927-CF3F3E980C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60" name="그룹 59">
                <a:extLst>
                  <a:ext uri="{FF2B5EF4-FFF2-40B4-BE49-F238E27FC236}">
                    <a16:creationId xmlns:a16="http://schemas.microsoft.com/office/drawing/2014/main" id="{36767277-0AE5-B993-0E29-97B582676875}"/>
                  </a:ext>
                </a:extLst>
              </p:cNvPr>
              <p:cNvGrpSpPr/>
              <p:nvPr/>
            </p:nvGrpSpPr>
            <p:grpSpPr>
              <a:xfrm>
                <a:off x="72306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5061" name="직선 연결선 60">
                  <a:extLst>
                    <a:ext uri="{FF2B5EF4-FFF2-40B4-BE49-F238E27FC236}">
                      <a16:creationId xmlns:a16="http://schemas.microsoft.com/office/drawing/2014/main" id="{4BE2D743-40C8-8D0D-38E9-68F4464B6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62" name="직선 연결선 61">
                  <a:extLst>
                    <a:ext uri="{FF2B5EF4-FFF2-40B4-BE49-F238E27FC236}">
                      <a16:creationId xmlns:a16="http://schemas.microsoft.com/office/drawing/2014/main" id="{BD856AFE-A140-D6ED-9FF5-172CB75911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63" name="그룹 62">
                <a:extLst>
                  <a:ext uri="{FF2B5EF4-FFF2-40B4-BE49-F238E27FC236}">
                    <a16:creationId xmlns:a16="http://schemas.microsoft.com/office/drawing/2014/main" id="{5B3F53F8-85ED-6D2F-3737-CBE4CBC31E18}"/>
                  </a:ext>
                </a:extLst>
              </p:cNvPr>
              <p:cNvGrpSpPr/>
              <p:nvPr/>
            </p:nvGrpSpPr>
            <p:grpSpPr>
              <a:xfrm>
                <a:off x="8272040" y="2407442"/>
                <a:ext cx="521482" cy="2174240"/>
                <a:chOff x="5141196" y="2458720"/>
                <a:chExt cx="521482" cy="2174240"/>
              </a:xfrm>
            </p:grpSpPr>
            <p:cxnSp>
              <p:nvCxnSpPr>
                <p:cNvPr id="5064" name="직선 연결선 63">
                  <a:extLst>
                    <a:ext uri="{FF2B5EF4-FFF2-40B4-BE49-F238E27FC236}">
                      <a16:creationId xmlns:a16="http://schemas.microsoft.com/office/drawing/2014/main" id="{D40F39E5-A376-6741-E407-F5BFFB13FF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141196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65" name="직선 연결선 64">
                  <a:extLst>
                    <a:ext uri="{FF2B5EF4-FFF2-40B4-BE49-F238E27FC236}">
                      <a16:creationId xmlns:a16="http://schemas.microsoft.com/office/drawing/2014/main" id="{81845BF9-1A65-8636-FD3E-56B5FA9182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662678" y="2458720"/>
                  <a:ext cx="0" cy="217424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  <a:prstDash val="dash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68" name="TextBox 67">
                <a:extLst>
                  <a:ext uri="{FF2B5EF4-FFF2-40B4-BE49-F238E27FC236}">
                    <a16:creationId xmlns:a16="http://schemas.microsoft.com/office/drawing/2014/main" id="{6E1D713C-A558-1B3C-A039-2D178B0CD905}"/>
                  </a:ext>
                </a:extLst>
              </p:cNvPr>
              <p:cNvSpPr txBox="1"/>
              <p:nvPr/>
            </p:nvSpPr>
            <p:spPr>
              <a:xfrm>
                <a:off x="4979946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69" name="TextBox 68">
                <a:extLst>
                  <a:ext uri="{FF2B5EF4-FFF2-40B4-BE49-F238E27FC236}">
                    <a16:creationId xmlns:a16="http://schemas.microsoft.com/office/drawing/2014/main" id="{68F43961-7094-4AB8-C8BE-7A44DE65A417}"/>
                  </a:ext>
                </a:extLst>
              </p:cNvPr>
              <p:cNvSpPr txBox="1"/>
              <p:nvPr/>
            </p:nvSpPr>
            <p:spPr>
              <a:xfrm>
                <a:off x="5496053" y="308672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73" name="TextBox 72">
                <a:extLst>
                  <a:ext uri="{FF2B5EF4-FFF2-40B4-BE49-F238E27FC236}">
                    <a16:creationId xmlns:a16="http://schemas.microsoft.com/office/drawing/2014/main" id="{4A58E738-2B87-F0A4-8B74-1D7FF6EE61ED}"/>
                  </a:ext>
                </a:extLst>
              </p:cNvPr>
              <p:cNvSpPr txBox="1"/>
              <p:nvPr/>
            </p:nvSpPr>
            <p:spPr>
              <a:xfrm>
                <a:off x="6022614" y="3087684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75" name="TextBox 74">
                <a:extLst>
                  <a:ext uri="{FF2B5EF4-FFF2-40B4-BE49-F238E27FC236}">
                    <a16:creationId xmlns:a16="http://schemas.microsoft.com/office/drawing/2014/main" id="{73E2D400-B778-3046-2648-70553B68213A}"/>
                  </a:ext>
                </a:extLst>
              </p:cNvPr>
              <p:cNvSpPr txBox="1"/>
              <p:nvPr/>
            </p:nvSpPr>
            <p:spPr>
              <a:xfrm>
                <a:off x="6560605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0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77" name="TextBox 76">
                <a:extLst>
                  <a:ext uri="{FF2B5EF4-FFF2-40B4-BE49-F238E27FC236}">
                    <a16:creationId xmlns:a16="http://schemas.microsoft.com/office/drawing/2014/main" id="{52D13099-FA58-E212-3365-66343481FA8B}"/>
                  </a:ext>
                </a:extLst>
              </p:cNvPr>
              <p:cNvSpPr txBox="1"/>
              <p:nvPr/>
            </p:nvSpPr>
            <p:spPr>
              <a:xfrm>
                <a:off x="7084332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79" name="TextBox 78">
                <a:extLst>
                  <a:ext uri="{FF2B5EF4-FFF2-40B4-BE49-F238E27FC236}">
                    <a16:creationId xmlns:a16="http://schemas.microsoft.com/office/drawing/2014/main" id="{307713B5-D4F6-7B30-9F88-549B3838419D}"/>
                  </a:ext>
                </a:extLst>
              </p:cNvPr>
              <p:cNvSpPr txBox="1"/>
              <p:nvPr/>
            </p:nvSpPr>
            <p:spPr>
              <a:xfrm>
                <a:off x="7604249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80" name="TextBox 79">
                <a:extLst>
                  <a:ext uri="{FF2B5EF4-FFF2-40B4-BE49-F238E27FC236}">
                    <a16:creationId xmlns:a16="http://schemas.microsoft.com/office/drawing/2014/main" id="{9EAB70A1-3CB8-6C98-A839-2DC3FF2DEA21}"/>
                  </a:ext>
                </a:extLst>
              </p:cNvPr>
              <p:cNvSpPr txBox="1"/>
              <p:nvPr/>
            </p:nvSpPr>
            <p:spPr>
              <a:xfrm>
                <a:off x="8125730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81" name="TextBox 80">
                <a:extLst>
                  <a:ext uri="{FF2B5EF4-FFF2-40B4-BE49-F238E27FC236}">
                    <a16:creationId xmlns:a16="http://schemas.microsoft.com/office/drawing/2014/main" id="{FAC4ED8A-CD75-D5D3-95F5-F1A549BDF6AE}"/>
                  </a:ext>
                </a:extLst>
              </p:cNvPr>
              <p:cNvSpPr txBox="1"/>
              <p:nvPr/>
            </p:nvSpPr>
            <p:spPr>
              <a:xfrm>
                <a:off x="8645647" y="3082918"/>
                <a:ext cx="30249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050">
                    <a:highlight>
                      <a:srgbClr val="FFFF00"/>
                    </a:highlight>
                  </a:rPr>
                  <a:t>1</a:t>
                </a:r>
                <a:endParaRPr lang="ko-KR" altLang="en-US" sz="1050">
                  <a:highlight>
                    <a:srgbClr val="FFFF00"/>
                  </a:highlight>
                </a:endParaRPr>
              </a:p>
            </p:txBody>
          </p:sp>
          <p:sp>
            <p:nvSpPr>
              <p:cNvPr id="5084" name="직사각형 83">
                <a:extLst>
                  <a:ext uri="{FF2B5EF4-FFF2-40B4-BE49-F238E27FC236}">
                    <a16:creationId xmlns:a16="http://schemas.microsoft.com/office/drawing/2014/main" id="{BB0A485B-0F73-C279-133B-320FF083244B}"/>
                  </a:ext>
                </a:extLst>
              </p:cNvPr>
              <p:cNvSpPr/>
              <p:nvPr/>
            </p:nvSpPr>
            <p:spPr>
              <a:xfrm>
                <a:off x="6283835" y="3348990"/>
                <a:ext cx="1180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86" name="직사각형 85">
                <a:extLst>
                  <a:ext uri="{FF2B5EF4-FFF2-40B4-BE49-F238E27FC236}">
                    <a16:creationId xmlns:a16="http://schemas.microsoft.com/office/drawing/2014/main" id="{8F9CE054-4FD0-A5D5-7D29-7E5F6F74FB61}"/>
                  </a:ext>
                </a:extLst>
              </p:cNvPr>
              <p:cNvSpPr/>
              <p:nvPr/>
            </p:nvSpPr>
            <p:spPr>
              <a:xfrm>
                <a:off x="6801208" y="3348990"/>
                <a:ext cx="179925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88" name="직사각형 87">
                <a:extLst>
                  <a:ext uri="{FF2B5EF4-FFF2-40B4-BE49-F238E27FC236}">
                    <a16:creationId xmlns:a16="http://schemas.microsoft.com/office/drawing/2014/main" id="{E649AC13-D88B-4DFD-5E88-4E57A1C1F685}"/>
                  </a:ext>
                </a:extLst>
              </p:cNvPr>
              <p:cNvSpPr/>
              <p:nvPr/>
            </p:nvSpPr>
            <p:spPr>
              <a:xfrm>
                <a:off x="7327621" y="3348990"/>
                <a:ext cx="205513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90" name="직사각형 89">
                <a:extLst>
                  <a:ext uri="{FF2B5EF4-FFF2-40B4-BE49-F238E27FC236}">
                    <a16:creationId xmlns:a16="http://schemas.microsoft.com/office/drawing/2014/main" id="{7EA00C03-86A3-5866-01C8-2A2D08853FB5}"/>
                  </a:ext>
                </a:extLst>
              </p:cNvPr>
              <p:cNvSpPr/>
              <p:nvPr/>
            </p:nvSpPr>
            <p:spPr>
              <a:xfrm>
                <a:off x="7853359" y="3346450"/>
                <a:ext cx="25048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92" name="직사각형 91">
                <a:extLst>
                  <a:ext uri="{FF2B5EF4-FFF2-40B4-BE49-F238E27FC236}">
                    <a16:creationId xmlns:a16="http://schemas.microsoft.com/office/drawing/2014/main" id="{7B6510C6-8C4A-1812-8760-42058F0A5F68}"/>
                  </a:ext>
                </a:extLst>
              </p:cNvPr>
              <p:cNvSpPr/>
              <p:nvPr/>
            </p:nvSpPr>
            <p:spPr>
              <a:xfrm>
                <a:off x="8391373" y="3346450"/>
                <a:ext cx="26627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94" name="직사각형 93">
                <a:extLst>
                  <a:ext uri="{FF2B5EF4-FFF2-40B4-BE49-F238E27FC236}">
                    <a16:creationId xmlns:a16="http://schemas.microsoft.com/office/drawing/2014/main" id="{5304D7DA-5712-865A-7FE7-720BDD97B021}"/>
                  </a:ext>
                </a:extLst>
              </p:cNvPr>
              <p:cNvSpPr/>
              <p:nvPr/>
            </p:nvSpPr>
            <p:spPr>
              <a:xfrm>
                <a:off x="8865076" y="3350105"/>
                <a:ext cx="356384" cy="10509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096" name="그림 95">
                <a:extLst>
                  <a:ext uri="{FF2B5EF4-FFF2-40B4-BE49-F238E27FC236}">
                    <a16:creationId xmlns:a16="http://schemas.microsoft.com/office/drawing/2014/main" id="{72EBAB1B-E263-F9A5-EACA-9C017E65894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1"/>
              <a:stretch>
                <a:fillRect/>
              </a:stretch>
            </p:blipFill>
            <p:spPr>
              <a:xfrm flipV="1">
                <a:off x="5734458" y="3355277"/>
                <a:ext cx="349733" cy="80708"/>
              </a:xfrm>
              <a:prstGeom prst="rect">
                <a:avLst/>
              </a:prstGeom>
            </p:spPr>
          </p:pic>
          <p:sp>
            <p:nvSpPr>
              <p:cNvPr id="5098" name="직사각형 97">
                <a:extLst>
                  <a:ext uri="{FF2B5EF4-FFF2-40B4-BE49-F238E27FC236}">
                    <a16:creationId xmlns:a16="http://schemas.microsoft.com/office/drawing/2014/main" id="{486003F2-98AA-5638-43B2-E3E3E0D7C65E}"/>
                  </a:ext>
                </a:extLst>
              </p:cNvPr>
              <p:cNvSpPr/>
              <p:nvPr/>
            </p:nvSpPr>
            <p:spPr>
              <a:xfrm>
                <a:off x="5747097" y="3353120"/>
                <a:ext cx="81926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00" name="직사각형 99">
                <a:extLst>
                  <a:ext uri="{FF2B5EF4-FFF2-40B4-BE49-F238E27FC236}">
                    <a16:creationId xmlns:a16="http://schemas.microsoft.com/office/drawing/2014/main" id="{2CF3738B-0E41-BAE3-B230-DADCE4DD7085}"/>
                  </a:ext>
                </a:extLst>
              </p:cNvPr>
              <p:cNvSpPr/>
              <p:nvPr/>
            </p:nvSpPr>
            <p:spPr>
              <a:xfrm>
                <a:off x="5239116" y="3349625"/>
                <a:ext cx="45719" cy="99060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pic>
            <p:nvPicPr>
              <p:cNvPr id="5102" name="그림 101">
                <a:extLst>
                  <a:ext uri="{FF2B5EF4-FFF2-40B4-BE49-F238E27FC236}">
                    <a16:creationId xmlns:a16="http://schemas.microsoft.com/office/drawing/2014/main" id="{3FF9D081-E434-C3A4-F9BC-D64F4F4394B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2"/>
              <a:stretch>
                <a:fillRect/>
              </a:stretch>
            </p:blipFill>
            <p:spPr>
              <a:xfrm>
                <a:off x="8879467" y="3367067"/>
                <a:ext cx="341993" cy="70514"/>
              </a:xfrm>
              <a:prstGeom prst="rect">
                <a:avLst/>
              </a:prstGeom>
            </p:spPr>
          </p:pic>
          <p:pic>
            <p:nvPicPr>
              <p:cNvPr id="5104" name="그림 103">
                <a:extLst>
                  <a:ext uri="{FF2B5EF4-FFF2-40B4-BE49-F238E27FC236}">
                    <a16:creationId xmlns:a16="http://schemas.microsoft.com/office/drawing/2014/main" id="{58D0664B-AE77-D5AA-F97D-FDF5ECDA9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726108" y="3354771"/>
                <a:ext cx="617273" cy="91448"/>
              </a:xfrm>
              <a:prstGeom prst="rect">
                <a:avLst/>
              </a:prstGeom>
            </p:spPr>
          </p:pic>
        </p:grpSp>
        <p:sp>
          <p:nvSpPr>
            <p:cNvPr id="5106" name="TextBox 105">
              <a:extLst>
                <a:ext uri="{FF2B5EF4-FFF2-40B4-BE49-F238E27FC236}">
                  <a16:creationId xmlns:a16="http://schemas.microsoft.com/office/drawing/2014/main" id="{36A629A6-A5EE-4DAF-8F81-A3D8D43307B0}"/>
                </a:ext>
              </a:extLst>
            </p:cNvPr>
            <p:cNvSpPr txBox="1"/>
            <p:nvPr/>
          </p:nvSpPr>
          <p:spPr>
            <a:xfrm>
              <a:off x="4707592" y="2538875"/>
              <a:ext cx="483264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>
                  <a:solidFill>
                    <a:schemeClr val="bg1"/>
                  </a:solidFill>
                </a:rPr>
                <a:t>D[0]    D[1]      D[2]     D[3]     D[4]     D[5]     D[6]     D[7]</a:t>
              </a:r>
            </a:p>
            <a:p>
              <a:endParaRPr lang="ko-KR" altLang="en-US" sz="1100">
                <a:solidFill>
                  <a:schemeClr val="bg1"/>
                </a:solidFill>
              </a:endParaRPr>
            </a:p>
          </p:txBody>
        </p:sp>
        <p:cxnSp>
          <p:nvCxnSpPr>
            <p:cNvPr id="5110" name="직선 화살표 연결선 109">
              <a:extLst>
                <a:ext uri="{FF2B5EF4-FFF2-40B4-BE49-F238E27FC236}">
                  <a16:creationId xmlns:a16="http://schemas.microsoft.com/office/drawing/2014/main" id="{DF2C7614-5EF9-0959-9220-C907006CCAAE}"/>
                </a:ext>
              </a:extLst>
            </p:cNvPr>
            <p:cNvCxnSpPr>
              <a:cxnSpLocks/>
              <a:endCxn id="5100" idx="1"/>
            </p:cNvCxnSpPr>
            <p:nvPr/>
          </p:nvCxnSpPr>
          <p:spPr>
            <a:xfrm>
              <a:off x="5128896" y="3295800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2" name="직선 화살표 연결선 111">
              <a:extLst>
                <a:ext uri="{FF2B5EF4-FFF2-40B4-BE49-F238E27FC236}">
                  <a16:creationId xmlns:a16="http://schemas.microsoft.com/office/drawing/2014/main" id="{7ABD4A8C-915B-B01B-26F7-487E9AAB0B8A}"/>
                </a:ext>
              </a:extLst>
            </p:cNvPr>
            <p:cNvCxnSpPr>
              <a:cxnSpLocks/>
            </p:cNvCxnSpPr>
            <p:nvPr/>
          </p:nvCxnSpPr>
          <p:spPr>
            <a:xfrm>
              <a:off x="5638296" y="330929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3" name="직선 화살표 연결선 112">
              <a:extLst>
                <a:ext uri="{FF2B5EF4-FFF2-40B4-BE49-F238E27FC236}">
                  <a16:creationId xmlns:a16="http://schemas.microsoft.com/office/drawing/2014/main" id="{EAACE210-B64B-A500-198D-F8A6885C656A}"/>
                </a:ext>
              </a:extLst>
            </p:cNvPr>
            <p:cNvCxnSpPr>
              <a:cxnSpLocks/>
            </p:cNvCxnSpPr>
            <p:nvPr/>
          </p:nvCxnSpPr>
          <p:spPr>
            <a:xfrm>
              <a:off x="6164226" y="3301442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4" name="직선 화살표 연결선 113">
              <a:extLst>
                <a:ext uri="{FF2B5EF4-FFF2-40B4-BE49-F238E27FC236}">
                  <a16:creationId xmlns:a16="http://schemas.microsoft.com/office/drawing/2014/main" id="{9C0D09C7-547F-DE13-56D5-077A3B96B19A}"/>
                </a:ext>
              </a:extLst>
            </p:cNvPr>
            <p:cNvCxnSpPr>
              <a:cxnSpLocks/>
            </p:cNvCxnSpPr>
            <p:nvPr/>
          </p:nvCxnSpPr>
          <p:spPr>
            <a:xfrm>
              <a:off x="670475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5" name="직선 화살표 연결선 114">
              <a:extLst>
                <a:ext uri="{FF2B5EF4-FFF2-40B4-BE49-F238E27FC236}">
                  <a16:creationId xmlns:a16="http://schemas.microsoft.com/office/drawing/2014/main" id="{21871046-894D-B313-A8CB-484D38729F74}"/>
                </a:ext>
              </a:extLst>
            </p:cNvPr>
            <p:cNvCxnSpPr>
              <a:cxnSpLocks/>
            </p:cNvCxnSpPr>
            <p:nvPr/>
          </p:nvCxnSpPr>
          <p:spPr>
            <a:xfrm>
              <a:off x="722189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6" name="직선 화살표 연결선 115">
              <a:extLst>
                <a:ext uri="{FF2B5EF4-FFF2-40B4-BE49-F238E27FC236}">
                  <a16:creationId xmlns:a16="http://schemas.microsoft.com/office/drawing/2014/main" id="{CF67CE8D-293E-4E66-E112-ECCFCF824881}"/>
                </a:ext>
              </a:extLst>
            </p:cNvPr>
            <p:cNvCxnSpPr>
              <a:cxnSpLocks/>
            </p:cNvCxnSpPr>
            <p:nvPr/>
          </p:nvCxnSpPr>
          <p:spPr>
            <a:xfrm>
              <a:off x="7734889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7" name="직선 화살표 연결선 116">
              <a:extLst>
                <a:ext uri="{FF2B5EF4-FFF2-40B4-BE49-F238E27FC236}">
                  <a16:creationId xmlns:a16="http://schemas.microsoft.com/office/drawing/2014/main" id="{E350EACD-9E6B-D995-1CAD-785C8A0D534B}"/>
                </a:ext>
              </a:extLst>
            </p:cNvPr>
            <p:cNvCxnSpPr>
              <a:cxnSpLocks/>
            </p:cNvCxnSpPr>
            <p:nvPr/>
          </p:nvCxnSpPr>
          <p:spPr>
            <a:xfrm>
              <a:off x="8258033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8" name="직선 화살표 연결선 117">
              <a:extLst>
                <a:ext uri="{FF2B5EF4-FFF2-40B4-BE49-F238E27FC236}">
                  <a16:creationId xmlns:a16="http://schemas.microsoft.com/office/drawing/2014/main" id="{2D426CD5-5986-DD82-D9DB-2176BB5C434C}"/>
                </a:ext>
              </a:extLst>
            </p:cNvPr>
            <p:cNvCxnSpPr>
              <a:cxnSpLocks/>
            </p:cNvCxnSpPr>
            <p:nvPr/>
          </p:nvCxnSpPr>
          <p:spPr>
            <a:xfrm>
              <a:off x="8759936" y="3292276"/>
              <a:ext cx="110220" cy="103355"/>
            </a:xfrm>
            <a:prstGeom prst="straightConnector1">
              <a:avLst/>
            </a:prstGeom>
            <a:ln w="9525"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22" name="직사각형 121">
            <a:extLst>
              <a:ext uri="{FF2B5EF4-FFF2-40B4-BE49-F238E27FC236}">
                <a16:creationId xmlns:a16="http://schemas.microsoft.com/office/drawing/2014/main" id="{8240B220-2AE7-36DE-439C-BBEE76716D9F}"/>
              </a:ext>
            </a:extLst>
          </p:cNvPr>
          <p:cNvSpPr/>
          <p:nvPr/>
        </p:nvSpPr>
        <p:spPr>
          <a:xfrm>
            <a:off x="9227092" y="3020822"/>
            <a:ext cx="252180" cy="3833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24" name="직선 연결선 123">
            <a:extLst>
              <a:ext uri="{FF2B5EF4-FFF2-40B4-BE49-F238E27FC236}">
                <a16:creationId xmlns:a16="http://schemas.microsoft.com/office/drawing/2014/main" id="{0E8CB15A-F21F-4570-27C1-7DC947225385}"/>
              </a:ext>
            </a:extLst>
          </p:cNvPr>
          <p:cNvCxnSpPr>
            <a:cxnSpLocks/>
          </p:cNvCxnSpPr>
          <p:nvPr/>
        </p:nvCxnSpPr>
        <p:spPr>
          <a:xfrm flipH="1">
            <a:off x="3639102" y="3404180"/>
            <a:ext cx="5595610" cy="9110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5" name="직선 연결선 124">
            <a:extLst>
              <a:ext uri="{FF2B5EF4-FFF2-40B4-BE49-F238E27FC236}">
                <a16:creationId xmlns:a16="http://schemas.microsoft.com/office/drawing/2014/main" id="{5525C652-3AF2-F16F-DB22-E3364E8A0D33}"/>
              </a:ext>
            </a:extLst>
          </p:cNvPr>
          <p:cNvCxnSpPr>
            <a:cxnSpLocks/>
          </p:cNvCxnSpPr>
          <p:nvPr/>
        </p:nvCxnSpPr>
        <p:spPr>
          <a:xfrm flipH="1" flipV="1">
            <a:off x="9479272" y="3429000"/>
            <a:ext cx="877361" cy="90146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31" name="그림 130">
            <a:extLst>
              <a:ext uri="{FF2B5EF4-FFF2-40B4-BE49-F238E27FC236}">
                <a16:creationId xmlns:a16="http://schemas.microsoft.com/office/drawing/2014/main" id="{4E9D0222-D566-F4CB-6193-31526C777A5F}"/>
              </a:ext>
            </a:extLst>
          </p:cNvPr>
          <p:cNvPicPr>
            <a:picLocks noChangeAspect="1"/>
          </p:cNvPicPr>
          <p:nvPr/>
        </p:nvPicPr>
        <p:blipFill>
          <a:blip r:embed="rId104"/>
          <a:stretch>
            <a:fillRect/>
          </a:stretch>
        </p:blipFill>
        <p:spPr>
          <a:xfrm>
            <a:off x="3639102" y="4326267"/>
            <a:ext cx="6698781" cy="2107482"/>
          </a:xfrm>
          <a:prstGeom prst="rect">
            <a:avLst/>
          </a:prstGeom>
        </p:spPr>
      </p:pic>
      <p:cxnSp>
        <p:nvCxnSpPr>
          <p:cNvPr id="5134" name="직선 연결선 133">
            <a:extLst>
              <a:ext uri="{FF2B5EF4-FFF2-40B4-BE49-F238E27FC236}">
                <a16:creationId xmlns:a16="http://schemas.microsoft.com/office/drawing/2014/main" id="{CB57BE67-43E2-B681-B92C-CC96364984C6}"/>
              </a:ext>
            </a:extLst>
          </p:cNvPr>
          <p:cNvCxnSpPr>
            <a:cxnSpLocks/>
          </p:cNvCxnSpPr>
          <p:nvPr/>
        </p:nvCxnSpPr>
        <p:spPr>
          <a:xfrm flipV="1">
            <a:off x="8596410" y="4310642"/>
            <a:ext cx="0" cy="2123107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40" name="직선 연결선 139">
            <a:extLst>
              <a:ext uri="{FF2B5EF4-FFF2-40B4-BE49-F238E27FC236}">
                <a16:creationId xmlns:a16="http://schemas.microsoft.com/office/drawing/2014/main" id="{635FB7E3-3DD5-D059-E7FF-0B0DD351F17C}"/>
              </a:ext>
            </a:extLst>
          </p:cNvPr>
          <p:cNvCxnSpPr>
            <a:cxnSpLocks/>
          </p:cNvCxnSpPr>
          <p:nvPr/>
        </p:nvCxnSpPr>
        <p:spPr>
          <a:xfrm flipV="1">
            <a:off x="8866496" y="4317786"/>
            <a:ext cx="0" cy="2115963"/>
          </a:xfrm>
          <a:prstGeom prst="line">
            <a:avLst/>
          </a:prstGeom>
          <a:ln>
            <a:solidFill>
              <a:srgbClr val="FF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3" name="직사각형 142">
            <a:extLst>
              <a:ext uri="{FF2B5EF4-FFF2-40B4-BE49-F238E27FC236}">
                <a16:creationId xmlns:a16="http://schemas.microsoft.com/office/drawing/2014/main" id="{210DAD1C-022B-BF72-3F20-4864AB420CD8}"/>
              </a:ext>
            </a:extLst>
          </p:cNvPr>
          <p:cNvSpPr/>
          <p:nvPr/>
        </p:nvSpPr>
        <p:spPr>
          <a:xfrm>
            <a:off x="3764756" y="5893593"/>
            <a:ext cx="8143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46" name="직사각형 145">
            <a:extLst>
              <a:ext uri="{FF2B5EF4-FFF2-40B4-BE49-F238E27FC236}">
                <a16:creationId xmlns:a16="http://schemas.microsoft.com/office/drawing/2014/main" id="{CBF98D4B-7061-C4E9-6EA9-7CB73821E157}"/>
              </a:ext>
            </a:extLst>
          </p:cNvPr>
          <p:cNvSpPr/>
          <p:nvPr/>
        </p:nvSpPr>
        <p:spPr>
          <a:xfrm>
            <a:off x="3829050" y="5114693"/>
            <a:ext cx="471486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148" name="직선 화살표 연결선 147">
            <a:extLst>
              <a:ext uri="{FF2B5EF4-FFF2-40B4-BE49-F238E27FC236}">
                <a16:creationId xmlns:a16="http://schemas.microsoft.com/office/drawing/2014/main" id="{2F9C63D1-7EB6-9E0A-4617-362940CD40E6}"/>
              </a:ext>
            </a:extLst>
          </p:cNvPr>
          <p:cNvCxnSpPr/>
          <p:nvPr/>
        </p:nvCxnSpPr>
        <p:spPr>
          <a:xfrm>
            <a:off x="8882675" y="5207794"/>
            <a:ext cx="144125" cy="40183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49" name="타원 148">
            <a:extLst>
              <a:ext uri="{FF2B5EF4-FFF2-40B4-BE49-F238E27FC236}">
                <a16:creationId xmlns:a16="http://schemas.microsoft.com/office/drawing/2014/main" id="{01677CD5-5A83-EE12-DBB7-76A0CD6E15E4}"/>
              </a:ext>
            </a:extLst>
          </p:cNvPr>
          <p:cNvSpPr/>
          <p:nvPr/>
        </p:nvSpPr>
        <p:spPr>
          <a:xfrm>
            <a:off x="7472205" y="5893593"/>
            <a:ext cx="255632" cy="1571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51" name="직사각형 150">
            <a:extLst>
              <a:ext uri="{FF2B5EF4-FFF2-40B4-BE49-F238E27FC236}">
                <a16:creationId xmlns:a16="http://schemas.microsoft.com/office/drawing/2014/main" id="{A1E5741C-AE57-D198-4B0A-AB6FC2B52F1C}"/>
              </a:ext>
            </a:extLst>
          </p:cNvPr>
          <p:cNvSpPr/>
          <p:nvPr/>
        </p:nvSpPr>
        <p:spPr>
          <a:xfrm>
            <a:off x="3764756" y="5602486"/>
            <a:ext cx="607217" cy="15716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·  시뮬레이션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#3 TX Echo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Echo: rx_done → tx_start, 수신 Byte를 LSB부터 재송신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16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rx_done 1 clk → tx_start → tx가 같은 byte를 START · D0 ~ D7 · STOP으로 송신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8'h00 ~ 8'hFF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256 case echo 모두 PASS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382125" y="1600200"/>
            <a:ext cx="2428875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477375" y="1695450"/>
            <a:ext cx="247650" cy="2476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477375" y="16954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791700" y="1695450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→ tx_start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9525000" y="1981200"/>
            <a:ext cx="2228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중앙 1 clk pulse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382125" y="2457450"/>
            <a:ext cx="2428875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477375" y="2552700"/>
            <a:ext cx="247650" cy="2476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77375" y="25527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791700" y="2552700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= 0 (START)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9525000" y="2838450"/>
            <a:ext cx="2228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tx_start 다음 clk부터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382125" y="3314700"/>
            <a:ext cx="2428875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77375" y="3409950"/>
            <a:ext cx="247650" cy="2476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477375" y="340995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91700" y="3409950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shift 송신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9525000" y="3695700"/>
            <a:ext cx="2228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START에서 rx_data 저장</a:t>
            </a:r>
            <a:endParaRPr lang="en-US" sz="12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16 tick마다 1 bit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382125" y="4171950"/>
            <a:ext cx="2428875" cy="762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477375" y="4267200"/>
            <a:ext cx="247650" cy="247650"/>
          </a:xfrm>
          <a:prstGeom prst="ellipse">
            <a:avLst/>
          </a:prstGeom>
          <a:solidFill>
            <a:srgbClr val="FDE047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477375" y="4267200"/>
            <a:ext cx="247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791700" y="4267200"/>
            <a:ext cx="19621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= 1 (STOP)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525000" y="4552950"/>
            <a:ext cx="22288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후 IDLE 복귀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382125" y="5086350"/>
            <a:ext cx="2428875" cy="38100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382125" y="5086350"/>
            <a:ext cx="242887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256 / 256 PASS</a:t>
            </a:r>
            <a:endParaRPr lang="en-US" sz="1050" dirty="0"/>
          </a:p>
        </p:txBody>
      </p:sp>
      <p:grpSp>
        <p:nvGrpSpPr>
          <p:cNvPr id="5060" name="그룹 59">
            <a:extLst>
              <a:ext uri="{FF2B5EF4-FFF2-40B4-BE49-F238E27FC236}">
                <a16:creationId xmlns:a16="http://schemas.microsoft.com/office/drawing/2014/main" id="{7D4EAA55-F71F-330E-71E9-B6E3CD522511}"/>
              </a:ext>
            </a:extLst>
          </p:cNvPr>
          <p:cNvGrpSpPr/>
          <p:nvPr/>
        </p:nvGrpSpPr>
        <p:grpSpPr>
          <a:xfrm>
            <a:off x="384228" y="1602698"/>
            <a:ext cx="8832763" cy="3555406"/>
            <a:chOff x="1098046" y="1498603"/>
            <a:chExt cx="9714121" cy="3860794"/>
          </a:xfrm>
        </p:grpSpPr>
        <p:grpSp>
          <p:nvGrpSpPr>
            <p:cNvPr id="5016" name="그룹 15">
              <a:extLst>
                <a:ext uri="{FF2B5EF4-FFF2-40B4-BE49-F238E27FC236}">
                  <a16:creationId xmlns:a16="http://schemas.microsoft.com/office/drawing/2014/main" id="{DD2EF9CF-A709-7624-F083-51693E5565B3}"/>
                </a:ext>
              </a:extLst>
            </p:cNvPr>
            <p:cNvGrpSpPr/>
            <p:nvPr/>
          </p:nvGrpSpPr>
          <p:grpSpPr>
            <a:xfrm>
              <a:off x="1098046" y="1498603"/>
              <a:ext cx="9714121" cy="3860794"/>
              <a:chOff x="851485" y="1464469"/>
              <a:chExt cx="9714121" cy="3860794"/>
            </a:xfrm>
          </p:grpSpPr>
          <p:pic>
            <p:nvPicPr>
              <p:cNvPr id="5013" name="그림 12">
                <a:extLst>
                  <a:ext uri="{FF2B5EF4-FFF2-40B4-BE49-F238E27FC236}">
                    <a16:creationId xmlns:a16="http://schemas.microsoft.com/office/drawing/2014/main" id="{41C5B4DC-5EA2-D202-A077-B1FB0AD934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0"/>
              <a:stretch>
                <a:fillRect/>
              </a:stretch>
            </p:blipFill>
            <p:spPr>
              <a:xfrm>
                <a:off x="851485" y="1464469"/>
                <a:ext cx="9714121" cy="3860794"/>
              </a:xfrm>
              <a:prstGeom prst="rect">
                <a:avLst/>
              </a:prstGeom>
            </p:spPr>
          </p:pic>
          <p:sp>
            <p:nvSpPr>
              <p:cNvPr id="5006" name="직사각형 5">
                <a:extLst>
                  <a:ext uri="{FF2B5EF4-FFF2-40B4-BE49-F238E27FC236}">
                    <a16:creationId xmlns:a16="http://schemas.microsoft.com/office/drawing/2014/main" id="{08A6FFFE-61AB-D129-2D82-D9E8A3943552}"/>
                  </a:ext>
                </a:extLst>
              </p:cNvPr>
              <p:cNvSpPr/>
              <p:nvPr/>
            </p:nvSpPr>
            <p:spPr>
              <a:xfrm>
                <a:off x="855805" y="1778090"/>
                <a:ext cx="1143169" cy="1718109"/>
              </a:xfrm>
              <a:prstGeom prst="rect">
                <a:avLst/>
              </a:prstGeom>
              <a:noFill/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009" name="직사각형 8">
                <a:extLst>
                  <a:ext uri="{FF2B5EF4-FFF2-40B4-BE49-F238E27FC236}">
                    <a16:creationId xmlns:a16="http://schemas.microsoft.com/office/drawing/2014/main" id="{0EAD1FF3-985D-527A-FE2E-E4345B82A373}"/>
                  </a:ext>
                </a:extLst>
              </p:cNvPr>
              <p:cNvSpPr/>
              <p:nvPr/>
            </p:nvSpPr>
            <p:spPr>
              <a:xfrm>
                <a:off x="864832" y="3529756"/>
                <a:ext cx="1143169" cy="1778503"/>
              </a:xfrm>
              <a:prstGeom prst="rect">
                <a:avLst/>
              </a:prstGeom>
              <a:noFill/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010" name="TextBox 9">
                <a:extLst>
                  <a:ext uri="{FF2B5EF4-FFF2-40B4-BE49-F238E27FC236}">
                    <a16:creationId xmlns:a16="http://schemas.microsoft.com/office/drawing/2014/main" id="{FD0A7599-4F25-9DD4-2F88-7E13E02C0690}"/>
                  </a:ext>
                </a:extLst>
              </p:cNvPr>
              <p:cNvSpPr txBox="1"/>
              <p:nvPr/>
            </p:nvSpPr>
            <p:spPr>
              <a:xfrm>
                <a:off x="1427388" y="1691786"/>
                <a:ext cx="794330" cy="4337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C000"/>
                    </a:solidFill>
                  </a:rPr>
                  <a:t>Rx</a:t>
                </a:r>
                <a:endParaRPr lang="ko-KR" altLang="en-US" dirty="0">
                  <a:solidFill>
                    <a:srgbClr val="FFC000"/>
                  </a:solidFill>
                </a:endParaRPr>
              </a:p>
            </p:txBody>
          </p:sp>
          <p:sp>
            <p:nvSpPr>
              <p:cNvPr id="5012" name="TextBox 11">
                <a:extLst>
                  <a:ext uri="{FF2B5EF4-FFF2-40B4-BE49-F238E27FC236}">
                    <a16:creationId xmlns:a16="http://schemas.microsoft.com/office/drawing/2014/main" id="{0CE75E45-189A-63BB-CDEF-B4D5431F8924}"/>
                  </a:ext>
                </a:extLst>
              </p:cNvPr>
              <p:cNvSpPr txBox="1"/>
              <p:nvPr/>
            </p:nvSpPr>
            <p:spPr>
              <a:xfrm>
                <a:off x="1461955" y="3447506"/>
                <a:ext cx="794330" cy="545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FFFF00"/>
                    </a:solidFill>
                  </a:rPr>
                  <a:t>Tx</a:t>
                </a:r>
                <a:endParaRPr lang="ko-KR" altLang="en-US" dirty="0">
                  <a:solidFill>
                    <a:srgbClr val="FFFF00"/>
                  </a:solidFill>
                </a:endParaRPr>
              </a:p>
            </p:txBody>
          </p:sp>
        </p:grpSp>
        <p:cxnSp>
          <p:nvCxnSpPr>
            <p:cNvPr id="5022" name="직선 화살표 연결선 21">
              <a:extLst>
                <a:ext uri="{FF2B5EF4-FFF2-40B4-BE49-F238E27FC236}">
                  <a16:creationId xmlns:a16="http://schemas.microsoft.com/office/drawing/2014/main" id="{A6865848-5F91-5441-6795-DEDBFC41420C}"/>
                </a:ext>
              </a:extLst>
            </p:cNvPr>
            <p:cNvCxnSpPr/>
            <p:nvPr/>
          </p:nvCxnSpPr>
          <p:spPr>
            <a:xfrm>
              <a:off x="6266688" y="2926080"/>
              <a:ext cx="0" cy="737616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27" name="그룹 26">
              <a:extLst>
                <a:ext uri="{FF2B5EF4-FFF2-40B4-BE49-F238E27FC236}">
                  <a16:creationId xmlns:a16="http://schemas.microsoft.com/office/drawing/2014/main" id="{A4557D79-B608-C572-761E-290EB4618510}"/>
                </a:ext>
              </a:extLst>
            </p:cNvPr>
            <p:cNvGrpSpPr/>
            <p:nvPr/>
          </p:nvGrpSpPr>
          <p:grpSpPr>
            <a:xfrm>
              <a:off x="4911552" y="3483241"/>
              <a:ext cx="1986611" cy="274889"/>
              <a:chOff x="6249084" y="3401158"/>
              <a:chExt cx="1986611" cy="274889"/>
            </a:xfrm>
          </p:grpSpPr>
          <p:sp>
            <p:nvSpPr>
              <p:cNvPr id="5023" name="TextBox 22">
                <a:extLst>
                  <a:ext uri="{FF2B5EF4-FFF2-40B4-BE49-F238E27FC236}">
                    <a16:creationId xmlns:a16="http://schemas.microsoft.com/office/drawing/2014/main" id="{781D1725-B6EC-01DB-174C-AC14A13ECCD8}"/>
                  </a:ext>
                </a:extLst>
              </p:cNvPr>
              <p:cNvSpPr txBox="1"/>
              <p:nvPr/>
            </p:nvSpPr>
            <p:spPr>
              <a:xfrm>
                <a:off x="6266688" y="3425388"/>
                <a:ext cx="1969007" cy="2506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900" dirty="0" err="1">
                    <a:highlight>
                      <a:srgbClr val="FFFF00"/>
                    </a:highlight>
                  </a:rPr>
                  <a:t>rx_done</a:t>
                </a:r>
                <a:r>
                  <a:rPr lang="en-US" altLang="ko-KR" sz="900">
                    <a:highlight>
                      <a:srgbClr val="FFFF00"/>
                    </a:highlight>
                  </a:rPr>
                  <a:t> </a:t>
                </a:r>
                <a:r>
                  <a:rPr lang="ko-KR" altLang="en-US" sz="900">
                    <a:highlight>
                      <a:srgbClr val="FFFF00"/>
                    </a:highlight>
                  </a:rPr>
                  <a:t>→ </a:t>
                </a:r>
                <a:r>
                  <a:rPr lang="en-US" altLang="ko-KR" sz="900">
                    <a:highlight>
                      <a:srgbClr val="FFFF00"/>
                    </a:highlight>
                  </a:rPr>
                  <a:t>tx_start </a:t>
                </a:r>
                <a:endParaRPr lang="ko-KR" altLang="en-US" sz="900">
                  <a:highlight>
                    <a:srgbClr val="FFFF00"/>
                  </a:highlight>
                </a:endParaRPr>
              </a:p>
            </p:txBody>
          </p:sp>
          <p:sp>
            <p:nvSpPr>
              <p:cNvPr id="5025" name="타원 24">
                <a:extLst>
                  <a:ext uri="{FF2B5EF4-FFF2-40B4-BE49-F238E27FC236}">
                    <a16:creationId xmlns:a16="http://schemas.microsoft.com/office/drawing/2014/main" id="{2C82A134-DED5-7FB9-2543-E4D0BB3F498F}"/>
                  </a:ext>
                </a:extLst>
              </p:cNvPr>
              <p:cNvSpPr/>
              <p:nvPr/>
            </p:nvSpPr>
            <p:spPr>
              <a:xfrm>
                <a:off x="6249084" y="3401158"/>
                <a:ext cx="152399" cy="128016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050">
                    <a:solidFill>
                      <a:schemeClr val="tx1"/>
                    </a:solidFill>
                  </a:rPr>
                  <a:t>1</a:t>
                </a:r>
                <a:endParaRPr lang="ko-KR" altLang="en-US" sz="105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032" name="타원 31">
              <a:extLst>
                <a:ext uri="{FF2B5EF4-FFF2-40B4-BE49-F238E27FC236}">
                  <a16:creationId xmlns:a16="http://schemas.microsoft.com/office/drawing/2014/main" id="{84615007-EDE0-31D7-5201-802A809689A0}"/>
                </a:ext>
              </a:extLst>
            </p:cNvPr>
            <p:cNvSpPr/>
            <p:nvPr/>
          </p:nvSpPr>
          <p:spPr>
            <a:xfrm>
              <a:off x="6075728" y="4161267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2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5034" name="타원 33">
              <a:extLst>
                <a:ext uri="{FF2B5EF4-FFF2-40B4-BE49-F238E27FC236}">
                  <a16:creationId xmlns:a16="http://schemas.microsoft.com/office/drawing/2014/main" id="{9445CDED-DC5D-1786-CFBE-BF8E79FB7354}"/>
                </a:ext>
              </a:extLst>
            </p:cNvPr>
            <p:cNvSpPr/>
            <p:nvPr/>
          </p:nvSpPr>
          <p:spPr>
            <a:xfrm>
              <a:off x="6095999" y="4916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3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sp>
          <p:nvSpPr>
            <p:cNvPr id="5036" name="타원 35">
              <a:extLst>
                <a:ext uri="{FF2B5EF4-FFF2-40B4-BE49-F238E27FC236}">
                  <a16:creationId xmlns:a16="http://schemas.microsoft.com/office/drawing/2014/main" id="{73EA3C36-29F1-7C24-E90D-CD30CED097C3}"/>
                </a:ext>
              </a:extLst>
            </p:cNvPr>
            <p:cNvSpPr/>
            <p:nvPr/>
          </p:nvSpPr>
          <p:spPr>
            <a:xfrm>
              <a:off x="8656319" y="4154179"/>
              <a:ext cx="152399" cy="128016"/>
            </a:xfrm>
            <a:prstGeom prst="ellipse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>
                  <a:solidFill>
                    <a:schemeClr val="tx1"/>
                  </a:solidFill>
                </a:rPr>
                <a:t>4</a:t>
              </a:r>
              <a:endParaRPr lang="ko-KR" altLang="en-US" sz="1050">
                <a:solidFill>
                  <a:schemeClr val="tx1"/>
                </a:solidFill>
              </a:endParaRPr>
            </a:p>
          </p:txBody>
        </p:sp>
        <p:cxnSp>
          <p:nvCxnSpPr>
            <p:cNvPr id="5038" name="직선 화살표 연결선 37">
              <a:extLst>
                <a:ext uri="{FF2B5EF4-FFF2-40B4-BE49-F238E27FC236}">
                  <a16:creationId xmlns:a16="http://schemas.microsoft.com/office/drawing/2014/main" id="{B9C12E14-3BDF-5F13-BCFA-A99D8031F699}"/>
                </a:ext>
              </a:extLst>
            </p:cNvPr>
            <p:cNvCxnSpPr/>
            <p:nvPr/>
          </p:nvCxnSpPr>
          <p:spPr>
            <a:xfrm>
              <a:off x="6662928" y="4974091"/>
              <a:ext cx="204755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9" name="직선 화살표 연결선 38">
              <a:extLst>
                <a:ext uri="{FF2B5EF4-FFF2-40B4-BE49-F238E27FC236}">
                  <a16:creationId xmlns:a16="http://schemas.microsoft.com/office/drawing/2014/main" id="{0C96D7E2-95DD-43E7-FBE2-03D822E0A2ED}"/>
                </a:ext>
              </a:extLst>
            </p:cNvPr>
            <p:cNvCxnSpPr>
              <a:cxnSpLocks/>
            </p:cNvCxnSpPr>
            <p:nvPr/>
          </p:nvCxnSpPr>
          <p:spPr>
            <a:xfrm>
              <a:off x="697992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1" name="직선 화살표 연결선 40">
              <a:extLst>
                <a:ext uri="{FF2B5EF4-FFF2-40B4-BE49-F238E27FC236}">
                  <a16:creationId xmlns:a16="http://schemas.microsoft.com/office/drawing/2014/main" id="{028714C6-7FD8-8C78-D311-4DE7FEE19699}"/>
                </a:ext>
              </a:extLst>
            </p:cNvPr>
            <p:cNvCxnSpPr>
              <a:cxnSpLocks/>
            </p:cNvCxnSpPr>
            <p:nvPr/>
          </p:nvCxnSpPr>
          <p:spPr>
            <a:xfrm>
              <a:off x="72694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3" name="직선 화살표 연결선 42">
              <a:extLst>
                <a:ext uri="{FF2B5EF4-FFF2-40B4-BE49-F238E27FC236}">
                  <a16:creationId xmlns:a16="http://schemas.microsoft.com/office/drawing/2014/main" id="{26B4A1C1-D552-66B9-EC41-DF10D13722B3}"/>
                </a:ext>
              </a:extLst>
            </p:cNvPr>
            <p:cNvCxnSpPr>
              <a:cxnSpLocks/>
            </p:cNvCxnSpPr>
            <p:nvPr/>
          </p:nvCxnSpPr>
          <p:spPr>
            <a:xfrm>
              <a:off x="753618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4" name="직선 화살표 연결선 43">
              <a:extLst>
                <a:ext uri="{FF2B5EF4-FFF2-40B4-BE49-F238E27FC236}">
                  <a16:creationId xmlns:a16="http://schemas.microsoft.com/office/drawing/2014/main" id="{1149AA96-E20F-ABFF-58FE-B7FD396FA03C}"/>
                </a:ext>
              </a:extLst>
            </p:cNvPr>
            <p:cNvCxnSpPr>
              <a:cxnSpLocks/>
            </p:cNvCxnSpPr>
            <p:nvPr/>
          </p:nvCxnSpPr>
          <p:spPr>
            <a:xfrm>
              <a:off x="77876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5" name="직선 화살표 연결선 44">
              <a:extLst>
                <a:ext uri="{FF2B5EF4-FFF2-40B4-BE49-F238E27FC236}">
                  <a16:creationId xmlns:a16="http://schemas.microsoft.com/office/drawing/2014/main" id="{7965B6C5-3089-8839-AB2F-C1B342F01C78}"/>
                </a:ext>
              </a:extLst>
            </p:cNvPr>
            <p:cNvCxnSpPr>
              <a:cxnSpLocks/>
            </p:cNvCxnSpPr>
            <p:nvPr/>
          </p:nvCxnSpPr>
          <p:spPr>
            <a:xfrm>
              <a:off x="8054340" y="4974091"/>
              <a:ext cx="146304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058" name="그룹 57">
              <a:extLst>
                <a:ext uri="{FF2B5EF4-FFF2-40B4-BE49-F238E27FC236}">
                  <a16:creationId xmlns:a16="http://schemas.microsoft.com/office/drawing/2014/main" id="{F138D3A2-3388-F7D0-19F7-7BDADA2FB09F}"/>
                </a:ext>
              </a:extLst>
            </p:cNvPr>
            <p:cNvGrpSpPr/>
            <p:nvPr/>
          </p:nvGrpSpPr>
          <p:grpSpPr>
            <a:xfrm>
              <a:off x="6531625" y="3972560"/>
              <a:ext cx="2126727" cy="943617"/>
              <a:chOff x="6531625" y="3972560"/>
              <a:chExt cx="2126727" cy="1285240"/>
            </a:xfrm>
          </p:grpSpPr>
          <p:cxnSp>
            <p:nvCxnSpPr>
              <p:cNvPr id="5047" name="직선 연결선 46">
                <a:extLst>
                  <a:ext uri="{FF2B5EF4-FFF2-40B4-BE49-F238E27FC236}">
                    <a16:creationId xmlns:a16="http://schemas.microsoft.com/office/drawing/2014/main" id="{36087FD6-586F-8632-B1B6-EA82A9BE531D}"/>
                  </a:ext>
                </a:extLst>
              </p:cNvPr>
              <p:cNvCxnSpPr/>
              <p:nvPr/>
            </p:nvCxnSpPr>
            <p:spPr>
              <a:xfrm>
                <a:off x="6790705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8" name="직선 연결선 47">
                <a:extLst>
                  <a:ext uri="{FF2B5EF4-FFF2-40B4-BE49-F238E27FC236}">
                    <a16:creationId xmlns:a16="http://schemas.microsoft.com/office/drawing/2014/main" id="{3082D0F7-F307-7087-4CD0-AF2FD2F007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531625" y="3972560"/>
                <a:ext cx="0" cy="1285240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49" name="직선 연결선 48">
                <a:extLst>
                  <a:ext uri="{FF2B5EF4-FFF2-40B4-BE49-F238E27FC236}">
                    <a16:creationId xmlns:a16="http://schemas.microsoft.com/office/drawing/2014/main" id="{65213725-63A7-B148-18BF-A673D28B0FC7}"/>
                  </a:ext>
                </a:extLst>
              </p:cNvPr>
              <p:cNvCxnSpPr/>
              <p:nvPr/>
            </p:nvCxnSpPr>
            <p:spPr>
              <a:xfrm>
                <a:off x="73375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0" name="직선 연결선 49">
                <a:extLst>
                  <a:ext uri="{FF2B5EF4-FFF2-40B4-BE49-F238E27FC236}">
                    <a16:creationId xmlns:a16="http://schemas.microsoft.com/office/drawing/2014/main" id="{467A74A7-897B-637D-BD06-FE6FD56847E2}"/>
                  </a:ext>
                </a:extLst>
              </p:cNvPr>
              <p:cNvCxnSpPr/>
              <p:nvPr/>
            </p:nvCxnSpPr>
            <p:spPr>
              <a:xfrm>
                <a:off x="70733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1" name="직선 연결선 50">
                <a:extLst>
                  <a:ext uri="{FF2B5EF4-FFF2-40B4-BE49-F238E27FC236}">
                    <a16:creationId xmlns:a16="http://schemas.microsoft.com/office/drawing/2014/main" id="{30CB3C29-A3CA-B2F1-72F8-5D580E5655B2}"/>
                  </a:ext>
                </a:extLst>
              </p:cNvPr>
              <p:cNvCxnSpPr/>
              <p:nvPr/>
            </p:nvCxnSpPr>
            <p:spPr>
              <a:xfrm>
                <a:off x="786079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2" name="직선 연결선 51">
                <a:extLst>
                  <a:ext uri="{FF2B5EF4-FFF2-40B4-BE49-F238E27FC236}">
                    <a16:creationId xmlns:a16="http://schemas.microsoft.com/office/drawing/2014/main" id="{57C6FDE1-3199-8DA2-40B7-8E9AA93B9978}"/>
                  </a:ext>
                </a:extLst>
              </p:cNvPr>
              <p:cNvCxnSpPr/>
              <p:nvPr/>
            </p:nvCxnSpPr>
            <p:spPr>
              <a:xfrm>
                <a:off x="7601712" y="3972560"/>
                <a:ext cx="0" cy="1285240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3" name="직선 연결선 52">
                <a:extLst>
                  <a:ext uri="{FF2B5EF4-FFF2-40B4-BE49-F238E27FC236}">
                    <a16:creationId xmlns:a16="http://schemas.microsoft.com/office/drawing/2014/main" id="{4FADF0ED-0BF8-6B1B-CD4B-01124F13A962}"/>
                  </a:ext>
                </a:extLst>
              </p:cNvPr>
              <p:cNvCxnSpPr/>
              <p:nvPr/>
            </p:nvCxnSpPr>
            <p:spPr>
              <a:xfrm>
                <a:off x="837895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4" name="직선 연결선 53">
                <a:extLst>
                  <a:ext uri="{FF2B5EF4-FFF2-40B4-BE49-F238E27FC236}">
                    <a16:creationId xmlns:a16="http://schemas.microsoft.com/office/drawing/2014/main" id="{B249DAAD-363C-C322-4E3D-648FD6E51AB6}"/>
                  </a:ext>
                </a:extLst>
              </p:cNvPr>
              <p:cNvCxnSpPr/>
              <p:nvPr/>
            </p:nvCxnSpPr>
            <p:spPr>
              <a:xfrm>
                <a:off x="8119872" y="3972560"/>
                <a:ext cx="0" cy="1285240"/>
              </a:xfrm>
              <a:prstGeom prst="line">
                <a:avLst/>
              </a:prstGeom>
              <a:ln w="9525">
                <a:solidFill>
                  <a:srgbClr val="FFFF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56" name="직선 연결선 55">
                <a:extLst>
                  <a:ext uri="{FF2B5EF4-FFF2-40B4-BE49-F238E27FC236}">
                    <a16:creationId xmlns:a16="http://schemas.microsoft.com/office/drawing/2014/main" id="{B5167717-8B1D-8D27-275C-C0BB14AB338C}"/>
                  </a:ext>
                </a:extLst>
              </p:cNvPr>
              <p:cNvCxnSpPr/>
              <p:nvPr/>
            </p:nvCxnSpPr>
            <p:spPr>
              <a:xfrm>
                <a:off x="8658352" y="3972560"/>
                <a:ext cx="0" cy="1285240"/>
              </a:xfrm>
              <a:prstGeom prst="line">
                <a:avLst/>
              </a:prstGeom>
              <a:ln w="9525">
                <a:solidFill>
                  <a:srgbClr val="FF0000"/>
                </a:solidFill>
                <a:prstDash val="sys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59" name="직사각형 58">
              <a:extLst>
                <a:ext uri="{FF2B5EF4-FFF2-40B4-BE49-F238E27FC236}">
                  <a16:creationId xmlns:a16="http://schemas.microsoft.com/office/drawing/2014/main" id="{EFB60EE5-62C9-50B0-DA3B-9A6CC5CED60B}"/>
                </a:ext>
              </a:extLst>
            </p:cNvPr>
            <p:cNvSpPr/>
            <p:nvPr/>
          </p:nvSpPr>
          <p:spPr>
            <a:xfrm>
              <a:off x="6314440" y="4916177"/>
              <a:ext cx="333009" cy="128012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02" name="TextBox 1">
            <a:extLst>
              <a:ext uri="{FF2B5EF4-FFF2-40B4-BE49-F238E27FC236}">
                <a16:creationId xmlns:a16="http://schemas.microsoft.com/office/drawing/2014/main" id="{121BA86E-AF1B-8F17-ABB1-833ABBCD18A2}"/>
              </a:ext>
            </a:extLst>
          </p:cNvPr>
          <p:cNvSpPr txBox="1"/>
          <p:nvPr/>
        </p:nvSpPr>
        <p:spPr>
          <a:xfrm>
            <a:off x="5344648" y="4000911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0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03" name="TextBox 2">
            <a:extLst>
              <a:ext uri="{FF2B5EF4-FFF2-40B4-BE49-F238E27FC236}">
                <a16:creationId xmlns:a16="http://schemas.microsoft.com/office/drawing/2014/main" id="{ABE0F571-D659-4C7F-B353-8B2EE53E8469}"/>
              </a:ext>
            </a:extLst>
          </p:cNvPr>
          <p:cNvSpPr txBox="1"/>
          <p:nvPr/>
        </p:nvSpPr>
        <p:spPr>
          <a:xfrm>
            <a:off x="5581785" y="4000911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0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04" name="TextBox 3">
            <a:extLst>
              <a:ext uri="{FF2B5EF4-FFF2-40B4-BE49-F238E27FC236}">
                <a16:creationId xmlns:a16="http://schemas.microsoft.com/office/drawing/2014/main" id="{1196AE00-AF79-A80E-DD99-2F3790CABA21}"/>
              </a:ext>
            </a:extLst>
          </p:cNvPr>
          <p:cNvSpPr txBox="1"/>
          <p:nvPr/>
        </p:nvSpPr>
        <p:spPr>
          <a:xfrm>
            <a:off x="5841880" y="4000911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05" name="TextBox 4">
            <a:extLst>
              <a:ext uri="{FF2B5EF4-FFF2-40B4-BE49-F238E27FC236}">
                <a16:creationId xmlns:a16="http://schemas.microsoft.com/office/drawing/2014/main" id="{4D290EBF-1484-A9D5-8655-B0D573060046}"/>
              </a:ext>
            </a:extLst>
          </p:cNvPr>
          <p:cNvSpPr txBox="1"/>
          <p:nvPr/>
        </p:nvSpPr>
        <p:spPr>
          <a:xfrm>
            <a:off x="6077453" y="4003292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0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08" name="TextBox 7">
            <a:extLst>
              <a:ext uri="{FF2B5EF4-FFF2-40B4-BE49-F238E27FC236}">
                <a16:creationId xmlns:a16="http://schemas.microsoft.com/office/drawing/2014/main" id="{3DB35C3F-B459-7840-AE38-B04187853727}"/>
              </a:ext>
            </a:extLst>
          </p:cNvPr>
          <p:cNvSpPr txBox="1"/>
          <p:nvPr/>
        </p:nvSpPr>
        <p:spPr>
          <a:xfrm>
            <a:off x="6321978" y="4003292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86" name="TextBox 85">
            <a:extLst>
              <a:ext uri="{FF2B5EF4-FFF2-40B4-BE49-F238E27FC236}">
                <a16:creationId xmlns:a16="http://schemas.microsoft.com/office/drawing/2014/main" id="{5CE826B1-6143-4766-AE33-94045FB409F7}"/>
              </a:ext>
            </a:extLst>
          </p:cNvPr>
          <p:cNvSpPr txBox="1"/>
          <p:nvPr/>
        </p:nvSpPr>
        <p:spPr>
          <a:xfrm>
            <a:off x="6559446" y="4006520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87" name="TextBox 86">
            <a:extLst>
              <a:ext uri="{FF2B5EF4-FFF2-40B4-BE49-F238E27FC236}">
                <a16:creationId xmlns:a16="http://schemas.microsoft.com/office/drawing/2014/main" id="{663D0AEA-789D-AD79-6924-A1B3D163FC34}"/>
              </a:ext>
            </a:extLst>
          </p:cNvPr>
          <p:cNvSpPr txBox="1"/>
          <p:nvPr/>
        </p:nvSpPr>
        <p:spPr>
          <a:xfrm>
            <a:off x="6793556" y="4006520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88" name="TextBox 87">
            <a:extLst>
              <a:ext uri="{FF2B5EF4-FFF2-40B4-BE49-F238E27FC236}">
                <a16:creationId xmlns:a16="http://schemas.microsoft.com/office/drawing/2014/main" id="{EF1807DF-20F8-F088-6863-D3F473CE9CD9}"/>
              </a:ext>
            </a:extLst>
          </p:cNvPr>
          <p:cNvSpPr txBox="1"/>
          <p:nvPr/>
        </p:nvSpPr>
        <p:spPr>
          <a:xfrm>
            <a:off x="7036233" y="4006520"/>
            <a:ext cx="14321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>
                <a:highlight>
                  <a:srgbClr val="FFFF00"/>
                </a:highlight>
              </a:rPr>
              <a:t>1</a:t>
            </a:r>
            <a:endParaRPr lang="ko-KR" altLang="en-US" sz="700">
              <a:highlight>
                <a:srgbClr val="FFFF00"/>
              </a:highlight>
            </a:endParaRPr>
          </a:p>
        </p:txBody>
      </p:sp>
      <p:sp>
        <p:nvSpPr>
          <p:cNvPr id="5089" name="TextBox 88">
            <a:extLst>
              <a:ext uri="{FF2B5EF4-FFF2-40B4-BE49-F238E27FC236}">
                <a16:creationId xmlns:a16="http://schemas.microsoft.com/office/drawing/2014/main" id="{FC4F8303-4B0D-AE36-140F-4E8443E9D969}"/>
              </a:ext>
            </a:extLst>
          </p:cNvPr>
          <p:cNvSpPr txBox="1"/>
          <p:nvPr/>
        </p:nvSpPr>
        <p:spPr>
          <a:xfrm>
            <a:off x="6653563" y="3583855"/>
            <a:ext cx="65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F</a:t>
            </a:r>
            <a:endParaRPr lang="ko-KR" altLang="en-US">
              <a:solidFill>
                <a:srgbClr val="FF0000"/>
              </a:solidFill>
            </a:endParaRPr>
          </a:p>
        </p:txBody>
      </p:sp>
      <p:sp>
        <p:nvSpPr>
          <p:cNvPr id="5091" name="TextBox 90">
            <a:extLst>
              <a:ext uri="{FF2B5EF4-FFF2-40B4-BE49-F238E27FC236}">
                <a16:creationId xmlns:a16="http://schemas.microsoft.com/office/drawing/2014/main" id="{0DDE45FD-A500-5EA4-9E55-FB0D4BA6DFEB}"/>
              </a:ext>
            </a:extLst>
          </p:cNvPr>
          <p:cNvSpPr txBox="1"/>
          <p:nvPr/>
        </p:nvSpPr>
        <p:spPr>
          <a:xfrm>
            <a:off x="5648429" y="3577483"/>
            <a:ext cx="656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solidFill>
                  <a:srgbClr val="FF0000"/>
                </a:solidFill>
              </a:rPr>
              <a:t>4</a:t>
            </a:r>
            <a:endParaRPr lang="ko-KR" altLang="en-US">
              <a:solidFill>
                <a:srgbClr val="FF0000"/>
              </a:solidFill>
            </a:endParaRPr>
          </a:p>
        </p:txBody>
      </p:sp>
      <p:pic>
        <p:nvPicPr>
          <p:cNvPr id="5014" name="그림 13">
            <a:extLst>
              <a:ext uri="{FF2B5EF4-FFF2-40B4-BE49-F238E27FC236}">
                <a16:creationId xmlns:a16="http://schemas.microsoft.com/office/drawing/2014/main" id="{465475B9-9C2C-0E29-9286-9F3BC553D392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46198" y="5323828"/>
            <a:ext cx="3724795" cy="38105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트러블 슈팅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트러블 슈팅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 슈팅 1: rx Glitch가 가짜 Byte로 수신 · Echo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① 현상 — START glitch 23 case 중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17 FAIL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glitch 하나에 가짜 0xFF 수신 · echo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② 원인 — START에서 rx를 다시 보지 않고 8 tick 뒤 DATA 진입 → glitch를 start bit로 처리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295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95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439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39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583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83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727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727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적용 결과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81000" y="15811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238250" y="1581150"/>
            <a:ext cx="438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test FAIL · Rx / Tx에 가짜 frame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829300" y="158115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원인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686550" y="1581150"/>
            <a:ext cx="4762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IDLE → START 직후 rx 재확인 없음</a:t>
            </a:r>
            <a:endParaRPr lang="en-US" sz="1300" dirty="0"/>
          </a:p>
        </p:txBody>
      </p:sp>
      <p:grpSp>
        <p:nvGrpSpPr>
          <p:cNvPr id="5016" name="그룹 15">
            <a:extLst>
              <a:ext uri="{FF2B5EF4-FFF2-40B4-BE49-F238E27FC236}">
                <a16:creationId xmlns:a16="http://schemas.microsoft.com/office/drawing/2014/main" id="{252412DD-6D93-D583-F5EA-A6BDA9B4EC42}"/>
              </a:ext>
            </a:extLst>
          </p:cNvPr>
          <p:cNvGrpSpPr/>
          <p:nvPr/>
        </p:nvGrpSpPr>
        <p:grpSpPr>
          <a:xfrm>
            <a:off x="431264" y="4709216"/>
            <a:ext cx="5109258" cy="1477328"/>
            <a:chOff x="276557" y="3747815"/>
            <a:chExt cx="5109258" cy="1477328"/>
          </a:xfrm>
        </p:grpSpPr>
        <p:pic>
          <p:nvPicPr>
            <p:cNvPr id="5014" name="그림 13">
              <a:extLst>
                <a:ext uri="{FF2B5EF4-FFF2-40B4-BE49-F238E27FC236}">
                  <a16:creationId xmlns:a16="http://schemas.microsoft.com/office/drawing/2014/main" id="{4A29F0CE-6B7C-38E5-4701-C9A978F11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rcRect t="50896"/>
            <a:stretch>
              <a:fillRect/>
            </a:stretch>
          </p:blipFill>
          <p:spPr>
            <a:xfrm>
              <a:off x="276557" y="3747815"/>
              <a:ext cx="5109258" cy="1477328"/>
            </a:xfrm>
            <a:prstGeom prst="rect">
              <a:avLst/>
            </a:prstGeom>
          </p:spPr>
        </p:pic>
        <p:sp>
          <p:nvSpPr>
            <p:cNvPr id="5015" name="직사각형 14">
              <a:extLst>
                <a:ext uri="{FF2B5EF4-FFF2-40B4-BE49-F238E27FC236}">
                  <a16:creationId xmlns:a16="http://schemas.microsoft.com/office/drawing/2014/main" id="{57241540-6045-6263-297B-7014E8DE445F}"/>
                </a:ext>
              </a:extLst>
            </p:cNvPr>
            <p:cNvSpPr/>
            <p:nvPr/>
          </p:nvSpPr>
          <p:spPr>
            <a:xfrm>
              <a:off x="276557" y="5064369"/>
              <a:ext cx="1672823" cy="16077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024" name="그림 23">
            <a:extLst>
              <a:ext uri="{FF2B5EF4-FFF2-40B4-BE49-F238E27FC236}">
                <a16:creationId xmlns:a16="http://schemas.microsoft.com/office/drawing/2014/main" id="{5A077FB1-1FF4-565D-32D8-70A4F2ABE42D}"/>
              </a:ext>
            </a:extLst>
          </p:cNvPr>
          <p:cNvPicPr>
            <a:picLocks noChangeAspect="1"/>
          </p:cNvPicPr>
          <p:nvPr/>
        </p:nvPicPr>
        <p:blipFill>
          <a:blip r:embed="rId101"/>
          <a:stretch>
            <a:fillRect/>
          </a:stretch>
        </p:blipFill>
        <p:spPr>
          <a:xfrm>
            <a:off x="357274" y="2163087"/>
            <a:ext cx="5183248" cy="2387627"/>
          </a:xfrm>
          <a:prstGeom prst="rect">
            <a:avLst/>
          </a:prstGeom>
        </p:spPr>
      </p:pic>
      <p:grpSp>
        <p:nvGrpSpPr>
          <p:cNvPr id="5054" name="그룹 53">
            <a:extLst>
              <a:ext uri="{FF2B5EF4-FFF2-40B4-BE49-F238E27FC236}">
                <a16:creationId xmlns:a16="http://schemas.microsoft.com/office/drawing/2014/main" id="{B1A9EEEE-BB6A-1942-82DA-284F2A7B7AB7}"/>
              </a:ext>
            </a:extLst>
          </p:cNvPr>
          <p:cNvGrpSpPr/>
          <p:nvPr/>
        </p:nvGrpSpPr>
        <p:grpSpPr>
          <a:xfrm>
            <a:off x="2193653" y="2720167"/>
            <a:ext cx="3256409" cy="97952"/>
            <a:chOff x="2193653" y="2453467"/>
            <a:chExt cx="3256409" cy="97952"/>
          </a:xfrm>
          <a:noFill/>
        </p:grpSpPr>
        <p:grpSp>
          <p:nvGrpSpPr>
            <p:cNvPr id="5025" name="그룹 24">
              <a:extLst>
                <a:ext uri="{FF2B5EF4-FFF2-40B4-BE49-F238E27FC236}">
                  <a16:creationId xmlns:a16="http://schemas.microsoft.com/office/drawing/2014/main" id="{B8B73E72-A99E-B8CE-54F7-5B7DAD3CA24A}"/>
                </a:ext>
              </a:extLst>
            </p:cNvPr>
            <p:cNvGrpSpPr/>
            <p:nvPr/>
          </p:nvGrpSpPr>
          <p:grpSpPr>
            <a:xfrm>
              <a:off x="2193653" y="2453467"/>
              <a:ext cx="1097236" cy="93189"/>
              <a:chOff x="8026400" y="2709510"/>
              <a:chExt cx="1140098" cy="98847"/>
            </a:xfrm>
            <a:grpFill/>
          </p:grpSpPr>
          <p:sp>
            <p:nvSpPr>
              <p:cNvPr id="5026" name="타원 25">
                <a:extLst>
                  <a:ext uri="{FF2B5EF4-FFF2-40B4-BE49-F238E27FC236}">
                    <a16:creationId xmlns:a16="http://schemas.microsoft.com/office/drawing/2014/main" id="{79C591BE-2884-EA7F-4E8D-09B972EBF948}"/>
                  </a:ext>
                </a:extLst>
              </p:cNvPr>
              <p:cNvSpPr/>
              <p:nvPr/>
            </p:nvSpPr>
            <p:spPr>
              <a:xfrm>
                <a:off x="8026400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27" name="타원 26">
                <a:extLst>
                  <a:ext uri="{FF2B5EF4-FFF2-40B4-BE49-F238E27FC236}">
                    <a16:creationId xmlns:a16="http://schemas.microsoft.com/office/drawing/2014/main" id="{B601A58F-5638-FC4A-0827-096FF370345B}"/>
                  </a:ext>
                </a:extLst>
              </p:cNvPr>
              <p:cNvSpPr/>
              <p:nvPr/>
            </p:nvSpPr>
            <p:spPr>
              <a:xfrm>
                <a:off x="8229600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28" name="타원 27">
                <a:extLst>
                  <a:ext uri="{FF2B5EF4-FFF2-40B4-BE49-F238E27FC236}">
                    <a16:creationId xmlns:a16="http://schemas.microsoft.com/office/drawing/2014/main" id="{9C8CC512-F23F-CF68-EC3A-2864CCB5DD00}"/>
                  </a:ext>
                </a:extLst>
              </p:cNvPr>
              <p:cNvSpPr/>
              <p:nvPr/>
            </p:nvSpPr>
            <p:spPr>
              <a:xfrm>
                <a:off x="84552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29" name="타원 28">
                <a:extLst>
                  <a:ext uri="{FF2B5EF4-FFF2-40B4-BE49-F238E27FC236}">
                    <a16:creationId xmlns:a16="http://schemas.microsoft.com/office/drawing/2014/main" id="{B9C0C101-D05F-6BDD-3BFC-64B6F6DADF8C}"/>
                  </a:ext>
                </a:extLst>
              </p:cNvPr>
              <p:cNvSpPr/>
              <p:nvPr/>
            </p:nvSpPr>
            <p:spPr>
              <a:xfrm>
                <a:off x="86584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0" name="타원 29">
                <a:extLst>
                  <a:ext uri="{FF2B5EF4-FFF2-40B4-BE49-F238E27FC236}">
                    <a16:creationId xmlns:a16="http://schemas.microsoft.com/office/drawing/2014/main" id="{D978320B-FF3F-2E12-CDF2-DAAEA598EB78}"/>
                  </a:ext>
                </a:extLst>
              </p:cNvPr>
              <p:cNvSpPr/>
              <p:nvPr/>
            </p:nvSpPr>
            <p:spPr>
              <a:xfrm>
                <a:off x="88616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1" name="타원 30">
                <a:extLst>
                  <a:ext uri="{FF2B5EF4-FFF2-40B4-BE49-F238E27FC236}">
                    <a16:creationId xmlns:a16="http://schemas.microsoft.com/office/drawing/2014/main" id="{81D99BD5-AB23-D912-8053-9B872EC6E6CC}"/>
                  </a:ext>
                </a:extLst>
              </p:cNvPr>
              <p:cNvSpPr/>
              <p:nvPr/>
            </p:nvSpPr>
            <p:spPr>
              <a:xfrm>
                <a:off x="90648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032" name="그룹 31">
              <a:extLst>
                <a:ext uri="{FF2B5EF4-FFF2-40B4-BE49-F238E27FC236}">
                  <a16:creationId xmlns:a16="http://schemas.microsoft.com/office/drawing/2014/main" id="{EF77787A-0E0B-730F-9680-AFBB0DF99B66}"/>
                </a:ext>
              </a:extLst>
            </p:cNvPr>
            <p:cNvGrpSpPr/>
            <p:nvPr/>
          </p:nvGrpSpPr>
          <p:grpSpPr>
            <a:xfrm>
              <a:off x="3374838" y="2458230"/>
              <a:ext cx="1097236" cy="93189"/>
              <a:chOff x="8026400" y="2709510"/>
              <a:chExt cx="1140098" cy="98847"/>
            </a:xfrm>
            <a:grpFill/>
          </p:grpSpPr>
          <p:sp>
            <p:nvSpPr>
              <p:cNvPr id="5033" name="타원 32">
                <a:extLst>
                  <a:ext uri="{FF2B5EF4-FFF2-40B4-BE49-F238E27FC236}">
                    <a16:creationId xmlns:a16="http://schemas.microsoft.com/office/drawing/2014/main" id="{E3124117-6305-C7F9-3014-55E70DB6B78E}"/>
                  </a:ext>
                </a:extLst>
              </p:cNvPr>
              <p:cNvSpPr/>
              <p:nvPr/>
            </p:nvSpPr>
            <p:spPr>
              <a:xfrm>
                <a:off x="8026400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4" name="타원 33">
                <a:extLst>
                  <a:ext uri="{FF2B5EF4-FFF2-40B4-BE49-F238E27FC236}">
                    <a16:creationId xmlns:a16="http://schemas.microsoft.com/office/drawing/2014/main" id="{461C6E06-A7C7-BA62-9C32-3E4CE2E401AA}"/>
                  </a:ext>
                </a:extLst>
              </p:cNvPr>
              <p:cNvSpPr/>
              <p:nvPr/>
            </p:nvSpPr>
            <p:spPr>
              <a:xfrm>
                <a:off x="8229600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5" name="타원 34">
                <a:extLst>
                  <a:ext uri="{FF2B5EF4-FFF2-40B4-BE49-F238E27FC236}">
                    <a16:creationId xmlns:a16="http://schemas.microsoft.com/office/drawing/2014/main" id="{4E0F4501-7585-588C-DF63-EC3F6A04B37B}"/>
                  </a:ext>
                </a:extLst>
              </p:cNvPr>
              <p:cNvSpPr/>
              <p:nvPr/>
            </p:nvSpPr>
            <p:spPr>
              <a:xfrm>
                <a:off x="84552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6" name="타원 35">
                <a:extLst>
                  <a:ext uri="{FF2B5EF4-FFF2-40B4-BE49-F238E27FC236}">
                    <a16:creationId xmlns:a16="http://schemas.microsoft.com/office/drawing/2014/main" id="{E28B1EF3-06A9-DC7D-87AE-2571AD131711}"/>
                  </a:ext>
                </a:extLst>
              </p:cNvPr>
              <p:cNvSpPr/>
              <p:nvPr/>
            </p:nvSpPr>
            <p:spPr>
              <a:xfrm>
                <a:off x="86584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7" name="타원 36">
                <a:extLst>
                  <a:ext uri="{FF2B5EF4-FFF2-40B4-BE49-F238E27FC236}">
                    <a16:creationId xmlns:a16="http://schemas.microsoft.com/office/drawing/2014/main" id="{FF05BD83-2978-D38E-27FD-95E717D41AFA}"/>
                  </a:ext>
                </a:extLst>
              </p:cNvPr>
              <p:cNvSpPr/>
              <p:nvPr/>
            </p:nvSpPr>
            <p:spPr>
              <a:xfrm>
                <a:off x="88616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38" name="타원 37">
                <a:extLst>
                  <a:ext uri="{FF2B5EF4-FFF2-40B4-BE49-F238E27FC236}">
                    <a16:creationId xmlns:a16="http://schemas.microsoft.com/office/drawing/2014/main" id="{D36DC9DA-CD3B-88CC-4FC2-5539500D43F1}"/>
                  </a:ext>
                </a:extLst>
              </p:cNvPr>
              <p:cNvSpPr/>
              <p:nvPr/>
            </p:nvSpPr>
            <p:spPr>
              <a:xfrm>
                <a:off x="90648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5039" name="그룹 38">
              <a:extLst>
                <a:ext uri="{FF2B5EF4-FFF2-40B4-BE49-F238E27FC236}">
                  <a16:creationId xmlns:a16="http://schemas.microsoft.com/office/drawing/2014/main" id="{C1E400A5-CA8E-E7E8-7B4A-54792C61FE20}"/>
                </a:ext>
              </a:extLst>
            </p:cNvPr>
            <p:cNvGrpSpPr/>
            <p:nvPr/>
          </p:nvGrpSpPr>
          <p:grpSpPr>
            <a:xfrm>
              <a:off x="4548387" y="2458230"/>
              <a:ext cx="901675" cy="93189"/>
              <a:chOff x="8026400" y="2709510"/>
              <a:chExt cx="936898" cy="98847"/>
            </a:xfrm>
            <a:grpFill/>
          </p:grpSpPr>
          <p:sp>
            <p:nvSpPr>
              <p:cNvPr id="5040" name="타원 39">
                <a:extLst>
                  <a:ext uri="{FF2B5EF4-FFF2-40B4-BE49-F238E27FC236}">
                    <a16:creationId xmlns:a16="http://schemas.microsoft.com/office/drawing/2014/main" id="{4BDAD3E3-D667-C0F1-E425-D8AD75070872}"/>
                  </a:ext>
                </a:extLst>
              </p:cNvPr>
              <p:cNvSpPr/>
              <p:nvPr/>
            </p:nvSpPr>
            <p:spPr>
              <a:xfrm>
                <a:off x="8026400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41" name="타원 40">
                <a:extLst>
                  <a:ext uri="{FF2B5EF4-FFF2-40B4-BE49-F238E27FC236}">
                    <a16:creationId xmlns:a16="http://schemas.microsoft.com/office/drawing/2014/main" id="{16630A3A-FB88-128A-F0F3-8DEE13A3117A}"/>
                  </a:ext>
                </a:extLst>
              </p:cNvPr>
              <p:cNvSpPr/>
              <p:nvPr/>
            </p:nvSpPr>
            <p:spPr>
              <a:xfrm>
                <a:off x="8229600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42" name="타원 41">
                <a:extLst>
                  <a:ext uri="{FF2B5EF4-FFF2-40B4-BE49-F238E27FC236}">
                    <a16:creationId xmlns:a16="http://schemas.microsoft.com/office/drawing/2014/main" id="{73BACDAA-07BE-2012-9D04-508B73B27F89}"/>
                  </a:ext>
                </a:extLst>
              </p:cNvPr>
              <p:cNvSpPr/>
              <p:nvPr/>
            </p:nvSpPr>
            <p:spPr>
              <a:xfrm>
                <a:off x="84552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43" name="타원 42">
                <a:extLst>
                  <a:ext uri="{FF2B5EF4-FFF2-40B4-BE49-F238E27FC236}">
                    <a16:creationId xmlns:a16="http://schemas.microsoft.com/office/drawing/2014/main" id="{79565130-34BD-FEAA-BB1D-5AE714EE1171}"/>
                  </a:ext>
                </a:extLst>
              </p:cNvPr>
              <p:cNvSpPr/>
              <p:nvPr/>
            </p:nvSpPr>
            <p:spPr>
              <a:xfrm>
                <a:off x="8658498" y="2711167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44" name="타원 43">
                <a:extLst>
                  <a:ext uri="{FF2B5EF4-FFF2-40B4-BE49-F238E27FC236}">
                    <a16:creationId xmlns:a16="http://schemas.microsoft.com/office/drawing/2014/main" id="{7452AB27-56D2-8B66-43A0-E18417C081A9}"/>
                  </a:ext>
                </a:extLst>
              </p:cNvPr>
              <p:cNvSpPr/>
              <p:nvPr/>
            </p:nvSpPr>
            <p:spPr>
              <a:xfrm>
                <a:off x="8861698" y="2709510"/>
                <a:ext cx="101600" cy="97190"/>
              </a:xfrm>
              <a:prstGeom prst="ellipse">
                <a:avLst/>
              </a:prstGeom>
              <a:grpFill/>
              <a:ln w="9525">
                <a:solidFill>
                  <a:srgbClr val="FF0000"/>
                </a:solidFill>
                <a:prstDash val="solid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047" name="직사각형 46">
            <a:extLst>
              <a:ext uri="{FF2B5EF4-FFF2-40B4-BE49-F238E27FC236}">
                <a16:creationId xmlns:a16="http://schemas.microsoft.com/office/drawing/2014/main" id="{04258FEF-5BF4-9C45-2E82-92D8DC53E151}"/>
              </a:ext>
            </a:extLst>
          </p:cNvPr>
          <p:cNvSpPr/>
          <p:nvPr/>
        </p:nvSpPr>
        <p:spPr>
          <a:xfrm>
            <a:off x="407378" y="2315022"/>
            <a:ext cx="1005169" cy="10996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49" name="TextBox 48">
            <a:extLst>
              <a:ext uri="{FF2B5EF4-FFF2-40B4-BE49-F238E27FC236}">
                <a16:creationId xmlns:a16="http://schemas.microsoft.com/office/drawing/2014/main" id="{E3803797-169A-B826-B673-861EFEE367C5}"/>
              </a:ext>
            </a:extLst>
          </p:cNvPr>
          <p:cNvSpPr txBox="1"/>
          <p:nvPr/>
        </p:nvSpPr>
        <p:spPr>
          <a:xfrm>
            <a:off x="1037640" y="2232779"/>
            <a:ext cx="722261" cy="399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Rx</a:t>
            </a:r>
            <a:endParaRPr lang="ko-KR" altLang="en-US" dirty="0">
              <a:solidFill>
                <a:srgbClr val="FFC000"/>
              </a:solidFill>
            </a:endParaRPr>
          </a:p>
        </p:txBody>
      </p:sp>
      <p:sp>
        <p:nvSpPr>
          <p:cNvPr id="5051" name="직사각형 50">
            <a:extLst>
              <a:ext uri="{FF2B5EF4-FFF2-40B4-BE49-F238E27FC236}">
                <a16:creationId xmlns:a16="http://schemas.microsoft.com/office/drawing/2014/main" id="{E9939D5C-A581-0CA6-BB36-285AA84E8FA6}"/>
              </a:ext>
            </a:extLst>
          </p:cNvPr>
          <p:cNvSpPr/>
          <p:nvPr/>
        </p:nvSpPr>
        <p:spPr>
          <a:xfrm>
            <a:off x="407378" y="3410456"/>
            <a:ext cx="1005169" cy="11325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53" name="TextBox 52">
            <a:extLst>
              <a:ext uri="{FF2B5EF4-FFF2-40B4-BE49-F238E27FC236}">
                <a16:creationId xmlns:a16="http://schemas.microsoft.com/office/drawing/2014/main" id="{96F88D7A-756B-23CE-D938-2BD8D06B3C7F}"/>
              </a:ext>
            </a:extLst>
          </p:cNvPr>
          <p:cNvSpPr txBox="1"/>
          <p:nvPr/>
        </p:nvSpPr>
        <p:spPr>
          <a:xfrm>
            <a:off x="1081447" y="3333461"/>
            <a:ext cx="722261" cy="50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Tx</a:t>
            </a:r>
            <a:endParaRPr lang="ko-KR" altLang="en-US" dirty="0">
              <a:solidFill>
                <a:srgbClr val="FFFF00"/>
              </a:solidFill>
            </a:endParaRPr>
          </a:p>
        </p:txBody>
      </p:sp>
      <p:pic>
        <p:nvPicPr>
          <p:cNvPr id="5058" name="그림 57">
            <a:extLst>
              <a:ext uri="{FF2B5EF4-FFF2-40B4-BE49-F238E27FC236}">
                <a16:creationId xmlns:a16="http://schemas.microsoft.com/office/drawing/2014/main" id="{4DBFA163-3130-9D4D-6C13-EE0D2C4A070E}"/>
              </a:ext>
            </a:extLst>
          </p:cNvPr>
          <p:cNvPicPr>
            <a:picLocks noChangeAspect="1"/>
          </p:cNvPicPr>
          <p:nvPr/>
        </p:nvPicPr>
        <p:blipFill>
          <a:blip r:embed="rId102"/>
          <a:stretch>
            <a:fillRect/>
          </a:stretch>
        </p:blipFill>
        <p:spPr>
          <a:xfrm>
            <a:off x="5833863" y="2498871"/>
            <a:ext cx="5384557" cy="1989049"/>
          </a:xfrm>
          <a:prstGeom prst="rect">
            <a:avLst/>
          </a:prstGeom>
        </p:spPr>
      </p:pic>
      <p:cxnSp>
        <p:nvCxnSpPr>
          <p:cNvPr id="5065" name="직선 연결선 64">
            <a:extLst>
              <a:ext uri="{FF2B5EF4-FFF2-40B4-BE49-F238E27FC236}">
                <a16:creationId xmlns:a16="http://schemas.microsoft.com/office/drawing/2014/main" id="{640DDAA7-4333-99DB-7145-8779B6CEB301}"/>
              </a:ext>
            </a:extLst>
          </p:cNvPr>
          <p:cNvCxnSpPr>
            <a:stCxn id="5044" idx="1"/>
          </p:cNvCxnSpPr>
          <p:nvPr/>
        </p:nvCxnSpPr>
        <p:spPr>
          <a:xfrm flipV="1">
            <a:off x="5366602" y="2498871"/>
            <a:ext cx="467261" cy="23947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6" name="직선 연결선 65">
            <a:extLst>
              <a:ext uri="{FF2B5EF4-FFF2-40B4-BE49-F238E27FC236}">
                <a16:creationId xmlns:a16="http://schemas.microsoft.com/office/drawing/2014/main" id="{2DF083DD-040E-732A-667D-189DBACA66AA}"/>
              </a:ext>
            </a:extLst>
          </p:cNvPr>
          <p:cNvCxnSpPr>
            <a:cxnSpLocks/>
          </p:cNvCxnSpPr>
          <p:nvPr/>
        </p:nvCxnSpPr>
        <p:spPr>
          <a:xfrm>
            <a:off x="5387013" y="2835817"/>
            <a:ext cx="461170" cy="1634263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68" name="직사각형 67">
            <a:extLst>
              <a:ext uri="{FF2B5EF4-FFF2-40B4-BE49-F238E27FC236}">
                <a16:creationId xmlns:a16="http://schemas.microsoft.com/office/drawing/2014/main" id="{AC83569F-4E71-98D6-3954-4F5E2773F7A0}"/>
              </a:ext>
            </a:extLst>
          </p:cNvPr>
          <p:cNvSpPr/>
          <p:nvPr/>
        </p:nvSpPr>
        <p:spPr>
          <a:xfrm>
            <a:off x="10572750" y="3835710"/>
            <a:ext cx="285750" cy="13621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·  트러블 슈팅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트러블 슈팅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트러블 슈팅 1: START에서 rx 재확인 → Glitch 23 Case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B91C1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③ 해결 — START 동안 rx = 0일 때만 b_tick_cnt 증가,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= 1일 경우 IDLE 복귀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④ 적용 결과 — glitch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case 모두 PASS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glitch 입력에도 tx 변화 없음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295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295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현상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3439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3439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원인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2583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583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72700" y="190500"/>
            <a:ext cx="838200" cy="2095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172700" y="190500"/>
            <a:ext cx="8382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적용 결과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6250" y="163830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해결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333500" y="1638300"/>
            <a:ext cx="4000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블록 수정 (전 → 후)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048375" y="1638300"/>
            <a:ext cx="1905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B91C1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적용 결과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286625" y="1638300"/>
            <a:ext cx="43815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Result pass 23 · fail 0</a:t>
            </a:r>
            <a:endParaRPr lang="en-US" sz="1300" dirty="0"/>
          </a:p>
        </p:txBody>
      </p:sp>
      <p:grpSp>
        <p:nvGrpSpPr>
          <p:cNvPr id="5023" name="그룹 22">
            <a:extLst>
              <a:ext uri="{FF2B5EF4-FFF2-40B4-BE49-F238E27FC236}">
                <a16:creationId xmlns:a16="http://schemas.microsoft.com/office/drawing/2014/main" id="{2E3F436A-38DE-2346-E872-B0DCB5FC9274}"/>
              </a:ext>
            </a:extLst>
          </p:cNvPr>
          <p:cNvGrpSpPr/>
          <p:nvPr/>
        </p:nvGrpSpPr>
        <p:grpSpPr>
          <a:xfrm>
            <a:off x="484043" y="2330322"/>
            <a:ext cx="5037652" cy="2660762"/>
            <a:chOff x="93518" y="2162896"/>
            <a:chExt cx="6002482" cy="3216824"/>
          </a:xfrm>
        </p:grpSpPr>
        <p:pic>
          <p:nvPicPr>
            <p:cNvPr id="5005" name="그림 4">
              <a:extLst>
                <a:ext uri="{FF2B5EF4-FFF2-40B4-BE49-F238E27FC236}">
                  <a16:creationId xmlns:a16="http://schemas.microsoft.com/office/drawing/2014/main" id="{398DBC25-5392-CDCB-5095-42AE5A749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00"/>
            <a:stretch>
              <a:fillRect/>
            </a:stretch>
          </p:blipFill>
          <p:spPr>
            <a:xfrm>
              <a:off x="3010467" y="2162896"/>
              <a:ext cx="3085533" cy="3216824"/>
            </a:xfrm>
            <a:prstGeom prst="rect">
              <a:avLst/>
            </a:prstGeom>
          </p:spPr>
        </p:pic>
        <p:pic>
          <p:nvPicPr>
            <p:cNvPr id="5009" name="그림 8">
              <a:extLst>
                <a:ext uri="{FF2B5EF4-FFF2-40B4-BE49-F238E27FC236}">
                  <a16:creationId xmlns:a16="http://schemas.microsoft.com/office/drawing/2014/main" id="{96068A66-73BD-08E0-54C8-EE69184129D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1"/>
            <a:stretch>
              <a:fillRect/>
            </a:stretch>
          </p:blipFill>
          <p:spPr>
            <a:xfrm>
              <a:off x="93518" y="2621329"/>
              <a:ext cx="2808346" cy="1615342"/>
            </a:xfrm>
            <a:prstGeom prst="rect">
              <a:avLst/>
            </a:prstGeom>
          </p:spPr>
        </p:pic>
        <p:cxnSp>
          <p:nvCxnSpPr>
            <p:cNvPr id="5013" name="직선 화살표 연결선 12">
              <a:extLst>
                <a:ext uri="{FF2B5EF4-FFF2-40B4-BE49-F238E27FC236}">
                  <a16:creationId xmlns:a16="http://schemas.microsoft.com/office/drawing/2014/main" id="{D78C620F-0CF1-16FC-6867-5FD6D85CABB3}"/>
                </a:ext>
              </a:extLst>
            </p:cNvPr>
            <p:cNvCxnSpPr/>
            <p:nvPr/>
          </p:nvCxnSpPr>
          <p:spPr>
            <a:xfrm>
              <a:off x="2763982" y="3429000"/>
              <a:ext cx="488373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14" name="직사각형 13">
              <a:extLst>
                <a:ext uri="{FF2B5EF4-FFF2-40B4-BE49-F238E27FC236}">
                  <a16:creationId xmlns:a16="http://schemas.microsoft.com/office/drawing/2014/main" id="{D2F9A5AD-512C-F79B-0FE3-D24AD0A462A6}"/>
                </a:ext>
              </a:extLst>
            </p:cNvPr>
            <p:cNvSpPr/>
            <p:nvPr/>
          </p:nvSpPr>
          <p:spPr>
            <a:xfrm>
              <a:off x="3574473" y="2313658"/>
              <a:ext cx="2265218" cy="1923009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16" name="직사각형 15">
              <a:extLst>
                <a:ext uri="{FF2B5EF4-FFF2-40B4-BE49-F238E27FC236}">
                  <a16:creationId xmlns:a16="http://schemas.microsoft.com/office/drawing/2014/main" id="{CAD65910-7F16-45ED-161D-79A55B02E75E}"/>
                </a:ext>
              </a:extLst>
            </p:cNvPr>
            <p:cNvSpPr/>
            <p:nvPr/>
          </p:nvSpPr>
          <p:spPr>
            <a:xfrm>
              <a:off x="3574473" y="4743450"/>
              <a:ext cx="2265218" cy="171450"/>
            </a:xfrm>
            <a:prstGeom prst="rect">
              <a:avLst/>
            </a:prstGeom>
            <a:noFill/>
            <a:ln w="95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17" name="TextBox 16">
            <a:extLst>
              <a:ext uri="{FF2B5EF4-FFF2-40B4-BE49-F238E27FC236}">
                <a16:creationId xmlns:a16="http://schemas.microsoft.com/office/drawing/2014/main" id="{A4A5481B-982A-8803-713F-AAE3F38D4D9B}"/>
              </a:ext>
            </a:extLst>
          </p:cNvPr>
          <p:cNvSpPr txBox="1"/>
          <p:nvPr/>
        </p:nvSpPr>
        <p:spPr>
          <a:xfrm>
            <a:off x="2596504" y="4948599"/>
            <a:ext cx="32608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>
                <a:highlight>
                  <a:srgbClr val="FFFF00"/>
                </a:highlight>
              </a:rPr>
              <a:t>b_tick_count  &lt;7 </a:t>
            </a:r>
            <a:r>
              <a:rPr lang="ko-KR" altLang="en-US" sz="1200">
                <a:highlight>
                  <a:srgbClr val="FFFF00"/>
                </a:highlight>
              </a:rPr>
              <a:t>상황에서  </a:t>
            </a:r>
            <a:r>
              <a:rPr lang="en-US" altLang="ko-KR" sz="1200">
                <a:highlight>
                  <a:srgbClr val="FFFF00"/>
                </a:highlight>
              </a:rPr>
              <a:t>rx</a:t>
            </a:r>
            <a:r>
              <a:rPr lang="ko-KR" altLang="en-US" sz="1200">
                <a:highlight>
                  <a:srgbClr val="FFFF00"/>
                </a:highlight>
              </a:rPr>
              <a:t>가 </a:t>
            </a:r>
            <a:r>
              <a:rPr lang="en-US" altLang="ko-KR" sz="1200">
                <a:highlight>
                  <a:srgbClr val="FFFF00"/>
                </a:highlight>
              </a:rPr>
              <a:t>1</a:t>
            </a:r>
            <a:r>
              <a:rPr lang="ko-KR" altLang="en-US" sz="1200">
                <a:highlight>
                  <a:srgbClr val="FFFF00"/>
                </a:highlight>
              </a:rPr>
              <a:t>이면 프로토콜 오동작이므로 다시 </a:t>
            </a:r>
            <a:r>
              <a:rPr lang="en-US" altLang="ko-KR" sz="1200">
                <a:highlight>
                  <a:srgbClr val="FFFF00"/>
                </a:highlight>
              </a:rPr>
              <a:t>IDLE </a:t>
            </a:r>
            <a:r>
              <a:rPr lang="ko-KR" altLang="en-US" sz="1200">
                <a:highlight>
                  <a:srgbClr val="FFFF00"/>
                </a:highlight>
              </a:rPr>
              <a:t>상태로 전환  </a:t>
            </a:r>
          </a:p>
        </p:txBody>
      </p:sp>
      <p:grpSp>
        <p:nvGrpSpPr>
          <p:cNvPr id="5024" name="그룹 23">
            <a:extLst>
              <a:ext uri="{FF2B5EF4-FFF2-40B4-BE49-F238E27FC236}">
                <a16:creationId xmlns:a16="http://schemas.microsoft.com/office/drawing/2014/main" id="{26455057-688F-3F15-BB1C-5937FAD6A05C}"/>
              </a:ext>
            </a:extLst>
          </p:cNvPr>
          <p:cNvGrpSpPr/>
          <p:nvPr/>
        </p:nvGrpSpPr>
        <p:grpSpPr>
          <a:xfrm>
            <a:off x="6096000" y="4795892"/>
            <a:ext cx="5037652" cy="1358605"/>
            <a:chOff x="6564884" y="5100657"/>
            <a:chExt cx="5037652" cy="1358605"/>
          </a:xfrm>
        </p:grpSpPr>
        <p:pic>
          <p:nvPicPr>
            <p:cNvPr id="5019" name="그림 18">
              <a:extLst>
                <a:ext uri="{FF2B5EF4-FFF2-40B4-BE49-F238E27FC236}">
                  <a16:creationId xmlns:a16="http://schemas.microsoft.com/office/drawing/2014/main" id="{6052051F-4071-E982-DA90-013FF7757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2"/>
            <a:srcRect t="43204"/>
            <a:stretch>
              <a:fillRect/>
            </a:stretch>
          </p:blipFill>
          <p:spPr>
            <a:xfrm>
              <a:off x="6564884" y="5100657"/>
              <a:ext cx="5037652" cy="1358604"/>
            </a:xfrm>
            <a:prstGeom prst="rect">
              <a:avLst/>
            </a:prstGeom>
          </p:spPr>
        </p:pic>
        <p:sp>
          <p:nvSpPr>
            <p:cNvPr id="5020" name="직사각형 19">
              <a:extLst>
                <a:ext uri="{FF2B5EF4-FFF2-40B4-BE49-F238E27FC236}">
                  <a16:creationId xmlns:a16="http://schemas.microsoft.com/office/drawing/2014/main" id="{6D6A7FBF-4528-7677-564C-34FA2B569E88}"/>
                </a:ext>
              </a:extLst>
            </p:cNvPr>
            <p:cNvSpPr/>
            <p:nvPr/>
          </p:nvSpPr>
          <p:spPr>
            <a:xfrm>
              <a:off x="6564884" y="6340565"/>
              <a:ext cx="1593098" cy="1186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5022" name="그림 21">
            <a:extLst>
              <a:ext uri="{FF2B5EF4-FFF2-40B4-BE49-F238E27FC236}">
                <a16:creationId xmlns:a16="http://schemas.microsoft.com/office/drawing/2014/main" id="{7132D9B7-EA32-FB65-38EE-CC96755DF965}"/>
              </a:ext>
            </a:extLst>
          </p:cNvPr>
          <p:cNvPicPr>
            <a:picLocks noChangeAspect="1"/>
          </p:cNvPicPr>
          <p:nvPr/>
        </p:nvPicPr>
        <p:blipFill>
          <a:blip r:embed="rId103"/>
          <a:stretch>
            <a:fillRect/>
          </a:stretch>
        </p:blipFill>
        <p:spPr>
          <a:xfrm>
            <a:off x="6052193" y="2126398"/>
            <a:ext cx="5649648" cy="2452497"/>
          </a:xfrm>
          <a:prstGeom prst="rect">
            <a:avLst/>
          </a:prstGeom>
        </p:spPr>
      </p:pic>
      <p:sp>
        <p:nvSpPr>
          <p:cNvPr id="5026" name="직사각형 25">
            <a:extLst>
              <a:ext uri="{FF2B5EF4-FFF2-40B4-BE49-F238E27FC236}">
                <a16:creationId xmlns:a16="http://schemas.microsoft.com/office/drawing/2014/main" id="{8DF45CB1-9DDB-3E8B-44E6-0BFC61C4AB04}"/>
              </a:ext>
            </a:extLst>
          </p:cNvPr>
          <p:cNvSpPr/>
          <p:nvPr/>
        </p:nvSpPr>
        <p:spPr>
          <a:xfrm>
            <a:off x="6052193" y="3415670"/>
            <a:ext cx="1039450" cy="1132558"/>
          </a:xfrm>
          <a:prstGeom prst="rect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28" name="TextBox 27">
            <a:extLst>
              <a:ext uri="{FF2B5EF4-FFF2-40B4-BE49-F238E27FC236}">
                <a16:creationId xmlns:a16="http://schemas.microsoft.com/office/drawing/2014/main" id="{51F89996-4B03-4F5C-94F7-DEF0A8C5AC71}"/>
              </a:ext>
            </a:extLst>
          </p:cNvPr>
          <p:cNvSpPr txBox="1"/>
          <p:nvPr/>
        </p:nvSpPr>
        <p:spPr>
          <a:xfrm>
            <a:off x="6726262" y="3338675"/>
            <a:ext cx="722261" cy="50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FF00"/>
                </a:solidFill>
              </a:rPr>
              <a:t>Tx</a:t>
            </a:r>
            <a:endParaRPr lang="ko-KR" altLang="en-US" dirty="0">
              <a:solidFill>
                <a:srgbClr val="FFFF00"/>
              </a:solidFill>
            </a:endParaRPr>
          </a:p>
        </p:txBody>
      </p:sp>
      <p:sp>
        <p:nvSpPr>
          <p:cNvPr id="5030" name="직사각형 29">
            <a:extLst>
              <a:ext uri="{FF2B5EF4-FFF2-40B4-BE49-F238E27FC236}">
                <a16:creationId xmlns:a16="http://schemas.microsoft.com/office/drawing/2014/main" id="{08A0D651-1A20-261D-ECE4-C6EF94B33927}"/>
              </a:ext>
            </a:extLst>
          </p:cNvPr>
          <p:cNvSpPr/>
          <p:nvPr/>
        </p:nvSpPr>
        <p:spPr>
          <a:xfrm>
            <a:off x="6095999" y="2304922"/>
            <a:ext cx="1005169" cy="1099644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032" name="TextBox 31">
            <a:extLst>
              <a:ext uri="{FF2B5EF4-FFF2-40B4-BE49-F238E27FC236}">
                <a16:creationId xmlns:a16="http://schemas.microsoft.com/office/drawing/2014/main" id="{D25B2A27-AD6E-8B05-F021-1AC0F487130B}"/>
              </a:ext>
            </a:extLst>
          </p:cNvPr>
          <p:cNvSpPr txBox="1"/>
          <p:nvPr/>
        </p:nvSpPr>
        <p:spPr>
          <a:xfrm>
            <a:off x="6726261" y="2222679"/>
            <a:ext cx="722261" cy="3994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FFC000"/>
                </a:solidFill>
              </a:rPr>
              <a:t>Rx</a:t>
            </a:r>
            <a:endParaRPr lang="ko-KR" altLang="en-US" dirty="0">
              <a:solidFill>
                <a:srgbClr val="FFC000"/>
              </a:solidFill>
            </a:endParaRPr>
          </a:p>
        </p:txBody>
      </p:sp>
      <p:grpSp>
        <p:nvGrpSpPr>
          <p:cNvPr id="5040" name="그룹 39">
            <a:extLst>
              <a:ext uri="{FF2B5EF4-FFF2-40B4-BE49-F238E27FC236}">
                <a16:creationId xmlns:a16="http://schemas.microsoft.com/office/drawing/2014/main" id="{AFCB0988-196F-FEB3-5E9D-A78A3D9F828D}"/>
              </a:ext>
            </a:extLst>
          </p:cNvPr>
          <p:cNvGrpSpPr/>
          <p:nvPr/>
        </p:nvGrpSpPr>
        <p:grpSpPr>
          <a:xfrm>
            <a:off x="8026400" y="2715860"/>
            <a:ext cx="1140098" cy="98847"/>
            <a:chOff x="8026400" y="2709510"/>
            <a:chExt cx="1140098" cy="98847"/>
          </a:xfrm>
          <a:noFill/>
        </p:grpSpPr>
        <p:sp>
          <p:nvSpPr>
            <p:cNvPr id="5033" name="타원 32">
              <a:extLst>
                <a:ext uri="{FF2B5EF4-FFF2-40B4-BE49-F238E27FC236}">
                  <a16:creationId xmlns:a16="http://schemas.microsoft.com/office/drawing/2014/main" id="{397FC6E2-C036-491C-DDC7-1C77027296A0}"/>
                </a:ext>
              </a:extLst>
            </p:cNvPr>
            <p:cNvSpPr/>
            <p:nvPr/>
          </p:nvSpPr>
          <p:spPr>
            <a:xfrm>
              <a:off x="8026400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5" name="타원 34">
              <a:extLst>
                <a:ext uri="{FF2B5EF4-FFF2-40B4-BE49-F238E27FC236}">
                  <a16:creationId xmlns:a16="http://schemas.microsoft.com/office/drawing/2014/main" id="{E53673FB-4383-0FBF-BF60-4E02C5BA2338}"/>
                </a:ext>
              </a:extLst>
            </p:cNvPr>
            <p:cNvSpPr/>
            <p:nvPr/>
          </p:nvSpPr>
          <p:spPr>
            <a:xfrm>
              <a:off x="8229600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6" name="타원 35">
              <a:extLst>
                <a:ext uri="{FF2B5EF4-FFF2-40B4-BE49-F238E27FC236}">
                  <a16:creationId xmlns:a16="http://schemas.microsoft.com/office/drawing/2014/main" id="{BC7BDAE5-AB4D-7F56-8FB5-1723DB52A989}"/>
                </a:ext>
              </a:extLst>
            </p:cNvPr>
            <p:cNvSpPr/>
            <p:nvPr/>
          </p:nvSpPr>
          <p:spPr>
            <a:xfrm>
              <a:off x="84552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7" name="타원 36">
              <a:extLst>
                <a:ext uri="{FF2B5EF4-FFF2-40B4-BE49-F238E27FC236}">
                  <a16:creationId xmlns:a16="http://schemas.microsoft.com/office/drawing/2014/main" id="{8DE488FE-114F-35F5-98E7-D29D51C1FCF7}"/>
                </a:ext>
              </a:extLst>
            </p:cNvPr>
            <p:cNvSpPr/>
            <p:nvPr/>
          </p:nvSpPr>
          <p:spPr>
            <a:xfrm>
              <a:off x="86584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8" name="타원 37">
              <a:extLst>
                <a:ext uri="{FF2B5EF4-FFF2-40B4-BE49-F238E27FC236}">
                  <a16:creationId xmlns:a16="http://schemas.microsoft.com/office/drawing/2014/main" id="{3BD1A61A-4223-8434-C530-1A3D407B7491}"/>
                </a:ext>
              </a:extLst>
            </p:cNvPr>
            <p:cNvSpPr/>
            <p:nvPr/>
          </p:nvSpPr>
          <p:spPr>
            <a:xfrm>
              <a:off x="88616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39" name="타원 38">
              <a:extLst>
                <a:ext uri="{FF2B5EF4-FFF2-40B4-BE49-F238E27FC236}">
                  <a16:creationId xmlns:a16="http://schemas.microsoft.com/office/drawing/2014/main" id="{7629F5D6-14FA-FFC6-ABD1-2B3393E853CB}"/>
                </a:ext>
              </a:extLst>
            </p:cNvPr>
            <p:cNvSpPr/>
            <p:nvPr/>
          </p:nvSpPr>
          <p:spPr>
            <a:xfrm>
              <a:off x="90648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41" name="그룹 40">
            <a:extLst>
              <a:ext uri="{FF2B5EF4-FFF2-40B4-BE49-F238E27FC236}">
                <a16:creationId xmlns:a16="http://schemas.microsoft.com/office/drawing/2014/main" id="{17E41318-2603-5857-9E52-39A8CD3D62C8}"/>
              </a:ext>
            </a:extLst>
          </p:cNvPr>
          <p:cNvGrpSpPr/>
          <p:nvPr/>
        </p:nvGrpSpPr>
        <p:grpSpPr>
          <a:xfrm>
            <a:off x="9317024" y="2715860"/>
            <a:ext cx="1140098" cy="98847"/>
            <a:chOff x="8026400" y="2709510"/>
            <a:chExt cx="1140098" cy="98847"/>
          </a:xfrm>
          <a:noFill/>
        </p:grpSpPr>
        <p:sp>
          <p:nvSpPr>
            <p:cNvPr id="5042" name="타원 41">
              <a:extLst>
                <a:ext uri="{FF2B5EF4-FFF2-40B4-BE49-F238E27FC236}">
                  <a16:creationId xmlns:a16="http://schemas.microsoft.com/office/drawing/2014/main" id="{145FDC15-77E5-B452-E3AE-6598724D1E56}"/>
                </a:ext>
              </a:extLst>
            </p:cNvPr>
            <p:cNvSpPr/>
            <p:nvPr/>
          </p:nvSpPr>
          <p:spPr>
            <a:xfrm>
              <a:off x="8026400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3" name="타원 42">
              <a:extLst>
                <a:ext uri="{FF2B5EF4-FFF2-40B4-BE49-F238E27FC236}">
                  <a16:creationId xmlns:a16="http://schemas.microsoft.com/office/drawing/2014/main" id="{57416B61-6020-FA20-6148-FF211E24C4EF}"/>
                </a:ext>
              </a:extLst>
            </p:cNvPr>
            <p:cNvSpPr/>
            <p:nvPr/>
          </p:nvSpPr>
          <p:spPr>
            <a:xfrm>
              <a:off x="8229600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4" name="타원 43">
              <a:extLst>
                <a:ext uri="{FF2B5EF4-FFF2-40B4-BE49-F238E27FC236}">
                  <a16:creationId xmlns:a16="http://schemas.microsoft.com/office/drawing/2014/main" id="{D7D65192-377D-CEB7-CED4-F81321689291}"/>
                </a:ext>
              </a:extLst>
            </p:cNvPr>
            <p:cNvSpPr/>
            <p:nvPr/>
          </p:nvSpPr>
          <p:spPr>
            <a:xfrm>
              <a:off x="84552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5" name="타원 44">
              <a:extLst>
                <a:ext uri="{FF2B5EF4-FFF2-40B4-BE49-F238E27FC236}">
                  <a16:creationId xmlns:a16="http://schemas.microsoft.com/office/drawing/2014/main" id="{8C1A7390-9C82-533E-15A2-CFEED84148FF}"/>
                </a:ext>
              </a:extLst>
            </p:cNvPr>
            <p:cNvSpPr/>
            <p:nvPr/>
          </p:nvSpPr>
          <p:spPr>
            <a:xfrm>
              <a:off x="86584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6" name="타원 45">
              <a:extLst>
                <a:ext uri="{FF2B5EF4-FFF2-40B4-BE49-F238E27FC236}">
                  <a16:creationId xmlns:a16="http://schemas.microsoft.com/office/drawing/2014/main" id="{26002BD9-8008-B986-A7A4-29F5189D13B9}"/>
                </a:ext>
              </a:extLst>
            </p:cNvPr>
            <p:cNvSpPr/>
            <p:nvPr/>
          </p:nvSpPr>
          <p:spPr>
            <a:xfrm>
              <a:off x="88616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47" name="타원 46">
              <a:extLst>
                <a:ext uri="{FF2B5EF4-FFF2-40B4-BE49-F238E27FC236}">
                  <a16:creationId xmlns:a16="http://schemas.microsoft.com/office/drawing/2014/main" id="{CD50044D-5221-E1D2-C503-18DD21D1117E}"/>
                </a:ext>
              </a:extLst>
            </p:cNvPr>
            <p:cNvSpPr/>
            <p:nvPr/>
          </p:nvSpPr>
          <p:spPr>
            <a:xfrm>
              <a:off x="90648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5048" name="그룹 47">
            <a:extLst>
              <a:ext uri="{FF2B5EF4-FFF2-40B4-BE49-F238E27FC236}">
                <a16:creationId xmlns:a16="http://schemas.microsoft.com/office/drawing/2014/main" id="{D4D9AC4B-242A-4FF2-810D-B2BC55D119E1}"/>
              </a:ext>
            </a:extLst>
          </p:cNvPr>
          <p:cNvGrpSpPr/>
          <p:nvPr/>
        </p:nvGrpSpPr>
        <p:grpSpPr>
          <a:xfrm>
            <a:off x="10595353" y="2715860"/>
            <a:ext cx="936898" cy="98847"/>
            <a:chOff x="8026400" y="2709510"/>
            <a:chExt cx="936898" cy="98847"/>
          </a:xfrm>
          <a:noFill/>
        </p:grpSpPr>
        <p:sp>
          <p:nvSpPr>
            <p:cNvPr id="5049" name="타원 48">
              <a:extLst>
                <a:ext uri="{FF2B5EF4-FFF2-40B4-BE49-F238E27FC236}">
                  <a16:creationId xmlns:a16="http://schemas.microsoft.com/office/drawing/2014/main" id="{3C03DA1F-6834-5AEF-A849-2E4F13DA99D6}"/>
                </a:ext>
              </a:extLst>
            </p:cNvPr>
            <p:cNvSpPr/>
            <p:nvPr/>
          </p:nvSpPr>
          <p:spPr>
            <a:xfrm>
              <a:off x="8026400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0" name="타원 49">
              <a:extLst>
                <a:ext uri="{FF2B5EF4-FFF2-40B4-BE49-F238E27FC236}">
                  <a16:creationId xmlns:a16="http://schemas.microsoft.com/office/drawing/2014/main" id="{70893B60-F000-1219-0A38-1DADB108F406}"/>
                </a:ext>
              </a:extLst>
            </p:cNvPr>
            <p:cNvSpPr/>
            <p:nvPr/>
          </p:nvSpPr>
          <p:spPr>
            <a:xfrm>
              <a:off x="8229600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1" name="타원 50">
              <a:extLst>
                <a:ext uri="{FF2B5EF4-FFF2-40B4-BE49-F238E27FC236}">
                  <a16:creationId xmlns:a16="http://schemas.microsoft.com/office/drawing/2014/main" id="{85A42431-0363-2F11-C0BC-0B47B3D28049}"/>
                </a:ext>
              </a:extLst>
            </p:cNvPr>
            <p:cNvSpPr/>
            <p:nvPr/>
          </p:nvSpPr>
          <p:spPr>
            <a:xfrm>
              <a:off x="84552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2" name="타원 51">
              <a:extLst>
                <a:ext uri="{FF2B5EF4-FFF2-40B4-BE49-F238E27FC236}">
                  <a16:creationId xmlns:a16="http://schemas.microsoft.com/office/drawing/2014/main" id="{F3D2719B-6D1E-B3B8-E05E-47298179EC3C}"/>
                </a:ext>
              </a:extLst>
            </p:cNvPr>
            <p:cNvSpPr/>
            <p:nvPr/>
          </p:nvSpPr>
          <p:spPr>
            <a:xfrm>
              <a:off x="8658498" y="2711167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53" name="타원 52">
              <a:extLst>
                <a:ext uri="{FF2B5EF4-FFF2-40B4-BE49-F238E27FC236}">
                  <a16:creationId xmlns:a16="http://schemas.microsoft.com/office/drawing/2014/main" id="{85C58B22-72A7-89F3-5B24-E1088DA97766}"/>
                </a:ext>
              </a:extLst>
            </p:cNvPr>
            <p:cNvSpPr/>
            <p:nvPr/>
          </p:nvSpPr>
          <p:spPr>
            <a:xfrm>
              <a:off x="8861698" y="2709510"/>
              <a:ext cx="101600" cy="97190"/>
            </a:xfrm>
            <a:prstGeom prst="ellipse">
              <a:avLst/>
            </a:prstGeom>
            <a:grpFill/>
            <a:ln w="9525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055" name="TextBox 54">
            <a:extLst>
              <a:ext uri="{FF2B5EF4-FFF2-40B4-BE49-F238E27FC236}">
                <a16:creationId xmlns:a16="http://schemas.microsoft.com/office/drawing/2014/main" id="{53832CBB-DBE5-3CD2-D9F1-30B4808FA5B1}"/>
              </a:ext>
            </a:extLst>
          </p:cNvPr>
          <p:cNvSpPr txBox="1"/>
          <p:nvPr/>
        </p:nvSpPr>
        <p:spPr>
          <a:xfrm>
            <a:off x="7836837" y="2444345"/>
            <a:ext cx="2049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>
                <a:highlight>
                  <a:srgbClr val="FFFF00"/>
                </a:highlight>
              </a:rPr>
              <a:t>input glitch</a:t>
            </a:r>
            <a:endParaRPr lang="ko-KR" altLang="en-US" sz="1100">
              <a:highlight>
                <a:srgbClr val="FFFF00"/>
              </a:highlight>
            </a:endParaRPr>
          </a:p>
        </p:txBody>
      </p:sp>
      <p:sp>
        <p:nvSpPr>
          <p:cNvPr id="5057" name="직사각형 56">
            <a:extLst>
              <a:ext uri="{FF2B5EF4-FFF2-40B4-BE49-F238E27FC236}">
                <a16:creationId xmlns:a16="http://schemas.microsoft.com/office/drawing/2014/main" id="{2B27EC1A-4FA4-B46E-1C5C-5781E037C2B7}"/>
              </a:ext>
            </a:extLst>
          </p:cNvPr>
          <p:cNvSpPr/>
          <p:nvPr/>
        </p:nvSpPr>
        <p:spPr>
          <a:xfrm>
            <a:off x="9658350" y="3911600"/>
            <a:ext cx="373322" cy="971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·  시연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Basys-3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시연: PC 입력 6줄 모두 FND 표시 · Echo 일치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1580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ComPortMaster (COM4 · 9600 · 8N1)로 0123 · 4567 · 89AB · CDEF · abcd · --ef 송신 → FND에 마지막 4글자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Recv 창 echo = 송신 문자열, 소문자 a ~ f도 hex 표시, hex 외 문자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'-'</a:t>
            </a:r>
            <a:endParaRPr lang="en-US" sz="1500" dirty="0"/>
          </a:p>
        </p:txBody>
      </p:sp>
      <p:pic>
        <p:nvPicPr>
          <p:cNvPr id="5010" name="그림 9">
            <a:extLst>
              <a:ext uri="{FF2B5EF4-FFF2-40B4-BE49-F238E27FC236}">
                <a16:creationId xmlns:a16="http://schemas.microsoft.com/office/drawing/2014/main" id="{C3B6CD4B-FF62-5605-6ACA-B5E5A7F3BD8D}"/>
              </a:ext>
            </a:extLst>
          </p:cNvPr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10615" y="1801412"/>
            <a:ext cx="6298227" cy="4510488"/>
          </a:xfrm>
          <a:prstGeom prst="rect">
            <a:avLst/>
          </a:prstGeom>
        </p:spPr>
      </p:pic>
      <p:pic>
        <p:nvPicPr>
          <p:cNvPr id="5012" name="그림 11">
            <a:extLst>
              <a:ext uri="{FF2B5EF4-FFF2-40B4-BE49-F238E27FC236}">
                <a16:creationId xmlns:a16="http://schemas.microsoft.com/office/drawing/2014/main" id="{2CFCEE94-07A0-D9C1-34F3-AACB943BBEC5}"/>
              </a:ext>
            </a:extLst>
          </p:cNvPr>
          <p:cNvPicPr>
            <a:picLocks noChangeAspect="1"/>
          </p:cNvPicPr>
          <p:nvPr/>
        </p:nvPicPr>
        <p:blipFill>
          <a:blip r:embed="rId101"/>
          <a:srcRect l="10995" t="46667" r="18634" b="22777"/>
          <a:stretch>
            <a:fillRect/>
          </a:stretch>
        </p:blipFill>
        <p:spPr>
          <a:xfrm>
            <a:off x="9423399" y="3255219"/>
            <a:ext cx="2768601" cy="1602874"/>
          </a:xfrm>
          <a:prstGeom prst="rect">
            <a:avLst/>
          </a:prstGeom>
        </p:spPr>
      </p:pic>
      <p:pic>
        <p:nvPicPr>
          <p:cNvPr id="5014" name="그림 13">
            <a:extLst>
              <a:ext uri="{FF2B5EF4-FFF2-40B4-BE49-F238E27FC236}">
                <a16:creationId xmlns:a16="http://schemas.microsoft.com/office/drawing/2014/main" id="{CDFE0BA8-4352-B64A-B50D-3950DCFF0F84}"/>
              </a:ext>
            </a:extLst>
          </p:cNvPr>
          <p:cNvPicPr>
            <a:picLocks noChangeAspect="1"/>
          </p:cNvPicPr>
          <p:nvPr/>
        </p:nvPicPr>
        <p:blipFill>
          <a:blip r:embed="rId102"/>
          <a:srcRect l="10995" t="45555" r="21844" b="22593"/>
          <a:stretch>
            <a:fillRect/>
          </a:stretch>
        </p:blipFill>
        <p:spPr>
          <a:xfrm>
            <a:off x="6808842" y="3205877"/>
            <a:ext cx="2527300" cy="1598146"/>
          </a:xfrm>
          <a:prstGeom prst="rect">
            <a:avLst/>
          </a:prstGeom>
        </p:spPr>
      </p:pic>
      <p:pic>
        <p:nvPicPr>
          <p:cNvPr id="5016" name="그림 15">
            <a:extLst>
              <a:ext uri="{FF2B5EF4-FFF2-40B4-BE49-F238E27FC236}">
                <a16:creationId xmlns:a16="http://schemas.microsoft.com/office/drawing/2014/main" id="{AAA3F795-DC0A-4F01-460D-EC0B6F18509A}"/>
              </a:ext>
            </a:extLst>
          </p:cNvPr>
          <p:cNvPicPr>
            <a:picLocks noChangeAspect="1"/>
          </p:cNvPicPr>
          <p:nvPr/>
        </p:nvPicPr>
        <p:blipFill>
          <a:blip r:embed="rId103"/>
          <a:srcRect l="12922" t="45555" r="19917" b="22593"/>
          <a:stretch>
            <a:fillRect/>
          </a:stretch>
        </p:blipFill>
        <p:spPr>
          <a:xfrm>
            <a:off x="9347198" y="1504486"/>
            <a:ext cx="2768601" cy="1750733"/>
          </a:xfrm>
          <a:prstGeom prst="rect">
            <a:avLst/>
          </a:prstGeom>
        </p:spPr>
      </p:pic>
      <p:pic>
        <p:nvPicPr>
          <p:cNvPr id="5018" name="그림 17">
            <a:extLst>
              <a:ext uri="{FF2B5EF4-FFF2-40B4-BE49-F238E27FC236}">
                <a16:creationId xmlns:a16="http://schemas.microsoft.com/office/drawing/2014/main" id="{93090B52-B2ED-9544-187B-10A776ACA544}"/>
              </a:ext>
            </a:extLst>
          </p:cNvPr>
          <p:cNvPicPr>
            <a:picLocks noChangeAspect="1"/>
          </p:cNvPicPr>
          <p:nvPr/>
        </p:nvPicPr>
        <p:blipFill>
          <a:blip r:embed="rId104"/>
          <a:srcRect l="17201" t="45370" r="8478" b="22778"/>
          <a:stretch>
            <a:fillRect/>
          </a:stretch>
        </p:blipFill>
        <p:spPr>
          <a:xfrm>
            <a:off x="6731820" y="1611255"/>
            <a:ext cx="2768601" cy="1582057"/>
          </a:xfrm>
          <a:prstGeom prst="rect">
            <a:avLst/>
          </a:prstGeom>
        </p:spPr>
      </p:pic>
      <p:pic>
        <p:nvPicPr>
          <p:cNvPr id="5022" name="그림 21">
            <a:extLst>
              <a:ext uri="{FF2B5EF4-FFF2-40B4-BE49-F238E27FC236}">
                <a16:creationId xmlns:a16="http://schemas.microsoft.com/office/drawing/2014/main" id="{144A26A6-FEB6-8C24-50F6-E54E69C52ABD}"/>
              </a:ext>
            </a:extLst>
          </p:cNvPr>
          <p:cNvPicPr>
            <a:picLocks noChangeAspect="1"/>
          </p:cNvPicPr>
          <p:nvPr/>
        </p:nvPicPr>
        <p:blipFill>
          <a:blip r:embed="rId105"/>
          <a:srcRect l="6630" t="46482" r="25469" b="22963"/>
          <a:stretch>
            <a:fillRect/>
          </a:stretch>
        </p:blipFill>
        <p:spPr>
          <a:xfrm>
            <a:off x="9423399" y="4858093"/>
            <a:ext cx="2578101" cy="1546861"/>
          </a:xfrm>
          <a:prstGeom prst="rect">
            <a:avLst/>
          </a:prstGeom>
        </p:spPr>
      </p:pic>
      <p:pic>
        <p:nvPicPr>
          <p:cNvPr id="5024" name="그림 23">
            <a:extLst>
              <a:ext uri="{FF2B5EF4-FFF2-40B4-BE49-F238E27FC236}">
                <a16:creationId xmlns:a16="http://schemas.microsoft.com/office/drawing/2014/main" id="{3FEFF2B8-D85F-4792-56D9-98D4806D3B2D}"/>
              </a:ext>
            </a:extLst>
          </p:cNvPr>
          <p:cNvPicPr>
            <a:picLocks noChangeAspect="1"/>
          </p:cNvPicPr>
          <p:nvPr/>
        </p:nvPicPr>
        <p:blipFill>
          <a:blip r:embed="rId106"/>
          <a:srcRect l="9419" t="47963" r="22680" b="21481"/>
          <a:stretch>
            <a:fillRect/>
          </a:stretch>
        </p:blipFill>
        <p:spPr>
          <a:xfrm>
            <a:off x="6888105" y="4829152"/>
            <a:ext cx="2578101" cy="154686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  ·  결론 · 고찰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결론 · 고찰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UART Loopback 구조로 uart_tx · uart_rx 검증 완료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Loopback echo 256 / 256 · 보드 시연 일치 → uart_tx · uart_rx 동작 검증 완료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START에서 rx 재확인 → rx glitch로 인한 데이터 오입력 방지 (glitch 23 case 6 →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PASS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)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1000" y="1638300"/>
            <a:ext cx="2857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962150"/>
          <a:ext cx="6096000" cy="914400"/>
        </p:xfrm>
        <a:graphic>
          <a:graphicData uri="http://schemas.openxmlformats.org/drawingml/2006/table">
            <a:tbl>
              <a:tblPr/>
              <a:tblGrid>
                <a:gridCol w="3143250"/>
                <a:gridCol w="1905000"/>
                <a:gridCol w="1047750"/>
              </a:tblGrid>
              <a:tr h="323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#1 RX 타이밍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ASM과 일치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#2 · #3 256 byte loopback echo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256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#4 START glitch (20 ns ~ 50 µs)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 → 23 / 23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#5 Data bit glitch (1 tick 미만)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256 / 320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보드 시연 (6줄 입력)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FND · echo 일치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6762750" y="1638300"/>
            <a:ext cx="5048250" cy="20955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9050">
            <a:solidFill>
              <a:srgbClr val="C2410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762750" y="163830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C2410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915150" y="163830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고찰 — ONE BIT mode 한계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915150" y="2038350"/>
            <a:ext cx="4762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sample 1개로 판정 → DATA 구간 glitch가 그 sampling edge를 덮을 경우 해당 bit 반전</a:t>
            </a:r>
            <a:endParaRPr lang="en-US" sz="13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tick 미만 glitch 320 case 중 bit 중앙 64 case FAIL, ±1 · ±7 tick 위치는 PASS</a:t>
            </a:r>
            <a:endParaRPr lang="en-US" sz="13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· echo는 정상으로 나가서 오류가 드러나지 않음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762750" y="3905250"/>
            <a:ext cx="5048250" cy="2495550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9050">
            <a:solidFill>
              <a:srgbClr val="1E3A8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762750" y="3905250"/>
            <a:ext cx="5048250" cy="342900"/>
          </a:xfrm>
          <a:prstGeom prst="roundRect">
            <a:avLst>
              <a:gd name="adj" fmla="val 16667"/>
            </a:avLst>
          </a:prstGeom>
          <a:solidFill>
            <a:srgbClr val="1E3A8A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915150" y="3905250"/>
            <a:ext cx="4762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915150" y="4305300"/>
            <a:ext cx="47625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3 sample (7 · 8 · 9 tick) 다수결 → 1 tick 미만 glitch는 1표만 바꿔 제거</a:t>
            </a:r>
            <a:endParaRPr lang="en-US" sz="13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tick 이상 glitch → parity · CRC로 오류 검출 후 재전송 요청, 또는 ECC로 정정</a:t>
            </a:r>
            <a:endParaRPr lang="en-US" sz="1350" dirty="0"/>
          </a:p>
          <a:p>
            <a:pPr algn="l" marL="342900" indent="-342900">
              <a:lnSpc>
                <a:spcPct val="100000"/>
              </a:lnSpc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35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TX 앞 FIFO + tx_busy 사용 → 연속 수신 시 echo 누락 방지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381000" y="5143500"/>
            <a:ext cx="60960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E293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오입력 방지 구조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381000" y="5467350"/>
            <a:ext cx="1371600" cy="666750"/>
          </a:xfrm>
          <a:prstGeom prst="roundRect">
            <a:avLst>
              <a:gd name="adj" fmla="val 8571"/>
            </a:avLst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1000" y="5524500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IDLE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381000" y="5772150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fall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1771650" y="5800725"/>
            <a:ext cx="133350" cy="0"/>
          </a:xfrm>
          <a:prstGeom prst="line">
            <a:avLst/>
          </a:prstGeom>
          <a:noFill/>
          <a:ln w="2540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1924050" y="5467350"/>
            <a:ext cx="1371600" cy="666750"/>
          </a:xfrm>
          <a:prstGeom prst="roundRect">
            <a:avLst>
              <a:gd name="adj" fmla="val 8571"/>
            </a:avLst>
          </a:prstGeom>
          <a:solidFill>
            <a:srgbClr val="FFF1F2"/>
          </a:solidFill>
          <a:ln w="31750">
            <a:solidFill>
              <a:srgbClr val="DC2626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1924050" y="5524500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1924050" y="5772150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= 0 유지 확인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314700" y="5800725"/>
            <a:ext cx="133350" cy="0"/>
          </a:xfrm>
          <a:prstGeom prst="line">
            <a:avLst/>
          </a:prstGeom>
          <a:noFill/>
          <a:ln w="2540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467100" y="5467350"/>
            <a:ext cx="1371600" cy="666750"/>
          </a:xfrm>
          <a:prstGeom prst="roundRect">
            <a:avLst>
              <a:gd name="adj" fmla="val 8571"/>
            </a:avLst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467100" y="5524500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3467100" y="5772150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bit 중앙 sampling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4857750" y="5800725"/>
            <a:ext cx="133350" cy="0"/>
          </a:xfrm>
          <a:prstGeom prst="line">
            <a:avLst/>
          </a:prstGeom>
          <a:noFill/>
          <a:ln w="25400">
            <a:solidFill>
              <a:srgbClr val="BE123C"/>
            </a:solidFill>
            <a:prstDash val="solid"/>
            <a:tailEnd type="triangle"/>
          </a:ln>
        </p:spPr>
      </p:sp>
      <p:sp>
        <p:nvSpPr>
          <p:cNvPr id="35" name="Shape 32"/>
          <p:cNvSpPr/>
          <p:nvPr/>
        </p:nvSpPr>
        <p:spPr>
          <a:xfrm>
            <a:off x="5010150" y="5467350"/>
            <a:ext cx="1371600" cy="666750"/>
          </a:xfrm>
          <a:prstGeom prst="roundRect">
            <a:avLst>
              <a:gd name="adj" fmla="val 8571"/>
            </a:avLst>
          </a:prstGeom>
          <a:solidFill>
            <a:srgbClr val="FFF1F2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010150" y="5524500"/>
            <a:ext cx="1371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</a:t>
            </a:r>
            <a:endParaRPr lang="en-US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10150" y="5772150"/>
            <a:ext cx="1371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2381250"/>
            <a:ext cx="1219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 &amp; A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0" y="3200400"/>
            <a:ext cx="12192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CBD5E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0" y="3810000"/>
            <a:ext cx="12192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Glitch 입력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입력: RX Sampling Edge 기준 On-tick / Off-tick 배치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22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IDLE은 b_tick = 1인 clk edge(E)에서만 rx 확인 → glitch 결과는 폭보다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E를 덮었는지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결정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off-tick = E + 3 ns 시작 (안 덮음), on-tick = E 중심 배치 (덮음) → 확률의 양 끝 0 % · 100 %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3711" y="1543050"/>
            <a:ext cx="6766104" cy="2302233"/>
          </a:xfrm>
          <a:prstGeom prst="roundRect">
            <a:avLst>
              <a:gd name="adj" fmla="val 22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4306" y="1630921"/>
            <a:ext cx="5272289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ns 확대  ·  sampling edge E 주변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63567" y="1999982"/>
            <a:ext cx="0" cy="1651984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5" name="Shape 13"/>
          <p:cNvSpPr/>
          <p:nvPr/>
        </p:nvSpPr>
        <p:spPr>
          <a:xfrm>
            <a:off x="3407133" y="1999982"/>
            <a:ext cx="0" cy="1651984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6" name="Shape 14"/>
          <p:cNvSpPr/>
          <p:nvPr/>
        </p:nvSpPr>
        <p:spPr>
          <a:xfrm>
            <a:off x="4250699" y="1999982"/>
            <a:ext cx="0" cy="1651984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7" name="Shape 15"/>
          <p:cNvSpPr/>
          <p:nvPr/>
        </p:nvSpPr>
        <p:spPr>
          <a:xfrm>
            <a:off x="5094265" y="1999982"/>
            <a:ext cx="0" cy="1651984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8" name="Shape 16"/>
          <p:cNvSpPr/>
          <p:nvPr/>
        </p:nvSpPr>
        <p:spPr>
          <a:xfrm>
            <a:off x="5937831" y="1999982"/>
            <a:ext cx="0" cy="1651984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19" name="Shape 17"/>
          <p:cNvSpPr/>
          <p:nvPr/>
        </p:nvSpPr>
        <p:spPr>
          <a:xfrm>
            <a:off x="6781398" y="1999982"/>
            <a:ext cx="0" cy="1651984"/>
          </a:xfrm>
          <a:prstGeom prst="line">
            <a:avLst/>
          </a:prstGeom>
          <a:noFill/>
          <a:ln w="9525">
            <a:solidFill>
              <a:srgbClr val="CBD5E1"/>
            </a:solidFill>
            <a:prstDash val="sysDot"/>
          </a:ln>
        </p:spPr>
      </p:sp>
      <p:sp>
        <p:nvSpPr>
          <p:cNvPr id="20" name="Shape 18"/>
          <p:cNvSpPr/>
          <p:nvPr/>
        </p:nvSpPr>
        <p:spPr>
          <a:xfrm>
            <a:off x="4250699" y="1982407"/>
            <a:ext cx="0" cy="1669558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21" name="Text 19"/>
          <p:cNvSpPr txBox="1"/>
          <p:nvPr/>
        </p:nvSpPr>
        <p:spPr>
          <a:xfrm>
            <a:off x="4285848" y="1859387"/>
            <a:ext cx="175743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964306" y="2035130"/>
            <a:ext cx="1054458" cy="22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141783" y="2263596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2563567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3567" y="2035130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85350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85350" y="2263596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407133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7133" y="2035130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28916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28916" y="2263596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4250699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250699" y="2035130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72482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2482" y="2263596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5094265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94265" y="2035130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516048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516048" y="2263596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V="1">
            <a:off x="5937831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37831" y="2035130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9614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359614" y="2263596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6781398" y="2035130"/>
            <a:ext cx="0" cy="228466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781398" y="2035130"/>
            <a:ext cx="421783" cy="0"/>
          </a:xfrm>
          <a:prstGeom prst="line">
            <a:avLst/>
          </a:prstGeom>
          <a:noFill/>
          <a:ln w="25400">
            <a:solidFill>
              <a:srgbClr val="0F172A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4306" y="2421765"/>
            <a:ext cx="1054458" cy="22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141783" y="2650231"/>
            <a:ext cx="1265349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flipV="1">
            <a:off x="3407133" y="2421765"/>
            <a:ext cx="0" cy="22846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407133" y="2421765"/>
            <a:ext cx="843566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250699" y="2421765"/>
            <a:ext cx="0" cy="22846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250699" y="2650231"/>
            <a:ext cx="2952482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64306" y="2825974"/>
            <a:ext cx="1054458" cy="22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off-tick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141783" y="2825974"/>
            <a:ext cx="2361985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503769" y="2825974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03769" y="3054439"/>
            <a:ext cx="269941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964306" y="3230182"/>
            <a:ext cx="1054458" cy="22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on-tick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141783" y="3230182"/>
            <a:ext cx="1434063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75846" y="3230182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3575846" y="3458648"/>
            <a:ext cx="168713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5262978" y="3230182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62978" y="3230182"/>
            <a:ext cx="194020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38917" y="2808399"/>
            <a:ext cx="790843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+ 3 ns</a:t>
            </a:r>
            <a:endParaRPr lang="en-US" sz="900" dirty="0"/>
          </a:p>
        </p:txBody>
      </p:sp>
      <p:sp>
        <p:nvSpPr>
          <p:cNvPr id="63" name="Text 61"/>
          <p:cNvSpPr txBox="1"/>
          <p:nvPr/>
        </p:nvSpPr>
        <p:spPr>
          <a:xfrm>
            <a:off x="2767428" y="3212608"/>
            <a:ext cx="773269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− 8 ns</a:t>
            </a:r>
            <a:endParaRPr lang="en-US" sz="900" dirty="0"/>
          </a:p>
        </p:txBody>
      </p:sp>
      <p:sp>
        <p:nvSpPr>
          <p:cNvPr id="64" name="Text 62"/>
          <p:cNvSpPr txBox="1"/>
          <p:nvPr/>
        </p:nvSpPr>
        <p:spPr>
          <a:xfrm>
            <a:off x="5298127" y="3212608"/>
            <a:ext cx="1405944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+ 12 ns (w = 20 ns)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5393028" y="3616817"/>
            <a:ext cx="2108915" cy="158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점선 = clk edge (10 ns)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23711" y="3968303"/>
            <a:ext cx="6766104" cy="2565847"/>
          </a:xfrm>
          <a:prstGeom prst="roundRect">
            <a:avLst>
              <a:gd name="adj" fmla="val 205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964306" y="4056174"/>
            <a:ext cx="5272289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µs 단위  ·  E 간격 1 tick = 6,510 ns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2528418" y="4425235"/>
            <a:ext cx="0" cy="200347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69" name="Text 67"/>
          <p:cNvSpPr txBox="1"/>
          <p:nvPr/>
        </p:nvSpPr>
        <p:spPr>
          <a:xfrm>
            <a:off x="2352675" y="4284640"/>
            <a:ext cx="351486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674656" y="4425235"/>
            <a:ext cx="0" cy="2003470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71" name="Text 69"/>
          <p:cNvSpPr txBox="1"/>
          <p:nvPr/>
        </p:nvSpPr>
        <p:spPr>
          <a:xfrm>
            <a:off x="5498913" y="4284640"/>
            <a:ext cx="351486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000" dirty="0"/>
          </a:p>
        </p:txBody>
      </p:sp>
      <p:sp>
        <p:nvSpPr>
          <p:cNvPr id="72" name="Text 70"/>
          <p:cNvSpPr txBox="1"/>
          <p:nvPr/>
        </p:nvSpPr>
        <p:spPr>
          <a:xfrm>
            <a:off x="964306" y="4495532"/>
            <a:ext cx="1054458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b_tick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2141783" y="4723998"/>
            <a:ext cx="367303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flipV="1">
            <a:off x="2509086" y="4495532"/>
            <a:ext cx="0" cy="22846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509086" y="4495532"/>
            <a:ext cx="19332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528418" y="4495532"/>
            <a:ext cx="0" cy="22846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528418" y="4723998"/>
            <a:ext cx="3126907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flipV="1">
            <a:off x="5655325" y="4495532"/>
            <a:ext cx="0" cy="22846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655325" y="4495532"/>
            <a:ext cx="19332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674656" y="4495532"/>
            <a:ext cx="0" cy="228466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74656" y="4723998"/>
            <a:ext cx="1106741" cy="0"/>
          </a:xfrm>
          <a:prstGeom prst="line">
            <a:avLst/>
          </a:prstGeom>
          <a:noFill/>
          <a:ln w="25400">
            <a:solidFill>
              <a:srgbClr val="B45309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64306" y="4899740"/>
            <a:ext cx="1142329" cy="22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off w=2,000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2141783" y="4899740"/>
            <a:ext cx="38808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2529868" y="4899740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2529868" y="5128206"/>
            <a:ext cx="96658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flipV="1">
            <a:off x="3496454" y="4899740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496454" y="4899740"/>
            <a:ext cx="3284943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3584326" y="4917315"/>
            <a:ext cx="878715" cy="193317"/>
          </a:xfrm>
          <a:prstGeom prst="roundRect">
            <a:avLst>
              <a:gd name="adj" fmla="val 18182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3584326" y="4917315"/>
            <a:ext cx="878715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안 덮음</a:t>
            </a:r>
            <a:endParaRPr lang="en-US" sz="950" dirty="0"/>
          </a:p>
        </p:txBody>
      </p:sp>
      <p:sp>
        <p:nvSpPr>
          <p:cNvPr id="90" name="Text 88"/>
          <p:cNvSpPr txBox="1"/>
          <p:nvPr/>
        </p:nvSpPr>
        <p:spPr>
          <a:xfrm>
            <a:off x="964306" y="5356672"/>
            <a:ext cx="1142329" cy="22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off w=6,510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2141783" y="5356672"/>
            <a:ext cx="38808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2529868" y="5356672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2529868" y="5585138"/>
            <a:ext cx="3146238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flipV="1">
            <a:off x="5676106" y="5356672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676106" y="5356672"/>
            <a:ext cx="110529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763978" y="5374246"/>
            <a:ext cx="878715" cy="193317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5763978" y="5374246"/>
            <a:ext cx="878715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덮음</a:t>
            </a:r>
            <a:endParaRPr lang="en-US" sz="950" dirty="0"/>
          </a:p>
        </p:txBody>
      </p:sp>
      <p:sp>
        <p:nvSpPr>
          <p:cNvPr id="98" name="Text 96"/>
          <p:cNvSpPr txBox="1"/>
          <p:nvPr/>
        </p:nvSpPr>
        <p:spPr>
          <a:xfrm>
            <a:off x="964306" y="5813604"/>
            <a:ext cx="1142329" cy="228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on  w=2,000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2141783" y="5813604"/>
            <a:ext cx="305054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5192330" y="5813604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192330" y="6042070"/>
            <a:ext cx="96658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6158916" y="5813604"/>
            <a:ext cx="0" cy="228466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158916" y="5813604"/>
            <a:ext cx="62248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246787" y="5831178"/>
            <a:ext cx="878715" cy="193317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246787" y="5831178"/>
            <a:ext cx="878715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 덮음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7765558" y="1543050"/>
            <a:ext cx="3602731" cy="2302233"/>
          </a:xfrm>
          <a:prstGeom prst="roundRect">
            <a:avLst>
              <a:gd name="adj" fmla="val 229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7906152" y="1630921"/>
            <a:ext cx="3339116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task</a:t>
            </a:r>
            <a:endParaRPr lang="en-US" sz="1200" dirty="0"/>
          </a:p>
        </p:txBody>
      </p:sp>
      <p:sp>
        <p:nvSpPr>
          <p:cNvPr id="108" name="Text 106"/>
          <p:cNvSpPr txBox="1"/>
          <p:nvPr/>
        </p:nvSpPr>
        <p:spPr>
          <a:xfrm>
            <a:off x="7906152" y="1876962"/>
            <a:ext cx="3339116" cy="1880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align_glitch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b_tick 상승 후 지연으로 E 기준 위치 고정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sender_glitch (폭, 개수, 간격)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 pulse 개수만큼 반복 → 종료 후 rx = 1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check_glitch</a:t>
            </a:r>
            <a:endParaRPr lang="en-US" sz="12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rx_done · tx echo 횟수 비교 → PASS / FAIL</a:t>
            </a:r>
            <a:endParaRPr lang="en-US" sz="1200" dirty="0"/>
          </a:p>
        </p:txBody>
      </p:sp>
      <p:sp>
        <p:nvSpPr>
          <p:cNvPr id="109" name="Shape 107"/>
          <p:cNvSpPr/>
          <p:nvPr/>
        </p:nvSpPr>
        <p:spPr>
          <a:xfrm>
            <a:off x="7765558" y="3968303"/>
            <a:ext cx="3602731" cy="80841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871004" y="4267066"/>
            <a:ext cx="210892" cy="210892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7871004" y="4267066"/>
            <a:ext cx="210892" cy="21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900" dirty="0"/>
          </a:p>
        </p:txBody>
      </p:sp>
      <p:sp>
        <p:nvSpPr>
          <p:cNvPr id="112" name="Text 110"/>
          <p:cNvSpPr txBox="1"/>
          <p:nvPr/>
        </p:nvSpPr>
        <p:spPr>
          <a:xfrm>
            <a:off x="8169767" y="3968303"/>
            <a:ext cx="3110650" cy="808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off-tick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+ 3 ns에서 low 시작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 6,507 ns 미만 → 다음 E 안 덮음</a:t>
            </a:r>
            <a:endParaRPr lang="en-US" sz="1200" dirty="0"/>
          </a:p>
        </p:txBody>
      </p:sp>
      <p:sp>
        <p:nvSpPr>
          <p:cNvPr id="113" name="Shape 111"/>
          <p:cNvSpPr/>
          <p:nvPr/>
        </p:nvSpPr>
        <p:spPr>
          <a:xfrm>
            <a:off x="7765558" y="4847018"/>
            <a:ext cx="3602731" cy="80841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7871004" y="5145781"/>
            <a:ext cx="210892" cy="210892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 txBox="1"/>
          <p:nvPr/>
        </p:nvSpPr>
        <p:spPr>
          <a:xfrm>
            <a:off x="7871004" y="5145781"/>
            <a:ext cx="210892" cy="21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00" dirty="0"/>
          </a:p>
        </p:txBody>
      </p:sp>
      <p:sp>
        <p:nvSpPr>
          <p:cNvPr id="116" name="Text 114"/>
          <p:cNvSpPr txBox="1"/>
          <p:nvPr/>
        </p:nvSpPr>
        <p:spPr>
          <a:xfrm>
            <a:off x="8169767" y="4847018"/>
            <a:ext cx="3110650" cy="808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on-tick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 중심 + 2 ns에 low 배치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폭과 무관하게 E 덮음</a:t>
            </a:r>
            <a:endParaRPr lang="en-US" sz="1200" dirty="0"/>
          </a:p>
        </p:txBody>
      </p:sp>
      <p:sp>
        <p:nvSpPr>
          <p:cNvPr id="117" name="Shape 115"/>
          <p:cNvSpPr/>
          <p:nvPr/>
        </p:nvSpPr>
        <p:spPr>
          <a:xfrm>
            <a:off x="7765558" y="5725732"/>
            <a:ext cx="3602731" cy="80841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871004" y="6024495"/>
            <a:ext cx="210892" cy="210892"/>
          </a:xfrm>
          <a:prstGeom prst="ellipse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 txBox="1"/>
          <p:nvPr/>
        </p:nvSpPr>
        <p:spPr>
          <a:xfrm>
            <a:off x="7871004" y="6024495"/>
            <a:ext cx="210892" cy="21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900" dirty="0"/>
          </a:p>
        </p:txBody>
      </p:sp>
      <p:sp>
        <p:nvSpPr>
          <p:cNvPr id="120" name="Text 118"/>
          <p:cNvSpPr txBox="1"/>
          <p:nvPr/>
        </p:nvSpPr>
        <p:spPr>
          <a:xfrm>
            <a:off x="8169767" y="5725732"/>
            <a:ext cx="3110650" cy="8084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 / +3 ns  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edge를 clk 격자 밖에 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TB · RTL race 없음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Glitch 입력 방법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Burst · Glitch 뒤 Byte: Sampling Edge 통과와 Byte 손실 확인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Burst — 짧은 pulse 여러 개가 E를 지나가는 chattering 재현 (5 µs · 15 µs)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Glitch + byte — glitch 뒤 1 · 3 · 12 bit 간격으로 실제 byte 송신 → 가짜 frame과 겹침 확인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23711" y="1543050"/>
            <a:ext cx="10544577" cy="2038618"/>
          </a:xfrm>
          <a:prstGeom prst="roundRect">
            <a:avLst>
              <a:gd name="adj" fmla="val 25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4306" y="1630921"/>
            <a:ext cx="5272289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Burst (chattering)  ·  t = 0 = E0 + 3 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55566" y="1999982"/>
            <a:ext cx="0" cy="1441092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2790714" y="1859387"/>
            <a:ext cx="263614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E0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15782" y="1999982"/>
            <a:ext cx="0" cy="1441092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5650931" y="1859387"/>
            <a:ext cx="263614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475999" y="1999982"/>
            <a:ext cx="0" cy="1441092"/>
          </a:xfrm>
          <a:prstGeom prst="line">
            <a:avLst/>
          </a:prstGeom>
          <a:noFill/>
          <a:ln w="19050">
            <a:solidFill>
              <a:srgbClr val="EA580C"/>
            </a:solidFill>
            <a:prstDash val="dash"/>
          </a:ln>
        </p:spPr>
      </p:sp>
      <p:sp>
        <p:nvSpPr>
          <p:cNvPr id="19" name="Text 17"/>
          <p:cNvSpPr txBox="1"/>
          <p:nvPr/>
        </p:nvSpPr>
        <p:spPr>
          <a:xfrm>
            <a:off x="8511148" y="1859387"/>
            <a:ext cx="263614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EA580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964306" y="2105427"/>
            <a:ext cx="1493815" cy="17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 200 ns × 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64306" y="2281170"/>
            <a:ext cx="1493815" cy="17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gap 1,000 ns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493269" y="2105427"/>
            <a:ext cx="26361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56884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56884" y="2404190"/>
            <a:ext cx="8787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2844755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44755" y="2105427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84113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84113" y="2404190"/>
            <a:ext cx="8787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3371984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71984" y="2105427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11342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11342" y="2404190"/>
            <a:ext cx="8787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3899213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99213" y="2105427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38570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38570" y="2404190"/>
            <a:ext cx="8787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4426442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26442" y="2105427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865799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65799" y="2404190"/>
            <a:ext cx="87871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flipV="1">
            <a:off x="4953671" y="2105427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53671" y="2105427"/>
            <a:ext cx="5096546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59117" y="2158150"/>
            <a:ext cx="1933173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총 5.0 µs → E0 ~ E1 사이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64306" y="2808399"/>
            <a:ext cx="1493815" cy="17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 1,000 ns × 8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964306" y="2984142"/>
            <a:ext cx="1493815" cy="17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gap 1,000 ns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493269" y="2808399"/>
            <a:ext cx="263614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756884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756884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flipV="1">
            <a:off x="3196241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196241" y="2808399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35599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35599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4074956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074956" y="2808399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514313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514313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flipV="1">
            <a:off x="4953671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953671" y="2808399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393028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393028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5832386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832386" y="2808399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71743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271743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6711100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711100" y="2808399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150458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150458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flipV="1">
            <a:off x="7589815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589815" y="2808399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029173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029173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flipV="1">
            <a:off x="8468530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8468530" y="2808399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07887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07887" y="3107162"/>
            <a:ext cx="439357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flipV="1">
            <a:off x="9347245" y="2808399"/>
            <a:ext cx="0" cy="298763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347245" y="2808399"/>
            <a:ext cx="702972" cy="0"/>
          </a:xfrm>
          <a:prstGeom prst="line">
            <a:avLst/>
          </a:prstGeom>
          <a:noFill/>
          <a:ln w="25400">
            <a:solidFill>
              <a:srgbClr val="DC262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393028" y="2773251"/>
            <a:ext cx="439357" cy="369060"/>
          </a:xfrm>
          <a:prstGeom prst="roundRect">
            <a:avLst>
              <a:gd name="adj" fmla="val 7143"/>
            </a:avLst>
          </a:prstGeom>
          <a:ln w="25400">
            <a:solidFill>
              <a:srgbClr val="DC2626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5041542" y="3195034"/>
            <a:ext cx="3690602" cy="158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4번째 pulse 6,000 ~ 7,000 ns가 E1 (6,507 ns) 덮음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23711" y="3704688"/>
            <a:ext cx="10544577" cy="2829462"/>
          </a:xfrm>
          <a:prstGeom prst="roundRect">
            <a:avLst>
              <a:gd name="adj" fmla="val 186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964306" y="3792560"/>
            <a:ext cx="8787148" cy="193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+ byte  ·  200 ns glitch(on-tick) → gap → 0x55, 단위 bit (1 bit = 104,160 ns)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2769186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2663740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3437009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3331563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104832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3999387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850" dirty="0"/>
          </a:p>
        </p:txBody>
      </p:sp>
      <p:sp>
        <p:nvSpPr>
          <p:cNvPr id="89" name="Shape 87"/>
          <p:cNvSpPr/>
          <p:nvPr/>
        </p:nvSpPr>
        <p:spPr>
          <a:xfrm>
            <a:off x="4772656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4667210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5440479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5335033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108302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6002856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776125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6670679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7443948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7338503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8111772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8006326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8779595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8674149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9447418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4" name="Text 102"/>
          <p:cNvSpPr txBox="1"/>
          <p:nvPr/>
        </p:nvSpPr>
        <p:spPr>
          <a:xfrm>
            <a:off x="9341972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10115241" y="4231917"/>
            <a:ext cx="0" cy="52723"/>
          </a:xfrm>
          <a:prstGeom prst="line">
            <a:avLst/>
          </a:prstGeom>
          <a:noFill/>
          <a:ln w="9525">
            <a:solidFill>
              <a:srgbClr val="64748B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0009796" y="4108897"/>
            <a:ext cx="210892" cy="1054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5941346" y="4284640"/>
            <a:ext cx="0" cy="2144064"/>
          </a:xfrm>
          <a:prstGeom prst="line">
            <a:avLst/>
          </a:prstGeom>
          <a:noFill/>
          <a:ln w="15875">
            <a:solidFill>
              <a:srgbClr val="EA580C"/>
            </a:solidFill>
            <a:prstDash val="dash"/>
          </a:ln>
        </p:spPr>
      </p:sp>
      <p:sp>
        <p:nvSpPr>
          <p:cNvPr id="108" name="Text 106"/>
          <p:cNvSpPr txBox="1"/>
          <p:nvPr/>
        </p:nvSpPr>
        <p:spPr>
          <a:xfrm>
            <a:off x="5976495" y="4284640"/>
            <a:ext cx="2899759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9.5 bit: 가짜 frame rx_done · IDLE 복귀 (수정 전)</a:t>
            </a:r>
            <a:endParaRPr lang="en-US" sz="900" dirty="0"/>
          </a:p>
        </p:txBody>
      </p:sp>
      <p:sp>
        <p:nvSpPr>
          <p:cNvPr id="109" name="Text 107"/>
          <p:cNvSpPr txBox="1"/>
          <p:nvPr/>
        </p:nvSpPr>
        <p:spPr>
          <a:xfrm>
            <a:off x="964306" y="4548255"/>
            <a:ext cx="1581687" cy="21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1 bit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2769186" y="4530680"/>
            <a:ext cx="0" cy="316337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769186" y="4548255"/>
            <a:ext cx="3172160" cy="123020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12" name="Text 110"/>
          <p:cNvSpPr txBox="1"/>
          <p:nvPr/>
        </p:nvSpPr>
        <p:spPr>
          <a:xfrm>
            <a:off x="2769186" y="4548255"/>
            <a:ext cx="3172160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가짜 frame (수정 전)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3103097" y="4706423"/>
            <a:ext cx="3339116" cy="12302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14" name="Text 112"/>
          <p:cNvSpPr txBox="1"/>
          <p:nvPr/>
        </p:nvSpPr>
        <p:spPr>
          <a:xfrm>
            <a:off x="3103097" y="4706423"/>
            <a:ext cx="3339116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 frame</a:t>
            </a:r>
            <a:endParaRPr lang="en-US" sz="800" dirty="0"/>
          </a:p>
        </p:txBody>
      </p:sp>
      <p:sp>
        <p:nvSpPr>
          <p:cNvPr id="115" name="Text 113"/>
          <p:cNvSpPr txBox="1"/>
          <p:nvPr/>
        </p:nvSpPr>
        <p:spPr>
          <a:xfrm>
            <a:off x="964306" y="5163355"/>
            <a:ext cx="1581687" cy="21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3 bit</a:t>
            </a:r>
            <a:endParaRPr lang="en-US" sz="1000" dirty="0"/>
          </a:p>
        </p:txBody>
      </p:sp>
      <p:sp>
        <p:nvSpPr>
          <p:cNvPr id="116" name="Shape 114"/>
          <p:cNvSpPr/>
          <p:nvPr/>
        </p:nvSpPr>
        <p:spPr>
          <a:xfrm>
            <a:off x="2769186" y="5145781"/>
            <a:ext cx="0" cy="316337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2769186" y="5163355"/>
            <a:ext cx="3172160" cy="123020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18" name="Text 116"/>
          <p:cNvSpPr txBox="1"/>
          <p:nvPr/>
        </p:nvSpPr>
        <p:spPr>
          <a:xfrm>
            <a:off x="2769186" y="5163355"/>
            <a:ext cx="3172160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가짜 frame (수정 전)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770921" y="5321524"/>
            <a:ext cx="3339116" cy="12302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20" name="Text 118"/>
          <p:cNvSpPr txBox="1"/>
          <p:nvPr/>
        </p:nvSpPr>
        <p:spPr>
          <a:xfrm>
            <a:off x="3770921" y="5321524"/>
            <a:ext cx="3339116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 frame</a:t>
            </a:r>
            <a:endParaRPr lang="en-US" sz="800" dirty="0"/>
          </a:p>
        </p:txBody>
      </p:sp>
      <p:sp>
        <p:nvSpPr>
          <p:cNvPr id="121" name="Text 119"/>
          <p:cNvSpPr txBox="1"/>
          <p:nvPr/>
        </p:nvSpPr>
        <p:spPr>
          <a:xfrm>
            <a:off x="964306" y="5778455"/>
            <a:ext cx="1581687" cy="210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 12 bit</a:t>
            </a:r>
            <a:endParaRPr lang="en-US" sz="1000" dirty="0"/>
          </a:p>
        </p:txBody>
      </p:sp>
      <p:sp>
        <p:nvSpPr>
          <p:cNvPr id="122" name="Shape 120"/>
          <p:cNvSpPr/>
          <p:nvPr/>
        </p:nvSpPr>
        <p:spPr>
          <a:xfrm>
            <a:off x="2769186" y="5760881"/>
            <a:ext cx="0" cy="316337"/>
          </a:xfrm>
          <a:prstGeom prst="line">
            <a:avLst/>
          </a:prstGeom>
          <a:noFill/>
          <a:ln w="31750">
            <a:solidFill>
              <a:srgbClr val="DC262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2769186" y="5778455"/>
            <a:ext cx="3172160" cy="123020"/>
          </a:xfrm>
          <a:prstGeom prst="rect">
            <a:avLst/>
          </a:prstGeom>
          <a:solidFill>
            <a:srgbClr val="FECDD3"/>
          </a:solidFill>
          <a:ln w="9525">
            <a:solidFill>
              <a:srgbClr val="BE123C"/>
            </a:solidFill>
            <a:prstDash val="solid"/>
          </a:ln>
        </p:spPr>
      </p:sp>
      <p:sp>
        <p:nvSpPr>
          <p:cNvPr id="124" name="Text 122"/>
          <p:cNvSpPr txBox="1"/>
          <p:nvPr/>
        </p:nvSpPr>
        <p:spPr>
          <a:xfrm>
            <a:off x="2769186" y="5778455"/>
            <a:ext cx="3172160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BE12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가짜 frame (수정 전)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6776125" y="5936624"/>
            <a:ext cx="3339116" cy="123020"/>
          </a:xfrm>
          <a:prstGeom prst="rect">
            <a:avLst/>
          </a:prstGeom>
          <a:solidFill>
            <a:srgbClr val="DBEAFE"/>
          </a:solidFill>
          <a:ln w="9525">
            <a:solidFill>
              <a:srgbClr val="1D4ED8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6776125" y="5936624"/>
            <a:ext cx="3339116" cy="123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D4E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0x55 frame</a:t>
            </a:r>
            <a:endParaRPr lang="en-US" sz="800" dirty="0"/>
          </a:p>
        </p:txBody>
      </p:sp>
      <p:sp>
        <p:nvSpPr>
          <p:cNvPr id="127" name="Text 125"/>
          <p:cNvSpPr txBox="1"/>
          <p:nvPr/>
        </p:nvSpPr>
        <p:spPr>
          <a:xfrm>
            <a:off x="964306" y="6305684"/>
            <a:ext cx="8787148" cy="1757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수정 후: START 중 rx = 1 → 가짜 frame 없이 IDLE 복귀 → 0x55 정상 수신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Glitch 폭 기준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Glitch 폭: clk · tick · Half-bit 경계 기준으로 선정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기준 시간 상수 3개 — clk 10 ns · tick 6,510 ns (sampling edge 간격) · half bit 52,080 ns (START 대기)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1 tick 미만 = 실제 노이즈 구간 (위치에 따라 결과 갈림), 1 tick 이상 = 경계 확인용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550840" y="2400627"/>
            <a:ext cx="6486029" cy="171515"/>
          </a:xfrm>
          <a:prstGeom prst="rect">
            <a:avLst/>
          </a:prstGeom>
          <a:solidFill>
            <a:srgbClr val="DCFCE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36869" y="2400627"/>
            <a:ext cx="2081855" cy="171515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18724" y="2400627"/>
            <a:ext cx="693952" cy="17151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550840" y="2400627"/>
            <a:ext cx="6486029" cy="17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5803D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tick 미만 · 위치에 따라 결과 갈림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8036869" y="2400627"/>
            <a:ext cx="2081855" cy="17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tick 이상 · 경계 확인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118724" y="2400627"/>
            <a:ext cx="693952" cy="17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bit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0840" y="2314870"/>
            <a:ext cx="0" cy="480243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516537" y="2812264"/>
            <a:ext cx="1200608" cy="13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 10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036869" y="2314870"/>
            <a:ext cx="0" cy="480243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36565" y="2812264"/>
            <a:ext cx="1200608" cy="13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 6,510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18724" y="2314870"/>
            <a:ext cx="0" cy="480243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52418" y="2812264"/>
            <a:ext cx="1200608" cy="13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half bit 52,080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812675" y="2314870"/>
            <a:ext cx="0" cy="480243"/>
          </a:xfrm>
          <a:prstGeom prst="line">
            <a:avLst/>
          </a:prstGeom>
          <a:noFill/>
          <a:ln w="22225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40856" y="2812264"/>
            <a:ext cx="1200608" cy="13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104,160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01913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7" name="Shape 25"/>
          <p:cNvSpPr/>
          <p:nvPr/>
        </p:nvSpPr>
        <p:spPr>
          <a:xfrm>
            <a:off x="2244792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901761" y="2040445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07170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4550049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207018" y="2040445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428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Shape 31"/>
          <p:cNvSpPr/>
          <p:nvPr/>
        </p:nvSpPr>
        <p:spPr>
          <a:xfrm>
            <a:off x="6855307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12276" y="2040445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2,000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912315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Shape 34"/>
          <p:cNvSpPr/>
          <p:nvPr/>
        </p:nvSpPr>
        <p:spPr>
          <a:xfrm>
            <a:off x="7955194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12163" y="2040445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6,000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993990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9" name="Shape 37"/>
          <p:cNvSpPr/>
          <p:nvPr/>
        </p:nvSpPr>
        <p:spPr>
          <a:xfrm>
            <a:off x="8036869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693838" y="1920384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6,510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687941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Shape 40"/>
          <p:cNvSpPr/>
          <p:nvPr/>
        </p:nvSpPr>
        <p:spPr>
          <a:xfrm>
            <a:off x="8730820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387789" y="2040445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13,020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381893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Shape 43"/>
          <p:cNvSpPr/>
          <p:nvPr/>
        </p:nvSpPr>
        <p:spPr>
          <a:xfrm>
            <a:off x="9424772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081741" y="2040445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26,040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035039" y="2186233"/>
            <a:ext cx="85758" cy="8575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8" name="Shape 46"/>
          <p:cNvSpPr/>
          <p:nvPr/>
        </p:nvSpPr>
        <p:spPr>
          <a:xfrm>
            <a:off x="10077918" y="2271991"/>
            <a:ext cx="0" cy="128637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734887" y="2040445"/>
            <a:ext cx="686062" cy="120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50,000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9526309" y="1645959"/>
            <a:ext cx="1715155" cy="1372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 ns · log scale</a:t>
            </a:r>
            <a:endParaRPr lang="en-US" sz="9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0536" y="3103841"/>
          <a:ext cx="10290928" cy="914400"/>
        </p:xfrm>
        <a:graphic>
          <a:graphicData uri="http://schemas.openxmlformats.org/drawingml/2006/table">
            <a:tbl>
              <a:tblPr/>
              <a:tblGrid>
                <a:gridCol w="943335"/>
                <a:gridCol w="1457881"/>
                <a:gridCol w="6689103"/>
                <a:gridCol w="1200608"/>
              </a:tblGrid>
              <a:tr h="27442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 (ns)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환산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선정 근거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clk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RTL sim은 rx를 clk edge(10 ns)에서만 봄 → clk edge를 확실히 덮는 최소 폭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clk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tick 안 10배 간격 sweep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clk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 tick 안 10배 간격 sweep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tick − 510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off-tick이 E를 피하는 최대 폭 6,507 ns 바로 아래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580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짧은 noise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6,510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tick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sampling edge 간격과 같은 폭 → 모든 위치에서 E 1개 이상 덮음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13,020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tick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E 2개 이상 덮음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26,040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 tick (1/4 bit)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대기 8 tick의 중간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48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50,000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half bit 미만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START 대기 8 tick(52,080 ns) 바로 아래 → START 재확인으로 거를 수 있는 상한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B45309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경계 확인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68606" marR="68606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START Glitch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Glitch: 수정 전 17 FAIL → 수정 후 23 Case 모두 PASS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수정 전 — sampling edge를 덮은 glitch는 폭과 무관하게 가짜 0xFF 수신 · echo, 뒤 byte까지 손실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수정 후 — START 중 rx = 1 → IDLE 복귀, 50 µs glitch까지 무시 · 뒤 byte 정상 1회 수신</a:t>
            </a:r>
            <a:endParaRPr lang="en-US" sz="15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" y="1638300"/>
          <a:ext cx="11430000" cy="914400"/>
        </p:xfrm>
        <a:graphic>
          <a:graphicData uri="http://schemas.openxmlformats.org/drawingml/2006/table">
            <a:tbl>
              <a:tblPr/>
              <a:tblGrid>
                <a:gridCol w="1428750"/>
                <a:gridCol w="2857500"/>
                <a:gridCol w="1047750"/>
                <a:gridCol w="2381250"/>
                <a:gridCol w="1143000"/>
                <a:gridCol w="1143000"/>
                <a:gridCol w="1428750"/>
              </a:tblGrid>
              <a:tr h="3238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입력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폭 (ns) · 조건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위치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 전 rx_done / echo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 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수정 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case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· 200 · 2,000 · 6,000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/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 · 200 · 2,000 · 6,000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 / 1 (FF)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single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6,510 · 13,020 · 26,040 · 50,000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 · on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 / 1 (FF)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burst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× 5, gap 1,000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 / 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burst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1,000 × 8, gap 1,000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(FF) / 1 (FF)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byte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 bit → 0x55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off-tick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(55) / 1 (55)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byte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 bit → 0x55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(last FF) / 1 (AA)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byte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 bit → 0xD5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(AA) / 1 (AA)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byte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3 bit → 0x55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(last FE) / 1 (AB)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72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glitch + byte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200 → 12 bit → 0x55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on-tick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 (last 55) / 2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FAIL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580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PASS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76200" marR="76200" marT="0" marB="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81000" y="6191250"/>
            <a:ext cx="1047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 Glitch Result  ·  수정 전 pass 6 / fail 17  →  수정 후 pass 23 / fail 0  (xsim, tb_uart.v)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1000" y="171450"/>
            <a:ext cx="8572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  ·  APPENDIX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  /     Data Bit Glitch 결과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381000" y="419100"/>
            <a:ext cx="105727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Bit Glitch: Bit 중앙 Sampling Edge를 덮을 때만 1 bit 반전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163300" y="228600"/>
            <a:ext cx="590550" cy="59055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163300" y="228600"/>
            <a:ext cx="59055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381000" y="6610350"/>
            <a:ext cx="381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정안성  ·  UART Loopback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0858500" y="6610350"/>
            <a:ext cx="9525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26 / 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1000" y="962025"/>
            <a:ext cx="552450" cy="24765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1000" y="962025"/>
            <a:ext cx="5524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47750" y="952500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1 tick 미만 glitch 320 case 중 bit 중앙 (offset 0) </a:t>
            </a:r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64 case FAIL</a:t>
            </a:r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— glitch 넣은 bit만 반전, rx_done · echo는 정상 1회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47750" y="1209675"/>
            <a:ext cx="10763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 ±1 · ±7 tick 위치는 모두 PASS → bit 중앙 1회 sampling (ONE BIT mode) 구조 한계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1000" y="1638300"/>
            <a:ext cx="4476750" cy="4762500"/>
          </a:xfrm>
          <a:prstGeom prst="roundRect">
            <a:avLst>
              <a:gd name="adj" fmla="val 12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3400" y="173355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입력 방법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62000" y="1981200"/>
            <a:ext cx="361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bit 1개 (104.16 µs)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62000" y="2286000"/>
            <a:ext cx="3619500" cy="57150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8219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14438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40656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93094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19313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45531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71750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97969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24188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50406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6625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02844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929063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55281" y="2286000"/>
            <a:ext cx="0" cy="571500"/>
          </a:xfrm>
          <a:prstGeom prst="line">
            <a:avLst/>
          </a:prstGeom>
          <a:noFill/>
          <a:ln w="9525">
            <a:solidFill>
              <a:srgbClr val="BFDB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50119" y="2209800"/>
            <a:ext cx="76200" cy="7239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97719" y="29718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307431" y="2209800"/>
            <a:ext cx="76200" cy="7239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155031" y="29718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33650" y="2209800"/>
            <a:ext cx="76200" cy="7239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2381250" y="29718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59869" y="2209800"/>
            <a:ext cx="76200" cy="7239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2607469" y="29718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117181" y="2209800"/>
            <a:ext cx="76200" cy="7239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3964781" y="2971800"/>
            <a:ext cx="381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762000" y="3143250"/>
            <a:ext cx="36195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offset (tick, bit 중앙 기준)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71750" y="3333750"/>
            <a:ext cx="0" cy="20955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619250" y="3543300"/>
            <a:ext cx="1905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RX sampling (bit 중앙)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609600" y="3905250"/>
            <a:ext cx="4095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 0x55 · 0xAA  (bit마다 0 · 1 둘 다)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   0 ~ 7 중 1개, 그 bit와 반대 레벨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폭    20 · 200 · 2,000 · 6,000 ns</a:t>
            </a:r>
            <a:endParaRPr lang="en-US" sz="12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판정  rx_data · echo = 송신 byte, 각 1회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609600" y="5219700"/>
            <a:ext cx="4095750" cy="104775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62000" y="529590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C262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FAIL 예  ·  0x55, bit 0, 20 ns, offset 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762000" y="5524500"/>
            <a:ext cx="3905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: 55 (01010101)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rx_data  : 54 (01010100)  rx_done x1</a:t>
            </a:r>
            <a:endParaRPr lang="en-US" sz="1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     :    (00000001)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5143500" y="1733550"/>
            <a:ext cx="6667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PASS 수 / 16  (bit 8개 × data 2개)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6343650" y="2114550"/>
            <a:ext cx="106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−7 tick</a:t>
            </a:r>
            <a:endParaRPr lang="en-US" sz="1250" dirty="0"/>
          </a:p>
        </p:txBody>
      </p:sp>
      <p:sp>
        <p:nvSpPr>
          <p:cNvPr id="50" name="Text 48"/>
          <p:cNvSpPr txBox="1"/>
          <p:nvPr/>
        </p:nvSpPr>
        <p:spPr>
          <a:xfrm>
            <a:off x="7410450" y="2114550"/>
            <a:ext cx="106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−1 tick</a:t>
            </a:r>
            <a:endParaRPr lang="en-US" sz="1250" dirty="0"/>
          </a:p>
        </p:txBody>
      </p:sp>
      <p:sp>
        <p:nvSpPr>
          <p:cNvPr id="51" name="Text 49"/>
          <p:cNvSpPr txBox="1"/>
          <p:nvPr/>
        </p:nvSpPr>
        <p:spPr>
          <a:xfrm>
            <a:off x="8477250" y="2114550"/>
            <a:ext cx="106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tick</a:t>
            </a:r>
            <a:endParaRPr lang="en-US" sz="1250" dirty="0"/>
          </a:p>
        </p:txBody>
      </p:sp>
      <p:sp>
        <p:nvSpPr>
          <p:cNvPr id="52" name="Text 50"/>
          <p:cNvSpPr txBox="1"/>
          <p:nvPr/>
        </p:nvSpPr>
        <p:spPr>
          <a:xfrm>
            <a:off x="9544050" y="2114550"/>
            <a:ext cx="106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 tick</a:t>
            </a:r>
            <a:endParaRPr lang="en-US" sz="1250" dirty="0"/>
          </a:p>
        </p:txBody>
      </p:sp>
      <p:sp>
        <p:nvSpPr>
          <p:cNvPr id="53" name="Text 51"/>
          <p:cNvSpPr txBox="1"/>
          <p:nvPr/>
        </p:nvSpPr>
        <p:spPr>
          <a:xfrm>
            <a:off x="10610850" y="2114550"/>
            <a:ext cx="1066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+7 tick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5143500" y="2114550"/>
            <a:ext cx="1143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폭 / offset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5143500" y="247650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ns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81750" y="24765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6381750" y="24765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7448550" y="24765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448550" y="24765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8515350" y="24765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515350" y="24765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16</a:t>
            </a: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9582150" y="24765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9582150" y="24765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0648950" y="24765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648950" y="24765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66" name="Text 64"/>
          <p:cNvSpPr txBox="1"/>
          <p:nvPr/>
        </p:nvSpPr>
        <p:spPr>
          <a:xfrm>
            <a:off x="5143500" y="335280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 ns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6381750" y="33528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381750" y="33528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7448550" y="33528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7448550" y="33528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515350" y="33528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2" name="Text 70"/>
          <p:cNvSpPr txBox="1"/>
          <p:nvPr/>
        </p:nvSpPr>
        <p:spPr>
          <a:xfrm>
            <a:off x="8515350" y="33528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16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9582150" y="33528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9582150" y="33528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10648950" y="33528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10648950" y="33528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5143500" y="422910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2,000 ns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6381750" y="42291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381750" y="42291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7448550" y="42291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1" name="Text 79"/>
          <p:cNvSpPr txBox="1"/>
          <p:nvPr/>
        </p:nvSpPr>
        <p:spPr>
          <a:xfrm>
            <a:off x="7448550" y="42291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82" name="Shape 80"/>
          <p:cNvSpPr/>
          <p:nvPr/>
        </p:nvSpPr>
        <p:spPr>
          <a:xfrm>
            <a:off x="8515350" y="42291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515350" y="42291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16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9582150" y="42291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9582150" y="42291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86" name="Shape 84"/>
          <p:cNvSpPr/>
          <p:nvPr/>
        </p:nvSpPr>
        <p:spPr>
          <a:xfrm>
            <a:off x="10648950" y="42291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10648950" y="42291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5143500" y="5105400"/>
            <a:ext cx="1143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6,000 ns</a:t>
            </a:r>
            <a:endParaRPr lang="en-US" sz="1300" dirty="0"/>
          </a:p>
        </p:txBody>
      </p:sp>
      <p:sp>
        <p:nvSpPr>
          <p:cNvPr id="89" name="Shape 87"/>
          <p:cNvSpPr/>
          <p:nvPr/>
        </p:nvSpPr>
        <p:spPr>
          <a:xfrm>
            <a:off x="6381750" y="51054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0" name="Text 88"/>
          <p:cNvSpPr txBox="1"/>
          <p:nvPr/>
        </p:nvSpPr>
        <p:spPr>
          <a:xfrm>
            <a:off x="6381750" y="51054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7448550" y="51054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7448550" y="51054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8515350" y="51054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8515350" y="51054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/ 16</a:t>
            </a: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9582150" y="51054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6" name="Text 94"/>
          <p:cNvSpPr txBox="1"/>
          <p:nvPr/>
        </p:nvSpPr>
        <p:spPr>
          <a:xfrm>
            <a:off x="9582150" y="51054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10648950" y="5105400"/>
            <a:ext cx="990600" cy="800100"/>
          </a:xfrm>
          <a:prstGeom prst="roundRect">
            <a:avLst>
              <a:gd name="adj" fmla="val 7143"/>
            </a:avLst>
          </a:prstGeom>
          <a:solidFill>
            <a:srgbClr val="DCFCE7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8" name="Text 96"/>
          <p:cNvSpPr txBox="1"/>
          <p:nvPr/>
        </p:nvSpPr>
        <p:spPr>
          <a:xfrm>
            <a:off x="10648950" y="5105400"/>
            <a:ext cx="9906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580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16</a:t>
            </a:r>
            <a:endParaRPr lang="en-US" sz="1600" dirty="0"/>
          </a:p>
        </p:txBody>
      </p:sp>
      <p:sp>
        <p:nvSpPr>
          <p:cNvPr id="99" name="Text 97"/>
          <p:cNvSpPr txBox="1"/>
          <p:nvPr/>
        </p:nvSpPr>
        <p:spPr>
          <a:xfrm>
            <a:off x="5143500" y="6096000"/>
            <a:ext cx="6667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47556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 GLITCH Result  ·  320 case  pass 256 / fail 64  (xsim, tb_uart.v)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UART Loopback</dc:title>
  <dc:subject>PptxGenJS Presentation</dc:subject>
  <dc:creator>정안성</dc:creator>
  <cp:lastModifiedBy>정안성</cp:lastModifiedBy>
  <cp:revision>1</cp:revision>
  <dcterms:created xsi:type="dcterms:W3CDTF">2026-10-25T14:10:02Z</dcterms:created>
  <dcterms:modified xsi:type="dcterms:W3CDTF">2026-10-25T14:10:02Z</dcterms:modified>
</cp:coreProperties>
</file>