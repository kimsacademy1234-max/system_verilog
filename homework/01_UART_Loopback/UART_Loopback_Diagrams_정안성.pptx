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1428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TEAM PROJECT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097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Loopback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3400" y="24003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Block Diagram  ·  ASM Chart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340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150" y="34290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915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90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90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39065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9065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640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2150" y="37338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215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7900" y="37338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790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33650" y="37338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365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19400" y="37338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1940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10515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515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90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0900" y="37338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676650" y="34290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665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62400" y="34290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62400" y="3429000"/>
            <a:ext cx="28575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490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9065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7640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215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4790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3365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1940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0515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9090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76650" y="381000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3400" y="40386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0x41 'A'  ·  8N1  ·  9600 bps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3400" y="5905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715000" y="1143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715000" y="1809750"/>
            <a:ext cx="66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477000" y="18097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477000" y="20955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uart_loopback Block Diagram  ·  Interface  ·  top_ascii System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68000" y="18097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 – 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15000" y="2533650"/>
            <a:ext cx="59055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2800350"/>
            <a:ext cx="66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477000" y="28003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Timing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77000" y="30861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Baud Tick  ·  16x Oversampling  ·  Bit Center Sampling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668000" y="28003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15000" y="3524250"/>
            <a:ext cx="59055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790950"/>
            <a:ext cx="66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6477000" y="37909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ASM Chart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477000" y="40767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  ·  State Table  ·  uart_tx ASM  ·  State Table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668000" y="3790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6 – 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15000" y="4514850"/>
            <a:ext cx="59055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4781550"/>
            <a:ext cx="66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6477000" y="47815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Loopback Handshake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6477000" y="50673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tx_start  ·  Back-to-Back Margin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668000" y="47815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15000" y="5505450"/>
            <a:ext cx="59055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Architecture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Block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uart_loopback: RX Output Feeds TX Directly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52500"/>
            <a:ext cx="11430000" cy="457200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9750" y="1219200"/>
            <a:ext cx="8191500" cy="3981450"/>
          </a:xfrm>
          <a:prstGeom prst="roundRect">
            <a:avLst>
              <a:gd name="adj" fmla="val 957"/>
            </a:avLst>
          </a:prstGeom>
          <a:ln w="19050">
            <a:solidFill>
              <a:srgbClr val="818CF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924050" y="12763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uart_loopback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4050" y="144780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uart.v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62500" y="1428750"/>
            <a:ext cx="2667000" cy="80010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2222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0" y="15811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baud_tick_gen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0" y="18097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U_BAUD_TICK_GEN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2500" y="19812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F_COUNT = 651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76500" y="2857500"/>
            <a:ext cx="2286000" cy="171450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6500" y="3467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76500" y="36957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U_UART_RX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29500" y="2857500"/>
            <a:ext cx="2286000" cy="17145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9500" y="3467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9500" y="36957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U_UART_TX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8200" y="131445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8200" y="13144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62200" y="27432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2200" y="2743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27432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743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38500" y="288607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33650" y="334327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14750" y="3343275"/>
            <a:ext cx="990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rx_data[7:0]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05250" y="39147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91500" y="288607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86650" y="334327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tx_data[7:0]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86650" y="3914775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0" y="3343275"/>
            <a:ext cx="514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53500" y="3914775"/>
            <a:ext cx="704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96000" y="2228850"/>
            <a:ext cx="0" cy="26670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9500" y="2495550"/>
            <a:ext cx="49530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9500" y="2495550"/>
            <a:ext cx="0" cy="3619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72500" y="2495550"/>
            <a:ext cx="0" cy="3619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53138" y="2452688"/>
            <a:ext cx="85725" cy="8572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22669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w_b_tick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3400" y="334327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638300" y="3429000"/>
            <a:ext cx="8382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533400" y="172402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3400" y="202882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638300" y="1809750"/>
            <a:ext cx="60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638300" y="2114550"/>
            <a:ext cx="60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2286000" y="18764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 modules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62500" y="3429000"/>
            <a:ext cx="26670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5143500" y="3209925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w_rx_data[7:0]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48375" y="3381375"/>
            <a:ext cx="95250" cy="9525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6000" y="3429000"/>
            <a:ext cx="0" cy="133350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96000" y="4762500"/>
            <a:ext cx="43434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762500" y="4000500"/>
            <a:ext cx="26670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324600" y="378142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w_rx_done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291138" y="3957638"/>
            <a:ext cx="85725" cy="8572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8" name="Shape 56"/>
          <p:cNvSpPr/>
          <p:nvPr/>
        </p:nvSpPr>
        <p:spPr>
          <a:xfrm>
            <a:off x="5334000" y="4000500"/>
            <a:ext cx="0" cy="10096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34000" y="5010150"/>
            <a:ext cx="51054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667500" y="4076700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67500" y="4076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715500" y="3429000"/>
            <a:ext cx="7239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10496550" y="3343275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496550" y="4676775"/>
            <a:ext cx="1295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o_rx_data[7:0]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496550" y="4924425"/>
            <a:ext cx="1295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o_rx_done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715500" y="4000500"/>
            <a:ext cx="3048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963150" y="3943350"/>
            <a:ext cx="114300" cy="11430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963150" y="3943350"/>
            <a:ext cx="114300" cy="11430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34600" y="3914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71500" y="5353050"/>
            <a:ext cx="3429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1550" y="526732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1-bit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619250" y="5353050"/>
            <a:ext cx="3429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9300" y="5267325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8-bit bus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986088" y="5310188"/>
            <a:ext cx="85725" cy="8572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5" name="Text 73"/>
          <p:cNvSpPr/>
          <p:nvPr/>
        </p:nvSpPr>
        <p:spPr>
          <a:xfrm>
            <a:off x="3124200" y="5267325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886200" y="526732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NC = no connect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81000" y="5638800"/>
            <a:ext cx="56578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5300" y="57054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5300" y="57054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19150" y="5638800"/>
            <a:ext cx="5124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baud_tick_gen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 clk마다 1 clk b_tick (9600 × 16)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153150" y="5638800"/>
            <a:ext cx="56578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67450" y="57054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67450" y="57054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591300" y="5638800"/>
            <a:ext cx="5124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 정렬 후 16 tick 간격 sampling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381000" y="6076950"/>
            <a:ext cx="56578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5300" y="614362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5300" y="61436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19150" y="6076950"/>
            <a:ext cx="5124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→ tx_start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bit 중앙 1 clk pulse → echo 시작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153150" y="6076950"/>
            <a:ext cx="56578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267450" y="614362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67450" y="61436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591300" y="6076950"/>
            <a:ext cx="5124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tx_data latch 후 LSB first 송신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Architecture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Interface: rx_done Doubles as tx_start, tx_busy Left Open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28700"/>
          <a:ext cx="11430000" cy="914400"/>
        </p:xfrm>
        <a:graphic>
          <a:graphicData uri="http://schemas.openxmlformats.org/drawingml/2006/table">
            <a:tbl>
              <a:tblPr/>
              <a:tblGrid>
                <a:gridCol w="1809750"/>
                <a:gridCol w="1047750"/>
                <a:gridCol w="4286250"/>
                <a:gridCol w="428625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Signal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Width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  →  To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입력  →  3 modules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 system clock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입력  →  3 modules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active-high, asynchronous reset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 →  uart_rx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 입력, idle = 1, synchronizer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w_b_tick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baud_tick_gen  →  uart_rx · uart_tx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6.51 µs 주기 1 clk pulse (153.6 kHz)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E1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w_rx_data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uart_rx  →  uart_tx.tx_data · o_rx_data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수신 byte, rx_done 시점 유효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E1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w_rx_done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uart_rx  →  uart_tx.tx_start · o_rx_done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bit 중앙 1 clk pulse = TX 시작 신호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uart_tx  →  PC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echo 직렬 출력, idle =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tx_busy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uart_tx  →  미연결 (NC)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~ STOP 구간 1, IDLE 복귀 시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o_rx_data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uart_loopback  →  top_ascii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Ascii_decoder 입력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o_rx_done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uart_loopback  →  top_ascii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anode_reg shift enable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1000" y="61912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Signal 색 = 출발 module  (uart_rx  ·  uart_tx  ·  baud_tick_gen  ·  top port)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Architecture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top_ascii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top_ascii: Each Received Byte Shifts onto the 4-digit FND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52500"/>
            <a:ext cx="11430000" cy="4248150"/>
          </a:xfrm>
          <a:prstGeom prst="roundRect">
            <a:avLst>
              <a:gd name="adj" fmla="val 17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10287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top_ascii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16002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2405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uart_loopback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152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U_UART_LOOP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32410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uart.v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10000" y="1600200"/>
            <a:ext cx="1524000" cy="1143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19240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Ascii_decoder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10000" y="21526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U_ASCII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0" y="232410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 → hex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1250" y="1600200"/>
            <a:ext cx="1428750" cy="1143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1250" y="19240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fnd_decoder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1250" y="21526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U_FND_DEC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1250" y="23241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→ segment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77250" y="1504950"/>
            <a:ext cx="1143000" cy="1333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477250" y="18669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anode_reg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77250" y="20764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[31:0]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77250" y="22669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8bit shift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5400000">
            <a:off x="9686925" y="1933575"/>
            <a:ext cx="1104900" cy="476250"/>
          </a:xfrm>
          <a:prstGeom prst="trapezoid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82200" y="2000250"/>
            <a:ext cx="514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82200" y="21717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6250" y="18954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5350" y="1981200"/>
            <a:ext cx="24765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76250" y="23526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H="1">
            <a:off x="895350" y="2438400"/>
            <a:ext cx="24765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57500" y="1981200"/>
            <a:ext cx="9525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14650" y="17716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57500" y="2438400"/>
            <a:ext cx="9525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914650" y="22288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o_rx_done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0388" y="2395538"/>
            <a:ext cx="85725" cy="8572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2438400"/>
            <a:ext cx="0" cy="7048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43250" y="3143250"/>
            <a:ext cx="59055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9048750" y="2838450"/>
            <a:ext cx="0" cy="30480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9105900" y="289560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34000" y="2171700"/>
            <a:ext cx="85725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334000" y="19621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w_fnd_hex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76875" y="2190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[3:0]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20000" y="2171700"/>
            <a:ext cx="8572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620000" y="19621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w_fnd_font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62875" y="2190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20250" y="2171700"/>
            <a:ext cx="3810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9667875" y="196215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477500" y="2171700"/>
            <a:ext cx="2476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0782300" y="2000250"/>
            <a:ext cx="914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fnd_font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782300" y="217170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34000" y="3733800"/>
            <a:ext cx="1809750" cy="952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34000" y="39624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clock_tick_gen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334000" y="419100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U_CLOCK_4K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34000" y="436245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CLK_FRQ = 4000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810500" y="3733800"/>
            <a:ext cx="1333500" cy="952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0500" y="39624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counter_4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810500" y="41910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U_COUNT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810500" y="43624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3 반복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906000" y="3905250"/>
            <a:ext cx="78105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9906000" y="4038600"/>
            <a:ext cx="781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906000" y="4210050"/>
            <a:ext cx="781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476750" y="412432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086350" y="4210050"/>
            <a:ext cx="24765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143750" y="4210050"/>
            <a:ext cx="66675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7143750" y="4000500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w_clk_4k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144000" y="4210050"/>
            <a:ext cx="7620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163050" y="400050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w_sel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539288" y="4167188"/>
            <a:ext cx="85725" cy="8572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1" name="Shape 69"/>
          <p:cNvSpPr/>
          <p:nvPr/>
        </p:nvSpPr>
        <p:spPr>
          <a:xfrm flipV="1">
            <a:off x="9582150" y="3429000"/>
            <a:ext cx="0" cy="78105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82150" y="3429000"/>
            <a:ext cx="657225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0239375" y="2667000"/>
            <a:ext cx="0" cy="76200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10287000" y="28575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687050" y="4210050"/>
            <a:ext cx="13335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10858500" y="4038600"/>
            <a:ext cx="914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fnd_com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858500" y="421005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[3:0]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028700" y="14859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28700" y="14859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695700" y="14859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95700" y="14859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362950" y="139065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62950" y="13906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219700" y="36195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9700" y="36195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33400" y="49149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module instance   ·   점선 = top_ascii 내부 always 블록   ·   clk · rst → 전 module 공통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81000" y="5334000"/>
            <a:ext cx="56578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95300" y="5467350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5300" y="5467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19150" y="5334000"/>
            <a:ext cx="5124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uart_loopback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byte echo + o_rx_data · o_rx_done 출력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6153150" y="5334000"/>
            <a:ext cx="56578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67450" y="5467350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67450" y="5467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591300" y="5334000"/>
            <a:ext cx="5124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Ascii_decoder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'0'~'9' · 'A'~'F' · 'a'~'f' → hex, 그 외 0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381000" y="5905500"/>
            <a:ext cx="56578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95300" y="6038850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5300" y="6038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19150" y="5905500"/>
            <a:ext cx="5124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anode_reg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rx_done마다 8bit shift → 최근 4글자 표시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153150" y="5905500"/>
            <a:ext cx="56578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267450" y="6038850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67450" y="6038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591300" y="5905500"/>
            <a:ext cx="5124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tick → counter_4 → w_sel → digit · font 선택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Timing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Baud Tick · Sampling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Samples Each Bit at Its Center: 8 Ticks, Then Every 16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52500"/>
            <a:ext cx="2628900" cy="6286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9906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4350" y="12001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MHz ÷ 153,600 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651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28950" y="1266825"/>
            <a:ext cx="228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76600" y="952500"/>
            <a:ext cx="2628900" cy="6286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9950" y="9906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9950" y="12001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651 × 10 ns 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6.51 µs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24550" y="1266825"/>
            <a:ext cx="228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952500"/>
            <a:ext cx="2628900" cy="6286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5550" y="9906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bit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5550" y="12001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104.16 µs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20150" y="1266825"/>
            <a:ext cx="228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67800" y="952500"/>
            <a:ext cx="2628900" cy="6286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1150" y="9906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01150" y="12001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8 tick 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52.08 µs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79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242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D0=1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005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D1=0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68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D2=0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531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D3=0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D4=0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057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D5=0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820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D6=1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583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D7=0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34600" y="17145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479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242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005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68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531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057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820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583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346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10900" y="1733550"/>
            <a:ext cx="0" cy="533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1905000"/>
            <a:ext cx="121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76400" y="1943100"/>
            <a:ext cx="5715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79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79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1242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24200" y="19431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05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05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76800" y="2209800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768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53100" y="2209800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531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9400" y="2209800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294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05700" y="2209800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057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3820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82000" y="19431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583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58300" y="22098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134600" y="1943100"/>
            <a:ext cx="0" cy="2667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34600" y="1943100"/>
            <a:ext cx="8763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010900" y="1943100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10900" y="1943100"/>
            <a:ext cx="3810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81150" y="224790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6860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26431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1" name="Shape 69"/>
          <p:cNvSpPr/>
          <p:nvPr/>
        </p:nvSpPr>
        <p:spPr>
          <a:xfrm>
            <a:off x="35623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3519488" y="19002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3" name="Shape 71"/>
          <p:cNvSpPr/>
          <p:nvPr/>
        </p:nvSpPr>
        <p:spPr>
          <a:xfrm>
            <a:off x="44386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43957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5" name="Shape 73"/>
          <p:cNvSpPr/>
          <p:nvPr/>
        </p:nvSpPr>
        <p:spPr>
          <a:xfrm>
            <a:off x="53149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52720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7" name="Shape 75"/>
          <p:cNvSpPr/>
          <p:nvPr/>
        </p:nvSpPr>
        <p:spPr>
          <a:xfrm>
            <a:off x="61912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61483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9" name="Shape 77"/>
          <p:cNvSpPr/>
          <p:nvPr/>
        </p:nvSpPr>
        <p:spPr>
          <a:xfrm>
            <a:off x="70675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70246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1" name="Shape 79"/>
          <p:cNvSpPr/>
          <p:nvPr/>
        </p:nvSpPr>
        <p:spPr>
          <a:xfrm>
            <a:off x="79438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79009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3" name="Shape 81"/>
          <p:cNvSpPr/>
          <p:nvPr/>
        </p:nvSpPr>
        <p:spPr>
          <a:xfrm>
            <a:off x="88201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8777288" y="19002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5" name="Shape 83"/>
          <p:cNvSpPr/>
          <p:nvPr/>
        </p:nvSpPr>
        <p:spPr>
          <a:xfrm>
            <a:off x="96964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9653588" y="21669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7" name="Shape 85"/>
          <p:cNvSpPr/>
          <p:nvPr/>
        </p:nvSpPr>
        <p:spPr>
          <a:xfrm>
            <a:off x="10572750" y="1866900"/>
            <a:ext cx="0" cy="260985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0529888" y="190023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9" name="Text 87"/>
          <p:cNvSpPr/>
          <p:nvPr/>
        </p:nvSpPr>
        <p:spPr>
          <a:xfrm>
            <a:off x="381000" y="2438400"/>
            <a:ext cx="121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c_state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1676400" y="2438400"/>
            <a:ext cx="571500" cy="28575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76400" y="24384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2247900" y="2438400"/>
            <a:ext cx="438150" cy="285750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47900" y="2438400"/>
            <a:ext cx="438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686050" y="2438400"/>
            <a:ext cx="7010400" cy="285750"/>
          </a:xfrm>
          <a:prstGeom prst="rect">
            <a:avLst/>
          </a:prstGeom>
          <a:solidFill>
            <a:srgbClr val="FECD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6050" y="2438400"/>
            <a:ext cx="701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9696450" y="2438400"/>
            <a:ext cx="876300" cy="285750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696450" y="24384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10572750" y="2438400"/>
            <a:ext cx="819150" cy="28575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572750" y="2438400"/>
            <a:ext cx="819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381000" y="2857500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수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2266950" y="2914650"/>
            <a:ext cx="40005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26695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6670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85975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2085975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7051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7051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433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27432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5814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5814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196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6195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36195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4577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4577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2959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958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44958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3340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3340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722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3721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53721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2103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103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0485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2484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62484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70866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0866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9248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1247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71247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79629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629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8011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0010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80010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88392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392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6774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8773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88773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9715500" y="2914650"/>
            <a:ext cx="838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7155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553700" y="2857500"/>
            <a:ext cx="0" cy="1143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753600" y="29718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9753600" y="31146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381000" y="3390900"/>
            <a:ext cx="121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1676400" y="3619500"/>
            <a:ext cx="88963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10572750" y="3429000"/>
            <a:ext cx="0" cy="1905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72750" y="3429000"/>
            <a:ext cx="47625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20375" y="3429000"/>
            <a:ext cx="0" cy="19050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620375" y="3619500"/>
            <a:ext cx="771525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0668000" y="33909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clk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381000" y="3848100"/>
            <a:ext cx="121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1676400" y="3867150"/>
            <a:ext cx="1009650" cy="2476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676400" y="3867150"/>
            <a:ext cx="100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26860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6860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35623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5623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44386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4386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53149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3149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61912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61912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70675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0675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79438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9438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8820150" y="3867150"/>
            <a:ext cx="8763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820150" y="38671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9696450" y="3867150"/>
            <a:ext cx="1695450" cy="24765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696450" y="3867150"/>
            <a:ext cx="1695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</p:txBody>
      </p:sp>
      <p:sp>
        <p:nvSpPr>
          <p:cNvPr id="179" name="Text 177"/>
          <p:cNvSpPr/>
          <p:nvPr/>
        </p:nvSpPr>
        <p:spPr>
          <a:xfrm>
            <a:off x="381000" y="424815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(µs)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1676400" y="4286250"/>
            <a:ext cx="97155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1" name="Text 179"/>
          <p:cNvSpPr/>
          <p:nvPr/>
        </p:nvSpPr>
        <p:spPr>
          <a:xfrm>
            <a:off x="2057400" y="43243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224790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6860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003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</a:t>
            </a:r>
            <a:endParaRPr lang="en-US" sz="950" dirty="0"/>
          </a:p>
        </p:txBody>
      </p:sp>
      <p:sp>
        <p:nvSpPr>
          <p:cNvPr id="185" name="Shape 183"/>
          <p:cNvSpPr/>
          <p:nvPr/>
        </p:nvSpPr>
        <p:spPr>
          <a:xfrm>
            <a:off x="35623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2766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156.24</a:t>
            </a:r>
            <a:endParaRPr lang="en-US" sz="950" dirty="0"/>
          </a:p>
        </p:txBody>
      </p:sp>
      <p:sp>
        <p:nvSpPr>
          <p:cNvPr id="187" name="Shape 185"/>
          <p:cNvSpPr/>
          <p:nvPr/>
        </p:nvSpPr>
        <p:spPr>
          <a:xfrm>
            <a:off x="44386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1529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260.40</a:t>
            </a:r>
            <a:endParaRPr 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53149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0292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364.56</a:t>
            </a:r>
            <a:endParaRPr lang="en-US" sz="950" dirty="0"/>
          </a:p>
        </p:txBody>
      </p:sp>
      <p:sp>
        <p:nvSpPr>
          <p:cNvPr id="191" name="Shape 189"/>
          <p:cNvSpPr/>
          <p:nvPr/>
        </p:nvSpPr>
        <p:spPr>
          <a:xfrm>
            <a:off x="61912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9055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468.72</a:t>
            </a:r>
            <a:endParaRPr lang="en-US" sz="950" dirty="0"/>
          </a:p>
        </p:txBody>
      </p:sp>
      <p:sp>
        <p:nvSpPr>
          <p:cNvPr id="193" name="Shape 191"/>
          <p:cNvSpPr/>
          <p:nvPr/>
        </p:nvSpPr>
        <p:spPr>
          <a:xfrm>
            <a:off x="70675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7818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572.88</a:t>
            </a:r>
            <a:endParaRPr lang="en-US" sz="950" dirty="0"/>
          </a:p>
        </p:txBody>
      </p:sp>
      <p:sp>
        <p:nvSpPr>
          <p:cNvPr id="195" name="Shape 193"/>
          <p:cNvSpPr/>
          <p:nvPr/>
        </p:nvSpPr>
        <p:spPr>
          <a:xfrm>
            <a:off x="79438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6581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677.04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88201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85344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781.20</a:t>
            </a:r>
            <a:endParaRPr lang="en-US" sz="950" dirty="0"/>
          </a:p>
        </p:txBody>
      </p:sp>
      <p:sp>
        <p:nvSpPr>
          <p:cNvPr id="199" name="Shape 197"/>
          <p:cNvSpPr/>
          <p:nvPr/>
        </p:nvSpPr>
        <p:spPr>
          <a:xfrm>
            <a:off x="96964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4107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885.36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10572750" y="4248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0287000" y="4476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989.52</a:t>
            </a:r>
            <a:endParaRPr lang="en-US" sz="950" dirty="0"/>
          </a:p>
        </p:txBody>
      </p:sp>
      <p:sp>
        <p:nvSpPr>
          <p:cNvPr id="203" name="Shape 201"/>
          <p:cNvSpPr/>
          <p:nvPr/>
        </p:nvSpPr>
        <p:spPr>
          <a:xfrm>
            <a:off x="2338388" y="4776788"/>
            <a:ext cx="85725" cy="85725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4" name="Shape 202"/>
          <p:cNvSpPr/>
          <p:nvPr/>
        </p:nvSpPr>
        <p:spPr>
          <a:xfrm>
            <a:off x="2495550" y="4819650"/>
            <a:ext cx="26670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205" name="Text 203"/>
          <p:cNvSpPr/>
          <p:nvPr/>
        </p:nvSpPr>
        <p:spPr>
          <a:xfrm>
            <a:off x="2819400" y="4733925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 (b_tick_cnt 도달)</a:t>
            </a:r>
            <a:endParaRPr lang="en-US" sz="1100" dirty="0"/>
          </a:p>
        </p:txBody>
      </p:sp>
      <p:sp>
        <p:nvSpPr>
          <p:cNvPr id="206" name="Text 204"/>
          <p:cNvSpPr/>
          <p:nvPr/>
        </p:nvSpPr>
        <p:spPr>
          <a:xfrm>
            <a:off x="6096000" y="4733925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frame = 0x41 'A' (LSB first)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381000" y="5143500"/>
            <a:ext cx="11430000" cy="125730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71500" y="52578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 결과 (tb_measure.sv, 0x41 송신)</a:t>
            </a:r>
            <a:endParaRPr lang="en-US" sz="1300" dirty="0"/>
          </a:p>
        </p:txBody>
      </p:sp>
      <p:sp>
        <p:nvSpPr>
          <p:cNvPr id="209" name="Text 207"/>
          <p:cNvSpPr/>
          <p:nvPr/>
        </p:nvSpPr>
        <p:spPr>
          <a:xfrm>
            <a:off x="571500" y="5543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300" dirty="0"/>
          </a:p>
        </p:txBody>
      </p:sp>
      <p:sp>
        <p:nvSpPr>
          <p:cNvPr id="210" name="Text 208"/>
          <p:cNvSpPr/>
          <p:nvPr/>
        </p:nvSpPr>
        <p:spPr>
          <a:xfrm>
            <a:off x="1714500" y="55435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6.51 µs</a:t>
            </a:r>
            <a:endParaRPr lang="en-US" sz="1500" dirty="0"/>
          </a:p>
        </p:txBody>
      </p:sp>
      <p:sp>
        <p:nvSpPr>
          <p:cNvPr id="211" name="Text 209"/>
          <p:cNvSpPr/>
          <p:nvPr/>
        </p:nvSpPr>
        <p:spPr>
          <a:xfrm>
            <a:off x="4286250" y="5543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체류</a:t>
            </a:r>
            <a:endParaRPr lang="en-US" sz="1300" dirty="0"/>
          </a:p>
        </p:txBody>
      </p:sp>
      <p:sp>
        <p:nvSpPr>
          <p:cNvPr id="212" name="Text 210"/>
          <p:cNvSpPr/>
          <p:nvPr/>
        </p:nvSpPr>
        <p:spPr>
          <a:xfrm>
            <a:off x="5429250" y="55435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1500" dirty="0"/>
          </a:p>
        </p:txBody>
      </p:sp>
      <p:sp>
        <p:nvSpPr>
          <p:cNvPr id="213" name="Text 211"/>
          <p:cNvSpPr/>
          <p:nvPr/>
        </p:nvSpPr>
        <p:spPr>
          <a:xfrm>
            <a:off x="8001000" y="5543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간격</a:t>
            </a:r>
            <a:endParaRPr lang="en-US" sz="1300" dirty="0"/>
          </a:p>
        </p:txBody>
      </p:sp>
      <p:sp>
        <p:nvSpPr>
          <p:cNvPr id="214" name="Text 212"/>
          <p:cNvSpPr/>
          <p:nvPr/>
        </p:nvSpPr>
        <p:spPr>
          <a:xfrm>
            <a:off x="9144000" y="55435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1500" dirty="0"/>
          </a:p>
        </p:txBody>
      </p:sp>
      <p:sp>
        <p:nvSpPr>
          <p:cNvPr id="215" name="Text 213"/>
          <p:cNvSpPr/>
          <p:nvPr/>
        </p:nvSpPr>
        <p:spPr>
          <a:xfrm>
            <a:off x="571500" y="594360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sample</a:t>
            </a:r>
            <a:endParaRPr lang="en-US" sz="1300" dirty="0"/>
          </a:p>
        </p:txBody>
      </p:sp>
      <p:sp>
        <p:nvSpPr>
          <p:cNvPr id="216" name="Text 214"/>
          <p:cNvSpPr/>
          <p:nvPr/>
        </p:nvSpPr>
        <p:spPr>
          <a:xfrm>
            <a:off x="1714500" y="594360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+ 156.245 µs</a:t>
            </a:r>
            <a:endParaRPr lang="en-US" sz="1500" dirty="0"/>
          </a:p>
        </p:txBody>
      </p:sp>
      <p:sp>
        <p:nvSpPr>
          <p:cNvPr id="217" name="Text 215"/>
          <p:cNvSpPr/>
          <p:nvPr/>
        </p:nvSpPr>
        <p:spPr>
          <a:xfrm>
            <a:off x="4286250" y="594360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5429250" y="594360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+ 989.525 µs</a:t>
            </a:r>
            <a:endParaRPr lang="en-US" sz="1500" dirty="0"/>
          </a:p>
        </p:txBody>
      </p:sp>
      <p:sp>
        <p:nvSpPr>
          <p:cNvPr id="219" name="Text 217"/>
          <p:cNvSpPr/>
          <p:nvPr/>
        </p:nvSpPr>
        <p:spPr>
          <a:xfrm>
            <a:off x="8001000" y="594360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data_reg</a:t>
            </a:r>
            <a:endParaRPr lang="en-US" sz="1300" dirty="0"/>
          </a:p>
        </p:txBody>
      </p:sp>
      <p:sp>
        <p:nvSpPr>
          <p:cNvPr id="220" name="Text 218"/>
          <p:cNvSpPr/>
          <p:nvPr/>
        </p:nvSpPr>
        <p:spPr>
          <a:xfrm>
            <a:off x="9144000" y="594360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0x41 복원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ASM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ASM: Align to Start Center, Then Sample Every 16 Ticks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11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0" name="Text 8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00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811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5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1125" y="240030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00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5825" y="26289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26289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64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14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6425" y="28575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4525" y="27051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31813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3811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77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80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8" name="Text 26"/>
          <p:cNvSpPr/>
          <p:nvPr/>
        </p:nvSpPr>
        <p:spPr>
          <a:xfrm>
            <a:off x="1400175" y="31051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81125" y="3086100"/>
            <a:ext cx="0" cy="23050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11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3718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18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81125" y="876300"/>
            <a:ext cx="0" cy="1333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0125" y="838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386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7" name="Text 35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4575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5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386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43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3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386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257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48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48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339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2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291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4838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91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17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386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257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6625" y="33337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95675" y="33337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 flipV="1">
            <a:off x="60388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42386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052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61" name="Shape 59"/>
          <p:cNvSpPr/>
          <p:nvPr/>
        </p:nvSpPr>
        <p:spPr>
          <a:xfrm>
            <a:off x="60055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62" name="Shape 60"/>
          <p:cNvSpPr/>
          <p:nvPr/>
        </p:nvSpPr>
        <p:spPr>
          <a:xfrm>
            <a:off x="4238625" y="3867150"/>
            <a:ext cx="0" cy="15240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386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2293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293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961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68" name="Text 66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63150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53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0961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600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00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0961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7115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5055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055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5914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29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6866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76962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8486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676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8392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961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71151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334125" y="33337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53175" y="33337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{rx, data_reg[7:1]}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96125" y="3867150"/>
            <a:ext cx="0" cy="190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6505575" y="4057650"/>
            <a:ext cx="1181100" cy="5715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05575" y="405765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686675" y="43434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7696200" y="43624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848600" y="41338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67650" y="41338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+ 1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839200" y="43434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8896350" y="1123950"/>
            <a:ext cx="0" cy="32194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70961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0627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00" name="Shape 98"/>
          <p:cNvSpPr/>
          <p:nvPr/>
        </p:nvSpPr>
        <p:spPr>
          <a:xfrm>
            <a:off x="88630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01" name="Shape 99"/>
          <p:cNvSpPr/>
          <p:nvPr/>
        </p:nvSpPr>
        <p:spPr>
          <a:xfrm>
            <a:off x="8863013" y="28241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02" name="Text 100"/>
          <p:cNvSpPr/>
          <p:nvPr/>
        </p:nvSpPr>
        <p:spPr>
          <a:xfrm>
            <a:off x="7115175" y="46482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96125" y="4629150"/>
            <a:ext cx="0" cy="7620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961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90868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868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536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09" name="Text 107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50" dirty="0"/>
          </a:p>
        </p:txBody>
      </p:sp>
      <p:sp>
        <p:nvSpPr>
          <p:cNvPr id="110" name="Shape 108"/>
          <p:cNvSpPr/>
          <p:nvPr/>
        </p:nvSpPr>
        <p:spPr>
          <a:xfrm>
            <a:off x="91725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210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9536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9458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458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99536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16" name="Text 114"/>
          <p:cNvSpPr/>
          <p:nvPr/>
        </p:nvSpPr>
        <p:spPr>
          <a:xfrm>
            <a:off x="9972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9363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363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04489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487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105441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22" name="Text 120"/>
          <p:cNvSpPr/>
          <p:nvPr/>
        </p:nvSpPr>
        <p:spPr>
          <a:xfrm>
            <a:off x="10553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10706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725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16967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536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27" name="Text 125"/>
          <p:cNvSpPr/>
          <p:nvPr/>
        </p:nvSpPr>
        <p:spPr>
          <a:xfrm>
            <a:off x="9972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286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305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1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 flipV="1">
            <a:off x="117538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H="1">
            <a:off x="99536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202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7205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953625" y="3657600"/>
            <a:ext cx="0" cy="2057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H="1">
            <a:off x="514350" y="5715000"/>
            <a:ext cx="94392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514350" y="1009650"/>
            <a:ext cx="0" cy="47053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43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485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검출</a:t>
            </a:r>
            <a:endParaRPr lang="en-US" sz="1050" dirty="0"/>
          </a:p>
        </p:txBody>
      </p:sp>
      <p:sp>
        <p:nvSpPr>
          <p:cNvPr id="139" name="Text 137"/>
          <p:cNvSpPr/>
          <p:nvPr/>
        </p:nvSpPr>
        <p:spPr>
          <a:xfrm>
            <a:off x="4343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· 52.08 µs</a:t>
            </a:r>
            <a:endParaRPr lang="en-US" sz="1050" dirty="0"/>
          </a:p>
        </p:txBody>
      </p:sp>
      <p:sp>
        <p:nvSpPr>
          <p:cNvPr id="140" name="Text 138"/>
          <p:cNvSpPr/>
          <p:nvPr/>
        </p:nvSpPr>
        <p:spPr>
          <a:xfrm>
            <a:off x="7200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50" dirty="0"/>
          </a:p>
        </p:txBody>
      </p:sp>
      <p:sp>
        <p:nvSpPr>
          <p:cNvPr id="141" name="Text 139"/>
          <p:cNvSpPr/>
          <p:nvPr/>
        </p:nvSpPr>
        <p:spPr>
          <a:xfrm>
            <a:off x="10058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381000" y="5886450"/>
            <a:ext cx="114300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1500" y="5981700"/>
            <a:ext cx="381000" cy="9525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71500" y="6076950"/>
            <a:ext cx="381000" cy="152400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28700" y="59817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 (무조건 동작)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3429000" y="5972175"/>
            <a:ext cx="381000" cy="2667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886200" y="5981700"/>
            <a:ext cx="104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4991100" y="6010275"/>
            <a:ext cx="4191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486400" y="598170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 box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7219950" y="6067425"/>
            <a:ext cx="76200" cy="7620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51" name="Text 149"/>
          <p:cNvSpPr/>
          <p:nvPr/>
        </p:nvSpPr>
        <p:spPr>
          <a:xfrm>
            <a:off x="7353300" y="59817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8382000" y="59817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State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uart_rx: 8 + 128 + 16 Ticks from Start Edge to rx_done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90600"/>
          <a:ext cx="11430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81250"/>
                <a:gridCol w="2667000"/>
                <a:gridCol w="2381250"/>
                <a:gridCol w="2857500"/>
              </a:tblGrid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 box 동작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탈출 조건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체류 시간 (xsim 측정)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State · 조건부 동작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rx_done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 = 1  &amp;  rx =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 fall 후 다음 b_tick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(최대 1 tick)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7  (8 tick)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52.08 µs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bit_cnt ← 0 · data_reg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15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  bit_cnt = 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833.28 µs  (104.16 × 8)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매 bit data_reg shift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15  (16 tick)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104.16 µs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rx_done ← 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1000" y="36576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5300" y="38385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300" y="3838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9150" y="36576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중앙 정렬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8 tick → start bit 중앙, 이후 16 tick 간격 → 모든 bit 중앙 sampling (첫 sample = 1.5 bit 지점)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1000" y="43434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5300" y="45243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300" y="4524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9150" y="43434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 first shift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data_reg ← {rx, data_reg[7:1]} 8회 → 첫 수신 bit(D0)가 bit 0 위치  (0x41 : 80 → 40 → … → 82 → 41)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81000" y="50292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9150" y="50292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1 clk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16번째 tick에 1, IDLE 진입 다음 clock에 0 → 10 ns pulse = TX 시작 신호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81000" y="57150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5300" y="58959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30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9150" y="57150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재검사 없음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 rx = 0 · STOP rx = 1 확인 생략 → glitch start · framing error 미검출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ASM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ASM: Hold Each Bit for 16 Ticks, LSB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11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00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811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7725" y="1943100"/>
            <a:ext cx="10668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725" y="19431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14525" y="2171700"/>
            <a:ext cx="12668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26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3181350" y="1123950"/>
            <a:ext cx="0" cy="10477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3811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77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2400300"/>
            <a:ext cx="0" cy="2476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400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125" y="26479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175" y="26479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tx_data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81125" y="3181350"/>
            <a:ext cx="0" cy="22098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11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3718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718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1125" y="876300"/>
            <a:ext cx="0" cy="1333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125" y="838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386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575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5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0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386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743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3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386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257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48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48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39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2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291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838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91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17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386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257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571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90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 flipV="1">
            <a:off x="6038850" y="1123950"/>
            <a:ext cx="0" cy="17335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42386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052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7" name="Shape 55"/>
          <p:cNvSpPr/>
          <p:nvPr/>
        </p:nvSpPr>
        <p:spPr>
          <a:xfrm>
            <a:off x="60055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8" name="Shape 56"/>
          <p:cNvSpPr/>
          <p:nvPr/>
        </p:nvSpPr>
        <p:spPr>
          <a:xfrm>
            <a:off x="4238625" y="3657600"/>
            <a:ext cx="0" cy="17335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386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2293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293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961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4" name="Text 62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63150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3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data_reg[0]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961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600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00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961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7115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055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055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5914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29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6866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76962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8486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676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8392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961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71151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4293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84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096125" y="36576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505575" y="3829050"/>
            <a:ext cx="1181100" cy="5715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5575" y="382905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686675" y="4114800"/>
            <a:ext cx="5143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01025" y="4114800"/>
            <a:ext cx="0" cy="4000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0" name="Text 88"/>
          <p:cNvSpPr/>
          <p:nvPr/>
        </p:nvSpPr>
        <p:spPr>
          <a:xfrm>
            <a:off x="7696200" y="396240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581900" y="4514850"/>
            <a:ext cx="123825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00950" y="4514850"/>
            <a:ext cx="12001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{0, data_reg[7:1]}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+ 1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820150" y="4838700"/>
            <a:ext cx="762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8896350" y="1123950"/>
            <a:ext cx="0" cy="37147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70961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627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7" name="Shape 95"/>
          <p:cNvSpPr/>
          <p:nvPr/>
        </p:nvSpPr>
        <p:spPr>
          <a:xfrm>
            <a:off x="88630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8" name="Shape 96"/>
          <p:cNvSpPr/>
          <p:nvPr/>
        </p:nvSpPr>
        <p:spPr>
          <a:xfrm>
            <a:off x="8863013" y="28241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9" name="Text 97"/>
          <p:cNvSpPr/>
          <p:nvPr/>
        </p:nvSpPr>
        <p:spPr>
          <a:xfrm>
            <a:off x="7115175" y="44196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096125" y="4400550"/>
            <a:ext cx="0" cy="990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961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90868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868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536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6" name="Text 104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50" dirty="0"/>
          </a:p>
        </p:txBody>
      </p:sp>
      <p:sp>
        <p:nvSpPr>
          <p:cNvPr id="107" name="Shape 105"/>
          <p:cNvSpPr/>
          <p:nvPr/>
        </p:nvSpPr>
        <p:spPr>
          <a:xfrm>
            <a:off x="91725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210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99536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9458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58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9536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9972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9363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363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04489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487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05441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9" name="Text 117"/>
          <p:cNvSpPr/>
          <p:nvPr/>
        </p:nvSpPr>
        <p:spPr>
          <a:xfrm>
            <a:off x="10553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0706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725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16967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536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4" name="Text 122"/>
          <p:cNvSpPr/>
          <p:nvPr/>
        </p:nvSpPr>
        <p:spPr>
          <a:xfrm>
            <a:off x="9972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9286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305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 flipV="1">
            <a:off x="11753850" y="1123950"/>
            <a:ext cx="0" cy="17335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H="1">
            <a:off x="99536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9202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7205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953625" y="3657600"/>
            <a:ext cx="0" cy="2057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H="1">
            <a:off x="514350" y="5715000"/>
            <a:ext cx="94392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514350" y="1009650"/>
            <a:ext cx="0" cy="47053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43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485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대기</a:t>
            </a:r>
            <a:endParaRPr lang="en-US" sz="1050" dirty="0"/>
          </a:p>
        </p:txBody>
      </p:sp>
      <p:sp>
        <p:nvSpPr>
          <p:cNvPr id="136" name="Text 134"/>
          <p:cNvSpPr/>
          <p:nvPr/>
        </p:nvSpPr>
        <p:spPr>
          <a:xfrm>
            <a:off x="4343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104.15 µs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7200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10058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381000" y="5886450"/>
            <a:ext cx="114300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71500" y="5981700"/>
            <a:ext cx="381000" cy="9525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71500" y="6076950"/>
            <a:ext cx="381000" cy="152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28700" y="59817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 (무조건 동작)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3429000" y="5972175"/>
            <a:ext cx="381000" cy="2667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886200" y="5981700"/>
            <a:ext cx="104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4991100" y="6010275"/>
            <a:ext cx="4191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86400" y="598170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 box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7219950" y="6067425"/>
            <a:ext cx="76200" cy="76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8" name="Text 146"/>
          <p:cNvSpPr/>
          <p:nvPr/>
        </p:nvSpPr>
        <p:spPr>
          <a:xfrm>
            <a:off x="7353300" y="59817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8382000" y="59817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State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uart_tx: tx_start Checked Only in IDLE, Bits Held 16 Ticks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90600"/>
          <a:ext cx="11430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81250"/>
                <a:gridCol w="2667000"/>
                <a:gridCol w="2381250"/>
                <a:gridCol w="2857500"/>
              </a:tblGrid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 box 동작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탈출 조건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체류 시간 (xsim 측정)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State · 조건부 동작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 ← 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tx_busy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tx_start = 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rx_done까지 대기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data_reg ← tx_data · 카운터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tx_busy ← 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15  (16 tick)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104.15 µs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←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 ← data_reg[0]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15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  bit_count = 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833.28 µs  (104.16 × 8)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bit마다 data_reg shift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 ← 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b_tick_cnt = 15  (16 tick)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104.16 µs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5250" marR="9525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1000" y="36576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5300" y="38385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300" y="3838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9150" y="36576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tx_data latch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IDLE에서 tx_start 시점 tx_data → data_reg 복사 → 이후 RX data_reg 변경과 무관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1000" y="43434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5300" y="45243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300" y="4524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9150" y="43434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104.15 µs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진입 = rx_done 다음 clock → 16번째 tick까지 10,415 clk, 이후 bit는 104.16 µs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81000" y="50292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9150" y="50292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register 출력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= tx_reg → state 전환보다 1 clk 늦게 line 변화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81000" y="57150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5300" y="5895975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30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9150" y="5715000"/>
            <a:ext cx="10896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미사용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tx_start는 IDLE에서만 검사 → START ~ STOP 중 들어온 rx_done 무시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Loopback Handshake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rx_done → tx_start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Echo Starts 2 Clocks After rx_done, Back-to-Back Margin 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52500"/>
            <a:ext cx="5619750" cy="41910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10287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Clock level  ·  1st frame (0x41)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5300" y="15240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300" y="20193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300" y="25146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c_state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300" y="30099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300" y="35052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c_state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300" y="4000500"/>
            <a:ext cx="1123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171450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450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30505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0505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032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032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89560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9560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9087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9087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48615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8142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8142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07670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7670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197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197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66725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725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6252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6252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257800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57800" y="154305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53075" y="1543050"/>
            <a:ext cx="0" cy="2476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53075" y="1790700"/>
            <a:ext cx="295275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14500" y="2286000"/>
            <a:ext cx="5905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305050" y="203835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05050" y="2038350"/>
            <a:ext cx="5905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95600" y="203835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95600" y="2286000"/>
            <a:ext cx="29527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14500" y="3276600"/>
            <a:ext cx="11811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895600" y="302895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95600" y="3028950"/>
            <a:ext cx="5905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6150" y="302895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86150" y="3276600"/>
            <a:ext cx="2362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14500" y="4019550"/>
            <a:ext cx="2362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76700" y="4019550"/>
            <a:ext cx="0" cy="24765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76700" y="4267200"/>
            <a:ext cx="177165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14500" y="2533650"/>
            <a:ext cx="1181100" cy="247650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14500" y="2533650"/>
            <a:ext cx="118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895600" y="2533650"/>
            <a:ext cx="2952750" cy="24765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95600" y="2533650"/>
            <a:ext cx="295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714500" y="3524250"/>
            <a:ext cx="1771650" cy="24765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14500" y="3524250"/>
            <a:ext cx="1771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486150" y="3524250"/>
            <a:ext cx="2362200" cy="24765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86150" y="3524250"/>
            <a:ext cx="2362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895600" y="1428750"/>
            <a:ext cx="0" cy="3105150"/>
          </a:xfrm>
          <a:prstGeom prst="line">
            <a:avLst/>
          </a:prstGeom>
          <a:noFill/>
          <a:ln w="15875">
            <a:solidFill>
              <a:srgbClr val="EA580C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2781300" y="45529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13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609850" y="4791075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486150" y="1428750"/>
            <a:ext cx="0" cy="3105150"/>
          </a:xfrm>
          <a:prstGeom prst="line">
            <a:avLst/>
          </a:prstGeom>
          <a:noFill/>
          <a:ln w="15875">
            <a:solidFill>
              <a:srgbClr val="EA580C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371850" y="45529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7185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00400" y="4791075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 ns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076700" y="1428750"/>
            <a:ext cx="0" cy="3105150"/>
          </a:xfrm>
          <a:prstGeom prst="line">
            <a:avLst/>
          </a:prstGeom>
          <a:noFill/>
          <a:ln w="15875">
            <a:solidFill>
              <a:srgbClr val="EA580C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962400" y="45529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624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790950" y="4791075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ns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533400" y="4791075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1,093,705 ns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191250" y="952500"/>
            <a:ext cx="5619750" cy="41910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43650" y="1028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level  ·  back-to-back 0x31 → 0x32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343650" y="169545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6343650" y="255270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239000" y="1695450"/>
            <a:ext cx="129025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68025" y="1695450"/>
            <a:ext cx="70212" cy="323850"/>
          </a:xfrm>
          <a:prstGeom prst="rect">
            <a:avLst/>
          </a:prstGeom>
          <a:solidFill>
            <a:srgbClr val="FFE4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38237" y="1695450"/>
            <a:ext cx="1123390" cy="323850"/>
          </a:xfrm>
          <a:prstGeom prst="rect">
            <a:avLst/>
          </a:prstGeom>
          <a:solidFill>
            <a:srgbClr val="FECDD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38237" y="1695450"/>
            <a:ext cx="1123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0x31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561627" y="1695450"/>
            <a:ext cx="140424" cy="323850"/>
          </a:xfrm>
          <a:prstGeom prst="rect">
            <a:avLst/>
          </a:prstGeom>
          <a:solidFill>
            <a:srgbClr val="FDA4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02050" y="1695450"/>
            <a:ext cx="70212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72262" y="1695450"/>
            <a:ext cx="70212" cy="323850"/>
          </a:xfrm>
          <a:prstGeom prst="rect">
            <a:avLst/>
          </a:prstGeom>
          <a:solidFill>
            <a:srgbClr val="FFE4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42474" y="1695450"/>
            <a:ext cx="1123390" cy="323850"/>
          </a:xfrm>
          <a:prstGeom prst="rect">
            <a:avLst/>
          </a:prstGeom>
          <a:solidFill>
            <a:srgbClr val="FECDD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42474" y="1695450"/>
            <a:ext cx="1123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0x32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965864" y="1695450"/>
            <a:ext cx="140424" cy="323850"/>
          </a:xfrm>
          <a:prstGeom prst="rect">
            <a:avLst/>
          </a:prstGeom>
          <a:solidFill>
            <a:srgbClr val="FDA4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06287" y="1695450"/>
            <a:ext cx="1514213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06287" y="1695450"/>
            <a:ext cx="15142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239000" y="2552700"/>
            <a:ext cx="1463064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39000" y="2552700"/>
            <a:ext cx="14630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702064" y="2552700"/>
            <a:ext cx="140410" cy="323850"/>
          </a:xfrm>
          <a:prstGeom prst="rect">
            <a:avLst/>
          </a:prstGeom>
          <a:solidFill>
            <a:srgbClr val="BFDB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42474" y="2552700"/>
            <a:ext cx="1123390" cy="323850"/>
          </a:xfrm>
          <a:prstGeom prst="rect">
            <a:avLst/>
          </a:prstGeom>
          <a:solidFill>
            <a:srgbClr val="DBEA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42474" y="2552700"/>
            <a:ext cx="1123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0x31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9965864" y="2552700"/>
            <a:ext cx="140424" cy="323850"/>
          </a:xfrm>
          <a:prstGeom prst="rect">
            <a:avLst/>
          </a:prstGeom>
          <a:solidFill>
            <a:srgbClr val="93C5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06301" y="2552700"/>
            <a:ext cx="140410" cy="323850"/>
          </a:xfrm>
          <a:prstGeom prst="rect">
            <a:avLst/>
          </a:prstGeom>
          <a:solidFill>
            <a:srgbClr val="BFDB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246711" y="2552700"/>
            <a:ext cx="1123390" cy="323850"/>
          </a:xfrm>
          <a:prstGeom prst="rect">
            <a:avLst/>
          </a:prstGeom>
          <a:solidFill>
            <a:srgbClr val="DBEA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46711" y="2552700"/>
            <a:ext cx="1123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0x32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11370101" y="2552700"/>
            <a:ext cx="250399" cy="323850"/>
          </a:xfrm>
          <a:prstGeom prst="rect">
            <a:avLst/>
          </a:prstGeom>
          <a:solidFill>
            <a:srgbClr val="93C5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702050" y="1428750"/>
            <a:ext cx="0" cy="17145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05" name="Text 103"/>
          <p:cNvSpPr/>
          <p:nvPr/>
        </p:nvSpPr>
        <p:spPr>
          <a:xfrm>
            <a:off x="8321050" y="133350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10106287" y="1428750"/>
            <a:ext cx="0" cy="17145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725287" y="133350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334250" y="3448050"/>
            <a:ext cx="171450" cy="133350"/>
          </a:xfrm>
          <a:prstGeom prst="rect">
            <a:avLst/>
          </a:prstGeom>
          <a:solidFill>
            <a:srgbClr val="FFE4E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524750" y="3448050"/>
            <a:ext cx="171450" cy="13335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10" name="Text 108"/>
          <p:cNvSpPr/>
          <p:nvPr/>
        </p:nvSpPr>
        <p:spPr>
          <a:xfrm>
            <a:off x="7753350" y="342900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763000" y="3448050"/>
            <a:ext cx="171450" cy="133350"/>
          </a:xfrm>
          <a:prstGeom prst="rect">
            <a:avLst/>
          </a:prstGeom>
          <a:solidFill>
            <a:srgbClr val="FDA4A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953500" y="3448050"/>
            <a:ext cx="171450" cy="13335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13" name="Text 111"/>
          <p:cNvSpPr/>
          <p:nvPr/>
        </p:nvSpPr>
        <p:spPr>
          <a:xfrm>
            <a:off x="9182100" y="342900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239000" y="3143250"/>
            <a:ext cx="43815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7508631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22881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8182708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896958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8856785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571035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9530862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245112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10204938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919188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0879015" y="3105150"/>
            <a:ext cx="0" cy="762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593265" y="32004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11049000" y="34290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(µs)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343650" y="3733800"/>
            <a:ext cx="5314950" cy="1295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496050" y="38100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4,426,825 ns  동일 clock edge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6496050" y="4076700"/>
            <a:ext cx="66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7162800" y="407670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IDLE,  rx_done ← 1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6496050" y="4362450"/>
            <a:ext cx="66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7162800" y="436245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IDLE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6496050" y="4648200"/>
            <a:ext cx="66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 ns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7162800" y="464820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IDLE → START (tx_start 검사 통과)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381000" y="5295900"/>
            <a:ext cx="11430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95300" y="53530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5300" y="535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819150" y="5295900"/>
            <a:ext cx="1089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1 clk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STOP → IDLE edge에서 1, 다음 edge에서 0 → 10 ns pulse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381000" y="5695950"/>
            <a:ext cx="11430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95300" y="575310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95300" y="5753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819150" y="5695950"/>
            <a:ext cx="1089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+2 clk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IDLE에서 tx_start 검사 → START +1 clk, tx register 출력 +1 clk → rx_done 후 20 ns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381000" y="6096000"/>
            <a:ext cx="11430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95300" y="61531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95300" y="6153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819150" y="6096000"/>
            <a:ext cx="1089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여유 0 tick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IDLE 복귀 = 다음 rx_done 동일 edge · rx_done이 1 tick 앞설 경우 TX STOP 중 → tx_start 무시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Loopback - Block Diagram &amp; ASM Chart</dc:title>
  <dc:subject>PptxGenJS Presentation</dc:subject>
  <dc:creator>PptxGenJS</dc:creator>
  <cp:lastModifiedBy>PptxGenJS</cp:lastModifiedBy>
  <cp:revision>1</cp:revision>
  <dcterms:created xsi:type="dcterms:W3CDTF">2026-10-24T02:10:42Z</dcterms:created>
  <dcterms:modified xsi:type="dcterms:W3CDTF">2026-10-24T02:10:42Z</dcterms:modified>
</cp:coreProperties>
</file>