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1014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61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1587E-5D33-402D-CE63-6B7A2997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9600A-FE5A-B6D6-AFB8-19C6786B4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78945-93B3-620C-3C28-D7A8D478E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371B-EFCC-66F0-B9FA-B1B0650CF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78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09600" y="16192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 ·  HOMEWORK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943100"/>
            <a:ext cx="438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6670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시뮬레이션 검증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600" y="381000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09600" y="381000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6350" y="381000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276350" y="381000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43100" y="381000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943100" y="381000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09850" y="3810000"/>
            <a:ext cx="590550" cy="495300"/>
          </a:xfrm>
          <a:prstGeom prst="roundRect">
            <a:avLst>
              <a:gd name="adj" fmla="val 7692"/>
            </a:avLst>
          </a:prstGeom>
          <a:solidFill>
            <a:srgbClr val="312E81"/>
          </a:solidFill>
          <a:ln w="1587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609850" y="3810000"/>
            <a:ext cx="59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356235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 = wptr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40055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46863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4 × 8 bit  ·  push → wptr, pop → rptr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58102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96000" y="16192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0" y="18288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 + register_file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096000" y="224790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· rptr · full · empty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96000" y="25527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096000" y="26670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읽기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6000" y="28765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출력 (FWFT)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096000" y="32956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pop_data = mem[rptr]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96000" y="360045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096000" y="3714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096000" y="39243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 4 + random 256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096000" y="434340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compare_buffer 모델 비교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96000" y="46482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096000" y="47625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6000" y="49720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0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6096000" y="53911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pop 113 / 113 PASS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6096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2192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 4 FIFO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· pop · 경계 상태 검증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953000" y="4953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76900" y="4953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76900" y="7429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 · 시나리오 결과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572750" y="5334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3000" y="10096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953000" y="10858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76900" y="10858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76900" y="13335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설계 목표 · 검증 항목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572750" y="11239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53000" y="16002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953000" y="16764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676900" y="16764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76900" y="19240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개념 · register_file vs BRAM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572750" y="17145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5 – 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53000" y="21907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953000" y="22669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76900" y="22669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다이어그램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76900" y="25146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내부 (control_unit · register_file)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572750" y="23050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53000" y="27813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953000" y="28575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676900" y="28575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설계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676900" y="31051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 동작표 · 예상 타이밍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572750" y="28956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8 – 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53000" y="33718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4953000" y="34480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676900" y="34480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676900" y="36957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구조 · 시나리오 · S1 ~ S5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572750" y="34861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10 – 17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53000" y="39624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953000" y="40386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5676900" y="40386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 슈팅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676900" y="42862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중 확인한 경계 동작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572750" y="40767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53000" y="45529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953000" y="46291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5676900" y="46291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676900" y="48768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 · 개선 방향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572750" y="46672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53000" y="51435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4953000" y="52197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5676900" y="52197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5676900" y="54673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로그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572750" y="52578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53000" y="57340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 ·  Summary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 4 FIFO 구현 · 검증 결과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control_unit (wptr · rptr · full · empty) + register_file (4 × 8 bit, 조합 읽기)로 FIFO 구성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directed 시나리오 4개 + random 256 iteration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0</a:t>
            </a: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full · empty · 동시 push/pop 경계 포함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096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크기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 bit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096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096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 4 · pointer 2 bit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291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4577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방식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577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FWFT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44577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4577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pop_data = mem[rptr] 조합 출력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772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3058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 판정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058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11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83058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3058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~ S4 pass 메시지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10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096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pop 비교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096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 / 113</a:t>
            </a:r>
            <a:endParaRPr lang="en-US" sz="4000" dirty="0"/>
          </a:p>
        </p:txBody>
      </p:sp>
      <p:sp>
        <p:nvSpPr>
          <p:cNvPr id="30" name="Shape 28"/>
          <p:cNvSpPr/>
          <p:nvPr/>
        </p:nvSpPr>
        <p:spPr>
          <a:xfrm>
            <a:off x="6096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096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iteration · fail 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291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44577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push+pop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4577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8</a:t>
            </a:r>
            <a:endParaRPr lang="en-US" sz="4000" dirty="0"/>
          </a:p>
        </p:txBody>
      </p:sp>
      <p:sp>
        <p:nvSpPr>
          <p:cNvPr id="35" name="Shape 33"/>
          <p:cNvSpPr/>
          <p:nvPr/>
        </p:nvSpPr>
        <p:spPr>
          <a:xfrm>
            <a:off x="44577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4577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중 5회 · empty 중 8회 (random)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83058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순환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058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4000" dirty="0"/>
          </a:p>
        </p:txBody>
      </p:sp>
      <p:sp>
        <p:nvSpPr>
          <p:cNvPr id="40" name="Shape 38"/>
          <p:cNvSpPr/>
          <p:nvPr/>
        </p:nvSpPr>
        <p:spPr>
          <a:xfrm>
            <a:off x="83058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83058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구간 3 → 0 횟수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목적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목적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· Pop 순서를 지키고 경계 상태에서 오동작 없는 FIFO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FIFO = 먼저 넣은 byte를 먼저 꺼내는 버퍼 → UART 수신 · 송신 사이 속도 차 흡수용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full · empty · 동시 push/pop 경계에서도 순서 · 개수가 깨지지 않는지 TB로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173355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43000" y="17335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· push_data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53000" y="1638300"/>
            <a:ext cx="2286000" cy="85725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953000" y="169545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953000" y="20002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4 × 8 bit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53500" y="173355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953500" y="17335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· pop_data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76600" y="2066925"/>
            <a:ext cx="163830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277100" y="2066925"/>
            <a:ext cx="163830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334000" y="25336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· empty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857500"/>
          <a:ext cx="11430000" cy="28956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항목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동작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 해제 후 full 0 · empty 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/ 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 × 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4번째 push 후 full 1 · 5번째 push 무시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파형 확인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 × 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넣은 순서 (0a → 0d)로 출력 · 4번째 pop 후 empty 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/ 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 + Pop × 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empty 중 push만 · 이후 개수 유지하며 순서대로 출력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/ 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 256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무작위 push · pop에서 compare_buffer와 불일치 0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113 / 113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FIFO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FIFO: wptr · rptr 두 포인터로 순서를 지키는 원형 버퍼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= wptr 자리에 쓰고 wptr + 1, pop = rptr + 1 → 두 포인터 비교로 full · empty 판단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pop_data = mem[rptr] → pop 전에도 맨 앞 byte가 출력에 보임 (FWFT)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43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143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72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1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191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096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2096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002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8002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907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23907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63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905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8763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905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715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1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8097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527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2766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4099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34099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7528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A · B · 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5147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35147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35147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052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1052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1052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958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46958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46958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863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2863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7719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34861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 flipV="1">
            <a:off x="554355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525780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671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34671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= 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7053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0483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1722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3055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63055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6484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D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4103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103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4103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008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70008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70008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914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75914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75914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1819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81819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81819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6675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63817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 flipV="1">
            <a:off x="66675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63817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3627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63627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1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76009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A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943975" y="3076575"/>
            <a:ext cx="1143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9067800" y="1676400"/>
            <a:ext cx="2762250" cy="314325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9201150" y="1809750"/>
            <a:ext cx="247650" cy="24765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9201150" y="18097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9544050" y="18097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× 2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93059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 txBox="1"/>
          <p:nvPr/>
        </p:nvSpPr>
        <p:spPr>
          <a:xfrm>
            <a:off x="93059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85" name="Text 83"/>
          <p:cNvSpPr txBox="1"/>
          <p:nvPr/>
        </p:nvSpPr>
        <p:spPr>
          <a:xfrm>
            <a:off x="93059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8964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98964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88" name="Text 86"/>
          <p:cNvSpPr txBox="1"/>
          <p:nvPr/>
        </p:nvSpPr>
        <p:spPr>
          <a:xfrm>
            <a:off x="98964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48702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 txBox="1"/>
          <p:nvPr/>
        </p:nvSpPr>
        <p:spPr>
          <a:xfrm>
            <a:off x="1048702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91" name="Text 89"/>
          <p:cNvSpPr txBox="1"/>
          <p:nvPr/>
        </p:nvSpPr>
        <p:spPr>
          <a:xfrm>
            <a:off x="1048702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1077575" y="2819400"/>
            <a:ext cx="514350" cy="51435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11077575" y="2819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94" name="Text 92"/>
          <p:cNvSpPr txBox="1"/>
          <p:nvPr/>
        </p:nvSpPr>
        <p:spPr>
          <a:xfrm>
            <a:off x="11077575" y="335280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0744200" y="2457450"/>
            <a:ext cx="0" cy="32385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10458450" y="226695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 flipV="1">
            <a:off x="9563100" y="3524250"/>
            <a:ext cx="0" cy="1905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9277350" y="37338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9258300" y="409575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9258300" y="4095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0</a:t>
            </a:r>
            <a:endParaRPr lang="en-US" sz="1050" dirty="0"/>
          </a:p>
        </p:txBody>
      </p:sp>
      <p:sp>
        <p:nvSpPr>
          <p:cNvPr id="101" name="Text 99"/>
          <p:cNvSpPr txBox="1"/>
          <p:nvPr/>
        </p:nvSpPr>
        <p:spPr>
          <a:xfrm>
            <a:off x="10496550" y="4095750"/>
            <a:ext cx="123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= C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38100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>
            <a:off x="495300" y="5210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 txBox="1"/>
          <p:nvPr/>
        </p:nvSpPr>
        <p:spPr>
          <a:xfrm>
            <a:off x="49530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81915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후 wptr이 rptr을 따라잡음 → full ← 1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619125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6305550" y="5210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 txBox="1"/>
          <p:nvPr/>
        </p:nvSpPr>
        <p:spPr>
          <a:xfrm>
            <a:off x="630555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662940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후 rptr이 wptr을 따라잡음 → empty ← 1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381000" y="5772150"/>
            <a:ext cx="561975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495300" y="5972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495300" y="5972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819150" y="5772150"/>
            <a:ext cx="5086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= rptr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· full 둘 다 같음 → flag로 구분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191250" y="5772150"/>
            <a:ext cx="561975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>
            <a:off x="6305550" y="59721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/>
          <p:cNvSpPr txBox="1"/>
          <p:nvPr/>
        </p:nvSpPr>
        <p:spPr>
          <a:xfrm>
            <a:off x="6305550" y="5972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6629400" y="5772150"/>
            <a:ext cx="5086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FWFT   </a:t>
            </a: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= 조합 출력 → TX가 바로 맨 앞 byte 사용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Reference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register_file vs BRAM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공간: register_file은 조합 읽기, BRAM은 1 clk 뒤 읽기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fifo의 register_file은 rdata = mem[raddr] 조합 출력 → pop 전에도 맨 앞 byte가 보임 (FWFT)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BRAM_IP는 posedge에 rdata 등록 → 주소를 바꾼 다음 clk에 데이터 → FIFO에 쓸 경우 읽기 1 clk 지연 고려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676400"/>
          <a:ext cx="6096000" cy="2705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register_file (fifo.sv)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BRAM_IP (BRAM.v)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× 8 bit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× 8 bit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posedge · we = push &amp; ~full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posedge · we = 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조합: rdata = mem[raddr]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등록: we = 0일 때 posedge에 rdata ← ram[addr]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 지연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clk (주소 변경 즉시)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clk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FIFO 적용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pop_data가 곧 맨 앞 byte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 뒤 1 clk 기다려 데이터 사용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667500" y="1676400"/>
            <a:ext cx="5143500" cy="314325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819900" y="17526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타이밍 비교 (개념도)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81800" y="20955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91500" y="228600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flipV="1">
            <a:off x="862965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629650" y="211455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906780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9067800" y="228600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 flipV="1">
            <a:off x="950595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505950" y="211455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994410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9944100" y="228600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 flipV="1">
            <a:off x="1038225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0382250" y="211455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1082040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10820400" y="228600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 flipV="1">
            <a:off x="1125855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1258550" y="2114550"/>
            <a:ext cx="43815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11696700" y="2114550"/>
            <a:ext cx="0" cy="17145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1696700" y="2286000"/>
            <a:ext cx="175260" cy="0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781800" y="253365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191500" y="2533650"/>
            <a:ext cx="876300" cy="247650"/>
          </a:xfrm>
          <a:prstGeom prst="rect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8191500" y="253365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067800" y="2533650"/>
            <a:ext cx="2804160" cy="247650"/>
          </a:xfrm>
          <a:prstGeom prst="rect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067800" y="2533650"/>
            <a:ext cx="28041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781800" y="29718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191500" y="2971800"/>
            <a:ext cx="876300" cy="247650"/>
          </a:xfrm>
          <a:prstGeom prst="rect">
            <a:avLst/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8191500" y="2971800"/>
            <a:ext cx="87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m[A0]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67800" y="2971800"/>
            <a:ext cx="2804160" cy="247650"/>
          </a:xfrm>
          <a:prstGeom prst="rect">
            <a:avLst/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9067800" y="2971800"/>
            <a:ext cx="28041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m[A1]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781800" y="340995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BRAM rdata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191500" y="3409950"/>
            <a:ext cx="1314450" cy="24765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8191500" y="3409950"/>
            <a:ext cx="1314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m[A0]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505950" y="3409950"/>
            <a:ext cx="2366010" cy="24765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9505950" y="3409950"/>
            <a:ext cx="2366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m[A1]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629650" y="2038350"/>
            <a:ext cx="0" cy="16954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9505950" y="2038350"/>
            <a:ext cx="0" cy="16954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10382250" y="2038350"/>
            <a:ext cx="0" cy="16954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11258550" y="2038350"/>
            <a:ext cx="0" cy="169545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9067800" y="2857500"/>
            <a:ext cx="0" cy="95250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9505950" y="3295650"/>
            <a:ext cx="0" cy="51435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8496300" y="38481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반영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9410700" y="38481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posedge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819900" y="44767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= posedge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81000" y="49530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495300" y="51720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495300" y="51720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819150" y="49530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FWFT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= 0인 동안 pop_data = 맨 앞 byte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TB는 negedge에 pop_data를 바로 비교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6191250" y="49530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6305550" y="517207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6305550" y="51720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6629400" y="49530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BRAM FIFO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깊이를 키울 경우 BRAM 사용 가능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pop 후 1 clk 지연 handshake 필요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381000" y="5734050"/>
            <a:ext cx="11430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495300" y="5953125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495300" y="59531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819150" y="5734050"/>
            <a:ext cx="1089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tb_bram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03_RAM/sim_file/tb_bram.v: addr 10 · 11 · 31 · 32에 쓰기 → 같은 주소 읽기 (BRAM 읽기 1 clk 지연 확인용)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블록 다이어그램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fifo 내부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= control_unit (포인터 · flag) + register_file (4 × 8 bit)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control_unit: {push, pop}와 full · empty로 wptr · rptr · flag 갱신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register_file: we = push &amp; ~full일 때만 쓰기, 읽기 pop_data = mem[rptr] 조합 출력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05000" y="1676400"/>
            <a:ext cx="8382000" cy="4000500"/>
          </a:xfrm>
          <a:prstGeom prst="roundRect">
            <a:avLst>
              <a:gd name="adj" fmla="val 1429"/>
            </a:avLst>
          </a:prstGeom>
          <a:ln w="19050">
            <a:solidFill>
              <a:srgbClr val="818CF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057400" y="17335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 (DEPTH = 4, BIT_WIDTH = 8)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57500" y="2247900"/>
            <a:ext cx="2476500" cy="1905000"/>
          </a:xfrm>
          <a:prstGeom prst="roundRect">
            <a:avLst>
              <a:gd name="adj" fmla="val 3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2857500" y="295275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57500" y="318135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U_UART_CONTROL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857500" y="335280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· rptr · full · empty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39000" y="2247900"/>
            <a:ext cx="2286000" cy="28575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239000" y="2324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10500" y="270510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810500" y="270510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mem[0]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0500" y="318135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810500" y="318135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mem[1]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0500" y="365760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10500" y="365760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mem[2]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0500" y="4133850"/>
            <a:ext cx="11430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810500" y="413385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mem[3]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" y="24765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771650" y="2571750"/>
            <a:ext cx="108585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" y="29527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771650" y="3048000"/>
            <a:ext cx="108585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571500" y="44767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771650" y="4572000"/>
            <a:ext cx="54673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296150" y="4486275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0" y="2857500"/>
            <a:ext cx="1905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524500" y="26479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 → waddr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34000" y="3429000"/>
            <a:ext cx="19050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5524500" y="321945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 → raddr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15000" y="3810000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715000" y="38100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&amp; ~full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4000500"/>
            <a:ext cx="38100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7296150" y="3914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525000" y="2857500"/>
            <a:ext cx="104775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10629900" y="27622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629900" y="29527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mem[rptr]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095750" y="4152900"/>
            <a:ext cx="0" cy="118110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095750" y="5334000"/>
            <a:ext cx="647700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629900" y="523875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· empty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2057400" y="54102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 · reset 공통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81000" y="5905500"/>
            <a:ext cx="5619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95300" y="60483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495300" y="6048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19150" y="5905500"/>
            <a:ext cx="5086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{push, pop} 조합별 포인터 · flag 갱신 (다음 장)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91250" y="5905500"/>
            <a:ext cx="5619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305550" y="60483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6305550" y="60483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629400" y="5905500"/>
            <a:ext cx="5086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쓰기는 clk, 읽기는 조합 → FWFT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동작 설계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control_unit 동작표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{push, pop} × empty · 중간 · full 동작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full일 때 push 무시 · empty일 때 pop 무시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+ pop 동시 — empty: push만 · 중간: 둘 다 · full: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pop만 (구조상 spec)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11430000" cy="3238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/ 상태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empty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 (1 ~ 3개)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empty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= rptr일 경우 full ←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 (we = 0)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= wptr일 경우 empty ←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 + pop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 · empty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+ 1 · rptr + 1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개수 유지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pop만 (spec)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rptr + 1 · full ← 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81000" y="5562600"/>
            <a:ext cx="561975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95300" y="5867400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95300" y="586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19150" y="5562600"/>
            <a:ext cx="50863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+ push·pop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= push &amp; ~full → 쓰기 차단 · pop만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clk 입력 byte는 버려짐 (spec)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91250" y="5562600"/>
            <a:ext cx="561975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305550" y="5867400"/>
            <a:ext cx="228600" cy="2286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305550" y="586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5562600"/>
            <a:ext cx="50863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 검증   </a:t>
            </a: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~ S5에서 경계 경우를 compare_buffer와 비교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random pop 113 / 113 PASS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동작 설계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예상 타이밍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예상 타이밍: 입력은 Negedge, 레지스터는 Posedge에서 갱신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· pop은 negedge에 바꾸고 posedge에서 wptr · rptr · full · empty 갱신 → TB도 같은 규칙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full 중 push (E)는 we = 0으로 무시, empty 뒤 pop_data는 이전 값 유지 (B*)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57096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89788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22481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55173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7865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20558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953250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685942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418635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51327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884019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616712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349404" y="1990725"/>
            <a:ext cx="0" cy="3876675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71500" y="1638300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0750" y="1695450"/>
            <a:ext cx="732692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190750" y="16954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3442" y="1695450"/>
            <a:ext cx="2930769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2923442" y="1695450"/>
            <a:ext cx="29307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A~D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4212" y="1695450"/>
            <a:ext cx="732692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854212" y="16954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(full)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6904" y="1695450"/>
            <a:ext cx="1465385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586904" y="1695450"/>
            <a:ext cx="14653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52288" y="1695450"/>
            <a:ext cx="732692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8052288" y="16954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PUSH+POP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84981" y="1695450"/>
            <a:ext cx="1465385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784981" y="1695450"/>
            <a:ext cx="14653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50365" y="1695450"/>
            <a:ext cx="732692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0250365" y="16954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(empty)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983058" y="1695450"/>
            <a:ext cx="732692" cy="219075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0983058" y="16954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71500" y="1990725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190750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2190750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 flipV="1">
            <a:off x="2557096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2557096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2923442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2923442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 flipV="1">
            <a:off x="3289788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289788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656135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3656135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 flipV="1">
            <a:off x="4022481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022481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388827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388827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 flipV="1">
            <a:off x="4755173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755173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121519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5121519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 flipV="1">
            <a:off x="5487865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5487865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854212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5854212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 flipV="1">
            <a:off x="6220558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220558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6586904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6586904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 flipV="1">
            <a:off x="6953250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953250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7319596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319596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 flipV="1">
            <a:off x="7685942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685942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8052288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8052288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 flipV="1">
            <a:off x="8418635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418635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8784981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8784981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 flipV="1">
            <a:off x="9151327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9151327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9517673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9517673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 flipV="1">
            <a:off x="9884019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>
            <a:off x="9884019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10250365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10250365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 flipV="1">
            <a:off x="10616712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0616712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10983058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10983058" y="2266950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 flipV="1">
            <a:off x="11349404" y="2047875"/>
            <a:ext cx="0" cy="219075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11349404" y="2047875"/>
            <a:ext cx="366346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571500" y="2343150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i_reset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2190750" y="2400300"/>
            <a:ext cx="73269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2923442" y="2400300"/>
            <a:ext cx="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>
            <a:off x="2923442" y="2400300"/>
            <a:ext cx="0" cy="219075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2923442" y="2619375"/>
            <a:ext cx="8792308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571500" y="2695575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2190750" y="2971800"/>
            <a:ext cx="73269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2923442" y="2971800"/>
            <a:ext cx="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 flipV="1">
            <a:off x="2923442" y="2752725"/>
            <a:ext cx="0" cy="219075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>
            <a:off x="2923442" y="2752725"/>
            <a:ext cx="366346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6586904" y="2752725"/>
            <a:ext cx="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>
            <a:off x="6586904" y="2752725"/>
            <a:ext cx="0" cy="219075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>
            <a:off x="6586904" y="2971800"/>
            <a:ext cx="1465385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8052288" y="2971800"/>
            <a:ext cx="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 flipV="1">
            <a:off x="8052288" y="2752725"/>
            <a:ext cx="0" cy="219075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8052288" y="2752725"/>
            <a:ext cx="73269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8784981" y="2752725"/>
            <a:ext cx="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>
            <a:off x="8784981" y="2752725"/>
            <a:ext cx="0" cy="219075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>
            <a:off x="8784981" y="2971800"/>
            <a:ext cx="2930769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/>
          <p:cNvSpPr txBox="1"/>
          <p:nvPr/>
        </p:nvSpPr>
        <p:spPr>
          <a:xfrm>
            <a:off x="571500" y="3048000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2190750" y="3324225"/>
            <a:ext cx="4396154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>
            <a:off x="6586904" y="3324225"/>
            <a:ext cx="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 flipV="1">
            <a:off x="6586904" y="3105150"/>
            <a:ext cx="0" cy="219075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>
            <a:off x="6586904" y="3105150"/>
            <a:ext cx="4396154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>
            <a:off x="10983058" y="3105150"/>
            <a:ext cx="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10983058" y="3105150"/>
            <a:ext cx="0" cy="219075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>
            <a:off x="10983058" y="3324225"/>
            <a:ext cx="73269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20"/>
          <p:cNvSpPr txBox="1"/>
          <p:nvPr/>
        </p:nvSpPr>
        <p:spPr>
          <a:xfrm>
            <a:off x="571500" y="3400425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push_data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2190750" y="3457575"/>
            <a:ext cx="732692" cy="219075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>
            <a:off x="2923442" y="345757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 txBox="1"/>
          <p:nvPr/>
        </p:nvSpPr>
        <p:spPr>
          <a:xfrm>
            <a:off x="2923442" y="345757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3656135" y="345757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 txBox="1"/>
          <p:nvPr/>
        </p:nvSpPr>
        <p:spPr>
          <a:xfrm>
            <a:off x="3656135" y="345757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4388827" y="345757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7"/>
          <p:cNvSpPr txBox="1"/>
          <p:nvPr/>
        </p:nvSpPr>
        <p:spPr>
          <a:xfrm>
            <a:off x="4388827" y="345757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5121519" y="345757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9"/>
          <p:cNvSpPr txBox="1"/>
          <p:nvPr/>
        </p:nvSpPr>
        <p:spPr>
          <a:xfrm>
            <a:off x="5121519" y="345757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5854212" y="345757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 txBox="1"/>
          <p:nvPr/>
        </p:nvSpPr>
        <p:spPr>
          <a:xfrm>
            <a:off x="5854212" y="345757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6586904" y="3457575"/>
            <a:ext cx="1465385" cy="219075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8052288" y="345757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Text 134"/>
          <p:cNvSpPr txBox="1"/>
          <p:nvPr/>
        </p:nvSpPr>
        <p:spPr>
          <a:xfrm>
            <a:off x="8052288" y="345757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8784981" y="3457575"/>
            <a:ext cx="2930769" cy="219075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Text 136"/>
          <p:cNvSpPr txBox="1"/>
          <p:nvPr/>
        </p:nvSpPr>
        <p:spPr>
          <a:xfrm>
            <a:off x="571500" y="3752850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2190750" y="4029075"/>
            <a:ext cx="732692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>
            <a:off x="2923442" y="4029075"/>
            <a:ext cx="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 flipV="1">
            <a:off x="2923442" y="3810000"/>
            <a:ext cx="0" cy="219075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>
            <a:off x="2923442" y="3810000"/>
            <a:ext cx="2564423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>
            <a:off x="5487865" y="3810000"/>
            <a:ext cx="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5487865" y="3810000"/>
            <a:ext cx="0" cy="219075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>
            <a:off x="5487865" y="4029075"/>
            <a:ext cx="2564423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>
            <a:off x="8052288" y="4029075"/>
            <a:ext cx="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 flipV="1">
            <a:off x="8052288" y="3810000"/>
            <a:ext cx="0" cy="219075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>
            <a:off x="8052288" y="3810000"/>
            <a:ext cx="732692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>
            <a:off x="8784981" y="3810000"/>
            <a:ext cx="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8784981" y="3810000"/>
            <a:ext cx="0" cy="219075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>
            <a:off x="8784981" y="4029075"/>
            <a:ext cx="2930769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Text 150"/>
          <p:cNvSpPr txBox="1"/>
          <p:nvPr/>
        </p:nvSpPr>
        <p:spPr>
          <a:xfrm>
            <a:off x="571500" y="4105275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wptr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2190750" y="4162425"/>
            <a:ext cx="1099038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152"/>
          <p:cNvSpPr txBox="1"/>
          <p:nvPr/>
        </p:nvSpPr>
        <p:spPr>
          <a:xfrm>
            <a:off x="2190750" y="4162425"/>
            <a:ext cx="10990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3289788" y="416242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Text 154"/>
          <p:cNvSpPr txBox="1"/>
          <p:nvPr/>
        </p:nvSpPr>
        <p:spPr>
          <a:xfrm>
            <a:off x="3289788" y="416242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4022481" y="416242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Text 156"/>
          <p:cNvSpPr txBox="1"/>
          <p:nvPr/>
        </p:nvSpPr>
        <p:spPr>
          <a:xfrm>
            <a:off x="4022481" y="416242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4755173" y="416242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 158"/>
          <p:cNvSpPr txBox="1"/>
          <p:nvPr/>
        </p:nvSpPr>
        <p:spPr>
          <a:xfrm>
            <a:off x="4755173" y="416242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487865" y="4162425"/>
            <a:ext cx="2930769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Text 160"/>
          <p:cNvSpPr txBox="1"/>
          <p:nvPr/>
        </p:nvSpPr>
        <p:spPr>
          <a:xfrm>
            <a:off x="5487865" y="4162425"/>
            <a:ext cx="29307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8418635" y="4162425"/>
            <a:ext cx="3297115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4" name="Text 162"/>
          <p:cNvSpPr txBox="1"/>
          <p:nvPr/>
        </p:nvSpPr>
        <p:spPr>
          <a:xfrm>
            <a:off x="8418635" y="4162425"/>
            <a:ext cx="32971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65" name="Text 163"/>
          <p:cNvSpPr txBox="1"/>
          <p:nvPr/>
        </p:nvSpPr>
        <p:spPr>
          <a:xfrm>
            <a:off x="571500" y="4457700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rptr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2190750" y="4514850"/>
            <a:ext cx="4762500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Text 165"/>
          <p:cNvSpPr txBox="1"/>
          <p:nvPr/>
        </p:nvSpPr>
        <p:spPr>
          <a:xfrm>
            <a:off x="2190750" y="4514850"/>
            <a:ext cx="4762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6953250" y="4514850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Text 167"/>
          <p:cNvSpPr txBox="1"/>
          <p:nvPr/>
        </p:nvSpPr>
        <p:spPr>
          <a:xfrm>
            <a:off x="6953250" y="45148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7685942" y="4514850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Text 169"/>
          <p:cNvSpPr txBox="1"/>
          <p:nvPr/>
        </p:nvSpPr>
        <p:spPr>
          <a:xfrm>
            <a:off x="7685942" y="45148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8418635" y="4514850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Text 171"/>
          <p:cNvSpPr txBox="1"/>
          <p:nvPr/>
        </p:nvSpPr>
        <p:spPr>
          <a:xfrm>
            <a:off x="8418635" y="45148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9151327" y="4514850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3"/>
          <p:cNvSpPr txBox="1"/>
          <p:nvPr/>
        </p:nvSpPr>
        <p:spPr>
          <a:xfrm>
            <a:off x="9151327" y="4514850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9884019" y="4514850"/>
            <a:ext cx="1831731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Text 175"/>
          <p:cNvSpPr txBox="1"/>
          <p:nvPr/>
        </p:nvSpPr>
        <p:spPr>
          <a:xfrm>
            <a:off x="9884019" y="4514850"/>
            <a:ext cx="18317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8" name="Text 176"/>
          <p:cNvSpPr txBox="1"/>
          <p:nvPr/>
        </p:nvSpPr>
        <p:spPr>
          <a:xfrm>
            <a:off x="571500" y="4810125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200" dirty="0"/>
          </a:p>
        </p:txBody>
      </p:sp>
      <p:sp>
        <p:nvSpPr>
          <p:cNvPr id="179" name="Shape 177"/>
          <p:cNvSpPr/>
          <p:nvPr/>
        </p:nvSpPr>
        <p:spPr>
          <a:xfrm>
            <a:off x="2190750" y="5086350"/>
            <a:ext cx="3297115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5487865" y="508635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 flipV="1">
            <a:off x="5487865" y="4867275"/>
            <a:ext cx="0" cy="219075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5487865" y="4867275"/>
            <a:ext cx="1465385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6953250" y="4867275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>
            <a:off x="6953250" y="4867275"/>
            <a:ext cx="0" cy="219075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>
            <a:off x="6953250" y="5086350"/>
            <a:ext cx="47625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Text 184"/>
          <p:cNvSpPr txBox="1"/>
          <p:nvPr/>
        </p:nvSpPr>
        <p:spPr>
          <a:xfrm>
            <a:off x="571500" y="5162550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2190750" y="5219700"/>
            <a:ext cx="109903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3289788" y="521970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3289788" y="5219700"/>
            <a:ext cx="0" cy="219075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>
            <a:off x="3289788" y="5438775"/>
            <a:ext cx="659423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>
            <a:off x="9884019" y="5438775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 flipV="1">
            <a:off x="9884019" y="5219700"/>
            <a:ext cx="0" cy="219075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9884019" y="5219700"/>
            <a:ext cx="183173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Text 192"/>
          <p:cNvSpPr txBox="1"/>
          <p:nvPr/>
        </p:nvSpPr>
        <p:spPr>
          <a:xfrm>
            <a:off x="571500" y="5514975"/>
            <a:ext cx="1524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>
            <a:off x="2190750" y="5572125"/>
            <a:ext cx="1099038" cy="219075"/>
          </a:xfrm>
          <a:prstGeom prst="rect">
            <a:avLst/>
          </a:prstGeom>
          <a:solidFill>
            <a:srgbClr val="E5E7E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 194"/>
          <p:cNvSpPr/>
          <p:nvPr/>
        </p:nvSpPr>
        <p:spPr>
          <a:xfrm>
            <a:off x="3289788" y="5572125"/>
            <a:ext cx="366346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Text 195"/>
          <p:cNvSpPr txBox="1"/>
          <p:nvPr/>
        </p:nvSpPr>
        <p:spPr>
          <a:xfrm>
            <a:off x="3289788" y="5572125"/>
            <a:ext cx="36634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198" name="Shape 196"/>
          <p:cNvSpPr/>
          <p:nvPr/>
        </p:nvSpPr>
        <p:spPr>
          <a:xfrm>
            <a:off x="6953250" y="557212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Text 197"/>
          <p:cNvSpPr txBox="1"/>
          <p:nvPr/>
        </p:nvSpPr>
        <p:spPr>
          <a:xfrm>
            <a:off x="6953250" y="557212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7685942" y="557212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Text 199"/>
          <p:cNvSpPr txBox="1"/>
          <p:nvPr/>
        </p:nvSpPr>
        <p:spPr>
          <a:xfrm>
            <a:off x="7685942" y="557212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202" name="Shape 200"/>
          <p:cNvSpPr/>
          <p:nvPr/>
        </p:nvSpPr>
        <p:spPr>
          <a:xfrm>
            <a:off x="8418635" y="557212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Text 201"/>
          <p:cNvSpPr txBox="1"/>
          <p:nvPr/>
        </p:nvSpPr>
        <p:spPr>
          <a:xfrm>
            <a:off x="8418635" y="557212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204" name="Shape 202"/>
          <p:cNvSpPr/>
          <p:nvPr/>
        </p:nvSpPr>
        <p:spPr>
          <a:xfrm>
            <a:off x="9151327" y="5572125"/>
            <a:ext cx="732692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Text 203"/>
          <p:cNvSpPr txBox="1"/>
          <p:nvPr/>
        </p:nvSpPr>
        <p:spPr>
          <a:xfrm>
            <a:off x="9151327" y="5572125"/>
            <a:ext cx="7326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206" name="Shape 204"/>
          <p:cNvSpPr/>
          <p:nvPr/>
        </p:nvSpPr>
        <p:spPr>
          <a:xfrm>
            <a:off x="9884019" y="5572125"/>
            <a:ext cx="1831731" cy="21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Text 205"/>
          <p:cNvSpPr txBox="1"/>
          <p:nvPr/>
        </p:nvSpPr>
        <p:spPr>
          <a:xfrm>
            <a:off x="9884019" y="5572125"/>
            <a:ext cx="18317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B*</a:t>
            </a:r>
            <a:endParaRPr lang="en-US" sz="1100" dirty="0"/>
          </a:p>
        </p:txBody>
      </p:sp>
      <p:sp>
        <p:nvSpPr>
          <p:cNvPr id="208" name="Text 206"/>
          <p:cNvSpPr txBox="1"/>
          <p:nvPr/>
        </p:nvSpPr>
        <p:spPr>
          <a:xfrm>
            <a:off x="2190750" y="5905500"/>
            <a:ext cx="952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= posedge  ·  출처: 03_RAM/sim_file/fifo_wavedrom.txt (설계 의도)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TB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TB: Negedge 구동 · Negedge 판정, compare_buffer가 기준 모델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 값은 full = 0일 때만 compare_buffer에 기록, pop은 empty = 0일 때만 pop_data와 비교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push_cnt · pop_cnt 2 bit → 4칸에서 자동 순환 (DUT의 wptr · rptr과 같은 방식)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8097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81000" y="19050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Stimulus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71700"/>
            <a:ext cx="23241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negedge에 push · pop · push_data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 4 + random 256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10000" y="18097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ECFDF5"/>
          </a:solidFill>
          <a:ln w="222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810000" y="190500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 (DUT)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171700"/>
            <a:ext cx="23241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DEPTH 4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posedge에 wptr · rptr · flag 갱신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39000" y="1809750"/>
            <a:ext cx="4572000" cy="1238250"/>
          </a:xfrm>
          <a:prstGeom prst="roundRect">
            <a:avLst>
              <a:gd name="adj" fmla="val 4615"/>
            </a:avLst>
          </a:prstGeom>
          <a:solidFill>
            <a:srgbClr val="FEE2E2"/>
          </a:solidFill>
          <a:ln w="222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239000" y="1905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Checker (negedge)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171700"/>
            <a:ext cx="44196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&amp; !empty → pop_data == compare_buffer[pop_cnt]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/ fail $display · random은 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57500" y="2428875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286500" y="2428875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715000" y="161925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 · full · empty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1000" y="3429000"/>
            <a:ext cx="5905500" cy="1333500"/>
          </a:xfrm>
          <a:prstGeom prst="roundRect">
            <a:avLst>
              <a:gd name="adj" fmla="val 4286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381000" y="35242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compare_buffer[0:3]  (기준 모델)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790950"/>
            <a:ext cx="5753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&amp; !full → compare_buffer[push_cnt] ← push_data, push_cnt + 1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&amp; !empty → pop_cnt + 1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19250" y="3048000"/>
            <a:ext cx="0" cy="381000"/>
          </a:xfrm>
          <a:prstGeom prst="line">
            <a:avLst/>
          </a:prstGeom>
          <a:noFill/>
          <a:ln w="19050">
            <a:solidFill>
              <a:srgbClr val="4338C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286500" y="4095750"/>
            <a:ext cx="3238500" cy="0"/>
          </a:xfrm>
          <a:prstGeom prst="line">
            <a:avLst/>
          </a:prstGeom>
          <a:noFill/>
          <a:ln w="1905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flipV="1">
            <a:off x="9525000" y="3048000"/>
            <a:ext cx="0" cy="1047750"/>
          </a:xfrm>
          <a:prstGeom prst="line">
            <a:avLst/>
          </a:prstGeom>
          <a:noFill/>
          <a:ln w="19050">
            <a:solidFill>
              <a:srgbClr val="4338C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191500" y="38862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100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95300" y="5210175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49530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1915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판정 시점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negedge = posedge 반 clk 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그 순간 pop_data (FWFT 맨 앞) 비교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91250" y="4991100"/>
            <a:ext cx="5619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305550" y="5210175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305550" y="5210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4991100"/>
            <a:ext cx="50863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/ empty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flag는 판정 시점 값 사용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full 중 push는 모델에도 기록 안 함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1000" y="5772150"/>
            <a:ext cx="114300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95300" y="5972175"/>
            <a:ext cx="228600" cy="22860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495300" y="59721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19150" y="5772150"/>
            <a:ext cx="10896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출력   </a:t>
            </a: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directed: 시점별 pass / fail 메시지 · random: pass count · fail count 집계 ($display)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시나리오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검증 시나리오 5개 모두 기대값과 일치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directed 4개로 reset · full · empty · 동시 push/pop 확인 → random 256으로 섞인 순서 확인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시각은 xsim 기준 (clk 10 ns, 입력은 negedge)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14500"/>
          <a:ext cx="11430000" cy="43434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(Stimulus)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신호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Reset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i_reset 1 → 0 (20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· empty (30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0 · empty 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/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 × 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0a ~ 0e push (40 ~ 90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wptr · full · register_file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4번째 push 후 full 1 · 0e 무시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파형 확인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 × 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 5회 (100 ~ 150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pop_data · rptr · empty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0a → 0d 순서 · empty 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/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 + Pop × 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0f ~ 0b push + pop (160 ~ 210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pop_data · wptr · rptr · empty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clk push만 · 이후 개수 1 유지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/ 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 256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push · pop · data 무작위 (240 ~ 2800 ns)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pop_data vs compare_buffer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불일치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113 / 113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S1 Reset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Reset: 해제 직후 full 0 · empty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i_reset 1 → 0 (20 ns) 뒤 첫 negedge (30 ns)에 flag 확인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full 0 · empty 1 · wptr = rptr = 0 →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2 /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· empty 판정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 (30 ns)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/ rptr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0</a:t>
            </a:r>
            <a:endParaRPr lang="en-US" sz="15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7E66E3C-C51B-CD59-C679-234E96023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600200"/>
            <a:ext cx="5531276" cy="4819650"/>
          </a:xfrm>
          <a:prstGeom prst="rect">
            <a:avLst/>
          </a:prstGeom>
        </p:spPr>
      </p:pic>
      <p:cxnSp>
        <p:nvCxnSpPr>
          <p:cNvPr id="9001" name="ann9001"/>
          <p:cNvCxnSpPr/>
          <p:nvPr/>
        </p:nvCxnSpPr>
        <p:spPr>
          <a:xfrm>
            <a:off x="2930994" y="1783498"/>
            <a:ext cx="0" cy="4582441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002" name="ann9002"/>
          <p:cNvSpPr/>
          <p:nvPr/>
        </p:nvSpPr>
        <p:spPr>
          <a:xfrm>
            <a:off x="2835744" y="1669198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cxnSp>
        <p:nvCxnSpPr>
          <p:cNvPr id="9003" name="ann9003"/>
          <p:cNvCxnSpPr/>
          <p:nvPr/>
        </p:nvCxnSpPr>
        <p:spPr>
          <a:xfrm>
            <a:off x="3362282" y="1783498"/>
            <a:ext cx="0" cy="4582441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04" name="ann9004"/>
          <p:cNvSpPr/>
          <p:nvPr/>
        </p:nvSpPr>
        <p:spPr>
          <a:xfrm>
            <a:off x="3267032" y="1669198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05" name="ann9005"/>
          <p:cNvSpPr/>
          <p:nvPr/>
        </p:nvSpPr>
        <p:spPr>
          <a:xfrm>
            <a:off x="3276025" y="2872501"/>
            <a:ext cx="172515" cy="118604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6" name="ann9006"/>
          <p:cNvSpPr/>
          <p:nvPr/>
        </p:nvSpPr>
        <p:spPr>
          <a:xfrm>
            <a:off x="3276025" y="3007279"/>
            <a:ext cx="172515" cy="118604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7" name="ann9007"/>
          <p:cNvSpPr/>
          <p:nvPr/>
        </p:nvSpPr>
        <p:spPr>
          <a:xfrm>
            <a:off x="3276025" y="3276834"/>
            <a:ext cx="172515" cy="118604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8" name="ann9008"/>
          <p:cNvSpPr/>
          <p:nvPr/>
        </p:nvSpPr>
        <p:spPr>
          <a:xfrm>
            <a:off x="3276025" y="3411612"/>
            <a:ext cx="172515" cy="118604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09" name="ann9009"/>
          <p:cNvSpPr/>
          <p:nvPr/>
        </p:nvSpPr>
        <p:spPr>
          <a:xfrm>
            <a:off x="596644" y="1929058"/>
            <a:ext cx="862577" cy="118604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0" name="ann9010"/>
          <p:cNvSpPr/>
          <p:nvPr/>
        </p:nvSpPr>
        <p:spPr>
          <a:xfrm>
            <a:off x="596644" y="2872501"/>
            <a:ext cx="862577" cy="118604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1" name="ann9011"/>
          <p:cNvSpPr/>
          <p:nvPr/>
        </p:nvSpPr>
        <p:spPr>
          <a:xfrm>
            <a:off x="596644" y="3007279"/>
            <a:ext cx="862577" cy="118604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2" name="ann9012"/>
          <p:cNvSpPr/>
          <p:nvPr/>
        </p:nvSpPr>
        <p:spPr>
          <a:xfrm>
            <a:off x="596644" y="3276834"/>
            <a:ext cx="862577" cy="118604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3" name="ann9013"/>
          <p:cNvSpPr/>
          <p:nvPr/>
        </p:nvSpPr>
        <p:spPr>
          <a:xfrm>
            <a:off x="596644" y="3411612"/>
            <a:ext cx="862577" cy="118604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14" name="ann9014"/>
          <p:cNvSpPr/>
          <p:nvPr/>
        </p:nvSpPr>
        <p:spPr>
          <a:xfrm>
            <a:off x="6055151" y="17621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15" name="ann9015"/>
          <p:cNvSpPr/>
          <p:nvPr/>
        </p:nvSpPr>
        <p:spPr>
          <a:xfrm>
            <a:off x="6331376" y="1676400"/>
            <a:ext cx="1860124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20 ns i_reset 1 → 0</a:t>
            </a:r>
          </a:p>
        </p:txBody>
      </p:sp>
      <p:sp>
        <p:nvSpPr>
          <p:cNvPr id="9016" name="ann9016"/>
          <p:cNvSpPr/>
          <p:nvPr/>
        </p:nvSpPr>
        <p:spPr>
          <a:xfrm>
            <a:off x="6055151" y="22193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17" name="ann9017"/>
          <p:cNvSpPr/>
          <p:nvPr/>
        </p:nvSpPr>
        <p:spPr>
          <a:xfrm>
            <a:off x="6331376" y="2133600"/>
            <a:ext cx="1860124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30 ns negedge 판정</a:t>
            </a:r>
          </a:p>
        </p:txBody>
      </p:sp>
      <p:sp>
        <p:nvSpPr>
          <p:cNvPr id="9018" name="ann9018"/>
          <p:cNvSpPr/>
          <p:nvPr/>
        </p:nvSpPr>
        <p:spPr>
          <a:xfrm>
            <a:off x="6331376" y="2590800"/>
            <a:ext cx="1860124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475569"/>
                </a:solidFill>
                <a:latin typeface="맑은 고딕"/>
                <a:ea typeface="맑은 고딕"/>
              </a:rPr>
              <a:t>full 0 · empty 1</a:t>
            </a:r>
          </a:p>
        </p:txBody>
      </p:sp>
      <p:sp>
        <p:nvSpPr>
          <p:cNvPr id="9019" name="ann9019"/>
          <p:cNvSpPr/>
          <p:nvPr/>
        </p:nvSpPr>
        <p:spPr>
          <a:xfrm>
            <a:off x="6331376" y="3048000"/>
            <a:ext cx="1860124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475569"/>
                </a:solidFill>
                <a:latin typeface="맑은 고딕"/>
                <a:ea typeface="맑은 고딕"/>
              </a:rPr>
              <a:t>wptr 0 · rptr 0 →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S2 Push ×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2400" b="1">
                <a:solidFill>
                  <a:srgbClr val="0F172A"/>
                </a:solidFill>
                <a:latin typeface="맑은 고딕"/>
                <a:ea typeface="맑은 고딕"/>
              </a:rPr>
              <a:t>S2 Push × 5: 4번째 Push 후 Full, 5번째는 무시</a:t>
            </a:r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500" b="1">
                <a:solidFill>
                  <a:srgbClr val="0F172A"/>
                </a:solidFill>
                <a:latin typeface="맑은 고딕"/>
                <a:ea typeface="맑은 고딕"/>
              </a:rPr>
              <a:t>·  0a ~ 0d push → posedge마다 wptr 0 → 1 → 2 → 3 → 0, 4번째 뒤 (75 ns) full 1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500" b="1">
                <a:solidFill>
                  <a:srgbClr val="0F172A"/>
                </a:solidFill>
                <a:latin typeface="맑은 고딕"/>
                <a:ea typeface="맑은 고딕"/>
              </a:rPr>
              <a:t>·  full 중 0e push → we = 0 → wptr · register_file 그대로 (모델에도 기록 안 함)</a:t>
            </a:r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파형 확인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자동 판정 없음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갱신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~ 75 ns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 ns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0e push (80 ns)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무시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register_file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0a 0b 0c 0d</a:t>
            </a:r>
            <a:endParaRPr lang="en-US" sz="15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3C26FB61-27D9-8950-0221-7D465879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600200"/>
            <a:ext cx="5226003" cy="4819650"/>
          </a:xfrm>
          <a:prstGeom prst="rect">
            <a:avLst/>
          </a:prstGeom>
        </p:spPr>
      </p:pic>
      <p:cxnSp>
        <p:nvCxnSpPr>
          <p:cNvPr id="9020" name="ann9020"/>
          <p:cNvCxnSpPr/>
          <p:nvPr/>
        </p:nvCxnSpPr>
        <p:spPr>
          <a:xfrm>
            <a:off x="2889070" y="1985978"/>
            <a:ext cx="0" cy="4372148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21" name="ann9021"/>
          <p:cNvSpPr/>
          <p:nvPr/>
        </p:nvSpPr>
        <p:spPr>
          <a:xfrm>
            <a:off x="2793820" y="1871678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cxnSp>
        <p:nvCxnSpPr>
          <p:cNvPr id="9022" name="ann9022"/>
          <p:cNvCxnSpPr/>
          <p:nvPr/>
        </p:nvCxnSpPr>
        <p:spPr>
          <a:xfrm>
            <a:off x="3456935" y="1985978"/>
            <a:ext cx="0" cy="4372148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23" name="ann9023"/>
          <p:cNvSpPr/>
          <p:nvPr/>
        </p:nvSpPr>
        <p:spPr>
          <a:xfrm>
            <a:off x="3361685" y="1871678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cxnSp>
        <p:nvCxnSpPr>
          <p:cNvPr id="9024" name="ann9024"/>
          <p:cNvCxnSpPr/>
          <p:nvPr/>
        </p:nvCxnSpPr>
        <p:spPr>
          <a:xfrm>
            <a:off x="4024799" y="1985978"/>
            <a:ext cx="0" cy="4372148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25" name="ann9025"/>
          <p:cNvSpPr/>
          <p:nvPr/>
        </p:nvSpPr>
        <p:spPr>
          <a:xfrm>
            <a:off x="3929549" y="1871678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cxnSp>
        <p:nvCxnSpPr>
          <p:cNvPr id="9026" name="ann9026"/>
          <p:cNvCxnSpPr/>
          <p:nvPr/>
        </p:nvCxnSpPr>
        <p:spPr>
          <a:xfrm>
            <a:off x="4592664" y="1985978"/>
            <a:ext cx="0" cy="4372148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027" name="ann9027"/>
          <p:cNvSpPr/>
          <p:nvPr/>
        </p:nvSpPr>
        <p:spPr>
          <a:xfrm>
            <a:off x="4497414" y="1871678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cxnSp>
        <p:nvCxnSpPr>
          <p:cNvPr id="9028" name="ann9028"/>
          <p:cNvCxnSpPr/>
          <p:nvPr/>
        </p:nvCxnSpPr>
        <p:spPr>
          <a:xfrm>
            <a:off x="5160529" y="1985978"/>
            <a:ext cx="0" cy="4372148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29" name="ann9029"/>
          <p:cNvSpPr/>
          <p:nvPr/>
        </p:nvSpPr>
        <p:spPr>
          <a:xfrm>
            <a:off x="5065279" y="1871678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30" name="ann9030"/>
          <p:cNvSpPr/>
          <p:nvPr/>
        </p:nvSpPr>
        <p:spPr>
          <a:xfrm>
            <a:off x="2889070" y="3410784"/>
            <a:ext cx="2271459" cy="1131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1" name="ann9031"/>
          <p:cNvSpPr/>
          <p:nvPr/>
        </p:nvSpPr>
        <p:spPr>
          <a:xfrm>
            <a:off x="4592664" y="3025006"/>
            <a:ext cx="851797" cy="1131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2" name="ann9032"/>
          <p:cNvSpPr/>
          <p:nvPr/>
        </p:nvSpPr>
        <p:spPr>
          <a:xfrm>
            <a:off x="4592664" y="4053746"/>
            <a:ext cx="851797" cy="1131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3" name="ann9033"/>
          <p:cNvSpPr/>
          <p:nvPr/>
        </p:nvSpPr>
        <p:spPr>
          <a:xfrm>
            <a:off x="4876597" y="4696709"/>
            <a:ext cx="567865" cy="1131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4" name="ann9034"/>
          <p:cNvSpPr/>
          <p:nvPr/>
        </p:nvSpPr>
        <p:spPr>
          <a:xfrm>
            <a:off x="586748" y="2382043"/>
            <a:ext cx="822993" cy="1131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5" name="ann9035"/>
          <p:cNvSpPr/>
          <p:nvPr/>
        </p:nvSpPr>
        <p:spPr>
          <a:xfrm>
            <a:off x="586748" y="3025006"/>
            <a:ext cx="822993" cy="1131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6" name="ann9036"/>
          <p:cNvSpPr/>
          <p:nvPr/>
        </p:nvSpPr>
        <p:spPr>
          <a:xfrm>
            <a:off x="586748" y="3410784"/>
            <a:ext cx="822993" cy="1131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7" name="ann9037"/>
          <p:cNvSpPr/>
          <p:nvPr/>
        </p:nvSpPr>
        <p:spPr>
          <a:xfrm>
            <a:off x="586748" y="4053746"/>
            <a:ext cx="822993" cy="1131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8" name="ann9038"/>
          <p:cNvSpPr/>
          <p:nvPr/>
        </p:nvSpPr>
        <p:spPr>
          <a:xfrm>
            <a:off x="586748" y="4696709"/>
            <a:ext cx="822993" cy="1131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39" name="ann9039"/>
          <p:cNvSpPr/>
          <p:nvPr/>
        </p:nvSpPr>
        <p:spPr>
          <a:xfrm>
            <a:off x="5749878" y="17621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40" name="ann9040"/>
          <p:cNvSpPr/>
          <p:nvPr/>
        </p:nvSpPr>
        <p:spPr>
          <a:xfrm>
            <a:off x="6026103" y="1676400"/>
            <a:ext cx="216539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45 ns 0a → wptr 1</a:t>
            </a:r>
          </a:p>
        </p:txBody>
      </p:sp>
      <p:sp>
        <p:nvSpPr>
          <p:cNvPr id="9041" name="ann9041"/>
          <p:cNvSpPr/>
          <p:nvPr/>
        </p:nvSpPr>
        <p:spPr>
          <a:xfrm>
            <a:off x="5749878" y="22193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42" name="ann9042"/>
          <p:cNvSpPr/>
          <p:nvPr/>
        </p:nvSpPr>
        <p:spPr>
          <a:xfrm>
            <a:off x="6026103" y="2133600"/>
            <a:ext cx="216539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55 ns 0b → wptr 2</a:t>
            </a:r>
          </a:p>
        </p:txBody>
      </p:sp>
      <p:sp>
        <p:nvSpPr>
          <p:cNvPr id="9043" name="ann9043"/>
          <p:cNvSpPr/>
          <p:nvPr/>
        </p:nvSpPr>
        <p:spPr>
          <a:xfrm>
            <a:off x="5749878" y="26765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44" name="ann9044"/>
          <p:cNvSpPr/>
          <p:nvPr/>
        </p:nvSpPr>
        <p:spPr>
          <a:xfrm>
            <a:off x="6026103" y="2590800"/>
            <a:ext cx="216539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65 ns 0c → wptr 3</a:t>
            </a:r>
          </a:p>
        </p:txBody>
      </p:sp>
      <p:sp>
        <p:nvSpPr>
          <p:cNvPr id="9045" name="ann9045"/>
          <p:cNvSpPr/>
          <p:nvPr/>
        </p:nvSpPr>
        <p:spPr>
          <a:xfrm>
            <a:off x="5749878" y="31337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46" name="ann9046"/>
          <p:cNvSpPr/>
          <p:nvPr/>
        </p:nvSpPr>
        <p:spPr>
          <a:xfrm>
            <a:off x="6026103" y="3048000"/>
            <a:ext cx="216539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75 ns 0d → wptr 0, full 1</a:t>
            </a:r>
          </a:p>
        </p:txBody>
      </p:sp>
      <p:sp>
        <p:nvSpPr>
          <p:cNvPr id="9047" name="ann9047"/>
          <p:cNvSpPr/>
          <p:nvPr/>
        </p:nvSpPr>
        <p:spPr>
          <a:xfrm>
            <a:off x="5749878" y="35909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48" name="ann9048"/>
          <p:cNvSpPr/>
          <p:nvPr/>
        </p:nvSpPr>
        <p:spPr>
          <a:xfrm>
            <a:off x="6026103" y="3505200"/>
            <a:ext cx="216539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85 ns 0e → we 0, 무시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S3 Pop ×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Pop × 5: 넣은 순서대로 0a → 0d, 4번째 Pop 후 Empty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negedge마다 pop_data를 compare_buffer와 비교 → 0a · 0b · 0c · 0d 순서 일치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4번째 pop 뒤 (135 ns) empty 1 → 5번째 pop은 무시 (rptr 그대로)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5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4 + empty 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pop_data 비교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~ 130 ns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0a 0b 0c 0d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135 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5번째 pop (140 ns)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무시</a:t>
            </a:r>
            <a:endParaRPr lang="en-US" sz="15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2A3A0F3B-50CD-5F7E-EADE-C854D625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080"/>
          <a:stretch>
            <a:fillRect/>
          </a:stretch>
        </p:blipFill>
        <p:spPr>
          <a:xfrm>
            <a:off x="381000" y="1600200"/>
            <a:ext cx="5225515" cy="4819650"/>
          </a:xfrm>
          <a:prstGeom prst="rect">
            <a:avLst/>
          </a:prstGeom>
        </p:spPr>
      </p:pic>
      <p:cxnSp>
        <p:nvCxnSpPr>
          <p:cNvPr id="9049" name="ann9049"/>
          <p:cNvCxnSpPr/>
          <p:nvPr/>
        </p:nvCxnSpPr>
        <p:spPr>
          <a:xfrm>
            <a:off x="2944039" y="1995919"/>
            <a:ext cx="0" cy="43224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50" name="ann9050"/>
          <p:cNvSpPr/>
          <p:nvPr/>
        </p:nvSpPr>
        <p:spPr>
          <a:xfrm>
            <a:off x="2848789" y="188161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cxnSp>
        <p:nvCxnSpPr>
          <p:cNvPr id="9051" name="ann9051"/>
          <p:cNvCxnSpPr/>
          <p:nvPr/>
        </p:nvCxnSpPr>
        <p:spPr>
          <a:xfrm>
            <a:off x="3347875" y="1995919"/>
            <a:ext cx="0" cy="43224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52" name="ann9052"/>
          <p:cNvSpPr/>
          <p:nvPr/>
        </p:nvSpPr>
        <p:spPr>
          <a:xfrm>
            <a:off x="3252625" y="188161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cxnSp>
        <p:nvCxnSpPr>
          <p:cNvPr id="9053" name="ann9053"/>
          <p:cNvCxnSpPr/>
          <p:nvPr/>
        </p:nvCxnSpPr>
        <p:spPr>
          <a:xfrm>
            <a:off x="3751711" y="1995919"/>
            <a:ext cx="0" cy="43224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54" name="ann9054"/>
          <p:cNvSpPr/>
          <p:nvPr/>
        </p:nvSpPr>
        <p:spPr>
          <a:xfrm>
            <a:off x="3656461" y="188161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cxnSp>
        <p:nvCxnSpPr>
          <p:cNvPr id="9055" name="ann9055"/>
          <p:cNvCxnSpPr/>
          <p:nvPr/>
        </p:nvCxnSpPr>
        <p:spPr>
          <a:xfrm>
            <a:off x="4155547" y="1995919"/>
            <a:ext cx="0" cy="43224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56" name="ann9056"/>
          <p:cNvSpPr/>
          <p:nvPr/>
        </p:nvSpPr>
        <p:spPr>
          <a:xfrm>
            <a:off x="4060297" y="188161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cxnSp>
        <p:nvCxnSpPr>
          <p:cNvPr id="9057" name="ann9057"/>
          <p:cNvCxnSpPr/>
          <p:nvPr/>
        </p:nvCxnSpPr>
        <p:spPr>
          <a:xfrm>
            <a:off x="4357465" y="1995919"/>
            <a:ext cx="0" cy="4322465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058" name="ann9058"/>
          <p:cNvSpPr/>
          <p:nvPr/>
        </p:nvSpPr>
        <p:spPr>
          <a:xfrm>
            <a:off x="4262215" y="188161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cxnSp>
        <p:nvCxnSpPr>
          <p:cNvPr id="9059" name="ann9059"/>
          <p:cNvCxnSpPr/>
          <p:nvPr/>
        </p:nvCxnSpPr>
        <p:spPr>
          <a:xfrm>
            <a:off x="4559383" y="1995919"/>
            <a:ext cx="0" cy="43224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60" name="ann9060"/>
          <p:cNvSpPr/>
          <p:nvPr/>
        </p:nvSpPr>
        <p:spPr>
          <a:xfrm>
            <a:off x="4464133" y="188161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6</a:t>
            </a:r>
          </a:p>
        </p:txBody>
      </p:sp>
      <p:sp>
        <p:nvSpPr>
          <p:cNvPr id="9061" name="ann9061"/>
          <p:cNvSpPr/>
          <p:nvPr/>
        </p:nvSpPr>
        <p:spPr>
          <a:xfrm>
            <a:off x="2863272" y="2893896"/>
            <a:ext cx="161534" cy="111613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2" name="ann9062"/>
          <p:cNvSpPr/>
          <p:nvPr/>
        </p:nvSpPr>
        <p:spPr>
          <a:xfrm>
            <a:off x="3267108" y="2893896"/>
            <a:ext cx="161534" cy="111613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3" name="ann9063"/>
          <p:cNvSpPr/>
          <p:nvPr/>
        </p:nvSpPr>
        <p:spPr>
          <a:xfrm>
            <a:off x="3670944" y="2893896"/>
            <a:ext cx="161534" cy="111613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4" name="ann9064"/>
          <p:cNvSpPr/>
          <p:nvPr/>
        </p:nvSpPr>
        <p:spPr>
          <a:xfrm>
            <a:off x="4074780" y="2893896"/>
            <a:ext cx="161534" cy="111613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5" name="ann9065"/>
          <p:cNvSpPr/>
          <p:nvPr/>
        </p:nvSpPr>
        <p:spPr>
          <a:xfrm>
            <a:off x="4357465" y="3147561"/>
            <a:ext cx="605754" cy="111613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6" name="ann9066"/>
          <p:cNvSpPr/>
          <p:nvPr/>
        </p:nvSpPr>
        <p:spPr>
          <a:xfrm>
            <a:off x="4559383" y="3528060"/>
            <a:ext cx="403836" cy="111613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7" name="ann9067"/>
          <p:cNvSpPr/>
          <p:nvPr/>
        </p:nvSpPr>
        <p:spPr>
          <a:xfrm>
            <a:off x="583933" y="2640230"/>
            <a:ext cx="811731" cy="111613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8" name="ann9068"/>
          <p:cNvSpPr/>
          <p:nvPr/>
        </p:nvSpPr>
        <p:spPr>
          <a:xfrm>
            <a:off x="583933" y="2893896"/>
            <a:ext cx="811731" cy="111613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69" name="ann9069"/>
          <p:cNvSpPr/>
          <p:nvPr/>
        </p:nvSpPr>
        <p:spPr>
          <a:xfrm>
            <a:off x="583933" y="3147561"/>
            <a:ext cx="811731" cy="111613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0" name="ann9070"/>
          <p:cNvSpPr/>
          <p:nvPr/>
        </p:nvSpPr>
        <p:spPr>
          <a:xfrm>
            <a:off x="583933" y="3528060"/>
            <a:ext cx="811731" cy="111613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1" name="ann9071"/>
          <p:cNvSpPr/>
          <p:nvPr/>
        </p:nvSpPr>
        <p:spPr>
          <a:xfrm>
            <a:off x="583933" y="6191551"/>
            <a:ext cx="811731" cy="111613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72" name="ann9072"/>
          <p:cNvSpPr/>
          <p:nvPr/>
        </p:nvSpPr>
        <p:spPr>
          <a:xfrm>
            <a:off x="5749390" y="17621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073" name="ann9073"/>
          <p:cNvSpPr/>
          <p:nvPr/>
        </p:nvSpPr>
        <p:spPr>
          <a:xfrm>
            <a:off x="6025615" y="1676400"/>
            <a:ext cx="216588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100 ns pop_data 0a 판정</a:t>
            </a:r>
          </a:p>
        </p:txBody>
      </p:sp>
      <p:sp>
        <p:nvSpPr>
          <p:cNvPr id="9074" name="ann9074"/>
          <p:cNvSpPr/>
          <p:nvPr/>
        </p:nvSpPr>
        <p:spPr>
          <a:xfrm>
            <a:off x="5749390" y="22193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075" name="ann9075"/>
          <p:cNvSpPr/>
          <p:nvPr/>
        </p:nvSpPr>
        <p:spPr>
          <a:xfrm>
            <a:off x="6025615" y="2133600"/>
            <a:ext cx="216588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110 ns 0b 판정</a:t>
            </a:r>
          </a:p>
        </p:txBody>
      </p:sp>
      <p:sp>
        <p:nvSpPr>
          <p:cNvPr id="9076" name="ann9076"/>
          <p:cNvSpPr/>
          <p:nvPr/>
        </p:nvSpPr>
        <p:spPr>
          <a:xfrm>
            <a:off x="5749390" y="26765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77" name="ann9077"/>
          <p:cNvSpPr/>
          <p:nvPr/>
        </p:nvSpPr>
        <p:spPr>
          <a:xfrm>
            <a:off x="6025615" y="2590800"/>
            <a:ext cx="216588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120 ns 0c 판정</a:t>
            </a:r>
          </a:p>
        </p:txBody>
      </p:sp>
      <p:sp>
        <p:nvSpPr>
          <p:cNvPr id="9078" name="ann9078"/>
          <p:cNvSpPr/>
          <p:nvPr/>
        </p:nvSpPr>
        <p:spPr>
          <a:xfrm>
            <a:off x="5749390" y="31337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079" name="ann9079"/>
          <p:cNvSpPr/>
          <p:nvPr/>
        </p:nvSpPr>
        <p:spPr>
          <a:xfrm>
            <a:off x="6025615" y="3048000"/>
            <a:ext cx="216588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130 ns 0d 판정</a:t>
            </a:r>
          </a:p>
        </p:txBody>
      </p:sp>
      <p:sp>
        <p:nvSpPr>
          <p:cNvPr id="9080" name="ann9080"/>
          <p:cNvSpPr/>
          <p:nvPr/>
        </p:nvSpPr>
        <p:spPr>
          <a:xfrm>
            <a:off x="5749390" y="35909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5</a:t>
            </a:r>
          </a:p>
        </p:txBody>
      </p:sp>
      <p:sp>
        <p:nvSpPr>
          <p:cNvPr id="9081" name="ann9081"/>
          <p:cNvSpPr/>
          <p:nvPr/>
        </p:nvSpPr>
        <p:spPr>
          <a:xfrm>
            <a:off x="6025615" y="3505200"/>
            <a:ext cx="216588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135 ns empty 1</a:t>
            </a:r>
          </a:p>
        </p:txBody>
      </p:sp>
      <p:sp>
        <p:nvSpPr>
          <p:cNvPr id="9082" name="ann9082"/>
          <p:cNvSpPr/>
          <p:nvPr/>
        </p:nvSpPr>
        <p:spPr>
          <a:xfrm>
            <a:off x="5749390" y="40481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6</a:t>
            </a:r>
          </a:p>
        </p:txBody>
      </p:sp>
      <p:sp>
        <p:nvSpPr>
          <p:cNvPr id="9083" name="ann9083"/>
          <p:cNvSpPr/>
          <p:nvPr/>
        </p:nvSpPr>
        <p:spPr>
          <a:xfrm>
            <a:off x="6025615" y="3962400"/>
            <a:ext cx="216588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140 ns pop → 무시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S4 Push + Pop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 Push + Pop × 5: Empty 중엔 Push만, 이후 개수 1 유지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160 ns empty 중 push + pop → push만 (0f 저장, empty 0)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170 ~ 200 ns push + pop → wptr · rptr 같이 +1, pop_data 0f · 0e · 0d · 0c 순서 일치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pop_data 판정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 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push만 (0f)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pop_data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0f 0e 0d 0c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개수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유지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 ns pop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empty 1</a:t>
            </a:r>
            <a:endParaRPr lang="en-US" sz="15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938978F-53A8-00CC-0D71-2ECDCBD3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600200"/>
            <a:ext cx="5177798" cy="4819650"/>
          </a:xfrm>
          <a:prstGeom prst="rect">
            <a:avLst/>
          </a:prstGeom>
        </p:spPr>
      </p:pic>
      <p:cxnSp>
        <p:nvCxnSpPr>
          <p:cNvPr id="9084" name="ann9084"/>
          <p:cNvCxnSpPr/>
          <p:nvPr/>
        </p:nvCxnSpPr>
        <p:spPr>
          <a:xfrm>
            <a:off x="2590006" y="1999279"/>
            <a:ext cx="0" cy="4359174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085" name="ann9085"/>
          <p:cNvSpPr/>
          <p:nvPr/>
        </p:nvSpPr>
        <p:spPr>
          <a:xfrm>
            <a:off x="2494756" y="188497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cxnSp>
        <p:nvCxnSpPr>
          <p:cNvPr id="9086" name="ann9086"/>
          <p:cNvCxnSpPr/>
          <p:nvPr/>
        </p:nvCxnSpPr>
        <p:spPr>
          <a:xfrm>
            <a:off x="2793383" y="1999279"/>
            <a:ext cx="0" cy="4359174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087" name="ann9087"/>
          <p:cNvSpPr/>
          <p:nvPr/>
        </p:nvSpPr>
        <p:spPr>
          <a:xfrm>
            <a:off x="2698133" y="188497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cxnSp>
        <p:nvCxnSpPr>
          <p:cNvPr id="9088" name="ann9088"/>
          <p:cNvCxnSpPr/>
          <p:nvPr/>
        </p:nvCxnSpPr>
        <p:spPr>
          <a:xfrm>
            <a:off x="3200137" y="1999279"/>
            <a:ext cx="0" cy="4359174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cxnSp>
        <p:nvCxnSpPr>
          <p:cNvPr id="9089" name="ann9089"/>
          <p:cNvCxnSpPr/>
          <p:nvPr/>
        </p:nvCxnSpPr>
        <p:spPr>
          <a:xfrm>
            <a:off x="3606891" y="1999279"/>
            <a:ext cx="0" cy="4359174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cxnSp>
        <p:nvCxnSpPr>
          <p:cNvPr id="9090" name="ann9090"/>
          <p:cNvCxnSpPr/>
          <p:nvPr/>
        </p:nvCxnSpPr>
        <p:spPr>
          <a:xfrm>
            <a:off x="4013645" y="1999279"/>
            <a:ext cx="0" cy="4359174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cxnSp>
        <p:nvCxnSpPr>
          <p:cNvPr id="9091" name="ann9091"/>
          <p:cNvCxnSpPr/>
          <p:nvPr/>
        </p:nvCxnSpPr>
        <p:spPr>
          <a:xfrm>
            <a:off x="4623776" y="1999279"/>
            <a:ext cx="0" cy="4359174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092" name="ann9092"/>
          <p:cNvSpPr/>
          <p:nvPr/>
        </p:nvSpPr>
        <p:spPr>
          <a:xfrm>
            <a:off x="4528526" y="188497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093" name="ann9093"/>
          <p:cNvSpPr/>
          <p:nvPr/>
        </p:nvSpPr>
        <p:spPr>
          <a:xfrm>
            <a:off x="2386629" y="3426755"/>
            <a:ext cx="406754" cy="1125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4" name="ann9094"/>
          <p:cNvSpPr/>
          <p:nvPr/>
        </p:nvSpPr>
        <p:spPr>
          <a:xfrm>
            <a:off x="2386629" y="3554665"/>
            <a:ext cx="406754" cy="1125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5" name="ann9095"/>
          <p:cNvSpPr/>
          <p:nvPr/>
        </p:nvSpPr>
        <p:spPr>
          <a:xfrm>
            <a:off x="2793383" y="2915115"/>
            <a:ext cx="1423639" cy="1125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6" name="ann9096"/>
          <p:cNvSpPr/>
          <p:nvPr/>
        </p:nvSpPr>
        <p:spPr>
          <a:xfrm>
            <a:off x="4420399" y="3170935"/>
            <a:ext cx="406754" cy="112561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7" name="ann9097"/>
          <p:cNvSpPr/>
          <p:nvPr/>
        </p:nvSpPr>
        <p:spPr>
          <a:xfrm>
            <a:off x="585656" y="2398359"/>
            <a:ext cx="818624" cy="1125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8" name="ann9098"/>
          <p:cNvSpPr/>
          <p:nvPr/>
        </p:nvSpPr>
        <p:spPr>
          <a:xfrm>
            <a:off x="585656" y="2654179"/>
            <a:ext cx="818624" cy="1125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099" name="ann9099"/>
          <p:cNvSpPr/>
          <p:nvPr/>
        </p:nvSpPr>
        <p:spPr>
          <a:xfrm>
            <a:off x="585656" y="2909999"/>
            <a:ext cx="818624" cy="1125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0" name="ann9100"/>
          <p:cNvSpPr/>
          <p:nvPr/>
        </p:nvSpPr>
        <p:spPr>
          <a:xfrm>
            <a:off x="585656" y="3165819"/>
            <a:ext cx="818624" cy="1125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1" name="ann9101"/>
          <p:cNvSpPr/>
          <p:nvPr/>
        </p:nvSpPr>
        <p:spPr>
          <a:xfrm>
            <a:off x="585656" y="3421639"/>
            <a:ext cx="818624" cy="1125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2" name="ann9102"/>
          <p:cNvSpPr/>
          <p:nvPr/>
        </p:nvSpPr>
        <p:spPr>
          <a:xfrm>
            <a:off x="585656" y="3549549"/>
            <a:ext cx="818624" cy="112561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03" name="ann9103"/>
          <p:cNvSpPr/>
          <p:nvPr/>
        </p:nvSpPr>
        <p:spPr>
          <a:xfrm>
            <a:off x="5701673" y="17621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104" name="ann9104"/>
          <p:cNvSpPr/>
          <p:nvPr/>
        </p:nvSpPr>
        <p:spPr>
          <a:xfrm>
            <a:off x="5977898" y="1676400"/>
            <a:ext cx="2213602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165 ns push만: wptr +1, empty 0</a:t>
            </a:r>
          </a:p>
        </p:txBody>
      </p:sp>
      <p:sp>
        <p:nvSpPr>
          <p:cNvPr id="9105" name="ann9105"/>
          <p:cNvSpPr/>
          <p:nvPr/>
        </p:nvSpPr>
        <p:spPr>
          <a:xfrm>
            <a:off x="5701673" y="22193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106" name="ann9106"/>
          <p:cNvSpPr/>
          <p:nvPr/>
        </p:nvSpPr>
        <p:spPr>
          <a:xfrm>
            <a:off x="5977898" y="2133600"/>
            <a:ext cx="2213602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170 ~ 200 ns 0f 0e 0d 0c 판정</a:t>
            </a:r>
          </a:p>
        </p:txBody>
      </p:sp>
      <p:sp>
        <p:nvSpPr>
          <p:cNvPr id="9107" name="ann9107"/>
          <p:cNvSpPr/>
          <p:nvPr/>
        </p:nvSpPr>
        <p:spPr>
          <a:xfrm>
            <a:off x="5977898" y="2590800"/>
            <a:ext cx="2213602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475569"/>
                </a:solidFill>
                <a:latin typeface="맑은 고딕"/>
                <a:ea typeface="맑은 고딕"/>
              </a:rPr>
              <a:t>wptr · rptr 같이 +1 (개수 1)</a:t>
            </a:r>
          </a:p>
        </p:txBody>
      </p:sp>
      <p:sp>
        <p:nvSpPr>
          <p:cNvPr id="9108" name="ann9108"/>
          <p:cNvSpPr/>
          <p:nvPr/>
        </p:nvSpPr>
        <p:spPr>
          <a:xfrm>
            <a:off x="5701673" y="31337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109" name="ann9109"/>
          <p:cNvSpPr/>
          <p:nvPr/>
        </p:nvSpPr>
        <p:spPr>
          <a:xfrm>
            <a:off x="5977898" y="3048000"/>
            <a:ext cx="2213602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215 ns pop → empty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S5 Random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2400" b="1">
                <a:solidFill>
                  <a:srgbClr val="0F172A"/>
                </a:solidFill>
                <a:latin typeface="맑은 고딕"/>
                <a:ea typeface="맑은 고딕"/>
              </a:rPr>
              <a:t>S5-A Random: Full 중 Push+Pop은 Pop만 (Spec)</a:t>
            </a:r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500" b="1">
                <a:solidFill>
                  <a:srgbClr val="0F172A"/>
                </a:solidFill>
                <a:latin typeface="맑은 고딕"/>
                <a:ea typeface="맑은 고딕"/>
              </a:rPr>
              <a:t>·  505 ns full 1 → 510 ns push+pop (d0) → rptr만 +1, full 0 · we 0이라 d0 저장 안 함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500" b="1">
                <a:solidFill>
                  <a:srgbClr val="0F172A"/>
                </a:solidFill>
                <a:latin typeface="맑은 고딕"/>
                <a:ea typeface="맑은 고딕"/>
              </a:rPr>
              <a:t>·  pop_data 7e 판정 PASS · 모델도 d0 기록 안 함 → 이후 순서 일치 (random </a:t>
            </a:r>
            <a:r>
              <a:rPr lang="ko-KR" sz="1500" b="1">
                <a:solidFill>
                  <a:srgbClr val="FF3B3B"/>
                </a:solidFill>
                <a:latin typeface="맑은 고딕"/>
                <a:ea typeface="맑은 고딕"/>
              </a:rPr>
              <a:t>113 / 113</a:t>
            </a:r>
            <a:r>
              <a:rPr lang="ko-KR" sz="1500" b="1">
                <a:solidFill>
                  <a:srgbClr val="0F172A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20" name="Shape 18"/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 / 113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비교 · fail 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경우 (xsim 측정)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&amp; full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&amp; empty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push+pop &amp; empty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push+pop &amp; mid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82000" y="4533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push+pop &amp; full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267950" y="4533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382000" y="4914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순환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267950" y="4914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53340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256 iteration (240 ~ 2790 ns) 기준</a:t>
            </a:r>
            <a:endParaRPr lang="en-US" sz="1100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850189CA-3396-0C7F-338E-F9EFD4B8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600200"/>
            <a:ext cx="5190392" cy="4819650"/>
          </a:xfrm>
          <a:prstGeom prst="rect">
            <a:avLst/>
          </a:prstGeom>
        </p:spPr>
      </p:pic>
      <p:cxnSp>
        <p:nvCxnSpPr>
          <p:cNvPr id="9110" name="ann9110"/>
          <p:cNvCxnSpPr/>
          <p:nvPr/>
        </p:nvCxnSpPr>
        <p:spPr>
          <a:xfrm>
            <a:off x="3667476" y="1960644"/>
            <a:ext cx="0" cy="44025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111" name="ann9111"/>
          <p:cNvSpPr/>
          <p:nvPr/>
        </p:nvSpPr>
        <p:spPr>
          <a:xfrm>
            <a:off x="3572226" y="1846344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cxnSp>
        <p:nvCxnSpPr>
          <p:cNvPr id="9112" name="ann9112"/>
          <p:cNvCxnSpPr/>
          <p:nvPr/>
        </p:nvCxnSpPr>
        <p:spPr>
          <a:xfrm>
            <a:off x="3879881" y="1960644"/>
            <a:ext cx="0" cy="44025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113" name="ann9113"/>
          <p:cNvSpPr/>
          <p:nvPr/>
        </p:nvSpPr>
        <p:spPr>
          <a:xfrm>
            <a:off x="3784631" y="1846344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cxnSp>
        <p:nvCxnSpPr>
          <p:cNvPr id="9114" name="ann9114"/>
          <p:cNvCxnSpPr/>
          <p:nvPr/>
        </p:nvCxnSpPr>
        <p:spPr>
          <a:xfrm>
            <a:off x="4092285" y="1960644"/>
            <a:ext cx="0" cy="4402565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115" name="ann9115"/>
          <p:cNvSpPr/>
          <p:nvPr/>
        </p:nvSpPr>
        <p:spPr>
          <a:xfrm>
            <a:off x="3997035" y="1846344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cxnSp>
        <p:nvCxnSpPr>
          <p:cNvPr id="9116" name="ann9116"/>
          <p:cNvCxnSpPr/>
          <p:nvPr/>
        </p:nvCxnSpPr>
        <p:spPr>
          <a:xfrm>
            <a:off x="4517094" y="1960644"/>
            <a:ext cx="0" cy="4402565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117" name="ann9117"/>
          <p:cNvSpPr/>
          <p:nvPr/>
        </p:nvSpPr>
        <p:spPr>
          <a:xfrm>
            <a:off x="4421844" y="1846344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118" name="ann9118"/>
          <p:cNvSpPr/>
          <p:nvPr/>
        </p:nvSpPr>
        <p:spPr>
          <a:xfrm>
            <a:off x="3667476" y="3005931"/>
            <a:ext cx="424809" cy="113282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19" name="ann9119"/>
          <p:cNvSpPr/>
          <p:nvPr/>
        </p:nvSpPr>
        <p:spPr>
          <a:xfrm>
            <a:off x="3667476" y="4035771"/>
            <a:ext cx="424809" cy="113282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0" name="ann9120"/>
          <p:cNvSpPr/>
          <p:nvPr/>
        </p:nvSpPr>
        <p:spPr>
          <a:xfrm>
            <a:off x="3879881" y="3520851"/>
            <a:ext cx="424809" cy="113282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1" name="ann9121"/>
          <p:cNvSpPr/>
          <p:nvPr/>
        </p:nvSpPr>
        <p:spPr>
          <a:xfrm>
            <a:off x="3667476" y="4808151"/>
            <a:ext cx="849618" cy="113282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2" name="ann9122"/>
          <p:cNvSpPr/>
          <p:nvPr/>
        </p:nvSpPr>
        <p:spPr>
          <a:xfrm>
            <a:off x="586968" y="236228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3" name="ann9123"/>
          <p:cNvSpPr/>
          <p:nvPr/>
        </p:nvSpPr>
        <p:spPr>
          <a:xfrm>
            <a:off x="586968" y="261974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4" name="ann9124"/>
          <p:cNvSpPr/>
          <p:nvPr/>
        </p:nvSpPr>
        <p:spPr>
          <a:xfrm>
            <a:off x="586968" y="287720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5" name="ann9125"/>
          <p:cNvSpPr/>
          <p:nvPr/>
        </p:nvSpPr>
        <p:spPr>
          <a:xfrm>
            <a:off x="586968" y="300593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6" name="ann9126"/>
          <p:cNvSpPr/>
          <p:nvPr/>
        </p:nvSpPr>
        <p:spPr>
          <a:xfrm>
            <a:off x="586968" y="339212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7" name="ann9127"/>
          <p:cNvSpPr/>
          <p:nvPr/>
        </p:nvSpPr>
        <p:spPr>
          <a:xfrm>
            <a:off x="586968" y="352085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8" name="ann9128"/>
          <p:cNvSpPr/>
          <p:nvPr/>
        </p:nvSpPr>
        <p:spPr>
          <a:xfrm>
            <a:off x="586968" y="403577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29" name="ann9129"/>
          <p:cNvSpPr/>
          <p:nvPr/>
        </p:nvSpPr>
        <p:spPr>
          <a:xfrm>
            <a:off x="586968" y="4808151"/>
            <a:ext cx="823872" cy="113282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30" name="ann9130"/>
          <p:cNvSpPr/>
          <p:nvPr/>
        </p:nvSpPr>
        <p:spPr>
          <a:xfrm>
            <a:off x="5714267" y="17621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131" name="ann9131"/>
          <p:cNvSpPr/>
          <p:nvPr/>
        </p:nvSpPr>
        <p:spPr>
          <a:xfrm>
            <a:off x="5990492" y="1676400"/>
            <a:ext cx="2201008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505 ns 5b push → full 1</a:t>
            </a:r>
          </a:p>
        </p:txBody>
      </p:sp>
      <p:sp>
        <p:nvSpPr>
          <p:cNvPr id="9132" name="ann9132"/>
          <p:cNvSpPr/>
          <p:nvPr/>
        </p:nvSpPr>
        <p:spPr>
          <a:xfrm>
            <a:off x="5714267" y="22193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133" name="ann9133"/>
          <p:cNvSpPr/>
          <p:nvPr/>
        </p:nvSpPr>
        <p:spPr>
          <a:xfrm>
            <a:off x="5990492" y="2133600"/>
            <a:ext cx="2201008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510 ns push+pop (d0) · 7e 판정</a:t>
            </a:r>
          </a:p>
        </p:txBody>
      </p:sp>
      <p:sp>
        <p:nvSpPr>
          <p:cNvPr id="9134" name="ann9134"/>
          <p:cNvSpPr/>
          <p:nvPr/>
        </p:nvSpPr>
        <p:spPr>
          <a:xfrm>
            <a:off x="5714267" y="26765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135" name="ann9135"/>
          <p:cNvSpPr/>
          <p:nvPr/>
        </p:nvSpPr>
        <p:spPr>
          <a:xfrm>
            <a:off x="5990492" y="2590800"/>
            <a:ext cx="2201008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515 ns rptr만 +1, full 0 · we 0 → d0 버림</a:t>
            </a:r>
          </a:p>
        </p:txBody>
      </p:sp>
      <p:sp>
        <p:nvSpPr>
          <p:cNvPr id="9136" name="ann9136"/>
          <p:cNvSpPr/>
          <p:nvPr/>
        </p:nvSpPr>
        <p:spPr>
          <a:xfrm>
            <a:off x="5714267" y="31337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4</a:t>
            </a:r>
          </a:p>
        </p:txBody>
      </p:sp>
      <p:sp>
        <p:nvSpPr>
          <p:cNvPr id="9137" name="ann9137"/>
          <p:cNvSpPr/>
          <p:nvPr/>
        </p:nvSpPr>
        <p:spPr>
          <a:xfrm>
            <a:off x="5990492" y="3048000"/>
            <a:ext cx="2201008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525 ns push+pop 96 → 둘 다 +1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CE61-2879-B7AC-A589-57AA7318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0E6A63-6A12-80FD-B51C-D46AEAB9F39A}"/>
              </a:ext>
            </a:extLst>
          </p:cNvPr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S5 Random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89BC22-2B96-B444-EAA0-E68F96EBB50E}"/>
              </a:ext>
            </a:extLst>
          </p:cNvPr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2400" b="1">
                <a:solidFill>
                  <a:srgbClr val="0F172A"/>
                </a:solidFill>
                <a:latin typeface="맑은 고딕"/>
                <a:ea typeface="맑은 고딕"/>
              </a:rPr>
              <a:t>S5-B Random: Empty 중 Pop 무시, Push+Pop은 Push만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EF0B4FD-6646-D87D-9C0F-10C93712442C}"/>
              </a:ext>
            </a:extLst>
          </p:cNvPr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73250B-8DD0-A414-4F13-1FE741538C2B}"/>
              </a:ext>
            </a:extLst>
          </p:cNvPr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0FE188-F96D-4AE7-7700-7A7FB06F619B}"/>
              </a:ext>
            </a:extLst>
          </p:cNvPr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8A5190-AECD-CBB5-3D18-23C4AC3ADD11}"/>
              </a:ext>
            </a:extLst>
          </p:cNvPr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21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82AA1BB-51D4-5207-0E06-9F649B9AFE5A}"/>
              </a:ext>
            </a:extLst>
          </p:cNvPr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ACDC88D-DADB-A1B1-21EB-EF0055D64393}"/>
              </a:ext>
            </a:extLst>
          </p:cNvPr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52BA7F-CBEB-0D1A-4A62-8F6CD5652A88}"/>
              </a:ext>
            </a:extLst>
          </p:cNvPr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500" b="1">
                <a:solidFill>
                  <a:srgbClr val="0F172A"/>
                </a:solidFill>
                <a:latin typeface="맑은 고딕"/>
                <a:ea typeface="맑은 고딕"/>
              </a:rPr>
              <a:t>·  1405 ns empty 1 → 1410 · 1420 ns pop 무시 (rptr 3 유지)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4E92926-DE77-AE45-3844-BDEA51E08DEC}"/>
              </a:ext>
            </a:extLst>
          </p:cNvPr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500" b="1">
                <a:solidFill>
                  <a:srgbClr val="0F172A"/>
                </a:solidFill>
                <a:latin typeface="맑은 고딕"/>
                <a:ea typeface="맑은 고딕"/>
              </a:rPr>
              <a:t>·  1440 ns push+pop (4b) → wptr만 +1, empty 0 → 다음 clk부터 pop_data 4b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240DD99-C6B1-EE13-231B-237271E92FAA}"/>
              </a:ext>
            </a:extLst>
          </p:cNvPr>
          <p:cNvSpPr/>
          <p:nvPr/>
        </p:nvSpPr>
        <p:spPr>
          <a:xfrm>
            <a:off x="8382000" y="161925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90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382B6F4-27B2-8505-39C2-F89AB6720332}"/>
              </a:ext>
            </a:extLst>
          </p:cNvPr>
          <p:cNvSpPr txBox="1"/>
          <p:nvPr/>
        </p:nvSpPr>
        <p:spPr>
          <a:xfrm>
            <a:off x="8534400" y="1714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D176EE8-75F9-187E-FB2A-5276FE87BA11}"/>
              </a:ext>
            </a:extLst>
          </p:cNvPr>
          <p:cNvSpPr txBox="1"/>
          <p:nvPr/>
        </p:nvSpPr>
        <p:spPr>
          <a:xfrm>
            <a:off x="8534400" y="1943100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 / 113</a:t>
            </a:r>
            <a:endParaRPr lang="en-US" sz="2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A9DBA62-5506-431E-823C-DBA2E96D72F4}"/>
              </a:ext>
            </a:extLst>
          </p:cNvPr>
          <p:cNvSpPr txBox="1"/>
          <p:nvPr/>
        </p:nvSpPr>
        <p:spPr>
          <a:xfrm>
            <a:off x="8534400" y="23050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비교 · fail 0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19D0213-866B-8B24-0B54-67D29133EC5D}"/>
              </a:ext>
            </a:extLst>
          </p:cNvPr>
          <p:cNvSpPr txBox="1"/>
          <p:nvPr/>
        </p:nvSpPr>
        <p:spPr>
          <a:xfrm>
            <a:off x="8382000" y="2705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경우 (xsim 측정)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AE201AD-4A7F-DA5D-8FC7-0171E756DC87}"/>
              </a:ext>
            </a:extLst>
          </p:cNvPr>
          <p:cNvSpPr txBox="1"/>
          <p:nvPr/>
        </p:nvSpPr>
        <p:spPr>
          <a:xfrm>
            <a:off x="8382000" y="3009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&amp; full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26D0BE4-CA25-9C0C-4C7B-6C501C0C6EA0}"/>
              </a:ext>
            </a:extLst>
          </p:cNvPr>
          <p:cNvSpPr txBox="1"/>
          <p:nvPr/>
        </p:nvSpPr>
        <p:spPr>
          <a:xfrm>
            <a:off x="10267950" y="3009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402B67A-8703-F10D-7E81-19181F0BD369}"/>
              </a:ext>
            </a:extLst>
          </p:cNvPr>
          <p:cNvSpPr txBox="1"/>
          <p:nvPr/>
        </p:nvSpPr>
        <p:spPr>
          <a:xfrm>
            <a:off x="8382000" y="3390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 &amp; empty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94F3F73-C7EA-42C9-7156-7D04A5444B3D}"/>
              </a:ext>
            </a:extLst>
          </p:cNvPr>
          <p:cNvSpPr txBox="1"/>
          <p:nvPr/>
        </p:nvSpPr>
        <p:spPr>
          <a:xfrm>
            <a:off x="10267950" y="3390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80047B9-F443-8B49-9AB1-4E9BDADBE61A}"/>
              </a:ext>
            </a:extLst>
          </p:cNvPr>
          <p:cNvSpPr txBox="1"/>
          <p:nvPr/>
        </p:nvSpPr>
        <p:spPr>
          <a:xfrm>
            <a:off x="8382000" y="3771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push+pop &amp; empty</a:t>
            </a:r>
            <a:endParaRPr lang="en-US" sz="13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E3629EC-3912-0A35-FE94-BEA282A7A786}"/>
              </a:ext>
            </a:extLst>
          </p:cNvPr>
          <p:cNvSpPr txBox="1"/>
          <p:nvPr/>
        </p:nvSpPr>
        <p:spPr>
          <a:xfrm>
            <a:off x="10267950" y="3771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4EBA4B9-9B29-C865-2382-5ADA5D6D79D5}"/>
              </a:ext>
            </a:extLst>
          </p:cNvPr>
          <p:cNvSpPr txBox="1"/>
          <p:nvPr/>
        </p:nvSpPr>
        <p:spPr>
          <a:xfrm>
            <a:off x="8382000" y="4152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push+pop &amp; mid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3514634-4798-607A-502D-161D4E14E31D}"/>
              </a:ext>
            </a:extLst>
          </p:cNvPr>
          <p:cNvSpPr txBox="1"/>
          <p:nvPr/>
        </p:nvSpPr>
        <p:spPr>
          <a:xfrm>
            <a:off x="10267950" y="4152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DFC7BCA-2BEF-3782-037D-4EF06B69C730}"/>
              </a:ext>
            </a:extLst>
          </p:cNvPr>
          <p:cNvSpPr txBox="1"/>
          <p:nvPr/>
        </p:nvSpPr>
        <p:spPr>
          <a:xfrm>
            <a:off x="8382000" y="4533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push+pop &amp; full</a:t>
            </a:r>
            <a:endParaRPr lang="en-US" sz="13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1838E0B-CBEB-B32B-19E5-AB7341E38D2E}"/>
              </a:ext>
            </a:extLst>
          </p:cNvPr>
          <p:cNvSpPr txBox="1"/>
          <p:nvPr/>
        </p:nvSpPr>
        <p:spPr>
          <a:xfrm>
            <a:off x="10267950" y="4533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1E1886B-DA23-87B0-C930-D8CBF6D12A5C}"/>
              </a:ext>
            </a:extLst>
          </p:cNvPr>
          <p:cNvSpPr txBox="1"/>
          <p:nvPr/>
        </p:nvSpPr>
        <p:spPr>
          <a:xfrm>
            <a:off x="8382000" y="4914900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순환</a:t>
            </a:r>
            <a:endParaRPr lang="en-US" sz="13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7E22A2D-53D3-3C15-79D6-30B7B9178B6E}"/>
              </a:ext>
            </a:extLst>
          </p:cNvPr>
          <p:cNvSpPr txBox="1"/>
          <p:nvPr/>
        </p:nvSpPr>
        <p:spPr>
          <a:xfrm>
            <a:off x="10267950" y="49149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5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2EA069D-232D-49C6-570E-76DC9AC51736}"/>
              </a:ext>
            </a:extLst>
          </p:cNvPr>
          <p:cNvSpPr txBox="1"/>
          <p:nvPr/>
        </p:nvSpPr>
        <p:spPr>
          <a:xfrm>
            <a:off x="8382000" y="533400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 256 iteration (240 ~ 2790 ns) 기준</a:t>
            </a:r>
            <a:endParaRPr lang="en-US" sz="11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DE317278-DCE8-196B-6428-D1F59195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600200"/>
            <a:ext cx="5456513" cy="4819650"/>
          </a:xfrm>
          <a:prstGeom prst="rect">
            <a:avLst/>
          </a:prstGeom>
        </p:spPr>
      </p:pic>
      <p:cxnSp>
        <p:nvCxnSpPr>
          <p:cNvPr id="9138" name="ann9138"/>
          <p:cNvCxnSpPr/>
          <p:nvPr/>
        </p:nvCxnSpPr>
        <p:spPr>
          <a:xfrm>
            <a:off x="3851364" y="1735129"/>
            <a:ext cx="0" cy="4614559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139" name="ann9139"/>
          <p:cNvSpPr/>
          <p:nvPr/>
        </p:nvSpPr>
        <p:spPr>
          <a:xfrm>
            <a:off x="3756114" y="162082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cxnSp>
        <p:nvCxnSpPr>
          <p:cNvPr id="9140" name="ann9140"/>
          <p:cNvCxnSpPr/>
          <p:nvPr/>
        </p:nvCxnSpPr>
        <p:spPr>
          <a:xfrm>
            <a:off x="3986292" y="1735129"/>
            <a:ext cx="0" cy="4614559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sp>
        <p:nvSpPr>
          <p:cNvPr id="9141" name="ann9141"/>
          <p:cNvSpPr/>
          <p:nvPr/>
        </p:nvSpPr>
        <p:spPr>
          <a:xfrm>
            <a:off x="3891042" y="162082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cxnSp>
        <p:nvCxnSpPr>
          <p:cNvPr id="9142" name="ann9142"/>
          <p:cNvCxnSpPr/>
          <p:nvPr/>
        </p:nvCxnSpPr>
        <p:spPr>
          <a:xfrm>
            <a:off x="4256150" y="1735129"/>
            <a:ext cx="0" cy="4614559"/>
          </a:xfrm>
          <a:prstGeom prst="line">
            <a:avLst/>
          </a:prstGeom>
          <a:ln w="6350">
            <a:solidFill>
              <a:srgbClr val="FFD400"/>
            </a:solidFill>
            <a:prstDash val="sysDash"/>
          </a:ln>
        </p:spPr>
      </p:cxnSp>
      <p:cxnSp>
        <p:nvCxnSpPr>
          <p:cNvPr id="9143" name="ann9143"/>
          <p:cNvCxnSpPr/>
          <p:nvPr/>
        </p:nvCxnSpPr>
        <p:spPr>
          <a:xfrm>
            <a:off x="4930793" y="1735129"/>
            <a:ext cx="0" cy="4614559"/>
          </a:xfrm>
          <a:prstGeom prst="line">
            <a:avLst/>
          </a:prstGeom>
          <a:ln w="6350">
            <a:solidFill>
              <a:srgbClr val="FF3B3B"/>
            </a:solidFill>
            <a:prstDash val="sysDash"/>
          </a:ln>
        </p:spPr>
      </p:cxnSp>
      <p:sp>
        <p:nvSpPr>
          <p:cNvPr id="9144" name="ann9144"/>
          <p:cNvSpPr/>
          <p:nvPr/>
        </p:nvSpPr>
        <p:spPr>
          <a:xfrm>
            <a:off x="4835543" y="1620829"/>
            <a:ext cx="190500" cy="19050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95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145" name="ann9145"/>
          <p:cNvSpPr/>
          <p:nvPr/>
        </p:nvSpPr>
        <p:spPr>
          <a:xfrm>
            <a:off x="3851364" y="2971075"/>
            <a:ext cx="1079429" cy="118737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6" name="ann9146"/>
          <p:cNvSpPr/>
          <p:nvPr/>
        </p:nvSpPr>
        <p:spPr>
          <a:xfrm>
            <a:off x="3986292" y="3375861"/>
            <a:ext cx="539714" cy="118737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7" name="ann9147"/>
          <p:cNvSpPr/>
          <p:nvPr/>
        </p:nvSpPr>
        <p:spPr>
          <a:xfrm>
            <a:off x="4795864" y="3240932"/>
            <a:ext cx="269857" cy="118737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8" name="ann9148"/>
          <p:cNvSpPr/>
          <p:nvPr/>
        </p:nvSpPr>
        <p:spPr>
          <a:xfrm>
            <a:off x="4795864" y="2701217"/>
            <a:ext cx="269857" cy="118737"/>
          </a:xfrm>
          <a:prstGeom prst="rect">
            <a:avLst/>
          </a:prstGeom>
          <a:noFill/>
          <a:ln w="9525">
            <a:solidFill>
              <a:srgbClr val="FF3B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49" name="ann9149"/>
          <p:cNvSpPr/>
          <p:nvPr/>
        </p:nvSpPr>
        <p:spPr>
          <a:xfrm>
            <a:off x="596886" y="2431360"/>
            <a:ext cx="863543" cy="118737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50" name="ann9150"/>
          <p:cNvSpPr/>
          <p:nvPr/>
        </p:nvSpPr>
        <p:spPr>
          <a:xfrm>
            <a:off x="596886" y="2701217"/>
            <a:ext cx="863543" cy="118737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51" name="ann9151"/>
          <p:cNvSpPr/>
          <p:nvPr/>
        </p:nvSpPr>
        <p:spPr>
          <a:xfrm>
            <a:off x="596886" y="2971075"/>
            <a:ext cx="863543" cy="118737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52" name="ann9152"/>
          <p:cNvSpPr/>
          <p:nvPr/>
        </p:nvSpPr>
        <p:spPr>
          <a:xfrm>
            <a:off x="596886" y="3240932"/>
            <a:ext cx="863543" cy="118737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53" name="ann9153"/>
          <p:cNvSpPr/>
          <p:nvPr/>
        </p:nvSpPr>
        <p:spPr>
          <a:xfrm>
            <a:off x="596886" y="3375861"/>
            <a:ext cx="863543" cy="118737"/>
          </a:xfrm>
          <a:prstGeom prst="rect">
            <a:avLst/>
          </a:prstGeom>
          <a:noFill/>
          <a:ln w="9525">
            <a:solidFill>
              <a:srgbClr val="7CFC0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54" name="ann9154"/>
          <p:cNvSpPr/>
          <p:nvPr/>
        </p:nvSpPr>
        <p:spPr>
          <a:xfrm>
            <a:off x="5980388" y="17621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1</a:t>
            </a:r>
          </a:p>
        </p:txBody>
      </p:sp>
      <p:sp>
        <p:nvSpPr>
          <p:cNvPr id="9155" name="ann9155"/>
          <p:cNvSpPr/>
          <p:nvPr/>
        </p:nvSpPr>
        <p:spPr>
          <a:xfrm>
            <a:off x="6256613" y="1676400"/>
            <a:ext cx="193488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1405 ns pop → empty 1</a:t>
            </a:r>
          </a:p>
        </p:txBody>
      </p:sp>
      <p:sp>
        <p:nvSpPr>
          <p:cNvPr id="9156" name="ann9156"/>
          <p:cNvSpPr/>
          <p:nvPr/>
        </p:nvSpPr>
        <p:spPr>
          <a:xfrm>
            <a:off x="5980388" y="22193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2</a:t>
            </a:r>
          </a:p>
        </p:txBody>
      </p:sp>
      <p:sp>
        <p:nvSpPr>
          <p:cNvPr id="9157" name="ann9157"/>
          <p:cNvSpPr/>
          <p:nvPr/>
        </p:nvSpPr>
        <p:spPr>
          <a:xfrm>
            <a:off x="6256613" y="2133600"/>
            <a:ext cx="193488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1410 · 1420 ns pop → 무시 (rptr 3)</a:t>
            </a:r>
          </a:p>
        </p:txBody>
      </p:sp>
      <p:sp>
        <p:nvSpPr>
          <p:cNvPr id="9158" name="ann9158"/>
          <p:cNvSpPr/>
          <p:nvPr/>
        </p:nvSpPr>
        <p:spPr>
          <a:xfrm>
            <a:off x="5980388" y="2676525"/>
            <a:ext cx="209550" cy="2095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000" b="1">
                <a:solidFill>
                  <a:srgbClr val="0F172A"/>
                </a:solidFill>
                <a:latin typeface="Consolas"/>
                <a:ea typeface="맑은 고딕"/>
              </a:rPr>
              <a:t>3</a:t>
            </a:r>
          </a:p>
        </p:txBody>
      </p:sp>
      <p:sp>
        <p:nvSpPr>
          <p:cNvPr id="9159" name="ann9159"/>
          <p:cNvSpPr/>
          <p:nvPr/>
        </p:nvSpPr>
        <p:spPr>
          <a:xfrm>
            <a:off x="6256613" y="2590800"/>
            <a:ext cx="193488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0F172A"/>
                </a:solidFill>
                <a:latin typeface="맑은 고딕"/>
                <a:ea typeface="맑은 고딕"/>
              </a:rPr>
              <a:t>1445 ns push+pop (4b) → push만</a:t>
            </a:r>
          </a:p>
        </p:txBody>
      </p:sp>
      <p:sp>
        <p:nvSpPr>
          <p:cNvPr id="9160" name="ann9160"/>
          <p:cNvSpPr/>
          <p:nvPr/>
        </p:nvSpPr>
        <p:spPr>
          <a:xfrm>
            <a:off x="6256613" y="3048000"/>
            <a:ext cx="1934887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sz="1150" b="0">
                <a:solidFill>
                  <a:srgbClr val="475569"/>
                </a:solidFill>
                <a:latin typeface="맑은 고딕"/>
                <a:ea typeface="맑은 고딕"/>
              </a:rPr>
              <a:t>wptr 3 → 0 · empty 0 · pop_data 4b</a:t>
            </a:r>
          </a:p>
        </p:txBody>
      </p:sp>
    </p:spTree>
    <p:extLst>
      <p:ext uri="{BB962C8B-B14F-4D97-AF65-F5344CB8AC3E}">
        <p14:creationId xmlns:p14="http://schemas.microsoft.com/office/powerpoint/2010/main" val="3201060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트러블 슈팅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경계 동작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중 확인한 경계 동작 3가지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모두 PASS → FAIL로 이어진 문제 없음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구조상 동작 3가지 확인 — full 중 push 무시 · full 중 push+pop은 pop만 · empty 중 push+pop은 push만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3714750" cy="472440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1809750"/>
            <a:ext cx="266700" cy="2667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33400" y="1809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5350" y="1771650"/>
            <a:ext cx="3105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중 push → 무시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71500" y="2247900"/>
            <a:ext cx="337185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= push &amp; ~full → 쓰기 차단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wptr · flag 그대로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모델도 full = 1일 때 기록 안 함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71500" y="4819650"/>
            <a:ext cx="3371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발생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" y="5067300"/>
            <a:ext cx="3371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 80 ns  0e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  700 · 1560 · 1570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2140 · 2150 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38625" y="1676400"/>
            <a:ext cx="3714750" cy="472440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391025" y="1809750"/>
            <a:ext cx="266700" cy="2667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391025" y="1809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2975" y="1771650"/>
            <a:ext cx="3105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중 push+pop → pop만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429125" y="2247900"/>
            <a:ext cx="337185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control_unit: full 상태 → rptr만 +1, full ← 0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clk의 push_data는 버려짐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구조상 정한 동작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429125" y="4819650"/>
            <a:ext cx="3371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발생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429125" y="5067300"/>
            <a:ext cx="3371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  510 ns  d0 버림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640 · 900 · 1290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2640 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96250" y="1676400"/>
            <a:ext cx="3714750" cy="472440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248650" y="1809750"/>
            <a:ext cx="266700" cy="266700"/>
          </a:xfrm>
          <a:prstGeom prst="ellipse">
            <a:avLst/>
          </a:prstGeom>
          <a:solidFill>
            <a:srgbClr val="B91C1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48650" y="18097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10600" y="1771650"/>
            <a:ext cx="3105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중 push+pop → push만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8286750" y="2247900"/>
            <a:ext cx="337185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상태 → pop 무시, wptr만 +1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 ← 0, 다음 clk부터 pop 가능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pop_data는 그 다음 clk에 새 값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86750" y="4819650"/>
            <a:ext cx="3371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발생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86750" y="5067300"/>
            <a:ext cx="3371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  160 ns  0f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  250 · 1000 · 1140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1440 ns 외 4회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·  결론 · 고찰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결론 · 고찰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FIFO 순서 · 경계 동작 모두 기대값과 일치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directed 4개 (reset · full · empty · 동시 push/pop) + random 256 → </a:t>
            </a: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full 중 push+pop은 pop만 하는 구조상 spec까지 TB 모델과 일치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6383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962150"/>
          <a:ext cx="6096000" cy="28003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 Reset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full 0 · empty 1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 Push × 5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full 1 · 0e 무시 (파형)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Pop × 5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0a → 0d · empty 1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S4 Push + Pop × 5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push만 → 개수 1 유지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S5 Random 256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113 / 113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762750" y="1638300"/>
            <a:ext cx="5048250" cy="219075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762750" y="163830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915150" y="16383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고찰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15150" y="203835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 full 확인은 TB 자동 판정이 없어 파형으로만 확인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 결과는 메시지만 출력, 개수 집계는 random만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$random seed 고정 → 매번 같은 순서의 random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762750" y="4000500"/>
            <a:ext cx="5048250" cy="24003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6"/>
          <p:cNvSpPr/>
          <p:nvPr/>
        </p:nvSpPr>
        <p:spPr>
          <a:xfrm>
            <a:off x="6762750" y="400050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15150" y="40005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15150" y="440055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directed 단계도 pass / fail count + full · empty 자동 판정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seed를 바꿔 random 반복 · 경계 경우 횟수 출력</a:t>
            </a:r>
            <a:endParaRPr lang="en-US" sz="13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깊이를 키울 경우 BRAM 기반 FIFO (읽기 1 clk 지연 handshake)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81000" y="51435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요약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8100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38100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77165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92405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192405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control_unit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31470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346710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346710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register_file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857750" y="5829300"/>
            <a:ext cx="133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5010150" y="5524500"/>
            <a:ext cx="1371600" cy="609600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5010150" y="5524500"/>
            <a:ext cx="137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pop_data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8125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004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810000"/>
            <a:ext cx="1219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TB 로그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로그: Directed 11 PASS · Random 113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FIFO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Tcl console 출력 (directed pass 메시지 + random result)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random result: total 256 · pass 113 · fail 0</a:t>
            </a:r>
            <a:endParaRPr lang="en-US" sz="1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22BD6AE-AF13-2E55-9E5D-66F36AD5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77000" y="2857500"/>
            <a:ext cx="4572000" cy="146376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5384935-DEE8-5FF6-7933-AD9943E37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000250"/>
            <a:ext cx="4017977" cy="41910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800" name="lbl0"/>
          <p:cNvSpPr txBox="1"/>
          <p:nvPr/>
        </p:nvSpPr>
        <p:spPr>
          <a:xfrm>
            <a:off x="1333500" y="1676400"/>
            <a:ext cx="4191000" cy="24765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500" b="1">
                <a:solidFill>
                  <a:srgbClr val="64748B"/>
                </a:solidFill>
                <a:ea typeface="맑은 고딕"/>
              </a:rPr>
              <a:t>directed (S1 ~ S4) · pass 메시지</a:t>
            </a:r>
          </a:p>
        </p:txBody>
      </p:sp>
      <p:sp xmlns:p="http://schemas.openxmlformats.org/presentationml/2006/main" xmlns:a="http://schemas.openxmlformats.org/drawingml/2006/main">
        <p:nvSpPr>
          <p:cNvPr id="9801" name="lbl1"/>
          <p:cNvSpPr txBox="1"/>
          <p:nvPr/>
        </p:nvSpPr>
        <p:spPr>
          <a:xfrm>
            <a:off x="6477000" y="2533650"/>
            <a:ext cx="4572000" cy="24765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500" b="1">
                <a:solidFill>
                  <a:srgbClr val="64748B"/>
                </a:solidFill>
                <a:ea typeface="맑은 고딕"/>
              </a:rPr>
              <a:t>random (S5) ·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3474</Words>
  <Application>Microsoft Office PowerPoint</Application>
  <PresentationFormat>와이드스크린</PresentationFormat>
  <Paragraphs>746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FIFO</dc:title>
  <dc:subject>PptxGenJS Presentation</dc:subject>
  <dc:creator>정안성</dc:creator>
  <cp:lastModifiedBy>안성 정</cp:lastModifiedBy>
  <cp:revision>3</cp:revision>
  <dcterms:created xsi:type="dcterms:W3CDTF">2026-10-27T13:38:45Z</dcterms:created>
  <dcterms:modified xsi:type="dcterms:W3CDTF">2026-10-27T15:12:37Z</dcterms:modified>
</cp:coreProperties>
</file>