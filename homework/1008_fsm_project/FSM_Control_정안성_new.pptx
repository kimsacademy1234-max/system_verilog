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323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324" r:id="rId11"/>
    <p:sldId id="325" r:id="rId12"/>
    <p:sldId id="326" r:id="rId13"/>
    <p:sldId id="327" r:id="rId14"/>
    <p:sldId id="328" r:id="rId15"/>
    <p:sldId id="266" r:id="rId16"/>
    <p:sldId id="267" r:id="rId17"/>
    <p:sldId id="268" r:id="rId18"/>
    <p:sldId id="269" r:id="rId19"/>
    <p:sldId id="271" r:id="rId20"/>
    <p:sldId id="318" r:id="rId21"/>
    <p:sldId id="309" r:id="rId22"/>
    <p:sldId id="319" r:id="rId23"/>
    <p:sldId id="320" r:id="rId24"/>
    <p:sldId id="321" r:id="rId25"/>
    <p:sldId id="310" r:id="rId26"/>
    <p:sldId id="313" r:id="rId27"/>
    <p:sldId id="311" r:id="rId28"/>
    <p:sldId id="314" r:id="rId29"/>
    <p:sldId id="315" r:id="rId30"/>
    <p:sldId id="322" r:id="rId31"/>
    <p:sldId id="312" r:id="rId32"/>
    <p:sldId id="274" r:id="rId33"/>
    <p:sldId id="275" r:id="rId34"/>
    <p:sldId id="316" r:id="rId35"/>
    <p:sldId id="317" r:id="rId36"/>
    <p:sldId id="278" r:id="rId37"/>
    <p:sldId id="277" r:id="rId38"/>
    <p:sldId id="279" r:id="rId39"/>
    <p:sldId id="280" r:id="rId40"/>
    <p:sldId id="281" r:id="rId41"/>
    <p:sldId id="282" r:id="rId42"/>
    <p:sldId id="283" r:id="rId43"/>
    <p:sldId id="285" r:id="rId44"/>
    <p:sldId id="287" r:id="rId45"/>
    <p:sldId id="289" r:id="rId46"/>
    <p:sldId id="291" r:id="rId47"/>
    <p:sldId id="293" r:id="rId48"/>
    <p:sldId id="294" r:id="rId49"/>
    <p:sldId id="295" r:id="rId50"/>
    <p:sldId id="308" r:id="rId51"/>
    <p:sldId id="307" r:id="rId52"/>
    <p:sldId id="306" r:id="rId53"/>
    <p:sldId id="305" r:id="rId54"/>
    <p:sldId id="304" r:id="rId55"/>
    <p:sldId id="303" r:id="rId56"/>
    <p:sldId id="302" r:id="rId57"/>
    <p:sldId id="301" r:id="rId58"/>
    <p:sldId id="300" r:id="rId59"/>
    <p:sldId id="299" r:id="rId60"/>
    <p:sldId id="297" r:id="rId61"/>
    <p:sldId id="298" r:id="rId6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8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54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ED19-0B88-F952-76CD-9B1403A1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79128-142C-DC2F-4F64-CBFD3CA89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793E1-5242-47D7-C495-EF6CF2E93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2B291-CFDD-6D81-227D-50AE07F4E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56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8397-6266-D7F6-DA47-080F14F6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93E66-2DA5-07A2-DF7E-84B4F2F7D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91CDD-65C6-62FE-7E52-3E5D5D6DA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7DEBF-84BF-1B2A-23C9-A4A5C40A97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5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82B2-AE52-6D41-EC9E-B0FD5D51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127BC-72CF-1135-0764-B932ACB7F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6CAB8-83D3-30EC-C086-0D62FC28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A1CA7-70AF-1D0F-B716-915C60F3D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06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1EB5-CFAB-6E10-09B6-24A06A05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016EC-9477-F359-C8A5-9A5C34850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D8F26-5CE6-9DE2-3E25-8276C1B1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5DBCA-4570-49A1-1B48-5B3EAFDC9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10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D3D8-7A2B-D19B-415A-F8787B1A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AB10-3E65-4880-196F-A999E55E8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51B3E-B27E-8116-70DE-9F311B0CB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E628-7DA0-CE35-329B-58FB057AA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27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970A-3D1B-8F74-6440-CAD61167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9D5A0-89BB-7136-2156-39A773262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5C5C3-721A-0839-3AFD-9096153C9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E5B8B-0DD6-2AD9-89CC-931AFE864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5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340C-8125-AD4A-7742-B1E7AB53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16B75-614E-F2EB-D56C-3FF2A7C8F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19CEE-8895-EC3C-A911-0BC45D2B6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D6FD8-913E-E8E1-2817-50AE59349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78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AE36-A13D-4483-2571-30E36B56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0D2F7-ADE0-1524-49F7-3CDF2BD31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587AF-026A-67D6-B6A7-9F6A9F8F9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7EB54-05DE-505C-DDBD-E5E207312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10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104775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· HOMEWORK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3425" y="142875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기반 Control 설계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D-FF 구조부터 STOP · RUN · CLEAR FSM까지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3425" y="30289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D-FF · Setup / Hold · CDC · Glitch · Moore vs Mealy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Homework-1 (S0 ~ S4) · Homework-2 (FSM_RUN_STOP)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3425" y="3810000"/>
            <a:ext cx="609600" cy="4762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3425" y="58293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2026. 10. 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기반 Control 설계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61</a:t>
            </a:r>
            <a:endParaRPr lang="en-US" sz="9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2573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정리</a:t>
            </a:r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457200" y="158115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647700" y="158115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11"/>
          <p:cNvSpPr txBox="1"/>
          <p:nvPr/>
        </p:nvSpPr>
        <p:spPr>
          <a:xfrm>
            <a:off x="1276350" y="169545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D-FF 구조</a:t>
            </a:r>
            <a:endParaRPr lang="en-US" sz="1600" dirty="0"/>
          </a:p>
        </p:txBody>
      </p:sp>
      <p:sp>
        <p:nvSpPr>
          <p:cNvPr id="12" name="Text 12"/>
          <p:cNvSpPr txBox="1"/>
          <p:nvPr/>
        </p:nvSpPr>
        <p:spPr>
          <a:xfrm>
            <a:off x="1276350" y="1962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 Latch → Gated D Latch → Master-Slave</a:t>
            </a:r>
            <a:endParaRPr lang="en-US" sz="1100" dirty="0"/>
          </a:p>
        </p:txBody>
      </p:sp>
      <p:sp>
        <p:nvSpPr>
          <p:cNvPr id="13" name="Text 13"/>
          <p:cNvSpPr txBox="1"/>
          <p:nvPr/>
        </p:nvSpPr>
        <p:spPr>
          <a:xfrm>
            <a:off x="4933950" y="158115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p.3 – 5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457200" y="2352675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647700" y="2352675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276350" y="2466975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· Hold</a:t>
            </a:r>
            <a:endParaRPr lang="en-US" sz="1600" dirty="0"/>
          </a:p>
        </p:txBody>
      </p:sp>
      <p:sp>
        <p:nvSpPr>
          <p:cNvPr id="17" name="Text 17"/>
          <p:cNvSpPr txBox="1"/>
          <p:nvPr/>
        </p:nvSpPr>
        <p:spPr>
          <a:xfrm>
            <a:off x="1276350" y="2733675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발생 원인 · Slack · Synchronizer</a:t>
            </a:r>
            <a:endParaRPr lang="en-US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4933950" y="2352675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p.6 – 9</a:t>
            </a:r>
            <a:endParaRPr lang="en-US" sz="1200" dirty="0"/>
          </a:p>
        </p:txBody>
      </p:sp>
      <p:sp>
        <p:nvSpPr>
          <p:cNvPr id="19" name="Shape 19"/>
          <p:cNvSpPr/>
          <p:nvPr/>
        </p:nvSpPr>
        <p:spPr>
          <a:xfrm>
            <a:off x="457200" y="312420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0"/>
          <p:cNvSpPr txBox="1"/>
          <p:nvPr/>
        </p:nvSpPr>
        <p:spPr>
          <a:xfrm>
            <a:off x="647700" y="312420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4D7C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21"/>
          <p:cNvSpPr txBox="1"/>
          <p:nvPr/>
        </p:nvSpPr>
        <p:spPr>
          <a:xfrm>
            <a:off x="1276350" y="323850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CDC</a:t>
            </a:r>
            <a:endParaRPr lang="en-US" sz="1600" dirty="0"/>
          </a:p>
        </p:txBody>
      </p:sp>
      <p:sp>
        <p:nvSpPr>
          <p:cNvPr id="22" name="Text 22"/>
          <p:cNvSpPr txBox="1"/>
          <p:nvPr/>
        </p:nvSpPr>
        <p:spPr>
          <a:xfrm>
            <a:off x="1276350" y="3505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문제 유형 · Single-bit · Multi-bit</a:t>
            </a:r>
            <a:endParaRPr lang="en-US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4933950" y="312420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4D7C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p.10 – 14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457200" y="3895725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647700" y="3895725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6"/>
          <p:cNvSpPr txBox="1"/>
          <p:nvPr/>
        </p:nvSpPr>
        <p:spPr>
          <a:xfrm>
            <a:off x="1276350" y="4010025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</a:t>
            </a:r>
            <a:endParaRPr lang="en-US" sz="1600" dirty="0"/>
          </a:p>
        </p:txBody>
      </p:sp>
      <p:sp>
        <p:nvSpPr>
          <p:cNvPr id="27" name="Text 27"/>
          <p:cNvSpPr txBox="1"/>
          <p:nvPr/>
        </p:nvSpPr>
        <p:spPr>
          <a:xfrm>
            <a:off x="1276350" y="4276725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원인 · FF 필요 여부</a:t>
            </a:r>
            <a:endParaRPr lang="en-US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4933950" y="3895725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p.15 – 16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457200" y="466725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647700" y="466725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31"/>
          <p:cNvSpPr txBox="1"/>
          <p:nvPr/>
        </p:nvSpPr>
        <p:spPr>
          <a:xfrm>
            <a:off x="1276350" y="478155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vs Mealy</a:t>
            </a:r>
            <a:endParaRPr lang="en-US" sz="1600" dirty="0"/>
          </a:p>
        </p:txBody>
      </p:sp>
      <p:sp>
        <p:nvSpPr>
          <p:cNvPr id="32" name="Text 32"/>
          <p:cNvSpPr txBox="1"/>
          <p:nvPr/>
        </p:nvSpPr>
        <p:spPr>
          <a:xfrm>
            <a:off x="1276350" y="50482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결정 방식 · 응답 시점 비교</a:t>
            </a:r>
            <a:endParaRPr lang="en-US" sz="1100" dirty="0"/>
          </a:p>
        </p:txBody>
      </p:sp>
      <p:sp>
        <p:nvSpPr>
          <p:cNvPr id="33" name="Text 33"/>
          <p:cNvSpPr txBox="1"/>
          <p:nvPr/>
        </p:nvSpPr>
        <p:spPr>
          <a:xfrm>
            <a:off x="4933950" y="466725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p.17 – 18</a:t>
            </a:r>
            <a:endParaRPr lang="en-US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6172200" y="12573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검증</a:t>
            </a:r>
            <a:endParaRPr lang="en-US" sz="1400" dirty="0"/>
          </a:p>
        </p:txBody>
      </p:sp>
      <p:sp>
        <p:nvSpPr>
          <p:cNvPr id="35" name="Shape 35"/>
          <p:cNvSpPr/>
          <p:nvPr/>
        </p:nvSpPr>
        <p:spPr>
          <a:xfrm>
            <a:off x="6172200" y="158115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6362700" y="158115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400" dirty="0"/>
          </a:p>
        </p:txBody>
      </p:sp>
      <p:sp>
        <p:nvSpPr>
          <p:cNvPr id="37" name="Text 37"/>
          <p:cNvSpPr txBox="1"/>
          <p:nvPr/>
        </p:nvSpPr>
        <p:spPr>
          <a:xfrm>
            <a:off x="6991350" y="169545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Homework-1 · FSM_S3</a:t>
            </a:r>
            <a:endParaRPr lang="en-US" sz="1600" dirty="0"/>
          </a:p>
        </p:txBody>
      </p:sp>
      <p:sp>
        <p:nvSpPr>
          <p:cNvPr id="38" name="Text 38"/>
          <p:cNvSpPr txBox="1"/>
          <p:nvPr/>
        </p:nvSpPr>
        <p:spPr>
          <a:xfrm>
            <a:off x="6991350" y="1962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Diagram · TB · 시뮬레이션 · Latch · 보드</a:t>
            </a:r>
            <a:endParaRPr lang="en-US" sz="1100" dirty="0"/>
          </a:p>
        </p:txBody>
      </p:sp>
      <p:sp>
        <p:nvSpPr>
          <p:cNvPr id="39" name="Text 39"/>
          <p:cNvSpPr txBox="1"/>
          <p:nvPr/>
        </p:nvSpPr>
        <p:spPr>
          <a:xfrm>
            <a:off x="10648950" y="158115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p.19 – 35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6172200" y="2352675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6362700" y="2352675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400" dirty="0"/>
          </a:p>
        </p:txBody>
      </p:sp>
      <p:sp>
        <p:nvSpPr>
          <p:cNvPr id="42" name="Text 42"/>
          <p:cNvSpPr txBox="1"/>
          <p:nvPr/>
        </p:nvSpPr>
        <p:spPr>
          <a:xfrm>
            <a:off x="6991350" y="2466975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Homework-2 설계</a:t>
            </a:r>
            <a:endParaRPr lang="en-US" sz="1600" dirty="0"/>
          </a:p>
        </p:txBody>
      </p:sp>
      <p:sp>
        <p:nvSpPr>
          <p:cNvPr id="43" name="Text 43"/>
          <p:cNvSpPr txBox="1"/>
          <p:nvPr/>
        </p:nvSpPr>
        <p:spPr>
          <a:xfrm>
            <a:off x="6991350" y="2733675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Diagram · Block Diagram · 코드 연결 · RTL</a:t>
            </a:r>
            <a:endParaRPr lang="en-US" sz="1100" dirty="0"/>
          </a:p>
        </p:txBody>
      </p:sp>
      <p:sp>
        <p:nvSpPr>
          <p:cNvPr id="44" name="Text 44"/>
          <p:cNvSpPr txBox="1"/>
          <p:nvPr/>
        </p:nvSpPr>
        <p:spPr>
          <a:xfrm>
            <a:off x="10648950" y="2352675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p.36 – 42</a:t>
            </a:r>
            <a:endParaRPr lang="en-US" sz="1200" dirty="0"/>
          </a:p>
        </p:txBody>
      </p:sp>
      <p:sp>
        <p:nvSpPr>
          <p:cNvPr id="45" name="Shape 45"/>
          <p:cNvSpPr/>
          <p:nvPr/>
        </p:nvSpPr>
        <p:spPr>
          <a:xfrm>
            <a:off x="6172200" y="312420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6"/>
          <p:cNvSpPr txBox="1"/>
          <p:nvPr/>
        </p:nvSpPr>
        <p:spPr>
          <a:xfrm>
            <a:off x="6362700" y="312420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400" dirty="0"/>
          </a:p>
        </p:txBody>
      </p:sp>
      <p:sp>
        <p:nvSpPr>
          <p:cNvPr id="47" name="Text 47"/>
          <p:cNvSpPr txBox="1"/>
          <p:nvPr/>
        </p:nvSpPr>
        <p:spPr>
          <a:xfrm>
            <a:off x="6991350" y="323850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Homework-2 검증</a:t>
            </a:r>
            <a:endParaRPr lang="en-US" sz="1600" dirty="0"/>
          </a:p>
        </p:txBody>
      </p:sp>
      <p:sp>
        <p:nvSpPr>
          <p:cNvPr id="48" name="Text 48"/>
          <p:cNvSpPr txBox="1"/>
          <p:nvPr/>
        </p:nvSpPr>
        <p:spPr>
          <a:xfrm>
            <a:off x="6991350" y="3505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TB · 시나리오 3종 파형</a:t>
            </a:r>
            <a:endParaRPr lang="en-US" sz="1100" dirty="0"/>
          </a:p>
        </p:txBody>
      </p:sp>
      <p:sp>
        <p:nvSpPr>
          <p:cNvPr id="49" name="Text 49"/>
          <p:cNvSpPr txBox="1"/>
          <p:nvPr/>
        </p:nvSpPr>
        <p:spPr>
          <a:xfrm>
            <a:off x="10648950" y="312420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p.43 – 46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6172200" y="3895725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6362700" y="3895725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400" dirty="0"/>
          </a:p>
        </p:txBody>
      </p:sp>
      <p:sp>
        <p:nvSpPr>
          <p:cNvPr id="52" name="Text 52"/>
          <p:cNvSpPr txBox="1"/>
          <p:nvPr/>
        </p:nvSpPr>
        <p:spPr>
          <a:xfrm>
            <a:off x="6991350" y="4010025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방법론 평가</a:t>
            </a:r>
            <a:endParaRPr lang="en-US" sz="1600" dirty="0"/>
          </a:p>
        </p:txBody>
      </p:sp>
      <p:sp>
        <p:nvSpPr>
          <p:cNvPr id="53" name="Text 53"/>
          <p:cNvSpPr txBox="1"/>
          <p:nvPr/>
        </p:nvSpPr>
        <p:spPr>
          <a:xfrm>
            <a:off x="6991350" y="4276725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평가표 · 결함 주입 7종</a:t>
            </a:r>
            <a:endParaRPr lang="en-US" sz="1100" dirty="0"/>
          </a:p>
        </p:txBody>
      </p:sp>
      <p:sp>
        <p:nvSpPr>
          <p:cNvPr id="54" name="Text 54"/>
          <p:cNvSpPr txBox="1"/>
          <p:nvPr/>
        </p:nvSpPr>
        <p:spPr>
          <a:xfrm>
            <a:off x="10648950" y="3895725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p.47 – 48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6172200" y="4667250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6362700" y="4667250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400" dirty="0"/>
          </a:p>
        </p:txBody>
      </p:sp>
      <p:sp>
        <p:nvSpPr>
          <p:cNvPr id="57" name="Text 57"/>
          <p:cNvSpPr txBox="1"/>
          <p:nvPr/>
        </p:nvSpPr>
        <p:spPr>
          <a:xfrm>
            <a:off x="6991350" y="478155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TB 제안</a:t>
            </a:r>
            <a:endParaRPr lang="en-US" sz="1600" dirty="0"/>
          </a:p>
        </p:txBody>
      </p:sp>
      <p:sp>
        <p:nvSpPr>
          <p:cNvPr id="58" name="Text 58"/>
          <p:cNvSpPr txBox="1"/>
          <p:nvPr/>
        </p:nvSpPr>
        <p:spPr>
          <a:xfrm>
            <a:off x="6991350" y="50482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Model · 채점 항목 C1 ~ C4 · 실행 결과</a:t>
            </a:r>
            <a:endParaRPr lang="en-US" sz="1100" dirty="0"/>
          </a:p>
        </p:txBody>
      </p:sp>
      <p:sp>
        <p:nvSpPr>
          <p:cNvPr id="59" name="Text 59"/>
          <p:cNvSpPr txBox="1"/>
          <p:nvPr/>
        </p:nvSpPr>
        <p:spPr>
          <a:xfrm>
            <a:off x="10648950" y="4667250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p.49 – 60</a:t>
            </a:r>
            <a:endParaRPr lang="en-US" sz="1200" dirty="0"/>
          </a:p>
        </p:txBody>
      </p:sp>
      <p:sp>
        <p:nvSpPr>
          <p:cNvPr id="60" name="Shape 60"/>
          <p:cNvSpPr/>
          <p:nvPr/>
        </p:nvSpPr>
        <p:spPr>
          <a:xfrm>
            <a:off x="6172200" y="5438775"/>
            <a:ext cx="5562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6362700" y="5438775"/>
            <a:ext cx="53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400" dirty="0"/>
          </a:p>
        </p:txBody>
      </p:sp>
      <p:sp>
        <p:nvSpPr>
          <p:cNvPr id="62" name="Text 62"/>
          <p:cNvSpPr txBox="1"/>
          <p:nvPr/>
        </p:nvSpPr>
        <p:spPr>
          <a:xfrm>
            <a:off x="6991350" y="5553075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600" dirty="0"/>
          </a:p>
        </p:txBody>
      </p:sp>
      <p:sp>
        <p:nvSpPr>
          <p:cNvPr id="63" name="Text 63"/>
          <p:cNvSpPr txBox="1"/>
          <p:nvPr/>
        </p:nvSpPr>
        <p:spPr>
          <a:xfrm>
            <a:off x="6991350" y="5819775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검증 정리</a:t>
            </a:r>
            <a:endParaRPr lang="en-US" sz="1100" dirty="0"/>
          </a:p>
        </p:txBody>
      </p:sp>
      <p:sp>
        <p:nvSpPr>
          <p:cNvPr id="64" name="Text 64"/>
          <p:cNvSpPr txBox="1"/>
          <p:nvPr/>
        </p:nvSpPr>
        <p:spPr>
          <a:xfrm>
            <a:off x="10648950" y="5438775"/>
            <a:ext cx="89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p.61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D-FF 구조 · SR Latch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 Latch Oscillates When S and R Release Together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53340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4478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 SR Latch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81250" y="2095500"/>
            <a:ext cx="1047750" cy="66675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381250" y="2095500"/>
            <a:ext cx="9715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381250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381250" y="4095750"/>
            <a:ext cx="1047750" cy="66675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81250" y="4095750"/>
            <a:ext cx="9715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4381500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57250" y="2143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2257425"/>
            <a:ext cx="12382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57250" y="44958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4610100"/>
            <a:ext cx="12382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524250" y="2428875"/>
            <a:ext cx="1524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43500" y="231457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4250" y="4429125"/>
            <a:ext cx="1524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43500" y="43148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86250" y="2428875"/>
            <a:ext cx="0" cy="714375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 flipH="1">
            <a:off x="1905000" y="3143250"/>
            <a:ext cx="2381250" cy="5715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905000" y="3714750"/>
            <a:ext cx="0" cy="55245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905000" y="4267200"/>
            <a:ext cx="4762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 flipV="1">
            <a:off x="4286250" y="3810000"/>
            <a:ext cx="0" cy="619125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 flipH="1" flipV="1">
            <a:off x="1905000" y="3238500"/>
            <a:ext cx="2381250" cy="5715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1905000" y="2590800"/>
            <a:ext cx="0" cy="6477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905000" y="2590800"/>
            <a:ext cx="4762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5800" y="5524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· Q̄가 서로의 입력으로 되돌아감 → 값 유지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1700" y="12954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Truth Table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1700" y="1600200"/>
          <a:ext cx="5753100" cy="18097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HOLD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금지 (Q = Q̄)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5981700" y="3619500"/>
            <a:ext cx="5753100" cy="2628900"/>
          </a:xfrm>
          <a:prstGeom prst="roundRect">
            <a:avLst>
              <a:gd name="adj" fmla="val 2783"/>
            </a:avLst>
          </a:prstGeom>
          <a:solidFill>
            <a:srgbClr val="FDECEC"/>
          </a:solidFill>
          <a:ln w="9525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210300" y="377190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S = 11 → 00 동시 변경 시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210300" y="41910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· 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210300" y="47625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210300" y="533400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Q̄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239000" y="4191000"/>
            <a:ext cx="100012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8239125" y="4191000"/>
            <a:ext cx="0" cy="2286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8239125" y="4419600"/>
            <a:ext cx="326707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7239000" y="4991100"/>
            <a:ext cx="120015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84391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8439150" y="47625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89725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8972550" y="49911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95059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9505950" y="47625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100393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10039350" y="49911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105727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10572750" y="47625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11106150" y="47625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11106150" y="4991100"/>
            <a:ext cx="40005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7239000" y="5562600"/>
            <a:ext cx="120015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84391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8439150" y="53340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89725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8972550" y="55626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7"/>
          <p:cNvSpPr/>
          <p:nvPr/>
        </p:nvSpPr>
        <p:spPr>
          <a:xfrm>
            <a:off x="95059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9505950" y="53340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100393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10039350" y="55626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105727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2"/>
          <p:cNvSpPr/>
          <p:nvPr/>
        </p:nvSpPr>
        <p:spPr>
          <a:xfrm>
            <a:off x="10572750" y="5334000"/>
            <a:ext cx="5334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11106150" y="5334000"/>
            <a:ext cx="0" cy="2286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11106150" y="5562600"/>
            <a:ext cx="40005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6210300" y="57721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NOR 동시 0 → 동시 1 → 동시 0 반복 = 발진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D-FF 구조 · D Latch → Gated D Latch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 Gate Restores Memory to the D Latch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5562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4478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 D Latch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716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 = D, R = D̄ → R S = 11 입력 불가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81250" y="2381250"/>
            <a:ext cx="1524000" cy="1428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81250" y="2381250"/>
            <a:ext cx="152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 Latch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25336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47750" y="2647950"/>
            <a:ext cx="1333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152650" y="24193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33500" y="2647950"/>
            <a:ext cx="0" cy="895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33500" y="3543300"/>
            <a:ext cx="285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 rot="5400000">
            <a:off x="1619250" y="3409950"/>
            <a:ext cx="323850" cy="2667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943100" y="34956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38350" y="3543300"/>
            <a:ext cx="3429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52650" y="33147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05250" y="2857500"/>
            <a:ext cx="762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43450" y="2743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91000"/>
          <a:ext cx="5105400" cy="9715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 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85800" y="5334000"/>
            <a:ext cx="5105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입력 (00) 없음 → Q = D 항상 따라감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메모리 기능 상실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72200" y="1295400"/>
            <a:ext cx="5562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0" y="14478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 Gated D Latch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0" y="1771650"/>
            <a:ext cx="5143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 · R 앞에 AND + EN 추가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620000" y="2286000"/>
            <a:ext cx="857250" cy="53340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620000" y="2286000"/>
            <a:ext cx="781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620000" y="3276600"/>
            <a:ext cx="857250" cy="53340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620000" y="3276600"/>
            <a:ext cx="781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048750" y="2286000"/>
            <a:ext cx="1333500" cy="152400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9048750" y="22860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 Latch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77000" y="23241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743700" y="2438400"/>
            <a:ext cx="8763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477000" y="28575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858000" y="2971800"/>
            <a:ext cx="4762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 flipV="1">
            <a:off x="7334250" y="2667000"/>
            <a:ext cx="0" cy="3048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7334250" y="2667000"/>
            <a:ext cx="2857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334250" y="2971800"/>
            <a:ext cx="0" cy="45720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7334250" y="3429000"/>
            <a:ext cx="2857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7048500" y="2438400"/>
            <a:ext cx="0" cy="123825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7048500" y="3676650"/>
            <a:ext cx="5715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7086600" y="369570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D̄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77250" y="25527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8477250" y="35433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10382250" y="28575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11010900" y="2743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191000"/>
          <a:ext cx="5105400" cy="9715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HOLD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 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6400800" y="5334000"/>
            <a:ext cx="5105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 = 0 → S = R = 0 → HOLD 복구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 = 1 동안 D 변화 전부 통과 (level 동작)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D-FF 구조 · Master-Slave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Gated Latches Capture D at the Rising Edge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28750" y="2019300"/>
            <a:ext cx="1143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71750" y="1524000"/>
            <a:ext cx="2286000" cy="1047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7175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175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175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57750" y="2019300"/>
            <a:ext cx="1428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29250" y="17716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86500" y="1524000"/>
            <a:ext cx="2286000" cy="1047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8650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650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72500" y="2019300"/>
            <a:ext cx="952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2025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1432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24000" y="3257550"/>
            <a:ext cx="5905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429500" y="2571750"/>
            <a:ext cx="0" cy="685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048000" y="3257550"/>
            <a:ext cx="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V="1">
            <a:off x="2286000" y="2952750"/>
            <a:ext cx="0" cy="304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52650" y="2667000"/>
            <a:ext cx="266700" cy="24765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238375" y="25812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2286000" y="2476500"/>
            <a:ext cx="0" cy="1047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286000" y="2476500"/>
            <a:ext cx="285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476500" y="27813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10000"/>
            <a:ext cx="11277600" cy="2438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" y="40005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1435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Q' (Master)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57150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(Slave)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76500" y="4248150"/>
            <a:ext cx="2095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572000" y="400050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61975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619750" y="424815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66750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67500" y="400050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71525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715250" y="424815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876300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8763000" y="400050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81075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810750" y="4248150"/>
            <a:ext cx="14668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476500" y="481965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524250" y="45720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524250" y="4572000"/>
            <a:ext cx="157162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095875" y="45720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095875" y="4819650"/>
            <a:ext cx="1047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143625" y="45720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143625" y="4572000"/>
            <a:ext cx="115252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296150" y="45720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296150" y="4819650"/>
            <a:ext cx="39814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476500" y="5391150"/>
            <a:ext cx="1152525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3629025" y="5143500"/>
            <a:ext cx="0" cy="24765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3629025" y="5143500"/>
            <a:ext cx="1990725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5619750" y="5143500"/>
            <a:ext cx="0" cy="24765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619750" y="5391150"/>
            <a:ext cx="58674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206490" y="5143500"/>
            <a:ext cx="0" cy="24765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206490" y="5143500"/>
            <a:ext cx="150876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715250" y="5143500"/>
            <a:ext cx="0" cy="24765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715250" y="5391150"/>
            <a:ext cx="356235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2476500" y="5962650"/>
            <a:ext cx="2158365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634865" y="5715000"/>
            <a:ext cx="0" cy="24765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4634865" y="5715000"/>
            <a:ext cx="4191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825865" y="5715000"/>
            <a:ext cx="0" cy="24765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8825865" y="5962650"/>
            <a:ext cx="2451735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4572000" y="3905250"/>
            <a:ext cx="0" cy="2152650"/>
          </a:xfrm>
          <a:prstGeom prst="line">
            <a:avLst/>
          </a:prstGeom>
          <a:noFill/>
          <a:ln w="15875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667500" y="3905250"/>
            <a:ext cx="0" cy="2152650"/>
          </a:xfrm>
          <a:prstGeom prst="line">
            <a:avLst/>
          </a:prstGeom>
          <a:noFill/>
          <a:ln w="15875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763000" y="3905250"/>
            <a:ext cx="0" cy="2152650"/>
          </a:xfrm>
          <a:prstGeom prst="line">
            <a:avLst/>
          </a:prstGeom>
          <a:noFill/>
          <a:ln w="15875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572000" y="5105400"/>
            <a:ext cx="1047750" cy="323850"/>
          </a:xfrm>
          <a:prstGeom prst="rect">
            <a:avLst/>
          </a:prstGeom>
          <a:solidFill>
            <a:srgbClr val="FDECE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610100" y="48768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= 1 → Master HOLD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14600" y="48768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= 0 → Master 투명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76775" y="60007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상승 엣지 순간의 D만 Q로 전달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Setup · Hold · 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Must Stay Still Around the Clock Edge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3143250"/>
          </a:xfrm>
          <a:prstGeom prst="roundRect">
            <a:avLst>
              <a:gd name="adj" fmla="val 2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8097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622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76500" y="2095500"/>
            <a:ext cx="3810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86500" y="1809750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86500" y="1809750"/>
            <a:ext cx="3048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334500" y="1809750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34500" y="2095500"/>
            <a:ext cx="1981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67300" y="1619250"/>
            <a:ext cx="2133600" cy="1619250"/>
          </a:xfrm>
          <a:prstGeom prst="rect">
            <a:avLst/>
          </a:prstGeom>
          <a:solidFill>
            <a:srgbClr val="E0E7FF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76500" y="3048000"/>
            <a:ext cx="13716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8100" y="2762250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848100" y="2762250"/>
            <a:ext cx="74676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86500" y="1524000"/>
            <a:ext cx="0" cy="1905000"/>
          </a:xfrm>
          <a:prstGeom prst="line">
            <a:avLst/>
          </a:prstGeom>
          <a:noFill/>
          <a:ln w="22225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 flipH="1">
            <a:off x="5067300" y="3524250"/>
            <a:ext cx="1219200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67300" y="3581400"/>
            <a:ext cx="121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t_setup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86500" y="3524250"/>
            <a:ext cx="914400" cy="0"/>
          </a:xfrm>
          <a:prstGeom prst="line">
            <a:avLst/>
          </a:prstGeom>
          <a:noFill/>
          <a:ln w="22225">
            <a:solidFill>
              <a:srgbClr val="9333E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86500" y="3581400"/>
            <a:ext cx="914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t_hold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67300" y="3924300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변경 금지 구간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91050"/>
            <a:ext cx="3657600" cy="1657350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7700" y="47625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Time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7700" y="5143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상승 엣지 이전 D 유지 시간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67200" y="4591050"/>
            <a:ext cx="3657600" cy="1657350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457700" y="47625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Time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57700" y="5143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상승 엣지 이후 D 유지 시간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77200" y="4591050"/>
            <a:ext cx="3657600" cy="1657350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67700" y="47625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시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67700" y="5143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Latch 출력 0 / 1 미결정 = Metastability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Setup · Hold · Setup 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Time Lets the Master Settle Before It Closes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28750" y="2019300"/>
            <a:ext cx="1143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71750" y="1524000"/>
            <a:ext cx="2286000" cy="1047750"/>
          </a:xfrm>
          <a:prstGeom prst="rect">
            <a:avLst/>
          </a:prstGeom>
          <a:solidFill>
            <a:srgbClr val="E3F0FD"/>
          </a:solidFill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7175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175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175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57750" y="2019300"/>
            <a:ext cx="1428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29250" y="17716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86500" y="1524000"/>
            <a:ext cx="2286000" cy="1047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8650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650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72500" y="2019300"/>
            <a:ext cx="952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2025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1432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24000" y="3257550"/>
            <a:ext cx="5905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429500" y="2571750"/>
            <a:ext cx="0" cy="685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048000" y="3257550"/>
            <a:ext cx="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V="1">
            <a:off x="2286000" y="2952750"/>
            <a:ext cx="0" cy="304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52650" y="2667000"/>
            <a:ext cx="266700" cy="24765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238375" y="25812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2286000" y="2476500"/>
            <a:ext cx="0" cy="1047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286000" y="2476500"/>
            <a:ext cx="285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476500" y="27813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10000"/>
            <a:ext cx="7239000" cy="2438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" y="40005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1435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Q'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095500" y="4248150"/>
            <a:ext cx="4191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8650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286500" y="4000500"/>
            <a:ext cx="12573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095500" y="4819650"/>
            <a:ext cx="16764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771900" y="45720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771900" y="4572000"/>
            <a:ext cx="37719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095500" y="5391150"/>
            <a:ext cx="3248025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343525" y="5143500"/>
            <a:ext cx="0" cy="2476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343525" y="5143500"/>
            <a:ext cx="2200275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286500" y="3905250"/>
            <a:ext cx="0" cy="1619250"/>
          </a:xfrm>
          <a:prstGeom prst="line">
            <a:avLst/>
          </a:prstGeom>
          <a:noFill/>
          <a:ln w="19050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771900" y="5619750"/>
            <a:ext cx="1571625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771900" y="56769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내부 전파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 flipH="1">
            <a:off x="3771900" y="5886450"/>
            <a:ext cx="2514600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3771900" y="5943600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t_setup 이상 확보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48600" y="3810000"/>
            <a:ext cx="3886200" cy="2438400"/>
          </a:xfrm>
          <a:prstGeom prst="roundRect">
            <a:avLst>
              <a:gd name="adj" fmla="val 3000"/>
            </a:avLst>
          </a:prstGeom>
          <a:solidFill>
            <a:srgbClr val="E3F0FD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58150" y="4000500"/>
            <a:ext cx="3524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→ Master gate → feedback loop 안정까지 delay 존재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상승 엣지 = Master EN 차단 시점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 전 loop 미안정 → Q' 중간 전압 고정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Time ≥ Master 내부 전파 delay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61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Setup · Hold · Hold 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Time Covers the Late Closing of the Master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28750" y="2019300"/>
            <a:ext cx="11430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71750" y="1524000"/>
            <a:ext cx="2286000" cy="1047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7175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175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175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57750" y="2019300"/>
            <a:ext cx="1428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29250" y="17716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86500" y="1524000"/>
            <a:ext cx="2286000" cy="1047750"/>
          </a:xfrm>
          <a:prstGeom prst="rect">
            <a:avLst/>
          </a:prstGeom>
          <a:solidFill>
            <a:srgbClr val="F1F5F9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86500" y="1638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1905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Gated D Latch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6500" y="21526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clk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72500" y="2019300"/>
            <a:ext cx="952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20250" y="19050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1432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24000" y="3257550"/>
            <a:ext cx="5905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429500" y="2571750"/>
            <a:ext cx="0" cy="685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048000" y="3257550"/>
            <a:ext cx="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V="1">
            <a:off x="2286000" y="2952750"/>
            <a:ext cx="0" cy="30480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52650" y="2667000"/>
            <a:ext cx="266700" cy="247650"/>
          </a:xfrm>
          <a:prstGeom prst="triangle">
            <a:avLst/>
          </a:prstGeom>
          <a:solidFill>
            <a:srgbClr val="FFFFFF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238375" y="25812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2286000" y="2476500"/>
            <a:ext cx="0" cy="104775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286000" y="2476500"/>
            <a:ext cx="285750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476500" y="27813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10000"/>
            <a:ext cx="7239000" cy="2438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" y="40005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1435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095500" y="4248150"/>
            <a:ext cx="2095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191000" y="4000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191000" y="4000500"/>
            <a:ext cx="33528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095500" y="4572000"/>
            <a:ext cx="2933700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029200" y="4572000"/>
            <a:ext cx="0" cy="24765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029200" y="4819650"/>
            <a:ext cx="2514600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095500" y="5391150"/>
            <a:ext cx="25146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610100" y="5143500"/>
            <a:ext cx="0" cy="2476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610100" y="5143500"/>
            <a:ext cx="29337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191000" y="3905250"/>
            <a:ext cx="838200" cy="1581150"/>
          </a:xfrm>
          <a:prstGeom prst="rect">
            <a:avLst/>
          </a:prstGeom>
          <a:solidFill>
            <a:srgbClr val="FDECEC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191000" y="3905250"/>
            <a:ext cx="0" cy="1619250"/>
          </a:xfrm>
          <a:prstGeom prst="line">
            <a:avLst/>
          </a:prstGeom>
          <a:noFill/>
          <a:ln w="19050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191000" y="5657850"/>
            <a:ext cx="838200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810000" y="57150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inverter delay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8750" y="42672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Master 아직 열림 → D 유입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48600" y="3810000"/>
            <a:ext cx="3886200" cy="2438400"/>
          </a:xfrm>
          <a:prstGeom prst="roundRect">
            <a:avLst>
              <a:gd name="adj" fmla="val 3000"/>
            </a:avLst>
          </a:prstGeom>
          <a:solidFill>
            <a:srgbClr val="FDECEC"/>
          </a:solidFill>
          <a:ln w="9525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58150" y="4000500"/>
            <a:ext cx="3524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EN = clk̄ → inverter 통과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상승 후 inverter delay 동안 Master 열림 유지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구간 D 변경 → 새 값이 Q'로 유입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Time ≥ clk̄ 지연 − D 경로 delay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ideal (delay 0) 조건일 경우 Hold = 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61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Setup · Hold · 해결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 Sets the Clock Limit, Synchronizer Guards Async Inputs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28750"/>
            <a:ext cx="3657600" cy="5715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6750" y="16764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조건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6750" y="2152650"/>
            <a:ext cx="32766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T_clk ≥ T_cq + T_comb(max) + T_setup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 (margin) = T_clk − (T_cq + T_comb + T_setup)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Negative Slack → 조합 경로 분할 (pipeline) 또는 클럭 감소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67200" y="1428750"/>
            <a:ext cx="3657600" cy="5715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76750" y="16764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조건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76750" y="2152650"/>
            <a:ext cx="32766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T_cq + T_comb(min) ≥ T_hold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클럭 주파수와 무관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위반 → 짧은 경로에 delay 추가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77200" y="1428750"/>
            <a:ext cx="3657600" cy="5715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86750" y="16764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입력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6750" y="2152650"/>
            <a:ext cx="32766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· 외부 신호 = 클럭과 무관한 변화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· Hold 위반 피할 수 없음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2-FF Synchronizer로 metastability 확률 감소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61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CDC · 정의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CDC Path Has No Guaranteed Setup and Hold Margin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66675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685800" y="1600200"/>
            <a:ext cx="2857500" cy="1238250"/>
          </a:xfrm>
          <a:prstGeom prst="roundRect">
            <a:avLst>
              <a:gd name="adj" fmla="val 615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80010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 도메인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4000500" y="1600200"/>
            <a:ext cx="2895600" cy="1238250"/>
          </a:xfrm>
          <a:prstGeom prst="roundRect">
            <a:avLst>
              <a:gd name="adj" fmla="val 615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11480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도메인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866900" y="190500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4"/>
          <p:cNvSpPr txBox="1"/>
          <p:nvPr/>
        </p:nvSpPr>
        <p:spPr>
          <a:xfrm>
            <a:off x="1866900" y="190500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FF_A</a:t>
            </a:r>
            <a:endParaRPr lang="en-US" sz="1300" dirty="0"/>
          </a:p>
        </p:txBody>
      </p:sp>
      <p:sp>
        <p:nvSpPr>
          <p:cNvPr id="15" name="Shape 15"/>
          <p:cNvSpPr/>
          <p:nvPr/>
        </p:nvSpPr>
        <p:spPr>
          <a:xfrm>
            <a:off x="5143500" y="190500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5143500" y="190500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FF_B</a:t>
            </a:r>
            <a:endParaRPr lang="en-US" sz="1300" dirty="0"/>
          </a:p>
        </p:txBody>
      </p:sp>
      <p:cxnSp>
        <p:nvCxnSpPr>
          <p:cNvPr id="17" name="Line 17"/>
          <p:cNvCxnSpPr/>
          <p:nvPr/>
        </p:nvCxnSpPr>
        <p:spPr>
          <a:xfrm>
            <a:off x="2628900" y="2247900"/>
            <a:ext cx="25146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18" name="Text 18"/>
          <p:cNvSpPr txBox="1"/>
          <p:nvPr/>
        </p:nvSpPr>
        <p:spPr>
          <a:xfrm>
            <a:off x="2724150" y="20383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</a:t>
            </a:r>
            <a:endParaRPr lang="en-US" sz="1100" dirty="0"/>
          </a:p>
        </p:txBody>
      </p:sp>
      <p:cxnSp>
        <p:nvCxnSpPr>
          <p:cNvPr id="19" name="Line 19"/>
          <p:cNvCxnSpPr/>
          <p:nvPr/>
        </p:nvCxnSpPr>
        <p:spPr>
          <a:xfrm>
            <a:off x="5905500" y="2247900"/>
            <a:ext cx="8001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0" name="Text 20"/>
          <p:cNvSpPr txBox="1"/>
          <p:nvPr/>
        </p:nvSpPr>
        <p:spPr>
          <a:xfrm>
            <a:off x="6096000" y="20383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q_b</a:t>
            </a:r>
            <a:endParaRPr lang="en-US" sz="1100" dirty="0"/>
          </a:p>
        </p:txBody>
      </p:sp>
      <p:cxnSp>
        <p:nvCxnSpPr>
          <p:cNvPr id="21" name="Line 21"/>
          <p:cNvCxnSpPr/>
          <p:nvPr/>
        </p:nvCxnSpPr>
        <p:spPr>
          <a:xfrm flipV="1">
            <a:off x="2247900" y="2590800"/>
            <a:ext cx="0" cy="171450"/>
          </a:xfrm>
          <a:prstGeom prst="line">
            <a:avLst/>
          </a:prstGeom>
          <a:ln w="19050">
            <a:solidFill>
              <a:srgbClr val="1D4ED8"/>
            </a:solidFill>
            <a:prstDash val="solid"/>
            <a:tailEnd type="triangle"/>
          </a:ln>
        </p:spPr>
      </p:cxnSp>
      <p:sp>
        <p:nvSpPr>
          <p:cNvPr id="22" name="Text 22"/>
          <p:cNvSpPr txBox="1"/>
          <p:nvPr/>
        </p:nvSpPr>
        <p:spPr>
          <a:xfrm>
            <a:off x="2324100" y="26098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000" dirty="0"/>
          </a:p>
        </p:txBody>
      </p:sp>
      <p:cxnSp>
        <p:nvCxnSpPr>
          <p:cNvPr id="23" name="Line 23"/>
          <p:cNvCxnSpPr/>
          <p:nvPr/>
        </p:nvCxnSpPr>
        <p:spPr>
          <a:xfrm flipV="1">
            <a:off x="5524500" y="2590800"/>
            <a:ext cx="0" cy="17145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sp>
        <p:nvSpPr>
          <p:cNvPr id="24" name="Text 24"/>
          <p:cNvSpPr txBox="1"/>
          <p:nvPr/>
        </p:nvSpPr>
        <p:spPr>
          <a:xfrm>
            <a:off x="5600700" y="26098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000" dirty="0"/>
          </a:p>
        </p:txBody>
      </p:sp>
      <p:cxnSp>
        <p:nvCxnSpPr>
          <p:cNvPr id="25" name="Line 25"/>
          <p:cNvCxnSpPr/>
          <p:nvPr/>
        </p:nvCxnSpPr>
        <p:spPr>
          <a:xfrm>
            <a:off x="3771900" y="1676400"/>
            <a:ext cx="0" cy="1238250"/>
          </a:xfrm>
          <a:prstGeom prst="line">
            <a:avLst/>
          </a:prstGeom>
          <a:ln w="22225">
            <a:solidFill>
              <a:srgbClr val="DC2626"/>
            </a:solidFill>
            <a:prstDash val="dash"/>
          </a:ln>
        </p:spPr>
      </p:cxnSp>
      <p:sp>
        <p:nvSpPr>
          <p:cNvPr id="26" name="Text 26"/>
          <p:cNvSpPr txBox="1"/>
          <p:nvPr/>
        </p:nvSpPr>
        <p:spPr>
          <a:xfrm>
            <a:off x="3486150" y="15049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CDC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4114800" y="3143250"/>
            <a:ext cx="266700" cy="17716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8"/>
          <p:cNvSpPr txBox="1"/>
          <p:nvPr/>
        </p:nvSpPr>
        <p:spPr>
          <a:xfrm>
            <a:off x="685800" y="32385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685800" y="37147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</a:t>
            </a:r>
            <a:endParaRPr lang="en-US" sz="1200" dirty="0"/>
          </a:p>
        </p:txBody>
      </p:sp>
      <p:sp>
        <p:nvSpPr>
          <p:cNvPr id="30" name="Text 30"/>
          <p:cNvSpPr txBox="1"/>
          <p:nvPr/>
        </p:nvSpPr>
        <p:spPr>
          <a:xfrm>
            <a:off x="685800" y="41910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200" dirty="0"/>
          </a:p>
        </p:txBody>
      </p:sp>
      <p:sp>
        <p:nvSpPr>
          <p:cNvPr id="31" name="Text 31"/>
          <p:cNvSpPr txBox="1"/>
          <p:nvPr/>
        </p:nvSpPr>
        <p:spPr>
          <a:xfrm>
            <a:off x="685800" y="46672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q_b</a:t>
            </a:r>
            <a:endParaRPr lang="en-US" sz="1200" dirty="0"/>
          </a:p>
        </p:txBody>
      </p:sp>
      <p:sp>
        <p:nvSpPr>
          <p:cNvPr id="32" name="Path 32"/>
          <p:cNvSpPr/>
          <p:nvPr/>
        </p:nvSpPr>
        <p:spPr>
          <a:xfrm>
            <a:off x="1714500" y="323850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190500"/>
                </a:moveTo>
                <a:lnTo>
                  <a:pt x="95250" y="190500"/>
                </a:lnTo>
                <a:lnTo>
                  <a:pt x="95250" y="0"/>
                </a:lnTo>
                <a:lnTo>
                  <a:pt x="381000" y="0"/>
                </a:lnTo>
                <a:lnTo>
                  <a:pt x="381000" y="190500"/>
                </a:lnTo>
                <a:lnTo>
                  <a:pt x="666750" y="190500"/>
                </a:lnTo>
                <a:lnTo>
                  <a:pt x="666750" y="0"/>
                </a:lnTo>
                <a:lnTo>
                  <a:pt x="952500" y="0"/>
                </a:lnTo>
                <a:lnTo>
                  <a:pt x="952500" y="190500"/>
                </a:lnTo>
                <a:lnTo>
                  <a:pt x="1238250" y="190500"/>
                </a:lnTo>
                <a:lnTo>
                  <a:pt x="1238250" y="0"/>
                </a:lnTo>
                <a:lnTo>
                  <a:pt x="1524000" y="0"/>
                </a:lnTo>
                <a:lnTo>
                  <a:pt x="1524000" y="190500"/>
                </a:lnTo>
                <a:lnTo>
                  <a:pt x="1809750" y="190500"/>
                </a:lnTo>
                <a:lnTo>
                  <a:pt x="1809750" y="0"/>
                </a:lnTo>
                <a:lnTo>
                  <a:pt x="2095500" y="0"/>
                </a:lnTo>
                <a:lnTo>
                  <a:pt x="2095500" y="190500"/>
                </a:lnTo>
                <a:lnTo>
                  <a:pt x="2381250" y="190500"/>
                </a:lnTo>
                <a:lnTo>
                  <a:pt x="2381250" y="0"/>
                </a:lnTo>
                <a:lnTo>
                  <a:pt x="2667000" y="0"/>
                </a:lnTo>
                <a:lnTo>
                  <a:pt x="2667000" y="190500"/>
                </a:lnTo>
                <a:lnTo>
                  <a:pt x="2952750" y="190500"/>
                </a:lnTo>
                <a:lnTo>
                  <a:pt x="2952750" y="0"/>
                </a:lnTo>
                <a:lnTo>
                  <a:pt x="3238500" y="0"/>
                </a:lnTo>
                <a:lnTo>
                  <a:pt x="3238500" y="190500"/>
                </a:lnTo>
                <a:lnTo>
                  <a:pt x="3524250" y="190500"/>
                </a:lnTo>
                <a:lnTo>
                  <a:pt x="3524250" y="0"/>
                </a:lnTo>
                <a:lnTo>
                  <a:pt x="3810000" y="0"/>
                </a:lnTo>
                <a:lnTo>
                  <a:pt x="3810000" y="190500"/>
                </a:lnTo>
                <a:lnTo>
                  <a:pt x="4095750" y="190500"/>
                </a:lnTo>
                <a:lnTo>
                  <a:pt x="4095750" y="0"/>
                </a:lnTo>
                <a:lnTo>
                  <a:pt x="4381500" y="0"/>
                </a:lnTo>
                <a:lnTo>
                  <a:pt x="4381500" y="190500"/>
                </a:lnTo>
                <a:lnTo>
                  <a:pt x="4667250" y="190500"/>
                </a:lnTo>
                <a:lnTo>
                  <a:pt x="4667250" y="0"/>
                </a:lnTo>
                <a:lnTo>
                  <a:pt x="4953000" y="0"/>
                </a:lnTo>
                <a:lnTo>
                  <a:pt x="4953000" y="190500"/>
                </a:lnTo>
                <a:lnTo>
                  <a:pt x="5143500" y="190500"/>
                </a:lnTo>
              </a:path>
            </a:pathLst>
          </a:custGeom>
          <a:noFill/>
          <a:ln w="19050">
            <a:solidFill>
              <a:srgbClr val="1D4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Path 33"/>
          <p:cNvSpPr/>
          <p:nvPr/>
        </p:nvSpPr>
        <p:spPr>
          <a:xfrm>
            <a:off x="1714500" y="371475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190500"/>
                </a:moveTo>
                <a:lnTo>
                  <a:pt x="2419350" y="190500"/>
                </a:lnTo>
                <a:lnTo>
                  <a:pt x="2419350" y="0"/>
                </a:lnTo>
                <a:lnTo>
                  <a:pt x="514350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Path 34"/>
          <p:cNvSpPr/>
          <p:nvPr/>
        </p:nvSpPr>
        <p:spPr>
          <a:xfrm>
            <a:off x="1714500" y="419100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0"/>
                </a:moveTo>
                <a:lnTo>
                  <a:pt x="390525" y="0"/>
                </a:lnTo>
                <a:lnTo>
                  <a:pt x="390525" y="190500"/>
                </a:lnTo>
                <a:lnTo>
                  <a:pt x="819150" y="190500"/>
                </a:lnTo>
                <a:lnTo>
                  <a:pt x="819150" y="0"/>
                </a:lnTo>
                <a:lnTo>
                  <a:pt x="1247775" y="0"/>
                </a:lnTo>
                <a:lnTo>
                  <a:pt x="1247775" y="190500"/>
                </a:lnTo>
                <a:lnTo>
                  <a:pt x="1676400" y="190500"/>
                </a:lnTo>
                <a:lnTo>
                  <a:pt x="1676400" y="0"/>
                </a:lnTo>
                <a:lnTo>
                  <a:pt x="2105025" y="0"/>
                </a:lnTo>
                <a:lnTo>
                  <a:pt x="2105025" y="190500"/>
                </a:lnTo>
                <a:lnTo>
                  <a:pt x="2533650" y="190500"/>
                </a:lnTo>
                <a:lnTo>
                  <a:pt x="2533650" y="0"/>
                </a:lnTo>
                <a:lnTo>
                  <a:pt x="2962275" y="0"/>
                </a:lnTo>
                <a:lnTo>
                  <a:pt x="2962275" y="190500"/>
                </a:lnTo>
                <a:lnTo>
                  <a:pt x="3390900" y="190500"/>
                </a:lnTo>
                <a:lnTo>
                  <a:pt x="3390900" y="0"/>
                </a:lnTo>
                <a:lnTo>
                  <a:pt x="3819525" y="0"/>
                </a:lnTo>
                <a:lnTo>
                  <a:pt x="3819525" y="190500"/>
                </a:lnTo>
                <a:lnTo>
                  <a:pt x="4248150" y="190500"/>
                </a:lnTo>
                <a:lnTo>
                  <a:pt x="4248150" y="0"/>
                </a:lnTo>
                <a:lnTo>
                  <a:pt x="4676775" y="0"/>
                </a:lnTo>
                <a:lnTo>
                  <a:pt x="4676775" y="190500"/>
                </a:lnTo>
                <a:lnTo>
                  <a:pt x="5105400" y="190500"/>
                </a:lnTo>
                <a:lnTo>
                  <a:pt x="5105400" y="0"/>
                </a:lnTo>
                <a:lnTo>
                  <a:pt x="5143500" y="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Path 35"/>
          <p:cNvSpPr/>
          <p:nvPr/>
        </p:nvSpPr>
        <p:spPr>
          <a:xfrm>
            <a:off x="1714500" y="4857750"/>
            <a:ext cx="2533650" cy="9525"/>
          </a:xfrm>
          <a:custGeom>
            <a:avLst/>
            <a:gdLst/>
            <a:ahLst/>
            <a:cxnLst/>
            <a:rect l="0" t="0" r="r" b="b"/>
            <a:pathLst>
              <a:path w="2533650" h="9525" fill="none">
                <a:moveTo>
                  <a:pt x="0" y="0"/>
                </a:moveTo>
                <a:lnTo>
                  <a:pt x="25336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6"/>
          <p:cNvSpPr/>
          <p:nvPr/>
        </p:nvSpPr>
        <p:spPr>
          <a:xfrm>
            <a:off x="4248150" y="4667250"/>
            <a:ext cx="857250" cy="190500"/>
          </a:xfrm>
          <a:prstGeom prst="rect">
            <a:avLst/>
          </a:prstGeom>
          <a:solidFill>
            <a:srgbClr val="FDE68A"/>
          </a:solidFill>
          <a:ln w="1587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4248150" y="46672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미결정</a:t>
            </a:r>
            <a:endParaRPr lang="en-US" sz="900" dirty="0"/>
          </a:p>
        </p:txBody>
      </p:sp>
      <p:sp>
        <p:nvSpPr>
          <p:cNvPr id="38" name="Path 38"/>
          <p:cNvSpPr/>
          <p:nvPr/>
        </p:nvSpPr>
        <p:spPr>
          <a:xfrm>
            <a:off x="5105400" y="4667250"/>
            <a:ext cx="1752600" cy="9525"/>
          </a:xfrm>
          <a:custGeom>
            <a:avLst/>
            <a:gdLst/>
            <a:ahLst/>
            <a:cxnLst/>
            <a:rect l="0" t="0" r="r" b="b"/>
            <a:pathLst>
              <a:path w="1752600" h="9525" fill="none">
                <a:moveTo>
                  <a:pt x="0" y="0"/>
                </a:moveTo>
                <a:lnTo>
                  <a:pt x="175260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3486150" y="49911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· hold window</a:t>
            </a:r>
            <a:endParaRPr lang="en-US" sz="1000" dirty="0"/>
          </a:p>
        </p:txBody>
      </p:sp>
      <p:sp>
        <p:nvSpPr>
          <p:cNvPr id="40" name="Shape 40"/>
          <p:cNvSpPr/>
          <p:nvPr/>
        </p:nvSpPr>
        <p:spPr>
          <a:xfrm>
            <a:off x="1714500" y="5619750"/>
            <a:ext cx="247650" cy="133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2019300" y="55816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setup · hold window</a:t>
            </a:r>
            <a:endParaRPr lang="en-US" sz="1100" dirty="0"/>
          </a:p>
        </p:txBody>
      </p:sp>
      <p:sp>
        <p:nvSpPr>
          <p:cNvPr id="42" name="Shape 42"/>
          <p:cNvSpPr/>
          <p:nvPr/>
        </p:nvSpPr>
        <p:spPr>
          <a:xfrm>
            <a:off x="4000500" y="5619750"/>
            <a:ext cx="247650" cy="133350"/>
          </a:xfrm>
          <a:prstGeom prst="rect">
            <a:avLst/>
          </a:prstGeom>
          <a:solidFill>
            <a:srgbClr val="FDE68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4305300" y="55816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metastable 구간</a:t>
            </a:r>
            <a:endParaRPr lang="en-US" sz="1100" dirty="0"/>
          </a:p>
        </p:txBody>
      </p:sp>
      <p:sp>
        <p:nvSpPr>
          <p:cNvPr id="44" name="Shape 44"/>
          <p:cNvSpPr/>
          <p:nvPr/>
        </p:nvSpPr>
        <p:spPr>
          <a:xfrm>
            <a:off x="7277100" y="1295400"/>
            <a:ext cx="4457700" cy="495300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7505700" y="14859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400" dirty="0"/>
          </a:p>
        </p:txBody>
      </p:sp>
      <p:sp>
        <p:nvSpPr>
          <p:cNvPr id="46" name="Text 46"/>
          <p:cNvSpPr txBox="1"/>
          <p:nvPr/>
        </p:nvSpPr>
        <p:spPr>
          <a:xfrm>
            <a:off x="7505700" y="17716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CDC (Clock Domain Crossing) = 서로 다른 클럭으로 동작하는 FF 사이의 신호 전달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FF = clk_A, 수신 FF = clk_B</a:t>
            </a:r>
            <a:endParaRPr lang="en-US" sz="1200" dirty="0"/>
          </a:p>
        </p:txBody>
      </p:sp>
      <p:sp>
        <p:nvSpPr>
          <p:cNvPr id="47" name="Text 47"/>
          <p:cNvSpPr txBox="1"/>
          <p:nvPr/>
        </p:nvSpPr>
        <p:spPr>
          <a:xfrm>
            <a:off x="7505700" y="29718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원인</a:t>
            </a:r>
            <a:endParaRPr lang="en-US" sz="1400" dirty="0"/>
          </a:p>
        </p:txBody>
      </p:sp>
      <p:sp>
        <p:nvSpPr>
          <p:cNvPr id="48" name="Text 48"/>
          <p:cNvSpPr txBox="1"/>
          <p:nvPr/>
        </p:nvSpPr>
        <p:spPr>
          <a:xfrm>
            <a:off x="7505700" y="32575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 · clk_B 위상 관계 고정 불가 (비동기 · 주파수 상이)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data_a 변경 시점이 clk_B setup · hold window와 겹칠 확률 항상 존재</a:t>
            </a:r>
            <a:endParaRPr lang="en-US" sz="1200" dirty="0"/>
          </a:p>
        </p:txBody>
      </p:sp>
      <p:sp>
        <p:nvSpPr>
          <p:cNvPr id="49" name="Text 49"/>
          <p:cNvSpPr txBox="1"/>
          <p:nvPr/>
        </p:nvSpPr>
        <p:spPr>
          <a:xfrm>
            <a:off x="7505700" y="44577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치명적인 이유</a:t>
            </a:r>
            <a:endParaRPr lang="en-US" sz="1400" dirty="0"/>
          </a:p>
        </p:txBody>
      </p:sp>
      <p:sp>
        <p:nvSpPr>
          <p:cNvPr id="50" name="Text 50"/>
          <p:cNvSpPr txBox="1"/>
          <p:nvPr/>
        </p:nvSpPr>
        <p:spPr>
          <a:xfrm>
            <a:off x="7505700" y="47434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클럭 간 경로 → STA로 Setup · Hold 보장 불가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metastable 값 → fan-out 로직마다 0 / 1 다르게 해석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 시뮬레이션에 metastability 없음 → 보드에서만 간헐적 오동작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CDC · 문제 유형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CDC Fails as Metastability, Data Loss or Incoherence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2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Metastability</a:t>
            </a:r>
            <a:endParaRPr lang="en-US" sz="1600" dirty="0"/>
          </a:p>
        </p:txBody>
      </p:sp>
      <p:sp>
        <p:nvSpPr>
          <p:cNvPr id="10" name="Text 10"/>
          <p:cNvSpPr txBox="1"/>
          <p:nvPr/>
        </p:nvSpPr>
        <p:spPr>
          <a:xfrm>
            <a:off x="628650" y="171450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Single-bit · 모든 CDC 경로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2552700" y="2057400"/>
            <a:ext cx="228600" cy="12382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628650" y="21526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100" dirty="0"/>
          </a:p>
        </p:txBody>
      </p:sp>
      <p:sp>
        <p:nvSpPr>
          <p:cNvPr id="13" name="Text 13"/>
          <p:cNvSpPr txBox="1"/>
          <p:nvPr/>
        </p:nvSpPr>
        <p:spPr>
          <a:xfrm>
            <a:off x="628650" y="26289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28650" y="3105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100" dirty="0"/>
          </a:p>
        </p:txBody>
      </p:sp>
      <p:sp>
        <p:nvSpPr>
          <p:cNvPr id="15" name="Path 15"/>
          <p:cNvSpPr/>
          <p:nvPr/>
        </p:nvSpPr>
        <p:spPr>
          <a:xfrm>
            <a:off x="1371600" y="2152650"/>
            <a:ext cx="2571750" cy="190500"/>
          </a:xfrm>
          <a:custGeom>
            <a:avLst/>
            <a:gdLst/>
            <a:ahLst/>
            <a:cxnLst/>
            <a:rect l="0" t="0" r="r" b="b"/>
            <a:pathLst>
              <a:path w="2571750" h="190500" fill="none">
                <a:moveTo>
                  <a:pt x="0" y="190500"/>
                </a:moveTo>
                <a:lnTo>
                  <a:pt x="381000" y="190500"/>
                </a:lnTo>
                <a:lnTo>
                  <a:pt x="381000" y="0"/>
                </a:lnTo>
                <a:lnTo>
                  <a:pt x="828675" y="0"/>
                </a:lnTo>
                <a:lnTo>
                  <a:pt x="828675" y="190500"/>
                </a:lnTo>
                <a:lnTo>
                  <a:pt x="1276350" y="190500"/>
                </a:lnTo>
                <a:lnTo>
                  <a:pt x="1276350" y="0"/>
                </a:lnTo>
                <a:lnTo>
                  <a:pt x="1724025" y="0"/>
                </a:lnTo>
                <a:lnTo>
                  <a:pt x="1724025" y="190500"/>
                </a:lnTo>
                <a:lnTo>
                  <a:pt x="2171700" y="190500"/>
                </a:lnTo>
                <a:lnTo>
                  <a:pt x="2171700" y="0"/>
                </a:lnTo>
                <a:lnTo>
                  <a:pt x="2571750" y="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Path 16"/>
          <p:cNvSpPr/>
          <p:nvPr/>
        </p:nvSpPr>
        <p:spPr>
          <a:xfrm>
            <a:off x="1371600" y="2628900"/>
            <a:ext cx="2571750" cy="190500"/>
          </a:xfrm>
          <a:custGeom>
            <a:avLst/>
            <a:gdLst/>
            <a:ahLst/>
            <a:cxnLst/>
            <a:rect l="0" t="0" r="r" b="b"/>
            <a:pathLst>
              <a:path w="2571750" h="190500" fill="none">
                <a:moveTo>
                  <a:pt x="0" y="190500"/>
                </a:moveTo>
                <a:lnTo>
                  <a:pt x="1314450" y="190500"/>
                </a:lnTo>
                <a:lnTo>
                  <a:pt x="1314450" y="0"/>
                </a:lnTo>
                <a:lnTo>
                  <a:pt x="2571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ath 17"/>
          <p:cNvSpPr/>
          <p:nvPr/>
        </p:nvSpPr>
        <p:spPr>
          <a:xfrm>
            <a:off x="1371600" y="3295650"/>
            <a:ext cx="1276350" cy="9525"/>
          </a:xfrm>
          <a:custGeom>
            <a:avLst/>
            <a:gdLst/>
            <a:ahLst/>
            <a:cxnLst/>
            <a:rect l="0" t="0" r="r" b="b"/>
            <a:pathLst>
              <a:path w="1276350" h="9525" fill="none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8"/>
          <p:cNvSpPr/>
          <p:nvPr/>
        </p:nvSpPr>
        <p:spPr>
          <a:xfrm>
            <a:off x="2647950" y="3105150"/>
            <a:ext cx="895350" cy="190500"/>
          </a:xfrm>
          <a:prstGeom prst="rect">
            <a:avLst/>
          </a:prstGeom>
          <a:solidFill>
            <a:srgbClr val="FDE68A"/>
          </a:solidFill>
          <a:ln w="1587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2647950" y="31051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미결정</a:t>
            </a:r>
            <a:endParaRPr lang="en-US" sz="900" dirty="0"/>
          </a:p>
        </p:txBody>
      </p:sp>
      <p:sp>
        <p:nvSpPr>
          <p:cNvPr id="20" name="Path 20"/>
          <p:cNvSpPr/>
          <p:nvPr/>
        </p:nvSpPr>
        <p:spPr>
          <a:xfrm>
            <a:off x="3543300" y="3105150"/>
            <a:ext cx="400050" cy="9525"/>
          </a:xfrm>
          <a:custGeom>
            <a:avLst/>
            <a:gdLst/>
            <a:ahLst/>
            <a:cxnLst/>
            <a:rect l="0" t="0" r="r" b="b"/>
            <a:pathLst>
              <a:path w="400050" h="9525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628650" y="3771900"/>
            <a:ext cx="333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변경 = clk_B setup · hold window 안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출력이 일정 시간 0 / 1 미결정 후 임의 값 확정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628650" y="5600700"/>
            <a:ext cx="3314700" cy="419100"/>
          </a:xfrm>
          <a:prstGeom prst="roundRect">
            <a:avLst>
              <a:gd name="adj" fmla="val 13636"/>
            </a:avLst>
          </a:prstGeom>
          <a:solidFill>
            <a:srgbClr val="F7FEE7"/>
          </a:solidFill>
          <a:ln w="1587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3"/>
          <p:cNvSpPr txBox="1"/>
          <p:nvPr/>
        </p:nvSpPr>
        <p:spPr>
          <a:xfrm>
            <a:off x="628650" y="5600700"/>
            <a:ext cx="3314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→ 2-FF Synchronizer</a:t>
            </a:r>
            <a:endParaRPr lang="en-US" sz="1100" dirty="0"/>
          </a:p>
        </p:txBody>
      </p:sp>
      <p:sp>
        <p:nvSpPr>
          <p:cNvPr id="24" name="Shape 24"/>
          <p:cNvSpPr/>
          <p:nvPr/>
        </p:nvSpPr>
        <p:spPr>
          <a:xfrm>
            <a:off x="426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443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Data Loss</a:t>
            </a:r>
            <a:endParaRPr lang="en-US" sz="1600" dirty="0"/>
          </a:p>
        </p:txBody>
      </p:sp>
      <p:sp>
        <p:nvSpPr>
          <p:cNvPr id="26" name="Text 26"/>
          <p:cNvSpPr txBox="1"/>
          <p:nvPr/>
        </p:nvSpPr>
        <p:spPr>
          <a:xfrm>
            <a:off x="4438650" y="171450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Single-bit pulse · fast → slow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4438650" y="20955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4438650" y="24955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pulse_a</a:t>
            </a:r>
            <a:endParaRPr lang="en-US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4438650" y="2895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100" dirty="0"/>
          </a:p>
        </p:txBody>
      </p:sp>
      <p:sp>
        <p:nvSpPr>
          <p:cNvPr id="30" name="Text 30"/>
          <p:cNvSpPr txBox="1"/>
          <p:nvPr/>
        </p:nvSpPr>
        <p:spPr>
          <a:xfrm>
            <a:off x="4438650" y="32956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q_b</a:t>
            </a:r>
            <a:endParaRPr lang="en-US" sz="1100" dirty="0"/>
          </a:p>
        </p:txBody>
      </p:sp>
      <p:sp>
        <p:nvSpPr>
          <p:cNvPr id="31" name="Path 31"/>
          <p:cNvSpPr/>
          <p:nvPr/>
        </p:nvSpPr>
        <p:spPr>
          <a:xfrm>
            <a:off x="5181600" y="2114550"/>
            <a:ext cx="2571750" cy="152400"/>
          </a:xfrm>
          <a:custGeom>
            <a:avLst/>
            <a:gdLst/>
            <a:ahLst/>
            <a:cxnLst/>
            <a:rect l="0" t="0" r="r" b="b"/>
            <a:pathLst>
              <a:path w="2571750" h="152400" fill="none">
                <a:moveTo>
                  <a:pt x="0" y="152400"/>
                </a:moveTo>
                <a:lnTo>
                  <a:pt x="95250" y="152400"/>
                </a:lnTo>
                <a:lnTo>
                  <a:pt x="95250" y="0"/>
                </a:lnTo>
                <a:lnTo>
                  <a:pt x="238125" y="0"/>
                </a:lnTo>
                <a:lnTo>
                  <a:pt x="238125" y="152400"/>
                </a:lnTo>
                <a:lnTo>
                  <a:pt x="381000" y="152400"/>
                </a:lnTo>
                <a:lnTo>
                  <a:pt x="381000" y="0"/>
                </a:lnTo>
                <a:lnTo>
                  <a:pt x="523875" y="0"/>
                </a:lnTo>
                <a:lnTo>
                  <a:pt x="523875" y="152400"/>
                </a:lnTo>
                <a:lnTo>
                  <a:pt x="666750" y="152400"/>
                </a:lnTo>
                <a:lnTo>
                  <a:pt x="666750" y="0"/>
                </a:lnTo>
                <a:lnTo>
                  <a:pt x="809625" y="0"/>
                </a:lnTo>
                <a:lnTo>
                  <a:pt x="809625" y="152400"/>
                </a:lnTo>
                <a:lnTo>
                  <a:pt x="952500" y="152400"/>
                </a:lnTo>
                <a:lnTo>
                  <a:pt x="952500" y="0"/>
                </a:lnTo>
                <a:lnTo>
                  <a:pt x="1095375" y="0"/>
                </a:lnTo>
                <a:lnTo>
                  <a:pt x="1095375" y="152400"/>
                </a:lnTo>
                <a:lnTo>
                  <a:pt x="1238250" y="152400"/>
                </a:lnTo>
                <a:lnTo>
                  <a:pt x="1238250" y="0"/>
                </a:lnTo>
                <a:lnTo>
                  <a:pt x="1381125" y="0"/>
                </a:lnTo>
                <a:lnTo>
                  <a:pt x="1381125" y="152400"/>
                </a:lnTo>
                <a:lnTo>
                  <a:pt x="1524000" y="152400"/>
                </a:lnTo>
                <a:lnTo>
                  <a:pt x="1524000" y="0"/>
                </a:lnTo>
                <a:lnTo>
                  <a:pt x="1666875" y="0"/>
                </a:lnTo>
                <a:lnTo>
                  <a:pt x="1666875" y="152400"/>
                </a:lnTo>
                <a:lnTo>
                  <a:pt x="1809750" y="152400"/>
                </a:lnTo>
                <a:lnTo>
                  <a:pt x="1809750" y="0"/>
                </a:lnTo>
                <a:lnTo>
                  <a:pt x="1952625" y="0"/>
                </a:lnTo>
                <a:lnTo>
                  <a:pt x="1952625" y="152400"/>
                </a:lnTo>
                <a:lnTo>
                  <a:pt x="2095500" y="152400"/>
                </a:lnTo>
                <a:lnTo>
                  <a:pt x="2095500" y="0"/>
                </a:lnTo>
                <a:lnTo>
                  <a:pt x="2238375" y="0"/>
                </a:lnTo>
                <a:lnTo>
                  <a:pt x="2238375" y="152400"/>
                </a:lnTo>
                <a:lnTo>
                  <a:pt x="2381250" y="152400"/>
                </a:lnTo>
                <a:lnTo>
                  <a:pt x="2381250" y="0"/>
                </a:lnTo>
                <a:lnTo>
                  <a:pt x="2524125" y="0"/>
                </a:lnTo>
                <a:lnTo>
                  <a:pt x="2524125" y="152400"/>
                </a:lnTo>
                <a:lnTo>
                  <a:pt x="2571750" y="152400"/>
                </a:lnTo>
              </a:path>
            </a:pathLst>
          </a:custGeom>
          <a:noFill/>
          <a:ln w="19050">
            <a:solidFill>
              <a:srgbClr val="1D4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Path 32"/>
          <p:cNvSpPr/>
          <p:nvPr/>
        </p:nvSpPr>
        <p:spPr>
          <a:xfrm>
            <a:off x="5181600" y="2514600"/>
            <a:ext cx="2571750" cy="152400"/>
          </a:xfrm>
          <a:custGeom>
            <a:avLst/>
            <a:gdLst/>
            <a:ahLst/>
            <a:cxnLst/>
            <a:rect l="0" t="0" r="r" b="b"/>
            <a:pathLst>
              <a:path w="2571750" h="152400" fill="none">
                <a:moveTo>
                  <a:pt x="0" y="152400"/>
                </a:moveTo>
                <a:lnTo>
                  <a:pt x="952500" y="152400"/>
                </a:lnTo>
                <a:lnTo>
                  <a:pt x="952500" y="0"/>
                </a:lnTo>
                <a:lnTo>
                  <a:pt x="1238250" y="0"/>
                </a:lnTo>
                <a:lnTo>
                  <a:pt x="1238250" y="152400"/>
                </a:lnTo>
                <a:lnTo>
                  <a:pt x="2571750" y="15240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3"/>
          <p:cNvSpPr/>
          <p:nvPr/>
        </p:nvSpPr>
        <p:spPr>
          <a:xfrm>
            <a:off x="6076950" y="2457450"/>
            <a:ext cx="400050" cy="266700"/>
          </a:xfrm>
          <a:prstGeom prst="roundRect">
            <a:avLst>
              <a:gd name="adj" fmla="val 14285"/>
            </a:avLst>
          </a:prstGeom>
          <a:noFill/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Path 34"/>
          <p:cNvSpPr/>
          <p:nvPr/>
        </p:nvSpPr>
        <p:spPr>
          <a:xfrm>
            <a:off x="5181600" y="2914650"/>
            <a:ext cx="2571750" cy="152400"/>
          </a:xfrm>
          <a:custGeom>
            <a:avLst/>
            <a:gdLst/>
            <a:ahLst/>
            <a:cxnLst/>
            <a:rect l="0" t="0" r="r" b="b"/>
            <a:pathLst>
              <a:path w="2571750" h="152400" fill="none">
                <a:moveTo>
                  <a:pt x="0" y="152400"/>
                </a:moveTo>
                <a:lnTo>
                  <a:pt x="381000" y="152400"/>
                </a:lnTo>
                <a:lnTo>
                  <a:pt x="381000" y="0"/>
                </a:lnTo>
                <a:lnTo>
                  <a:pt x="952500" y="0"/>
                </a:lnTo>
                <a:lnTo>
                  <a:pt x="952500" y="152400"/>
                </a:lnTo>
                <a:lnTo>
                  <a:pt x="1524000" y="152400"/>
                </a:lnTo>
                <a:lnTo>
                  <a:pt x="1524000" y="0"/>
                </a:lnTo>
                <a:lnTo>
                  <a:pt x="2095500" y="0"/>
                </a:lnTo>
                <a:lnTo>
                  <a:pt x="2095500" y="152400"/>
                </a:lnTo>
                <a:lnTo>
                  <a:pt x="2571750" y="1524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Path 35"/>
          <p:cNvSpPr/>
          <p:nvPr/>
        </p:nvSpPr>
        <p:spPr>
          <a:xfrm>
            <a:off x="5181600" y="3467100"/>
            <a:ext cx="2571750" cy="9525"/>
          </a:xfrm>
          <a:custGeom>
            <a:avLst/>
            <a:gdLst/>
            <a:ahLst/>
            <a:cxnLst/>
            <a:rect l="0" t="0" r="r" b="b"/>
            <a:pathLst>
              <a:path w="2571750" h="9525" fill="none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5943600" y="35052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미검출</a:t>
            </a:r>
            <a:endParaRPr lang="en-US" sz="1100" dirty="0"/>
          </a:p>
        </p:txBody>
      </p:sp>
      <p:sp>
        <p:nvSpPr>
          <p:cNvPr id="37" name="Text 37"/>
          <p:cNvSpPr txBox="1"/>
          <p:nvPr/>
        </p:nvSpPr>
        <p:spPr>
          <a:xfrm>
            <a:off x="4438650" y="3771900"/>
            <a:ext cx="333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 폭 &lt; clk_B 주기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엣지 사이에서 pulse 소멸 → event 소실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4438650" y="5600700"/>
            <a:ext cx="3314700" cy="419100"/>
          </a:xfrm>
          <a:prstGeom prst="roundRect">
            <a:avLst>
              <a:gd name="adj" fmla="val 13636"/>
            </a:avLst>
          </a:prstGeom>
          <a:solidFill>
            <a:srgbClr val="F7FEE7"/>
          </a:solidFill>
          <a:ln w="1587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4438650" y="5600700"/>
            <a:ext cx="3314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→ Toggle Synchronizer · Handshake</a:t>
            </a:r>
            <a:endParaRPr lang="en-US" sz="1100" dirty="0"/>
          </a:p>
        </p:txBody>
      </p:sp>
      <p:sp>
        <p:nvSpPr>
          <p:cNvPr id="40" name="Shape 40"/>
          <p:cNvSpPr/>
          <p:nvPr/>
        </p:nvSpPr>
        <p:spPr>
          <a:xfrm>
            <a:off x="807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824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Incoherence</a:t>
            </a:r>
            <a:endParaRPr lang="en-US" sz="1600" dirty="0"/>
          </a:p>
        </p:txBody>
      </p:sp>
      <p:sp>
        <p:nvSpPr>
          <p:cNvPr id="42" name="Text 42"/>
          <p:cNvSpPr txBox="1"/>
          <p:nvPr/>
        </p:nvSpPr>
        <p:spPr>
          <a:xfrm>
            <a:off x="8248650" y="171450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Multi-bit bus</a:t>
            </a:r>
            <a:endParaRPr lang="en-US" sz="1100" dirty="0"/>
          </a:p>
        </p:txBody>
      </p:sp>
      <p:sp>
        <p:nvSpPr>
          <p:cNvPr id="43" name="Text 43"/>
          <p:cNvSpPr txBox="1"/>
          <p:nvPr/>
        </p:nvSpPr>
        <p:spPr>
          <a:xfrm>
            <a:off x="8248650" y="21526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100" dirty="0"/>
          </a:p>
        </p:txBody>
      </p:sp>
      <p:sp>
        <p:nvSpPr>
          <p:cNvPr id="44" name="Text 44"/>
          <p:cNvSpPr txBox="1"/>
          <p:nvPr/>
        </p:nvSpPr>
        <p:spPr>
          <a:xfrm>
            <a:off x="8248650" y="26289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</a:t>
            </a:r>
            <a:endParaRPr lang="en-US" sz="1100" dirty="0"/>
          </a:p>
        </p:txBody>
      </p:sp>
      <p:sp>
        <p:nvSpPr>
          <p:cNvPr id="45" name="Text 45"/>
          <p:cNvSpPr txBox="1"/>
          <p:nvPr/>
        </p:nvSpPr>
        <p:spPr>
          <a:xfrm>
            <a:off x="8248650" y="3105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q_b</a:t>
            </a:r>
            <a:endParaRPr lang="en-US" sz="1100" dirty="0"/>
          </a:p>
        </p:txBody>
      </p:sp>
      <p:sp>
        <p:nvSpPr>
          <p:cNvPr id="46" name="Path 46"/>
          <p:cNvSpPr/>
          <p:nvPr/>
        </p:nvSpPr>
        <p:spPr>
          <a:xfrm>
            <a:off x="8991600" y="2152650"/>
            <a:ext cx="2571750" cy="190500"/>
          </a:xfrm>
          <a:custGeom>
            <a:avLst/>
            <a:gdLst/>
            <a:ahLst/>
            <a:cxnLst/>
            <a:rect l="0" t="0" r="r" b="b"/>
            <a:pathLst>
              <a:path w="2571750" h="190500" fill="none">
                <a:moveTo>
                  <a:pt x="0" y="190500"/>
                </a:moveTo>
                <a:lnTo>
                  <a:pt x="381000" y="190500"/>
                </a:lnTo>
                <a:lnTo>
                  <a:pt x="381000" y="0"/>
                </a:lnTo>
                <a:lnTo>
                  <a:pt x="828675" y="0"/>
                </a:lnTo>
                <a:lnTo>
                  <a:pt x="828675" y="190500"/>
                </a:lnTo>
                <a:lnTo>
                  <a:pt x="1276350" y="190500"/>
                </a:lnTo>
                <a:lnTo>
                  <a:pt x="1276350" y="0"/>
                </a:lnTo>
                <a:lnTo>
                  <a:pt x="1724025" y="0"/>
                </a:lnTo>
                <a:lnTo>
                  <a:pt x="1724025" y="190500"/>
                </a:lnTo>
                <a:lnTo>
                  <a:pt x="2171700" y="190500"/>
                </a:lnTo>
                <a:lnTo>
                  <a:pt x="2171700" y="0"/>
                </a:lnTo>
                <a:lnTo>
                  <a:pt x="2571750" y="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7"/>
          <p:cNvSpPr/>
          <p:nvPr/>
        </p:nvSpPr>
        <p:spPr>
          <a:xfrm>
            <a:off x="8991600" y="2619375"/>
            <a:ext cx="1238250" cy="20955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9029700" y="2619375"/>
            <a:ext cx="116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000" dirty="0"/>
          </a:p>
        </p:txBody>
      </p:sp>
      <p:sp>
        <p:nvSpPr>
          <p:cNvPr id="49" name="Shape 49"/>
          <p:cNvSpPr/>
          <p:nvPr/>
        </p:nvSpPr>
        <p:spPr>
          <a:xfrm>
            <a:off x="10229850" y="2619375"/>
            <a:ext cx="1333500" cy="20955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10267950" y="2619375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1" name="Shape 51"/>
          <p:cNvSpPr/>
          <p:nvPr/>
        </p:nvSpPr>
        <p:spPr>
          <a:xfrm>
            <a:off x="8991600" y="3095625"/>
            <a:ext cx="1276350" cy="20955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9029700" y="3095625"/>
            <a:ext cx="120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000" dirty="0"/>
          </a:p>
        </p:txBody>
      </p:sp>
      <p:sp>
        <p:nvSpPr>
          <p:cNvPr id="53" name="Shape 53"/>
          <p:cNvSpPr/>
          <p:nvPr/>
        </p:nvSpPr>
        <p:spPr>
          <a:xfrm>
            <a:off x="10267950" y="3095625"/>
            <a:ext cx="895350" cy="209550"/>
          </a:xfrm>
          <a:prstGeom prst="rect">
            <a:avLst/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10306050" y="3095625"/>
            <a:ext cx="81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  <p:sp>
        <p:nvSpPr>
          <p:cNvPr id="55" name="Shape 55"/>
          <p:cNvSpPr/>
          <p:nvPr/>
        </p:nvSpPr>
        <p:spPr>
          <a:xfrm>
            <a:off x="11163300" y="3095625"/>
            <a:ext cx="400050" cy="20955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11201400" y="3095625"/>
            <a:ext cx="323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7" name="Text 57"/>
          <p:cNvSpPr txBox="1"/>
          <p:nvPr/>
        </p:nvSpPr>
        <p:spPr>
          <a:xfrm>
            <a:off x="8248650" y="3771900"/>
            <a:ext cx="333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bit별 metastability 해소 결과 상이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cycle 동안 존재하지 않는 값 수신 (011 → 111 → 100)</a:t>
            </a:r>
            <a:endParaRPr lang="en-US" sz="1200" dirty="0"/>
          </a:p>
        </p:txBody>
      </p:sp>
      <p:sp>
        <p:nvSpPr>
          <p:cNvPr id="58" name="Shape 58"/>
          <p:cNvSpPr/>
          <p:nvPr/>
        </p:nvSpPr>
        <p:spPr>
          <a:xfrm>
            <a:off x="8248650" y="5600700"/>
            <a:ext cx="3314700" cy="419100"/>
          </a:xfrm>
          <a:prstGeom prst="roundRect">
            <a:avLst>
              <a:gd name="adj" fmla="val 13636"/>
            </a:avLst>
          </a:prstGeom>
          <a:solidFill>
            <a:srgbClr val="F7FEE7"/>
          </a:solidFill>
          <a:ln w="1587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9"/>
          <p:cNvSpPr txBox="1"/>
          <p:nvPr/>
        </p:nvSpPr>
        <p:spPr>
          <a:xfrm>
            <a:off x="8248650" y="5600700"/>
            <a:ext cx="3314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→ Gray Code · Handshake · Async FIFO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CDC · Single-bit · Level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Single-Bit Level Signals Cross Through a 2-FF Synchronizer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685800" y="1600200"/>
            <a:ext cx="2381250" cy="1809750"/>
          </a:xfrm>
          <a:prstGeom prst="roundRect">
            <a:avLst>
              <a:gd name="adj" fmla="val 421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80010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 도메인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3619500" y="1600200"/>
            <a:ext cx="7886700" cy="1809750"/>
          </a:xfrm>
          <a:prstGeom prst="roundRect">
            <a:avLst>
              <a:gd name="adj" fmla="val 421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373380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도메인</a:t>
            </a:r>
            <a:endParaRPr lang="en-US" sz="1100" dirty="0"/>
          </a:p>
        </p:txBody>
      </p:sp>
      <p:cxnSp>
        <p:nvCxnSpPr>
          <p:cNvPr id="13" name="Line 13"/>
          <p:cNvCxnSpPr/>
          <p:nvPr/>
        </p:nvCxnSpPr>
        <p:spPr>
          <a:xfrm>
            <a:off x="3343275" y="1676400"/>
            <a:ext cx="0" cy="1771650"/>
          </a:xfrm>
          <a:prstGeom prst="line">
            <a:avLst/>
          </a:prstGeom>
          <a:ln w="22225">
            <a:solidFill>
              <a:srgbClr val="DC2626"/>
            </a:solidFill>
            <a:prstDash val="dash"/>
          </a:ln>
        </p:spPr>
      </p:cxnSp>
      <p:sp>
        <p:nvSpPr>
          <p:cNvPr id="14" name="Text 14"/>
          <p:cNvSpPr txBox="1"/>
          <p:nvPr/>
        </p:nvSpPr>
        <p:spPr>
          <a:xfrm>
            <a:off x="3057525" y="15049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CDC</a:t>
            </a:r>
            <a:endParaRPr lang="en-US" sz="1100" dirty="0"/>
          </a:p>
        </p:txBody>
      </p:sp>
      <p:sp>
        <p:nvSpPr>
          <p:cNvPr id="15" name="Shape 15"/>
          <p:cNvSpPr/>
          <p:nvPr/>
        </p:nvSpPr>
        <p:spPr>
          <a:xfrm>
            <a:off x="1619250" y="211455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1619250" y="211455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FF_A</a:t>
            </a:r>
            <a:endParaRPr lang="en-US" sz="1300" dirty="0"/>
          </a:p>
        </p:txBody>
      </p:sp>
      <p:sp>
        <p:nvSpPr>
          <p:cNvPr id="17" name="Shape 17"/>
          <p:cNvSpPr/>
          <p:nvPr/>
        </p:nvSpPr>
        <p:spPr>
          <a:xfrm>
            <a:off x="4038600" y="1866900"/>
            <a:ext cx="3238500" cy="1257300"/>
          </a:xfrm>
          <a:prstGeom prst="roundRect">
            <a:avLst>
              <a:gd name="adj" fmla="val 6060"/>
            </a:avLst>
          </a:prstGeom>
          <a:noFill/>
          <a:ln w="19050">
            <a:solidFill>
              <a:srgbClr val="4D7C0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8"/>
          <p:cNvSpPr txBox="1"/>
          <p:nvPr/>
        </p:nvSpPr>
        <p:spPr>
          <a:xfrm>
            <a:off x="4152900" y="1905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2-FF Synchronizer · ASYNC_REG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4286250" y="217170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0"/>
          <p:cNvSpPr txBox="1"/>
          <p:nvPr/>
        </p:nvSpPr>
        <p:spPr>
          <a:xfrm>
            <a:off x="4286250" y="217170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FF1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6229350" y="217170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6229350" y="217170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FF2</a:t>
            </a:r>
            <a:endParaRPr lang="en-US" sz="1300" dirty="0"/>
          </a:p>
        </p:txBody>
      </p:sp>
      <p:cxnSp>
        <p:nvCxnSpPr>
          <p:cNvPr id="23" name="Line 23"/>
          <p:cNvCxnSpPr/>
          <p:nvPr/>
        </p:nvCxnSpPr>
        <p:spPr>
          <a:xfrm>
            <a:off x="2381250" y="2514600"/>
            <a:ext cx="19050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4" name="Text 24"/>
          <p:cNvSpPr txBox="1"/>
          <p:nvPr/>
        </p:nvSpPr>
        <p:spPr>
          <a:xfrm>
            <a:off x="2495550" y="230505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</a:t>
            </a:r>
            <a:endParaRPr lang="en-US" sz="1100" dirty="0"/>
          </a:p>
        </p:txBody>
      </p:sp>
      <p:cxnSp>
        <p:nvCxnSpPr>
          <p:cNvPr id="25" name="Line 25"/>
          <p:cNvCxnSpPr/>
          <p:nvPr/>
        </p:nvCxnSpPr>
        <p:spPr>
          <a:xfrm>
            <a:off x="5048250" y="2514600"/>
            <a:ext cx="11811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5143500" y="23050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5105400" y="2571750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metastable 가능</a:t>
            </a:r>
            <a:endParaRPr lang="en-US" sz="1000" dirty="0"/>
          </a:p>
        </p:txBody>
      </p:sp>
      <p:cxnSp>
        <p:nvCxnSpPr>
          <p:cNvPr id="28" name="Line 28"/>
          <p:cNvCxnSpPr/>
          <p:nvPr/>
        </p:nvCxnSpPr>
        <p:spPr>
          <a:xfrm>
            <a:off x="6991350" y="2514600"/>
            <a:ext cx="120015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9" name="Text 29"/>
          <p:cNvSpPr txBox="1"/>
          <p:nvPr/>
        </p:nvSpPr>
        <p:spPr>
          <a:xfrm>
            <a:off x="7086600" y="2305050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100" dirty="0"/>
          </a:p>
        </p:txBody>
      </p:sp>
      <p:sp>
        <p:nvSpPr>
          <p:cNvPr id="30" name="Text 30"/>
          <p:cNvSpPr txBox="1"/>
          <p:nvPr/>
        </p:nvSpPr>
        <p:spPr>
          <a:xfrm>
            <a:off x="7391400" y="230505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(안정)</a:t>
            </a:r>
            <a:endParaRPr lang="en-US" sz="1100" dirty="0"/>
          </a:p>
        </p:txBody>
      </p:sp>
      <p:sp>
        <p:nvSpPr>
          <p:cNvPr id="31" name="Shape 31"/>
          <p:cNvSpPr/>
          <p:nvPr/>
        </p:nvSpPr>
        <p:spPr>
          <a:xfrm>
            <a:off x="8191500" y="2171700"/>
            <a:ext cx="1428750" cy="685800"/>
          </a:xfrm>
          <a:prstGeom prst="rect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8191500" y="217170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로직</a:t>
            </a:r>
            <a:endParaRPr lang="en-US" sz="1200" dirty="0"/>
          </a:p>
        </p:txBody>
      </p:sp>
      <p:cxnSp>
        <p:nvCxnSpPr>
          <p:cNvPr id="33" name="Line 33"/>
          <p:cNvCxnSpPr/>
          <p:nvPr/>
        </p:nvCxnSpPr>
        <p:spPr>
          <a:xfrm flipV="1">
            <a:off x="2000250" y="2800350"/>
            <a:ext cx="0" cy="438150"/>
          </a:xfrm>
          <a:prstGeom prst="line">
            <a:avLst/>
          </a:prstGeom>
          <a:ln w="19050">
            <a:solidFill>
              <a:srgbClr val="1D4ED8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2076450" y="306705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000" dirty="0"/>
          </a:p>
        </p:txBody>
      </p:sp>
      <p:cxnSp>
        <p:nvCxnSpPr>
          <p:cNvPr id="35" name="Line 35"/>
          <p:cNvCxnSpPr/>
          <p:nvPr/>
        </p:nvCxnSpPr>
        <p:spPr>
          <a:xfrm>
            <a:off x="4191000" y="3238500"/>
            <a:ext cx="4667250" cy="0"/>
          </a:xfrm>
          <a:prstGeom prst="line">
            <a:avLst/>
          </a:prstGeom>
          <a:ln w="19050">
            <a:solidFill>
              <a:srgbClr val="15803D"/>
            </a:solidFill>
            <a:prstDash val="solid"/>
          </a:ln>
        </p:spPr>
      </p:cxnSp>
      <p:cxnSp>
        <p:nvCxnSpPr>
          <p:cNvPr id="36" name="Line 36"/>
          <p:cNvCxnSpPr/>
          <p:nvPr/>
        </p:nvCxnSpPr>
        <p:spPr>
          <a:xfrm flipV="1">
            <a:off x="4667250" y="2857500"/>
            <a:ext cx="0" cy="38100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cxnSp>
        <p:nvCxnSpPr>
          <p:cNvPr id="37" name="Line 37"/>
          <p:cNvCxnSpPr/>
          <p:nvPr/>
        </p:nvCxnSpPr>
        <p:spPr>
          <a:xfrm flipV="1">
            <a:off x="6610350" y="2857500"/>
            <a:ext cx="0" cy="38100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cxnSp>
        <p:nvCxnSpPr>
          <p:cNvPr id="38" name="Line 38"/>
          <p:cNvCxnSpPr/>
          <p:nvPr/>
        </p:nvCxnSpPr>
        <p:spPr>
          <a:xfrm flipV="1">
            <a:off x="8858250" y="2857500"/>
            <a:ext cx="0" cy="38100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sp>
        <p:nvSpPr>
          <p:cNvPr id="39" name="Text 39"/>
          <p:cNvSpPr txBox="1"/>
          <p:nvPr/>
        </p:nvSpPr>
        <p:spPr>
          <a:xfrm>
            <a:off x="3733800" y="3162300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000" dirty="0"/>
          </a:p>
        </p:txBody>
      </p:sp>
      <p:sp>
        <p:nvSpPr>
          <p:cNvPr id="40" name="Shape 40"/>
          <p:cNvSpPr/>
          <p:nvPr/>
        </p:nvSpPr>
        <p:spPr>
          <a:xfrm>
            <a:off x="457200" y="3695700"/>
            <a:ext cx="66675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685800" y="3810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파형</a:t>
            </a:r>
            <a:endParaRPr lang="en-US" sz="1400" dirty="0"/>
          </a:p>
        </p:txBody>
      </p:sp>
      <p:sp>
        <p:nvSpPr>
          <p:cNvPr id="42" name="Shape 42"/>
          <p:cNvSpPr/>
          <p:nvPr/>
        </p:nvSpPr>
        <p:spPr>
          <a:xfrm>
            <a:off x="3048000" y="4095750"/>
            <a:ext cx="209550" cy="15811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685800" y="41338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200" dirty="0"/>
          </a:p>
        </p:txBody>
      </p:sp>
      <p:sp>
        <p:nvSpPr>
          <p:cNvPr id="44" name="Text 44"/>
          <p:cNvSpPr txBox="1"/>
          <p:nvPr/>
        </p:nvSpPr>
        <p:spPr>
          <a:xfrm>
            <a:off x="685800" y="45720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d_a</a:t>
            </a:r>
            <a:endParaRPr lang="en-US" sz="1200" dirty="0"/>
          </a:p>
        </p:txBody>
      </p:sp>
      <p:sp>
        <p:nvSpPr>
          <p:cNvPr id="45" name="Text 45"/>
          <p:cNvSpPr txBox="1"/>
          <p:nvPr/>
        </p:nvSpPr>
        <p:spPr>
          <a:xfrm>
            <a:off x="685800" y="5010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46" name="Text 46"/>
          <p:cNvSpPr txBox="1"/>
          <p:nvPr/>
        </p:nvSpPr>
        <p:spPr>
          <a:xfrm>
            <a:off x="685800" y="54483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47" name="Path 47"/>
          <p:cNvSpPr/>
          <p:nvPr/>
        </p:nvSpPr>
        <p:spPr>
          <a:xfrm>
            <a:off x="1714500" y="413385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190500"/>
                </a:moveTo>
                <a:lnTo>
                  <a:pt x="476250" y="190500"/>
                </a:lnTo>
                <a:lnTo>
                  <a:pt x="476250" y="0"/>
                </a:lnTo>
                <a:lnTo>
                  <a:pt x="952500" y="0"/>
                </a:lnTo>
                <a:lnTo>
                  <a:pt x="952500" y="190500"/>
                </a:lnTo>
                <a:lnTo>
                  <a:pt x="1428750" y="190500"/>
                </a:lnTo>
                <a:lnTo>
                  <a:pt x="1428750" y="0"/>
                </a:lnTo>
                <a:lnTo>
                  <a:pt x="1905000" y="0"/>
                </a:lnTo>
                <a:lnTo>
                  <a:pt x="1905000" y="190500"/>
                </a:lnTo>
                <a:lnTo>
                  <a:pt x="2381250" y="190500"/>
                </a:lnTo>
                <a:lnTo>
                  <a:pt x="2381250" y="0"/>
                </a:lnTo>
                <a:lnTo>
                  <a:pt x="2857500" y="0"/>
                </a:lnTo>
                <a:lnTo>
                  <a:pt x="2857500" y="190500"/>
                </a:lnTo>
                <a:lnTo>
                  <a:pt x="3333750" y="190500"/>
                </a:lnTo>
                <a:lnTo>
                  <a:pt x="3333750" y="0"/>
                </a:lnTo>
                <a:lnTo>
                  <a:pt x="3810000" y="0"/>
                </a:lnTo>
                <a:lnTo>
                  <a:pt x="3810000" y="190500"/>
                </a:lnTo>
                <a:lnTo>
                  <a:pt x="4286250" y="190500"/>
                </a:lnTo>
                <a:lnTo>
                  <a:pt x="4286250" y="0"/>
                </a:lnTo>
                <a:lnTo>
                  <a:pt x="4762500" y="0"/>
                </a:lnTo>
                <a:lnTo>
                  <a:pt x="4762500" y="190500"/>
                </a:lnTo>
                <a:lnTo>
                  <a:pt x="5143500" y="1905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Path 48"/>
          <p:cNvSpPr/>
          <p:nvPr/>
        </p:nvSpPr>
        <p:spPr>
          <a:xfrm>
            <a:off x="1714500" y="457200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190500"/>
                </a:moveTo>
                <a:lnTo>
                  <a:pt x="1466850" y="190500"/>
                </a:lnTo>
                <a:lnTo>
                  <a:pt x="1466850" y="0"/>
                </a:lnTo>
                <a:lnTo>
                  <a:pt x="514350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Path 49"/>
          <p:cNvSpPr/>
          <p:nvPr/>
        </p:nvSpPr>
        <p:spPr>
          <a:xfrm>
            <a:off x="1714500" y="5200650"/>
            <a:ext cx="1428750" cy="9525"/>
          </a:xfrm>
          <a:custGeom>
            <a:avLst/>
            <a:gdLst/>
            <a:ahLst/>
            <a:cxnLst/>
            <a:rect l="0" t="0" r="r" b="b"/>
            <a:pathLst>
              <a:path w="1428750" h="9525" fill="none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50"/>
          <p:cNvSpPr/>
          <p:nvPr/>
        </p:nvSpPr>
        <p:spPr>
          <a:xfrm>
            <a:off x="3143250" y="5010150"/>
            <a:ext cx="590550" cy="190500"/>
          </a:xfrm>
          <a:prstGeom prst="rect">
            <a:avLst/>
          </a:prstGeom>
          <a:solidFill>
            <a:srgbClr val="FDE68A"/>
          </a:solidFill>
          <a:ln w="1587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3143250" y="501015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미결정</a:t>
            </a:r>
            <a:endParaRPr lang="en-US" sz="900" dirty="0"/>
          </a:p>
        </p:txBody>
      </p:sp>
      <p:sp>
        <p:nvSpPr>
          <p:cNvPr id="52" name="Path 52"/>
          <p:cNvSpPr/>
          <p:nvPr/>
        </p:nvSpPr>
        <p:spPr>
          <a:xfrm>
            <a:off x="3733800" y="5010150"/>
            <a:ext cx="3124200" cy="9525"/>
          </a:xfrm>
          <a:custGeom>
            <a:avLst/>
            <a:gdLst/>
            <a:ahLst/>
            <a:cxnLst/>
            <a:rect l="0" t="0" r="r" b="b"/>
            <a:pathLst>
              <a:path w="3124200" h="9525" fill="none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Path 53"/>
          <p:cNvSpPr/>
          <p:nvPr/>
        </p:nvSpPr>
        <p:spPr>
          <a:xfrm>
            <a:off x="1714500" y="5448300"/>
            <a:ext cx="5143500" cy="190500"/>
          </a:xfrm>
          <a:custGeom>
            <a:avLst/>
            <a:gdLst/>
            <a:ahLst/>
            <a:cxnLst/>
            <a:rect l="0" t="0" r="r" b="b"/>
            <a:pathLst>
              <a:path w="5143500" h="190500" fill="none">
                <a:moveTo>
                  <a:pt x="0" y="190500"/>
                </a:moveTo>
                <a:lnTo>
                  <a:pt x="2381250" y="190500"/>
                </a:lnTo>
                <a:lnTo>
                  <a:pt x="2381250" y="0"/>
                </a:lnTo>
                <a:lnTo>
                  <a:pt x="514350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4" name="Line 54"/>
          <p:cNvCxnSpPr/>
          <p:nvPr/>
        </p:nvCxnSpPr>
        <p:spPr>
          <a:xfrm>
            <a:off x="3143250" y="5924550"/>
            <a:ext cx="952500" cy="0"/>
          </a:xfrm>
          <a:prstGeom prst="line">
            <a:avLst/>
          </a:prstGeom>
          <a:ln w="15875">
            <a:solidFill>
              <a:srgbClr val="D97706"/>
            </a:solidFill>
            <a:prstDash val="solid"/>
            <a:headEnd type="triangle"/>
            <a:tailEnd type="triangle"/>
          </a:ln>
        </p:spPr>
      </p:cxnSp>
      <p:sp>
        <p:nvSpPr>
          <p:cNvPr id="55" name="Text 55"/>
          <p:cNvSpPr txBox="1"/>
          <p:nvPr/>
        </p:nvSpPr>
        <p:spPr>
          <a:xfrm>
            <a:off x="4191000" y="58293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안정화 시간 = clk_B 1 cycle</a:t>
            </a:r>
            <a:endParaRPr lang="en-US" sz="1100" dirty="0"/>
          </a:p>
        </p:txBody>
      </p:sp>
      <p:sp>
        <p:nvSpPr>
          <p:cNvPr id="56" name="Shape 56"/>
          <p:cNvSpPr/>
          <p:nvPr/>
        </p:nvSpPr>
        <p:spPr>
          <a:xfrm>
            <a:off x="7277100" y="3695700"/>
            <a:ext cx="44577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7505700" y="3810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조건</a:t>
            </a:r>
            <a:endParaRPr lang="en-US" sz="1400" dirty="0"/>
          </a:p>
        </p:txBody>
      </p:sp>
      <p:sp>
        <p:nvSpPr>
          <p:cNvPr id="58" name="Text 58"/>
          <p:cNvSpPr txBox="1"/>
          <p:nvPr/>
        </p:nvSpPr>
        <p:spPr>
          <a:xfrm>
            <a:off x="7505700" y="4114800"/>
            <a:ext cx="4000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 = FF 출력 직결, 조합 로직 금지 (Glitch 동기화 방지)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d_a 유지 ≥ clk_B 1.5 cycle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FF1 · FF2 인접 배치 (ASYNC_REG) → 안정화 시간 확보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latency 2 cycle, 고속 clk_B → 3-FF로 MTBF 증가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CDC · Single-bit · Pulse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Short Pulses Cross as a Toggle, Then Edge Detect Restores Them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685800" y="1600200"/>
            <a:ext cx="3619500" cy="1809750"/>
          </a:xfrm>
          <a:prstGeom prst="roundRect">
            <a:avLst>
              <a:gd name="adj" fmla="val 421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80010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 도메인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4857750" y="1600200"/>
            <a:ext cx="6648450" cy="1809750"/>
          </a:xfrm>
          <a:prstGeom prst="roundRect">
            <a:avLst>
              <a:gd name="adj" fmla="val 421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972050" y="1657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 도메인</a:t>
            </a:r>
            <a:endParaRPr lang="en-US" sz="1100" dirty="0"/>
          </a:p>
        </p:txBody>
      </p:sp>
      <p:cxnSp>
        <p:nvCxnSpPr>
          <p:cNvPr id="13" name="Line 13"/>
          <p:cNvCxnSpPr/>
          <p:nvPr/>
        </p:nvCxnSpPr>
        <p:spPr>
          <a:xfrm>
            <a:off x="4581525" y="1676400"/>
            <a:ext cx="0" cy="1771650"/>
          </a:xfrm>
          <a:prstGeom prst="line">
            <a:avLst/>
          </a:prstGeom>
          <a:ln w="22225">
            <a:solidFill>
              <a:srgbClr val="DC2626"/>
            </a:solidFill>
            <a:prstDash val="dash"/>
          </a:ln>
        </p:spPr>
      </p:cxnSp>
      <p:sp>
        <p:nvSpPr>
          <p:cNvPr id="14" name="Text 14"/>
          <p:cNvSpPr txBox="1"/>
          <p:nvPr/>
        </p:nvSpPr>
        <p:spPr>
          <a:xfrm>
            <a:off x="4295775" y="15049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CDC</a:t>
            </a:r>
            <a:endParaRPr lang="en-US" sz="1100" dirty="0"/>
          </a:p>
        </p:txBody>
      </p:sp>
      <p:cxnSp>
        <p:nvCxnSpPr>
          <p:cNvPr id="15" name="Line 15"/>
          <p:cNvCxnSpPr/>
          <p:nvPr/>
        </p:nvCxnSpPr>
        <p:spPr>
          <a:xfrm>
            <a:off x="819150" y="2457450"/>
            <a:ext cx="6096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16" name="Text 16"/>
          <p:cNvSpPr txBox="1"/>
          <p:nvPr/>
        </p:nvSpPr>
        <p:spPr>
          <a:xfrm>
            <a:off x="819150" y="2247900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pulse_a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1428750" y="2228850"/>
            <a:ext cx="5715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8"/>
          <p:cNvSpPr txBox="1"/>
          <p:nvPr/>
        </p:nvSpPr>
        <p:spPr>
          <a:xfrm>
            <a:off x="1428750" y="22288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1100" dirty="0"/>
          </a:p>
        </p:txBody>
      </p:sp>
      <p:cxnSp>
        <p:nvCxnSpPr>
          <p:cNvPr id="19" name="Line 19"/>
          <p:cNvCxnSpPr/>
          <p:nvPr/>
        </p:nvCxnSpPr>
        <p:spPr>
          <a:xfrm>
            <a:off x="2000250" y="2457450"/>
            <a:ext cx="3810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2381250" y="2114550"/>
            <a:ext cx="76200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2381250" y="2114550"/>
            <a:ext cx="76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FF_T</a:t>
            </a:r>
            <a:endParaRPr lang="en-US" sz="1300" dirty="0"/>
          </a:p>
        </p:txBody>
      </p:sp>
      <p:cxnSp>
        <p:nvCxnSpPr>
          <p:cNvPr id="22" name="Line 22"/>
          <p:cNvCxnSpPr/>
          <p:nvPr/>
        </p:nvCxnSpPr>
        <p:spPr>
          <a:xfrm>
            <a:off x="3143250" y="2457450"/>
            <a:ext cx="219075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3619500" y="224790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tgl_a</a:t>
            </a:r>
            <a:endParaRPr lang="en-US" sz="1100" dirty="0"/>
          </a:p>
        </p:txBody>
      </p:sp>
      <p:sp>
        <p:nvSpPr>
          <p:cNvPr id="24" name="Path 24"/>
          <p:cNvSpPr/>
          <p:nvPr/>
        </p:nvSpPr>
        <p:spPr>
          <a:xfrm>
            <a:off x="1714500" y="2457450"/>
            <a:ext cx="1638300" cy="514350"/>
          </a:xfrm>
          <a:custGeom>
            <a:avLst/>
            <a:gdLst/>
            <a:ahLst/>
            <a:cxnLst/>
            <a:rect l="0" t="0" r="r" b="b"/>
            <a:pathLst>
              <a:path w="1638300" h="514350" fill="none">
                <a:moveTo>
                  <a:pt x="1638300" y="0"/>
                </a:moveTo>
                <a:lnTo>
                  <a:pt x="1638300" y="514350"/>
                </a:lnTo>
                <a:lnTo>
                  <a:pt x="0" y="514350"/>
                </a:lnTo>
                <a:lnTo>
                  <a:pt x="0" y="228600"/>
                </a:lnTo>
              </a:path>
            </a:pathLst>
          </a:custGeom>
          <a:noFill/>
          <a:ln w="19050">
            <a:solidFill>
              <a:srgbClr val="1D4ED8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" name="Line 25"/>
          <p:cNvCxnSpPr/>
          <p:nvPr/>
        </p:nvCxnSpPr>
        <p:spPr>
          <a:xfrm flipV="1">
            <a:off x="2762250" y="2800350"/>
            <a:ext cx="0" cy="438150"/>
          </a:xfrm>
          <a:prstGeom prst="line">
            <a:avLst/>
          </a:prstGeom>
          <a:ln w="19050">
            <a:solidFill>
              <a:srgbClr val="1D4ED8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2838450" y="306705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000" dirty="0"/>
          </a:p>
        </p:txBody>
      </p:sp>
      <p:sp>
        <p:nvSpPr>
          <p:cNvPr id="27" name="Shape 27"/>
          <p:cNvSpPr/>
          <p:nvPr/>
        </p:nvSpPr>
        <p:spPr>
          <a:xfrm>
            <a:off x="5334000" y="2114550"/>
            <a:ext cx="66675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8"/>
          <p:cNvSpPr txBox="1"/>
          <p:nvPr/>
        </p:nvSpPr>
        <p:spPr>
          <a:xfrm>
            <a:off x="5334000" y="2114550"/>
            <a:ext cx="66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FF1</a:t>
            </a:r>
            <a:endParaRPr lang="en-US" sz="1300" dirty="0"/>
          </a:p>
        </p:txBody>
      </p:sp>
      <p:cxnSp>
        <p:nvCxnSpPr>
          <p:cNvPr id="29" name="Line 29"/>
          <p:cNvCxnSpPr/>
          <p:nvPr/>
        </p:nvCxnSpPr>
        <p:spPr>
          <a:xfrm>
            <a:off x="6000750" y="2457450"/>
            <a:ext cx="3810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30" name="Shape 30"/>
          <p:cNvSpPr/>
          <p:nvPr/>
        </p:nvSpPr>
        <p:spPr>
          <a:xfrm>
            <a:off x="6381750" y="2114550"/>
            <a:ext cx="66675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1"/>
          <p:cNvSpPr txBox="1"/>
          <p:nvPr/>
        </p:nvSpPr>
        <p:spPr>
          <a:xfrm>
            <a:off x="6381750" y="2114550"/>
            <a:ext cx="66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FF2</a:t>
            </a:r>
            <a:endParaRPr lang="en-US" sz="1300" dirty="0"/>
          </a:p>
        </p:txBody>
      </p:sp>
      <p:cxnSp>
        <p:nvCxnSpPr>
          <p:cNvPr id="32" name="Line 32"/>
          <p:cNvCxnSpPr/>
          <p:nvPr/>
        </p:nvCxnSpPr>
        <p:spPr>
          <a:xfrm>
            <a:off x="7048500" y="2457450"/>
            <a:ext cx="3810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7429500" y="2114550"/>
            <a:ext cx="666750" cy="6858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4"/>
          <p:cNvSpPr txBox="1"/>
          <p:nvPr/>
        </p:nvSpPr>
        <p:spPr>
          <a:xfrm>
            <a:off x="7429500" y="2114550"/>
            <a:ext cx="66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FF3</a:t>
            </a:r>
            <a:endParaRPr lang="en-US" sz="1300" dirty="0"/>
          </a:p>
        </p:txBody>
      </p:sp>
      <p:sp>
        <p:nvSpPr>
          <p:cNvPr id="35" name="Path 35"/>
          <p:cNvSpPr/>
          <p:nvPr/>
        </p:nvSpPr>
        <p:spPr>
          <a:xfrm>
            <a:off x="7191375" y="1905000"/>
            <a:ext cx="1666875" cy="552450"/>
          </a:xfrm>
          <a:custGeom>
            <a:avLst/>
            <a:gdLst/>
            <a:ahLst/>
            <a:cxnLst/>
            <a:rect l="0" t="0" r="r" b="b"/>
            <a:pathLst>
              <a:path w="1666875" h="552450" fill="none">
                <a:moveTo>
                  <a:pt x="0" y="552450"/>
                </a:moveTo>
                <a:lnTo>
                  <a:pt x="0" y="0"/>
                </a:lnTo>
                <a:lnTo>
                  <a:pt x="1666875" y="0"/>
                </a:lnTo>
                <a:lnTo>
                  <a:pt x="1666875" y="323850"/>
                </a:lnTo>
              </a:path>
            </a:pathLst>
          </a:custGeom>
          <a:noFill/>
          <a:ln w="19050">
            <a:solidFill>
              <a:srgbClr val="0F172A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7239000" y="17335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100" dirty="0"/>
          </a:p>
        </p:txBody>
      </p:sp>
      <p:cxnSp>
        <p:nvCxnSpPr>
          <p:cNvPr id="37" name="Line 37"/>
          <p:cNvCxnSpPr/>
          <p:nvPr/>
        </p:nvCxnSpPr>
        <p:spPr>
          <a:xfrm>
            <a:off x="8096250" y="2457450"/>
            <a:ext cx="47625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8153400" y="22479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8572500" y="2228850"/>
            <a:ext cx="5715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8572500" y="22288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1100" dirty="0"/>
          </a:p>
        </p:txBody>
      </p:sp>
      <p:cxnSp>
        <p:nvCxnSpPr>
          <p:cNvPr id="41" name="Line 41"/>
          <p:cNvCxnSpPr/>
          <p:nvPr/>
        </p:nvCxnSpPr>
        <p:spPr>
          <a:xfrm>
            <a:off x="9144000" y="2457450"/>
            <a:ext cx="1143000" cy="0"/>
          </a:xfrm>
          <a:prstGeom prst="line">
            <a:avLst/>
          </a:prstGeom>
          <a:ln w="2222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42" name="Text 42"/>
          <p:cNvSpPr txBox="1"/>
          <p:nvPr/>
        </p:nvSpPr>
        <p:spPr>
          <a:xfrm>
            <a:off x="9334500" y="22479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pulse_b</a:t>
            </a:r>
            <a:endParaRPr lang="en-US" sz="1100" dirty="0"/>
          </a:p>
        </p:txBody>
      </p:sp>
      <p:cxnSp>
        <p:nvCxnSpPr>
          <p:cNvPr id="43" name="Line 43"/>
          <p:cNvCxnSpPr/>
          <p:nvPr/>
        </p:nvCxnSpPr>
        <p:spPr>
          <a:xfrm>
            <a:off x="5334000" y="3238500"/>
            <a:ext cx="2428875" cy="0"/>
          </a:xfrm>
          <a:prstGeom prst="line">
            <a:avLst/>
          </a:prstGeom>
          <a:ln w="19050">
            <a:solidFill>
              <a:srgbClr val="15803D"/>
            </a:solidFill>
            <a:prstDash val="solid"/>
          </a:ln>
        </p:spPr>
      </p:cxnSp>
      <p:cxnSp>
        <p:nvCxnSpPr>
          <p:cNvPr id="44" name="Line 44"/>
          <p:cNvCxnSpPr/>
          <p:nvPr/>
        </p:nvCxnSpPr>
        <p:spPr>
          <a:xfrm flipV="1">
            <a:off x="5667375" y="2800350"/>
            <a:ext cx="0" cy="43815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cxnSp>
        <p:nvCxnSpPr>
          <p:cNvPr id="45" name="Line 45"/>
          <p:cNvCxnSpPr/>
          <p:nvPr/>
        </p:nvCxnSpPr>
        <p:spPr>
          <a:xfrm flipV="1">
            <a:off x="6715125" y="2800350"/>
            <a:ext cx="0" cy="43815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cxnSp>
        <p:nvCxnSpPr>
          <p:cNvPr id="46" name="Line 46"/>
          <p:cNvCxnSpPr/>
          <p:nvPr/>
        </p:nvCxnSpPr>
        <p:spPr>
          <a:xfrm flipV="1">
            <a:off x="7762875" y="2800350"/>
            <a:ext cx="0" cy="438150"/>
          </a:xfrm>
          <a:prstGeom prst="line">
            <a:avLst/>
          </a:prstGeom>
          <a:ln w="19050">
            <a:solidFill>
              <a:srgbClr val="15803D"/>
            </a:solidFill>
            <a:prstDash val="solid"/>
            <a:tailEnd type="triangle"/>
          </a:ln>
        </p:spPr>
      </p:cxnSp>
      <p:sp>
        <p:nvSpPr>
          <p:cNvPr id="47" name="Text 47"/>
          <p:cNvSpPr txBox="1"/>
          <p:nvPr/>
        </p:nvSpPr>
        <p:spPr>
          <a:xfrm>
            <a:off x="4933950" y="31623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000" dirty="0"/>
          </a:p>
        </p:txBody>
      </p:sp>
      <p:sp>
        <p:nvSpPr>
          <p:cNvPr id="48" name="Shape 48"/>
          <p:cNvSpPr/>
          <p:nvPr/>
        </p:nvSpPr>
        <p:spPr>
          <a:xfrm>
            <a:off x="457200" y="3695700"/>
            <a:ext cx="66675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685800" y="3848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clk_A</a:t>
            </a:r>
            <a:endParaRPr lang="en-US" sz="1100" dirty="0"/>
          </a:p>
        </p:txBody>
      </p:sp>
      <p:sp>
        <p:nvSpPr>
          <p:cNvPr id="50" name="Text 50"/>
          <p:cNvSpPr txBox="1"/>
          <p:nvPr/>
        </p:nvSpPr>
        <p:spPr>
          <a:xfrm>
            <a:off x="685800" y="41719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pulse_a</a:t>
            </a:r>
            <a:endParaRPr lang="en-US" sz="1100" dirty="0"/>
          </a:p>
        </p:txBody>
      </p:sp>
      <p:sp>
        <p:nvSpPr>
          <p:cNvPr id="51" name="Text 51"/>
          <p:cNvSpPr txBox="1"/>
          <p:nvPr/>
        </p:nvSpPr>
        <p:spPr>
          <a:xfrm>
            <a:off x="685800" y="44958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tgl_a</a:t>
            </a:r>
            <a:endParaRPr lang="en-US" sz="1100" dirty="0"/>
          </a:p>
        </p:txBody>
      </p:sp>
      <p:sp>
        <p:nvSpPr>
          <p:cNvPr id="52" name="Text 52"/>
          <p:cNvSpPr txBox="1"/>
          <p:nvPr/>
        </p:nvSpPr>
        <p:spPr>
          <a:xfrm>
            <a:off x="685800" y="48196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clk_B</a:t>
            </a:r>
            <a:endParaRPr lang="en-US" sz="1100" dirty="0"/>
          </a:p>
        </p:txBody>
      </p:sp>
      <p:sp>
        <p:nvSpPr>
          <p:cNvPr id="53" name="Text 53"/>
          <p:cNvSpPr txBox="1"/>
          <p:nvPr/>
        </p:nvSpPr>
        <p:spPr>
          <a:xfrm>
            <a:off x="685800" y="51435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100" dirty="0"/>
          </a:p>
        </p:txBody>
      </p:sp>
      <p:sp>
        <p:nvSpPr>
          <p:cNvPr id="54" name="Text 54"/>
          <p:cNvSpPr txBox="1"/>
          <p:nvPr/>
        </p:nvSpPr>
        <p:spPr>
          <a:xfrm>
            <a:off x="685800" y="54673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100" dirty="0"/>
          </a:p>
        </p:txBody>
      </p:sp>
      <p:sp>
        <p:nvSpPr>
          <p:cNvPr id="55" name="Text 55"/>
          <p:cNvSpPr txBox="1"/>
          <p:nvPr/>
        </p:nvSpPr>
        <p:spPr>
          <a:xfrm>
            <a:off x="685800" y="57912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pulse_b</a:t>
            </a:r>
            <a:endParaRPr lang="en-US" sz="1100" dirty="0"/>
          </a:p>
        </p:txBody>
      </p:sp>
      <p:sp>
        <p:nvSpPr>
          <p:cNvPr id="56" name="Path 56"/>
          <p:cNvSpPr/>
          <p:nvPr/>
        </p:nvSpPr>
        <p:spPr>
          <a:xfrm>
            <a:off x="1619250" y="383857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95250" y="209550"/>
                </a:lnTo>
                <a:lnTo>
                  <a:pt x="95250" y="0"/>
                </a:lnTo>
                <a:lnTo>
                  <a:pt x="209550" y="0"/>
                </a:lnTo>
                <a:lnTo>
                  <a:pt x="209550" y="209550"/>
                </a:lnTo>
                <a:lnTo>
                  <a:pt x="323850" y="209550"/>
                </a:lnTo>
                <a:lnTo>
                  <a:pt x="323850" y="0"/>
                </a:lnTo>
                <a:lnTo>
                  <a:pt x="438150" y="0"/>
                </a:lnTo>
                <a:lnTo>
                  <a:pt x="438150" y="209550"/>
                </a:lnTo>
                <a:lnTo>
                  <a:pt x="552450" y="209550"/>
                </a:lnTo>
                <a:lnTo>
                  <a:pt x="552450" y="0"/>
                </a:lnTo>
                <a:lnTo>
                  <a:pt x="666750" y="0"/>
                </a:lnTo>
                <a:lnTo>
                  <a:pt x="666750" y="209550"/>
                </a:lnTo>
                <a:lnTo>
                  <a:pt x="781050" y="209550"/>
                </a:lnTo>
                <a:lnTo>
                  <a:pt x="781050" y="0"/>
                </a:lnTo>
                <a:lnTo>
                  <a:pt x="895350" y="0"/>
                </a:lnTo>
                <a:lnTo>
                  <a:pt x="895350" y="209550"/>
                </a:lnTo>
                <a:lnTo>
                  <a:pt x="1009650" y="209550"/>
                </a:lnTo>
                <a:lnTo>
                  <a:pt x="1009650" y="0"/>
                </a:lnTo>
                <a:lnTo>
                  <a:pt x="1123950" y="0"/>
                </a:lnTo>
                <a:lnTo>
                  <a:pt x="1123950" y="209550"/>
                </a:lnTo>
                <a:lnTo>
                  <a:pt x="1238250" y="209550"/>
                </a:lnTo>
                <a:lnTo>
                  <a:pt x="1238250" y="0"/>
                </a:lnTo>
                <a:lnTo>
                  <a:pt x="1352550" y="0"/>
                </a:lnTo>
                <a:lnTo>
                  <a:pt x="1352550" y="209550"/>
                </a:lnTo>
                <a:lnTo>
                  <a:pt x="1466850" y="209550"/>
                </a:lnTo>
                <a:lnTo>
                  <a:pt x="1466850" y="0"/>
                </a:lnTo>
                <a:lnTo>
                  <a:pt x="1581150" y="0"/>
                </a:lnTo>
                <a:lnTo>
                  <a:pt x="1581150" y="209550"/>
                </a:lnTo>
                <a:lnTo>
                  <a:pt x="1695450" y="209550"/>
                </a:lnTo>
                <a:lnTo>
                  <a:pt x="1695450" y="0"/>
                </a:lnTo>
                <a:lnTo>
                  <a:pt x="1809750" y="0"/>
                </a:lnTo>
                <a:lnTo>
                  <a:pt x="1809750" y="209550"/>
                </a:lnTo>
                <a:lnTo>
                  <a:pt x="1924050" y="209550"/>
                </a:lnTo>
                <a:lnTo>
                  <a:pt x="1924050" y="0"/>
                </a:lnTo>
                <a:lnTo>
                  <a:pt x="2038350" y="0"/>
                </a:lnTo>
                <a:lnTo>
                  <a:pt x="2038350" y="209550"/>
                </a:lnTo>
                <a:lnTo>
                  <a:pt x="2152650" y="209550"/>
                </a:lnTo>
                <a:lnTo>
                  <a:pt x="2152650" y="0"/>
                </a:lnTo>
                <a:lnTo>
                  <a:pt x="2266950" y="0"/>
                </a:lnTo>
                <a:lnTo>
                  <a:pt x="2266950" y="209550"/>
                </a:lnTo>
                <a:lnTo>
                  <a:pt x="2381250" y="209550"/>
                </a:lnTo>
                <a:lnTo>
                  <a:pt x="2381250" y="0"/>
                </a:lnTo>
                <a:lnTo>
                  <a:pt x="2495550" y="0"/>
                </a:lnTo>
                <a:lnTo>
                  <a:pt x="2495550" y="209550"/>
                </a:lnTo>
                <a:lnTo>
                  <a:pt x="2609850" y="209550"/>
                </a:lnTo>
                <a:lnTo>
                  <a:pt x="2609850" y="0"/>
                </a:lnTo>
                <a:lnTo>
                  <a:pt x="2724150" y="0"/>
                </a:lnTo>
                <a:lnTo>
                  <a:pt x="2724150" y="209550"/>
                </a:lnTo>
                <a:lnTo>
                  <a:pt x="2838450" y="209550"/>
                </a:lnTo>
                <a:lnTo>
                  <a:pt x="2838450" y="0"/>
                </a:lnTo>
                <a:lnTo>
                  <a:pt x="2952750" y="0"/>
                </a:lnTo>
                <a:lnTo>
                  <a:pt x="2952750" y="209550"/>
                </a:lnTo>
                <a:lnTo>
                  <a:pt x="3067050" y="209550"/>
                </a:lnTo>
                <a:lnTo>
                  <a:pt x="3067050" y="0"/>
                </a:lnTo>
                <a:lnTo>
                  <a:pt x="3181350" y="0"/>
                </a:lnTo>
                <a:lnTo>
                  <a:pt x="3181350" y="209550"/>
                </a:lnTo>
                <a:lnTo>
                  <a:pt x="3295650" y="209550"/>
                </a:lnTo>
                <a:lnTo>
                  <a:pt x="3295650" y="0"/>
                </a:lnTo>
                <a:lnTo>
                  <a:pt x="3409950" y="0"/>
                </a:lnTo>
                <a:lnTo>
                  <a:pt x="3409950" y="209550"/>
                </a:lnTo>
                <a:lnTo>
                  <a:pt x="3524250" y="209550"/>
                </a:lnTo>
                <a:lnTo>
                  <a:pt x="3524250" y="0"/>
                </a:lnTo>
                <a:lnTo>
                  <a:pt x="3638550" y="0"/>
                </a:lnTo>
                <a:lnTo>
                  <a:pt x="3638550" y="209550"/>
                </a:lnTo>
                <a:lnTo>
                  <a:pt x="3752850" y="209550"/>
                </a:lnTo>
                <a:lnTo>
                  <a:pt x="3752850" y="0"/>
                </a:lnTo>
                <a:lnTo>
                  <a:pt x="3867150" y="0"/>
                </a:lnTo>
                <a:lnTo>
                  <a:pt x="3867150" y="209550"/>
                </a:lnTo>
                <a:lnTo>
                  <a:pt x="3981450" y="209550"/>
                </a:lnTo>
                <a:lnTo>
                  <a:pt x="3981450" y="0"/>
                </a:lnTo>
                <a:lnTo>
                  <a:pt x="4095750" y="0"/>
                </a:lnTo>
                <a:lnTo>
                  <a:pt x="4095750" y="209550"/>
                </a:lnTo>
                <a:lnTo>
                  <a:pt x="4210050" y="209550"/>
                </a:lnTo>
                <a:lnTo>
                  <a:pt x="4210050" y="0"/>
                </a:lnTo>
                <a:lnTo>
                  <a:pt x="4324350" y="0"/>
                </a:lnTo>
                <a:lnTo>
                  <a:pt x="4324350" y="209550"/>
                </a:lnTo>
                <a:lnTo>
                  <a:pt x="4438650" y="209550"/>
                </a:lnTo>
                <a:lnTo>
                  <a:pt x="4438650" y="0"/>
                </a:lnTo>
                <a:lnTo>
                  <a:pt x="4552950" y="0"/>
                </a:lnTo>
                <a:lnTo>
                  <a:pt x="4552950" y="209550"/>
                </a:lnTo>
                <a:lnTo>
                  <a:pt x="4667250" y="209550"/>
                </a:lnTo>
                <a:lnTo>
                  <a:pt x="4667250" y="0"/>
                </a:lnTo>
                <a:lnTo>
                  <a:pt x="4781550" y="0"/>
                </a:lnTo>
                <a:lnTo>
                  <a:pt x="4781550" y="209550"/>
                </a:lnTo>
                <a:lnTo>
                  <a:pt x="4895850" y="209550"/>
                </a:lnTo>
                <a:lnTo>
                  <a:pt x="4895850" y="0"/>
                </a:lnTo>
                <a:lnTo>
                  <a:pt x="5010150" y="0"/>
                </a:lnTo>
                <a:lnTo>
                  <a:pt x="5010150" y="209550"/>
                </a:lnTo>
                <a:lnTo>
                  <a:pt x="5124450" y="209550"/>
                </a:lnTo>
                <a:lnTo>
                  <a:pt x="5124450" y="0"/>
                </a:lnTo>
                <a:lnTo>
                  <a:pt x="5238750" y="0"/>
                </a:lnTo>
              </a:path>
            </a:pathLst>
          </a:custGeom>
          <a:noFill/>
          <a:ln w="19050">
            <a:solidFill>
              <a:srgbClr val="1D4ED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Path 57"/>
          <p:cNvSpPr/>
          <p:nvPr/>
        </p:nvSpPr>
        <p:spPr>
          <a:xfrm>
            <a:off x="1619250" y="416242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1238250" y="209550"/>
                </a:lnTo>
                <a:lnTo>
                  <a:pt x="1238250" y="0"/>
                </a:lnTo>
                <a:lnTo>
                  <a:pt x="1466850" y="0"/>
                </a:lnTo>
                <a:lnTo>
                  <a:pt x="1466850" y="209550"/>
                </a:lnTo>
                <a:lnTo>
                  <a:pt x="5238750" y="20955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Path 58"/>
          <p:cNvSpPr/>
          <p:nvPr/>
        </p:nvSpPr>
        <p:spPr>
          <a:xfrm>
            <a:off x="1619250" y="448627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1485900" y="209550"/>
                </a:lnTo>
                <a:lnTo>
                  <a:pt x="1485900" y="0"/>
                </a:lnTo>
                <a:lnTo>
                  <a:pt x="5238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Path 59"/>
          <p:cNvSpPr/>
          <p:nvPr/>
        </p:nvSpPr>
        <p:spPr>
          <a:xfrm>
            <a:off x="1619250" y="481012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381000" y="209550"/>
                </a:lnTo>
                <a:lnTo>
                  <a:pt x="381000" y="0"/>
                </a:lnTo>
                <a:lnTo>
                  <a:pt x="809625" y="0"/>
                </a:lnTo>
                <a:lnTo>
                  <a:pt x="809625" y="209550"/>
                </a:lnTo>
                <a:lnTo>
                  <a:pt x="1238250" y="209550"/>
                </a:lnTo>
                <a:lnTo>
                  <a:pt x="1238250" y="0"/>
                </a:lnTo>
                <a:lnTo>
                  <a:pt x="1666875" y="0"/>
                </a:lnTo>
                <a:lnTo>
                  <a:pt x="1666875" y="209550"/>
                </a:lnTo>
                <a:lnTo>
                  <a:pt x="2095500" y="209550"/>
                </a:lnTo>
                <a:lnTo>
                  <a:pt x="2095500" y="0"/>
                </a:lnTo>
                <a:lnTo>
                  <a:pt x="2524125" y="0"/>
                </a:lnTo>
                <a:lnTo>
                  <a:pt x="2524125" y="209550"/>
                </a:lnTo>
                <a:lnTo>
                  <a:pt x="2952750" y="209550"/>
                </a:lnTo>
                <a:lnTo>
                  <a:pt x="2952750" y="0"/>
                </a:lnTo>
                <a:lnTo>
                  <a:pt x="3381375" y="0"/>
                </a:lnTo>
                <a:lnTo>
                  <a:pt x="3381375" y="209550"/>
                </a:lnTo>
                <a:lnTo>
                  <a:pt x="3810000" y="209550"/>
                </a:lnTo>
                <a:lnTo>
                  <a:pt x="3810000" y="0"/>
                </a:lnTo>
                <a:lnTo>
                  <a:pt x="4238625" y="0"/>
                </a:lnTo>
                <a:lnTo>
                  <a:pt x="4238625" y="209550"/>
                </a:lnTo>
                <a:lnTo>
                  <a:pt x="4667250" y="209550"/>
                </a:lnTo>
                <a:lnTo>
                  <a:pt x="4667250" y="0"/>
                </a:lnTo>
                <a:lnTo>
                  <a:pt x="5095875" y="0"/>
                </a:lnTo>
                <a:lnTo>
                  <a:pt x="5095875" y="209550"/>
                </a:lnTo>
                <a:lnTo>
                  <a:pt x="5238750" y="20955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Path 60"/>
          <p:cNvSpPr/>
          <p:nvPr/>
        </p:nvSpPr>
        <p:spPr>
          <a:xfrm>
            <a:off x="1619250" y="513397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2952750" y="209550"/>
                </a:lnTo>
                <a:lnTo>
                  <a:pt x="2952750" y="0"/>
                </a:lnTo>
                <a:lnTo>
                  <a:pt x="5238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Path 61"/>
          <p:cNvSpPr/>
          <p:nvPr/>
        </p:nvSpPr>
        <p:spPr>
          <a:xfrm>
            <a:off x="1619250" y="545782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3810000" y="209550"/>
                </a:lnTo>
                <a:lnTo>
                  <a:pt x="3810000" y="0"/>
                </a:lnTo>
                <a:lnTo>
                  <a:pt x="5238750" y="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Path 62"/>
          <p:cNvSpPr/>
          <p:nvPr/>
        </p:nvSpPr>
        <p:spPr>
          <a:xfrm>
            <a:off x="1619250" y="5781675"/>
            <a:ext cx="5238750" cy="209550"/>
          </a:xfrm>
          <a:custGeom>
            <a:avLst/>
            <a:gdLst/>
            <a:ahLst/>
            <a:cxnLst/>
            <a:rect l="0" t="0" r="r" b="b"/>
            <a:pathLst>
              <a:path w="5238750" h="209550" fill="none">
                <a:moveTo>
                  <a:pt x="0" y="209550"/>
                </a:moveTo>
                <a:lnTo>
                  <a:pt x="2952750" y="209550"/>
                </a:lnTo>
                <a:lnTo>
                  <a:pt x="2952750" y="0"/>
                </a:lnTo>
                <a:lnTo>
                  <a:pt x="3810000" y="0"/>
                </a:lnTo>
                <a:lnTo>
                  <a:pt x="3810000" y="209550"/>
                </a:lnTo>
                <a:lnTo>
                  <a:pt x="5238750" y="209550"/>
                </a:lnTo>
              </a:path>
            </a:pathLst>
          </a:custGeom>
          <a:noFill/>
          <a:ln w="25400">
            <a:solidFill>
              <a:srgbClr val="15803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3"/>
          <p:cNvSpPr/>
          <p:nvPr/>
        </p:nvSpPr>
        <p:spPr>
          <a:xfrm>
            <a:off x="7277100" y="3695700"/>
            <a:ext cx="44577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7505700" y="3810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D7C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· 조건</a:t>
            </a:r>
            <a:endParaRPr lang="en-US" sz="1400" dirty="0"/>
          </a:p>
        </p:txBody>
      </p:sp>
      <p:sp>
        <p:nvSpPr>
          <p:cNvPr id="65" name="Text 65"/>
          <p:cNvSpPr txBox="1"/>
          <p:nvPr/>
        </p:nvSpPr>
        <p:spPr>
          <a:xfrm>
            <a:off x="7505700" y="4114800"/>
            <a:ext cx="4000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 → toggle level 변환, level만 2-FF 동기화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^ q3 edge detect → clk_B 1 cycle pulse 복원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pulse 간격 ≥ clk_B 3 cycle (이전 toggle 동기화 완료 필요)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간격 연속 event → Handshake · Async FIFO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CDC · Multi-bit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Multi-Bit Data Crosses via Gray Code, Handshake or Async FIFO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2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Gray Code</a:t>
            </a:r>
            <a:endParaRPr lang="en-US" sz="1600" dirty="0"/>
          </a:p>
        </p:txBody>
      </p:sp>
      <p:sp>
        <p:nvSpPr>
          <p:cNvPr id="10" name="Shape 10"/>
          <p:cNvSpPr/>
          <p:nvPr/>
        </p:nvSpPr>
        <p:spPr>
          <a:xfrm>
            <a:off x="426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1"/>
          <p:cNvSpPr txBox="1"/>
          <p:nvPr/>
        </p:nvSpPr>
        <p:spPr>
          <a:xfrm>
            <a:off x="443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Handshake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8077200" y="1295400"/>
            <a:ext cx="3657600" cy="4953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8248650" y="1447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Async FIFO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666750" y="1847850"/>
            <a:ext cx="952500" cy="32385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723900" y="1847850"/>
            <a:ext cx="838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1619250" y="1847850"/>
            <a:ext cx="1143000" cy="32385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1676400" y="1847850"/>
            <a:ext cx="1028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Binary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2762250" y="1847850"/>
            <a:ext cx="1143000" cy="32385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2819400" y="1847850"/>
            <a:ext cx="1028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Gray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666750" y="2171700"/>
            <a:ext cx="952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762000" y="217170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1619250" y="21717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3"/>
          <p:cNvSpPr txBox="1"/>
          <p:nvPr/>
        </p:nvSpPr>
        <p:spPr>
          <a:xfrm>
            <a:off x="1714500" y="21717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2762250" y="21717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2857500" y="21717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666750" y="2495550"/>
            <a:ext cx="952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762000" y="249555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1619250" y="24955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 txBox="1"/>
          <p:nvPr/>
        </p:nvSpPr>
        <p:spPr>
          <a:xfrm>
            <a:off x="1714500" y="249555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2762250" y="24955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1"/>
          <p:cNvSpPr txBox="1"/>
          <p:nvPr/>
        </p:nvSpPr>
        <p:spPr>
          <a:xfrm>
            <a:off x="2857500" y="249555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666750" y="2819400"/>
            <a:ext cx="952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3"/>
          <p:cNvSpPr txBox="1"/>
          <p:nvPr/>
        </p:nvSpPr>
        <p:spPr>
          <a:xfrm>
            <a:off x="762000" y="2819400"/>
            <a:ext cx="76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bit</a:t>
            </a:r>
            <a:endParaRPr lang="en-US" sz="1200" dirty="0"/>
          </a:p>
        </p:txBody>
      </p:sp>
      <p:sp>
        <p:nvSpPr>
          <p:cNvPr id="34" name="Shape 34"/>
          <p:cNvSpPr/>
          <p:nvPr/>
        </p:nvSpPr>
        <p:spPr>
          <a:xfrm>
            <a:off x="1619250" y="2819400"/>
            <a:ext cx="1143000" cy="32385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1714500" y="28194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2762250" y="2819400"/>
            <a:ext cx="1143000" cy="32385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2857500" y="28194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666750" y="3352800"/>
            <a:ext cx="723900" cy="381000"/>
          </a:xfrm>
          <a:prstGeom prst="rect">
            <a:avLst/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666750" y="3352800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endParaRPr lang="en-US" sz="1000" dirty="0"/>
          </a:p>
        </p:txBody>
      </p:sp>
      <p:cxnSp>
        <p:nvCxnSpPr>
          <p:cNvPr id="40" name="Line 40"/>
          <p:cNvCxnSpPr/>
          <p:nvPr/>
        </p:nvCxnSpPr>
        <p:spPr>
          <a:xfrm>
            <a:off x="1390650" y="3543300"/>
            <a:ext cx="114300" cy="0"/>
          </a:xfrm>
          <a:prstGeom prst="line">
            <a:avLst/>
          </a:prstGeom>
          <a:ln w="1587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1504950" y="3352800"/>
            <a:ext cx="723900" cy="381000"/>
          </a:xfrm>
          <a:prstGeom prst="rect">
            <a:avLst/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1504950" y="3352800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bin2gray</a:t>
            </a:r>
            <a:endParaRPr lang="en-US" sz="1000" dirty="0"/>
          </a:p>
        </p:txBody>
      </p:sp>
      <p:cxnSp>
        <p:nvCxnSpPr>
          <p:cNvPr id="43" name="Line 43"/>
          <p:cNvCxnSpPr/>
          <p:nvPr/>
        </p:nvCxnSpPr>
        <p:spPr>
          <a:xfrm>
            <a:off x="2228850" y="3543300"/>
            <a:ext cx="114300" cy="0"/>
          </a:xfrm>
          <a:prstGeom prst="line">
            <a:avLst/>
          </a:prstGeom>
          <a:ln w="1587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44" name="Shape 44"/>
          <p:cNvSpPr/>
          <p:nvPr/>
        </p:nvSpPr>
        <p:spPr>
          <a:xfrm>
            <a:off x="2343150" y="3352800"/>
            <a:ext cx="723900" cy="381000"/>
          </a:xfrm>
          <a:prstGeom prst="rect">
            <a:avLst/>
          </a:prstGeom>
          <a:solidFill>
            <a:srgbClr val="F0FDF4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2343150" y="3352800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2-FF × N</a:t>
            </a:r>
            <a:endParaRPr lang="en-US" sz="1000" dirty="0"/>
          </a:p>
        </p:txBody>
      </p:sp>
      <p:cxnSp>
        <p:nvCxnSpPr>
          <p:cNvPr id="46" name="Line 46"/>
          <p:cNvCxnSpPr/>
          <p:nvPr/>
        </p:nvCxnSpPr>
        <p:spPr>
          <a:xfrm>
            <a:off x="3067050" y="3543300"/>
            <a:ext cx="114300" cy="0"/>
          </a:xfrm>
          <a:prstGeom prst="line">
            <a:avLst/>
          </a:prstGeom>
          <a:ln w="15875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3181350" y="3352800"/>
            <a:ext cx="723900" cy="381000"/>
          </a:xfrm>
          <a:prstGeom prst="rect">
            <a:avLst/>
          </a:prstGeom>
          <a:solidFill>
            <a:srgbClr val="F0FDF4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3181350" y="3352800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gray2bin</a:t>
            </a:r>
            <a:endParaRPr lang="en-US" sz="1000" dirty="0"/>
          </a:p>
        </p:txBody>
      </p:sp>
      <p:cxnSp>
        <p:nvCxnSpPr>
          <p:cNvPr id="49" name="Line 49"/>
          <p:cNvCxnSpPr/>
          <p:nvPr/>
        </p:nvCxnSpPr>
        <p:spPr>
          <a:xfrm>
            <a:off x="2286000" y="3276600"/>
            <a:ext cx="0" cy="533400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50" name="Text 50"/>
          <p:cNvSpPr txBox="1"/>
          <p:nvPr/>
        </p:nvSpPr>
        <p:spPr>
          <a:xfrm>
            <a:off x="628650" y="4000500"/>
            <a:ext cx="3333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값 사이 1 bit만 변경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오차 = 이전 값 또는 새 값만 발생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조건: +1 · −1씩 변하는 counter · pointer</a:t>
            </a:r>
            <a:endParaRPr lang="en-US" sz="1200" dirty="0"/>
          </a:p>
        </p:txBody>
      </p:sp>
      <p:cxnSp>
        <p:nvCxnSpPr>
          <p:cNvPr id="51" name="Line 51"/>
          <p:cNvCxnSpPr/>
          <p:nvPr/>
        </p:nvCxnSpPr>
        <p:spPr>
          <a:xfrm>
            <a:off x="6096000" y="1771650"/>
            <a:ext cx="0" cy="2038350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52" name="Shape 52"/>
          <p:cNvSpPr/>
          <p:nvPr/>
        </p:nvSpPr>
        <p:spPr>
          <a:xfrm>
            <a:off x="4476750" y="1866900"/>
            <a:ext cx="990600" cy="18669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4476750" y="1905000"/>
            <a:ext cx="99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</a:t>
            </a: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</a:t>
            </a:r>
            <a:endParaRPr lang="en-US" sz="1100" dirty="0"/>
          </a:p>
        </p:txBody>
      </p:sp>
      <p:sp>
        <p:nvSpPr>
          <p:cNvPr id="54" name="Shape 54"/>
          <p:cNvSpPr/>
          <p:nvPr/>
        </p:nvSpPr>
        <p:spPr>
          <a:xfrm>
            <a:off x="6724650" y="1866900"/>
            <a:ext cx="990600" cy="1866900"/>
          </a:xfrm>
          <a:prstGeom prst="rect">
            <a:avLst/>
          </a:prstGeom>
          <a:solidFill>
            <a:srgbClr val="F0FDF4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5"/>
          <p:cNvSpPr txBox="1"/>
          <p:nvPr/>
        </p:nvSpPr>
        <p:spPr>
          <a:xfrm>
            <a:off x="6724650" y="1905000"/>
            <a:ext cx="99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</a:t>
            </a:r>
            <a:endParaRPr lang="en-US" sz="1100" dirty="0"/>
          </a:p>
        </p:txBody>
      </p:sp>
      <p:cxnSp>
        <p:nvCxnSpPr>
          <p:cNvPr id="56" name="Line 56"/>
          <p:cNvCxnSpPr/>
          <p:nvPr/>
        </p:nvCxnSpPr>
        <p:spPr>
          <a:xfrm>
            <a:off x="5467350" y="2438400"/>
            <a:ext cx="1257300" cy="0"/>
          </a:xfrm>
          <a:prstGeom prst="line">
            <a:avLst/>
          </a:prstGeom>
          <a:ln w="44450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57" name="Shape 57"/>
          <p:cNvSpPr/>
          <p:nvPr/>
        </p:nvSpPr>
        <p:spPr>
          <a:xfrm>
            <a:off x="5657850" y="2190750"/>
            <a:ext cx="8763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5657850" y="219075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data[N] 고정</a:t>
            </a:r>
            <a:endParaRPr lang="en-US" sz="1000" dirty="0"/>
          </a:p>
        </p:txBody>
      </p:sp>
      <p:cxnSp>
        <p:nvCxnSpPr>
          <p:cNvPr id="59" name="Line 59"/>
          <p:cNvCxnSpPr/>
          <p:nvPr/>
        </p:nvCxnSpPr>
        <p:spPr>
          <a:xfrm>
            <a:off x="5467350" y="2971800"/>
            <a:ext cx="342900" cy="0"/>
          </a:xfrm>
          <a:prstGeom prst="line">
            <a:avLst/>
          </a:prstGeom>
          <a:ln w="19050">
            <a:solidFill>
              <a:srgbClr val="9333EA"/>
            </a:solidFill>
            <a:prstDash val="solid"/>
          </a:ln>
        </p:spPr>
      </p:cxnSp>
      <p:sp>
        <p:nvSpPr>
          <p:cNvPr id="60" name="Shape 60"/>
          <p:cNvSpPr/>
          <p:nvPr/>
        </p:nvSpPr>
        <p:spPr>
          <a:xfrm>
            <a:off x="5810250" y="2857500"/>
            <a:ext cx="571500" cy="228600"/>
          </a:xfrm>
          <a:prstGeom prst="rect">
            <a:avLst/>
          </a:prstGeom>
          <a:solidFill>
            <a:srgbClr val="F3E8FF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5810250" y="2857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2-FF</a:t>
            </a:r>
            <a:endParaRPr lang="en-US" sz="1000" dirty="0"/>
          </a:p>
        </p:txBody>
      </p:sp>
      <p:cxnSp>
        <p:nvCxnSpPr>
          <p:cNvPr id="62" name="Line 62"/>
          <p:cNvCxnSpPr/>
          <p:nvPr/>
        </p:nvCxnSpPr>
        <p:spPr>
          <a:xfrm>
            <a:off x="6381750" y="2971800"/>
            <a:ext cx="342900" cy="0"/>
          </a:xfrm>
          <a:prstGeom prst="line">
            <a:avLst/>
          </a:prstGeom>
          <a:ln w="19050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63" name="Text 63"/>
          <p:cNvSpPr txBox="1"/>
          <p:nvPr/>
        </p:nvSpPr>
        <p:spPr>
          <a:xfrm>
            <a:off x="5505450" y="274320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endParaRPr lang="en-US" sz="1000" dirty="0"/>
          </a:p>
        </p:txBody>
      </p:sp>
      <p:cxnSp>
        <p:nvCxnSpPr>
          <p:cNvPr id="64" name="Line 64"/>
          <p:cNvCxnSpPr/>
          <p:nvPr/>
        </p:nvCxnSpPr>
        <p:spPr>
          <a:xfrm flipH="1">
            <a:off x="6381750" y="3448050"/>
            <a:ext cx="342900" cy="0"/>
          </a:xfrm>
          <a:prstGeom prst="line">
            <a:avLst/>
          </a:prstGeom>
          <a:ln w="19050">
            <a:solidFill>
              <a:srgbClr val="9333EA"/>
            </a:solidFill>
            <a:prstDash val="solid"/>
          </a:ln>
        </p:spPr>
      </p:cxnSp>
      <p:sp>
        <p:nvSpPr>
          <p:cNvPr id="65" name="Shape 65"/>
          <p:cNvSpPr/>
          <p:nvPr/>
        </p:nvSpPr>
        <p:spPr>
          <a:xfrm>
            <a:off x="5810250" y="3333750"/>
            <a:ext cx="571500" cy="228600"/>
          </a:xfrm>
          <a:prstGeom prst="rect">
            <a:avLst/>
          </a:prstGeom>
          <a:solidFill>
            <a:srgbClr val="F3E8FF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5810250" y="33337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2-FF</a:t>
            </a:r>
            <a:endParaRPr lang="en-US" sz="1000" dirty="0"/>
          </a:p>
        </p:txBody>
      </p:sp>
      <p:cxnSp>
        <p:nvCxnSpPr>
          <p:cNvPr id="67" name="Line 67"/>
          <p:cNvCxnSpPr/>
          <p:nvPr/>
        </p:nvCxnSpPr>
        <p:spPr>
          <a:xfrm flipH="1">
            <a:off x="5467350" y="3448050"/>
            <a:ext cx="342900" cy="0"/>
          </a:xfrm>
          <a:prstGeom prst="line">
            <a:avLst/>
          </a:prstGeom>
          <a:ln w="19050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68" name="Text 68"/>
          <p:cNvSpPr txBox="1"/>
          <p:nvPr/>
        </p:nvSpPr>
        <p:spPr>
          <a:xfrm>
            <a:off x="6419850" y="32194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1000" dirty="0"/>
          </a:p>
        </p:txBody>
      </p:sp>
      <p:sp>
        <p:nvSpPr>
          <p:cNvPr id="69" name="Text 69"/>
          <p:cNvSpPr txBox="1"/>
          <p:nvPr/>
        </p:nvSpPr>
        <p:spPr>
          <a:xfrm>
            <a:off x="4438650" y="400050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고정 → req 1 bit만 동기화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 확인 시점 data 안정 → 수신 측 직접 캡처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ack 회신 후 다음 data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bus 동기화 없음, word당 수 cycle 소요</a:t>
            </a:r>
            <a:endParaRPr lang="en-US" sz="1200" dirty="0"/>
          </a:p>
        </p:txBody>
      </p:sp>
      <p:cxnSp>
        <p:nvCxnSpPr>
          <p:cNvPr id="70" name="Line 70"/>
          <p:cNvCxnSpPr/>
          <p:nvPr/>
        </p:nvCxnSpPr>
        <p:spPr>
          <a:xfrm>
            <a:off x="9906000" y="1771650"/>
            <a:ext cx="0" cy="2038350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71" name="Shape 71"/>
          <p:cNvSpPr/>
          <p:nvPr/>
        </p:nvSpPr>
        <p:spPr>
          <a:xfrm>
            <a:off x="8286750" y="1905000"/>
            <a:ext cx="857250" cy="6096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2"/>
          <p:cNvSpPr txBox="1"/>
          <p:nvPr/>
        </p:nvSpPr>
        <p:spPr>
          <a:xfrm>
            <a:off x="8286750" y="1905000"/>
            <a:ext cx="85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</a:t>
            </a: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clk_A</a:t>
            </a:r>
            <a:endParaRPr lang="en-US" sz="1100" dirty="0"/>
          </a:p>
        </p:txBody>
      </p:sp>
      <p:sp>
        <p:nvSpPr>
          <p:cNvPr id="73" name="Shape 73"/>
          <p:cNvSpPr/>
          <p:nvPr/>
        </p:nvSpPr>
        <p:spPr>
          <a:xfrm>
            <a:off x="9429750" y="1905000"/>
            <a:ext cx="952500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9429750" y="1905000"/>
            <a:ext cx="95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Dual-port</a:t>
            </a: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RAM</a:t>
            </a:r>
            <a:endParaRPr lang="en-US" sz="1100" dirty="0"/>
          </a:p>
        </p:txBody>
      </p:sp>
      <p:sp>
        <p:nvSpPr>
          <p:cNvPr id="75" name="Shape 75"/>
          <p:cNvSpPr/>
          <p:nvPr/>
        </p:nvSpPr>
        <p:spPr>
          <a:xfrm>
            <a:off x="10668000" y="1905000"/>
            <a:ext cx="857250" cy="609600"/>
          </a:xfrm>
          <a:prstGeom prst="rect">
            <a:avLst/>
          </a:prstGeom>
          <a:solidFill>
            <a:srgbClr val="F0FDF4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6"/>
          <p:cNvSpPr txBox="1"/>
          <p:nvPr/>
        </p:nvSpPr>
        <p:spPr>
          <a:xfrm>
            <a:off x="10668000" y="1905000"/>
            <a:ext cx="85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</a:t>
            </a: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clk_B</a:t>
            </a:r>
            <a:endParaRPr lang="en-US" sz="1100" dirty="0"/>
          </a:p>
        </p:txBody>
      </p:sp>
      <p:cxnSp>
        <p:nvCxnSpPr>
          <p:cNvPr id="77" name="Line 77"/>
          <p:cNvCxnSpPr/>
          <p:nvPr/>
        </p:nvCxnSpPr>
        <p:spPr>
          <a:xfrm>
            <a:off x="9144000" y="2209800"/>
            <a:ext cx="285750" cy="0"/>
          </a:xfrm>
          <a:prstGeom prst="line">
            <a:avLst/>
          </a:prstGeom>
          <a:ln w="31750">
            <a:solidFill>
              <a:srgbClr val="0F172A"/>
            </a:solidFill>
            <a:prstDash val="solid"/>
            <a:tailEnd type="triangle"/>
          </a:ln>
        </p:spPr>
      </p:cxnSp>
      <p:cxnSp>
        <p:nvCxnSpPr>
          <p:cNvPr id="78" name="Line 78"/>
          <p:cNvCxnSpPr/>
          <p:nvPr/>
        </p:nvCxnSpPr>
        <p:spPr>
          <a:xfrm>
            <a:off x="10382250" y="2209800"/>
            <a:ext cx="285750" cy="0"/>
          </a:xfrm>
          <a:prstGeom prst="line">
            <a:avLst/>
          </a:prstGeom>
          <a:ln w="31750">
            <a:solidFill>
              <a:srgbClr val="0F172A"/>
            </a:solidFill>
            <a:prstDash val="solid"/>
            <a:tailEnd type="triangle"/>
          </a:ln>
        </p:spPr>
      </p:cxnSp>
      <p:sp>
        <p:nvSpPr>
          <p:cNvPr id="79" name="Path 79"/>
          <p:cNvSpPr/>
          <p:nvPr/>
        </p:nvSpPr>
        <p:spPr>
          <a:xfrm>
            <a:off x="8620125" y="2514600"/>
            <a:ext cx="1000125" cy="457200"/>
          </a:xfrm>
          <a:custGeom>
            <a:avLst/>
            <a:gdLst/>
            <a:ahLst/>
            <a:cxnLst/>
            <a:rect l="0" t="0" r="r" b="b"/>
            <a:pathLst>
              <a:path w="1000125" h="457200" fill="none">
                <a:moveTo>
                  <a:pt x="0" y="0"/>
                </a:moveTo>
                <a:lnTo>
                  <a:pt x="0" y="457200"/>
                </a:lnTo>
                <a:lnTo>
                  <a:pt x="1000125" y="457200"/>
                </a:lnTo>
              </a:path>
            </a:pathLst>
          </a:custGeom>
          <a:noFill/>
          <a:ln w="19050">
            <a:solidFill>
              <a:srgbClr val="0D94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80"/>
          <p:cNvSpPr/>
          <p:nvPr/>
        </p:nvSpPr>
        <p:spPr>
          <a:xfrm>
            <a:off x="9620250" y="2857500"/>
            <a:ext cx="571500" cy="228600"/>
          </a:xfrm>
          <a:prstGeom prst="rect">
            <a:avLst/>
          </a:prstGeom>
          <a:solidFill>
            <a:srgbClr val="CCFBF1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81"/>
          <p:cNvSpPr txBox="1"/>
          <p:nvPr/>
        </p:nvSpPr>
        <p:spPr>
          <a:xfrm>
            <a:off x="9620250" y="2857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2-FF</a:t>
            </a:r>
            <a:endParaRPr lang="en-US" sz="1000" dirty="0"/>
          </a:p>
        </p:txBody>
      </p:sp>
      <p:sp>
        <p:nvSpPr>
          <p:cNvPr id="82" name="Path 82"/>
          <p:cNvSpPr/>
          <p:nvPr/>
        </p:nvSpPr>
        <p:spPr>
          <a:xfrm>
            <a:off x="10191750" y="2514600"/>
            <a:ext cx="1000125" cy="457200"/>
          </a:xfrm>
          <a:custGeom>
            <a:avLst/>
            <a:gdLst/>
            <a:ahLst/>
            <a:cxnLst/>
            <a:rect l="0" t="0" r="r" b="b"/>
            <a:pathLst>
              <a:path w="1000125" h="457200" fill="none">
                <a:moveTo>
                  <a:pt x="0" y="457200"/>
                </a:moveTo>
                <a:lnTo>
                  <a:pt x="1000125" y="457200"/>
                </a:lnTo>
                <a:lnTo>
                  <a:pt x="1000125" y="0"/>
                </a:lnTo>
              </a:path>
            </a:pathLst>
          </a:custGeom>
          <a:noFill/>
          <a:ln w="19050">
            <a:solidFill>
              <a:srgbClr val="0D9488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3"/>
          <p:cNvSpPr txBox="1"/>
          <p:nvPr/>
        </p:nvSpPr>
        <p:spPr>
          <a:xfrm>
            <a:off x="8648700" y="3009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· Gray</a:t>
            </a:r>
            <a:endParaRPr lang="en-US" sz="1000" dirty="0"/>
          </a:p>
        </p:txBody>
      </p:sp>
      <p:sp>
        <p:nvSpPr>
          <p:cNvPr id="84" name="Path 84"/>
          <p:cNvSpPr/>
          <p:nvPr/>
        </p:nvSpPr>
        <p:spPr>
          <a:xfrm>
            <a:off x="10191750" y="2514600"/>
            <a:ext cx="809625" cy="971550"/>
          </a:xfrm>
          <a:custGeom>
            <a:avLst/>
            <a:gdLst/>
            <a:ahLst/>
            <a:cxnLst/>
            <a:rect l="0" t="0" r="r" b="b"/>
            <a:pathLst>
              <a:path w="809625" h="971550" fill="none">
                <a:moveTo>
                  <a:pt x="809625" y="0"/>
                </a:moveTo>
                <a:lnTo>
                  <a:pt x="809625" y="971550"/>
                </a:lnTo>
                <a:lnTo>
                  <a:pt x="0" y="971550"/>
                </a:lnTo>
              </a:path>
            </a:pathLst>
          </a:custGeom>
          <a:noFill/>
          <a:ln w="19050">
            <a:solidFill>
              <a:srgbClr val="0D94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5"/>
          <p:cNvSpPr/>
          <p:nvPr/>
        </p:nvSpPr>
        <p:spPr>
          <a:xfrm>
            <a:off x="9620250" y="3371850"/>
            <a:ext cx="571500" cy="228600"/>
          </a:xfrm>
          <a:prstGeom prst="rect">
            <a:avLst/>
          </a:prstGeom>
          <a:solidFill>
            <a:srgbClr val="CCFBF1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6"/>
          <p:cNvSpPr txBox="1"/>
          <p:nvPr/>
        </p:nvSpPr>
        <p:spPr>
          <a:xfrm>
            <a:off x="9620250" y="33718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2-FF</a:t>
            </a:r>
            <a:endParaRPr lang="en-US" sz="1000" dirty="0"/>
          </a:p>
        </p:txBody>
      </p:sp>
      <p:sp>
        <p:nvSpPr>
          <p:cNvPr id="87" name="Path 87"/>
          <p:cNvSpPr/>
          <p:nvPr/>
        </p:nvSpPr>
        <p:spPr>
          <a:xfrm>
            <a:off x="8810625" y="2514600"/>
            <a:ext cx="809625" cy="971550"/>
          </a:xfrm>
          <a:custGeom>
            <a:avLst/>
            <a:gdLst/>
            <a:ahLst/>
            <a:cxnLst/>
            <a:rect l="0" t="0" r="r" b="b"/>
            <a:pathLst>
              <a:path w="809625" h="971550" fill="none">
                <a:moveTo>
                  <a:pt x="809625" y="971550"/>
                </a:moveTo>
                <a:lnTo>
                  <a:pt x="0" y="9715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D9488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8"/>
          <p:cNvSpPr txBox="1"/>
          <p:nvPr/>
        </p:nvSpPr>
        <p:spPr>
          <a:xfrm>
            <a:off x="10229850" y="352425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rptr · Gray</a:t>
            </a:r>
            <a:endParaRPr lang="en-US" sz="1000" dirty="0"/>
          </a:p>
        </p:txBody>
      </p:sp>
      <p:sp>
        <p:nvSpPr>
          <p:cNvPr id="89" name="Text 89"/>
          <p:cNvSpPr txBox="1"/>
          <p:nvPr/>
        </p:nvSpPr>
        <p:spPr>
          <a:xfrm>
            <a:off x="8248650" y="400050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= dual-clock RAM 저장, 동기화 없음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pointer만 Gray 변환 후 2-FF 동기화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= 수신 측 판정, full = 송신 측 판정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data stream 전달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Glitch · 발생 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Unequal Path Delays Create a Glitch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59055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gl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24000"/>
            <a:ext cx="5334000" cy="43372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53200" y="1295400"/>
            <a:ext cx="5181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781800" y="14859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: 1 → 0, A = 0, C =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81800" y="19050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Short Path (n2): B 직접 → AND → 빠르게 0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Path (n1): B → inverter → AND → 늦게 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n1 · n2 둘 다 0인 구간 발생 → Y = 1 → 0 → 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폭 = 두 경로 delay 차이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81800" y="4476750"/>
            <a:ext cx="4724400" cy="1524000"/>
          </a:xfrm>
          <a:prstGeom prst="roundRect">
            <a:avLst>
              <a:gd name="adj" fmla="val 4800"/>
            </a:avLst>
          </a:prstGeom>
          <a:solidFill>
            <a:srgbClr val="FCE7F3"/>
          </a:solidFill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72300" y="462915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E18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위치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72300" y="49530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조합회로 출력 (입력 간 도착 시간 차이)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 출력 = 클럭 엣지에서만 변경 → Glitch 없음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61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Glitch · FF 필요 여부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 Outputs Only Where Glitches Matter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573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 vs Sequential Output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29865"/>
              </p:ext>
            </p:extLst>
          </p:nvPr>
        </p:nvGraphicFramePr>
        <p:xfrm>
          <a:off x="457200" y="1562100"/>
          <a:ext cx="11277600" cy="26289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 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SL 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전파 delay만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 cycle 지연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 · Cost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FF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FF 수 증가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 · 발열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클럭 부하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FF 클럭 toggle 전력 증가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Timing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Critical Path 길어짐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분할 → 안정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438650"/>
            <a:ext cx="5562600" cy="1809750"/>
          </a:xfrm>
          <a:prstGeom prst="roundRect">
            <a:avLst>
              <a:gd name="adj" fmla="val 4042"/>
            </a:avLst>
          </a:prstGeom>
          <a:solidFill>
            <a:srgbClr val="E8F5E9"/>
          </a:solidFill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85800" y="4591050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 필요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4914900"/>
            <a:ext cx="5143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clock · enable · async reset으로 쓰는 신호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클럭 도메인 · 외부 칩 입력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Path 분할 필요 구간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4438650"/>
            <a:ext cx="5562600" cy="1809750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0"/>
          <p:cNvSpPr/>
          <p:nvPr/>
        </p:nvSpPr>
        <p:spPr>
          <a:xfrm>
            <a:off x="6400800" y="4591050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 불필요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4914900"/>
            <a:ext cx="5143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클럭 FF가 엣지에서만 읽는 내부 신호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엣지 Setup 전 안정 → Glitch 무관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LED처럼 ns 단위 Glitch가 의미 없는 출력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61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Moore vs Mealy · 개념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Output Depends on State Only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5562600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7700" y="14287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0550" y="22669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6800" y="2381250"/>
            <a:ext cx="3429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09700" y="2095500"/>
            <a:ext cx="1238250" cy="571500"/>
          </a:xfrm>
          <a:prstGeom prst="rect">
            <a:avLst/>
          </a:prstGeom>
          <a:solidFill>
            <a:srgbClr val="E3F0FD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09700" y="2095500"/>
            <a:ext cx="123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7950" y="2381250"/>
            <a:ext cx="3810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28950" y="2095500"/>
            <a:ext cx="1047750" cy="571500"/>
          </a:xfrm>
          <a:prstGeom prst="rect">
            <a:avLst/>
          </a:prstGeom>
          <a:solidFill>
            <a:srgbClr val="F1F5F9"/>
          </a:solidFill>
          <a:ln w="158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028950" y="2095500"/>
            <a:ext cx="104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76700" y="2381250"/>
            <a:ext cx="3810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457700" y="2095500"/>
            <a:ext cx="1047750" cy="5715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57700" y="2095500"/>
            <a:ext cx="104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05450" y="2381250"/>
            <a:ext cx="32385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219700" y="26860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67200" y="2381250"/>
            <a:ext cx="0" cy="66675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028825" y="3048000"/>
            <a:ext cx="223837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28825" y="2667000"/>
            <a:ext cx="0" cy="3810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7700" y="32385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f(state)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295400"/>
            <a:ext cx="5562600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62700" y="14287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5550" y="22669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81800" y="2381250"/>
            <a:ext cx="3429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24700" y="2095500"/>
            <a:ext cx="1238250" cy="571500"/>
          </a:xfrm>
          <a:prstGeom prst="rect">
            <a:avLst/>
          </a:prstGeom>
          <a:solidFill>
            <a:srgbClr val="E3F0FD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124700" y="2095500"/>
            <a:ext cx="123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62950" y="2381250"/>
            <a:ext cx="3810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743950" y="2095500"/>
            <a:ext cx="1047750" cy="571500"/>
          </a:xfrm>
          <a:prstGeom prst="rect">
            <a:avLst/>
          </a:prstGeom>
          <a:solidFill>
            <a:srgbClr val="F1F5F9"/>
          </a:solidFill>
          <a:ln w="158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743950" y="2095500"/>
            <a:ext cx="104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91700" y="2381250"/>
            <a:ext cx="3810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172700" y="2095500"/>
            <a:ext cx="1047750" cy="5715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172700" y="2095500"/>
            <a:ext cx="104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220450" y="2381250"/>
            <a:ext cx="32385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934700" y="26860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82200" y="2381250"/>
            <a:ext cx="0" cy="66675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743825" y="3048000"/>
            <a:ext cx="223837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743825" y="2667000"/>
            <a:ext cx="0" cy="3810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953250" y="1714500"/>
            <a:ext cx="0" cy="66675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953250" y="1714500"/>
            <a:ext cx="3743325" cy="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0696575" y="1714500"/>
            <a:ext cx="0" cy="381000"/>
          </a:xfrm>
          <a:prstGeom prst="line">
            <a:avLst/>
          </a:prstGeom>
          <a:noFill/>
          <a:ln w="22225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553450" y="14668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 → output 직결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62700" y="32385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f(state, input)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8100"/>
          <a:ext cx="11277600" cy="18669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Moore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Mealy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결정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state만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state + 현재 input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변경 시점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클럭 엣지 이후 (state 변경 시)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input 변경 즉시 (같은 cycle)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지연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clock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clock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input Glitch · bounce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출력에 전달 안 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출력에 그대로 전달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 상태 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기능 기준 많거나 같음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적거나 같음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Timing path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register → output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input → output 조합 경로 추가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Text 45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61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Moore vs Mealy · 개념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Reacts Instantly, Moore Waits One Clock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3771900"/>
          </a:xfrm>
          <a:prstGeom prst="roundRect">
            <a:avLst>
              <a:gd name="adj" fmla="val 19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666875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33625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i_sw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527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195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출력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2862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 출력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42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577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912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5247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8582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191750" y="1524000"/>
            <a:ext cx="0" cy="33337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1907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8575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8575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5242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5242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1910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1910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577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577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5245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5245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1912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1912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8580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8580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5247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5247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1915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1915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8582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8582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5250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95250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19175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191750" y="166687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0858500" y="166687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858500" y="1952625"/>
            <a:ext cx="6667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190750" y="2619375"/>
            <a:ext cx="18669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57650" y="233362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057650" y="2333625"/>
            <a:ext cx="273367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791325" y="233362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791325" y="2619375"/>
            <a:ext cx="20002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91350" y="233362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991350" y="2333625"/>
            <a:ext cx="24003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391650" y="2333625"/>
            <a:ext cx="0" cy="2857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391650" y="2619375"/>
            <a:ext cx="21336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2190750" y="2971800"/>
            <a:ext cx="2667000" cy="2667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190750" y="297180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57750" y="2971800"/>
            <a:ext cx="5334000" cy="2667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857750" y="29718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191750" y="2971800"/>
            <a:ext cx="1333500" cy="2667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0191750" y="29718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190750" y="3905250"/>
            <a:ext cx="2733675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924425" y="3619500"/>
            <a:ext cx="0" cy="28575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924425" y="3619500"/>
            <a:ext cx="533400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0258425" y="3619500"/>
            <a:ext cx="0" cy="28575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258425" y="3905250"/>
            <a:ext cx="1266825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190750" y="4572000"/>
            <a:ext cx="1933575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124325" y="4286250"/>
            <a:ext cx="0" cy="28575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124325" y="4286250"/>
            <a:ext cx="2733675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858000" y="4286250"/>
            <a:ext cx="0" cy="28575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858000" y="4572000"/>
            <a:ext cx="200025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058025" y="4286250"/>
            <a:ext cx="0" cy="28575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058025" y="4286250"/>
            <a:ext cx="2400300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9458325" y="4286250"/>
            <a:ext cx="0" cy="28575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9458325" y="4572000"/>
            <a:ext cx="2066925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191375" y="401955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bounce 그대로 통과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191375" y="241935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스위치 bounce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057775" y="36576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엣지에서만 변경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0325100" y="39243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clock 늦음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124325" y="4762500"/>
            <a:ext cx="800100" cy="0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3790950" y="4800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차이 = 1 clock 이내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57200" y="5200650"/>
            <a:ext cx="5562600" cy="1143000"/>
          </a:xfrm>
          <a:prstGeom prst="roundRect">
            <a:avLst>
              <a:gd name="adj" fmla="val 6400"/>
            </a:avLst>
          </a:prstGeom>
          <a:solidFill>
            <a:srgbClr val="E8F5E9"/>
          </a:solidFill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685800" y="5295900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85800" y="558165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클럭 엣지에서만 출력 변경, 엣지 사이 input 변화 무시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input 대비 최대 1 clock 지연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172200" y="5200650"/>
            <a:ext cx="5562600" cy="1143000"/>
          </a:xfrm>
          <a:prstGeom prst="roundRect">
            <a:avLst>
              <a:gd name="adj" fmla="val 6400"/>
            </a:avLst>
          </a:prstGeom>
          <a:solidFill>
            <a:srgbClr val="FDECEC"/>
          </a:solidFill>
          <a:ln w="9525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6400800" y="5295900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Mealy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400800" y="5581650"/>
            <a:ext cx="514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 변경 즉시 출력 반영, 지연 없음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input의 Glitch · bounce가 출력까지 전달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61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FSM_S3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States Step the LEDs by Switch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81915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019550" y="1924050"/>
            <a:ext cx="1104900" cy="1104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19550" y="2089785"/>
            <a:ext cx="1104900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85285" y="2495550"/>
            <a:ext cx="7734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257675" y="260985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48175" y="260985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38675" y="260985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77050" y="1924050"/>
            <a:ext cx="1104900" cy="1104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77050" y="2089785"/>
            <a:ext cx="1104900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2785" y="2495550"/>
            <a:ext cx="77343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15175" y="260985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05675" y="260985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496175" y="260985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77050" y="4495800"/>
            <a:ext cx="1104900" cy="1104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77050" y="4661535"/>
            <a:ext cx="1104900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42785" y="5067300"/>
            <a:ext cx="77343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15175" y="518160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305675" y="518160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96175" y="518160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019550" y="4495800"/>
            <a:ext cx="1104900" cy="1104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019550" y="4661535"/>
            <a:ext cx="1104900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185285" y="5067300"/>
            <a:ext cx="773430" cy="0"/>
          </a:xfrm>
          <a:prstGeom prst="line">
            <a:avLst/>
          </a:prstGeom>
          <a:noFill/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57675" y="518160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448175" y="518160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38675" y="5181600"/>
            <a:ext cx="133350" cy="1333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52550" y="4495800"/>
            <a:ext cx="1104900" cy="1104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352550" y="4661535"/>
            <a:ext cx="1104900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18285" y="5067300"/>
            <a:ext cx="77343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90675" y="518160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781175" y="518160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971675" y="5181600"/>
            <a:ext cx="133350" cy="13335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124450" y="2476500"/>
            <a:ext cx="1752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619750" y="2219325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29500" y="3028950"/>
            <a:ext cx="0" cy="146685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353300" y="36576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 flipH="1">
            <a:off x="5124450" y="5048250"/>
            <a:ext cx="1752600" cy="0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619750" y="5114925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V="1">
            <a:off x="4400550" y="3009900"/>
            <a:ext cx="0" cy="150495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714750" y="36576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 flipV="1">
            <a:off x="4972050" y="2857500"/>
            <a:ext cx="2057400" cy="180975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810250" y="3800475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 flipH="1">
            <a:off x="2457450" y="5048250"/>
            <a:ext cx="1562100" cy="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857500" y="4791075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 flipV="1">
            <a:off x="2247900" y="2762250"/>
            <a:ext cx="1847850" cy="184785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2476500" y="3419475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0" y="1524000"/>
            <a:ext cx="0" cy="40005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667250" y="15049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" y="14859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: o_led[2] [1] [0]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839200" y="12573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조건</a:t>
            </a:r>
            <a:endParaRPr lang="en-US" sz="15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39200" y="1562100"/>
          <a:ext cx="2895600" cy="228600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HOLD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o_led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≠ 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≠ 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≠ 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333E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B2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≠ 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Text 54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61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Block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Decode Reads Only the State Register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5000" y="1428750"/>
            <a:ext cx="8382000" cy="4191000"/>
          </a:xfrm>
          <a:prstGeom prst="rect">
            <a:avLst/>
          </a:prstGeom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9300" y="1485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FSM_S3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3367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4350" y="27336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i_sw[1:0]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5292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4350" y="435292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2917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4350" y="48291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72750" y="3019425"/>
            <a:ext cx="1238250" cy="247650"/>
          </a:xfrm>
          <a:prstGeom prst="homePlate">
            <a:avLst/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629900" y="301942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o_led[2:0]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57500" y="2381250"/>
            <a:ext cx="2000250" cy="1524000"/>
          </a:xfrm>
          <a:prstGeom prst="roundRect">
            <a:avLst>
              <a:gd name="adj" fmla="val 3600"/>
            </a:avLst>
          </a:prstGeom>
          <a:solidFill>
            <a:srgbClr val="ECFE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857500" y="2457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 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57500" y="26670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00350" y="280035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952750" y="2762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00350" y="3467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952750" y="3429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62375" y="3048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n_state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571750"/>
            <a:ext cx="1809750" cy="2762250"/>
          </a:xfrm>
          <a:prstGeom prst="roundRect">
            <a:avLst>
              <a:gd name="adj" fmla="val 3032"/>
            </a:avLst>
          </a:prstGeom>
          <a:solidFill>
            <a:srgbClr val="FEF2F2"/>
          </a:solidFill>
          <a:ln w="222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715000" y="26479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state_reg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5750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7850" y="3086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10250" y="30480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57850" y="4419600"/>
            <a:ext cx="114300" cy="1143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810250" y="43815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57850" y="4895850"/>
            <a:ext cx="114300" cy="1143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810250" y="485775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676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24625" y="30480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82000" y="2571750"/>
            <a:ext cx="1619250" cy="1143000"/>
          </a:xfrm>
          <a:prstGeom prst="roundRect">
            <a:avLst>
              <a:gd name="adj" fmla="val 4800"/>
            </a:avLst>
          </a:prstGeom>
          <a:solidFill>
            <a:srgbClr val="ECFE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382000" y="26479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 Decode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82000" y="285750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4850" y="3086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477250" y="3048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441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096375" y="3048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95450" y="2857500"/>
            <a:ext cx="110490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14900" y="3143250"/>
            <a:ext cx="7429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695450" y="4476750"/>
            <a:ext cx="39624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695450" y="4953000"/>
            <a:ext cx="39624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581900" y="3143250"/>
            <a:ext cx="7429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0058400" y="3143250"/>
            <a:ext cx="5143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953375" y="3143250"/>
            <a:ext cx="0" cy="104775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 flipH="1">
            <a:off x="2476500" y="4191000"/>
            <a:ext cx="5476875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 flipV="1">
            <a:off x="2476500" y="3524250"/>
            <a:ext cx="0" cy="66675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476500" y="3524250"/>
            <a:ext cx="3238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953000" y="29146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n_state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20000" y="29146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095500" y="5829300"/>
            <a:ext cx="209550" cy="15240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381250" y="58102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000500" y="5829300"/>
            <a:ext cx="209550" cy="152400"/>
          </a:xfrm>
          <a:prstGeom prst="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286250" y="58102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61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TB 구조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Compares o_led with a Golden Model Every Cycle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685800" y="1600200"/>
            <a:ext cx="1905000" cy="7239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685800" y="16954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Driver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19812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$random · async_reset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3162300" y="1600200"/>
            <a:ext cx="1905000" cy="72390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3162300" y="16954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</a:t>
            </a:r>
            <a:endParaRPr lang="en-US" sz="1500" dirty="0"/>
          </a:p>
        </p:txBody>
      </p:sp>
      <p:sp>
        <p:nvSpPr>
          <p:cNvPr id="14" name="Text 14"/>
          <p:cNvSpPr txBox="1"/>
          <p:nvPr/>
        </p:nvSpPr>
        <p:spPr>
          <a:xfrm>
            <a:off x="3162300" y="19812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FSM_S3</a:t>
            </a:r>
            <a:endParaRPr lang="en-US" sz="1100" dirty="0"/>
          </a:p>
        </p:txBody>
      </p:sp>
      <p:sp>
        <p:nvSpPr>
          <p:cNvPr id="15" name="Shape 15"/>
          <p:cNvSpPr/>
          <p:nvPr/>
        </p:nvSpPr>
        <p:spPr>
          <a:xfrm>
            <a:off x="7620000" y="1600200"/>
            <a:ext cx="1905000" cy="723900"/>
          </a:xfrm>
          <a:prstGeom prst="rect">
            <a:avLst/>
          </a:prstGeom>
          <a:solidFill>
            <a:srgbClr val="FDECEC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7620000" y="16954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Checker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7620000" y="19812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비교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10001250" y="1600200"/>
            <a:ext cx="1504950" cy="7239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10001250" y="1695450"/>
            <a:ext cx="150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Report</a:t>
            </a:r>
            <a:endParaRPr lang="en-US" sz="1500" dirty="0"/>
          </a:p>
        </p:txBody>
      </p:sp>
      <p:sp>
        <p:nvSpPr>
          <p:cNvPr id="20" name="Text 20"/>
          <p:cNvSpPr txBox="1"/>
          <p:nvPr/>
        </p:nvSpPr>
        <p:spPr>
          <a:xfrm>
            <a:off x="10001250" y="1981200"/>
            <a:ext cx="150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표 · PASS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5391150" y="2590800"/>
            <a:ext cx="1905000" cy="7239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5391150" y="26860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Golden Model</a:t>
            </a:r>
            <a:endParaRPr lang="en-US" sz="1500" dirty="0"/>
          </a:p>
        </p:txBody>
      </p:sp>
      <p:sp>
        <p:nvSpPr>
          <p:cNvPr id="23" name="Text 23"/>
          <p:cNvSpPr txBox="1"/>
          <p:nvPr/>
        </p:nvSpPr>
        <p:spPr>
          <a:xfrm>
            <a:off x="5391150" y="29718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n_state · g_code</a:t>
            </a:r>
            <a:endParaRPr lang="en-US" sz="1100" dirty="0"/>
          </a:p>
        </p:txBody>
      </p:sp>
      <p:cxnSp>
        <p:nvCxnSpPr>
          <p:cNvPr id="24" name="Line 24"/>
          <p:cNvCxnSpPr/>
          <p:nvPr/>
        </p:nvCxnSpPr>
        <p:spPr>
          <a:xfrm>
            <a:off x="2590800" y="1962150"/>
            <a:ext cx="571500" cy="0"/>
          </a:xfrm>
          <a:prstGeom prst="line">
            <a:avLst/>
          </a:prstGeom>
          <a:ln w="19050">
            <a:solidFill>
              <a:srgbClr val="334155"/>
            </a:solidFill>
            <a:prstDash val="solid"/>
            <a:tailEnd type="triangle"/>
          </a:ln>
        </p:spPr>
      </p:cxnSp>
      <p:sp>
        <p:nvSpPr>
          <p:cNvPr id="25" name="Text 25"/>
          <p:cNvSpPr txBox="1"/>
          <p:nvPr/>
        </p:nvSpPr>
        <p:spPr>
          <a:xfrm>
            <a:off x="2590800" y="17526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100" dirty="0"/>
          </a:p>
        </p:txBody>
      </p:sp>
      <p:cxnSp>
        <p:nvCxnSpPr>
          <p:cNvPr id="26" name="Line 26"/>
          <p:cNvCxnSpPr/>
          <p:nvPr/>
        </p:nvCxnSpPr>
        <p:spPr>
          <a:xfrm>
            <a:off x="5067300" y="1962150"/>
            <a:ext cx="2552700" cy="0"/>
          </a:xfrm>
          <a:prstGeom prst="line">
            <a:avLst/>
          </a:prstGeom>
          <a:ln w="19050">
            <a:solidFill>
              <a:srgbClr val="334155"/>
            </a:solidFill>
            <a:prstDash val="solid"/>
            <a:tailEnd type="triangle"/>
          </a:ln>
        </p:spPr>
      </p:cxnSp>
      <p:sp>
        <p:nvSpPr>
          <p:cNvPr id="27" name="Text 27"/>
          <p:cNvSpPr txBox="1"/>
          <p:nvPr/>
        </p:nvSpPr>
        <p:spPr>
          <a:xfrm>
            <a:off x="5905500" y="17526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</a:t>
            </a:r>
            <a:endParaRPr lang="en-US" sz="1100" dirty="0"/>
          </a:p>
        </p:txBody>
      </p:sp>
      <p:cxnSp>
        <p:nvCxnSpPr>
          <p:cNvPr id="28" name="Line 28"/>
          <p:cNvCxnSpPr/>
          <p:nvPr/>
        </p:nvCxnSpPr>
        <p:spPr>
          <a:xfrm>
            <a:off x="9525000" y="1962150"/>
            <a:ext cx="476250" cy="0"/>
          </a:xfrm>
          <a:prstGeom prst="line">
            <a:avLst/>
          </a:prstGeom>
          <a:ln w="19050">
            <a:solidFill>
              <a:srgbClr val="334155"/>
            </a:solidFill>
            <a:prstDash val="solid"/>
            <a:tailEnd type="triangle"/>
          </a:ln>
        </p:spPr>
      </p:cxnSp>
      <p:sp>
        <p:nvSpPr>
          <p:cNvPr id="29" name="Path 29"/>
          <p:cNvSpPr/>
          <p:nvPr/>
        </p:nvSpPr>
        <p:spPr>
          <a:xfrm>
            <a:off x="1638300" y="2324100"/>
            <a:ext cx="3752850" cy="628650"/>
          </a:xfrm>
          <a:custGeom>
            <a:avLst/>
            <a:gdLst/>
            <a:ahLst/>
            <a:cxnLst/>
            <a:rect l="0" t="0" r="r" b="b"/>
            <a:pathLst>
              <a:path w="3752850" h="628650" fill="none">
                <a:moveTo>
                  <a:pt x="0" y="0"/>
                </a:moveTo>
                <a:lnTo>
                  <a:pt x="0" y="628650"/>
                </a:lnTo>
                <a:lnTo>
                  <a:pt x="3752850" y="628650"/>
                </a:lnTo>
              </a:path>
            </a:pathLst>
          </a:custGeom>
          <a:noFill/>
          <a:ln w="19050">
            <a:solidFill>
              <a:srgbClr val="64748B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2476500" y="27432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 · i_reset · i_sw</a:t>
            </a:r>
            <a:endParaRPr lang="en-US" sz="1100" dirty="0"/>
          </a:p>
        </p:txBody>
      </p:sp>
      <p:sp>
        <p:nvSpPr>
          <p:cNvPr id="31" name="Path 31"/>
          <p:cNvSpPr/>
          <p:nvPr/>
        </p:nvSpPr>
        <p:spPr>
          <a:xfrm>
            <a:off x="7296150" y="2324100"/>
            <a:ext cx="1276350" cy="628650"/>
          </a:xfrm>
          <a:custGeom>
            <a:avLst/>
            <a:gdLst/>
            <a:ahLst/>
            <a:cxnLst/>
            <a:rect l="0" t="0" r="r" b="b"/>
            <a:pathLst>
              <a:path w="1276350" h="628650" fill="none">
                <a:moveTo>
                  <a:pt x="0" y="628650"/>
                </a:moveTo>
                <a:lnTo>
                  <a:pt x="1276350" y="628650"/>
                </a:lnTo>
                <a:lnTo>
                  <a:pt x="1276350" y="0"/>
                </a:lnTo>
              </a:path>
            </a:pathLst>
          </a:custGeom>
          <a:noFill/>
          <a:ln w="19050">
            <a:solidFill>
              <a:srgbClr val="64748B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7410450" y="2743200"/>
            <a:ext cx="104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o_led</a:t>
            </a:r>
            <a:endParaRPr lang="en-US" sz="1100" dirty="0"/>
          </a:p>
        </p:txBody>
      </p:sp>
      <p:sp>
        <p:nvSpPr>
          <p:cNvPr id="33" name="Shape 33"/>
          <p:cNvSpPr/>
          <p:nvPr/>
        </p:nvSpPr>
        <p:spPr>
          <a:xfrm>
            <a:off x="457200" y="3695700"/>
            <a:ext cx="27051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4"/>
          <p:cNvSpPr txBox="1"/>
          <p:nvPr/>
        </p:nvSpPr>
        <p:spPr>
          <a:xfrm>
            <a:off x="628650" y="3848100"/>
            <a:ext cx="2381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Driver</a:t>
            </a:r>
            <a:endParaRPr lang="en-US" sz="1500" dirty="0"/>
          </a:p>
        </p:txBody>
      </p:sp>
      <p:sp>
        <p:nvSpPr>
          <p:cNvPr id="35" name="Text 35"/>
          <p:cNvSpPr txBox="1"/>
          <p:nvPr/>
        </p:nvSpPr>
        <p:spPr>
          <a:xfrm>
            <a:off x="628650" y="4210050"/>
            <a:ext cx="2381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+ 1 ns에 i_sw 인가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$random 하위 2 bit → 00 · 01 · 10 · 11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시 async_reset 1회 → S0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3314700" y="3695700"/>
            <a:ext cx="27051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3486150" y="3848100"/>
            <a:ext cx="2381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Golden Model</a:t>
            </a:r>
            <a:endParaRPr lang="en-US" sz="1500" dirty="0"/>
          </a:p>
        </p:txBody>
      </p:sp>
      <p:sp>
        <p:nvSpPr>
          <p:cNvPr id="38" name="Text 38"/>
          <p:cNvSpPr txBox="1"/>
          <p:nvPr/>
        </p:nvSpPr>
        <p:spPr>
          <a:xfrm>
            <a:off x="3486150" y="4210050"/>
            <a:ext cx="2381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전용 integer state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n_state function = 다음 state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g_code function = 기대 o_led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DUT와 같은 posedge · async reset으로 갱신</a:t>
            </a:r>
            <a:endParaRPr lang="en-US" sz="1200" dirty="0"/>
          </a:p>
        </p:txBody>
      </p:sp>
      <p:sp>
        <p:nvSpPr>
          <p:cNvPr id="39" name="Shape 39"/>
          <p:cNvSpPr/>
          <p:nvPr/>
        </p:nvSpPr>
        <p:spPr>
          <a:xfrm>
            <a:off x="6172200" y="3695700"/>
            <a:ext cx="27051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6343650" y="3848100"/>
            <a:ext cx="2381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Checker</a:t>
            </a:r>
            <a:endParaRPr lang="en-US" sz="1500" dirty="0"/>
          </a:p>
        </p:txBody>
      </p:sp>
      <p:sp>
        <p:nvSpPr>
          <p:cNvPr id="41" name="Text 41"/>
          <p:cNvSpPr txBox="1"/>
          <p:nvPr/>
        </p:nvSpPr>
        <p:spPr>
          <a:xfrm>
            <a:off x="6343650" y="4210050"/>
            <a:ext cx="2381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negedge, i_reset = 0 구간만 비교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o_led !== g_code(state) → err_c1 + 1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· sw · 기대값 · 실제값 출력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9029700" y="3695700"/>
            <a:ext cx="270510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9201150" y="3848100"/>
            <a:ext cx="2381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Report</a:t>
            </a:r>
            <a:endParaRPr lang="en-US" sz="1500" dirty="0"/>
          </a:p>
        </p:txBody>
      </p:sp>
      <p:sp>
        <p:nvSpPr>
          <p:cNvPr id="44" name="Text 44"/>
          <p:cNvSpPr txBox="1"/>
          <p:nvPr/>
        </p:nvSpPr>
        <p:spPr>
          <a:xfrm>
            <a:off x="9201150" y="4210050"/>
            <a:ext cx="2381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cycle 10000 도달 시 종료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coverage 표 (state × i_sw)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err_c1 = 0 → PASS 출력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Golden Model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Model Keeps Its Own State and Output Table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68199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4478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vs Golden Model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85800" y="1828800"/>
            <a:ext cx="133350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1"/>
          <p:cNvSpPr txBox="1"/>
          <p:nvPr/>
        </p:nvSpPr>
        <p:spPr>
          <a:xfrm>
            <a:off x="742950" y="1828800"/>
            <a:ext cx="121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2019300" y="1828800"/>
            <a:ext cx="251460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2076450" y="1828800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· FSM_S3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4533900" y="1828800"/>
            <a:ext cx="251460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4591050" y="1828800"/>
            <a:ext cx="240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· tb_FSM_S3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685800" y="220980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781050" y="2209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변수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2019300" y="22098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2114550" y="22098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state_t enum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4533900" y="22098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4629150" y="22098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integer state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685800" y="280035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3"/>
          <p:cNvSpPr txBox="1"/>
          <p:nvPr/>
        </p:nvSpPr>
        <p:spPr>
          <a:xfrm>
            <a:off x="781050" y="280035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번호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2019300" y="28003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2114550" y="28003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enum S0 ~ S4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4533900" y="28003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4629150" y="28003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localparam S0 ~ S4 = 0 ~ 4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685800" y="339090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 txBox="1"/>
          <p:nvPr/>
        </p:nvSpPr>
        <p:spPr>
          <a:xfrm>
            <a:off x="781050" y="33909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2019300" y="33909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1"/>
          <p:cNvSpPr txBox="1"/>
          <p:nvPr/>
        </p:nvSpPr>
        <p:spPr>
          <a:xfrm>
            <a:off x="2114550" y="33909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always @(*) · case + if-else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4533900" y="33909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3"/>
          <p:cNvSpPr txBox="1"/>
          <p:nvPr/>
        </p:nvSpPr>
        <p:spPr>
          <a:xfrm>
            <a:off x="4629150" y="33909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n_state · 삼항 연산</a:t>
            </a:r>
            <a:endParaRPr lang="en-US" sz="1200" dirty="0"/>
          </a:p>
        </p:txBody>
      </p:sp>
      <p:sp>
        <p:nvSpPr>
          <p:cNvPr id="34" name="Shape 34"/>
          <p:cNvSpPr/>
          <p:nvPr/>
        </p:nvSpPr>
        <p:spPr>
          <a:xfrm>
            <a:off x="685800" y="398145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781050" y="398145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미사용 code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2019300" y="39814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2114550" y="39814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→ n_state = state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4533900" y="39814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4629150" y="39814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→ S0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685800" y="457200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781050" y="45720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2019300" y="45720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2114550" y="45720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always @(*) · case → o_led</a:t>
            </a:r>
            <a:endParaRPr lang="en-US" sz="1200" dirty="0"/>
          </a:p>
        </p:txBody>
      </p:sp>
      <p:sp>
        <p:nvSpPr>
          <p:cNvPr id="44" name="Shape 44"/>
          <p:cNvSpPr/>
          <p:nvPr/>
        </p:nvSpPr>
        <p:spPr>
          <a:xfrm>
            <a:off x="4533900" y="457200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4629150" y="45720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g_code(state)</a:t>
            </a:r>
            <a:endParaRPr lang="en-US" sz="1200" dirty="0"/>
          </a:p>
        </p:txBody>
      </p:sp>
      <p:sp>
        <p:nvSpPr>
          <p:cNvPr id="46" name="Shape 46"/>
          <p:cNvSpPr/>
          <p:nvPr/>
        </p:nvSpPr>
        <p:spPr>
          <a:xfrm>
            <a:off x="685800" y="5162550"/>
            <a:ext cx="1333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781050" y="516255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시점</a:t>
            </a:r>
            <a:endParaRPr lang="en-US" sz="1200" dirty="0"/>
          </a:p>
        </p:txBody>
      </p:sp>
      <p:sp>
        <p:nvSpPr>
          <p:cNvPr id="48" name="Shape 48"/>
          <p:cNvSpPr/>
          <p:nvPr/>
        </p:nvSpPr>
        <p:spPr>
          <a:xfrm>
            <a:off x="2019300" y="51625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2114550" y="51625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i_clk · posedge i_reset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4533900" y="5162550"/>
            <a:ext cx="2514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4629150" y="516255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엣지 · 동일 reset</a:t>
            </a:r>
            <a:endParaRPr lang="en-US" sz="1200" dirty="0"/>
          </a:p>
        </p:txBody>
      </p:sp>
      <p:sp>
        <p:nvSpPr>
          <p:cNvPr id="52" name="Shape 52"/>
          <p:cNvSpPr/>
          <p:nvPr/>
        </p:nvSpPr>
        <p:spPr>
          <a:xfrm>
            <a:off x="7429500" y="1295400"/>
            <a:ext cx="4305300" cy="4953000"/>
          </a:xfrm>
          <a:prstGeom prst="roundRect">
            <a:avLst>
              <a:gd name="adj" fmla="val 1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7658100" y="14478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 구조</a:t>
            </a:r>
            <a:endParaRPr lang="en-US" sz="1500" dirty="0"/>
          </a:p>
        </p:txBody>
      </p:sp>
      <p:sp>
        <p:nvSpPr>
          <p:cNvPr id="54" name="Shape 54"/>
          <p:cNvSpPr/>
          <p:nvPr/>
        </p:nvSpPr>
        <p:spPr>
          <a:xfrm>
            <a:off x="7658100" y="1847850"/>
            <a:ext cx="38481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5"/>
          <p:cNvSpPr txBox="1"/>
          <p:nvPr/>
        </p:nvSpPr>
        <p:spPr>
          <a:xfrm>
            <a:off x="7658100" y="1847850"/>
            <a:ext cx="384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 · i_reset · i_sw</a:t>
            </a:r>
            <a:endParaRPr lang="en-US" sz="1200" dirty="0"/>
          </a:p>
        </p:txBody>
      </p:sp>
      <p:cxnSp>
        <p:nvCxnSpPr>
          <p:cNvPr id="56" name="Line 56"/>
          <p:cNvCxnSpPr/>
          <p:nvPr/>
        </p:nvCxnSpPr>
        <p:spPr>
          <a:xfrm>
            <a:off x="8553450" y="2190750"/>
            <a:ext cx="0" cy="400050"/>
          </a:xfrm>
          <a:prstGeom prst="line">
            <a:avLst/>
          </a:prstGeom>
          <a:ln w="19050">
            <a:solidFill>
              <a:srgbClr val="64748B"/>
            </a:solidFill>
            <a:prstDash val="solid"/>
            <a:tailEnd type="triangle"/>
          </a:ln>
        </p:spPr>
      </p:cxnSp>
      <p:cxnSp>
        <p:nvCxnSpPr>
          <p:cNvPr id="57" name="Line 57"/>
          <p:cNvCxnSpPr/>
          <p:nvPr/>
        </p:nvCxnSpPr>
        <p:spPr>
          <a:xfrm>
            <a:off x="10610850" y="2190750"/>
            <a:ext cx="0" cy="400050"/>
          </a:xfrm>
          <a:prstGeom prst="line">
            <a:avLst/>
          </a:prstGeom>
          <a:ln w="19050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58" name="Shape 58"/>
          <p:cNvSpPr/>
          <p:nvPr/>
        </p:nvSpPr>
        <p:spPr>
          <a:xfrm>
            <a:off x="7696200" y="2590800"/>
            <a:ext cx="1714500" cy="1066800"/>
          </a:xfrm>
          <a:prstGeom prst="rect">
            <a:avLst/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9"/>
          <p:cNvSpPr txBox="1"/>
          <p:nvPr/>
        </p:nvSpPr>
        <p:spPr>
          <a:xfrm>
            <a:off x="7696200" y="268605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</a:t>
            </a:r>
            <a:endParaRPr lang="en-US" sz="1500" dirty="0"/>
          </a:p>
        </p:txBody>
      </p:sp>
      <p:sp>
        <p:nvSpPr>
          <p:cNvPr id="60" name="Shape 60"/>
          <p:cNvSpPr/>
          <p:nvPr/>
        </p:nvSpPr>
        <p:spPr>
          <a:xfrm>
            <a:off x="7886700" y="306705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7886700" y="30670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(enum)</a:t>
            </a:r>
            <a:endParaRPr lang="en-US" sz="1200" dirty="0"/>
          </a:p>
        </p:txBody>
      </p:sp>
      <p:sp>
        <p:nvSpPr>
          <p:cNvPr id="62" name="Shape 62"/>
          <p:cNvSpPr/>
          <p:nvPr/>
        </p:nvSpPr>
        <p:spPr>
          <a:xfrm>
            <a:off x="9753600" y="2590800"/>
            <a:ext cx="1714500" cy="10668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3"/>
          <p:cNvSpPr txBox="1"/>
          <p:nvPr/>
        </p:nvSpPr>
        <p:spPr>
          <a:xfrm>
            <a:off x="9753600" y="268605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</a:t>
            </a:r>
            <a:endParaRPr lang="en-US" sz="1500" dirty="0"/>
          </a:p>
        </p:txBody>
      </p:sp>
      <p:sp>
        <p:nvSpPr>
          <p:cNvPr id="64" name="Shape 64"/>
          <p:cNvSpPr/>
          <p:nvPr/>
        </p:nvSpPr>
        <p:spPr>
          <a:xfrm>
            <a:off x="9944100" y="306705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9944100" y="30670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(integer)</a:t>
            </a:r>
            <a:endParaRPr lang="en-US" sz="1200" dirty="0"/>
          </a:p>
        </p:txBody>
      </p:sp>
      <p:sp>
        <p:nvSpPr>
          <p:cNvPr id="66" name="Text 66"/>
          <p:cNvSpPr txBox="1"/>
          <p:nvPr/>
        </p:nvSpPr>
        <p:spPr>
          <a:xfrm>
            <a:off x="9410700" y="2857500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200" dirty="0"/>
          </a:p>
        </p:txBody>
      </p:sp>
      <p:sp>
        <p:nvSpPr>
          <p:cNvPr id="67" name="Text 67"/>
          <p:cNvSpPr txBox="1"/>
          <p:nvPr/>
        </p:nvSpPr>
        <p:spPr>
          <a:xfrm>
            <a:off x="8953500" y="36957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state 미참조</a:t>
            </a:r>
            <a:endParaRPr lang="en-US" sz="1100" dirty="0"/>
          </a:p>
        </p:txBody>
      </p:sp>
      <p:sp>
        <p:nvSpPr>
          <p:cNvPr id="68" name="Path 68"/>
          <p:cNvSpPr/>
          <p:nvPr/>
        </p:nvSpPr>
        <p:spPr>
          <a:xfrm>
            <a:off x="8553450" y="3657600"/>
            <a:ext cx="609600" cy="819150"/>
          </a:xfrm>
          <a:custGeom>
            <a:avLst/>
            <a:gdLst/>
            <a:ahLst/>
            <a:cxnLst/>
            <a:rect l="0" t="0" r="r" b="b"/>
            <a:pathLst>
              <a:path w="609600" h="819150" fill="none">
                <a:moveTo>
                  <a:pt x="0" y="0"/>
                </a:moveTo>
                <a:lnTo>
                  <a:pt x="0" y="819150"/>
                </a:lnTo>
                <a:lnTo>
                  <a:pt x="609600" y="819150"/>
                </a:lnTo>
              </a:path>
            </a:pathLst>
          </a:custGeom>
          <a:noFill/>
          <a:ln w="22225">
            <a:solidFill>
              <a:srgbClr val="0F172A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9"/>
          <p:cNvSpPr txBox="1"/>
          <p:nvPr/>
        </p:nvSpPr>
        <p:spPr>
          <a:xfrm>
            <a:off x="7696200" y="40005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</a:t>
            </a:r>
            <a:endParaRPr lang="en-US" sz="1200" dirty="0"/>
          </a:p>
        </p:txBody>
      </p:sp>
      <p:sp>
        <p:nvSpPr>
          <p:cNvPr id="70" name="Path 70"/>
          <p:cNvSpPr/>
          <p:nvPr/>
        </p:nvSpPr>
        <p:spPr>
          <a:xfrm>
            <a:off x="10001250" y="3657600"/>
            <a:ext cx="609600" cy="819150"/>
          </a:xfrm>
          <a:custGeom>
            <a:avLst/>
            <a:gdLst/>
            <a:ahLst/>
            <a:cxnLst/>
            <a:rect l="0" t="0" r="r" b="b"/>
            <a:pathLst>
              <a:path w="609600" h="819150" fill="none">
                <a:moveTo>
                  <a:pt x="609600" y="0"/>
                </a:moveTo>
                <a:lnTo>
                  <a:pt x="609600" y="819150"/>
                </a:lnTo>
                <a:lnTo>
                  <a:pt x="0" y="819150"/>
                </a:lnTo>
              </a:path>
            </a:pathLst>
          </a:custGeom>
          <a:noFill/>
          <a:ln w="22225">
            <a:solidFill>
              <a:srgbClr val="E65100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10687050" y="40005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g_code</a:t>
            </a:r>
            <a:endParaRPr lang="en-US" sz="1200" dirty="0"/>
          </a:p>
        </p:txBody>
      </p:sp>
      <p:sp>
        <p:nvSpPr>
          <p:cNvPr id="72" name="Shape 72"/>
          <p:cNvSpPr/>
          <p:nvPr/>
        </p:nvSpPr>
        <p:spPr>
          <a:xfrm>
            <a:off x="9163050" y="4152900"/>
            <a:ext cx="838200" cy="647700"/>
          </a:xfrm>
          <a:prstGeom prst="ellipse">
            <a:avLst/>
          </a:prstGeom>
          <a:solidFill>
            <a:srgbClr val="FDECEC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3"/>
          <p:cNvSpPr txBox="1"/>
          <p:nvPr/>
        </p:nvSpPr>
        <p:spPr>
          <a:xfrm>
            <a:off x="9163050" y="4152900"/>
            <a:ext cx="838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</a:t>
            </a:r>
            <a:endParaRPr lang="en-US" sz="1800" dirty="0"/>
          </a:p>
        </p:txBody>
      </p:sp>
      <p:cxnSp>
        <p:nvCxnSpPr>
          <p:cNvPr id="74" name="Line 74"/>
          <p:cNvCxnSpPr/>
          <p:nvPr/>
        </p:nvCxnSpPr>
        <p:spPr>
          <a:xfrm>
            <a:off x="9582150" y="4800600"/>
            <a:ext cx="0" cy="457200"/>
          </a:xfrm>
          <a:prstGeom prst="line">
            <a:avLst/>
          </a:prstGeom>
          <a:ln w="22225">
            <a:solidFill>
              <a:srgbClr val="C62828"/>
            </a:solidFill>
            <a:prstDash val="solid"/>
            <a:tailEnd type="triangle"/>
          </a:ln>
        </p:spPr>
      </p:cxnSp>
      <p:sp>
        <p:nvSpPr>
          <p:cNvPr id="75" name="Shape 75"/>
          <p:cNvSpPr/>
          <p:nvPr/>
        </p:nvSpPr>
        <p:spPr>
          <a:xfrm>
            <a:off x="8820150" y="5257800"/>
            <a:ext cx="1524000" cy="38100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6"/>
          <p:cNvSpPr txBox="1"/>
          <p:nvPr/>
        </p:nvSpPr>
        <p:spPr>
          <a:xfrm>
            <a:off x="8820150" y="52578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err_c1 + 1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Driver Timing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 Changes i_sw 1 ns After Each Negedge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3695700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905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685800" y="24003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28384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685800" y="30384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685800" y="33337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300" dirty="0"/>
          </a:p>
        </p:txBody>
      </p:sp>
      <p:sp>
        <p:nvSpPr>
          <p:cNvPr id="14" name="Text 14"/>
          <p:cNvSpPr txBox="1"/>
          <p:nvPr/>
        </p:nvSpPr>
        <p:spPr>
          <a:xfrm>
            <a:off x="685800" y="35337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685800" y="3829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685800" y="40290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</a:t>
            </a:r>
            <a:endParaRPr lang="en-US" sz="1000" dirty="0"/>
          </a:p>
        </p:txBody>
      </p:sp>
      <p:sp>
        <p:nvSpPr>
          <p:cNvPr id="17" name="Text 17"/>
          <p:cNvSpPr txBox="1"/>
          <p:nvPr/>
        </p:nvSpPr>
        <p:spPr>
          <a:xfrm>
            <a:off x="2309812" y="161925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+ 1 ns · reset = 0</a:t>
            </a:r>
            <a:endParaRPr lang="en-US" sz="1100" dirty="0"/>
          </a:p>
        </p:txBody>
      </p:sp>
      <p:cxnSp>
        <p:nvCxnSpPr>
          <p:cNvPr id="18" name="Line 18"/>
          <p:cNvCxnSpPr/>
          <p:nvPr/>
        </p:nvCxnSpPr>
        <p:spPr>
          <a:xfrm>
            <a:off x="4633912" y="1619250"/>
            <a:ext cx="0" cy="2628900"/>
          </a:xfrm>
          <a:prstGeom prst="line">
            <a:avLst/>
          </a:prstGeom>
          <a:ln w="15875">
            <a:solidFill>
              <a:srgbClr val="DC2626"/>
            </a:solidFill>
            <a:prstDash val="dash"/>
          </a:ln>
        </p:spPr>
      </p:cxnSp>
      <p:sp>
        <p:nvSpPr>
          <p:cNvPr id="19" name="Text 19"/>
          <p:cNvSpPr txBox="1"/>
          <p:nvPr/>
        </p:nvSpPr>
        <p:spPr>
          <a:xfrm>
            <a:off x="4595812" y="13906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cxnSp>
        <p:nvCxnSpPr>
          <p:cNvPr id="20" name="Line 20"/>
          <p:cNvCxnSpPr/>
          <p:nvPr/>
        </p:nvCxnSpPr>
        <p:spPr>
          <a:xfrm>
            <a:off x="5453062" y="1600200"/>
            <a:ext cx="0" cy="2647950"/>
          </a:xfrm>
          <a:prstGeom prst="line">
            <a:avLst/>
          </a:prstGeom>
          <a:ln w="15875">
            <a:solidFill>
              <a:srgbClr val="15803D"/>
            </a:solidFill>
            <a:prstDash val="dash"/>
          </a:ln>
        </p:spPr>
      </p:cxnSp>
      <p:sp>
        <p:nvSpPr>
          <p:cNvPr id="21" name="Text 21"/>
          <p:cNvSpPr txBox="1"/>
          <p:nvPr/>
        </p:nvSpPr>
        <p:spPr>
          <a:xfrm>
            <a:off x="6643688" y="13906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cxnSp>
        <p:nvCxnSpPr>
          <p:cNvPr id="22" name="Line 22"/>
          <p:cNvCxnSpPr/>
          <p:nvPr/>
        </p:nvCxnSpPr>
        <p:spPr>
          <a:xfrm>
            <a:off x="7500938" y="1600200"/>
            <a:ext cx="0" cy="2647950"/>
          </a:xfrm>
          <a:prstGeom prst="line">
            <a:avLst/>
          </a:prstGeom>
          <a:ln w="15875">
            <a:solidFill>
              <a:srgbClr val="15803D"/>
            </a:solidFill>
            <a:prstDash val="dash"/>
          </a:ln>
        </p:spPr>
      </p:cxnSp>
      <p:sp>
        <p:nvSpPr>
          <p:cNvPr id="23" name="Text 23"/>
          <p:cNvSpPr txBox="1"/>
          <p:nvPr/>
        </p:nvSpPr>
        <p:spPr>
          <a:xfrm>
            <a:off x="8691562" y="13906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cxnSp>
        <p:nvCxnSpPr>
          <p:cNvPr id="24" name="Line 24"/>
          <p:cNvCxnSpPr/>
          <p:nvPr/>
        </p:nvCxnSpPr>
        <p:spPr>
          <a:xfrm>
            <a:off x="9548812" y="1600200"/>
            <a:ext cx="0" cy="2647950"/>
          </a:xfrm>
          <a:prstGeom prst="line">
            <a:avLst/>
          </a:prstGeom>
          <a:ln w="15875">
            <a:solidFill>
              <a:srgbClr val="15803D"/>
            </a:solidFill>
            <a:prstDash val="dash"/>
          </a:ln>
        </p:spPr>
      </p:cxnSp>
      <p:sp>
        <p:nvSpPr>
          <p:cNvPr id="25" name="Text 25"/>
          <p:cNvSpPr txBox="1"/>
          <p:nvPr/>
        </p:nvSpPr>
        <p:spPr>
          <a:xfrm>
            <a:off x="6738938" y="45529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 ns · i_sw 인가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8786812" y="45529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 ns · i_sw 인가</a:t>
            </a:r>
            <a:endParaRPr lang="en-US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4705350" y="43243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6753225" y="43243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sp>
        <p:nvSpPr>
          <p:cNvPr id="33" name="Text 33"/>
          <p:cNvSpPr txBox="1"/>
          <p:nvPr/>
        </p:nvSpPr>
        <p:spPr>
          <a:xfrm>
            <a:off x="8801100" y="43243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sp>
        <p:nvSpPr>
          <p:cNvPr id="35" name="Path 35"/>
          <p:cNvSpPr/>
          <p:nvPr/>
        </p:nvSpPr>
        <p:spPr>
          <a:xfrm>
            <a:off x="2381250" y="1885950"/>
            <a:ext cx="9010650" cy="266700"/>
          </a:xfrm>
          <a:custGeom>
            <a:avLst/>
            <a:gdLst/>
            <a:ahLst/>
            <a:cxnLst/>
            <a:rect l="0" t="0" r="r" b="b"/>
            <a:pathLst>
              <a:path w="9010650" h="266700" fill="none">
                <a:moveTo>
                  <a:pt x="0" y="266700"/>
                </a:moveTo>
                <a:lnTo>
                  <a:pt x="1023938" y="266700"/>
                </a:lnTo>
                <a:lnTo>
                  <a:pt x="1023938" y="0"/>
                </a:lnTo>
                <a:lnTo>
                  <a:pt x="2047875" y="0"/>
                </a:lnTo>
                <a:lnTo>
                  <a:pt x="2047875" y="266700"/>
                </a:lnTo>
                <a:lnTo>
                  <a:pt x="3071812" y="266700"/>
                </a:lnTo>
                <a:lnTo>
                  <a:pt x="3071812" y="0"/>
                </a:lnTo>
                <a:lnTo>
                  <a:pt x="4095750" y="0"/>
                </a:lnTo>
                <a:lnTo>
                  <a:pt x="4095750" y="266700"/>
                </a:lnTo>
                <a:lnTo>
                  <a:pt x="5119688" y="266700"/>
                </a:lnTo>
                <a:lnTo>
                  <a:pt x="5119688" y="0"/>
                </a:lnTo>
                <a:lnTo>
                  <a:pt x="6143625" y="0"/>
                </a:lnTo>
                <a:lnTo>
                  <a:pt x="6143625" y="266700"/>
                </a:lnTo>
                <a:lnTo>
                  <a:pt x="7167562" y="266700"/>
                </a:lnTo>
                <a:lnTo>
                  <a:pt x="7167562" y="0"/>
                </a:lnTo>
                <a:lnTo>
                  <a:pt x="8191500" y="0"/>
                </a:lnTo>
                <a:lnTo>
                  <a:pt x="8191500" y="266700"/>
                </a:lnTo>
                <a:lnTo>
                  <a:pt x="9010650" y="266700"/>
                </a:lnTo>
              </a:path>
            </a:pathLst>
          </a:custGeom>
          <a:noFill/>
          <a:ln w="19050">
            <a:solidFill>
              <a:srgbClr val="0F172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Path 36"/>
          <p:cNvSpPr/>
          <p:nvPr/>
        </p:nvSpPr>
        <p:spPr>
          <a:xfrm>
            <a:off x="2381250" y="2381250"/>
            <a:ext cx="9010650" cy="266700"/>
          </a:xfrm>
          <a:custGeom>
            <a:avLst/>
            <a:gdLst/>
            <a:ahLst/>
            <a:cxnLst/>
            <a:rect l="0" t="0" r="r" b="b"/>
            <a:pathLst>
              <a:path w="9010650" h="266700" fill="none">
                <a:moveTo>
                  <a:pt x="0" y="0"/>
                </a:moveTo>
                <a:lnTo>
                  <a:pt x="2252662" y="0"/>
                </a:lnTo>
                <a:lnTo>
                  <a:pt x="2252662" y="266700"/>
                </a:lnTo>
                <a:lnTo>
                  <a:pt x="9010650" y="266700"/>
                </a:lnTo>
              </a:path>
            </a:pathLst>
          </a:custGeom>
          <a:noFill/>
          <a:ln w="19050">
            <a:solidFill>
              <a:srgbClr val="DC262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7"/>
          <p:cNvSpPr/>
          <p:nvPr/>
        </p:nvSpPr>
        <p:spPr>
          <a:xfrm>
            <a:off x="2390775" y="2876550"/>
            <a:ext cx="4281488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8"/>
          <p:cNvSpPr txBox="1"/>
          <p:nvPr/>
        </p:nvSpPr>
        <p:spPr>
          <a:xfrm>
            <a:off x="2457450" y="2876550"/>
            <a:ext cx="4148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6691312" y="2876550"/>
            <a:ext cx="2028825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6757988" y="28765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8739188" y="2876550"/>
            <a:ext cx="2028825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8805862" y="28765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10787062" y="2876550"/>
            <a:ext cx="595312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10853738" y="2876550"/>
            <a:ext cx="461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Shape 45"/>
          <p:cNvSpPr/>
          <p:nvPr/>
        </p:nvSpPr>
        <p:spPr>
          <a:xfrm>
            <a:off x="2390775" y="3371850"/>
            <a:ext cx="5100638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6"/>
          <p:cNvSpPr txBox="1"/>
          <p:nvPr/>
        </p:nvSpPr>
        <p:spPr>
          <a:xfrm>
            <a:off x="2457450" y="3371850"/>
            <a:ext cx="49672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7510462" y="3371850"/>
            <a:ext cx="2028825" cy="266700"/>
          </a:xfrm>
          <a:prstGeom prst="rect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7577138" y="33718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100" dirty="0"/>
          </a:p>
        </p:txBody>
      </p:sp>
      <p:sp>
        <p:nvSpPr>
          <p:cNvPr id="49" name="Shape 49"/>
          <p:cNvSpPr/>
          <p:nvPr/>
        </p:nvSpPr>
        <p:spPr>
          <a:xfrm>
            <a:off x="9558338" y="3371850"/>
            <a:ext cx="1824038" cy="266700"/>
          </a:xfrm>
          <a:prstGeom prst="rect">
            <a:avLst/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9625012" y="3371850"/>
            <a:ext cx="1690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100" dirty="0"/>
          </a:p>
        </p:txBody>
      </p:sp>
      <p:sp>
        <p:nvSpPr>
          <p:cNvPr id="51" name="Shape 51"/>
          <p:cNvSpPr/>
          <p:nvPr/>
        </p:nvSpPr>
        <p:spPr>
          <a:xfrm>
            <a:off x="2390775" y="3867150"/>
            <a:ext cx="5100638" cy="266700"/>
          </a:xfrm>
          <a:prstGeom prst="rect">
            <a:avLst/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2457450" y="3867150"/>
            <a:ext cx="49672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100" dirty="0"/>
          </a:p>
        </p:txBody>
      </p:sp>
      <p:sp>
        <p:nvSpPr>
          <p:cNvPr id="53" name="Shape 53"/>
          <p:cNvSpPr/>
          <p:nvPr/>
        </p:nvSpPr>
        <p:spPr>
          <a:xfrm>
            <a:off x="7510462" y="3867150"/>
            <a:ext cx="2028825" cy="266700"/>
          </a:xfrm>
          <a:prstGeom prst="rect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7577138" y="38671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100" dirty="0"/>
          </a:p>
        </p:txBody>
      </p:sp>
      <p:sp>
        <p:nvSpPr>
          <p:cNvPr id="55" name="Shape 55"/>
          <p:cNvSpPr/>
          <p:nvPr/>
        </p:nvSpPr>
        <p:spPr>
          <a:xfrm>
            <a:off x="9558338" y="3867150"/>
            <a:ext cx="1824038" cy="266700"/>
          </a:xfrm>
          <a:prstGeom prst="rect">
            <a:avLst/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9625012" y="3867150"/>
            <a:ext cx="1690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100" dirty="0"/>
          </a:p>
        </p:txBody>
      </p:sp>
      <p:sp>
        <p:nvSpPr>
          <p:cNvPr id="57" name="Shape 57"/>
          <p:cNvSpPr/>
          <p:nvPr/>
        </p:nvSpPr>
        <p:spPr>
          <a:xfrm>
            <a:off x="6534150" y="3895725"/>
            <a:ext cx="209550" cy="20955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6534150" y="38957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9"/>
          <p:cNvSpPr/>
          <p:nvPr/>
        </p:nvSpPr>
        <p:spPr>
          <a:xfrm>
            <a:off x="8582025" y="3895725"/>
            <a:ext cx="209550" cy="20955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8582025" y="38957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61"/>
          <p:cNvSpPr/>
          <p:nvPr/>
        </p:nvSpPr>
        <p:spPr>
          <a:xfrm>
            <a:off x="10629900" y="3895725"/>
            <a:ext cx="209550" cy="20955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10629900" y="38957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3"/>
          <p:cNvSpPr/>
          <p:nvPr/>
        </p:nvSpPr>
        <p:spPr>
          <a:xfrm>
            <a:off x="457200" y="5143500"/>
            <a:ext cx="3657600" cy="11049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628650" y="527685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구동 시점</a:t>
            </a:r>
            <a:endParaRPr lang="en-US" sz="1300" dirty="0"/>
          </a:p>
        </p:txBody>
      </p:sp>
      <p:sp>
        <p:nvSpPr>
          <p:cNvPr id="65" name="Text 65"/>
          <p:cNvSpPr txBox="1"/>
          <p:nvPr/>
        </p:nvSpPr>
        <p:spPr>
          <a:xfrm>
            <a:off x="628650" y="5562600"/>
            <a:ext cx="3333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+ 1 ns · i_sw 인가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posedge까지 4 ns 안정</a:t>
            </a:r>
            <a:endParaRPr lang="en-US" sz="1200" dirty="0"/>
          </a:p>
        </p:txBody>
      </p:sp>
      <p:sp>
        <p:nvSpPr>
          <p:cNvPr id="66" name="Shape 66"/>
          <p:cNvSpPr/>
          <p:nvPr/>
        </p:nvSpPr>
        <p:spPr>
          <a:xfrm>
            <a:off x="4267200" y="5143500"/>
            <a:ext cx="3657600" cy="11049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7"/>
          <p:cNvSpPr txBox="1"/>
          <p:nvPr/>
        </p:nvSpPr>
        <p:spPr>
          <a:xfrm>
            <a:off x="4438650" y="527685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입력값</a:t>
            </a:r>
            <a:endParaRPr lang="en-US" sz="1300" dirty="0"/>
          </a:p>
        </p:txBody>
      </p:sp>
      <p:sp>
        <p:nvSpPr>
          <p:cNvPr id="68" name="Text 68"/>
          <p:cNvSpPr txBox="1"/>
          <p:nvPr/>
        </p:nvSpPr>
        <p:spPr>
          <a:xfrm>
            <a:off x="4438650" y="5562600"/>
            <a:ext cx="3333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$random 하위 2 bit · 매 cycle 새 값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시 async_reset 1회 → S0</a:t>
            </a:r>
            <a:endParaRPr lang="en-US" sz="1200" dirty="0"/>
          </a:p>
        </p:txBody>
      </p:sp>
      <p:sp>
        <p:nvSpPr>
          <p:cNvPr id="69" name="Shape 69"/>
          <p:cNvSpPr/>
          <p:nvPr/>
        </p:nvSpPr>
        <p:spPr>
          <a:xfrm>
            <a:off x="8077200" y="5143500"/>
            <a:ext cx="3657600" cy="11049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70"/>
          <p:cNvSpPr txBox="1"/>
          <p:nvPr/>
        </p:nvSpPr>
        <p:spPr>
          <a:xfrm>
            <a:off x="8248650" y="527685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시점</a:t>
            </a:r>
            <a:endParaRPr lang="en-US" sz="1300" dirty="0"/>
          </a:p>
        </p:txBody>
      </p:sp>
      <p:sp>
        <p:nvSpPr>
          <p:cNvPr id="71" name="Text 71"/>
          <p:cNvSpPr txBox="1"/>
          <p:nvPr/>
        </p:nvSpPr>
        <p:spPr>
          <a:xfrm>
            <a:off x="8248650" y="5562600"/>
            <a:ext cx="3333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negedge · i_reset = 0 구간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비교 후 i_sw 변경 → race 없음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Coverage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Input Covers All 20 Arcs in 10,000 Cycles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54102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4478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커버리지 확보 방법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85800" y="1847850"/>
            <a:ext cx="4572000" cy="552450"/>
          </a:xfrm>
          <a:prstGeom prst="roundRect">
            <a:avLst>
              <a:gd name="adj" fmla="val 10344"/>
            </a:avLst>
          </a:prstGeom>
          <a:solidFill>
            <a:srgbClr val="E3F2FD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1"/>
          <p:cNvSpPr txBox="1"/>
          <p:nvPr/>
        </p:nvSpPr>
        <p:spPr>
          <a:xfrm>
            <a:off x="857250" y="191452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$random → i_sw[1:0]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857250" y="2143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cycle 새 값 · 4가지 code</a:t>
            </a:r>
            <a:endParaRPr lang="en-US" sz="1100" dirty="0"/>
          </a:p>
        </p:txBody>
      </p:sp>
      <p:cxnSp>
        <p:nvCxnSpPr>
          <p:cNvPr id="13" name="Line 13"/>
          <p:cNvCxnSpPr/>
          <p:nvPr/>
        </p:nvCxnSpPr>
        <p:spPr>
          <a:xfrm>
            <a:off x="2971800" y="2400300"/>
            <a:ext cx="0" cy="171450"/>
          </a:xfrm>
          <a:prstGeom prst="line">
            <a:avLst/>
          </a:prstGeom>
          <a:ln w="15875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685800" y="2571750"/>
            <a:ext cx="4572000" cy="552450"/>
          </a:xfrm>
          <a:prstGeom prst="roundRect">
            <a:avLst>
              <a:gd name="adj" fmla="val 10344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857250" y="263842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posedge · cov[state][i_sw] + 1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857250" y="28670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state × 입력 = arc 1회 기록</a:t>
            </a:r>
            <a:endParaRPr lang="en-US" sz="1100" dirty="0"/>
          </a:p>
        </p:txBody>
      </p:sp>
      <p:cxnSp>
        <p:nvCxnSpPr>
          <p:cNvPr id="17" name="Line 17"/>
          <p:cNvCxnSpPr/>
          <p:nvPr/>
        </p:nvCxnSpPr>
        <p:spPr>
          <a:xfrm>
            <a:off x="2971800" y="3124200"/>
            <a:ext cx="0" cy="171450"/>
          </a:xfrm>
          <a:prstGeom prst="line">
            <a:avLst/>
          </a:prstGeom>
          <a:ln w="15875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685800" y="3295650"/>
            <a:ext cx="4572000" cy="552450"/>
          </a:xfrm>
          <a:prstGeom prst="roundRect">
            <a:avLst>
              <a:gd name="adj" fmla="val 10344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857250" y="336232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cycle 10000 도달까지 반복</a:t>
            </a:r>
            <a:endParaRPr lang="en-US" sz="1300" dirty="0"/>
          </a:p>
        </p:txBody>
      </p:sp>
      <p:sp>
        <p:nvSpPr>
          <p:cNvPr id="20" name="Text 20"/>
          <p:cNvSpPr txBox="1"/>
          <p:nvPr/>
        </p:nvSpPr>
        <p:spPr>
          <a:xfrm>
            <a:off x="857250" y="35909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시 5 × 4 arc 표 출력</a:t>
            </a:r>
            <a:endParaRPr lang="en-US" sz="1100" dirty="0"/>
          </a:p>
        </p:txBody>
      </p:sp>
      <p:sp>
        <p:nvSpPr>
          <p:cNvPr id="21" name="Path 21"/>
          <p:cNvSpPr/>
          <p:nvPr/>
        </p:nvSpPr>
        <p:spPr>
          <a:xfrm>
            <a:off x="5257800" y="2124075"/>
            <a:ext cx="285750" cy="1447800"/>
          </a:xfrm>
          <a:custGeom>
            <a:avLst/>
            <a:gdLst/>
            <a:ahLst/>
            <a:cxnLst/>
            <a:rect l="0" t="0" r="r" b="b"/>
            <a:pathLst>
              <a:path w="285750" h="1447800" fill="none">
                <a:moveTo>
                  <a:pt x="0" y="1447800"/>
                </a:moveTo>
                <a:lnTo>
                  <a:pt x="285750" y="1447800"/>
                </a:lnTo>
                <a:lnTo>
                  <a:pt x="28575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64748B"/>
            </a:solidFill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685800" y="42291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도달 경로</a:t>
            </a:r>
            <a:endParaRPr lang="en-US" sz="1300" dirty="0"/>
          </a:p>
        </p:txBody>
      </p:sp>
      <p:sp>
        <p:nvSpPr>
          <p:cNvPr id="23" name="Shape 23"/>
          <p:cNvSpPr/>
          <p:nvPr/>
        </p:nvSpPr>
        <p:spPr>
          <a:xfrm>
            <a:off x="742950" y="4800600"/>
            <a:ext cx="495300" cy="495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4"/>
          <p:cNvSpPr txBox="1"/>
          <p:nvPr/>
        </p:nvSpPr>
        <p:spPr>
          <a:xfrm>
            <a:off x="742950" y="48006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400" dirty="0"/>
          </a:p>
        </p:txBody>
      </p:sp>
      <p:cxnSp>
        <p:nvCxnSpPr>
          <p:cNvPr id="25" name="Line 25"/>
          <p:cNvCxnSpPr/>
          <p:nvPr/>
        </p:nvCxnSpPr>
        <p:spPr>
          <a:xfrm>
            <a:off x="1257300" y="5048250"/>
            <a:ext cx="561975" cy="0"/>
          </a:xfrm>
          <a:prstGeom prst="line">
            <a:avLst/>
          </a:prstGeom>
          <a:ln w="25400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1352550" y="48006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Shape 27"/>
          <p:cNvSpPr/>
          <p:nvPr/>
        </p:nvSpPr>
        <p:spPr>
          <a:xfrm>
            <a:off x="1847850" y="4800600"/>
            <a:ext cx="495300" cy="495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8"/>
          <p:cNvSpPr txBox="1"/>
          <p:nvPr/>
        </p:nvSpPr>
        <p:spPr>
          <a:xfrm>
            <a:off x="1847850" y="48006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400" dirty="0"/>
          </a:p>
        </p:txBody>
      </p:sp>
      <p:cxnSp>
        <p:nvCxnSpPr>
          <p:cNvPr id="29" name="Line 29"/>
          <p:cNvCxnSpPr/>
          <p:nvPr/>
        </p:nvCxnSpPr>
        <p:spPr>
          <a:xfrm>
            <a:off x="2362200" y="5048250"/>
            <a:ext cx="561975" cy="0"/>
          </a:xfrm>
          <a:prstGeom prst="line">
            <a:avLst/>
          </a:prstGeom>
          <a:ln w="25400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2457450" y="48006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hape 31"/>
          <p:cNvSpPr/>
          <p:nvPr/>
        </p:nvSpPr>
        <p:spPr>
          <a:xfrm>
            <a:off x="2952750" y="4800600"/>
            <a:ext cx="495300" cy="495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2952750" y="48006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400" dirty="0"/>
          </a:p>
        </p:txBody>
      </p:sp>
      <p:cxnSp>
        <p:nvCxnSpPr>
          <p:cNvPr id="33" name="Line 33"/>
          <p:cNvCxnSpPr/>
          <p:nvPr/>
        </p:nvCxnSpPr>
        <p:spPr>
          <a:xfrm>
            <a:off x="3467100" y="5048250"/>
            <a:ext cx="561975" cy="0"/>
          </a:xfrm>
          <a:prstGeom prst="line">
            <a:avLst/>
          </a:prstGeom>
          <a:ln w="25400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3562350" y="48006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Shape 35"/>
          <p:cNvSpPr/>
          <p:nvPr/>
        </p:nvSpPr>
        <p:spPr>
          <a:xfrm>
            <a:off x="4057650" y="4800600"/>
            <a:ext cx="495300" cy="495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4057650" y="48006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400" dirty="0"/>
          </a:p>
        </p:txBody>
      </p:sp>
      <p:cxnSp>
        <p:nvCxnSpPr>
          <p:cNvPr id="37" name="Line 37"/>
          <p:cNvCxnSpPr/>
          <p:nvPr/>
        </p:nvCxnSpPr>
        <p:spPr>
          <a:xfrm>
            <a:off x="4572000" y="5048250"/>
            <a:ext cx="561975" cy="0"/>
          </a:xfrm>
          <a:prstGeom prst="line">
            <a:avLst/>
          </a:prstGeom>
          <a:ln w="25400">
            <a:solidFill>
              <a:srgbClr val="DB2777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4667250" y="48006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9" name="Shape 39"/>
          <p:cNvSpPr/>
          <p:nvPr/>
        </p:nvSpPr>
        <p:spPr>
          <a:xfrm>
            <a:off x="5162550" y="4800600"/>
            <a:ext cx="495300" cy="495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5162550" y="48006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400" dirty="0"/>
          </a:p>
        </p:txBody>
      </p:sp>
      <p:sp>
        <p:nvSpPr>
          <p:cNvPr id="41" name="Shape 41"/>
          <p:cNvSpPr/>
          <p:nvPr/>
        </p:nvSpPr>
        <p:spPr>
          <a:xfrm>
            <a:off x="6019800" y="1295400"/>
            <a:ext cx="5715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6248400" y="14287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Coverage (state × i_sw, 실행 횟수)</a:t>
            </a:r>
            <a:endParaRPr lang="en-US" sz="1400" dirty="0"/>
          </a:p>
        </p:txBody>
      </p:sp>
      <p:sp>
        <p:nvSpPr>
          <p:cNvPr id="43" name="Shape 43"/>
          <p:cNvSpPr/>
          <p:nvPr/>
        </p:nvSpPr>
        <p:spPr>
          <a:xfrm>
            <a:off x="6248400" y="1733550"/>
            <a:ext cx="1066800" cy="3048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6305550" y="173355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00" dirty="0"/>
          </a:p>
        </p:txBody>
      </p:sp>
      <p:sp>
        <p:nvSpPr>
          <p:cNvPr id="45" name="Shape 45"/>
          <p:cNvSpPr/>
          <p:nvPr/>
        </p:nvSpPr>
        <p:spPr>
          <a:xfrm>
            <a:off x="7315200" y="1733550"/>
            <a:ext cx="990600" cy="3048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6"/>
          <p:cNvSpPr txBox="1"/>
          <p:nvPr/>
        </p:nvSpPr>
        <p:spPr>
          <a:xfrm>
            <a:off x="7372350" y="17335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47" name="Shape 47"/>
          <p:cNvSpPr/>
          <p:nvPr/>
        </p:nvSpPr>
        <p:spPr>
          <a:xfrm>
            <a:off x="8305800" y="1733550"/>
            <a:ext cx="990600" cy="3048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8362950" y="17335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49" name="Shape 49"/>
          <p:cNvSpPr/>
          <p:nvPr/>
        </p:nvSpPr>
        <p:spPr>
          <a:xfrm>
            <a:off x="9296400" y="1733550"/>
            <a:ext cx="990600" cy="3048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9353550" y="17335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Shape 51"/>
          <p:cNvSpPr/>
          <p:nvPr/>
        </p:nvSpPr>
        <p:spPr>
          <a:xfrm>
            <a:off x="10287000" y="1733550"/>
            <a:ext cx="990600" cy="3048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10344150" y="17335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53" name="Shape 53"/>
          <p:cNvSpPr/>
          <p:nvPr/>
        </p:nvSpPr>
        <p:spPr>
          <a:xfrm>
            <a:off x="6248400" y="203835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6343650" y="20383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7315200" y="20383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7410450" y="20383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499</a:t>
            </a:r>
            <a:endParaRPr lang="en-US" sz="1200" dirty="0"/>
          </a:p>
        </p:txBody>
      </p:sp>
      <p:sp>
        <p:nvSpPr>
          <p:cNvPr id="57" name="Shape 57"/>
          <p:cNvSpPr/>
          <p:nvPr/>
        </p:nvSpPr>
        <p:spPr>
          <a:xfrm>
            <a:off x="8305800" y="20383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8401050" y="20383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490</a:t>
            </a:r>
            <a:endParaRPr lang="en-US" sz="1200" dirty="0"/>
          </a:p>
        </p:txBody>
      </p:sp>
      <p:sp>
        <p:nvSpPr>
          <p:cNvPr id="59" name="Shape 59"/>
          <p:cNvSpPr/>
          <p:nvPr/>
        </p:nvSpPr>
        <p:spPr>
          <a:xfrm>
            <a:off x="9296400" y="20383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9391650" y="20383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489</a:t>
            </a:r>
            <a:endParaRPr lang="en-US" sz="1200" dirty="0"/>
          </a:p>
        </p:txBody>
      </p:sp>
      <p:sp>
        <p:nvSpPr>
          <p:cNvPr id="61" name="Shape 61"/>
          <p:cNvSpPr/>
          <p:nvPr/>
        </p:nvSpPr>
        <p:spPr>
          <a:xfrm>
            <a:off x="10287000" y="20383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10382250" y="20383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514</a:t>
            </a:r>
            <a:endParaRPr lang="en-US" sz="1200" dirty="0"/>
          </a:p>
        </p:txBody>
      </p:sp>
      <p:sp>
        <p:nvSpPr>
          <p:cNvPr id="63" name="Shape 63"/>
          <p:cNvSpPr/>
          <p:nvPr/>
        </p:nvSpPr>
        <p:spPr>
          <a:xfrm>
            <a:off x="6248400" y="234315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6343650" y="23431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200" dirty="0"/>
          </a:p>
        </p:txBody>
      </p:sp>
      <p:sp>
        <p:nvSpPr>
          <p:cNvPr id="65" name="Shape 65"/>
          <p:cNvSpPr/>
          <p:nvPr/>
        </p:nvSpPr>
        <p:spPr>
          <a:xfrm>
            <a:off x="7315200" y="23431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7410450" y="23431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783</a:t>
            </a:r>
            <a:endParaRPr lang="en-US" sz="1200" dirty="0"/>
          </a:p>
        </p:txBody>
      </p:sp>
      <p:sp>
        <p:nvSpPr>
          <p:cNvPr id="67" name="Shape 67"/>
          <p:cNvSpPr/>
          <p:nvPr/>
        </p:nvSpPr>
        <p:spPr>
          <a:xfrm>
            <a:off x="8305800" y="23431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8"/>
          <p:cNvSpPr txBox="1"/>
          <p:nvPr/>
        </p:nvSpPr>
        <p:spPr>
          <a:xfrm>
            <a:off x="8401050" y="23431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734</a:t>
            </a:r>
            <a:endParaRPr lang="en-US" sz="1200" dirty="0"/>
          </a:p>
        </p:txBody>
      </p:sp>
      <p:sp>
        <p:nvSpPr>
          <p:cNvPr id="69" name="Shape 69"/>
          <p:cNvSpPr/>
          <p:nvPr/>
        </p:nvSpPr>
        <p:spPr>
          <a:xfrm>
            <a:off x="9296400" y="23431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70"/>
          <p:cNvSpPr txBox="1"/>
          <p:nvPr/>
        </p:nvSpPr>
        <p:spPr>
          <a:xfrm>
            <a:off x="9391650" y="23431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767</a:t>
            </a:r>
            <a:endParaRPr lang="en-US" sz="1200" dirty="0"/>
          </a:p>
        </p:txBody>
      </p:sp>
      <p:sp>
        <p:nvSpPr>
          <p:cNvPr id="71" name="Shape 71"/>
          <p:cNvSpPr/>
          <p:nvPr/>
        </p:nvSpPr>
        <p:spPr>
          <a:xfrm>
            <a:off x="10287000" y="23431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2"/>
          <p:cNvSpPr txBox="1"/>
          <p:nvPr/>
        </p:nvSpPr>
        <p:spPr>
          <a:xfrm>
            <a:off x="10382250" y="23431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754</a:t>
            </a:r>
            <a:endParaRPr lang="en-US" sz="1200" dirty="0"/>
          </a:p>
        </p:txBody>
      </p:sp>
      <p:sp>
        <p:nvSpPr>
          <p:cNvPr id="73" name="Shape 73"/>
          <p:cNvSpPr/>
          <p:nvPr/>
        </p:nvSpPr>
        <p:spPr>
          <a:xfrm>
            <a:off x="6248400" y="264795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6343650" y="26479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200" dirty="0"/>
          </a:p>
        </p:txBody>
      </p:sp>
      <p:sp>
        <p:nvSpPr>
          <p:cNvPr id="75" name="Shape 75"/>
          <p:cNvSpPr/>
          <p:nvPr/>
        </p:nvSpPr>
        <p:spPr>
          <a:xfrm>
            <a:off x="7315200" y="26479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6"/>
          <p:cNvSpPr txBox="1"/>
          <p:nvPr/>
        </p:nvSpPr>
        <p:spPr>
          <a:xfrm>
            <a:off x="7410450" y="26479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770</a:t>
            </a:r>
            <a:endParaRPr lang="en-US" sz="1200" dirty="0"/>
          </a:p>
        </p:txBody>
      </p:sp>
      <p:sp>
        <p:nvSpPr>
          <p:cNvPr id="77" name="Shape 77"/>
          <p:cNvSpPr/>
          <p:nvPr/>
        </p:nvSpPr>
        <p:spPr>
          <a:xfrm>
            <a:off x="8305800" y="26479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8"/>
          <p:cNvSpPr txBox="1"/>
          <p:nvPr/>
        </p:nvSpPr>
        <p:spPr>
          <a:xfrm>
            <a:off x="8401050" y="26479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793</a:t>
            </a:r>
            <a:endParaRPr lang="en-US" sz="1200" dirty="0"/>
          </a:p>
        </p:txBody>
      </p:sp>
      <p:sp>
        <p:nvSpPr>
          <p:cNvPr id="79" name="Shape 79"/>
          <p:cNvSpPr/>
          <p:nvPr/>
        </p:nvSpPr>
        <p:spPr>
          <a:xfrm>
            <a:off x="9296400" y="26479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80"/>
          <p:cNvSpPr txBox="1"/>
          <p:nvPr/>
        </p:nvSpPr>
        <p:spPr>
          <a:xfrm>
            <a:off x="9391650" y="26479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724</a:t>
            </a:r>
            <a:endParaRPr lang="en-US" sz="1200" dirty="0"/>
          </a:p>
        </p:txBody>
      </p:sp>
      <p:sp>
        <p:nvSpPr>
          <p:cNvPr id="81" name="Shape 81"/>
          <p:cNvSpPr/>
          <p:nvPr/>
        </p:nvSpPr>
        <p:spPr>
          <a:xfrm>
            <a:off x="10287000" y="26479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2"/>
          <p:cNvSpPr txBox="1"/>
          <p:nvPr/>
        </p:nvSpPr>
        <p:spPr>
          <a:xfrm>
            <a:off x="10382250" y="26479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767</a:t>
            </a:r>
            <a:endParaRPr lang="en-US" sz="1200" dirty="0"/>
          </a:p>
        </p:txBody>
      </p:sp>
      <p:sp>
        <p:nvSpPr>
          <p:cNvPr id="83" name="Shape 83"/>
          <p:cNvSpPr/>
          <p:nvPr/>
        </p:nvSpPr>
        <p:spPr>
          <a:xfrm>
            <a:off x="6248400" y="295275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4"/>
          <p:cNvSpPr txBox="1"/>
          <p:nvPr/>
        </p:nvSpPr>
        <p:spPr>
          <a:xfrm>
            <a:off x="6343650" y="29527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200" dirty="0"/>
          </a:p>
        </p:txBody>
      </p:sp>
      <p:sp>
        <p:nvSpPr>
          <p:cNvPr id="85" name="Shape 85"/>
          <p:cNvSpPr/>
          <p:nvPr/>
        </p:nvSpPr>
        <p:spPr>
          <a:xfrm>
            <a:off x="7315200" y="29527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6"/>
          <p:cNvSpPr txBox="1"/>
          <p:nvPr/>
        </p:nvSpPr>
        <p:spPr>
          <a:xfrm>
            <a:off x="7410450" y="29527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258</a:t>
            </a:r>
            <a:endParaRPr lang="en-US" sz="1200" dirty="0"/>
          </a:p>
        </p:txBody>
      </p:sp>
      <p:sp>
        <p:nvSpPr>
          <p:cNvPr id="87" name="Shape 87"/>
          <p:cNvSpPr/>
          <p:nvPr/>
        </p:nvSpPr>
        <p:spPr>
          <a:xfrm>
            <a:off x="8305800" y="29527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8"/>
          <p:cNvSpPr txBox="1"/>
          <p:nvPr/>
        </p:nvSpPr>
        <p:spPr>
          <a:xfrm>
            <a:off x="8401050" y="29527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277</a:t>
            </a:r>
            <a:endParaRPr lang="en-US" sz="1200" dirty="0"/>
          </a:p>
        </p:txBody>
      </p:sp>
      <p:sp>
        <p:nvSpPr>
          <p:cNvPr id="89" name="Shape 89"/>
          <p:cNvSpPr/>
          <p:nvPr/>
        </p:nvSpPr>
        <p:spPr>
          <a:xfrm>
            <a:off x="9296400" y="29527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90"/>
          <p:cNvSpPr txBox="1"/>
          <p:nvPr/>
        </p:nvSpPr>
        <p:spPr>
          <a:xfrm>
            <a:off x="9391650" y="29527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</a:t>
            </a:r>
            <a:endParaRPr lang="en-US" sz="1200" dirty="0"/>
          </a:p>
        </p:txBody>
      </p:sp>
      <p:sp>
        <p:nvSpPr>
          <p:cNvPr id="91" name="Shape 91"/>
          <p:cNvSpPr/>
          <p:nvPr/>
        </p:nvSpPr>
        <p:spPr>
          <a:xfrm>
            <a:off x="10287000" y="29527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2"/>
          <p:cNvSpPr txBox="1"/>
          <p:nvPr/>
        </p:nvSpPr>
        <p:spPr>
          <a:xfrm>
            <a:off x="10382250" y="29527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</a:t>
            </a:r>
            <a:endParaRPr lang="en-US" sz="1200" dirty="0"/>
          </a:p>
        </p:txBody>
      </p:sp>
      <p:sp>
        <p:nvSpPr>
          <p:cNvPr id="93" name="Shape 93"/>
          <p:cNvSpPr/>
          <p:nvPr/>
        </p:nvSpPr>
        <p:spPr>
          <a:xfrm>
            <a:off x="6248400" y="325755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4"/>
          <p:cNvSpPr txBox="1"/>
          <p:nvPr/>
        </p:nvSpPr>
        <p:spPr>
          <a:xfrm>
            <a:off x="6343650" y="32575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200" dirty="0"/>
          </a:p>
        </p:txBody>
      </p:sp>
      <p:sp>
        <p:nvSpPr>
          <p:cNvPr id="95" name="Shape 95"/>
          <p:cNvSpPr/>
          <p:nvPr/>
        </p:nvSpPr>
        <p:spPr>
          <a:xfrm>
            <a:off x="7315200" y="32575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6"/>
          <p:cNvSpPr txBox="1"/>
          <p:nvPr/>
        </p:nvSpPr>
        <p:spPr>
          <a:xfrm>
            <a:off x="7410450" y="32575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</a:t>
            </a:r>
            <a:endParaRPr lang="en-US" sz="1200" dirty="0"/>
          </a:p>
        </p:txBody>
      </p:sp>
      <p:sp>
        <p:nvSpPr>
          <p:cNvPr id="97" name="Shape 97"/>
          <p:cNvSpPr/>
          <p:nvPr/>
        </p:nvSpPr>
        <p:spPr>
          <a:xfrm>
            <a:off x="8305800" y="32575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8"/>
          <p:cNvSpPr txBox="1"/>
          <p:nvPr/>
        </p:nvSpPr>
        <p:spPr>
          <a:xfrm>
            <a:off x="8401050" y="32575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236</a:t>
            </a:r>
            <a:endParaRPr lang="en-US" sz="1200" dirty="0"/>
          </a:p>
        </p:txBody>
      </p:sp>
      <p:sp>
        <p:nvSpPr>
          <p:cNvPr id="99" name="Shape 99"/>
          <p:cNvSpPr/>
          <p:nvPr/>
        </p:nvSpPr>
        <p:spPr>
          <a:xfrm>
            <a:off x="9296400" y="32575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100"/>
          <p:cNvSpPr txBox="1"/>
          <p:nvPr/>
        </p:nvSpPr>
        <p:spPr>
          <a:xfrm>
            <a:off x="9391650" y="32575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</a:t>
            </a:r>
            <a:endParaRPr lang="en-US" sz="1200" dirty="0"/>
          </a:p>
        </p:txBody>
      </p:sp>
      <p:sp>
        <p:nvSpPr>
          <p:cNvPr id="101" name="Shape 101"/>
          <p:cNvSpPr/>
          <p:nvPr/>
        </p:nvSpPr>
        <p:spPr>
          <a:xfrm>
            <a:off x="10287000" y="3257550"/>
            <a:ext cx="990600" cy="304800"/>
          </a:xfrm>
          <a:prstGeom prst="rect">
            <a:avLst/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2"/>
          <p:cNvSpPr txBox="1"/>
          <p:nvPr/>
        </p:nvSpPr>
        <p:spPr>
          <a:xfrm>
            <a:off x="10382250" y="325755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207</a:t>
            </a:r>
            <a:endParaRPr lang="en-US" sz="1200" dirty="0"/>
          </a:p>
        </p:txBody>
      </p:sp>
      <p:sp>
        <p:nvSpPr>
          <p:cNvPr id="103" name="Text 103"/>
          <p:cNvSpPr txBox="1"/>
          <p:nvPr/>
        </p:nvSpPr>
        <p:spPr>
          <a:xfrm>
            <a:off x="6248400" y="36766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Tcl Console · tb_FSM_S3</a:t>
            </a:r>
            <a:endParaRPr lang="en-US" sz="1400" dirty="0"/>
          </a:p>
        </p:txBody>
      </p:sp>
      <p:sp>
        <p:nvSpPr>
          <p:cNvPr id="104" name="Shape 104"/>
          <p:cNvSpPr/>
          <p:nvPr/>
        </p:nvSpPr>
        <p:spPr>
          <a:xfrm>
            <a:off x="6248400" y="3962400"/>
            <a:ext cx="52578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5" name="Image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4038600"/>
            <a:ext cx="40132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S0 → S1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 Moves to S1 Only on 01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11277600" cy="1822426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5166920" y="1474340"/>
            <a:ext cx="0" cy="1567286"/>
          </a:xfrm>
          <a:prstGeom prst="line">
            <a:avLst/>
          </a:prstGeom>
          <a:ln w="22225">
            <a:solidFill>
              <a:srgbClr val="64748B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5176445" y="3098776"/>
            <a:ext cx="3554334" cy="1143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6839312" y="3270226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6839312" y="32702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4861999" y="1976769"/>
            <a:ext cx="323971" cy="192939"/>
          </a:xfrm>
          <a:prstGeom prst="roundRect">
            <a:avLst>
              <a:gd name="adj" fmla="val 1481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8740304" y="1474340"/>
            <a:ext cx="0" cy="1567286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8749829" y="3098776"/>
            <a:ext cx="1410304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9340681" y="327022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9340681" y="32702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8435383" y="1976769"/>
            <a:ext cx="323971" cy="192939"/>
          </a:xfrm>
          <a:prstGeom prst="roundRect">
            <a:avLst>
              <a:gd name="adj" fmla="val 14810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10169658" y="1474340"/>
            <a:ext cx="0" cy="1567286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10179183" y="3098776"/>
            <a:ext cx="1517505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10823635" y="3270226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10823635" y="32702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9864737" y="1976769"/>
            <a:ext cx="323971" cy="192939"/>
          </a:xfrm>
          <a:prstGeom prst="roundRect">
            <a:avLst>
              <a:gd name="adj" fmla="val 14810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" name="Line 25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44450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27" name="Line 27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28575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28" name="Text 28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29" name="Line 29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cxnSp>
        <p:nvCxnSpPr>
          <p:cNvPr id="31" name="Line 31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2" name="Text 32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33" name="Line 33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28575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37" name="Line 37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6172200" y="495300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6172200" y="495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7124700" y="45529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71247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cxnSp>
        <p:nvCxnSpPr>
          <p:cNvPr id="45" name="Line 45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6" name="Text 46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49" name="Text 49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50" name="Shape 50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52" name="Text 52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53" name="Shape 53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55" name="Text 55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56" name="Shape 56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58" name="Text 58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9" name="Shape 59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61" name="Text 61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S1 → S2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Moves to S2 Only on 10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rcRect t="27725" b="34267"/>
          <a:stretch>
            <a:fillRect/>
          </a:stretch>
        </p:blipFill>
        <p:spPr>
          <a:xfrm>
            <a:off x="457200" y="1219200"/>
            <a:ext cx="11277600" cy="1716615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2265274" y="1459526"/>
            <a:ext cx="0" cy="1476289"/>
          </a:xfrm>
          <a:prstGeom prst="line">
            <a:avLst/>
          </a:prstGeom>
          <a:ln w="22225">
            <a:solidFill>
              <a:srgbClr val="64748B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2274799" y="2992965"/>
            <a:ext cx="2443308" cy="1143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3382153" y="3164415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3382153" y="31644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2246224" y="1810166"/>
            <a:ext cx="819019" cy="154777"/>
          </a:xfrm>
          <a:prstGeom prst="roundRect">
            <a:avLst>
              <a:gd name="adj" fmla="val 18462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4727632" y="1459526"/>
            <a:ext cx="0" cy="1476289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4737157" y="2992965"/>
            <a:ext cx="4202135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6723925" y="3164415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6723925" y="31644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427170" y="1950438"/>
            <a:ext cx="319512" cy="190821"/>
          </a:xfrm>
          <a:prstGeom prst="roundRect">
            <a:avLst>
              <a:gd name="adj" fmla="val 14974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8948818" y="1459526"/>
            <a:ext cx="0" cy="1476289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8958343" y="2992965"/>
            <a:ext cx="2731756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10209921" y="3164415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10209921" y="31644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8648355" y="1950438"/>
            <a:ext cx="319512" cy="190821"/>
          </a:xfrm>
          <a:prstGeom prst="roundRect">
            <a:avLst>
              <a:gd name="adj" fmla="val 14974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" name="Line 25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28575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27" name="Line 27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44450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28" name="Text 28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29" name="Line 29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cxnSp>
        <p:nvCxnSpPr>
          <p:cNvPr id="31" name="Line 31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2" name="Text 32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33" name="Line 33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37" name="Line 37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7124700" y="45529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71247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cxnSp>
        <p:nvCxnSpPr>
          <p:cNvPr id="43" name="Line 43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28575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44" name="Text 44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5" name="Shape 45"/>
          <p:cNvSpPr/>
          <p:nvPr/>
        </p:nvSpPr>
        <p:spPr>
          <a:xfrm>
            <a:off x="4533900" y="440055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6"/>
          <p:cNvSpPr txBox="1"/>
          <p:nvPr/>
        </p:nvSpPr>
        <p:spPr>
          <a:xfrm>
            <a:off x="4533900" y="4400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49" name="Text 49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50" name="Shape 50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52" name="Text 52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53" name="Shape 53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55" name="Text 55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56" name="Shape 56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58" name="Text 58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9" name="Shape 59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61" name="Text 61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S2 → S3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Moves to S3 Only on 11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11277600" cy="1989647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3688175" y="1497751"/>
            <a:ext cx="0" cy="1711096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3697700" y="3265997"/>
            <a:ext cx="1741699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4454250" y="3437447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454250" y="343744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3316975" y="2132626"/>
            <a:ext cx="390250" cy="224421"/>
          </a:xfrm>
          <a:prstGeom prst="roundRect">
            <a:avLst>
              <a:gd name="adj" fmla="val 12732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5448925" y="1497751"/>
            <a:ext cx="0" cy="1711096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5458450" y="3265997"/>
            <a:ext cx="3502449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7095374" y="3437447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7095374" y="343744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5077725" y="2132626"/>
            <a:ext cx="390250" cy="224421"/>
          </a:xfrm>
          <a:prstGeom prst="roundRect">
            <a:avLst>
              <a:gd name="adj" fmla="val 12732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8970423" y="1497751"/>
            <a:ext cx="0" cy="1711096"/>
          </a:xfrm>
          <a:prstGeom prst="line">
            <a:avLst/>
          </a:prstGeom>
          <a:ln w="22225">
            <a:solidFill>
              <a:srgbClr val="9333EA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8979948" y="3265997"/>
            <a:ext cx="2622074" cy="1143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10176685" y="3437447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10176685" y="343744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8599224" y="2132626"/>
            <a:ext cx="390250" cy="224421"/>
          </a:xfrm>
          <a:prstGeom prst="roundRect">
            <a:avLst>
              <a:gd name="adj" fmla="val 12732"/>
            </a:avLst>
          </a:prstGeom>
          <a:noFill/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" name="Line 25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28575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27" name="Line 27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28575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28" name="Text 28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29" name="Line 29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44450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cxnSp>
        <p:nvCxnSpPr>
          <p:cNvPr id="31" name="Line 31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2" name="Text 32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33" name="Line 33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37" name="Line 37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7124700" y="45529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71247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7124700" y="550545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7124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cxnSp>
        <p:nvCxnSpPr>
          <p:cNvPr id="45" name="Line 45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6" name="Text 46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49" name="Text 49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50" name="Shape 50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52" name="Text 52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53" name="Shape 53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55" name="Text 55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56" name="Shape 56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58" name="Text 58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9" name="Shape 59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61" name="Text 61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S3 → S4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Moves to S4 on 10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11277600" cy="1751417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4767208" y="1464398"/>
            <a:ext cx="0" cy="1506218"/>
          </a:xfrm>
          <a:prstGeom prst="line">
            <a:avLst/>
          </a:prstGeom>
          <a:ln w="22225">
            <a:solidFill>
              <a:srgbClr val="9333EA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4776733" y="3027767"/>
            <a:ext cx="2265406" cy="1143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5795136" y="3199217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5795136" y="319921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4443564" y="1967340"/>
            <a:ext cx="342694" cy="201832"/>
          </a:xfrm>
          <a:prstGeom prst="roundRect">
            <a:avLst>
              <a:gd name="adj" fmla="val 14157"/>
            </a:avLst>
          </a:prstGeom>
          <a:noFill/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7051664" y="1464398"/>
            <a:ext cx="0" cy="1506218"/>
          </a:xfrm>
          <a:prstGeom prst="line">
            <a:avLst/>
          </a:prstGeom>
          <a:ln w="22225">
            <a:solidFill>
              <a:srgbClr val="DB2777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7061189" y="3027767"/>
            <a:ext cx="4641241" cy="1143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9267510" y="3199217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9267510" y="319921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6728020" y="1967340"/>
            <a:ext cx="342694" cy="201832"/>
          </a:xfrm>
          <a:prstGeom prst="roundRect">
            <a:avLst>
              <a:gd name="adj" fmla="val 14157"/>
            </a:avLst>
          </a:prstGeom>
          <a:noFill/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9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0" name="Line 20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21" name="Text 21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22" name="Line 22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24" name="Line 24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28575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25" name="Text 25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cxnSp>
        <p:nvCxnSpPr>
          <p:cNvPr id="26" name="Line 26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44450">
            <a:solidFill>
              <a:srgbClr val="DB2777"/>
            </a:solidFill>
            <a:prstDash val="solid"/>
            <a:tailEnd type="triangle"/>
          </a:ln>
        </p:spPr>
      </p:cxnSp>
      <p:sp>
        <p:nvSpPr>
          <p:cNvPr id="27" name="Text 27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28" name="Line 28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29" name="Text 29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cxnSp>
        <p:nvCxnSpPr>
          <p:cNvPr id="30" name="Line 30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1" name="Text 31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32" name="Line 32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3" name="Text 33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4" name="Shape 34"/>
          <p:cNvSpPr/>
          <p:nvPr/>
        </p:nvSpPr>
        <p:spPr>
          <a:xfrm>
            <a:off x="7124700" y="550545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7124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6"/>
          <p:cNvSpPr/>
          <p:nvPr/>
        </p:nvSpPr>
        <p:spPr>
          <a:xfrm>
            <a:off x="4838700" y="5505450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4838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cxnSp>
        <p:nvCxnSpPr>
          <p:cNvPr id="38" name="Line 38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9" name="Text 39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0" name="Shape 40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42" name="Text 42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43" name="Shape 43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45" name="Text 45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46" name="Shape 46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48" name="Text 48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49" name="Shape 49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51" name="Text 51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2" name="Shape 52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54" name="Text 54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S3 → S0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Returns to S0 on 00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11277600" cy="2011726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4318691" y="1500842"/>
            <a:ext cx="0" cy="1730084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4328216" y="3288076"/>
            <a:ext cx="841901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4634866" y="3459526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634866" y="34595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3958671" y="2094197"/>
            <a:ext cx="379071" cy="219111"/>
          </a:xfrm>
          <a:prstGeom prst="roundRect">
            <a:avLst>
              <a:gd name="adj" fmla="val 13041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5179642" y="1500842"/>
            <a:ext cx="0" cy="1730084"/>
          </a:xfrm>
          <a:prstGeom prst="line">
            <a:avLst/>
          </a:prstGeom>
          <a:ln w="22225">
            <a:solidFill>
              <a:srgbClr val="9333EA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5189167" y="3288076"/>
            <a:ext cx="833376" cy="1143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5491555" y="3459526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5491555" y="34595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819621" y="2094197"/>
            <a:ext cx="379071" cy="219111"/>
          </a:xfrm>
          <a:prstGeom prst="roundRect">
            <a:avLst>
              <a:gd name="adj" fmla="val 13041"/>
            </a:avLst>
          </a:prstGeom>
          <a:noFill/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6032068" y="1500842"/>
            <a:ext cx="0" cy="1730084"/>
          </a:xfrm>
          <a:prstGeom prst="line">
            <a:avLst/>
          </a:prstGeom>
          <a:ln w="22225">
            <a:solidFill>
              <a:srgbClr val="64748B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6041593" y="3288076"/>
            <a:ext cx="2538229" cy="1143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7196407" y="3459526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7196407" y="34595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5672048" y="2094197"/>
            <a:ext cx="379071" cy="219111"/>
          </a:xfrm>
          <a:prstGeom prst="roundRect">
            <a:avLst>
              <a:gd name="adj" fmla="val 13041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4" name="Line 24"/>
          <p:cNvCxnSpPr/>
          <p:nvPr/>
        </p:nvCxnSpPr>
        <p:spPr>
          <a:xfrm>
            <a:off x="8589347" y="1500842"/>
            <a:ext cx="0" cy="1730084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25" name="Shape 25"/>
          <p:cNvSpPr/>
          <p:nvPr/>
        </p:nvSpPr>
        <p:spPr>
          <a:xfrm>
            <a:off x="8598872" y="3288076"/>
            <a:ext cx="310083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10034987" y="345952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10034987" y="34595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8229326" y="2094197"/>
            <a:ext cx="379071" cy="219111"/>
          </a:xfrm>
          <a:prstGeom prst="roundRect">
            <a:avLst>
              <a:gd name="adj" fmla="val 13041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0" name="Line 30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28575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31" name="Text 31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32" name="Line 32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28575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33" name="Text 33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34" name="Line 34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28575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35" name="Text 35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cxnSp>
        <p:nvCxnSpPr>
          <p:cNvPr id="36" name="Line 36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7" name="Text 37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38" name="Line 38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44450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39" name="Text 39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1" name="Text 41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42" name="Line 42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3" name="Text 43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44" name="Shape 44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6"/>
          <p:cNvSpPr/>
          <p:nvPr/>
        </p:nvSpPr>
        <p:spPr>
          <a:xfrm>
            <a:off x="7124700" y="550545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7124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6172200" y="495300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6172200" y="495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50"/>
          <p:cNvSpPr/>
          <p:nvPr/>
        </p:nvSpPr>
        <p:spPr>
          <a:xfrm>
            <a:off x="7124700" y="45529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71247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cxnSp>
        <p:nvCxnSpPr>
          <p:cNvPr id="52" name="Line 52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53" name="Text 53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54" name="Shape 54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5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56" name="Text 56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57" name="Shape 57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59" name="Text 59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60" name="Shape 60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62" name="Text 62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63" name="Shape 63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65" name="Text 65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66" name="Shape 66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7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68" name="Text 68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S3 → S1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Returns to S1 on 01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11277600" cy="1955012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3581804" y="1492902"/>
            <a:ext cx="0" cy="1681310"/>
          </a:xfrm>
          <a:prstGeom prst="line">
            <a:avLst/>
          </a:prstGeom>
          <a:ln w="22225">
            <a:solidFill>
              <a:srgbClr val="9333EA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3591329" y="3231362"/>
            <a:ext cx="1688384" cy="1143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4321221" y="3402812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321221" y="34028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3221267" y="2129714"/>
            <a:ext cx="379587" cy="219356"/>
          </a:xfrm>
          <a:prstGeom prst="roundRect">
            <a:avLst>
              <a:gd name="adj" fmla="val 13026"/>
            </a:avLst>
          </a:prstGeom>
          <a:noFill/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5289238" y="1492902"/>
            <a:ext cx="0" cy="1681310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5298763" y="3231362"/>
            <a:ext cx="4249534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7309230" y="340281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7309230" y="34028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928701" y="2129714"/>
            <a:ext cx="379587" cy="219356"/>
          </a:xfrm>
          <a:prstGeom prst="roundRect">
            <a:avLst>
              <a:gd name="adj" fmla="val 13026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9557822" y="1492902"/>
            <a:ext cx="0" cy="1681310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9567347" y="3231362"/>
            <a:ext cx="2132317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10519205" y="3402812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10519205" y="34028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9197285" y="2129714"/>
            <a:ext cx="379587" cy="219356"/>
          </a:xfrm>
          <a:prstGeom prst="roundRect">
            <a:avLst>
              <a:gd name="adj" fmla="val 13026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" name="Line 25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26" name="Text 26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27" name="Line 27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28575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28" name="Text 28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29" name="Line 29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28575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cxnSp>
        <p:nvCxnSpPr>
          <p:cNvPr id="31" name="Line 31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2" name="Text 32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cxnSp>
        <p:nvCxnSpPr>
          <p:cNvPr id="33" name="Line 33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44450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37" name="Line 37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7124700" y="550545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7124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41"/>
          <p:cNvSpPr/>
          <p:nvPr/>
        </p:nvSpPr>
        <p:spPr>
          <a:xfrm>
            <a:off x="6953250" y="5172075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6953250" y="51720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cxnSp>
        <p:nvCxnSpPr>
          <p:cNvPr id="45" name="Line 45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6" name="Text 46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49" name="Text 49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50" name="Shape 50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52" name="Text 52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53" name="Shape 53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55" name="Text 55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56" name="Shape 56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58" name="Text 58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9" name="Shape 59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61" name="Text 61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시뮬레이션 · S4 → S0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Returns to S0 Only on 00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61</a:t>
            </a:r>
            <a:endParaRPr lang="en-US" sz="900" dirty="0"/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11277600" cy="2176237"/>
          </a:xfrm>
          <a:prstGeom prst="rect">
            <a:avLst/>
          </a:prstGeom>
        </p:spPr>
      </p:pic>
      <p:cxnSp>
        <p:nvCxnSpPr>
          <p:cNvPr id="9" name="Line 9"/>
          <p:cNvCxnSpPr/>
          <p:nvPr/>
        </p:nvCxnSpPr>
        <p:spPr>
          <a:xfrm>
            <a:off x="4089655" y="1523873"/>
            <a:ext cx="0" cy="1871564"/>
          </a:xfrm>
          <a:prstGeom prst="line">
            <a:avLst/>
          </a:prstGeom>
          <a:ln w="22225">
            <a:solidFill>
              <a:srgbClr val="9333EA"/>
            </a:solidFill>
            <a:prstDash val="dash"/>
          </a:ln>
        </p:spPr>
      </p:cxnSp>
      <p:sp>
        <p:nvSpPr>
          <p:cNvPr id="10" name="Shape 10"/>
          <p:cNvSpPr/>
          <p:nvPr/>
        </p:nvSpPr>
        <p:spPr>
          <a:xfrm>
            <a:off x="4099180" y="3452587"/>
            <a:ext cx="798050" cy="1143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4383905" y="3624037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2"/>
          <p:cNvSpPr txBox="1"/>
          <p:nvPr/>
        </p:nvSpPr>
        <p:spPr>
          <a:xfrm>
            <a:off x="4383905" y="362403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3747001" y="2080536"/>
            <a:ext cx="361704" cy="210862"/>
          </a:xfrm>
          <a:prstGeom prst="roundRect">
            <a:avLst>
              <a:gd name="adj" fmla="val 13551"/>
            </a:avLst>
          </a:prstGeom>
          <a:noFill/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4" name="Line 14"/>
          <p:cNvCxnSpPr/>
          <p:nvPr/>
        </p:nvCxnSpPr>
        <p:spPr>
          <a:xfrm>
            <a:off x="4906755" y="1523873"/>
            <a:ext cx="0" cy="1871564"/>
          </a:xfrm>
          <a:prstGeom prst="line">
            <a:avLst/>
          </a:prstGeom>
          <a:ln w="22225">
            <a:solidFill>
              <a:srgbClr val="DB2777"/>
            </a:solidFill>
            <a:prstDash val="dash"/>
          </a:ln>
        </p:spPr>
      </p:cxnSp>
      <p:sp>
        <p:nvSpPr>
          <p:cNvPr id="15" name="Shape 15"/>
          <p:cNvSpPr/>
          <p:nvPr/>
        </p:nvSpPr>
        <p:spPr>
          <a:xfrm>
            <a:off x="4916280" y="3452587"/>
            <a:ext cx="3216990" cy="1143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6410475" y="3624037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6410475" y="362403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564101" y="2080536"/>
            <a:ext cx="361704" cy="210862"/>
          </a:xfrm>
          <a:prstGeom prst="roundRect">
            <a:avLst>
              <a:gd name="adj" fmla="val 13551"/>
            </a:avLst>
          </a:prstGeom>
          <a:noFill/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9" name="Line 19"/>
          <p:cNvCxnSpPr/>
          <p:nvPr/>
        </p:nvCxnSpPr>
        <p:spPr>
          <a:xfrm>
            <a:off x="8142795" y="1523873"/>
            <a:ext cx="0" cy="1871564"/>
          </a:xfrm>
          <a:prstGeom prst="line">
            <a:avLst/>
          </a:prstGeom>
          <a:ln w="22225">
            <a:solidFill>
              <a:srgbClr val="64748B"/>
            </a:solidFill>
            <a:prstDash val="dash"/>
          </a:ln>
        </p:spPr>
      </p:cxnSp>
      <p:sp>
        <p:nvSpPr>
          <p:cNvPr id="20" name="Shape 20"/>
          <p:cNvSpPr/>
          <p:nvPr/>
        </p:nvSpPr>
        <p:spPr>
          <a:xfrm>
            <a:off x="8152320" y="3452587"/>
            <a:ext cx="789960" cy="1143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8433000" y="3624037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8433000" y="362403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7800141" y="2080536"/>
            <a:ext cx="361704" cy="210862"/>
          </a:xfrm>
          <a:prstGeom prst="roundRect">
            <a:avLst>
              <a:gd name="adj" fmla="val 13551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4" name="Line 24"/>
          <p:cNvCxnSpPr/>
          <p:nvPr/>
        </p:nvCxnSpPr>
        <p:spPr>
          <a:xfrm>
            <a:off x="8951805" y="1523873"/>
            <a:ext cx="0" cy="1871564"/>
          </a:xfrm>
          <a:prstGeom prst="line">
            <a:avLst/>
          </a:prstGeom>
          <a:ln w="22225">
            <a:solidFill>
              <a:srgbClr val="2563EB"/>
            </a:solidFill>
            <a:prstDash val="dash"/>
          </a:ln>
        </p:spPr>
      </p:cxnSp>
      <p:sp>
        <p:nvSpPr>
          <p:cNvPr id="25" name="Shape 25"/>
          <p:cNvSpPr/>
          <p:nvPr/>
        </p:nvSpPr>
        <p:spPr>
          <a:xfrm>
            <a:off x="8961330" y="3452587"/>
            <a:ext cx="159897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9646515" y="3624037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9646515" y="362403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8609151" y="2080536"/>
            <a:ext cx="361704" cy="210862"/>
          </a:xfrm>
          <a:prstGeom prst="roundRect">
            <a:avLst>
              <a:gd name="adj" fmla="val 13551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9" name="Line 29"/>
          <p:cNvCxnSpPr/>
          <p:nvPr/>
        </p:nvCxnSpPr>
        <p:spPr>
          <a:xfrm>
            <a:off x="10569826" y="1523873"/>
            <a:ext cx="0" cy="1871564"/>
          </a:xfrm>
          <a:prstGeom prst="line">
            <a:avLst/>
          </a:prstGeom>
          <a:ln w="22225">
            <a:solidFill>
              <a:srgbClr val="0891B2"/>
            </a:solidFill>
            <a:prstDash val="dash"/>
          </a:ln>
        </p:spPr>
      </p:cxnSp>
      <p:sp>
        <p:nvSpPr>
          <p:cNvPr id="30" name="Shape 30"/>
          <p:cNvSpPr/>
          <p:nvPr/>
        </p:nvSpPr>
        <p:spPr>
          <a:xfrm>
            <a:off x="10579351" y="3452587"/>
            <a:ext cx="789960" cy="1143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31"/>
          <p:cNvSpPr/>
          <p:nvPr/>
        </p:nvSpPr>
        <p:spPr>
          <a:xfrm>
            <a:off x="10860031" y="3624037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10860031" y="362403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3"/>
          <p:cNvSpPr/>
          <p:nvPr/>
        </p:nvSpPr>
        <p:spPr>
          <a:xfrm>
            <a:off x="10227172" y="2080536"/>
            <a:ext cx="361704" cy="210862"/>
          </a:xfrm>
          <a:prstGeom prst="roundRect">
            <a:avLst>
              <a:gd name="adj" fmla="val 13551"/>
            </a:avLst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4"/>
          <p:cNvSpPr/>
          <p:nvPr/>
        </p:nvSpPr>
        <p:spPr>
          <a:xfrm>
            <a:off x="457200" y="4000500"/>
            <a:ext cx="112776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5" name="Line 35"/>
          <p:cNvCxnSpPr/>
          <p:nvPr/>
        </p:nvCxnSpPr>
        <p:spPr>
          <a:xfrm>
            <a:off x="6419850" y="4514850"/>
            <a:ext cx="1628775" cy="0"/>
          </a:xfrm>
          <a:prstGeom prst="line">
            <a:avLst/>
          </a:prstGeom>
          <a:ln w="28575">
            <a:solidFill>
              <a:srgbClr val="2563EB"/>
            </a:solidFill>
            <a:prstDash val="solid"/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7048500" y="42767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cxnSp>
        <p:nvCxnSpPr>
          <p:cNvPr id="37" name="Line 37"/>
          <p:cNvCxnSpPr/>
          <p:nvPr/>
        </p:nvCxnSpPr>
        <p:spPr>
          <a:xfrm>
            <a:off x="8382000" y="4838700"/>
            <a:ext cx="0" cy="600075"/>
          </a:xfrm>
          <a:prstGeom prst="line">
            <a:avLst/>
          </a:prstGeom>
          <a:ln w="28575">
            <a:solidFill>
              <a:srgbClr val="0891B2"/>
            </a:solidFill>
            <a:prstDash val="solid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84010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39" name="Line 39"/>
          <p:cNvCxnSpPr/>
          <p:nvPr/>
        </p:nvCxnSpPr>
        <p:spPr>
          <a:xfrm flipH="1">
            <a:off x="6429375" y="5772150"/>
            <a:ext cx="1628775" cy="0"/>
          </a:xfrm>
          <a:prstGeom prst="line">
            <a:avLst/>
          </a:prstGeom>
          <a:ln w="28575">
            <a:solidFill>
              <a:srgbClr val="9333EA"/>
            </a:solidFill>
            <a:prstDash val="solid"/>
            <a:tailEnd type="triangle"/>
          </a:ln>
        </p:spPr>
      </p:cxnSp>
      <p:sp>
        <p:nvSpPr>
          <p:cNvPr id="40" name="Text 40"/>
          <p:cNvSpPr txBox="1"/>
          <p:nvPr/>
        </p:nvSpPr>
        <p:spPr>
          <a:xfrm>
            <a:off x="7048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cxnSp>
        <p:nvCxnSpPr>
          <p:cNvPr id="41" name="Line 41"/>
          <p:cNvCxnSpPr/>
          <p:nvPr/>
        </p:nvCxnSpPr>
        <p:spPr>
          <a:xfrm flipH="1">
            <a:off x="4143375" y="5772150"/>
            <a:ext cx="1628775" cy="0"/>
          </a:xfrm>
          <a:prstGeom prst="line">
            <a:avLst/>
          </a:prstGeom>
          <a:ln w="28575">
            <a:solidFill>
              <a:srgbClr val="DB2777"/>
            </a:solidFill>
            <a:prstDash val="solid"/>
            <a:tailEnd type="triangle"/>
          </a:ln>
        </p:spPr>
      </p:cxnSp>
      <p:sp>
        <p:nvSpPr>
          <p:cNvPr id="42" name="Text 42"/>
          <p:cNvSpPr txBox="1"/>
          <p:nvPr/>
        </p:nvSpPr>
        <p:spPr>
          <a:xfrm>
            <a:off x="4762500" y="58388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cxnSp>
        <p:nvCxnSpPr>
          <p:cNvPr id="43" name="Line 43"/>
          <p:cNvCxnSpPr/>
          <p:nvPr/>
        </p:nvCxnSpPr>
        <p:spPr>
          <a:xfrm flipV="1">
            <a:off x="6096000" y="4848225"/>
            <a:ext cx="0" cy="600075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4" name="Text 44"/>
          <p:cNvSpPr txBox="1"/>
          <p:nvPr/>
        </p:nvSpPr>
        <p:spPr>
          <a:xfrm>
            <a:off x="5695950" y="50482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cxnSp>
        <p:nvCxnSpPr>
          <p:cNvPr id="45" name="Line 45"/>
          <p:cNvCxnSpPr/>
          <p:nvPr/>
        </p:nvCxnSpPr>
        <p:spPr>
          <a:xfrm flipV="1">
            <a:off x="6379763" y="4675510"/>
            <a:ext cx="1710129" cy="940571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46" name="Text 46"/>
          <p:cNvSpPr txBox="1"/>
          <p:nvPr/>
        </p:nvSpPr>
        <p:spPr>
          <a:xfrm>
            <a:off x="7191375" y="47815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cxnSp>
        <p:nvCxnSpPr>
          <p:cNvPr id="47" name="Line 47"/>
          <p:cNvCxnSpPr/>
          <p:nvPr/>
        </p:nvCxnSpPr>
        <p:spPr>
          <a:xfrm flipV="1">
            <a:off x="4093763" y="4675510"/>
            <a:ext cx="1710129" cy="940571"/>
          </a:xfrm>
          <a:prstGeom prst="line">
            <a:avLst/>
          </a:prstGeom>
          <a:ln w="44450">
            <a:solidFill>
              <a:srgbClr val="64748B"/>
            </a:solidFill>
            <a:prstDash val="solid"/>
            <a:tailEnd type="triangle"/>
          </a:ln>
        </p:spPr>
      </p:cxnSp>
      <p:sp>
        <p:nvSpPr>
          <p:cNvPr id="48" name="Text 48"/>
          <p:cNvSpPr txBox="1"/>
          <p:nvPr/>
        </p:nvSpPr>
        <p:spPr>
          <a:xfrm>
            <a:off x="4619625" y="48577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sp>
        <p:nvSpPr>
          <p:cNvPr id="49" name="Shape 49"/>
          <p:cNvSpPr/>
          <p:nvPr/>
        </p:nvSpPr>
        <p:spPr>
          <a:xfrm>
            <a:off x="7124700" y="550545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7124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51"/>
          <p:cNvSpPr/>
          <p:nvPr/>
        </p:nvSpPr>
        <p:spPr>
          <a:xfrm>
            <a:off x="4838700" y="5505450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4838700" y="5505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Shape 53"/>
          <p:cNvSpPr/>
          <p:nvPr/>
        </p:nvSpPr>
        <p:spPr>
          <a:xfrm>
            <a:off x="5029200" y="514350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5029200" y="5143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5"/>
          <p:cNvSpPr/>
          <p:nvPr/>
        </p:nvSpPr>
        <p:spPr>
          <a:xfrm>
            <a:off x="7124700" y="45529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712470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Shape 57"/>
          <p:cNvSpPr/>
          <p:nvPr/>
        </p:nvSpPr>
        <p:spPr>
          <a:xfrm>
            <a:off x="8058150" y="50292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805815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cxnSp>
        <p:nvCxnSpPr>
          <p:cNvPr id="59" name="Line 59"/>
          <p:cNvCxnSpPr/>
          <p:nvPr/>
        </p:nvCxnSpPr>
        <p:spPr>
          <a:xfrm>
            <a:off x="4762500" y="4514850"/>
            <a:ext cx="1000125" cy="0"/>
          </a:xfrm>
          <a:prstGeom prst="line">
            <a:avLst/>
          </a:prstGeom>
          <a:ln w="19050">
            <a:solidFill>
              <a:srgbClr val="CBD5E1"/>
            </a:solidFill>
            <a:prstDash val="solid"/>
            <a:tailEnd type="triangle"/>
          </a:ln>
        </p:spPr>
      </p:cxnSp>
      <p:sp>
        <p:nvSpPr>
          <p:cNvPr id="60" name="Text 60"/>
          <p:cNvSpPr txBox="1"/>
          <p:nvPr/>
        </p:nvSpPr>
        <p:spPr>
          <a:xfrm>
            <a:off x="4762500" y="42862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61" name="Shape 61"/>
          <p:cNvSpPr/>
          <p:nvPr/>
        </p:nvSpPr>
        <p:spPr>
          <a:xfrm>
            <a:off x="5791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5791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63" name="Text 63"/>
          <p:cNvSpPr txBox="1"/>
          <p:nvPr/>
        </p:nvSpPr>
        <p:spPr>
          <a:xfrm>
            <a:off x="5791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000" dirty="0"/>
          </a:p>
        </p:txBody>
      </p:sp>
      <p:sp>
        <p:nvSpPr>
          <p:cNvPr id="64" name="Shape 64"/>
          <p:cNvSpPr/>
          <p:nvPr/>
        </p:nvSpPr>
        <p:spPr>
          <a:xfrm>
            <a:off x="8077200" y="42100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8077200" y="4305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66" name="Text 66"/>
          <p:cNvSpPr txBox="1"/>
          <p:nvPr/>
        </p:nvSpPr>
        <p:spPr>
          <a:xfrm>
            <a:off x="8077200" y="45434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67" name="Shape 67"/>
          <p:cNvSpPr/>
          <p:nvPr/>
        </p:nvSpPr>
        <p:spPr>
          <a:xfrm>
            <a:off x="8077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8"/>
          <p:cNvSpPr txBox="1"/>
          <p:nvPr/>
        </p:nvSpPr>
        <p:spPr>
          <a:xfrm>
            <a:off x="8077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69" name="Text 69"/>
          <p:cNvSpPr txBox="1"/>
          <p:nvPr/>
        </p:nvSpPr>
        <p:spPr>
          <a:xfrm>
            <a:off x="8077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70" name="Shape 70"/>
          <p:cNvSpPr/>
          <p:nvPr/>
        </p:nvSpPr>
        <p:spPr>
          <a:xfrm>
            <a:off x="5791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5791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72" name="Text 72"/>
          <p:cNvSpPr txBox="1"/>
          <p:nvPr/>
        </p:nvSpPr>
        <p:spPr>
          <a:xfrm>
            <a:off x="5791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73" name="Shape 73"/>
          <p:cNvSpPr/>
          <p:nvPr/>
        </p:nvSpPr>
        <p:spPr>
          <a:xfrm>
            <a:off x="3505200" y="546735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3505200" y="55626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500" dirty="0"/>
          </a:p>
        </p:txBody>
      </p:sp>
      <p:sp>
        <p:nvSpPr>
          <p:cNvPr id="75" name="Text 75"/>
          <p:cNvSpPr txBox="1"/>
          <p:nvPr/>
        </p:nvSpPr>
        <p:spPr>
          <a:xfrm>
            <a:off x="3505200" y="580072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Latch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Missing Default Leaves N_State Unassigned, Inferring a Latch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64505"/>
            <a:ext cx="4953000" cy="2857500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416905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State[2:0] = 8가지 코드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83600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93125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25510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283600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28800" y="293125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25510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283600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971800" y="293125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71800" y="325510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283600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14800" y="293125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325510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88375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5800" y="397900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30285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388375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FDECEC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0" y="397900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430285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 없음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71800" y="388375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FDECEC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971800" y="397900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71800" y="430285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 없음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0" y="3883755"/>
            <a:ext cx="1009650" cy="876300"/>
          </a:xfrm>
          <a:prstGeom prst="roundRect">
            <a:avLst>
              <a:gd name="adj" fmla="val 6261"/>
            </a:avLst>
          </a:prstGeom>
          <a:solidFill>
            <a:srgbClr val="FDECEC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14800" y="397900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0" y="430285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 없음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62600" y="2264505"/>
            <a:ext cx="6172200" cy="2857500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53100" y="239785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없음 → RTL_LATCH</a:t>
            </a:r>
            <a:endParaRPr lang="en-US" sz="1500" dirty="0"/>
          </a:p>
        </p:txBody>
      </p:sp>
      <p:pic>
        <p:nvPicPr>
          <p:cNvPr id="35" name="Image 0" descr="img/s3_lat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740755"/>
            <a:ext cx="5791200" cy="16002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600950" y="2931255"/>
            <a:ext cx="800100" cy="666750"/>
          </a:xfrm>
          <a:prstGeom prst="rect">
            <a:avLst/>
          </a:prstGeom>
          <a:ln w="285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753100" y="440763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5783385" y="4709742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Case </a:t>
            </a:r>
            <a:r>
              <a:rPr lang="ko-KR" alt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문에서 </a:t>
            </a:r>
            <a:r>
              <a:rPr lang="en-US" altLang="ko-KR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default</a:t>
            </a:r>
            <a:r>
              <a:rPr lang="ko-KR" alt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문을 명시하지 않을 경우 합성단계에서 </a:t>
            </a:r>
            <a:r>
              <a:rPr lang="en-US" altLang="ko-KR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Latch</a:t>
            </a:r>
            <a:r>
              <a:rPr lang="ko-KR" alt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가 발생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61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RTL Schematic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Default, Only the State Register Stores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1000" y="1295400"/>
            <a:ext cx="114300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s3_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28750"/>
            <a:ext cx="11239500" cy="46383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4025" y="1630416"/>
            <a:ext cx="7528852" cy="4234979"/>
          </a:xfrm>
          <a:prstGeom prst="rect">
            <a:avLst/>
          </a:prstGeom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14025" y="1401816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Next-State Logic · RTL_MUX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12597" y="4420124"/>
            <a:ext cx="1041939" cy="873885"/>
          </a:xfrm>
          <a:prstGeom prst="rect">
            <a:avLst/>
          </a:prstGeom>
          <a:ln w="285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912597" y="4191524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State_reg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257035" y="3848738"/>
            <a:ext cx="773052" cy="537775"/>
          </a:xfrm>
          <a:prstGeom prst="rect">
            <a:avLst/>
          </a:prstGeom>
          <a:ln w="285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0257035" y="3620138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o_led ROM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61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Board I/O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· SW0 Drive i_sw, BTNC Resets, LD2 ~ LD0 Show o_led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78105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99" name="그림 16">
            <a:extLst>
              <a:ext uri="{FF2B5EF4-FFF2-40B4-BE49-F238E27FC236}">
                <a16:creationId xmlns:a16="http://schemas.microsoft.com/office/drawing/2014/main" id="{977454D4-6E36-AB0F-A412-78F847DE0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53"/>
          <a:stretch>
            <a:fillRect/>
          </a:stretch>
        </p:blipFill>
        <p:spPr>
          <a:xfrm rot="16200000">
            <a:off x="1471524" y="819373"/>
            <a:ext cx="3657601" cy="5886546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4600575" y="3705225"/>
            <a:ext cx="180975" cy="180975"/>
          </a:xfrm>
          <a:prstGeom prst="ellips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10"/>
          <p:cNvSpPr/>
          <p:nvPr/>
        </p:nvSpPr>
        <p:spPr>
          <a:xfrm>
            <a:off x="4838700" y="4152900"/>
            <a:ext cx="628650" cy="171450"/>
          </a:xfrm>
          <a:prstGeom prst="roundRect">
            <a:avLst>
              <a:gd name="adj" fmla="val 16666"/>
            </a:avLst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1"/>
          <p:cNvSpPr/>
          <p:nvPr/>
        </p:nvSpPr>
        <p:spPr>
          <a:xfrm>
            <a:off x="5153025" y="4400550"/>
            <a:ext cx="476250" cy="49530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12" name="Line 12"/>
          <p:cNvCxnSpPr/>
          <p:nvPr/>
        </p:nvCxnSpPr>
        <p:spPr>
          <a:xfrm flipV="1">
            <a:off x="4781550" y="3009900"/>
            <a:ext cx="1543050" cy="781050"/>
          </a:xfrm>
          <a:prstGeom prst="line">
            <a:avLst/>
          </a:prstGeom>
          <a:ln w="19050">
            <a:solidFill>
              <a:srgbClr val="DC2626"/>
            </a:solidFill>
            <a:prstDash val="solid"/>
          </a:ln>
        </p:spPr>
      </p:cxnSp>
      <p:cxnSp>
        <p:nvCxnSpPr>
          <p:cNvPr id="13" name="Line 13"/>
          <p:cNvCxnSpPr/>
          <p:nvPr/>
        </p:nvCxnSpPr>
        <p:spPr>
          <a:xfrm>
            <a:off x="5467350" y="4238625"/>
            <a:ext cx="857250" cy="0"/>
          </a:xfrm>
          <a:prstGeom prst="line">
            <a:avLst/>
          </a:prstGeom>
          <a:ln w="19050">
            <a:solidFill>
              <a:srgbClr val="16A34A"/>
            </a:solidFill>
            <a:prstDash val="solid"/>
          </a:ln>
        </p:spPr>
      </p:cxnSp>
      <p:cxnSp>
        <p:nvCxnSpPr>
          <p:cNvPr id="14" name="Line 14"/>
          <p:cNvCxnSpPr/>
          <p:nvPr/>
        </p:nvCxnSpPr>
        <p:spPr>
          <a:xfrm>
            <a:off x="5629275" y="4743450"/>
            <a:ext cx="695325" cy="647700"/>
          </a:xfrm>
          <a:prstGeom prst="line">
            <a:avLst/>
          </a:prstGeom>
          <a:ln w="19050">
            <a:solidFill>
              <a:srgbClr val="2563EB"/>
            </a:solidFill>
            <a:prstDash val="solid"/>
          </a:ln>
        </p:spPr>
      </p:cxnSp>
      <p:sp>
        <p:nvSpPr>
          <p:cNvPr id="15" name="Shape 15"/>
          <p:cNvSpPr/>
          <p:nvPr/>
        </p:nvSpPr>
        <p:spPr>
          <a:xfrm>
            <a:off x="6324600" y="2819400"/>
            <a:ext cx="17907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6419850" y="28384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6419850" y="300990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BTNC · U18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6324600" y="4048125"/>
            <a:ext cx="17907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6419850" y="406717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o_led[2:0]</a:t>
            </a:r>
            <a:endParaRPr lang="en-US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6419850" y="423862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LD2 · LD1 · LD0</a:t>
            </a:r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6324600" y="5200650"/>
            <a:ext cx="17907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6419850" y="52197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i_sw[1:0]</a:t>
            </a:r>
            <a:endParaRPr lang="en-US" sz="1200" dirty="0"/>
          </a:p>
        </p:txBody>
      </p:sp>
      <p:sp>
        <p:nvSpPr>
          <p:cNvPr id="23" name="Text 23"/>
          <p:cNvSpPr txBox="1"/>
          <p:nvPr/>
        </p:nvSpPr>
        <p:spPr>
          <a:xfrm>
            <a:off x="6419850" y="539115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· SW0</a:t>
            </a:r>
            <a:endParaRPr lang="en-US" sz="1000" dirty="0"/>
          </a:p>
        </p:txBody>
      </p:sp>
      <p:sp>
        <p:nvSpPr>
          <p:cNvPr id="24" name="Shape 24"/>
          <p:cNvSpPr/>
          <p:nvPr/>
        </p:nvSpPr>
        <p:spPr>
          <a:xfrm>
            <a:off x="8420100" y="1295400"/>
            <a:ext cx="3314700" cy="4953000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8591550" y="14478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FSM_CON.xdc</a:t>
            </a:r>
            <a:endParaRPr lang="en-US" sz="1500" dirty="0"/>
          </a:p>
        </p:txBody>
      </p:sp>
      <p:sp>
        <p:nvSpPr>
          <p:cNvPr id="26" name="Shape 26"/>
          <p:cNvSpPr/>
          <p:nvPr/>
        </p:nvSpPr>
        <p:spPr>
          <a:xfrm>
            <a:off x="8591550" y="1828800"/>
            <a:ext cx="91440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8648700" y="1828800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9505950" y="1828800"/>
            <a:ext cx="62865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 txBox="1"/>
          <p:nvPr/>
        </p:nvSpPr>
        <p:spPr>
          <a:xfrm>
            <a:off x="9563100" y="1828800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</a:t>
            </a:r>
            <a:endParaRPr lang="en-US" sz="1100" dirty="0"/>
          </a:p>
        </p:txBody>
      </p:sp>
      <p:sp>
        <p:nvSpPr>
          <p:cNvPr id="30" name="Shape 30"/>
          <p:cNvSpPr/>
          <p:nvPr/>
        </p:nvSpPr>
        <p:spPr>
          <a:xfrm>
            <a:off x="10134600" y="1828800"/>
            <a:ext cx="49530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1"/>
          <p:cNvSpPr txBox="1"/>
          <p:nvPr/>
        </p:nvSpPr>
        <p:spPr>
          <a:xfrm>
            <a:off x="10191750" y="18288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</a:t>
            </a:r>
            <a:endParaRPr lang="en-US" sz="1100" dirty="0"/>
          </a:p>
        </p:txBody>
      </p:sp>
      <p:sp>
        <p:nvSpPr>
          <p:cNvPr id="32" name="Shape 32"/>
          <p:cNvSpPr/>
          <p:nvPr/>
        </p:nvSpPr>
        <p:spPr>
          <a:xfrm>
            <a:off x="10629900" y="1828800"/>
            <a:ext cx="933450" cy="381000"/>
          </a:xfrm>
          <a:prstGeom prst="rect">
            <a:avLst/>
          </a:prstGeom>
          <a:solidFill>
            <a:srgbClr val="1E29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3"/>
          <p:cNvSpPr txBox="1"/>
          <p:nvPr/>
        </p:nvSpPr>
        <p:spPr>
          <a:xfrm>
            <a:off x="10687050" y="1828800"/>
            <a:ext cx="81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Board</a:t>
            </a:r>
            <a:endParaRPr lang="en-US" sz="1100" dirty="0"/>
          </a:p>
        </p:txBody>
      </p:sp>
      <p:sp>
        <p:nvSpPr>
          <p:cNvPr id="34" name="Shape 34"/>
          <p:cNvSpPr/>
          <p:nvPr/>
        </p:nvSpPr>
        <p:spPr>
          <a:xfrm>
            <a:off x="8591550" y="22098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8686800" y="22098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100" dirty="0"/>
          </a:p>
        </p:txBody>
      </p:sp>
      <p:sp>
        <p:nvSpPr>
          <p:cNvPr id="36" name="Shape 36"/>
          <p:cNvSpPr/>
          <p:nvPr/>
        </p:nvSpPr>
        <p:spPr>
          <a:xfrm>
            <a:off x="9505950" y="22098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9601200" y="22098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100" dirty="0"/>
          </a:p>
        </p:txBody>
      </p:sp>
      <p:sp>
        <p:nvSpPr>
          <p:cNvPr id="38" name="Shape 38"/>
          <p:cNvSpPr/>
          <p:nvPr/>
        </p:nvSpPr>
        <p:spPr>
          <a:xfrm>
            <a:off x="10134600" y="22098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10229850" y="22098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</a:t>
            </a:r>
            <a:endParaRPr lang="en-US" sz="1100" dirty="0"/>
          </a:p>
        </p:txBody>
      </p:sp>
      <p:sp>
        <p:nvSpPr>
          <p:cNvPr id="40" name="Shape 40"/>
          <p:cNvSpPr/>
          <p:nvPr/>
        </p:nvSpPr>
        <p:spPr>
          <a:xfrm>
            <a:off x="10629900" y="22098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10725150" y="22098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endParaRPr lang="en-US" sz="1100" dirty="0"/>
          </a:p>
        </p:txBody>
      </p:sp>
      <p:sp>
        <p:nvSpPr>
          <p:cNvPr id="42" name="Shape 42"/>
          <p:cNvSpPr/>
          <p:nvPr/>
        </p:nvSpPr>
        <p:spPr>
          <a:xfrm>
            <a:off x="8591550" y="26670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8686800" y="26670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4" name="Shape 44"/>
          <p:cNvSpPr/>
          <p:nvPr/>
        </p:nvSpPr>
        <p:spPr>
          <a:xfrm>
            <a:off x="9505950" y="26670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9601200" y="26670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100" dirty="0"/>
          </a:p>
        </p:txBody>
      </p:sp>
      <p:sp>
        <p:nvSpPr>
          <p:cNvPr id="46" name="Shape 46"/>
          <p:cNvSpPr/>
          <p:nvPr/>
        </p:nvSpPr>
        <p:spPr>
          <a:xfrm>
            <a:off x="10134600" y="26670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10229850" y="26670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U18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10629900" y="26670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10725150" y="26670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BTNC</a:t>
            </a:r>
            <a:endParaRPr lang="en-US" sz="1100" dirty="0"/>
          </a:p>
        </p:txBody>
      </p:sp>
      <p:sp>
        <p:nvSpPr>
          <p:cNvPr id="50" name="Shape 50"/>
          <p:cNvSpPr/>
          <p:nvPr/>
        </p:nvSpPr>
        <p:spPr>
          <a:xfrm>
            <a:off x="8591550" y="31242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8686800" y="31242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i_sw[0]</a:t>
            </a:r>
            <a:endParaRPr lang="en-US" sz="1100" dirty="0"/>
          </a:p>
        </p:txBody>
      </p:sp>
      <p:sp>
        <p:nvSpPr>
          <p:cNvPr id="52" name="Shape 52"/>
          <p:cNvSpPr/>
          <p:nvPr/>
        </p:nvSpPr>
        <p:spPr>
          <a:xfrm>
            <a:off x="9505950" y="31242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9601200" y="31242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100" dirty="0"/>
          </a:p>
        </p:txBody>
      </p:sp>
      <p:sp>
        <p:nvSpPr>
          <p:cNvPr id="54" name="Shape 54"/>
          <p:cNvSpPr/>
          <p:nvPr/>
        </p:nvSpPr>
        <p:spPr>
          <a:xfrm>
            <a:off x="10134600" y="31242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5"/>
          <p:cNvSpPr txBox="1"/>
          <p:nvPr/>
        </p:nvSpPr>
        <p:spPr>
          <a:xfrm>
            <a:off x="10229850" y="31242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V17</a:t>
            </a:r>
            <a:endParaRPr lang="en-US" sz="1100" dirty="0"/>
          </a:p>
        </p:txBody>
      </p:sp>
      <p:sp>
        <p:nvSpPr>
          <p:cNvPr id="56" name="Shape 56"/>
          <p:cNvSpPr/>
          <p:nvPr/>
        </p:nvSpPr>
        <p:spPr>
          <a:xfrm>
            <a:off x="10629900" y="31242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10725150" y="31242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SW0</a:t>
            </a:r>
            <a:endParaRPr lang="en-US" sz="1100" dirty="0"/>
          </a:p>
        </p:txBody>
      </p:sp>
      <p:sp>
        <p:nvSpPr>
          <p:cNvPr id="58" name="Shape 58"/>
          <p:cNvSpPr/>
          <p:nvPr/>
        </p:nvSpPr>
        <p:spPr>
          <a:xfrm>
            <a:off x="8591550" y="35814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9"/>
          <p:cNvSpPr txBox="1"/>
          <p:nvPr/>
        </p:nvSpPr>
        <p:spPr>
          <a:xfrm>
            <a:off x="8686800" y="35814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i_sw[1]</a:t>
            </a:r>
            <a:endParaRPr lang="en-US" sz="1100" dirty="0"/>
          </a:p>
        </p:txBody>
      </p:sp>
      <p:sp>
        <p:nvSpPr>
          <p:cNvPr id="60" name="Shape 60"/>
          <p:cNvSpPr/>
          <p:nvPr/>
        </p:nvSpPr>
        <p:spPr>
          <a:xfrm>
            <a:off x="9505950" y="35814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9601200" y="35814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100" dirty="0"/>
          </a:p>
        </p:txBody>
      </p:sp>
      <p:sp>
        <p:nvSpPr>
          <p:cNvPr id="62" name="Shape 62"/>
          <p:cNvSpPr/>
          <p:nvPr/>
        </p:nvSpPr>
        <p:spPr>
          <a:xfrm>
            <a:off x="10134600" y="35814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3"/>
          <p:cNvSpPr txBox="1"/>
          <p:nvPr/>
        </p:nvSpPr>
        <p:spPr>
          <a:xfrm>
            <a:off x="10229850" y="35814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V16</a:t>
            </a:r>
            <a:endParaRPr lang="en-US" sz="1100" dirty="0"/>
          </a:p>
        </p:txBody>
      </p:sp>
      <p:sp>
        <p:nvSpPr>
          <p:cNvPr id="64" name="Shape 64"/>
          <p:cNvSpPr/>
          <p:nvPr/>
        </p:nvSpPr>
        <p:spPr>
          <a:xfrm>
            <a:off x="10629900" y="35814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10725150" y="35814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</a:t>
            </a:r>
            <a:endParaRPr lang="en-US" sz="1100" dirty="0"/>
          </a:p>
        </p:txBody>
      </p:sp>
      <p:sp>
        <p:nvSpPr>
          <p:cNvPr id="66" name="Shape 66"/>
          <p:cNvSpPr/>
          <p:nvPr/>
        </p:nvSpPr>
        <p:spPr>
          <a:xfrm>
            <a:off x="8591550" y="40386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7"/>
          <p:cNvSpPr txBox="1"/>
          <p:nvPr/>
        </p:nvSpPr>
        <p:spPr>
          <a:xfrm>
            <a:off x="8686800" y="40386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o_led[0]</a:t>
            </a:r>
            <a:endParaRPr lang="en-US" sz="1100" dirty="0"/>
          </a:p>
        </p:txBody>
      </p:sp>
      <p:sp>
        <p:nvSpPr>
          <p:cNvPr id="68" name="Shape 68"/>
          <p:cNvSpPr/>
          <p:nvPr/>
        </p:nvSpPr>
        <p:spPr>
          <a:xfrm>
            <a:off x="9505950" y="40386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9"/>
          <p:cNvSpPr txBox="1"/>
          <p:nvPr/>
        </p:nvSpPr>
        <p:spPr>
          <a:xfrm>
            <a:off x="9601200" y="40386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100" dirty="0"/>
          </a:p>
        </p:txBody>
      </p:sp>
      <p:sp>
        <p:nvSpPr>
          <p:cNvPr id="70" name="Shape 70"/>
          <p:cNvSpPr/>
          <p:nvPr/>
        </p:nvSpPr>
        <p:spPr>
          <a:xfrm>
            <a:off x="10134600" y="40386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10229850" y="40386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endParaRPr lang="en-US" sz="1100" dirty="0"/>
          </a:p>
        </p:txBody>
      </p:sp>
      <p:sp>
        <p:nvSpPr>
          <p:cNvPr id="72" name="Shape 72"/>
          <p:cNvSpPr/>
          <p:nvPr/>
        </p:nvSpPr>
        <p:spPr>
          <a:xfrm>
            <a:off x="10629900" y="40386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3"/>
          <p:cNvSpPr txBox="1"/>
          <p:nvPr/>
        </p:nvSpPr>
        <p:spPr>
          <a:xfrm>
            <a:off x="10725150" y="40386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LD0</a:t>
            </a:r>
            <a:endParaRPr lang="en-US" sz="1100" dirty="0"/>
          </a:p>
        </p:txBody>
      </p:sp>
      <p:sp>
        <p:nvSpPr>
          <p:cNvPr id="74" name="Shape 74"/>
          <p:cNvSpPr/>
          <p:nvPr/>
        </p:nvSpPr>
        <p:spPr>
          <a:xfrm>
            <a:off x="8591550" y="44958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5"/>
          <p:cNvSpPr txBox="1"/>
          <p:nvPr/>
        </p:nvSpPr>
        <p:spPr>
          <a:xfrm>
            <a:off x="8686800" y="44958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o_led[1]</a:t>
            </a:r>
            <a:endParaRPr lang="en-US" sz="1100" dirty="0"/>
          </a:p>
        </p:txBody>
      </p:sp>
      <p:sp>
        <p:nvSpPr>
          <p:cNvPr id="76" name="Shape 76"/>
          <p:cNvSpPr/>
          <p:nvPr/>
        </p:nvSpPr>
        <p:spPr>
          <a:xfrm>
            <a:off x="9505950" y="44958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7"/>
          <p:cNvSpPr txBox="1"/>
          <p:nvPr/>
        </p:nvSpPr>
        <p:spPr>
          <a:xfrm>
            <a:off x="9601200" y="44958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100" dirty="0"/>
          </a:p>
        </p:txBody>
      </p:sp>
      <p:sp>
        <p:nvSpPr>
          <p:cNvPr id="78" name="Shape 78"/>
          <p:cNvSpPr/>
          <p:nvPr/>
        </p:nvSpPr>
        <p:spPr>
          <a:xfrm>
            <a:off x="10134600" y="44958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9"/>
          <p:cNvSpPr txBox="1"/>
          <p:nvPr/>
        </p:nvSpPr>
        <p:spPr>
          <a:xfrm>
            <a:off x="10229850" y="44958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E19</a:t>
            </a:r>
            <a:endParaRPr lang="en-US" sz="1100" dirty="0"/>
          </a:p>
        </p:txBody>
      </p:sp>
      <p:sp>
        <p:nvSpPr>
          <p:cNvPr id="80" name="Shape 80"/>
          <p:cNvSpPr/>
          <p:nvPr/>
        </p:nvSpPr>
        <p:spPr>
          <a:xfrm>
            <a:off x="10629900" y="44958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81"/>
          <p:cNvSpPr txBox="1"/>
          <p:nvPr/>
        </p:nvSpPr>
        <p:spPr>
          <a:xfrm>
            <a:off x="10725150" y="44958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LD1</a:t>
            </a:r>
            <a:endParaRPr lang="en-US" sz="1100" dirty="0"/>
          </a:p>
        </p:txBody>
      </p:sp>
      <p:sp>
        <p:nvSpPr>
          <p:cNvPr id="82" name="Shape 82"/>
          <p:cNvSpPr/>
          <p:nvPr/>
        </p:nvSpPr>
        <p:spPr>
          <a:xfrm>
            <a:off x="8591550" y="49530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3"/>
          <p:cNvSpPr txBox="1"/>
          <p:nvPr/>
        </p:nvSpPr>
        <p:spPr>
          <a:xfrm>
            <a:off x="8686800" y="4953000"/>
            <a:ext cx="72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o_led[2]</a:t>
            </a:r>
            <a:endParaRPr lang="en-US" sz="1100" dirty="0"/>
          </a:p>
        </p:txBody>
      </p:sp>
      <p:sp>
        <p:nvSpPr>
          <p:cNvPr id="84" name="Shape 84"/>
          <p:cNvSpPr/>
          <p:nvPr/>
        </p:nvSpPr>
        <p:spPr>
          <a:xfrm>
            <a:off x="9505950" y="4953000"/>
            <a:ext cx="6286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5"/>
          <p:cNvSpPr txBox="1"/>
          <p:nvPr/>
        </p:nvSpPr>
        <p:spPr>
          <a:xfrm>
            <a:off x="9601200" y="4953000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100" dirty="0"/>
          </a:p>
        </p:txBody>
      </p:sp>
      <p:sp>
        <p:nvSpPr>
          <p:cNvPr id="86" name="Shape 86"/>
          <p:cNvSpPr/>
          <p:nvPr/>
        </p:nvSpPr>
        <p:spPr>
          <a:xfrm>
            <a:off x="10134600" y="4953000"/>
            <a:ext cx="495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7"/>
          <p:cNvSpPr txBox="1"/>
          <p:nvPr/>
        </p:nvSpPr>
        <p:spPr>
          <a:xfrm>
            <a:off x="10229850" y="49530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U19</a:t>
            </a:r>
            <a:endParaRPr lang="en-US" sz="1100" dirty="0"/>
          </a:p>
        </p:txBody>
      </p:sp>
      <p:sp>
        <p:nvSpPr>
          <p:cNvPr id="88" name="Shape 88"/>
          <p:cNvSpPr/>
          <p:nvPr/>
        </p:nvSpPr>
        <p:spPr>
          <a:xfrm>
            <a:off x="10629900" y="4953000"/>
            <a:ext cx="9334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9"/>
          <p:cNvSpPr txBox="1"/>
          <p:nvPr/>
        </p:nvSpPr>
        <p:spPr>
          <a:xfrm>
            <a:off x="10725150" y="49530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LD2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Homework-1 · Board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Board Test Photos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457200" y="1295400"/>
            <a:ext cx="112776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동작 사진 자리 (10/12 첨부 예정)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State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Is the Hub Between RUN and CLEAR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19250" y="3048000"/>
            <a:ext cx="1524000" cy="15240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19250" y="333756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47850" y="3829050"/>
            <a:ext cx="10668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619250" y="38862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34000" y="3048000"/>
            <a:ext cx="1524000" cy="15240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34000" y="333756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62600" y="3829050"/>
            <a:ext cx="10668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34000" y="38862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48750" y="3048000"/>
            <a:ext cx="1524000" cy="15240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048750" y="333756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77350" y="3829050"/>
            <a:ext cx="106680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048750" y="38862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flipH="1">
            <a:off x="3097530" y="3558540"/>
            <a:ext cx="228219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097530" y="3291840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01 · 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97530" y="4061460"/>
            <a:ext cx="228219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097530" y="4118610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00 ·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558540"/>
            <a:ext cx="228219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12280" y="3291840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6812280" y="4061460"/>
            <a:ext cx="228219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4118610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00 · 01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96000" y="2381250"/>
            <a:ext cx="0" cy="66675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72200" y="24193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66875" y="4743450"/>
            <a:ext cx="14287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666875" y="47434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01 · 11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81625" y="4743450"/>
            <a:ext cx="14287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81625" y="47434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96375" y="4743450"/>
            <a:ext cx="14287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096375" y="47434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HOLD 10 · 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61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Block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 Logic Wraps One State Register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5000" y="1428750"/>
            <a:ext cx="8382000" cy="4191000"/>
          </a:xfrm>
          <a:prstGeom prst="rect">
            <a:avLst/>
          </a:prstGeom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9300" y="1485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FSM_RUN_STOP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3367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4350" y="27336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i_sw[1:0]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5292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4350" y="435292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29175"/>
            <a:ext cx="1238250" cy="247650"/>
          </a:xfrm>
          <a:prstGeom prst="homePlate">
            <a:avLst/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4350" y="48291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72750" y="3019425"/>
            <a:ext cx="1238250" cy="247650"/>
          </a:xfrm>
          <a:prstGeom prst="homePlate">
            <a:avLst/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629900" y="301942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o_sw[2:0]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57500" y="2381250"/>
            <a:ext cx="2000250" cy="1524000"/>
          </a:xfrm>
          <a:prstGeom prst="roundRect">
            <a:avLst>
              <a:gd name="adj" fmla="val 3600"/>
            </a:avLst>
          </a:prstGeom>
          <a:solidFill>
            <a:srgbClr val="ECFE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857500" y="2457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Next-State 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57500" y="26670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00350" y="280035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952750" y="2762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00350" y="3467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952750" y="3429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62375" y="3048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n_state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571750"/>
            <a:ext cx="1809750" cy="2762250"/>
          </a:xfrm>
          <a:prstGeom prst="roundRect">
            <a:avLst>
              <a:gd name="adj" fmla="val 3032"/>
            </a:avLst>
          </a:prstGeom>
          <a:solidFill>
            <a:srgbClr val="FEF2F2"/>
          </a:solidFill>
          <a:ln w="222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715000" y="26479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state_reg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5750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7850" y="3086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10250" y="30480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57850" y="4419600"/>
            <a:ext cx="114300" cy="1143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810250" y="43815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57850" y="4895850"/>
            <a:ext cx="114300" cy="1143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810250" y="485775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 / PRE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676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524625" y="30480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82000" y="2571750"/>
            <a:ext cx="1619250" cy="1143000"/>
          </a:xfrm>
          <a:prstGeom prst="roundRect">
            <a:avLst>
              <a:gd name="adj" fmla="val 4800"/>
            </a:avLst>
          </a:prstGeom>
          <a:solidFill>
            <a:srgbClr val="ECFEFF"/>
          </a:solidFill>
          <a:ln w="222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382000" y="26479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 Decode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82000" y="2857500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4850" y="3086100"/>
            <a:ext cx="114300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477250" y="3048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44100" y="3086100"/>
            <a:ext cx="114300" cy="1143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096375" y="3048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95450" y="2857500"/>
            <a:ext cx="110490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14900" y="3143250"/>
            <a:ext cx="7429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695450" y="4476750"/>
            <a:ext cx="39624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695450" y="4953000"/>
            <a:ext cx="39624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581900" y="3143250"/>
            <a:ext cx="7429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0058400" y="3143250"/>
            <a:ext cx="5143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953375" y="3143250"/>
            <a:ext cx="0" cy="104775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 flipH="1">
            <a:off x="2476500" y="4191000"/>
            <a:ext cx="5476875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 flipV="1">
            <a:off x="2476500" y="3524250"/>
            <a:ext cx="0" cy="66675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476500" y="3524250"/>
            <a:ext cx="32385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953000" y="29146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n_state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20000" y="29146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095500" y="5829300"/>
            <a:ext cx="209550" cy="15240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381250" y="58102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Combinational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000500" y="5829300"/>
            <a:ext cx="209550" cy="152400"/>
          </a:xfrm>
          <a:prstGeom prst="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286250" y="58102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61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코드 연결 · State Register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Enum and State Register Hold the Current State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491199"/>
            <a:ext cx="5715000" cy="2249091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2624549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logic [2:0] {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44815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844815"/>
            <a:ext cx="47625" cy="220266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9600" y="2844815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 = 3'd0, stop = 3'd1, run = 3'd2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9600" y="3065080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state_t;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9600" y="3285346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state_t state, n_state;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9600" y="3505612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9600" y="3725877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i_clk or posedge i_reset) begin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46143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946143"/>
            <a:ext cx="47625" cy="22026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9600" y="3946143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(i_reset) state &lt;= stop;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66408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4166408"/>
            <a:ext cx="47625" cy="22026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9600" y="4166408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state &lt;= n_state;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600" y="4386674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62700" y="1295400"/>
            <a:ext cx="53721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362700" y="3352800"/>
            <a:ext cx="914400" cy="9144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627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412" dirty="0"/>
          </a:p>
        </p:txBody>
      </p:sp>
      <p:sp>
        <p:nvSpPr>
          <p:cNvPr id="26" name="Shape 24"/>
          <p:cNvSpPr/>
          <p:nvPr/>
        </p:nvSpPr>
        <p:spPr>
          <a:xfrm>
            <a:off x="6499860" y="3829050"/>
            <a:ext cx="6400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627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59" dirty="0"/>
          </a:p>
        </p:txBody>
      </p:sp>
      <p:sp>
        <p:nvSpPr>
          <p:cNvPr id="28" name="Shape 26"/>
          <p:cNvSpPr/>
          <p:nvPr/>
        </p:nvSpPr>
        <p:spPr>
          <a:xfrm>
            <a:off x="8591550" y="3352800"/>
            <a:ext cx="914400" cy="9144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59155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412" dirty="0"/>
          </a:p>
        </p:txBody>
      </p:sp>
      <p:sp>
        <p:nvSpPr>
          <p:cNvPr id="30" name="Shape 28"/>
          <p:cNvSpPr/>
          <p:nvPr/>
        </p:nvSpPr>
        <p:spPr>
          <a:xfrm>
            <a:off x="8728710" y="3829050"/>
            <a:ext cx="6400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9155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59" dirty="0"/>
          </a:p>
        </p:txBody>
      </p:sp>
      <p:sp>
        <p:nvSpPr>
          <p:cNvPr id="32" name="Shape 30"/>
          <p:cNvSpPr/>
          <p:nvPr/>
        </p:nvSpPr>
        <p:spPr>
          <a:xfrm>
            <a:off x="10820400" y="3352800"/>
            <a:ext cx="914400" cy="9144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8204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412" dirty="0"/>
          </a:p>
        </p:txBody>
      </p:sp>
      <p:sp>
        <p:nvSpPr>
          <p:cNvPr id="34" name="Shape 32"/>
          <p:cNvSpPr/>
          <p:nvPr/>
        </p:nvSpPr>
        <p:spPr>
          <a:xfrm>
            <a:off x="10957560" y="3829050"/>
            <a:ext cx="64008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8204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9" dirty="0"/>
          </a:p>
        </p:txBody>
      </p:sp>
      <p:sp>
        <p:nvSpPr>
          <p:cNvPr id="36" name="Shape 34"/>
          <p:cNvSpPr/>
          <p:nvPr/>
        </p:nvSpPr>
        <p:spPr>
          <a:xfrm flipH="1">
            <a:off x="7249668" y="3659124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249668" y="3960876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478518" y="3659124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 flipH="1">
            <a:off x="9478518" y="3960876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048750" y="2952750"/>
            <a:ext cx="0" cy="400050"/>
          </a:xfrm>
          <a:prstGeom prst="line">
            <a:avLst/>
          </a:prstGeom>
          <a:noFill/>
          <a:ln w="4445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124950" y="297561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627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3627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9155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59155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204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08204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91300" y="14859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i_reset → STOP (클럭 무관)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91300" y="53340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상승 엣지마다 state ← n_state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667500" y="5676900"/>
            <a:ext cx="1485900" cy="3048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667500" y="56769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= 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05800" y="5676900"/>
            <a:ext cx="1485900" cy="3048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8305800" y="56769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= 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44100" y="5676900"/>
            <a:ext cx="1485900" cy="3048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875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9944100" y="56769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= 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61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코드 연결 · STOP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Branch Selects RUN or CLEAR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343156"/>
            <a:ext cx="5715000" cy="246935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2476506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(state)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9600" y="2696772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 : begin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9600" y="2917037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(i_sw)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37303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3137303"/>
            <a:ext cx="47625" cy="22026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9600" y="3137303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2'b11   : n_state = run;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57569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357569"/>
            <a:ext cx="47625" cy="22026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9600" y="3357569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2'b01   : n_state = run;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77834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577834"/>
            <a:ext cx="47625" cy="220266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9600" y="3577834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2'b10   : n_state = clear;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98100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798100"/>
            <a:ext cx="47625" cy="22026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9600" y="3798100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 : n_state = stop;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600" y="4018365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238631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238631"/>
            <a:ext cx="47625" cy="220266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9600" y="4238631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o_sw = 3'b001;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600" y="4458897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62700" y="1295400"/>
            <a:ext cx="53721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362700" y="3352800"/>
            <a:ext cx="914400" cy="9144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627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412" dirty="0"/>
          </a:p>
        </p:txBody>
      </p:sp>
      <p:sp>
        <p:nvSpPr>
          <p:cNvPr id="31" name="Shape 29"/>
          <p:cNvSpPr/>
          <p:nvPr/>
        </p:nvSpPr>
        <p:spPr>
          <a:xfrm>
            <a:off x="6499860" y="3829050"/>
            <a:ext cx="6400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627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59" dirty="0"/>
          </a:p>
        </p:txBody>
      </p:sp>
      <p:sp>
        <p:nvSpPr>
          <p:cNvPr id="33" name="Shape 31"/>
          <p:cNvSpPr/>
          <p:nvPr/>
        </p:nvSpPr>
        <p:spPr>
          <a:xfrm>
            <a:off x="8591550" y="3352800"/>
            <a:ext cx="914400" cy="9144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59155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412" dirty="0"/>
          </a:p>
        </p:txBody>
      </p:sp>
      <p:sp>
        <p:nvSpPr>
          <p:cNvPr id="35" name="Shape 33"/>
          <p:cNvSpPr/>
          <p:nvPr/>
        </p:nvSpPr>
        <p:spPr>
          <a:xfrm>
            <a:off x="8728710" y="3829050"/>
            <a:ext cx="6400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59155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59" dirty="0"/>
          </a:p>
        </p:txBody>
      </p:sp>
      <p:sp>
        <p:nvSpPr>
          <p:cNvPr id="37" name="Shape 35"/>
          <p:cNvSpPr/>
          <p:nvPr/>
        </p:nvSpPr>
        <p:spPr>
          <a:xfrm>
            <a:off x="10820400" y="3352800"/>
            <a:ext cx="914400" cy="9144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8204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412" dirty="0"/>
          </a:p>
        </p:txBody>
      </p:sp>
      <p:sp>
        <p:nvSpPr>
          <p:cNvPr id="39" name="Shape 37"/>
          <p:cNvSpPr/>
          <p:nvPr/>
        </p:nvSpPr>
        <p:spPr>
          <a:xfrm>
            <a:off x="10957560" y="3829050"/>
            <a:ext cx="64008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8204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9" dirty="0"/>
          </a:p>
        </p:txBody>
      </p:sp>
      <p:sp>
        <p:nvSpPr>
          <p:cNvPr id="41" name="Shape 39"/>
          <p:cNvSpPr/>
          <p:nvPr/>
        </p:nvSpPr>
        <p:spPr>
          <a:xfrm flipH="1">
            <a:off x="7249668" y="3659124"/>
            <a:ext cx="1369314" cy="0"/>
          </a:xfrm>
          <a:prstGeom prst="line">
            <a:avLst/>
          </a:prstGeom>
          <a:noFill/>
          <a:ln w="4445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7249668" y="3960876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478518" y="3659124"/>
            <a:ext cx="1369314" cy="0"/>
          </a:xfrm>
          <a:prstGeom prst="line">
            <a:avLst/>
          </a:prstGeom>
          <a:noFill/>
          <a:ln w="4445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 flipH="1">
            <a:off x="9478518" y="3960876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048750" y="2952750"/>
            <a:ext cx="0" cy="4000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124950" y="297561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627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3627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9155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859155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8204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08204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/ 61</a:t>
            </a:r>
            <a:endParaRPr lang="en-US" sz="9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B832ED1-8F15-C3C7-B3E0-07C46A07477E}"/>
              </a:ext>
            </a:extLst>
          </p:cNvPr>
          <p:cNvSpPr/>
          <p:nvPr/>
        </p:nvSpPr>
        <p:spPr>
          <a:xfrm>
            <a:off x="6820989" y="3431181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01 · 11</a:t>
            </a:r>
            <a:endParaRPr lang="en-US" sz="11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6E13AF74-8F18-FB1A-FCD4-F5E2E407EFCF}"/>
              </a:ext>
            </a:extLst>
          </p:cNvPr>
          <p:cNvSpPr/>
          <p:nvPr/>
        </p:nvSpPr>
        <p:spPr>
          <a:xfrm>
            <a:off x="9012828" y="3425027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10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코드 연결 · RUN · CLEAR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and CLEAR Branches Return to STOP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308320"/>
            <a:ext cx="5715000" cy="246935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2441670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 : begin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61936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661936"/>
            <a:ext cx="47625" cy="22026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9600" y="2661936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(!i_sw[1]) n_state = stop;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82201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882201"/>
            <a:ext cx="47625" cy="220266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" y="2882201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n_state = clear;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02467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102467"/>
            <a:ext cx="47625" cy="220266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9600" y="3102467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o_sw = 3'b100;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600" y="3322733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9600" y="3542998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 : begin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63264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763264"/>
            <a:ext cx="47625" cy="22026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9600" y="3763264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(!i_sw[0]) n_state = stop;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983529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983529"/>
            <a:ext cx="47625" cy="22026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9600" y="3983529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n_state = run;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203795"/>
            <a:ext cx="5715000" cy="22026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03795"/>
            <a:ext cx="47625" cy="220266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09600" y="4203795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o_sw = 3'b010;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9600" y="4424061"/>
            <a:ext cx="548640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62700" y="1295400"/>
            <a:ext cx="53721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62700" y="3352800"/>
            <a:ext cx="914400" cy="9144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627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412" dirty="0"/>
          </a:p>
        </p:txBody>
      </p:sp>
      <p:sp>
        <p:nvSpPr>
          <p:cNvPr id="33" name="Shape 31"/>
          <p:cNvSpPr/>
          <p:nvPr/>
        </p:nvSpPr>
        <p:spPr>
          <a:xfrm>
            <a:off x="6499860" y="3829050"/>
            <a:ext cx="6400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3627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59" dirty="0"/>
          </a:p>
        </p:txBody>
      </p:sp>
      <p:sp>
        <p:nvSpPr>
          <p:cNvPr id="35" name="Shape 33"/>
          <p:cNvSpPr/>
          <p:nvPr/>
        </p:nvSpPr>
        <p:spPr>
          <a:xfrm>
            <a:off x="8591550" y="3352800"/>
            <a:ext cx="914400" cy="9144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59155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412" dirty="0"/>
          </a:p>
        </p:txBody>
      </p:sp>
      <p:sp>
        <p:nvSpPr>
          <p:cNvPr id="37" name="Shape 35"/>
          <p:cNvSpPr/>
          <p:nvPr/>
        </p:nvSpPr>
        <p:spPr>
          <a:xfrm>
            <a:off x="8728710" y="3829050"/>
            <a:ext cx="6400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59155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59" dirty="0"/>
          </a:p>
        </p:txBody>
      </p:sp>
      <p:sp>
        <p:nvSpPr>
          <p:cNvPr id="39" name="Shape 37"/>
          <p:cNvSpPr/>
          <p:nvPr/>
        </p:nvSpPr>
        <p:spPr>
          <a:xfrm>
            <a:off x="10820400" y="3352800"/>
            <a:ext cx="914400" cy="9144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820400" y="3526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2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412" dirty="0"/>
          </a:p>
        </p:txBody>
      </p:sp>
      <p:sp>
        <p:nvSpPr>
          <p:cNvPr id="41" name="Shape 39"/>
          <p:cNvSpPr/>
          <p:nvPr/>
        </p:nvSpPr>
        <p:spPr>
          <a:xfrm>
            <a:off x="10957560" y="3829050"/>
            <a:ext cx="64008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820400" y="388620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9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9" dirty="0"/>
          </a:p>
        </p:txBody>
      </p:sp>
      <p:sp>
        <p:nvSpPr>
          <p:cNvPr id="43" name="Shape 41"/>
          <p:cNvSpPr/>
          <p:nvPr/>
        </p:nvSpPr>
        <p:spPr>
          <a:xfrm flipH="1">
            <a:off x="7249668" y="3659124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249668" y="3960876"/>
            <a:ext cx="1369314" cy="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478518" y="3659124"/>
            <a:ext cx="1369314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 flipH="1">
            <a:off x="9478518" y="3960876"/>
            <a:ext cx="1369314" cy="0"/>
          </a:xfrm>
          <a:prstGeom prst="line">
            <a:avLst/>
          </a:prstGeom>
          <a:noFill/>
          <a:ln w="4445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048750" y="2952750"/>
            <a:ext cx="0" cy="4000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9124950" y="297561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627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3627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9155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59155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820400" y="44386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0820400" y="44386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/ 61</a:t>
            </a:r>
            <a:endParaRPr lang="en-US" sz="9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B3C531CA-9FC5-7577-5A67-9075C197EEE5}"/>
              </a:ext>
            </a:extLst>
          </p:cNvPr>
          <p:cNvSpPr/>
          <p:nvPr/>
        </p:nvSpPr>
        <p:spPr>
          <a:xfrm>
            <a:off x="6803571" y="3997832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00 · 10</a:t>
            </a:r>
            <a:endParaRPr lang="en-US" sz="11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D9F408A2-29F8-1FFF-5543-A463381D6C35}"/>
              </a:ext>
            </a:extLst>
          </p:cNvPr>
          <p:cNvSpPr/>
          <p:nvPr/>
        </p:nvSpPr>
        <p:spPr>
          <a:xfrm>
            <a:off x="9063985" y="3997832"/>
            <a:ext cx="22821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SW1 SW0 = 00 · 01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코드 연결 · default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Branch Covers Unused Codes, No Latch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822121"/>
            <a:ext cx="5715000" cy="1412081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2955471"/>
            <a:ext cx="5486400" cy="22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: begin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84547"/>
            <a:ext cx="5715000" cy="22907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184547"/>
            <a:ext cx="47625" cy="22907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9600" y="3184547"/>
            <a:ext cx="5486400" cy="22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n_state = stop;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3624"/>
            <a:ext cx="5715000" cy="229076"/>
          </a:xfrm>
          <a:prstGeom prst="rect">
            <a:avLst/>
          </a:prstGeom>
          <a:solidFill>
            <a:srgbClr val="3132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413624"/>
            <a:ext cx="47625" cy="229076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" y="3413624"/>
            <a:ext cx="5486400" cy="22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o_sw    = 3'b001;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600" y="3642700"/>
            <a:ext cx="5486400" cy="22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3871776"/>
            <a:ext cx="5486400" cy="22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endcase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2700" y="1739541"/>
            <a:ext cx="5372100" cy="3720737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91300" y="1891941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state[2:0] 코드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91300" y="231104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DECEC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91300" y="240629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91300" y="274919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29550" y="231104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829550" y="240629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29550" y="274919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67800" y="231104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067800" y="240629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67800" y="274919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306050" y="231104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306050" y="240629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306050" y="274919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91300" y="335879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91300" y="345404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91300" y="379694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829550" y="335879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829550" y="345404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29550" y="379694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67800" y="335879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067800" y="345404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67800" y="379694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306050" y="3358791"/>
            <a:ext cx="1104900" cy="876300"/>
          </a:xfrm>
          <a:prstGeom prst="roundRect">
            <a:avLst>
              <a:gd name="adj" fmla="val 6261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0306050" y="345404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306050" y="3796941"/>
            <a:ext cx="1104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91300" y="4504510"/>
            <a:ext cx="4914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미사용 코드 5개 → default → STOP 복귀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branch에서 n_state · o_sw 대입 → </a:t>
            </a:r>
            <a:r>
              <a:rPr 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Latch 없</a:t>
            </a:r>
            <a:r>
              <a:rPr lang="ko-KR" altLang="en-US" sz="14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/ 61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Homework-2 설계 · RTL Schematic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Schematic Shows Output Decoded from State Only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1000" y="1295400"/>
            <a:ext cx="86487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sch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809750"/>
            <a:ext cx="8572500" cy="413092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12238" y="2900315"/>
            <a:ext cx="4031785" cy="2775983"/>
          </a:xfrm>
          <a:prstGeom prst="rect">
            <a:avLst/>
          </a:prstGeom>
          <a:ln w="285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93188" y="265266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08402" y="2140224"/>
            <a:ext cx="1520181" cy="991423"/>
          </a:xfrm>
          <a:prstGeom prst="rect">
            <a:avLst/>
          </a:prstGeom>
          <a:ln w="2857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9352" y="189257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59915" y="2391385"/>
            <a:ext cx="859233" cy="475883"/>
          </a:xfrm>
          <a:prstGeom prst="rect">
            <a:avLst/>
          </a:prstGeom>
          <a:ln w="285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240865" y="214373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182100" y="1295400"/>
            <a:ext cx="25527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353550" y="142875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Next-State Logic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353550" y="17335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RTL_MUX × 4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353550" y="201930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i_sw · state → n_state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82100" y="2971800"/>
            <a:ext cx="25527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353550" y="310515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State Register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53550" y="34099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RTL_REG_ASYNC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353550" y="369570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CLR · PRE = reset 시 001 (STOP) 로드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82100" y="4648200"/>
            <a:ext cx="25527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353550" y="478155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Output Decode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53550" y="50863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RTL_ROM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353550" y="5372100"/>
            <a:ext cx="2247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A[2:0] = state만 연결, i_sw 연결 없음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/ 61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Homework-2 검증 · 기존 TB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Existing TB Walks Three Start States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142875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tb_FSM_RUN_STOP 구성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71650"/>
            <a:ext cx="1076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i_sw 변경 = negedge 시점 → 상승 엣지에서 input 안정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set_sw: 한 값을 2 clock 유지 (RUN → STOP → CLEAR 최장 경로 2 천이 대응)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변수 k + reset으로 시작 </a:t>
            </a:r>
            <a:r>
              <a:rPr lang="en-US" sz="135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구분</a:t>
            </a: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판정 = 파형 육안 확인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876550"/>
            <a:ext cx="3657600" cy="203835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700" y="30099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0289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시작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" y="335280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 : 00 → 00 · 01 · 10 · 11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2950" y="36766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2950" y="39052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RUN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2950" y="41338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2950" y="43624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CLEAR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2950" y="45910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CLEAR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67200" y="2876550"/>
            <a:ext cx="3657600" cy="203835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57700" y="30099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0200" y="30289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 시작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57700" y="335280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 : 10 → 00 · 01 · 10 · 11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52950" y="36766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52950" y="39052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52950" y="41338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RUN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2950" y="43624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52950" y="45910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CLEAR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7200" y="2876550"/>
            <a:ext cx="3657600" cy="203835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67700" y="30099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20200" y="30289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시작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67700" y="3352800"/>
            <a:ext cx="3238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 : 01 → 00 · 01 · 10 · 11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62950" y="36766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62950" y="39052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62950" y="41338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RUN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62950" y="43624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STOP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2950" y="4591050"/>
            <a:ext cx="3143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CLEAR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50482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TB가 지나간 arc (state × i_sw, 실측)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334000"/>
          <a:ext cx="6667500" cy="10363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미검증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미검증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미검증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7315200" y="5048250"/>
            <a:ext cx="4419600" cy="1238250"/>
          </a:xfrm>
          <a:prstGeom prst="roundRect">
            <a:avLst>
              <a:gd name="adj" fmla="val 5908"/>
            </a:avLst>
          </a:prstGeom>
          <a:solidFill>
            <a:srgbClr val="FDECEC"/>
          </a:solidFill>
          <a:ln w="9525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505700" y="51816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9 / 12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7505700" y="5505450"/>
            <a:ext cx="409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+ 11 (SW0 우선 규칙) 미검증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기대값 · 자동 판정 없음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/ 61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Homework-2 검증 · 시나리오 1 · STOP 시작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1 Waveform Follows the Same Path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pic>
        <p:nvPicPr>
          <p:cNvPr id="7" name="Image 0" descr="img/w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3500"/>
            <a:ext cx="11277600" cy="25252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44203" y="1543939"/>
            <a:ext cx="0" cy="2314825"/>
          </a:xfrm>
          <a:prstGeom prst="line">
            <a:avLst/>
          </a:prstGeom>
          <a:noFill/>
          <a:ln w="22225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953728" y="3934964"/>
            <a:ext cx="3041876" cy="1333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360366" y="4087364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360366" y="40873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05129" y="1543939"/>
            <a:ext cx="0" cy="2314825"/>
          </a:xfrm>
          <a:prstGeom prst="line">
            <a:avLst/>
          </a:prstGeom>
          <a:noFill/>
          <a:ln w="22225">
            <a:solidFill>
              <a:srgbClr val="9333E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14654" y="3934964"/>
            <a:ext cx="1894029" cy="13335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847368" y="4087364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847368" y="40873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18208" y="1543939"/>
            <a:ext cx="0" cy="2314825"/>
          </a:xfrm>
          <a:prstGeom prst="line">
            <a:avLst/>
          </a:prstGeom>
          <a:noFill/>
          <a:ln w="22225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927733" y="3934964"/>
            <a:ext cx="937489" cy="1333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282177" y="4087364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282177" y="40873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74747" y="1543939"/>
            <a:ext cx="0" cy="2314825"/>
          </a:xfrm>
          <a:prstGeom prst="line">
            <a:avLst/>
          </a:prstGeom>
          <a:noFill/>
          <a:ln w="22225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884272" y="3934964"/>
            <a:ext cx="937489" cy="13335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8717" y="4087364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238717" y="40873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31287" y="1543939"/>
            <a:ext cx="0" cy="2314825"/>
          </a:xfrm>
          <a:prstGeom prst="line">
            <a:avLst/>
          </a:prstGeom>
          <a:noFill/>
          <a:ln w="22225">
            <a:solidFill>
              <a:srgbClr val="CA8A0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840812" y="3934964"/>
            <a:ext cx="1607067" cy="13335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0530045" y="4087364"/>
            <a:ext cx="228600" cy="2286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0530045" y="40873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400550"/>
            <a:ext cx="11277600" cy="1847850"/>
          </a:xfrm>
          <a:prstGeom prst="roundRect">
            <a:avLst>
              <a:gd name="adj" fmla="val 3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3857625" y="4838700"/>
            <a:ext cx="762000" cy="7620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3857625" y="49834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176" dirty="0"/>
          </a:p>
        </p:txBody>
      </p:sp>
      <p:sp>
        <p:nvSpPr>
          <p:cNvPr id="31" name="Shape 28"/>
          <p:cNvSpPr/>
          <p:nvPr/>
        </p:nvSpPr>
        <p:spPr>
          <a:xfrm>
            <a:off x="3971925" y="5238750"/>
            <a:ext cx="533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857625" y="52959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15000" y="4838700"/>
            <a:ext cx="762000" cy="7620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5715000" y="49834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76" dirty="0"/>
          </a:p>
        </p:txBody>
      </p:sp>
      <p:sp>
        <p:nvSpPr>
          <p:cNvPr id="35" name="Shape 32"/>
          <p:cNvSpPr/>
          <p:nvPr/>
        </p:nvSpPr>
        <p:spPr>
          <a:xfrm>
            <a:off x="5829300" y="5238750"/>
            <a:ext cx="533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715000" y="52959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72375" y="4838700"/>
            <a:ext cx="762000" cy="7620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572375" y="49834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176" dirty="0"/>
          </a:p>
        </p:txBody>
      </p:sp>
      <p:sp>
        <p:nvSpPr>
          <p:cNvPr id="39" name="Shape 36"/>
          <p:cNvSpPr/>
          <p:nvPr/>
        </p:nvSpPr>
        <p:spPr>
          <a:xfrm>
            <a:off x="7686675" y="5238750"/>
            <a:ext cx="53340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572375" y="52959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4596765" y="5093970"/>
            <a:ext cx="1141095" cy="0"/>
          </a:xfrm>
          <a:prstGeom prst="line">
            <a:avLst/>
          </a:prstGeom>
          <a:noFill/>
          <a:ln w="44450">
            <a:solidFill>
              <a:srgbClr val="9333E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053013" y="480822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5053013" y="48082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96765" y="5345430"/>
            <a:ext cx="1141095" cy="0"/>
          </a:xfrm>
          <a:prstGeom prst="line">
            <a:avLst/>
          </a:prstGeom>
          <a:noFill/>
          <a:ln w="444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5053013" y="540258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053013" y="54025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454140" y="5093970"/>
            <a:ext cx="1141095" cy="0"/>
          </a:xfrm>
          <a:prstGeom prst="line">
            <a:avLst/>
          </a:prstGeom>
          <a:noFill/>
          <a:ln w="44450">
            <a:solidFill>
              <a:srgbClr val="DB277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910388" y="4808220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910388" y="48082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 flipH="1">
            <a:off x="6454140" y="5345430"/>
            <a:ext cx="1141095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6096000" y="4505325"/>
            <a:ext cx="0" cy="333375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6172200" y="45243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81425" y="57721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3781425" y="57721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638800" y="57721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5638800" y="57721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591300" y="5800725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591300" y="58007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496175" y="57721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CA8A04"/>
          </a:solidFill>
          <a:ln w="1905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7496175" y="57721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8448675" y="5800725"/>
            <a:ext cx="228600" cy="2286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8448675" y="58007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 / 61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Homework-2 검증 · 시나리오 2 · CLEAR 시작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2 Waveform Follows the Same Path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pic>
        <p:nvPicPr>
          <p:cNvPr id="7" name="Image 0" descr="img/w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3500"/>
            <a:ext cx="11277600" cy="19666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15011" y="1502510"/>
            <a:ext cx="0" cy="1797656"/>
          </a:xfrm>
          <a:prstGeom prst="line">
            <a:avLst/>
          </a:prstGeom>
          <a:noFill/>
          <a:ln w="22225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324536" y="3376366"/>
            <a:ext cx="749179" cy="1333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84826" y="352876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584826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83240" y="1502510"/>
            <a:ext cx="0" cy="1797656"/>
          </a:xfrm>
          <a:prstGeom prst="line">
            <a:avLst/>
          </a:prstGeom>
          <a:noFill/>
          <a:ln w="22225">
            <a:solidFill>
              <a:srgbClr val="9333E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092765" y="3376366"/>
            <a:ext cx="1517408" cy="13335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37169" y="3528766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737169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19698" y="1502510"/>
            <a:ext cx="0" cy="1797656"/>
          </a:xfrm>
          <a:prstGeom prst="line">
            <a:avLst/>
          </a:prstGeom>
          <a:noFill/>
          <a:ln w="22225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629223" y="3376366"/>
            <a:ext cx="1517408" cy="1333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273627" y="3528766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273627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56156" y="1502510"/>
            <a:ext cx="0" cy="1797656"/>
          </a:xfrm>
          <a:prstGeom prst="line">
            <a:avLst/>
          </a:prstGeom>
          <a:noFill/>
          <a:ln w="22225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7165681" y="3376366"/>
            <a:ext cx="1517408" cy="13335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810085" y="3528766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810085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92614" y="1502510"/>
            <a:ext cx="0" cy="1797656"/>
          </a:xfrm>
          <a:prstGeom prst="line">
            <a:avLst/>
          </a:prstGeom>
          <a:noFill/>
          <a:ln w="22225">
            <a:solidFill>
              <a:srgbClr val="CA8A0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702139" y="3376366"/>
            <a:ext cx="749179" cy="13335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962428" y="3528766"/>
            <a:ext cx="228600" cy="2286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8962428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460843" y="1502510"/>
            <a:ext cx="0" cy="1797656"/>
          </a:xfrm>
          <a:prstGeom prst="line">
            <a:avLst/>
          </a:prstGeom>
          <a:noFill/>
          <a:ln w="22225">
            <a:solidFill>
              <a:srgbClr val="16A34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9470368" y="3376366"/>
            <a:ext cx="749179" cy="13335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730657" y="3528766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730657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229071" y="1502510"/>
            <a:ext cx="0" cy="1797656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0238596" y="3376366"/>
            <a:ext cx="1440585" cy="1333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0844589" y="3528766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0844589" y="35287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3905250"/>
            <a:ext cx="11277600" cy="2343150"/>
          </a:xfrm>
          <a:prstGeom prst="roundRect">
            <a:avLst>
              <a:gd name="adj" fmla="val 3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3857625" y="4572000"/>
            <a:ext cx="762000" cy="7620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3857625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176" dirty="0"/>
          </a:p>
        </p:txBody>
      </p:sp>
      <p:sp>
        <p:nvSpPr>
          <p:cNvPr id="39" name="Shape 36"/>
          <p:cNvSpPr/>
          <p:nvPr/>
        </p:nvSpPr>
        <p:spPr>
          <a:xfrm>
            <a:off x="3971925" y="4972050"/>
            <a:ext cx="533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3857625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715000" y="4572000"/>
            <a:ext cx="762000" cy="7620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715000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76" dirty="0"/>
          </a:p>
        </p:txBody>
      </p:sp>
      <p:sp>
        <p:nvSpPr>
          <p:cNvPr id="43" name="Shape 40"/>
          <p:cNvSpPr/>
          <p:nvPr/>
        </p:nvSpPr>
        <p:spPr>
          <a:xfrm>
            <a:off x="5829300" y="4972050"/>
            <a:ext cx="533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715000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572375" y="4572000"/>
            <a:ext cx="762000" cy="7620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7572375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176" dirty="0"/>
          </a:p>
        </p:txBody>
      </p:sp>
      <p:sp>
        <p:nvSpPr>
          <p:cNvPr id="47" name="Shape 44"/>
          <p:cNvSpPr/>
          <p:nvPr/>
        </p:nvSpPr>
        <p:spPr>
          <a:xfrm>
            <a:off x="7686675" y="4972050"/>
            <a:ext cx="53340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572375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4596765" y="4827270"/>
            <a:ext cx="1141095" cy="0"/>
          </a:xfrm>
          <a:prstGeom prst="line">
            <a:avLst/>
          </a:prstGeom>
          <a:noFill/>
          <a:ln w="44450">
            <a:solidFill>
              <a:srgbClr val="DB277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5053013" y="4541520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5053013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596765" y="5078730"/>
            <a:ext cx="1141095" cy="0"/>
          </a:xfrm>
          <a:prstGeom prst="line">
            <a:avLst/>
          </a:prstGeom>
          <a:noFill/>
          <a:ln w="44450">
            <a:solidFill>
              <a:srgbClr val="CA8A0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5053013" y="5135880"/>
            <a:ext cx="228600" cy="2286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5053013" y="5135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54140" y="4827270"/>
            <a:ext cx="1141095" cy="0"/>
          </a:xfrm>
          <a:prstGeom prst="line">
            <a:avLst/>
          </a:prstGeom>
          <a:noFill/>
          <a:ln w="44450">
            <a:solidFill>
              <a:srgbClr val="9333E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6786563" y="454152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786563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034213" y="454152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7034213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 flipH="1">
            <a:off x="6454140" y="5078730"/>
            <a:ext cx="1141095" cy="0"/>
          </a:xfrm>
          <a:prstGeom prst="line">
            <a:avLst/>
          </a:prstGeom>
          <a:noFill/>
          <a:ln w="444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6910388" y="513588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6910388" y="5135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096000" y="4238625"/>
            <a:ext cx="0" cy="333375"/>
          </a:xfrm>
          <a:prstGeom prst="line">
            <a:avLst/>
          </a:prstGeom>
          <a:noFill/>
          <a:ln w="444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172200" y="42576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5772150" y="41338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5772150" y="4133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3781425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3781425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638800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5638800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496175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496175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8448675" y="5534025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8448675" y="55340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/ 61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Homework-2 검증 · 시나리오 3 · RUN 시작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3 Waveform Follows the Same Path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pic>
        <p:nvPicPr>
          <p:cNvPr id="7" name="Image 0" descr="img/w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3500"/>
            <a:ext cx="11277600" cy="16951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50622" y="1487604"/>
            <a:ext cx="0" cy="1541039"/>
          </a:xfrm>
          <a:prstGeom prst="line">
            <a:avLst/>
          </a:prstGeom>
          <a:noFill/>
          <a:ln w="22225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060147" y="3104842"/>
            <a:ext cx="681422" cy="1333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286558" y="325724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286558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1094" y="1487604"/>
            <a:ext cx="0" cy="1541039"/>
          </a:xfrm>
          <a:prstGeom prst="line">
            <a:avLst/>
          </a:prstGeom>
          <a:noFill/>
          <a:ln w="22225">
            <a:solidFill>
              <a:srgbClr val="9333E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0619" y="3104842"/>
            <a:ext cx="1381894" cy="13335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337266" y="3257242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337266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52038" y="1487604"/>
            <a:ext cx="0" cy="1541039"/>
          </a:xfrm>
          <a:prstGeom prst="line">
            <a:avLst/>
          </a:prstGeom>
          <a:noFill/>
          <a:ln w="22225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61563" y="3104842"/>
            <a:ext cx="1381894" cy="1333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738210" y="3257242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738210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52982" y="1487604"/>
            <a:ext cx="0" cy="1541039"/>
          </a:xfrm>
          <a:prstGeom prst="line">
            <a:avLst/>
          </a:prstGeom>
          <a:noFill/>
          <a:ln w="22225">
            <a:solidFill>
              <a:srgbClr val="DB277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7562507" y="3104842"/>
            <a:ext cx="1381894" cy="13335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139154" y="3257242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139154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53926" y="1487604"/>
            <a:ext cx="0" cy="1541039"/>
          </a:xfrm>
          <a:prstGeom prst="line">
            <a:avLst/>
          </a:prstGeom>
          <a:noFill/>
          <a:ln w="22225">
            <a:solidFill>
              <a:srgbClr val="CA8A0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963451" y="3104842"/>
            <a:ext cx="681422" cy="13335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9189862" y="3257242"/>
            <a:ext cx="228600" cy="2286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189862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54398" y="1487604"/>
            <a:ext cx="0" cy="1541039"/>
          </a:xfrm>
          <a:prstGeom prst="line">
            <a:avLst/>
          </a:prstGeom>
          <a:noFill/>
          <a:ln w="22225">
            <a:solidFill>
              <a:srgbClr val="16A34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9663923" y="3104842"/>
            <a:ext cx="681422" cy="13335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890334" y="3257242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890334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354870" y="1487604"/>
            <a:ext cx="0" cy="1541039"/>
          </a:xfrm>
          <a:prstGeom prst="line">
            <a:avLst/>
          </a:prstGeom>
          <a:noFill/>
          <a:ln w="22225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0364395" y="3104842"/>
            <a:ext cx="1311847" cy="1333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0906019" y="3257242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0906019" y="325724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3905250"/>
            <a:ext cx="11277600" cy="2343150"/>
          </a:xfrm>
          <a:prstGeom prst="roundRect">
            <a:avLst>
              <a:gd name="adj" fmla="val 3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3857625" y="4572000"/>
            <a:ext cx="762000" cy="762000"/>
          </a:xfrm>
          <a:prstGeom prst="ellipse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3857625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176" dirty="0"/>
          </a:p>
        </p:txBody>
      </p:sp>
      <p:sp>
        <p:nvSpPr>
          <p:cNvPr id="39" name="Shape 36"/>
          <p:cNvSpPr/>
          <p:nvPr/>
        </p:nvSpPr>
        <p:spPr>
          <a:xfrm>
            <a:off x="3971925" y="4972050"/>
            <a:ext cx="533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3857625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715000" y="4572000"/>
            <a:ext cx="762000" cy="7620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715000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76" dirty="0"/>
          </a:p>
        </p:txBody>
      </p:sp>
      <p:sp>
        <p:nvSpPr>
          <p:cNvPr id="43" name="Shape 40"/>
          <p:cNvSpPr/>
          <p:nvPr/>
        </p:nvSpPr>
        <p:spPr>
          <a:xfrm>
            <a:off x="5829300" y="4972050"/>
            <a:ext cx="533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715000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572375" y="4572000"/>
            <a:ext cx="762000" cy="762000"/>
          </a:xfrm>
          <a:prstGeom prst="ellipse">
            <a:avLst/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7572375" y="471678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176" dirty="0"/>
          </a:p>
        </p:txBody>
      </p:sp>
      <p:sp>
        <p:nvSpPr>
          <p:cNvPr id="47" name="Shape 44"/>
          <p:cNvSpPr/>
          <p:nvPr/>
        </p:nvSpPr>
        <p:spPr>
          <a:xfrm>
            <a:off x="7686675" y="4972050"/>
            <a:ext cx="53340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572375" y="50292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4596765" y="4827270"/>
            <a:ext cx="1141095" cy="0"/>
          </a:xfrm>
          <a:prstGeom prst="line">
            <a:avLst/>
          </a:prstGeom>
          <a:noFill/>
          <a:ln w="44450">
            <a:solidFill>
              <a:srgbClr val="9333E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4929188" y="454152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4929188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176838" y="4541520"/>
            <a:ext cx="228600" cy="2286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176838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596765" y="5078730"/>
            <a:ext cx="1141095" cy="0"/>
          </a:xfrm>
          <a:prstGeom prst="line">
            <a:avLst/>
          </a:prstGeom>
          <a:noFill/>
          <a:ln w="44450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4929188" y="513588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4929188" y="5135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176838" y="513588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5176838" y="5135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454140" y="4827270"/>
            <a:ext cx="1141095" cy="0"/>
          </a:xfrm>
          <a:prstGeom prst="line">
            <a:avLst/>
          </a:prstGeom>
          <a:noFill/>
          <a:ln w="4445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7"/>
          <p:cNvSpPr/>
          <p:nvPr/>
        </p:nvSpPr>
        <p:spPr>
          <a:xfrm>
            <a:off x="6910388" y="4541520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910388" y="4541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 flipH="1">
            <a:off x="6454140" y="5078730"/>
            <a:ext cx="1141095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096000" y="4238625"/>
            <a:ext cx="0" cy="333375"/>
          </a:xfrm>
          <a:prstGeom prst="line">
            <a:avLst/>
          </a:prstGeom>
          <a:noFill/>
          <a:ln w="444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172200" y="42576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5772150" y="413385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5772150" y="4133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3781425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3781425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11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638800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5638800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496175" y="5505450"/>
            <a:ext cx="914400" cy="28575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496175" y="5505450"/>
            <a:ext cx="91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11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8448675" y="5534025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8448675" y="55340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 / 61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· 검증 방법론 평가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Existing TB Scores 21 / 40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5400"/>
          <a:ext cx="8001000" cy="46291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커버리지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arc 9 / 12, STOP + 11 · RUN + 11 · CLEAR + 01 미검증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기대값 독립성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기대값 없음, 정답 기준 = 작성자 머릿속 State Diagram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관측 지점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포트 o_sw 파형 관측, 내부 state도 함께 표시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타이밍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negedge input 변경 → 상승 엣지 시점 input 안정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판정 · 리포트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err 카운트 · PASS/FAIL 없음, phase 번호 출력만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 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사이 reset 사용, 비동기 동작 (엣지 없는 시점) 미확인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 Top 일치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DUT = 보드에 올린 FSM 모듈 그대로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문서화 · 재현성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 / 61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task · phase 구조와 주석 명확, SV 컴파일 시 k 선언 순서 오류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48700" y="1295400"/>
            <a:ext cx="3086100" cy="4953000"/>
          </a:xfrm>
          <a:prstGeom prst="roundRect">
            <a:avLst>
              <a:gd name="adj" fmla="val 2370"/>
            </a:avLst>
          </a:prstGeom>
          <a:solidFill>
            <a:srgbClr val="FDECEC"/>
          </a:solidFill>
          <a:ln w="9525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648700" y="161925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48700" y="2000250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/ 61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8648700" y="28575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C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77300" y="3524250"/>
            <a:ext cx="2667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stimulus 설계는 양호, 판정이 전부 사람 몫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7종 중 3종은 원본과 파형 동일 → 육안으로도 검출 불가 (p.48)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방향: Golden model + 자동 비교 + arc 커버리지 (p.49)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/ 61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· 검증 방법론 평가 · 결함 주입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of Seven Faults Leave Identical Waveforms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5400"/>
          <a:ext cx="11277600" cy="37719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결함 (증상)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버그 유형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TB (파형 차이)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TB (error 수)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+ 11 → CLEAR로 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 뒤바뀜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파형 동일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78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탈출 조건이 SW1 기준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비트 인덱스 오타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7 cycle 차이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86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CLEAR에서 LED1 점등 (010)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코드 오류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10 cycle 차이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79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 후 CLEAR로 시작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 값 오류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4 cycle 차이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37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+ 01 → RUN 직행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천이 추가 (STOP 생략)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파형 동일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17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o_sw가 n_state 기준 (Mealy화)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출력이 input 즉시 반영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3 cycle 차이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266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reset이 클럭 엣지까지 대기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동기 reset으로 작성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파형 동일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FSM_RUN_STOP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 ·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334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8650" y="54673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파형 동일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8650" y="5753100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TB stimulus로는 원본과 출력이 같음 → 육안 검출 불가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67200" y="5334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38650" y="54673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파형 차이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38650" y="5753100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존재, 기대값 없이 사람이 찾아야 검출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77200" y="5334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48650" y="54673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자동 검출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48650" y="5753100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error 카운트 + FAIL 리포트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/ 61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tb_FSM_RUN_STOP_v2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TB Compares Output Pins Against Spec Table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5400"/>
            <a:ext cx="11277600" cy="2247900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" y="1619250"/>
            <a:ext cx="1809750" cy="723900"/>
          </a:xfrm>
          <a:prstGeom prst="rect">
            <a:avLst/>
          </a:prstGeom>
          <a:solidFill>
            <a:srgbClr val="E3F0FD"/>
          </a:solidFill>
          <a:ln w="222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714500"/>
            <a:ext cx="1809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Driver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00250"/>
            <a:ext cx="1809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12 arc + random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95550" y="19812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67050" y="1619250"/>
            <a:ext cx="1619250" cy="723900"/>
          </a:xfrm>
          <a:prstGeom prst="rect">
            <a:avLst/>
          </a:prstGeom>
          <a:solidFill>
            <a:srgbClr val="F1F5F9"/>
          </a:solidFill>
          <a:ln w="222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67050" y="171450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7050" y="20002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FSM_RUN_STOP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9812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86300" y="1752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1619250"/>
            <a:ext cx="1905000" cy="723900"/>
          </a:xfrm>
          <a:prstGeom prst="rect">
            <a:avLst/>
          </a:prstGeom>
          <a:solidFill>
            <a:srgbClr val="F3E8FF"/>
          </a:solidFill>
          <a:ln w="222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57800" y="17145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Monitor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20002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→ state 이름 역변환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62800" y="1981200"/>
            <a:ext cx="5715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734300" y="1619250"/>
            <a:ext cx="1809750" cy="723900"/>
          </a:xfrm>
          <a:prstGeom prst="rect">
            <a:avLst/>
          </a:prstGeom>
          <a:solidFill>
            <a:srgbClr val="FDECE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34300" y="1714500"/>
            <a:ext cx="1809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Checker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34300" y="2000250"/>
            <a:ext cx="1809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· C2 · C3 · C4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44050" y="1981200"/>
            <a:ext cx="47625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020300" y="1619250"/>
            <a:ext cx="1485900" cy="723900"/>
          </a:xfrm>
          <a:prstGeom prst="rect">
            <a:avLst/>
          </a:prstGeom>
          <a:solidFill>
            <a:srgbClr val="E8F5E9"/>
          </a:solidFill>
          <a:ln w="222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0300" y="1714500"/>
            <a:ext cx="148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20300" y="2000250"/>
            <a:ext cx="148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/ FAIL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57800" y="2667000"/>
            <a:ext cx="1905000" cy="723900"/>
          </a:xfrm>
          <a:prstGeom prst="rect">
            <a:avLst/>
          </a:prstGeom>
          <a:solidFill>
            <a:srgbClr val="FFF3E0"/>
          </a:solidFill>
          <a:ln w="2222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57800" y="27622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Golden 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0480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Switch Action Table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590675" y="2343150"/>
            <a:ext cx="0" cy="6858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590675" y="3028950"/>
            <a:ext cx="366712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76500" y="2819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 · i_reset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62800" y="3028950"/>
            <a:ext cx="147637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639175" y="2343150"/>
            <a:ext cx="0" cy="6858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239000" y="28194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o_sw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695700"/>
            <a:ext cx="2762250" cy="255270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9600" y="38290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Driver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9600" y="4171950"/>
            <a:ext cx="24955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→ 목표 state 이동 → sw 인가, 3 state × 4 sw = 12 arc 전수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random 300 cycle + 임의 시점 async reset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295650" y="3695700"/>
            <a:ext cx="2762250" cy="255270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448050" y="38290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Monitor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448050" y="4171950"/>
            <a:ext cx="24955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포트 o_sw만 관측, 내부 state 미사용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001 · 010 · 100 → STOP · RUN · CLEAR 역변환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134100" y="3695700"/>
            <a:ext cx="2762250" cy="255270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86500" y="38290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Golden Model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286500" y="4171950"/>
            <a:ext cx="24955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코드 재사용 없이 표 기준으로 별도 작성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DUT와 같은 엣지 · 같은 reset으로 기대 state 갱신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972550" y="3695700"/>
            <a:ext cx="2762250" cy="255270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124950" y="38290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④⑤ Checker · Report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124950" y="4171950"/>
            <a:ext cx="24955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~ C4 위반 시 error 카운트 + 시각 · 기대값 · 실제값 출력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커버리지 표 + PASS / FAIL 요약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 / 61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채점 항목 · C1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</a:t>
            </a:r>
            <a:r>
              <a:rPr lang="en-US" altLang="ko-KR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o_sw == golden value ? 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369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7716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685800" y="22860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28003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g_code(g_state)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685800" y="33147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RTL</a:t>
            </a:r>
            <a:endParaRPr lang="en-US" sz="1300" dirty="0"/>
          </a:p>
        </p:txBody>
      </p:sp>
      <p:sp>
        <p:nvSpPr>
          <p:cNvPr id="13" name="Text 13"/>
          <p:cNvSpPr txBox="1"/>
          <p:nvPr/>
        </p:nvSpPr>
        <p:spPr>
          <a:xfrm>
            <a:off x="685800" y="38290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(STOP + 11 → CLEAR)</a:t>
            </a:r>
            <a:endParaRPr lang="en-US" sz="1300" dirty="0"/>
          </a:p>
        </p:txBody>
      </p:sp>
      <p:sp>
        <p:nvSpPr>
          <p:cNvPr id="15" name="Text 15"/>
          <p:cNvSpPr txBox="1"/>
          <p:nvPr/>
        </p:nvSpPr>
        <p:spPr>
          <a:xfrm>
            <a:off x="5112159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8018820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2863645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 ns · sw 인가</a:t>
            </a:r>
            <a:endParaRPr lang="en-US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3658829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6565490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sp>
        <p:nvSpPr>
          <p:cNvPr id="25" name="Text 25"/>
          <p:cNvSpPr txBox="1"/>
          <p:nvPr/>
        </p:nvSpPr>
        <p:spPr>
          <a:xfrm>
            <a:off x="9472151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cxnSp>
        <p:nvCxnSpPr>
          <p:cNvPr id="26" name="Line 26"/>
          <p:cNvCxnSpPr/>
          <p:nvPr/>
        </p:nvCxnSpPr>
        <p:spPr>
          <a:xfrm>
            <a:off x="2381250" y="2171700"/>
            <a:ext cx="871998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3253248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3253248" y="1885950"/>
            <a:ext cx="14533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4706579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4706579" y="2171700"/>
            <a:ext cx="14533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159909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159909" y="1885950"/>
            <a:ext cx="14533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613240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613240" y="2171700"/>
            <a:ext cx="14533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9066570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9066570" y="1885950"/>
            <a:ext cx="14533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519901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519901" y="2171700"/>
            <a:ext cx="871998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sp>
        <p:nvSpPr>
          <p:cNvPr id="39" name="Shape 39"/>
          <p:cNvSpPr/>
          <p:nvPr/>
        </p:nvSpPr>
        <p:spPr>
          <a:xfrm>
            <a:off x="2395537" y="2390775"/>
            <a:ext cx="2587420" cy="3048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2528887" y="2390775"/>
            <a:ext cx="24540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50" dirty="0"/>
          </a:p>
        </p:txBody>
      </p:sp>
      <p:sp>
        <p:nvSpPr>
          <p:cNvPr id="41" name="Shape 41"/>
          <p:cNvSpPr/>
          <p:nvPr/>
        </p:nvSpPr>
        <p:spPr>
          <a:xfrm>
            <a:off x="5011532" y="2390775"/>
            <a:ext cx="6366079" cy="3048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5144882" y="2390775"/>
            <a:ext cx="6232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50" dirty="0"/>
          </a:p>
        </p:txBody>
      </p:sp>
      <p:sp>
        <p:nvSpPr>
          <p:cNvPr id="43" name="Shape 43"/>
          <p:cNvSpPr/>
          <p:nvPr/>
        </p:nvSpPr>
        <p:spPr>
          <a:xfrm>
            <a:off x="2395537" y="2905125"/>
            <a:ext cx="3750084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2528887" y="2905125"/>
            <a:ext cx="36167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45" name="Shape 45"/>
          <p:cNvSpPr/>
          <p:nvPr/>
        </p:nvSpPr>
        <p:spPr>
          <a:xfrm>
            <a:off x="6174197" y="2905125"/>
            <a:ext cx="5203415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6"/>
          <p:cNvSpPr txBox="1"/>
          <p:nvPr/>
        </p:nvSpPr>
        <p:spPr>
          <a:xfrm>
            <a:off x="6307547" y="2905125"/>
            <a:ext cx="5070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7" name="Shape 47"/>
          <p:cNvSpPr/>
          <p:nvPr/>
        </p:nvSpPr>
        <p:spPr>
          <a:xfrm>
            <a:off x="2395537" y="3419475"/>
            <a:ext cx="3750084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2528887" y="3419475"/>
            <a:ext cx="36167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49" name="Shape 49"/>
          <p:cNvSpPr/>
          <p:nvPr/>
        </p:nvSpPr>
        <p:spPr>
          <a:xfrm>
            <a:off x="6174197" y="3419475"/>
            <a:ext cx="5203415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6307547" y="3419475"/>
            <a:ext cx="5070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51" name="Shape 51"/>
          <p:cNvSpPr/>
          <p:nvPr/>
        </p:nvSpPr>
        <p:spPr>
          <a:xfrm>
            <a:off x="2395537" y="3933825"/>
            <a:ext cx="3750084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2528887" y="3933825"/>
            <a:ext cx="36167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53" name="Shape 53"/>
          <p:cNvSpPr/>
          <p:nvPr/>
        </p:nvSpPr>
        <p:spPr>
          <a:xfrm>
            <a:off x="6174197" y="3933825"/>
            <a:ext cx="5203415" cy="304800"/>
          </a:xfrm>
          <a:prstGeom prst="rect">
            <a:avLst/>
          </a:prstGeom>
          <a:solidFill>
            <a:srgbClr val="FDECEC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6307547" y="3933825"/>
            <a:ext cx="5070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 100</a:t>
            </a:r>
            <a:endParaRPr lang="en-US" sz="1150" dirty="0"/>
          </a:p>
        </p:txBody>
      </p:sp>
      <p:sp>
        <p:nvSpPr>
          <p:cNvPr id="55" name="Shape 55"/>
          <p:cNvSpPr/>
          <p:nvPr/>
        </p:nvSpPr>
        <p:spPr>
          <a:xfrm>
            <a:off x="4382729" y="345757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4382729" y="3457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7"/>
          <p:cNvSpPr/>
          <p:nvPr/>
        </p:nvSpPr>
        <p:spPr>
          <a:xfrm>
            <a:off x="4382729" y="397192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4382729" y="39719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Shape 59"/>
          <p:cNvSpPr/>
          <p:nvPr/>
        </p:nvSpPr>
        <p:spPr>
          <a:xfrm>
            <a:off x="7708490" y="345757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7708490" y="3457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Shape 61"/>
          <p:cNvSpPr/>
          <p:nvPr/>
        </p:nvSpPr>
        <p:spPr>
          <a:xfrm>
            <a:off x="7708490" y="3971925"/>
            <a:ext cx="228600" cy="2286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7708490" y="39719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200" dirty="0"/>
          </a:p>
        </p:txBody>
      </p:sp>
      <p:sp>
        <p:nvSpPr>
          <p:cNvPr id="63" name="Shape 63"/>
          <p:cNvSpPr/>
          <p:nvPr/>
        </p:nvSpPr>
        <p:spPr>
          <a:xfrm>
            <a:off x="10615151" y="345757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10615151" y="3457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Shape 65"/>
          <p:cNvSpPr/>
          <p:nvPr/>
        </p:nvSpPr>
        <p:spPr>
          <a:xfrm>
            <a:off x="10615151" y="3971925"/>
            <a:ext cx="228600" cy="2286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10615151" y="39719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200" dirty="0"/>
          </a:p>
        </p:txBody>
      </p:sp>
      <p:sp>
        <p:nvSpPr>
          <p:cNvPr id="67" name="Shape 67"/>
          <p:cNvSpPr/>
          <p:nvPr/>
        </p:nvSpPr>
        <p:spPr>
          <a:xfrm>
            <a:off x="45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8"/>
          <p:cNvSpPr txBox="1"/>
          <p:nvPr/>
        </p:nvSpPr>
        <p:spPr>
          <a:xfrm>
            <a:off x="62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시점</a:t>
            </a:r>
            <a:endParaRPr lang="en-US" sz="1300" dirty="0"/>
          </a:p>
        </p:txBody>
      </p:sp>
      <p:sp>
        <p:nvSpPr>
          <p:cNvPr id="69" name="Text 69"/>
          <p:cNvSpPr txBox="1"/>
          <p:nvPr/>
        </p:nvSpPr>
        <p:spPr>
          <a:xfrm>
            <a:off x="62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negedge (posedge 갱신 5 ns 뒤)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i_reset = 0 구간만 판정</a:t>
            </a:r>
            <a:endParaRPr lang="en-US" sz="1200" dirty="0"/>
          </a:p>
        </p:txBody>
      </p:sp>
      <p:sp>
        <p:nvSpPr>
          <p:cNvPr id="70" name="Shape 70"/>
          <p:cNvSpPr/>
          <p:nvPr/>
        </p:nvSpPr>
        <p:spPr>
          <a:xfrm>
            <a:off x="426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443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조건</a:t>
            </a:r>
            <a:endParaRPr lang="en-US" sz="1300" dirty="0"/>
          </a:p>
        </p:txBody>
      </p:sp>
      <p:sp>
        <p:nvSpPr>
          <p:cNvPr id="72" name="Text 72"/>
          <p:cNvSpPr txBox="1"/>
          <p:nvPr/>
        </p:nvSpPr>
        <p:spPr>
          <a:xfrm>
            <a:off x="443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=== g_code(g_state)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DUT </a:t>
            </a:r>
            <a:r>
              <a:rPr lang="ko-KR" altLang="en-US" sz="12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외부의 기댓값과 비교하여 결과가 다르면 </a:t>
            </a:r>
            <a:r>
              <a:rPr lang="en-US" altLang="ko-KR" sz="12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</a:rPr>
              <a:t>err_cnt1 </a:t>
            </a:r>
            <a:r>
              <a:rPr lang="ko-KR" altLang="en-US" sz="120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</a:rPr>
              <a:t>↑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3" name="Shape 73"/>
          <p:cNvSpPr/>
          <p:nvPr/>
        </p:nvSpPr>
        <p:spPr>
          <a:xfrm>
            <a:off x="807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824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잡는 결함</a:t>
            </a:r>
            <a:endParaRPr lang="en-US" sz="1300" dirty="0"/>
          </a:p>
        </p:txBody>
      </p:sp>
      <p:sp>
        <p:nvSpPr>
          <p:cNvPr id="75" name="Text 75"/>
          <p:cNvSpPr txBox="1"/>
          <p:nvPr/>
        </p:nvSpPr>
        <p:spPr>
          <a:xfrm>
            <a:off x="824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우선순위 · F2 비트 오타 · F3 출력 코드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F4 reset 값 · F5 STOP 생략</a:t>
            </a:r>
            <a:endParaRPr lang="en-US" sz="1200" dirty="0"/>
          </a:p>
        </p:txBody>
      </p:sp>
      <p:cxnSp>
        <p:nvCxnSpPr>
          <p:cNvPr id="22" name="Line 22"/>
          <p:cNvCxnSpPr/>
          <p:nvPr/>
        </p:nvCxnSpPr>
        <p:spPr>
          <a:xfrm>
            <a:off x="7613240" y="1714500"/>
            <a:ext cx="0" cy="2686050"/>
          </a:xfrm>
          <a:prstGeom prst="line">
            <a:avLst/>
          </a:prstGeom>
          <a:ln w="22225">
            <a:solidFill>
              <a:srgbClr val="EA580C"/>
            </a:solidFill>
            <a:prstDash val="sysDash"/>
          </a:ln>
        </p:spPr>
      </p:cxnSp>
      <p:cxnSp>
        <p:nvCxnSpPr>
          <p:cNvPr id="24" name="Line 24"/>
          <p:cNvCxnSpPr/>
          <p:nvPr/>
        </p:nvCxnSpPr>
        <p:spPr>
          <a:xfrm>
            <a:off x="10519901" y="1714500"/>
            <a:ext cx="0" cy="2686050"/>
          </a:xfrm>
          <a:prstGeom prst="line">
            <a:avLst/>
          </a:prstGeom>
          <a:ln w="22225">
            <a:solidFill>
              <a:srgbClr val="EA580C"/>
            </a:solidFill>
            <a:prstDash val="sysDash"/>
          </a:ln>
        </p:spPr>
      </p:cxnSp>
      <p:cxnSp>
        <p:nvCxnSpPr>
          <p:cNvPr id="18" name="Line 18"/>
          <p:cNvCxnSpPr/>
          <p:nvPr/>
        </p:nvCxnSpPr>
        <p:spPr>
          <a:xfrm>
            <a:off x="4997245" y="1714500"/>
            <a:ext cx="0" cy="2686050"/>
          </a:xfrm>
          <a:prstGeom prst="line">
            <a:avLst/>
          </a:prstGeom>
          <a:ln w="15875">
            <a:solidFill>
              <a:srgbClr val="CA8A04"/>
            </a:solidFill>
            <a:prstDash val="dash"/>
          </a:ln>
        </p:spPr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A3F99F92-4B29-8EE8-6941-30430EF53400}"/>
              </a:ext>
            </a:extLst>
          </p:cNvPr>
          <p:cNvCxnSpPr/>
          <p:nvPr/>
        </p:nvCxnSpPr>
        <p:spPr>
          <a:xfrm flipV="1">
            <a:off x="9066570" y="1885950"/>
            <a:ext cx="0" cy="285750"/>
          </a:xfrm>
          <a:prstGeom prst="straightConnector1">
            <a:avLst/>
          </a:prstGeom>
          <a:ln>
            <a:solidFill>
              <a:srgbClr val="398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644F04F-1D3E-7E02-D667-EF64545B3895}"/>
              </a:ext>
            </a:extLst>
          </p:cNvPr>
          <p:cNvCxnSpPr/>
          <p:nvPr/>
        </p:nvCxnSpPr>
        <p:spPr>
          <a:xfrm flipV="1">
            <a:off x="6149055" y="1885950"/>
            <a:ext cx="0" cy="285750"/>
          </a:xfrm>
          <a:prstGeom prst="straightConnector1">
            <a:avLst/>
          </a:prstGeom>
          <a:ln>
            <a:solidFill>
              <a:srgbClr val="3984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채점 항목 · C2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o_sw == o_before ( inner clock range)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369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7716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685800" y="22860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drive(01)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28003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o_before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직전 o_sw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685800" y="33147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RTL (Moore)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5084445" y="1752600"/>
            <a:ext cx="3604260" cy="260985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5084445" y="4667250"/>
            <a:ext cx="3604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A162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클럭 엣지 없는 구간 → o_</a:t>
            </a:r>
            <a:r>
              <a:rPr lang="ko-KR" altLang="en-US" sz="1050" b="1">
                <a:solidFill>
                  <a:srgbClr val="A162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불변이어야 함</a:t>
            </a:r>
            <a:endParaRPr lang="en-US" sz="1050" dirty="0"/>
          </a:p>
        </p:txBody>
      </p:sp>
      <p:cxnSp>
        <p:nvCxnSpPr>
          <p:cNvPr id="16" name="Line 16"/>
          <p:cNvCxnSpPr/>
          <p:nvPr/>
        </p:nvCxnSpPr>
        <p:spPr>
          <a:xfrm>
            <a:off x="4183380" y="1714500"/>
            <a:ext cx="0" cy="2686050"/>
          </a:xfrm>
          <a:prstGeom prst="line">
            <a:avLst/>
          </a:prstGeom>
          <a:ln w="15875">
            <a:solidFill>
              <a:srgbClr val="EA580C"/>
            </a:solidFill>
            <a:prstDash val="dash"/>
          </a:ln>
        </p:spPr>
      </p:cxnSp>
      <p:sp>
        <p:nvSpPr>
          <p:cNvPr id="17" name="Text 17"/>
          <p:cNvSpPr txBox="1"/>
          <p:nvPr/>
        </p:nvSpPr>
        <p:spPr>
          <a:xfrm>
            <a:off x="3135630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비교</a:t>
            </a:r>
            <a:endParaRPr lang="en-US" sz="1100" dirty="0"/>
          </a:p>
        </p:txBody>
      </p:sp>
      <p:cxnSp>
        <p:nvCxnSpPr>
          <p:cNvPr id="18" name="Line 18"/>
          <p:cNvCxnSpPr/>
          <p:nvPr/>
        </p:nvCxnSpPr>
        <p:spPr>
          <a:xfrm>
            <a:off x="5084445" y="1714500"/>
            <a:ext cx="0" cy="2686050"/>
          </a:xfrm>
          <a:prstGeom prst="line">
            <a:avLst/>
          </a:prstGeom>
          <a:ln w="15875">
            <a:solidFill>
              <a:srgbClr val="CA8A04"/>
            </a:solidFill>
            <a:prstDash val="dash"/>
          </a:ln>
        </p:spPr>
      </p:cxnSp>
      <p:sp>
        <p:nvSpPr>
          <p:cNvPr id="19" name="Text 19"/>
          <p:cNvSpPr txBox="1"/>
          <p:nvPr/>
        </p:nvSpPr>
        <p:spPr>
          <a:xfrm>
            <a:off x="4036693" y="1466850"/>
            <a:ext cx="2254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 ns · o_before </a:t>
            </a:r>
            <a:r>
              <a:rPr lang="ko-KR" altLang="en-US" sz="1100" b="1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100" b="1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100" b="1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b="1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</a:t>
            </a:r>
            <a:r>
              <a:rPr lang="ko-KR" altLang="en-US" sz="1100" b="1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</a:t>
            </a:r>
            <a:r>
              <a:rPr lang="ko-KR" altLang="en-US" sz="11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</a:t>
            </a:r>
            <a:endParaRPr lang="en-US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5838825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 </a:t>
            </a:r>
            <a:r>
              <a:rPr lang="ko-KR" altLang="en-US" sz="1100" b="1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ns 비교</a:t>
            </a:r>
            <a:endParaRPr lang="en-US" sz="1100" dirty="0"/>
          </a:p>
        </p:txBody>
      </p:sp>
      <p:cxnSp>
        <p:nvCxnSpPr>
          <p:cNvPr id="22" name="Line 22"/>
          <p:cNvCxnSpPr/>
          <p:nvPr/>
        </p:nvCxnSpPr>
        <p:spPr>
          <a:xfrm>
            <a:off x="8688705" y="1714500"/>
            <a:ext cx="0" cy="268605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23" name="Text 23"/>
          <p:cNvSpPr txBox="1"/>
          <p:nvPr/>
        </p:nvSpPr>
        <p:spPr>
          <a:xfrm>
            <a:off x="7640955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· state 갱신</a:t>
            </a:r>
            <a:endParaRPr lang="en-US" sz="1100" dirty="0"/>
          </a:p>
        </p:txBody>
      </p:sp>
      <p:cxnSp>
        <p:nvCxnSpPr>
          <p:cNvPr id="24" name="Line 24"/>
          <p:cNvCxnSpPr/>
          <p:nvPr/>
        </p:nvCxnSpPr>
        <p:spPr>
          <a:xfrm>
            <a:off x="2381250" y="1885950"/>
            <a:ext cx="180213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4183380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4183380" y="2171700"/>
            <a:ext cx="4505325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8688705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8688705" y="1885950"/>
            <a:ext cx="2703194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sp>
        <p:nvSpPr>
          <p:cNvPr id="29" name="Shape 29"/>
          <p:cNvSpPr/>
          <p:nvPr/>
        </p:nvSpPr>
        <p:spPr>
          <a:xfrm>
            <a:off x="2395537" y="2390775"/>
            <a:ext cx="2674619" cy="3048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2395537" y="2390775"/>
            <a:ext cx="26746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50" dirty="0"/>
          </a:p>
        </p:txBody>
      </p:sp>
      <p:sp>
        <p:nvSpPr>
          <p:cNvPr id="31" name="Shape 31"/>
          <p:cNvSpPr/>
          <p:nvPr/>
        </p:nvSpPr>
        <p:spPr>
          <a:xfrm>
            <a:off x="5098732" y="2390775"/>
            <a:ext cx="6278880" cy="3048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5098732" y="2390775"/>
            <a:ext cx="6278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50" dirty="0"/>
          </a:p>
        </p:txBody>
      </p:sp>
      <p:sp>
        <p:nvSpPr>
          <p:cNvPr id="33" name="Shape 33"/>
          <p:cNvSpPr/>
          <p:nvPr/>
        </p:nvSpPr>
        <p:spPr>
          <a:xfrm>
            <a:off x="5098732" y="2905125"/>
            <a:ext cx="6278880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4"/>
          <p:cNvSpPr txBox="1"/>
          <p:nvPr/>
        </p:nvSpPr>
        <p:spPr>
          <a:xfrm>
            <a:off x="5098732" y="2905125"/>
            <a:ext cx="6278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35" name="Shape 35"/>
          <p:cNvSpPr/>
          <p:nvPr/>
        </p:nvSpPr>
        <p:spPr>
          <a:xfrm>
            <a:off x="2395537" y="3419475"/>
            <a:ext cx="6278880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2395537" y="3419475"/>
            <a:ext cx="6278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37" name="Shape 37"/>
          <p:cNvSpPr/>
          <p:nvPr/>
        </p:nvSpPr>
        <p:spPr>
          <a:xfrm>
            <a:off x="8702992" y="3419475"/>
            <a:ext cx="2674619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8"/>
          <p:cNvSpPr txBox="1"/>
          <p:nvPr/>
        </p:nvSpPr>
        <p:spPr>
          <a:xfrm>
            <a:off x="8702992" y="3419475"/>
            <a:ext cx="26746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3" name="Shape 43"/>
          <p:cNvSpPr/>
          <p:nvPr/>
        </p:nvSpPr>
        <p:spPr>
          <a:xfrm>
            <a:off x="6981825" y="345757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6981825" y="3457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Shape 47"/>
          <p:cNvSpPr/>
          <p:nvPr/>
        </p:nvSpPr>
        <p:spPr>
          <a:xfrm>
            <a:off x="45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62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시점</a:t>
            </a:r>
            <a:endParaRPr lang="en-US" sz="1300" dirty="0"/>
          </a:p>
        </p:txBody>
      </p:sp>
      <p:sp>
        <p:nvSpPr>
          <p:cNvPr id="49" name="Text 49"/>
          <p:cNvSpPr txBox="1"/>
          <p:nvPr/>
        </p:nvSpPr>
        <p:spPr>
          <a:xfrm>
            <a:off x="62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+ 3 ns (sw 인가 2 ns 뒤)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posedge 이전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426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443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조건</a:t>
            </a:r>
            <a:endParaRPr lang="en-US" sz="1300" dirty="0"/>
          </a:p>
        </p:txBody>
      </p:sp>
      <p:sp>
        <p:nvSpPr>
          <p:cNvPr id="52" name="Text 52"/>
          <p:cNvSpPr txBox="1"/>
          <p:nvPr/>
        </p:nvSpPr>
        <p:spPr>
          <a:xfrm>
            <a:off x="443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=== o_before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입력만 바뀐 </a:t>
            </a:r>
            <a:r>
              <a:rPr lang="ko-KR" altLang="en-US" sz="120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구간에서 출력이 불변하는지 검토</a:t>
            </a:r>
            <a:endParaRPr lang="en-US" sz="1200" dirty="0"/>
          </a:p>
        </p:txBody>
      </p:sp>
      <p:sp>
        <p:nvSpPr>
          <p:cNvPr id="53" name="Shape 53"/>
          <p:cNvSpPr/>
          <p:nvPr/>
        </p:nvSpPr>
        <p:spPr>
          <a:xfrm>
            <a:off x="807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24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잡는 결함</a:t>
            </a:r>
            <a:endParaRPr lang="en-US" sz="1300" dirty="0"/>
          </a:p>
        </p:txBody>
      </p:sp>
      <p:sp>
        <p:nvSpPr>
          <p:cNvPr id="55" name="Text 55"/>
          <p:cNvSpPr txBox="1"/>
          <p:nvPr/>
        </p:nvSpPr>
        <p:spPr>
          <a:xfrm>
            <a:off x="824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F6 Mealy화 (o_sw = n_state 기준)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 → output 조합 경로</a:t>
            </a:r>
            <a:endParaRPr lang="en-US" sz="1200" dirty="0"/>
          </a:p>
        </p:txBody>
      </p:sp>
      <p:cxnSp>
        <p:nvCxnSpPr>
          <p:cNvPr id="20" name="Line 20"/>
          <p:cNvCxnSpPr/>
          <p:nvPr/>
        </p:nvCxnSpPr>
        <p:spPr>
          <a:xfrm>
            <a:off x="6886575" y="1714500"/>
            <a:ext cx="0" cy="2686050"/>
          </a:xfrm>
          <a:prstGeom prst="line">
            <a:avLst/>
          </a:prstGeom>
          <a:ln w="22225">
            <a:solidFill>
              <a:srgbClr val="C62828"/>
            </a:solidFill>
            <a:prstDash val="sysDas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채점 항목 · C3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</a:t>
            </a:r>
            <a:r>
              <a:rPr lang="en-US" altLang="ko-KR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 edge </a:t>
            </a:r>
            <a:r>
              <a:rPr lang="ko-KR" altLang="en-US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</a:t>
            </a:r>
            <a:r>
              <a:rPr lang="en-US" altLang="ko-KR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state</a:t>
            </a:r>
            <a:r>
              <a:rPr lang="ko-KR" altLang="en-US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넘어가는지 확인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11277600" cy="369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7716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685800" y="22860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async_reset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28003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RTL (async)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685800" y="331470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F4 (reset → CLEAR)</a:t>
            </a:r>
            <a:endParaRPr lang="en-US" sz="1300" dirty="0"/>
          </a:p>
        </p:txBody>
      </p:sp>
      <p:sp>
        <p:nvSpPr>
          <p:cNvPr id="13" name="Text 13"/>
          <p:cNvSpPr txBox="1"/>
          <p:nvPr/>
        </p:nvSpPr>
        <p:spPr>
          <a:xfrm>
            <a:off x="685800" y="38290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F7 (동기 reset)</a:t>
            </a:r>
            <a:endParaRPr lang="en-US" sz="1300" dirty="0"/>
          </a:p>
        </p:txBody>
      </p:sp>
      <p:cxnSp>
        <p:nvCxnSpPr>
          <p:cNvPr id="14" name="Line 14"/>
          <p:cNvCxnSpPr/>
          <p:nvPr/>
        </p:nvCxnSpPr>
        <p:spPr>
          <a:xfrm>
            <a:off x="4070746" y="1714500"/>
            <a:ext cx="0" cy="268605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15" name="Text 15"/>
          <p:cNvSpPr txBox="1"/>
          <p:nvPr/>
        </p:nvSpPr>
        <p:spPr>
          <a:xfrm>
            <a:off x="3022996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</a:t>
            </a:r>
            <a:endParaRPr lang="en-US" sz="1100" dirty="0"/>
          </a:p>
        </p:txBody>
      </p:sp>
      <p:cxnSp>
        <p:nvCxnSpPr>
          <p:cNvPr id="16" name="Line 16"/>
          <p:cNvCxnSpPr/>
          <p:nvPr/>
        </p:nvCxnSpPr>
        <p:spPr>
          <a:xfrm>
            <a:off x="5197078" y="1714500"/>
            <a:ext cx="0" cy="268605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</p:cxnSp>
      <p:sp>
        <p:nvSpPr>
          <p:cNvPr id="17" name="Text 17"/>
          <p:cNvSpPr txBox="1"/>
          <p:nvPr/>
        </p:nvSpPr>
        <p:spPr>
          <a:xfrm>
            <a:off x="4149328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 ns · reset = 1</a:t>
            </a:r>
            <a:endParaRPr lang="en-US" sz="1100" dirty="0"/>
          </a:p>
        </p:txBody>
      </p:sp>
      <p:cxnSp>
        <p:nvCxnSpPr>
          <p:cNvPr id="18" name="Line 18"/>
          <p:cNvCxnSpPr/>
          <p:nvPr/>
        </p:nvCxnSpPr>
        <p:spPr>
          <a:xfrm>
            <a:off x="5760243" y="1714500"/>
            <a:ext cx="0" cy="2686050"/>
          </a:xfrm>
          <a:prstGeom prst="line">
            <a:avLst/>
          </a:prstGeom>
          <a:ln w="22225">
            <a:solidFill>
              <a:srgbClr val="EA580C"/>
            </a:solidFill>
            <a:prstDash val="sysDash"/>
          </a:ln>
        </p:spPr>
      </p:cxnSp>
      <p:sp>
        <p:nvSpPr>
          <p:cNvPr id="19" name="Text 19"/>
          <p:cNvSpPr txBox="1"/>
          <p:nvPr/>
        </p:nvSpPr>
        <p:spPr>
          <a:xfrm>
            <a:off x="3626643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 ns · C3 비교</a:t>
            </a:r>
            <a:endParaRPr lang="en-US" sz="1100" dirty="0"/>
          </a:p>
        </p:txBody>
      </p:sp>
      <p:cxnSp>
        <p:nvCxnSpPr>
          <p:cNvPr id="20" name="Line 20"/>
          <p:cNvCxnSpPr/>
          <p:nvPr/>
        </p:nvCxnSpPr>
        <p:spPr>
          <a:xfrm>
            <a:off x="6886575" y="1714500"/>
            <a:ext cx="0" cy="268605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</p:cxnSp>
      <p:sp>
        <p:nvSpPr>
          <p:cNvPr id="21" name="Text 21"/>
          <p:cNvSpPr txBox="1"/>
          <p:nvPr/>
        </p:nvSpPr>
        <p:spPr>
          <a:xfrm>
            <a:off x="6924675" y="44386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· C1 생략</a:t>
            </a:r>
            <a:endParaRPr lang="en-US" sz="1100" dirty="0"/>
          </a:p>
        </p:txBody>
      </p:sp>
      <p:cxnSp>
        <p:nvCxnSpPr>
          <p:cNvPr id="22" name="Line 22"/>
          <p:cNvCxnSpPr/>
          <p:nvPr/>
        </p:nvCxnSpPr>
        <p:spPr>
          <a:xfrm>
            <a:off x="7449740" y="1714500"/>
            <a:ext cx="0" cy="2686050"/>
          </a:xfrm>
          <a:prstGeom prst="line">
            <a:avLst/>
          </a:prstGeom>
          <a:ln w="15875">
            <a:solidFill>
              <a:srgbClr val="C62828"/>
            </a:solidFill>
            <a:prstDash val="dash"/>
          </a:ln>
        </p:spPr>
      </p:cxnSp>
      <p:sp>
        <p:nvSpPr>
          <p:cNvPr id="23" name="Text 23"/>
          <p:cNvSpPr txBox="1"/>
          <p:nvPr/>
        </p:nvSpPr>
        <p:spPr>
          <a:xfrm>
            <a:off x="6401990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= 0</a:t>
            </a:r>
            <a:endParaRPr lang="en-US" sz="1100" dirty="0"/>
          </a:p>
        </p:txBody>
      </p:sp>
      <p:cxnSp>
        <p:nvCxnSpPr>
          <p:cNvPr id="24" name="Line 24"/>
          <p:cNvCxnSpPr/>
          <p:nvPr/>
        </p:nvCxnSpPr>
        <p:spPr>
          <a:xfrm>
            <a:off x="9702403" y="1714500"/>
            <a:ext cx="0" cy="268605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25" name="Text 25"/>
          <p:cNvSpPr txBox="1"/>
          <p:nvPr/>
        </p:nvSpPr>
        <p:spPr>
          <a:xfrm>
            <a:off x="8654653" y="146685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</a:t>
            </a:r>
            <a:endParaRPr lang="en-US" sz="1100" dirty="0"/>
          </a:p>
        </p:txBody>
      </p:sp>
      <p:cxnSp>
        <p:nvCxnSpPr>
          <p:cNvPr id="26" name="Line 26"/>
          <p:cNvCxnSpPr/>
          <p:nvPr/>
        </p:nvCxnSpPr>
        <p:spPr>
          <a:xfrm>
            <a:off x="2381250" y="2171700"/>
            <a:ext cx="1689496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4070746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4070746" y="1885950"/>
            <a:ext cx="2815828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886575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886575" y="2171700"/>
            <a:ext cx="2815828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9702403" y="1885950"/>
            <a:ext cx="0" cy="2857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9702403" y="1885950"/>
            <a:ext cx="1689496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2381250" y="2686050"/>
            <a:ext cx="2815828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5197078" y="2400300"/>
            <a:ext cx="2252662" cy="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5197078" y="2400300"/>
            <a:ext cx="0" cy="28575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449740" y="2686050"/>
            <a:ext cx="3942159" cy="0"/>
          </a:xfrm>
          <a:prstGeom prst="line">
            <a:avLst/>
          </a:prstGeom>
          <a:ln w="22225">
            <a:solidFill>
              <a:srgbClr val="1F2937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449740" y="2400300"/>
            <a:ext cx="0" cy="285750"/>
          </a:xfrm>
          <a:prstGeom prst="line">
            <a:avLst/>
          </a:prstGeom>
          <a:ln w="22225">
            <a:solidFill>
              <a:srgbClr val="C62828"/>
            </a:solidFill>
          </a:ln>
        </p:spPr>
      </p:cxnSp>
      <p:sp>
        <p:nvSpPr>
          <p:cNvPr id="38" name="Shape 38"/>
          <p:cNvSpPr/>
          <p:nvPr/>
        </p:nvSpPr>
        <p:spPr>
          <a:xfrm>
            <a:off x="2395537" y="2905125"/>
            <a:ext cx="2787253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2395537" y="2905125"/>
            <a:ext cx="27872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0" name="Shape 40"/>
          <p:cNvSpPr/>
          <p:nvPr/>
        </p:nvSpPr>
        <p:spPr>
          <a:xfrm>
            <a:off x="5211365" y="2905125"/>
            <a:ext cx="4476750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5211365" y="2905125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42" name="Shape 42"/>
          <p:cNvSpPr/>
          <p:nvPr/>
        </p:nvSpPr>
        <p:spPr>
          <a:xfrm>
            <a:off x="9716690" y="2905125"/>
            <a:ext cx="1660921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9716690" y="2905125"/>
            <a:ext cx="1660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4" name="Shape 44"/>
          <p:cNvSpPr/>
          <p:nvPr/>
        </p:nvSpPr>
        <p:spPr>
          <a:xfrm>
            <a:off x="2395537" y="3419475"/>
            <a:ext cx="2787253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2395537" y="3419475"/>
            <a:ext cx="27872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6" name="Shape 46"/>
          <p:cNvSpPr/>
          <p:nvPr/>
        </p:nvSpPr>
        <p:spPr>
          <a:xfrm>
            <a:off x="5211365" y="3419475"/>
            <a:ext cx="4476750" cy="304800"/>
          </a:xfrm>
          <a:prstGeom prst="rect">
            <a:avLst/>
          </a:prstGeom>
          <a:solidFill>
            <a:srgbClr val="FDECEC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5211365" y="3419475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 100</a:t>
            </a:r>
            <a:endParaRPr lang="en-US" sz="1150" dirty="0"/>
          </a:p>
        </p:txBody>
      </p:sp>
      <p:sp>
        <p:nvSpPr>
          <p:cNvPr id="48" name="Shape 48"/>
          <p:cNvSpPr/>
          <p:nvPr/>
        </p:nvSpPr>
        <p:spPr>
          <a:xfrm>
            <a:off x="9716690" y="3419475"/>
            <a:ext cx="1660921" cy="3048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9716690" y="3419475"/>
            <a:ext cx="1660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50" name="Shape 50"/>
          <p:cNvSpPr/>
          <p:nvPr/>
        </p:nvSpPr>
        <p:spPr>
          <a:xfrm>
            <a:off x="2395537" y="3933825"/>
            <a:ext cx="8982075" cy="3048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2395537" y="3933825"/>
            <a:ext cx="898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52" name="Shape 52"/>
          <p:cNvSpPr/>
          <p:nvPr/>
        </p:nvSpPr>
        <p:spPr>
          <a:xfrm>
            <a:off x="5855493" y="2943225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5855493" y="29432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4"/>
          <p:cNvSpPr/>
          <p:nvPr/>
        </p:nvSpPr>
        <p:spPr>
          <a:xfrm>
            <a:off x="5855493" y="3457575"/>
            <a:ext cx="228600" cy="2286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5"/>
          <p:cNvSpPr txBox="1"/>
          <p:nvPr/>
        </p:nvSpPr>
        <p:spPr>
          <a:xfrm>
            <a:off x="5855493" y="34575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200" dirty="0"/>
          </a:p>
        </p:txBody>
      </p:sp>
      <p:sp>
        <p:nvSpPr>
          <p:cNvPr id="56" name="Shape 56"/>
          <p:cNvSpPr/>
          <p:nvPr/>
        </p:nvSpPr>
        <p:spPr>
          <a:xfrm>
            <a:off x="5855493" y="3971925"/>
            <a:ext cx="228600" cy="2286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5855493" y="39719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8"/>
          <p:cNvSpPr/>
          <p:nvPr/>
        </p:nvSpPr>
        <p:spPr>
          <a:xfrm>
            <a:off x="45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9"/>
          <p:cNvSpPr txBox="1"/>
          <p:nvPr/>
        </p:nvSpPr>
        <p:spPr>
          <a:xfrm>
            <a:off x="62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시점</a:t>
            </a:r>
            <a:endParaRPr lang="en-US" sz="1300" dirty="0"/>
          </a:p>
        </p:txBody>
      </p:sp>
      <p:sp>
        <p:nvSpPr>
          <p:cNvPr id="60" name="Text 60"/>
          <p:cNvSpPr txBox="1"/>
          <p:nvPr/>
        </p:nvSpPr>
        <p:spPr>
          <a:xfrm>
            <a:off x="62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+ 3 ns (reset 인가 1 ns 뒤)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구간 = posedge + 2 ~ 6 ns, posedge 없음</a:t>
            </a:r>
            <a:endParaRPr lang="en-US" sz="1200" dirty="0"/>
          </a:p>
        </p:txBody>
      </p:sp>
      <p:sp>
        <p:nvSpPr>
          <p:cNvPr id="61" name="Shape 61"/>
          <p:cNvSpPr/>
          <p:nvPr/>
        </p:nvSpPr>
        <p:spPr>
          <a:xfrm>
            <a:off x="426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443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조건</a:t>
            </a:r>
            <a:endParaRPr lang="en-US" sz="1300" dirty="0"/>
          </a:p>
        </p:txBody>
      </p:sp>
      <p:sp>
        <p:nvSpPr>
          <p:cNvPr id="63" name="Text 63"/>
          <p:cNvSpPr txBox="1"/>
          <p:nvPr/>
        </p:nvSpPr>
        <p:spPr>
          <a:xfrm>
            <a:off x="443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=== 3'b001 (STOP)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클럭 엣지 없이 즉시 STOP</a:t>
            </a:r>
            <a:endParaRPr lang="en-US" sz="1200" dirty="0"/>
          </a:p>
        </p:txBody>
      </p:sp>
      <p:sp>
        <p:nvSpPr>
          <p:cNvPr id="64" name="Shape 64"/>
          <p:cNvSpPr/>
          <p:nvPr/>
        </p:nvSpPr>
        <p:spPr>
          <a:xfrm>
            <a:off x="807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824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잡는 결함</a:t>
            </a:r>
            <a:endParaRPr lang="en-US" sz="1300" dirty="0"/>
          </a:p>
        </p:txBody>
      </p:sp>
      <p:sp>
        <p:nvSpPr>
          <p:cNvPr id="66" name="Text 66"/>
          <p:cNvSpPr txBox="1"/>
          <p:nvPr/>
        </p:nvSpPr>
        <p:spPr>
          <a:xfrm>
            <a:off x="824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F4 reset 값 오류 (CLEAR 100)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F7 동기 reset (posedge 없음 → reset 미반영)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채점 항목 · C4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</a:t>
            </a: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Logs Each Arc at the Posedge and Requires 12 of 12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295400"/>
            <a:ext cx="7429500" cy="369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85800" y="1905000"/>
            <a:ext cx="1200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685800" y="2495550"/>
            <a:ext cx="1200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i_sw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arc(RUN, 10)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3086100"/>
            <a:ext cx="1200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g_state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685800" y="3676650"/>
            <a:ext cx="1200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arc</a:t>
            </a:r>
            <a:endParaRPr lang="en-US" sz="1300" dirty="0"/>
          </a:p>
        </p:txBody>
      </p:sp>
      <p:cxnSp>
        <p:nvCxnSpPr>
          <p:cNvPr id="13" name="Line 13"/>
          <p:cNvCxnSpPr/>
          <p:nvPr/>
        </p:nvCxnSpPr>
        <p:spPr>
          <a:xfrm>
            <a:off x="3311524" y="1847850"/>
            <a:ext cx="0" cy="247650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14" name="Text 14"/>
          <p:cNvSpPr txBox="1"/>
          <p:nvPr/>
        </p:nvSpPr>
        <p:spPr>
          <a:xfrm>
            <a:off x="2263774" y="16002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</a:t>
            </a:r>
            <a:endParaRPr lang="en-US" sz="1100" dirty="0"/>
          </a:p>
        </p:txBody>
      </p:sp>
      <p:cxnSp>
        <p:nvCxnSpPr>
          <p:cNvPr id="15" name="Line 15"/>
          <p:cNvCxnSpPr/>
          <p:nvPr/>
        </p:nvCxnSpPr>
        <p:spPr>
          <a:xfrm>
            <a:off x="5184774" y="1847850"/>
            <a:ext cx="0" cy="247650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16" name="Text 16"/>
          <p:cNvSpPr txBox="1"/>
          <p:nvPr/>
        </p:nvSpPr>
        <p:spPr>
          <a:xfrm>
            <a:off x="4137024" y="16002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</a:t>
            </a:r>
            <a:endParaRPr lang="en-US" sz="1100" dirty="0"/>
          </a:p>
        </p:txBody>
      </p:sp>
      <p:cxnSp>
        <p:nvCxnSpPr>
          <p:cNvPr id="17" name="Line 17"/>
          <p:cNvCxnSpPr/>
          <p:nvPr/>
        </p:nvCxnSpPr>
        <p:spPr>
          <a:xfrm>
            <a:off x="7058025" y="1847850"/>
            <a:ext cx="0" cy="247650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</p:cxnSp>
      <p:sp>
        <p:nvSpPr>
          <p:cNvPr id="18" name="Text 18"/>
          <p:cNvSpPr txBox="1"/>
          <p:nvPr/>
        </p:nvSpPr>
        <p:spPr>
          <a:xfrm>
            <a:off x="6010275" y="16002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</a:t>
            </a:r>
            <a:endParaRPr lang="en-US" sz="1100" dirty="0"/>
          </a:p>
        </p:txBody>
      </p:sp>
      <p:cxnSp>
        <p:nvCxnSpPr>
          <p:cNvPr id="19" name="Line 19"/>
          <p:cNvCxnSpPr/>
          <p:nvPr/>
        </p:nvCxnSpPr>
        <p:spPr>
          <a:xfrm>
            <a:off x="2000250" y="2019300"/>
            <a:ext cx="374650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2374900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2374900" y="2381250"/>
            <a:ext cx="936624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3311524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3311524" y="2019300"/>
            <a:ext cx="936625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4248150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4248150" y="2381250"/>
            <a:ext cx="936624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5184774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5184774" y="2019300"/>
            <a:ext cx="936625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121400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121400" y="2381250"/>
            <a:ext cx="936624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058025" y="2019300"/>
            <a:ext cx="0" cy="36195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058025" y="2019300"/>
            <a:ext cx="561975" cy="0"/>
          </a:xfrm>
          <a:prstGeom prst="line">
            <a:avLst/>
          </a:prstGeom>
          <a:ln w="19050">
            <a:solidFill>
              <a:srgbClr val="1F2937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2014537" y="2600325"/>
            <a:ext cx="533400" cy="3810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3"/>
          <p:cNvSpPr txBox="1"/>
          <p:nvPr/>
        </p:nvSpPr>
        <p:spPr>
          <a:xfrm>
            <a:off x="2014537" y="2600325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50" dirty="0"/>
          </a:p>
        </p:txBody>
      </p:sp>
      <p:sp>
        <p:nvSpPr>
          <p:cNvPr id="34" name="Shape 34"/>
          <p:cNvSpPr/>
          <p:nvPr/>
        </p:nvSpPr>
        <p:spPr>
          <a:xfrm>
            <a:off x="2576512" y="2600325"/>
            <a:ext cx="1844674" cy="3810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2576512" y="2600325"/>
            <a:ext cx="1844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50" dirty="0"/>
          </a:p>
        </p:txBody>
      </p:sp>
      <p:sp>
        <p:nvSpPr>
          <p:cNvPr id="36" name="Shape 36"/>
          <p:cNvSpPr/>
          <p:nvPr/>
        </p:nvSpPr>
        <p:spPr>
          <a:xfrm>
            <a:off x="4449762" y="2600325"/>
            <a:ext cx="3155950" cy="381000"/>
          </a:xfrm>
          <a:prstGeom prst="rect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4449762" y="2600325"/>
            <a:ext cx="315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</p:txBody>
      </p:sp>
      <p:sp>
        <p:nvSpPr>
          <p:cNvPr id="38" name="Shape 38"/>
          <p:cNvSpPr/>
          <p:nvPr/>
        </p:nvSpPr>
        <p:spPr>
          <a:xfrm>
            <a:off x="2014537" y="3190875"/>
            <a:ext cx="1282699" cy="3810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9"/>
          <p:cNvSpPr txBox="1"/>
          <p:nvPr/>
        </p:nvSpPr>
        <p:spPr>
          <a:xfrm>
            <a:off x="2014537" y="3190875"/>
            <a:ext cx="12826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40" name="Shape 40"/>
          <p:cNvSpPr/>
          <p:nvPr/>
        </p:nvSpPr>
        <p:spPr>
          <a:xfrm>
            <a:off x="3325812" y="3190875"/>
            <a:ext cx="1844674" cy="381000"/>
          </a:xfrm>
          <a:prstGeom prst="rect">
            <a:avLst/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3325812" y="3190875"/>
            <a:ext cx="1844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010</a:t>
            </a:r>
            <a:endParaRPr lang="en-US" sz="1150" dirty="0"/>
          </a:p>
        </p:txBody>
      </p:sp>
      <p:sp>
        <p:nvSpPr>
          <p:cNvPr id="42" name="Shape 42"/>
          <p:cNvSpPr/>
          <p:nvPr/>
        </p:nvSpPr>
        <p:spPr>
          <a:xfrm>
            <a:off x="5199062" y="3190875"/>
            <a:ext cx="1844675" cy="381000"/>
          </a:xfrm>
          <a:prstGeom prst="rect">
            <a:avLst/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3"/>
          <p:cNvSpPr txBox="1"/>
          <p:nvPr/>
        </p:nvSpPr>
        <p:spPr>
          <a:xfrm>
            <a:off x="5199062" y="3190875"/>
            <a:ext cx="1844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001</a:t>
            </a:r>
            <a:endParaRPr lang="en-US" sz="1150" dirty="0"/>
          </a:p>
        </p:txBody>
      </p:sp>
      <p:sp>
        <p:nvSpPr>
          <p:cNvPr id="44" name="Shape 44"/>
          <p:cNvSpPr/>
          <p:nvPr/>
        </p:nvSpPr>
        <p:spPr>
          <a:xfrm>
            <a:off x="7072312" y="3190875"/>
            <a:ext cx="533400" cy="381000"/>
          </a:xfrm>
          <a:prstGeom prst="rect">
            <a:avLst/>
          </a:prstGeom>
          <a:solidFill>
            <a:srgbClr val="FDECEC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7072312" y="3190875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150" dirty="0"/>
          </a:p>
        </p:txBody>
      </p:sp>
      <p:sp>
        <p:nvSpPr>
          <p:cNvPr id="46" name="Shape 46"/>
          <p:cNvSpPr/>
          <p:nvPr/>
        </p:nvSpPr>
        <p:spPr>
          <a:xfrm>
            <a:off x="2701924" y="3800475"/>
            <a:ext cx="1219200" cy="3429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7"/>
          <p:cNvSpPr txBox="1"/>
          <p:nvPr/>
        </p:nvSpPr>
        <p:spPr>
          <a:xfrm>
            <a:off x="2701924" y="3800475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× 01 +1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4575174" y="3800475"/>
            <a:ext cx="1219200" cy="3429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4575174" y="3800475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× 10 +1</a:t>
            </a:r>
            <a:endParaRPr lang="en-US" sz="1100" dirty="0"/>
          </a:p>
        </p:txBody>
      </p:sp>
      <p:sp>
        <p:nvSpPr>
          <p:cNvPr id="50" name="Shape 50"/>
          <p:cNvSpPr/>
          <p:nvPr/>
        </p:nvSpPr>
        <p:spPr>
          <a:xfrm>
            <a:off x="6448425" y="3800475"/>
            <a:ext cx="1219200" cy="3429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1"/>
          <p:cNvSpPr txBox="1"/>
          <p:nvPr/>
        </p:nvSpPr>
        <p:spPr>
          <a:xfrm>
            <a:off x="6448425" y="3800475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× 10 +1</a:t>
            </a:r>
            <a:endParaRPr lang="en-US" sz="1100" dirty="0"/>
          </a:p>
        </p:txBody>
      </p:sp>
      <p:sp>
        <p:nvSpPr>
          <p:cNvPr id="52" name="Text 52"/>
          <p:cNvSpPr txBox="1"/>
          <p:nvPr/>
        </p:nvSpPr>
        <p:spPr>
          <a:xfrm>
            <a:off x="685800" y="44767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직전 값으로 기록</a:t>
            </a:r>
            <a:r>
              <a:rPr lang="ko-KR" alt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cov[g_state][i_sw] + 1</a:t>
            </a:r>
            <a:endParaRPr lang="en-US" sz="1200" dirty="0"/>
          </a:p>
        </p:txBody>
      </p:sp>
      <p:sp>
        <p:nvSpPr>
          <p:cNvPr id="53" name="Shape 53"/>
          <p:cNvSpPr/>
          <p:nvPr/>
        </p:nvSpPr>
        <p:spPr>
          <a:xfrm>
            <a:off x="8039100" y="1295400"/>
            <a:ext cx="3695700" cy="369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4"/>
          <p:cNvSpPr txBox="1"/>
          <p:nvPr/>
        </p:nvSpPr>
        <p:spPr>
          <a:xfrm>
            <a:off x="8229600" y="14478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Coverage (state × i_sw)</a:t>
            </a:r>
            <a:endParaRPr lang="en-US" sz="1300" dirty="0"/>
          </a:p>
        </p:txBody>
      </p:sp>
      <p:sp>
        <p:nvSpPr>
          <p:cNvPr id="55" name="Shape 55"/>
          <p:cNvSpPr/>
          <p:nvPr/>
        </p:nvSpPr>
        <p:spPr>
          <a:xfrm>
            <a:off x="8229600" y="1866900"/>
            <a:ext cx="3314700" cy="4953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8229600" y="1866900"/>
            <a:ext cx="80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00" dirty="0"/>
          </a:p>
        </p:txBody>
      </p:sp>
      <p:sp>
        <p:nvSpPr>
          <p:cNvPr id="57" name="Text 57"/>
          <p:cNvSpPr txBox="1"/>
          <p:nvPr/>
        </p:nvSpPr>
        <p:spPr>
          <a:xfrm>
            <a:off x="9029700" y="18669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200" dirty="0"/>
          </a:p>
        </p:txBody>
      </p:sp>
      <p:sp>
        <p:nvSpPr>
          <p:cNvPr id="58" name="Text 58"/>
          <p:cNvSpPr txBox="1"/>
          <p:nvPr/>
        </p:nvSpPr>
        <p:spPr>
          <a:xfrm>
            <a:off x="9658350" y="18669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59" name="Text 59"/>
          <p:cNvSpPr txBox="1"/>
          <p:nvPr/>
        </p:nvSpPr>
        <p:spPr>
          <a:xfrm>
            <a:off x="10287000" y="18669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60" name="Text 60"/>
          <p:cNvSpPr txBox="1"/>
          <p:nvPr/>
        </p:nvSpPr>
        <p:spPr>
          <a:xfrm>
            <a:off x="10915650" y="18669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61" name="Shape 61"/>
          <p:cNvSpPr/>
          <p:nvPr/>
        </p:nvSpPr>
        <p:spPr>
          <a:xfrm>
            <a:off x="8229600" y="2362200"/>
            <a:ext cx="800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8229600" y="2362200"/>
            <a:ext cx="80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200" dirty="0"/>
          </a:p>
        </p:txBody>
      </p:sp>
      <p:sp>
        <p:nvSpPr>
          <p:cNvPr id="63" name="Shape 63"/>
          <p:cNvSpPr/>
          <p:nvPr/>
        </p:nvSpPr>
        <p:spPr>
          <a:xfrm>
            <a:off x="9029700" y="23622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4"/>
          <p:cNvSpPr txBox="1"/>
          <p:nvPr/>
        </p:nvSpPr>
        <p:spPr>
          <a:xfrm>
            <a:off x="9029700" y="23622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65" name="Shape 65"/>
          <p:cNvSpPr/>
          <p:nvPr/>
        </p:nvSpPr>
        <p:spPr>
          <a:xfrm>
            <a:off x="9658350" y="2362200"/>
            <a:ext cx="628650" cy="495300"/>
          </a:xfrm>
          <a:prstGeom prst="rect">
            <a:avLst/>
          </a:prstGeom>
          <a:solidFill>
            <a:srgbClr val="FFF3E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9658350" y="23622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250" dirty="0"/>
          </a:p>
        </p:txBody>
      </p:sp>
      <p:sp>
        <p:nvSpPr>
          <p:cNvPr id="67" name="Shape 67"/>
          <p:cNvSpPr/>
          <p:nvPr/>
        </p:nvSpPr>
        <p:spPr>
          <a:xfrm>
            <a:off x="10287000" y="2362200"/>
            <a:ext cx="628650" cy="495300"/>
          </a:xfrm>
          <a:prstGeom prst="rect">
            <a:avLst/>
          </a:prstGeom>
          <a:solidFill>
            <a:srgbClr val="FFF3E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8"/>
          <p:cNvSpPr txBox="1"/>
          <p:nvPr/>
        </p:nvSpPr>
        <p:spPr>
          <a:xfrm>
            <a:off x="10287000" y="23622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250" dirty="0"/>
          </a:p>
        </p:txBody>
      </p:sp>
      <p:sp>
        <p:nvSpPr>
          <p:cNvPr id="69" name="Shape 69"/>
          <p:cNvSpPr/>
          <p:nvPr/>
        </p:nvSpPr>
        <p:spPr>
          <a:xfrm>
            <a:off x="10915650" y="23622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70"/>
          <p:cNvSpPr txBox="1"/>
          <p:nvPr/>
        </p:nvSpPr>
        <p:spPr>
          <a:xfrm>
            <a:off x="10915650" y="23622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71" name="Shape 71"/>
          <p:cNvSpPr/>
          <p:nvPr/>
        </p:nvSpPr>
        <p:spPr>
          <a:xfrm>
            <a:off x="8229600" y="2857500"/>
            <a:ext cx="800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2"/>
          <p:cNvSpPr txBox="1"/>
          <p:nvPr/>
        </p:nvSpPr>
        <p:spPr>
          <a:xfrm>
            <a:off x="8229600" y="2857500"/>
            <a:ext cx="80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200" dirty="0"/>
          </a:p>
        </p:txBody>
      </p:sp>
      <p:sp>
        <p:nvSpPr>
          <p:cNvPr id="73" name="Shape 73"/>
          <p:cNvSpPr/>
          <p:nvPr/>
        </p:nvSpPr>
        <p:spPr>
          <a:xfrm>
            <a:off x="9029700" y="28575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9029700" y="28575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75" name="Shape 75"/>
          <p:cNvSpPr/>
          <p:nvPr/>
        </p:nvSpPr>
        <p:spPr>
          <a:xfrm>
            <a:off x="9658350" y="28575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6"/>
          <p:cNvSpPr txBox="1"/>
          <p:nvPr/>
        </p:nvSpPr>
        <p:spPr>
          <a:xfrm>
            <a:off x="9658350" y="28575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77" name="Shape 77"/>
          <p:cNvSpPr/>
          <p:nvPr/>
        </p:nvSpPr>
        <p:spPr>
          <a:xfrm>
            <a:off x="10287000" y="2857500"/>
            <a:ext cx="628650" cy="495300"/>
          </a:xfrm>
          <a:prstGeom prst="rect">
            <a:avLst/>
          </a:prstGeom>
          <a:solidFill>
            <a:srgbClr val="E8F5E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8"/>
          <p:cNvSpPr txBox="1"/>
          <p:nvPr/>
        </p:nvSpPr>
        <p:spPr>
          <a:xfrm>
            <a:off x="10287000" y="28575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250" dirty="0"/>
          </a:p>
        </p:txBody>
      </p:sp>
      <p:sp>
        <p:nvSpPr>
          <p:cNvPr id="79" name="Shape 79"/>
          <p:cNvSpPr/>
          <p:nvPr/>
        </p:nvSpPr>
        <p:spPr>
          <a:xfrm>
            <a:off x="10915650" y="28575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80"/>
          <p:cNvSpPr txBox="1"/>
          <p:nvPr/>
        </p:nvSpPr>
        <p:spPr>
          <a:xfrm>
            <a:off x="10915650" y="28575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81" name="Shape 81"/>
          <p:cNvSpPr/>
          <p:nvPr/>
        </p:nvSpPr>
        <p:spPr>
          <a:xfrm>
            <a:off x="8229600" y="3352800"/>
            <a:ext cx="800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2"/>
          <p:cNvSpPr txBox="1"/>
          <p:nvPr/>
        </p:nvSpPr>
        <p:spPr>
          <a:xfrm>
            <a:off x="8229600" y="3352800"/>
            <a:ext cx="80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200" dirty="0"/>
          </a:p>
        </p:txBody>
      </p:sp>
      <p:sp>
        <p:nvSpPr>
          <p:cNvPr id="83" name="Shape 83"/>
          <p:cNvSpPr/>
          <p:nvPr/>
        </p:nvSpPr>
        <p:spPr>
          <a:xfrm>
            <a:off x="9029700" y="33528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4"/>
          <p:cNvSpPr txBox="1"/>
          <p:nvPr/>
        </p:nvSpPr>
        <p:spPr>
          <a:xfrm>
            <a:off x="9029700" y="33528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85" name="Shape 85"/>
          <p:cNvSpPr/>
          <p:nvPr/>
        </p:nvSpPr>
        <p:spPr>
          <a:xfrm>
            <a:off x="9658350" y="33528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6"/>
          <p:cNvSpPr txBox="1"/>
          <p:nvPr/>
        </p:nvSpPr>
        <p:spPr>
          <a:xfrm>
            <a:off x="9658350" y="33528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87" name="Shape 87"/>
          <p:cNvSpPr/>
          <p:nvPr/>
        </p:nvSpPr>
        <p:spPr>
          <a:xfrm>
            <a:off x="10287000" y="33528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8"/>
          <p:cNvSpPr txBox="1"/>
          <p:nvPr/>
        </p:nvSpPr>
        <p:spPr>
          <a:xfrm>
            <a:off x="10287000" y="33528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89" name="Shape 89"/>
          <p:cNvSpPr/>
          <p:nvPr/>
        </p:nvSpPr>
        <p:spPr>
          <a:xfrm>
            <a:off x="10915650" y="3352800"/>
            <a:ext cx="628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90"/>
          <p:cNvSpPr txBox="1"/>
          <p:nvPr/>
        </p:nvSpPr>
        <p:spPr>
          <a:xfrm>
            <a:off x="10915650" y="3352800"/>
            <a:ext cx="62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91" name="Text 91"/>
          <p:cNvSpPr txBox="1"/>
          <p:nvPr/>
        </p:nvSpPr>
        <p:spPr>
          <a:xfrm>
            <a:off x="8229600" y="4019550"/>
            <a:ext cx="3314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시 0인 칸 존재 → FAIL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arc(RUN, 10) 1회 = 3칸 기록</a:t>
            </a:r>
            <a:endParaRPr lang="en-US" sz="1200" dirty="0"/>
          </a:p>
        </p:txBody>
      </p:sp>
      <p:sp>
        <p:nvSpPr>
          <p:cNvPr id="92" name="Shape 92"/>
          <p:cNvSpPr/>
          <p:nvPr/>
        </p:nvSpPr>
        <p:spPr>
          <a:xfrm>
            <a:off x="45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3"/>
          <p:cNvSpPr txBox="1"/>
          <p:nvPr/>
        </p:nvSpPr>
        <p:spPr>
          <a:xfrm>
            <a:off x="62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· 판정 시점</a:t>
            </a:r>
            <a:endParaRPr lang="en-US" sz="1300" dirty="0"/>
          </a:p>
        </p:txBody>
      </p:sp>
      <p:sp>
        <p:nvSpPr>
          <p:cNvPr id="94" name="Text 94"/>
          <p:cNvSpPr txBox="1"/>
          <p:nvPr/>
        </p:nvSpPr>
        <p:spPr>
          <a:xfrm>
            <a:off x="62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posedge 기록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종료 시 12칸 집계</a:t>
            </a:r>
            <a:endParaRPr lang="en-US" sz="1200" dirty="0"/>
          </a:p>
        </p:txBody>
      </p:sp>
      <p:sp>
        <p:nvSpPr>
          <p:cNvPr id="95" name="Shape 95"/>
          <p:cNvSpPr/>
          <p:nvPr/>
        </p:nvSpPr>
        <p:spPr>
          <a:xfrm>
            <a:off x="426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6"/>
          <p:cNvSpPr txBox="1"/>
          <p:nvPr/>
        </p:nvSpPr>
        <p:spPr>
          <a:xfrm>
            <a:off x="443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조건</a:t>
            </a:r>
            <a:endParaRPr lang="en-US" sz="1300" dirty="0"/>
          </a:p>
        </p:txBody>
      </p:sp>
      <p:sp>
        <p:nvSpPr>
          <p:cNvPr id="97" name="Text 97"/>
          <p:cNvSpPr txBox="1"/>
          <p:nvPr/>
        </p:nvSpPr>
        <p:spPr>
          <a:xfrm>
            <a:off x="443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12칸 모두 1회 이상 실행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 == 12</a:t>
            </a:r>
            <a:endParaRPr lang="en-US" sz="1200" dirty="0"/>
          </a:p>
        </p:txBody>
      </p:sp>
      <p:sp>
        <p:nvSpPr>
          <p:cNvPr id="98" name="Shape 98"/>
          <p:cNvSpPr/>
          <p:nvPr/>
        </p:nvSpPr>
        <p:spPr>
          <a:xfrm>
            <a:off x="8077200" y="5143500"/>
            <a:ext cx="365760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9"/>
          <p:cNvSpPr txBox="1"/>
          <p:nvPr/>
        </p:nvSpPr>
        <p:spPr>
          <a:xfrm>
            <a:off x="8248650" y="5257800"/>
            <a:ext cx="331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대상</a:t>
            </a:r>
            <a:endParaRPr lang="en-US" sz="1300" dirty="0"/>
          </a:p>
        </p:txBody>
      </p:sp>
      <p:sp>
        <p:nvSpPr>
          <p:cNvPr id="100" name="Text 100"/>
          <p:cNvSpPr txBox="1"/>
          <p:nvPr/>
        </p:nvSpPr>
        <p:spPr>
          <a:xfrm>
            <a:off x="8248650" y="554355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DUT가 아닌 TB stimulus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미실행 arc = 검증 누락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코드 연결 · Golden Model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Model Rewrites the Spec Table, Not the RTL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352550"/>
            <a:ext cx="6286500" cy="48387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457200" y="1581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10"/>
          <p:cNvSpPr/>
          <p:nvPr/>
        </p:nvSpPr>
        <p:spPr>
          <a:xfrm>
            <a:off x="457200" y="158115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1"/>
          <p:cNvSpPr txBox="1"/>
          <p:nvPr/>
        </p:nvSpPr>
        <p:spPr>
          <a:xfrm>
            <a:off x="609600" y="1581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localparam G_STOP = 0, G_RUN = 1, G_CLEAR = 2;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6457950" y="1581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609600" y="1962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integer g_next(input integer st, input [1:0] sw);</a:t>
            </a:r>
            <a:endParaRPr lang="en-US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09600" y="2152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609600" y="2343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(st)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457200" y="2533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7"/>
          <p:cNvSpPr/>
          <p:nvPr/>
        </p:nvSpPr>
        <p:spPr>
          <a:xfrm>
            <a:off x="457200" y="253365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8"/>
          <p:cNvSpPr txBox="1"/>
          <p:nvPr/>
        </p:nvSpPr>
        <p:spPr>
          <a:xfrm>
            <a:off x="609600" y="2533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G_STOP : g_next = (sw[0]) ? G_RUN : (sw[1]) ? G_CLEAR : G_STOP;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6457950" y="2533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457200" y="2724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457200" y="272415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609600" y="2724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G_RUN  : g_next = (sw[0]) ? G_RUN   : G_STOP;</a:t>
            </a:r>
            <a:endParaRPr lang="en-US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6457950" y="2724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457200" y="2914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5"/>
          <p:cNvSpPr/>
          <p:nvPr/>
        </p:nvSpPr>
        <p:spPr>
          <a:xfrm>
            <a:off x="457200" y="291465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6"/>
          <p:cNvSpPr txBox="1"/>
          <p:nvPr/>
        </p:nvSpPr>
        <p:spPr>
          <a:xfrm>
            <a:off x="609600" y="2914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G_CLEAR: g_next = (sw[1]) ? G_CLEAR : G_STOP;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6457950" y="2914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609600" y="3105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g_next = G_STOP;</a:t>
            </a:r>
            <a:endParaRPr lang="en-US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609600" y="3295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1100" dirty="0"/>
          </a:p>
        </p:txBody>
      </p:sp>
      <p:sp>
        <p:nvSpPr>
          <p:cNvPr id="30" name="Text 30"/>
          <p:cNvSpPr txBox="1"/>
          <p:nvPr/>
        </p:nvSpPr>
        <p:spPr>
          <a:xfrm>
            <a:off x="609600" y="3486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609600" y="3676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endfunction</a:t>
            </a:r>
            <a:endParaRPr lang="en-US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609600" y="4057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[2:0] g_code(input integer st);</a:t>
            </a:r>
            <a:endParaRPr lang="en-US" sz="1100" dirty="0"/>
          </a:p>
        </p:txBody>
      </p:sp>
      <p:sp>
        <p:nvSpPr>
          <p:cNvPr id="33" name="Text 33"/>
          <p:cNvSpPr txBox="1"/>
          <p:nvPr/>
        </p:nvSpPr>
        <p:spPr>
          <a:xfrm>
            <a:off x="609600" y="4248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100" dirty="0"/>
          </a:p>
        </p:txBody>
      </p:sp>
      <p:sp>
        <p:nvSpPr>
          <p:cNvPr id="34" name="Text 34"/>
          <p:cNvSpPr txBox="1"/>
          <p:nvPr/>
        </p:nvSpPr>
        <p:spPr>
          <a:xfrm>
            <a:off x="609600" y="4438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(st)</a:t>
            </a:r>
            <a:endParaRPr lang="en-US" sz="1100" dirty="0"/>
          </a:p>
        </p:txBody>
      </p:sp>
      <p:sp>
        <p:nvSpPr>
          <p:cNvPr id="35" name="Shape 35"/>
          <p:cNvSpPr/>
          <p:nvPr/>
        </p:nvSpPr>
        <p:spPr>
          <a:xfrm>
            <a:off x="457200" y="4629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6"/>
          <p:cNvSpPr/>
          <p:nvPr/>
        </p:nvSpPr>
        <p:spPr>
          <a:xfrm>
            <a:off x="457200" y="46291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7"/>
          <p:cNvSpPr txBox="1"/>
          <p:nvPr/>
        </p:nvSpPr>
        <p:spPr>
          <a:xfrm>
            <a:off x="609600" y="4629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G_STOP : g_code = 3'b001;</a:t>
            </a:r>
            <a:endParaRPr lang="en-US" sz="1100" dirty="0"/>
          </a:p>
        </p:txBody>
      </p:sp>
      <p:sp>
        <p:nvSpPr>
          <p:cNvPr id="38" name="Text 38"/>
          <p:cNvSpPr txBox="1"/>
          <p:nvPr/>
        </p:nvSpPr>
        <p:spPr>
          <a:xfrm>
            <a:off x="6457950" y="4629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39" name="Shape 39"/>
          <p:cNvSpPr/>
          <p:nvPr/>
        </p:nvSpPr>
        <p:spPr>
          <a:xfrm>
            <a:off x="457200" y="4819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40"/>
          <p:cNvSpPr/>
          <p:nvPr/>
        </p:nvSpPr>
        <p:spPr>
          <a:xfrm>
            <a:off x="457200" y="48196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609600" y="4819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G_RUN  : g_code = 3'b010;</a:t>
            </a:r>
            <a:endParaRPr lang="en-US" sz="1100" dirty="0"/>
          </a:p>
        </p:txBody>
      </p:sp>
      <p:sp>
        <p:nvSpPr>
          <p:cNvPr id="42" name="Text 42"/>
          <p:cNvSpPr txBox="1"/>
          <p:nvPr/>
        </p:nvSpPr>
        <p:spPr>
          <a:xfrm>
            <a:off x="6457950" y="4819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43" name="Shape 43"/>
          <p:cNvSpPr/>
          <p:nvPr/>
        </p:nvSpPr>
        <p:spPr>
          <a:xfrm>
            <a:off x="457200" y="5010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4"/>
          <p:cNvSpPr/>
          <p:nvPr/>
        </p:nvSpPr>
        <p:spPr>
          <a:xfrm>
            <a:off x="457200" y="50101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5"/>
          <p:cNvSpPr txBox="1"/>
          <p:nvPr/>
        </p:nvSpPr>
        <p:spPr>
          <a:xfrm>
            <a:off x="609600" y="5010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G_CLEAR: g_code = 3'b100;</a:t>
            </a:r>
            <a:endParaRPr lang="en-US" sz="1100" dirty="0"/>
          </a:p>
        </p:txBody>
      </p:sp>
      <p:sp>
        <p:nvSpPr>
          <p:cNvPr id="46" name="Text 46"/>
          <p:cNvSpPr txBox="1"/>
          <p:nvPr/>
        </p:nvSpPr>
        <p:spPr>
          <a:xfrm>
            <a:off x="6457950" y="5010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47" name="Text 47"/>
          <p:cNvSpPr txBox="1"/>
          <p:nvPr/>
        </p:nvSpPr>
        <p:spPr>
          <a:xfrm>
            <a:off x="609600" y="5200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g_code = 3'bxxx;</a:t>
            </a:r>
            <a:endParaRPr lang="en-US" sz="1100" dirty="0"/>
          </a:p>
        </p:txBody>
      </p:sp>
      <p:sp>
        <p:nvSpPr>
          <p:cNvPr id="48" name="Text 48"/>
          <p:cNvSpPr txBox="1"/>
          <p:nvPr/>
        </p:nvSpPr>
        <p:spPr>
          <a:xfrm>
            <a:off x="609600" y="5391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1100" dirty="0"/>
          </a:p>
        </p:txBody>
      </p:sp>
      <p:sp>
        <p:nvSpPr>
          <p:cNvPr id="49" name="Text 49"/>
          <p:cNvSpPr txBox="1"/>
          <p:nvPr/>
        </p:nvSpPr>
        <p:spPr>
          <a:xfrm>
            <a:off x="609600" y="5581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50" name="Text 50"/>
          <p:cNvSpPr txBox="1"/>
          <p:nvPr/>
        </p:nvSpPr>
        <p:spPr>
          <a:xfrm>
            <a:off x="609600" y="5772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endfunction</a:t>
            </a:r>
            <a:endParaRPr lang="en-US" sz="1100" dirty="0"/>
          </a:p>
        </p:txBody>
      </p:sp>
      <p:sp>
        <p:nvSpPr>
          <p:cNvPr id="51" name="Shape 51"/>
          <p:cNvSpPr/>
          <p:nvPr/>
        </p:nvSpPr>
        <p:spPr>
          <a:xfrm>
            <a:off x="6934200" y="1295400"/>
            <a:ext cx="4800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2"/>
          <p:cNvSpPr/>
          <p:nvPr/>
        </p:nvSpPr>
        <p:spPr>
          <a:xfrm>
            <a:off x="7124700" y="1524000"/>
            <a:ext cx="247650" cy="24765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7124700" y="1524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4"/>
          <p:cNvSpPr txBox="1"/>
          <p:nvPr/>
        </p:nvSpPr>
        <p:spPr>
          <a:xfrm>
            <a:off x="7486650" y="1533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전용 state 번호</a:t>
            </a:r>
            <a:endParaRPr lang="en-US" sz="1350" dirty="0"/>
          </a:p>
        </p:txBody>
      </p:sp>
      <p:sp>
        <p:nvSpPr>
          <p:cNvPr id="55" name="Text 55"/>
          <p:cNvSpPr txBox="1"/>
          <p:nvPr/>
        </p:nvSpPr>
        <p:spPr>
          <a:xfrm>
            <a:off x="7486650" y="1809750"/>
            <a:ext cx="40576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· RUN · CLEAR = 0 · 1 · 2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enum (CLEAR = 0, STOP = 1, RUN = 2)과 별개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인코딩 실수 비복사</a:t>
            </a:r>
            <a:endParaRPr lang="en-US" sz="1200" dirty="0"/>
          </a:p>
        </p:txBody>
      </p:sp>
      <p:sp>
        <p:nvSpPr>
          <p:cNvPr id="56" name="Shape 56"/>
          <p:cNvSpPr/>
          <p:nvPr/>
        </p:nvSpPr>
        <p:spPr>
          <a:xfrm>
            <a:off x="7124700" y="2524125"/>
            <a:ext cx="247650" cy="2476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7124700" y="25241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8"/>
          <p:cNvSpPr txBox="1"/>
          <p:nvPr/>
        </p:nvSpPr>
        <p:spPr>
          <a:xfrm>
            <a:off x="7486650" y="253365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STOP: SW0 먼저 검사</a:t>
            </a:r>
            <a:endParaRPr lang="en-US" sz="1350" dirty="0"/>
          </a:p>
        </p:txBody>
      </p:sp>
      <p:sp>
        <p:nvSpPr>
          <p:cNvPr id="59" name="Text 59"/>
          <p:cNvSpPr txBox="1"/>
          <p:nvPr/>
        </p:nvSpPr>
        <p:spPr>
          <a:xfrm>
            <a:off x="7486650" y="2809875"/>
            <a:ext cx="40576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삼항 연산 순서 = 우선순위 SW0 &gt; SW1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= 11 → RUN 기대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(STOP + 11 → CLEAR) 검출 근거</a:t>
            </a:r>
            <a:endParaRPr lang="en-US" sz="1200" dirty="0"/>
          </a:p>
        </p:txBody>
      </p:sp>
      <p:sp>
        <p:nvSpPr>
          <p:cNvPr id="60" name="Shape 60"/>
          <p:cNvSpPr/>
          <p:nvPr/>
        </p:nvSpPr>
        <p:spPr>
          <a:xfrm>
            <a:off x="7124700" y="3524250"/>
            <a:ext cx="247650" cy="2476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7124700" y="35242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2"/>
          <p:cNvSpPr txBox="1"/>
          <p:nvPr/>
        </p:nvSpPr>
        <p:spPr>
          <a:xfrm>
            <a:off x="7486650" y="353377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· CLEAR: 탈출 비트 하나만 확인</a:t>
            </a:r>
            <a:endParaRPr lang="en-US" sz="1350" dirty="0"/>
          </a:p>
        </p:txBody>
      </p:sp>
      <p:sp>
        <p:nvSpPr>
          <p:cNvPr id="63" name="Text 63"/>
          <p:cNvSpPr txBox="1"/>
          <p:nvPr/>
        </p:nvSpPr>
        <p:spPr>
          <a:xfrm>
            <a:off x="7486650" y="381000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= SW0, CLEAR = SW1 기준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F2 (비트 인덱스 오타) · F5 (STOP 생략) 검출 근거</a:t>
            </a:r>
            <a:endParaRPr lang="en-US" sz="1200" dirty="0"/>
          </a:p>
        </p:txBody>
      </p:sp>
      <p:sp>
        <p:nvSpPr>
          <p:cNvPr id="64" name="Shape 64"/>
          <p:cNvSpPr/>
          <p:nvPr/>
        </p:nvSpPr>
        <p:spPr>
          <a:xfrm>
            <a:off x="7124700" y="4343400"/>
            <a:ext cx="247650" cy="24765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7124700" y="43434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6"/>
          <p:cNvSpPr txBox="1"/>
          <p:nvPr/>
        </p:nvSpPr>
        <p:spPr>
          <a:xfrm>
            <a:off x="7486650" y="43529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g_code = 기대 o_sw</a:t>
            </a:r>
            <a:endParaRPr lang="en-US" sz="1350" dirty="0"/>
          </a:p>
        </p:txBody>
      </p:sp>
      <p:sp>
        <p:nvSpPr>
          <p:cNvPr id="67" name="Text 67"/>
          <p:cNvSpPr txBox="1"/>
          <p:nvPr/>
        </p:nvSpPr>
        <p:spPr>
          <a:xfrm>
            <a:off x="7486650" y="46291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state별 one-hot 코드 직접 기재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F3 (CLEAR 출력 코드 오류) 검출 근거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코드 연결 · Golden 갱신 · C1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Steps with the DUT, C1 Compares Half a Cycle Later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828800"/>
            <a:ext cx="6286500" cy="3886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457200" y="2057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10"/>
          <p:cNvSpPr/>
          <p:nvPr/>
        </p:nvSpPr>
        <p:spPr>
          <a:xfrm>
            <a:off x="457200" y="20574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1"/>
          <p:cNvSpPr txBox="1"/>
          <p:nvPr/>
        </p:nvSpPr>
        <p:spPr>
          <a:xfrm>
            <a:off x="609600" y="2057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i_clk or posedge i_reset) begin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6457950" y="2057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Shape 13"/>
          <p:cNvSpPr/>
          <p:nvPr/>
        </p:nvSpPr>
        <p:spPr>
          <a:xfrm>
            <a:off x="457200" y="2247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4"/>
          <p:cNvSpPr/>
          <p:nvPr/>
        </p:nvSpPr>
        <p:spPr>
          <a:xfrm>
            <a:off x="457200" y="22479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609600" y="2247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(i_reset) g_state &lt;= G_STOP;</a:t>
            </a:r>
            <a:endParaRPr lang="en-US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457950" y="2247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609600" y="2438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begin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57200" y="2628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9"/>
          <p:cNvSpPr/>
          <p:nvPr/>
        </p:nvSpPr>
        <p:spPr>
          <a:xfrm>
            <a:off x="457200" y="262890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0"/>
          <p:cNvSpPr txBox="1"/>
          <p:nvPr/>
        </p:nvSpPr>
        <p:spPr>
          <a:xfrm>
            <a:off x="609600" y="2628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cov[g_state][i_sw] = cov[g_state][i_sw] + 1;</a:t>
            </a:r>
            <a:endParaRPr lang="en-US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6457950" y="2628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457200" y="2819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457200" y="28194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4"/>
          <p:cNvSpPr txBox="1"/>
          <p:nvPr/>
        </p:nvSpPr>
        <p:spPr>
          <a:xfrm>
            <a:off x="609600" y="2819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g_state &lt;= g_next(g_state, i_sw);</a:t>
            </a:r>
            <a:endParaRPr lang="en-US" sz="1100" dirty="0"/>
          </a:p>
        </p:txBody>
      </p:sp>
      <p:sp>
        <p:nvSpPr>
          <p:cNvPr id="25" name="Text 25"/>
          <p:cNvSpPr txBox="1"/>
          <p:nvPr/>
        </p:nvSpPr>
        <p:spPr>
          <a:xfrm>
            <a:off x="6457950" y="2819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26" name="Text 26"/>
          <p:cNvSpPr txBox="1"/>
          <p:nvPr/>
        </p:nvSpPr>
        <p:spPr>
          <a:xfrm>
            <a:off x="609600" y="3009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609600" y="3200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457200" y="3581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457200" y="358140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609600" y="3581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@(negedge i_clk) begin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6457950" y="3581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32" name="Text 32"/>
          <p:cNvSpPr txBox="1"/>
          <p:nvPr/>
        </p:nvSpPr>
        <p:spPr>
          <a:xfrm>
            <a:off x="609600" y="3771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(!i_reset) begin</a:t>
            </a:r>
            <a:endParaRPr lang="en-US" sz="1100" dirty="0"/>
          </a:p>
        </p:txBody>
      </p:sp>
      <p:sp>
        <p:nvSpPr>
          <p:cNvPr id="33" name="Text 33"/>
          <p:cNvSpPr txBox="1"/>
          <p:nvPr/>
        </p:nvSpPr>
        <p:spPr>
          <a:xfrm>
            <a:off x="609600" y="3962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cycles = cycles + 1;</a:t>
            </a:r>
            <a:endParaRPr lang="en-US" sz="1100" dirty="0"/>
          </a:p>
        </p:txBody>
      </p:sp>
      <p:sp>
        <p:nvSpPr>
          <p:cNvPr id="34" name="Shape 34"/>
          <p:cNvSpPr/>
          <p:nvPr/>
        </p:nvSpPr>
        <p:spPr>
          <a:xfrm>
            <a:off x="457200" y="4152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5"/>
          <p:cNvSpPr/>
          <p:nvPr/>
        </p:nvSpPr>
        <p:spPr>
          <a:xfrm>
            <a:off x="457200" y="415290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609600" y="4152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(o_sw !== g_code(g_state)) begin</a:t>
            </a:r>
            <a:endParaRPr lang="en-US" sz="1100" dirty="0"/>
          </a:p>
        </p:txBody>
      </p:sp>
      <p:sp>
        <p:nvSpPr>
          <p:cNvPr id="37" name="Text 37"/>
          <p:cNvSpPr txBox="1"/>
          <p:nvPr/>
        </p:nvSpPr>
        <p:spPr>
          <a:xfrm>
            <a:off x="6457950" y="4152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38" name="Text 38"/>
          <p:cNvSpPr txBox="1"/>
          <p:nvPr/>
        </p:nvSpPr>
        <p:spPr>
          <a:xfrm>
            <a:off x="609600" y="4343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err_c1 = err_c1 + 1;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457200" y="4533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40"/>
          <p:cNvSpPr/>
          <p:nvPr/>
        </p:nvSpPr>
        <p:spPr>
          <a:xfrm>
            <a:off x="457200" y="4533900"/>
            <a:ext cx="47625" cy="190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1"/>
          <p:cNvSpPr txBox="1"/>
          <p:nvPr/>
        </p:nvSpPr>
        <p:spPr>
          <a:xfrm>
            <a:off x="609600" y="4533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(err_c1 &lt;= 10)</a:t>
            </a:r>
            <a:endParaRPr lang="en-US" sz="1100" dirty="0"/>
          </a:p>
        </p:txBody>
      </p:sp>
      <p:sp>
        <p:nvSpPr>
          <p:cNvPr id="42" name="Text 42"/>
          <p:cNvSpPr txBox="1"/>
          <p:nvPr/>
        </p:nvSpPr>
        <p:spPr>
          <a:xfrm>
            <a:off x="6457950" y="4533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609600" y="4724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$display("[C1 FAIL] ...");</a:t>
            </a:r>
            <a:endParaRPr lang="en-US" sz="1100" dirty="0"/>
          </a:p>
        </p:txBody>
      </p:sp>
      <p:sp>
        <p:nvSpPr>
          <p:cNvPr id="44" name="Text 44"/>
          <p:cNvSpPr txBox="1"/>
          <p:nvPr/>
        </p:nvSpPr>
        <p:spPr>
          <a:xfrm>
            <a:off x="609600" y="4914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00" dirty="0"/>
          </a:p>
        </p:txBody>
      </p:sp>
      <p:sp>
        <p:nvSpPr>
          <p:cNvPr id="45" name="Text 45"/>
          <p:cNvSpPr txBox="1"/>
          <p:nvPr/>
        </p:nvSpPr>
        <p:spPr>
          <a:xfrm>
            <a:off x="609600" y="5105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46" name="Text 46"/>
          <p:cNvSpPr txBox="1"/>
          <p:nvPr/>
        </p:nvSpPr>
        <p:spPr>
          <a:xfrm>
            <a:off x="609600" y="5295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47" name="Shape 47"/>
          <p:cNvSpPr/>
          <p:nvPr/>
        </p:nvSpPr>
        <p:spPr>
          <a:xfrm>
            <a:off x="6934200" y="1295400"/>
            <a:ext cx="4800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8"/>
          <p:cNvSpPr/>
          <p:nvPr/>
        </p:nvSpPr>
        <p:spPr>
          <a:xfrm>
            <a:off x="7124700" y="1524000"/>
            <a:ext cx="247650" cy="24765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7124700" y="1524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50"/>
          <p:cNvSpPr txBox="1"/>
          <p:nvPr/>
        </p:nvSpPr>
        <p:spPr>
          <a:xfrm>
            <a:off x="7486650" y="1533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DUT와 같은 clock · async reset</a:t>
            </a:r>
            <a:endParaRPr lang="en-US" sz="1350" dirty="0"/>
          </a:p>
        </p:txBody>
      </p:sp>
      <p:sp>
        <p:nvSpPr>
          <p:cNvPr id="51" name="Text 51"/>
          <p:cNvSpPr txBox="1"/>
          <p:nvPr/>
        </p:nvSpPr>
        <p:spPr>
          <a:xfrm>
            <a:off x="7486650" y="1809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state를 DUT와 같은 엣지에서 갱신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중 기대값 = STOP 고정</a:t>
            </a:r>
            <a:endParaRPr lang="en-US" sz="1200" dirty="0"/>
          </a:p>
        </p:txBody>
      </p:sp>
      <p:sp>
        <p:nvSpPr>
          <p:cNvPr id="52" name="Shape 52"/>
          <p:cNvSpPr/>
          <p:nvPr/>
        </p:nvSpPr>
        <p:spPr>
          <a:xfrm>
            <a:off x="7124700" y="2286000"/>
            <a:ext cx="247650" cy="24765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3"/>
          <p:cNvSpPr txBox="1"/>
          <p:nvPr/>
        </p:nvSpPr>
        <p:spPr>
          <a:xfrm>
            <a:off x="7124700" y="2286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4"/>
          <p:cNvSpPr txBox="1"/>
          <p:nvPr/>
        </p:nvSpPr>
        <p:spPr>
          <a:xfrm>
            <a:off x="7486650" y="2295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실행 횟수 기록</a:t>
            </a:r>
            <a:endParaRPr lang="en-US" sz="1350" dirty="0"/>
          </a:p>
        </p:txBody>
      </p:sp>
      <p:sp>
        <p:nvSpPr>
          <p:cNvPr id="55" name="Text 55"/>
          <p:cNvSpPr txBox="1"/>
          <p:nvPr/>
        </p:nvSpPr>
        <p:spPr>
          <a:xfrm>
            <a:off x="7486650" y="2571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state × i_sw 칸 +1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 arc 커버리지 표의 원천 data</a:t>
            </a:r>
            <a:endParaRPr lang="en-US" sz="1200" dirty="0"/>
          </a:p>
        </p:txBody>
      </p:sp>
      <p:sp>
        <p:nvSpPr>
          <p:cNvPr id="56" name="Shape 56"/>
          <p:cNvSpPr/>
          <p:nvPr/>
        </p:nvSpPr>
        <p:spPr>
          <a:xfrm>
            <a:off x="7124700" y="3048000"/>
            <a:ext cx="247650" cy="2476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7"/>
          <p:cNvSpPr txBox="1"/>
          <p:nvPr/>
        </p:nvSpPr>
        <p:spPr>
          <a:xfrm>
            <a:off x="7124700" y="3048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8"/>
          <p:cNvSpPr txBox="1"/>
          <p:nvPr/>
        </p:nvSpPr>
        <p:spPr>
          <a:xfrm>
            <a:off x="7486650" y="3057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비교</a:t>
            </a:r>
            <a:endParaRPr lang="en-US" sz="1350" dirty="0"/>
          </a:p>
        </p:txBody>
      </p:sp>
      <p:sp>
        <p:nvSpPr>
          <p:cNvPr id="59" name="Text 59"/>
          <p:cNvSpPr txBox="1"/>
          <p:nvPr/>
        </p:nvSpPr>
        <p:spPr>
          <a:xfrm>
            <a:off x="7486650" y="3333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갱신 후 반 cycle, o_sw 안정 구간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i_sw 변경 (negedge + 1 ns) 이전 판정</a:t>
            </a:r>
            <a:endParaRPr lang="en-US" sz="1200" dirty="0"/>
          </a:p>
        </p:txBody>
      </p:sp>
      <p:sp>
        <p:nvSpPr>
          <p:cNvPr id="60" name="Shape 60"/>
          <p:cNvSpPr/>
          <p:nvPr/>
        </p:nvSpPr>
        <p:spPr>
          <a:xfrm>
            <a:off x="7124700" y="3810000"/>
            <a:ext cx="247650" cy="2476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1"/>
          <p:cNvSpPr txBox="1"/>
          <p:nvPr/>
        </p:nvSpPr>
        <p:spPr>
          <a:xfrm>
            <a:off x="7124700" y="3810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Text 62"/>
          <p:cNvSpPr txBox="1"/>
          <p:nvPr/>
        </p:nvSpPr>
        <p:spPr>
          <a:xfrm>
            <a:off x="7486650" y="3819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!== (4-state 비교)</a:t>
            </a:r>
            <a:endParaRPr lang="en-US" sz="1350" dirty="0"/>
          </a:p>
        </p:txBody>
      </p:sp>
      <p:sp>
        <p:nvSpPr>
          <p:cNvPr id="63" name="Text 63"/>
          <p:cNvSpPr txBox="1"/>
          <p:nvPr/>
        </p:nvSpPr>
        <p:spPr>
          <a:xfrm>
            <a:off x="7486650" y="4095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· Z까지 불일치 처리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!= 사용 시 X 비교 결과 = X → FAIL 누락</a:t>
            </a:r>
            <a:endParaRPr lang="en-US" sz="1200" dirty="0"/>
          </a:p>
        </p:txBody>
      </p:sp>
      <p:sp>
        <p:nvSpPr>
          <p:cNvPr id="64" name="Shape 64"/>
          <p:cNvSpPr/>
          <p:nvPr/>
        </p:nvSpPr>
        <p:spPr>
          <a:xfrm>
            <a:off x="7124700" y="4572000"/>
            <a:ext cx="247650" cy="24765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5"/>
          <p:cNvSpPr txBox="1"/>
          <p:nvPr/>
        </p:nvSpPr>
        <p:spPr>
          <a:xfrm>
            <a:off x="7124700" y="4572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66" name="Text 66"/>
          <p:cNvSpPr txBox="1"/>
          <p:nvPr/>
        </p:nvSpPr>
        <p:spPr>
          <a:xfrm>
            <a:off x="7486650" y="4581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10건 제한</a:t>
            </a:r>
            <a:endParaRPr lang="en-US" sz="1350" dirty="0"/>
          </a:p>
        </p:txBody>
      </p:sp>
      <p:sp>
        <p:nvSpPr>
          <p:cNvPr id="67" name="Text 67"/>
          <p:cNvSpPr txBox="1"/>
          <p:nvPr/>
        </p:nvSpPr>
        <p:spPr>
          <a:xfrm>
            <a:off x="7486650" y="4857750"/>
            <a:ext cx="405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출력만 제한, error 카운트는 계속 증가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코드 연결 · drive · C2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 Task Applies the Switch and Runs the Moore Check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2019300"/>
            <a:ext cx="6286500" cy="3505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09600" y="2247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[2:0] o_before;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609600" y="2628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drive(input [1:0] sw);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609600" y="2819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457200" y="3009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457200" y="300990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4"/>
          <p:cNvSpPr txBox="1"/>
          <p:nvPr/>
        </p:nvSpPr>
        <p:spPr>
          <a:xfrm>
            <a:off x="609600" y="3009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@(negedge i_clk);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6457950" y="3009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457200" y="3200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7"/>
          <p:cNvSpPr/>
          <p:nvPr/>
        </p:nvSpPr>
        <p:spPr>
          <a:xfrm>
            <a:off x="457200" y="320040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8"/>
          <p:cNvSpPr txBox="1"/>
          <p:nvPr/>
        </p:nvSpPr>
        <p:spPr>
          <a:xfrm>
            <a:off x="609600" y="3200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#1;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6457950" y="3200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457200" y="3390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1"/>
          <p:cNvSpPr/>
          <p:nvPr/>
        </p:nvSpPr>
        <p:spPr>
          <a:xfrm>
            <a:off x="457200" y="33909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2"/>
          <p:cNvSpPr txBox="1"/>
          <p:nvPr/>
        </p:nvSpPr>
        <p:spPr>
          <a:xfrm>
            <a:off x="609600" y="3390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o_before = o_sw;</a:t>
            </a:r>
            <a:endParaRPr lang="en-US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6457950" y="3390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457200" y="3581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5"/>
          <p:cNvSpPr/>
          <p:nvPr/>
        </p:nvSpPr>
        <p:spPr>
          <a:xfrm>
            <a:off x="457200" y="35814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6"/>
          <p:cNvSpPr txBox="1"/>
          <p:nvPr/>
        </p:nvSpPr>
        <p:spPr>
          <a:xfrm>
            <a:off x="609600" y="3581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i_sw     = sw;</a:t>
            </a:r>
            <a:endParaRPr lang="en-US" sz="1100" dirty="0"/>
          </a:p>
        </p:txBody>
      </p:sp>
      <p:sp>
        <p:nvSpPr>
          <p:cNvPr id="27" name="Text 27"/>
          <p:cNvSpPr txBox="1"/>
          <p:nvPr/>
        </p:nvSpPr>
        <p:spPr>
          <a:xfrm>
            <a:off x="6457950" y="3581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457200" y="3771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457200" y="377190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609600" y="3771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#2;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6457950" y="3771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457200" y="3962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3"/>
          <p:cNvSpPr/>
          <p:nvPr/>
        </p:nvSpPr>
        <p:spPr>
          <a:xfrm>
            <a:off x="457200" y="396240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4"/>
          <p:cNvSpPr txBox="1"/>
          <p:nvPr/>
        </p:nvSpPr>
        <p:spPr>
          <a:xfrm>
            <a:off x="609600" y="3962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(o_sw !== o_before) begin</a:t>
            </a:r>
            <a:endParaRPr lang="en-US" sz="1100" dirty="0"/>
          </a:p>
        </p:txBody>
      </p:sp>
      <p:sp>
        <p:nvSpPr>
          <p:cNvPr id="35" name="Text 35"/>
          <p:cNvSpPr txBox="1"/>
          <p:nvPr/>
        </p:nvSpPr>
        <p:spPr>
          <a:xfrm>
            <a:off x="6457950" y="3962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609600" y="4152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err_c2 = err_c2 + 1;</a:t>
            </a:r>
            <a:endParaRPr lang="en-US" sz="1100" dirty="0"/>
          </a:p>
        </p:txBody>
      </p:sp>
      <p:sp>
        <p:nvSpPr>
          <p:cNvPr id="37" name="Text 37"/>
          <p:cNvSpPr txBox="1"/>
          <p:nvPr/>
        </p:nvSpPr>
        <p:spPr>
          <a:xfrm>
            <a:off x="609600" y="4343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(err_c2 &lt;= 10)</a:t>
            </a:r>
            <a:endParaRPr lang="en-US" sz="1100" dirty="0"/>
          </a:p>
        </p:txBody>
      </p:sp>
      <p:sp>
        <p:nvSpPr>
          <p:cNvPr id="38" name="Text 38"/>
          <p:cNvSpPr txBox="1"/>
          <p:nvPr/>
        </p:nvSpPr>
        <p:spPr>
          <a:xfrm>
            <a:off x="609600" y="4533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$display("[C2 FAIL] ...");</a:t>
            </a:r>
            <a:endParaRPr lang="en-US" sz="1100" dirty="0"/>
          </a:p>
        </p:txBody>
      </p:sp>
      <p:sp>
        <p:nvSpPr>
          <p:cNvPr id="39" name="Text 39"/>
          <p:cNvSpPr txBox="1"/>
          <p:nvPr/>
        </p:nvSpPr>
        <p:spPr>
          <a:xfrm>
            <a:off x="609600" y="4724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00" dirty="0"/>
          </a:p>
        </p:txBody>
      </p:sp>
      <p:sp>
        <p:nvSpPr>
          <p:cNvPr id="40" name="Text 40"/>
          <p:cNvSpPr txBox="1"/>
          <p:nvPr/>
        </p:nvSpPr>
        <p:spPr>
          <a:xfrm>
            <a:off x="609600" y="4914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41" name="Text 41"/>
          <p:cNvSpPr txBox="1"/>
          <p:nvPr/>
        </p:nvSpPr>
        <p:spPr>
          <a:xfrm>
            <a:off x="609600" y="5105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endtask</a:t>
            </a:r>
            <a:endParaRPr lang="en-US" sz="1100" dirty="0"/>
          </a:p>
        </p:txBody>
      </p:sp>
      <p:sp>
        <p:nvSpPr>
          <p:cNvPr id="42" name="Shape 42"/>
          <p:cNvSpPr/>
          <p:nvPr/>
        </p:nvSpPr>
        <p:spPr>
          <a:xfrm>
            <a:off x="6934200" y="1295400"/>
            <a:ext cx="4800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3"/>
          <p:cNvSpPr/>
          <p:nvPr/>
        </p:nvSpPr>
        <p:spPr>
          <a:xfrm>
            <a:off x="7124700" y="1524000"/>
            <a:ext cx="247650" cy="2476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7124700" y="1524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5"/>
          <p:cNvSpPr txBox="1"/>
          <p:nvPr/>
        </p:nvSpPr>
        <p:spPr>
          <a:xfrm>
            <a:off x="7486650" y="1533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대기</a:t>
            </a:r>
            <a:endParaRPr lang="en-US" sz="1350" dirty="0"/>
          </a:p>
        </p:txBody>
      </p:sp>
      <p:sp>
        <p:nvSpPr>
          <p:cNvPr id="46" name="Text 46"/>
          <p:cNvSpPr txBox="1"/>
          <p:nvPr/>
        </p:nvSpPr>
        <p:spPr>
          <a:xfrm>
            <a:off x="7486650" y="1809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변경 = 항상 negedge 이후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시점 i_sw 반 cycle 이상 안정</a:t>
            </a:r>
            <a:endParaRPr lang="en-US" sz="1200" dirty="0"/>
          </a:p>
        </p:txBody>
      </p:sp>
      <p:sp>
        <p:nvSpPr>
          <p:cNvPr id="47" name="Shape 47"/>
          <p:cNvSpPr/>
          <p:nvPr/>
        </p:nvSpPr>
        <p:spPr>
          <a:xfrm>
            <a:off x="7124700" y="2324100"/>
            <a:ext cx="247650" cy="24765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7124700" y="23241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9"/>
          <p:cNvSpPr txBox="1"/>
          <p:nvPr/>
        </p:nvSpPr>
        <p:spPr>
          <a:xfrm>
            <a:off x="7486650" y="23336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지연</a:t>
            </a:r>
            <a:endParaRPr lang="en-US" sz="1350" dirty="0"/>
          </a:p>
        </p:txBody>
      </p:sp>
      <p:sp>
        <p:nvSpPr>
          <p:cNvPr id="50" name="Text 50"/>
          <p:cNvSpPr txBox="1"/>
          <p:nvPr/>
        </p:nvSpPr>
        <p:spPr>
          <a:xfrm>
            <a:off x="7486650" y="26098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negedge의 C1 비교 먼저 실행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판정값과 i_sw 변경의 race 제거</a:t>
            </a:r>
            <a:endParaRPr lang="en-US" sz="1200" dirty="0"/>
          </a:p>
        </p:txBody>
      </p:sp>
      <p:sp>
        <p:nvSpPr>
          <p:cNvPr id="51" name="Shape 51"/>
          <p:cNvSpPr/>
          <p:nvPr/>
        </p:nvSpPr>
        <p:spPr>
          <a:xfrm>
            <a:off x="7124700" y="3124200"/>
            <a:ext cx="247650" cy="24765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7124700" y="3124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3"/>
          <p:cNvSpPr txBox="1"/>
          <p:nvPr/>
        </p:nvSpPr>
        <p:spPr>
          <a:xfrm>
            <a:off x="7486650" y="31337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직전 출력 저장 → i_sw 인가</a:t>
            </a:r>
            <a:endParaRPr lang="en-US" sz="1350" dirty="0"/>
          </a:p>
        </p:txBody>
      </p:sp>
      <p:sp>
        <p:nvSpPr>
          <p:cNvPr id="54" name="Text 54"/>
          <p:cNvSpPr txBox="1"/>
          <p:nvPr/>
        </p:nvSpPr>
        <p:spPr>
          <a:xfrm>
            <a:off x="7486650" y="3409950"/>
            <a:ext cx="405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o_before = 입력 변경 전 o_sw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7124700" y="3743325"/>
            <a:ext cx="247650" cy="2476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7124700" y="37433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57" name="Text 57"/>
          <p:cNvSpPr txBox="1"/>
          <p:nvPr/>
        </p:nvSpPr>
        <p:spPr>
          <a:xfrm>
            <a:off x="7486650" y="375285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 후 o_sw 재확인 (C2)</a:t>
            </a:r>
            <a:endParaRPr lang="en-US" sz="1350" dirty="0"/>
          </a:p>
        </p:txBody>
      </p:sp>
      <p:sp>
        <p:nvSpPr>
          <p:cNvPr id="58" name="Text 58"/>
          <p:cNvSpPr txBox="1"/>
          <p:nvPr/>
        </p:nvSpPr>
        <p:spPr>
          <a:xfrm>
            <a:off x="7486650" y="4029075"/>
            <a:ext cx="40576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클럭 엣지 없는 구간 → Moore 출력 불변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o_sw 변화 = input → output 조합 경로 (Mealy)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F6 (o_sw가 n_state 기준) 검출 근거</a:t>
            </a:r>
            <a:endParaRPr lang="en-US" sz="1200" dirty="0"/>
          </a:p>
        </p:txBody>
      </p:sp>
      <p:sp>
        <p:nvSpPr>
          <p:cNvPr id="59" name="Shape 59"/>
          <p:cNvSpPr/>
          <p:nvPr/>
        </p:nvSpPr>
        <p:spPr>
          <a:xfrm>
            <a:off x="7124700" y="4800600"/>
            <a:ext cx="4419600" cy="533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60"/>
          <p:cNvSpPr txBox="1"/>
          <p:nvPr/>
        </p:nvSpPr>
        <p:spPr>
          <a:xfrm>
            <a:off x="7277100" y="48006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 1회 = 1 clock</a:t>
            </a: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입력 인가 + C2 판정 동시 수행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코드 연결 · async_reset · arc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Every Arc Test Starts from a Checked Async Reset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447800"/>
            <a:ext cx="6286500" cy="4648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09600" y="1676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async_reset;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609600" y="1866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457200" y="2057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2"/>
          <p:cNvSpPr/>
          <p:nvPr/>
        </p:nvSpPr>
        <p:spPr>
          <a:xfrm>
            <a:off x="457200" y="205740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609600" y="2057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@(posedge i_clk); #2;</a:t>
            </a:r>
            <a:endParaRPr lang="en-US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457950" y="2057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5" name="Shape 15"/>
          <p:cNvSpPr/>
          <p:nvPr/>
        </p:nvSpPr>
        <p:spPr>
          <a:xfrm>
            <a:off x="457200" y="2247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457200" y="224790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609600" y="2247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i_reset = 1; #1;</a:t>
            </a:r>
            <a:endParaRPr lang="en-US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6457950" y="2247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9" name="Shape 19"/>
          <p:cNvSpPr/>
          <p:nvPr/>
        </p:nvSpPr>
        <p:spPr>
          <a:xfrm>
            <a:off x="457200" y="2438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20"/>
          <p:cNvSpPr/>
          <p:nvPr/>
        </p:nvSpPr>
        <p:spPr>
          <a:xfrm>
            <a:off x="457200" y="243840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609600" y="2438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(o_sw !== 3'b001) begin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6457950" y="2438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3" name="Text 23"/>
          <p:cNvSpPr txBox="1"/>
          <p:nvPr/>
        </p:nvSpPr>
        <p:spPr>
          <a:xfrm>
            <a:off x="609600" y="2628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err_c3 = err_c3 + 1;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609600" y="2819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$display("[C3 FAIL] ...");</a:t>
            </a:r>
            <a:endParaRPr lang="en-US" sz="1100" dirty="0"/>
          </a:p>
        </p:txBody>
      </p:sp>
      <p:sp>
        <p:nvSpPr>
          <p:cNvPr id="25" name="Text 25"/>
          <p:cNvSpPr txBox="1"/>
          <p:nvPr/>
        </p:nvSpPr>
        <p:spPr>
          <a:xfrm>
            <a:off x="609600" y="3009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457200" y="3200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7"/>
          <p:cNvSpPr/>
          <p:nvPr/>
        </p:nvSpPr>
        <p:spPr>
          <a:xfrm>
            <a:off x="457200" y="32004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8"/>
          <p:cNvSpPr txBox="1"/>
          <p:nvPr/>
        </p:nvSpPr>
        <p:spPr>
          <a:xfrm>
            <a:off x="609600" y="3200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@(negedge i_clk); #1;</a:t>
            </a:r>
            <a:endParaRPr lang="en-US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6457950" y="3200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457200" y="3390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31"/>
          <p:cNvSpPr/>
          <p:nvPr/>
        </p:nvSpPr>
        <p:spPr>
          <a:xfrm>
            <a:off x="457200" y="339090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/>
          <p:cNvSpPr txBox="1"/>
          <p:nvPr/>
        </p:nvSpPr>
        <p:spPr>
          <a:xfrm>
            <a:off x="609600" y="3390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i_reset = 0;</a:t>
            </a:r>
            <a:endParaRPr lang="en-US" sz="1100" dirty="0"/>
          </a:p>
        </p:txBody>
      </p:sp>
      <p:sp>
        <p:nvSpPr>
          <p:cNvPr id="33" name="Text 33"/>
          <p:cNvSpPr txBox="1"/>
          <p:nvPr/>
        </p:nvSpPr>
        <p:spPr>
          <a:xfrm>
            <a:off x="6457950" y="3390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609600" y="3581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35" name="Text 35"/>
          <p:cNvSpPr txBox="1"/>
          <p:nvPr/>
        </p:nvSpPr>
        <p:spPr>
          <a:xfrm>
            <a:off x="609600" y="3771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endtask</a:t>
            </a:r>
            <a:endParaRPr lang="en-US" sz="1100" dirty="0"/>
          </a:p>
        </p:txBody>
      </p:sp>
      <p:sp>
        <p:nvSpPr>
          <p:cNvPr id="36" name="Text 36"/>
          <p:cNvSpPr txBox="1"/>
          <p:nvPr/>
        </p:nvSpPr>
        <p:spPr>
          <a:xfrm>
            <a:off x="609600" y="4152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arc(input integer st, input [1:0] sw);</a:t>
            </a:r>
            <a:endParaRPr lang="en-US" sz="1100" dirty="0"/>
          </a:p>
        </p:txBody>
      </p:sp>
      <p:sp>
        <p:nvSpPr>
          <p:cNvPr id="37" name="Text 37"/>
          <p:cNvSpPr txBox="1"/>
          <p:nvPr/>
        </p:nvSpPr>
        <p:spPr>
          <a:xfrm>
            <a:off x="609600" y="4343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100" dirty="0"/>
          </a:p>
        </p:txBody>
      </p:sp>
      <p:sp>
        <p:nvSpPr>
          <p:cNvPr id="38" name="Shape 38"/>
          <p:cNvSpPr/>
          <p:nvPr/>
        </p:nvSpPr>
        <p:spPr>
          <a:xfrm>
            <a:off x="457200" y="4533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9"/>
          <p:cNvSpPr/>
          <p:nvPr/>
        </p:nvSpPr>
        <p:spPr>
          <a:xfrm>
            <a:off x="457200" y="453390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609600" y="4533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async_reset;</a:t>
            </a:r>
            <a:endParaRPr lang="en-US" sz="1100" dirty="0"/>
          </a:p>
        </p:txBody>
      </p:sp>
      <p:sp>
        <p:nvSpPr>
          <p:cNvPr id="41" name="Text 41"/>
          <p:cNvSpPr txBox="1"/>
          <p:nvPr/>
        </p:nvSpPr>
        <p:spPr>
          <a:xfrm>
            <a:off x="6457950" y="4533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457200" y="4724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3"/>
          <p:cNvSpPr/>
          <p:nvPr/>
        </p:nvSpPr>
        <p:spPr>
          <a:xfrm>
            <a:off x="457200" y="472440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609600" y="4724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 == G_RUN)   drive(2'b01);</a:t>
            </a:r>
            <a:endParaRPr lang="en-US" sz="1100" dirty="0"/>
          </a:p>
        </p:txBody>
      </p:sp>
      <p:sp>
        <p:nvSpPr>
          <p:cNvPr id="45" name="Text 45"/>
          <p:cNvSpPr txBox="1"/>
          <p:nvPr/>
        </p:nvSpPr>
        <p:spPr>
          <a:xfrm>
            <a:off x="6457950" y="4724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46" name="Shape 46"/>
          <p:cNvSpPr/>
          <p:nvPr/>
        </p:nvSpPr>
        <p:spPr>
          <a:xfrm>
            <a:off x="457200" y="4914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7"/>
          <p:cNvSpPr/>
          <p:nvPr/>
        </p:nvSpPr>
        <p:spPr>
          <a:xfrm>
            <a:off x="457200" y="491490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8"/>
          <p:cNvSpPr txBox="1"/>
          <p:nvPr/>
        </p:nvSpPr>
        <p:spPr>
          <a:xfrm>
            <a:off x="609600" y="4914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 == G_CLEAR) drive(2'b10);</a:t>
            </a:r>
            <a:endParaRPr lang="en-US" sz="1100" dirty="0"/>
          </a:p>
        </p:txBody>
      </p:sp>
      <p:sp>
        <p:nvSpPr>
          <p:cNvPr id="49" name="Text 49"/>
          <p:cNvSpPr txBox="1"/>
          <p:nvPr/>
        </p:nvSpPr>
        <p:spPr>
          <a:xfrm>
            <a:off x="6457950" y="4914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457200" y="51054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51"/>
          <p:cNvSpPr/>
          <p:nvPr/>
        </p:nvSpPr>
        <p:spPr>
          <a:xfrm>
            <a:off x="457200" y="5105400"/>
            <a:ext cx="47625" cy="190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609600" y="5105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drive(sw);</a:t>
            </a:r>
            <a:endParaRPr lang="en-US" sz="1100" dirty="0"/>
          </a:p>
        </p:txBody>
      </p:sp>
      <p:sp>
        <p:nvSpPr>
          <p:cNvPr id="53" name="Text 53"/>
          <p:cNvSpPr txBox="1"/>
          <p:nvPr/>
        </p:nvSpPr>
        <p:spPr>
          <a:xfrm>
            <a:off x="6457950" y="51054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200" dirty="0"/>
          </a:p>
        </p:txBody>
      </p:sp>
      <p:sp>
        <p:nvSpPr>
          <p:cNvPr id="54" name="Shape 54"/>
          <p:cNvSpPr/>
          <p:nvPr/>
        </p:nvSpPr>
        <p:spPr>
          <a:xfrm>
            <a:off x="457200" y="529590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5"/>
          <p:cNvSpPr/>
          <p:nvPr/>
        </p:nvSpPr>
        <p:spPr>
          <a:xfrm>
            <a:off x="457200" y="5295900"/>
            <a:ext cx="47625" cy="190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609600" y="5295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drive(sw);</a:t>
            </a:r>
            <a:endParaRPr lang="en-US" sz="1100" dirty="0"/>
          </a:p>
        </p:txBody>
      </p:sp>
      <p:sp>
        <p:nvSpPr>
          <p:cNvPr id="57" name="Text 57"/>
          <p:cNvSpPr txBox="1"/>
          <p:nvPr/>
        </p:nvSpPr>
        <p:spPr>
          <a:xfrm>
            <a:off x="6457950" y="529590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200" dirty="0"/>
          </a:p>
        </p:txBody>
      </p:sp>
      <p:sp>
        <p:nvSpPr>
          <p:cNvPr id="58" name="Text 58"/>
          <p:cNvSpPr txBox="1"/>
          <p:nvPr/>
        </p:nvSpPr>
        <p:spPr>
          <a:xfrm>
            <a:off x="609600" y="54864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59" name="Text 59"/>
          <p:cNvSpPr txBox="1"/>
          <p:nvPr/>
        </p:nvSpPr>
        <p:spPr>
          <a:xfrm>
            <a:off x="609600" y="567690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endtask</a:t>
            </a:r>
            <a:endParaRPr lang="en-US" sz="1100" dirty="0"/>
          </a:p>
        </p:txBody>
      </p:sp>
      <p:sp>
        <p:nvSpPr>
          <p:cNvPr id="60" name="Shape 60"/>
          <p:cNvSpPr/>
          <p:nvPr/>
        </p:nvSpPr>
        <p:spPr>
          <a:xfrm>
            <a:off x="6934200" y="1295400"/>
            <a:ext cx="4800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61"/>
          <p:cNvSpPr/>
          <p:nvPr/>
        </p:nvSpPr>
        <p:spPr>
          <a:xfrm>
            <a:off x="7124700" y="1524000"/>
            <a:ext cx="247650" cy="2476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2"/>
          <p:cNvSpPr txBox="1"/>
          <p:nvPr/>
        </p:nvSpPr>
        <p:spPr>
          <a:xfrm>
            <a:off x="7124700" y="1524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Text 63"/>
          <p:cNvSpPr txBox="1"/>
          <p:nvPr/>
        </p:nvSpPr>
        <p:spPr>
          <a:xfrm>
            <a:off x="7486650" y="1533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+ 2 ns에 reset 인가</a:t>
            </a:r>
            <a:endParaRPr lang="en-US" sz="1350" dirty="0"/>
          </a:p>
        </p:txBody>
      </p:sp>
      <p:sp>
        <p:nvSpPr>
          <p:cNvPr id="64" name="Text 64"/>
          <p:cNvSpPr txBox="1"/>
          <p:nvPr/>
        </p:nvSpPr>
        <p:spPr>
          <a:xfrm>
            <a:off x="7486650" y="1809750"/>
            <a:ext cx="405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엣지까지 클럭 엣지 없는 구간</a:t>
            </a:r>
            <a:endParaRPr lang="en-US" sz="1200" dirty="0"/>
          </a:p>
        </p:txBody>
      </p:sp>
      <p:sp>
        <p:nvSpPr>
          <p:cNvPr id="65" name="Shape 65"/>
          <p:cNvSpPr/>
          <p:nvPr/>
        </p:nvSpPr>
        <p:spPr>
          <a:xfrm>
            <a:off x="7124700" y="2105025"/>
            <a:ext cx="247650" cy="24765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7124700" y="21050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Text 67"/>
          <p:cNvSpPr txBox="1"/>
          <p:nvPr/>
        </p:nvSpPr>
        <p:spPr>
          <a:xfrm>
            <a:off x="7486650" y="211455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ns 뒤 o_sw = 001 확인 (C3)</a:t>
            </a:r>
            <a:endParaRPr lang="en-US" sz="1350" dirty="0"/>
          </a:p>
        </p:txBody>
      </p:sp>
      <p:sp>
        <p:nvSpPr>
          <p:cNvPr id="68" name="Text 68"/>
          <p:cNvSpPr txBox="1"/>
          <p:nvPr/>
        </p:nvSpPr>
        <p:spPr>
          <a:xfrm>
            <a:off x="7486650" y="2390775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async reset → 즉시 STOP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F7 (동기 reset) → 이전 값 유지 → FAIL</a:t>
            </a:r>
            <a:endParaRPr lang="en-US" sz="1200" dirty="0"/>
          </a:p>
        </p:txBody>
      </p:sp>
      <p:sp>
        <p:nvSpPr>
          <p:cNvPr id="69" name="Shape 69"/>
          <p:cNvSpPr/>
          <p:nvPr/>
        </p:nvSpPr>
        <p:spPr>
          <a:xfrm>
            <a:off x="7124700" y="2867025"/>
            <a:ext cx="247650" cy="24765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70"/>
          <p:cNvSpPr txBox="1"/>
          <p:nvPr/>
        </p:nvSpPr>
        <p:spPr>
          <a:xfrm>
            <a:off x="7124700" y="28670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71" name="Text 71"/>
          <p:cNvSpPr txBox="1"/>
          <p:nvPr/>
        </p:nvSpPr>
        <p:spPr>
          <a:xfrm>
            <a:off x="7486650" y="287655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+ 1 ns에 reset 해제</a:t>
            </a:r>
            <a:endParaRPr lang="en-US" sz="1350" dirty="0"/>
          </a:p>
        </p:txBody>
      </p:sp>
      <p:sp>
        <p:nvSpPr>
          <p:cNvPr id="72" name="Text 72"/>
          <p:cNvSpPr txBox="1"/>
          <p:nvPr/>
        </p:nvSpPr>
        <p:spPr>
          <a:xfrm>
            <a:off x="7486650" y="3152775"/>
            <a:ext cx="405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시점을 posedge와 분리 → race 제거</a:t>
            </a:r>
            <a:endParaRPr lang="en-US" sz="1200" dirty="0"/>
          </a:p>
        </p:txBody>
      </p:sp>
      <p:sp>
        <p:nvSpPr>
          <p:cNvPr id="73" name="Shape 73"/>
          <p:cNvSpPr/>
          <p:nvPr/>
        </p:nvSpPr>
        <p:spPr>
          <a:xfrm>
            <a:off x="7124700" y="3448050"/>
            <a:ext cx="247650" cy="2476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4"/>
          <p:cNvSpPr txBox="1"/>
          <p:nvPr/>
        </p:nvSpPr>
        <p:spPr>
          <a:xfrm>
            <a:off x="7124700" y="34480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5"/>
          <p:cNvSpPr txBox="1"/>
          <p:nvPr/>
        </p:nvSpPr>
        <p:spPr>
          <a:xfrm>
            <a:off x="7486650" y="345757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state 이동</a:t>
            </a:r>
            <a:endParaRPr lang="en-US" sz="1350" dirty="0"/>
          </a:p>
        </p:txBody>
      </p:sp>
      <p:sp>
        <p:nvSpPr>
          <p:cNvPr id="76" name="Text 76"/>
          <p:cNvSpPr txBox="1"/>
          <p:nvPr/>
        </p:nvSpPr>
        <p:spPr>
          <a:xfrm>
            <a:off x="7486650" y="373380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STOP: 이동 없음 · RUN: 01 · CLEAR: 10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직후 출발 → 시작 state 확정</a:t>
            </a:r>
            <a:endParaRPr lang="en-US" sz="1200" dirty="0"/>
          </a:p>
        </p:txBody>
      </p:sp>
      <p:sp>
        <p:nvSpPr>
          <p:cNvPr id="77" name="Shape 77"/>
          <p:cNvSpPr/>
          <p:nvPr/>
        </p:nvSpPr>
        <p:spPr>
          <a:xfrm>
            <a:off x="7124700" y="4210050"/>
            <a:ext cx="247650" cy="24765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8"/>
          <p:cNvSpPr txBox="1"/>
          <p:nvPr/>
        </p:nvSpPr>
        <p:spPr>
          <a:xfrm>
            <a:off x="7124700" y="42100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79" name="Text 79"/>
          <p:cNvSpPr txBox="1"/>
          <p:nvPr/>
        </p:nvSpPr>
        <p:spPr>
          <a:xfrm>
            <a:off x="7486650" y="421957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sw 2회 인가</a:t>
            </a:r>
            <a:endParaRPr lang="en-US" sz="1350" dirty="0"/>
          </a:p>
        </p:txBody>
      </p:sp>
      <p:sp>
        <p:nvSpPr>
          <p:cNvPr id="80" name="Text 80"/>
          <p:cNvSpPr txBox="1"/>
          <p:nvPr/>
        </p:nvSpPr>
        <p:spPr>
          <a:xfrm>
            <a:off x="7486650" y="449580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1회차: 목표 state × sw arc 실행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2회차: RUN + 10 → STOP → CLEAR 경로 포함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코드 연결 · Stimulus · Report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 Directed Arcs First, Then 300 Random Cycles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352550"/>
            <a:ext cx="6286500" cy="48387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609600" y="1581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begin</a:t>
            </a:r>
            <a:endParaRPr lang="en-US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609600" y="1771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i_clk = 0; i_reset = 1; i_sw = 2'b00; g_state = G_STOP;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457200" y="1962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2"/>
          <p:cNvSpPr/>
          <p:nvPr/>
        </p:nvSpPr>
        <p:spPr>
          <a:xfrm>
            <a:off x="457200" y="196215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609600" y="1962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err_c1 = 0; err_c2 = 0; err_c3 = 0; cycles = 0; seed = 1008;</a:t>
            </a:r>
            <a:endParaRPr lang="en-US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457950" y="1962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609600" y="2152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09600" y="2343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#12 i_reset = 0;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457200" y="2724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8"/>
          <p:cNvSpPr/>
          <p:nvPr/>
        </p:nvSpPr>
        <p:spPr>
          <a:xfrm>
            <a:off x="457200" y="2724150"/>
            <a:ext cx="47625" cy="1905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9"/>
          <p:cNvSpPr txBox="1"/>
          <p:nvPr/>
        </p:nvSpPr>
        <p:spPr>
          <a:xfrm>
            <a:off x="609600" y="2724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$display("[MARK] %0d ns phase 1 : directed arcs", $time);</a:t>
            </a:r>
            <a:endParaRPr lang="en-US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6457950" y="2724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457200" y="2914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2"/>
          <p:cNvSpPr/>
          <p:nvPr/>
        </p:nvSpPr>
        <p:spPr>
          <a:xfrm>
            <a:off x="457200" y="291465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3"/>
          <p:cNvSpPr txBox="1"/>
          <p:nvPr/>
        </p:nvSpPr>
        <p:spPr>
          <a:xfrm>
            <a:off x="609600" y="2914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 = 0; s &lt; 3; s = s + 1)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6457950" y="2914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5" name="Shape 25"/>
          <p:cNvSpPr/>
          <p:nvPr/>
        </p:nvSpPr>
        <p:spPr>
          <a:xfrm>
            <a:off x="457200" y="3105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6"/>
          <p:cNvSpPr/>
          <p:nvPr/>
        </p:nvSpPr>
        <p:spPr>
          <a:xfrm>
            <a:off x="457200" y="310515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609600" y="3105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(w = 0; w &lt; 4; w = w + 1)</a:t>
            </a:r>
            <a:endParaRPr lang="en-US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6457950" y="3105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457200" y="3295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30"/>
          <p:cNvSpPr/>
          <p:nvPr/>
        </p:nvSpPr>
        <p:spPr>
          <a:xfrm>
            <a:off x="457200" y="3295650"/>
            <a:ext cx="47625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1"/>
          <p:cNvSpPr txBox="1"/>
          <p:nvPr/>
        </p:nvSpPr>
        <p:spPr>
          <a:xfrm>
            <a:off x="609600" y="3295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arc(s, w[1:0]);</a:t>
            </a:r>
            <a:endParaRPr lang="en-US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6457950" y="3295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609600" y="3676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$display("[MARK] %0d ns phase 2 : random 300 cycles", $time);</a:t>
            </a:r>
            <a:endParaRPr lang="en-US" sz="1100" dirty="0"/>
          </a:p>
        </p:txBody>
      </p:sp>
      <p:sp>
        <p:nvSpPr>
          <p:cNvPr id="34" name="Shape 34"/>
          <p:cNvSpPr/>
          <p:nvPr/>
        </p:nvSpPr>
        <p:spPr>
          <a:xfrm>
            <a:off x="457200" y="3867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5"/>
          <p:cNvSpPr/>
          <p:nvPr/>
        </p:nvSpPr>
        <p:spPr>
          <a:xfrm>
            <a:off x="457200" y="38671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6"/>
          <p:cNvSpPr txBox="1"/>
          <p:nvPr/>
        </p:nvSpPr>
        <p:spPr>
          <a:xfrm>
            <a:off x="609600" y="3867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 = 0; i &lt; 300; i = i + 1) begin</a:t>
            </a:r>
            <a:endParaRPr lang="en-US" sz="1100" dirty="0"/>
          </a:p>
        </p:txBody>
      </p:sp>
      <p:sp>
        <p:nvSpPr>
          <p:cNvPr id="37" name="Text 37"/>
          <p:cNvSpPr txBox="1"/>
          <p:nvPr/>
        </p:nvSpPr>
        <p:spPr>
          <a:xfrm>
            <a:off x="6457950" y="3867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457200" y="4057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9"/>
          <p:cNvSpPr/>
          <p:nvPr/>
        </p:nvSpPr>
        <p:spPr>
          <a:xfrm>
            <a:off x="457200" y="40576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0"/>
          <p:cNvSpPr txBox="1"/>
          <p:nvPr/>
        </p:nvSpPr>
        <p:spPr>
          <a:xfrm>
            <a:off x="609600" y="4057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(($random(seed) &amp; 31) == 0) async_reset;</a:t>
            </a:r>
            <a:endParaRPr lang="en-US" sz="1100" dirty="0"/>
          </a:p>
        </p:txBody>
      </p:sp>
      <p:sp>
        <p:nvSpPr>
          <p:cNvPr id="41" name="Text 41"/>
          <p:cNvSpPr txBox="1"/>
          <p:nvPr/>
        </p:nvSpPr>
        <p:spPr>
          <a:xfrm>
            <a:off x="6457950" y="4057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457200" y="42481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3"/>
          <p:cNvSpPr/>
          <p:nvPr/>
        </p:nvSpPr>
        <p:spPr>
          <a:xfrm>
            <a:off x="457200" y="4248150"/>
            <a:ext cx="47625" cy="190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609600" y="4248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drive($random(seed));</a:t>
            </a:r>
            <a:endParaRPr lang="en-US" sz="1100" dirty="0"/>
          </a:p>
        </p:txBody>
      </p:sp>
      <p:sp>
        <p:nvSpPr>
          <p:cNvPr id="45" name="Text 45"/>
          <p:cNvSpPr txBox="1"/>
          <p:nvPr/>
        </p:nvSpPr>
        <p:spPr>
          <a:xfrm>
            <a:off x="6457950" y="4248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46" name="Text 46"/>
          <p:cNvSpPr txBox="1"/>
          <p:nvPr/>
        </p:nvSpPr>
        <p:spPr>
          <a:xfrm>
            <a:off x="609600" y="4438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</p:txBody>
      </p:sp>
      <p:sp>
        <p:nvSpPr>
          <p:cNvPr id="47" name="Text 47"/>
          <p:cNvSpPr txBox="1"/>
          <p:nvPr/>
        </p:nvSpPr>
        <p:spPr>
          <a:xfrm>
            <a:off x="609600" y="4629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457200" y="4819650"/>
            <a:ext cx="6286500" cy="1905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9"/>
          <p:cNvSpPr/>
          <p:nvPr/>
        </p:nvSpPr>
        <p:spPr>
          <a:xfrm>
            <a:off x="457200" y="4819650"/>
            <a:ext cx="47625" cy="190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50"/>
          <p:cNvSpPr txBox="1"/>
          <p:nvPr/>
        </p:nvSpPr>
        <p:spPr>
          <a:xfrm>
            <a:off x="609600" y="4819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(err_c1 + err_c2 + err_c3 == 0 &amp;&amp; hit == 12)</a:t>
            </a:r>
            <a:endParaRPr lang="en-US" sz="1100" dirty="0"/>
          </a:p>
        </p:txBody>
      </p:sp>
      <p:sp>
        <p:nvSpPr>
          <p:cNvPr id="51" name="Text 51"/>
          <p:cNvSpPr txBox="1"/>
          <p:nvPr/>
        </p:nvSpPr>
        <p:spPr>
          <a:xfrm>
            <a:off x="6457950" y="48196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F871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52" name="Text 52"/>
          <p:cNvSpPr txBox="1"/>
          <p:nvPr/>
        </p:nvSpPr>
        <p:spPr>
          <a:xfrm>
            <a:off x="609600" y="5010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$display(" RESULT : PASS");</a:t>
            </a:r>
            <a:endParaRPr lang="en-US" sz="1100" dirty="0"/>
          </a:p>
        </p:txBody>
      </p:sp>
      <p:sp>
        <p:nvSpPr>
          <p:cNvPr id="53" name="Text 53"/>
          <p:cNvSpPr txBox="1"/>
          <p:nvPr/>
        </p:nvSpPr>
        <p:spPr>
          <a:xfrm>
            <a:off x="609600" y="5200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100" dirty="0"/>
          </a:p>
        </p:txBody>
      </p:sp>
      <p:sp>
        <p:nvSpPr>
          <p:cNvPr id="54" name="Text 54"/>
          <p:cNvSpPr txBox="1"/>
          <p:nvPr/>
        </p:nvSpPr>
        <p:spPr>
          <a:xfrm>
            <a:off x="609600" y="5391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$display(" RESULT : FAIL (errors=%0d)", ...);</a:t>
            </a:r>
            <a:endParaRPr lang="en-US" sz="1100" dirty="0"/>
          </a:p>
        </p:txBody>
      </p:sp>
      <p:sp>
        <p:nvSpPr>
          <p:cNvPr id="55" name="Text 55"/>
          <p:cNvSpPr txBox="1"/>
          <p:nvPr/>
        </p:nvSpPr>
        <p:spPr>
          <a:xfrm>
            <a:off x="609600" y="55816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$finish;</a:t>
            </a:r>
            <a:endParaRPr lang="en-US" sz="1100" dirty="0"/>
          </a:p>
        </p:txBody>
      </p:sp>
      <p:sp>
        <p:nvSpPr>
          <p:cNvPr id="56" name="Text 56"/>
          <p:cNvSpPr txBox="1"/>
          <p:nvPr/>
        </p:nvSpPr>
        <p:spPr>
          <a:xfrm>
            <a:off x="609600" y="5772150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57" name="Shape 57"/>
          <p:cNvSpPr/>
          <p:nvPr/>
        </p:nvSpPr>
        <p:spPr>
          <a:xfrm>
            <a:off x="6934200" y="1295400"/>
            <a:ext cx="4800600" cy="49530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8"/>
          <p:cNvSpPr/>
          <p:nvPr/>
        </p:nvSpPr>
        <p:spPr>
          <a:xfrm>
            <a:off x="7124700" y="1524000"/>
            <a:ext cx="247650" cy="24765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9"/>
          <p:cNvSpPr txBox="1"/>
          <p:nvPr/>
        </p:nvSpPr>
        <p:spPr>
          <a:xfrm>
            <a:off x="7124700" y="1524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60"/>
          <p:cNvSpPr txBox="1"/>
          <p:nvPr/>
        </p:nvSpPr>
        <p:spPr>
          <a:xfrm>
            <a:off x="7486650" y="15335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 = 1008 고정 · [MARK] 로그</a:t>
            </a:r>
            <a:endParaRPr lang="en-US" sz="1350" dirty="0"/>
          </a:p>
        </p:txBody>
      </p:sp>
      <p:sp>
        <p:nvSpPr>
          <p:cNvPr id="61" name="Text 61"/>
          <p:cNvSpPr txBox="1"/>
          <p:nvPr/>
        </p:nvSpPr>
        <p:spPr>
          <a:xfrm>
            <a:off x="7486650" y="18097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실행 같은 random 순서 → FAIL 재현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[MARK] = 파형 캡처 위치 표시</a:t>
            </a:r>
            <a:endParaRPr lang="en-US" sz="1200" dirty="0"/>
          </a:p>
        </p:txBody>
      </p:sp>
      <p:sp>
        <p:nvSpPr>
          <p:cNvPr id="62" name="Shape 62"/>
          <p:cNvSpPr/>
          <p:nvPr/>
        </p:nvSpPr>
        <p:spPr>
          <a:xfrm>
            <a:off x="7124700" y="2324100"/>
            <a:ext cx="247650" cy="2476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3"/>
          <p:cNvSpPr txBox="1"/>
          <p:nvPr/>
        </p:nvSpPr>
        <p:spPr>
          <a:xfrm>
            <a:off x="7124700" y="23241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4"/>
          <p:cNvSpPr txBox="1"/>
          <p:nvPr/>
        </p:nvSpPr>
        <p:spPr>
          <a:xfrm>
            <a:off x="7486650" y="23336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· directed 12 arc</a:t>
            </a:r>
            <a:endParaRPr lang="en-US" sz="1350" dirty="0"/>
          </a:p>
        </p:txBody>
      </p:sp>
      <p:sp>
        <p:nvSpPr>
          <p:cNvPr id="65" name="Text 65"/>
          <p:cNvSpPr txBox="1"/>
          <p:nvPr/>
        </p:nvSpPr>
        <p:spPr>
          <a:xfrm>
            <a:off x="7486650" y="2609850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state × 4 sw 전수, arc task 호출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결과와 무관하게 C4 12 / 12 확보</a:t>
            </a:r>
            <a:endParaRPr lang="en-US" sz="1200" dirty="0"/>
          </a:p>
        </p:txBody>
      </p:sp>
      <p:sp>
        <p:nvSpPr>
          <p:cNvPr id="66" name="Shape 66"/>
          <p:cNvSpPr/>
          <p:nvPr/>
        </p:nvSpPr>
        <p:spPr>
          <a:xfrm>
            <a:off x="7124700" y="3124200"/>
            <a:ext cx="247650" cy="24765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7"/>
          <p:cNvSpPr txBox="1"/>
          <p:nvPr/>
        </p:nvSpPr>
        <p:spPr>
          <a:xfrm>
            <a:off x="7124700" y="3124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68"/>
          <p:cNvSpPr txBox="1"/>
          <p:nvPr/>
        </p:nvSpPr>
        <p:spPr>
          <a:xfrm>
            <a:off x="7486650" y="3133725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· random 300 cycle</a:t>
            </a:r>
            <a:endParaRPr lang="en-US" sz="1350" dirty="0"/>
          </a:p>
        </p:txBody>
      </p:sp>
      <p:sp>
        <p:nvSpPr>
          <p:cNvPr id="69" name="Text 69"/>
          <p:cNvSpPr txBox="1"/>
          <p:nvPr/>
        </p:nvSpPr>
        <p:spPr>
          <a:xfrm>
            <a:off x="7486650" y="3409950"/>
            <a:ext cx="40576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않은 입력 순서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 31 == 0 → 1/32 확률 async reset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임의 state에서 C3 판정</a:t>
            </a:r>
            <a:endParaRPr lang="en-US" sz="1200" dirty="0"/>
          </a:p>
        </p:txBody>
      </p:sp>
      <p:sp>
        <p:nvSpPr>
          <p:cNvPr id="70" name="Shape 70"/>
          <p:cNvSpPr/>
          <p:nvPr/>
        </p:nvSpPr>
        <p:spPr>
          <a:xfrm>
            <a:off x="7124700" y="4105275"/>
            <a:ext cx="247650" cy="2476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7124700" y="410527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72" name="Text 72"/>
          <p:cNvSpPr txBox="1"/>
          <p:nvPr/>
        </p:nvSpPr>
        <p:spPr>
          <a:xfrm>
            <a:off x="7486650" y="411480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조건</a:t>
            </a:r>
            <a:endParaRPr lang="en-US" sz="1350" dirty="0"/>
          </a:p>
        </p:txBody>
      </p:sp>
      <p:sp>
        <p:nvSpPr>
          <p:cNvPr id="73" name="Text 73"/>
          <p:cNvSpPr txBox="1"/>
          <p:nvPr/>
        </p:nvSpPr>
        <p:spPr>
          <a:xfrm>
            <a:off x="7486650" y="4391025"/>
            <a:ext cx="4057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· C2 · C3 error 0 + C4 arc 12 / 12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ko-KR" alt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 시 FAIL + error 수 출력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/>
          <p:cNvSpPr txBox="1"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TB 작성 순서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Steps Turn an FSM Spec into a Self-Checking TB</a:t>
            </a:r>
            <a:endParaRPr lang="en-US" sz="2500" dirty="0"/>
          </a:p>
        </p:txBody>
      </p:sp>
      <p:sp>
        <p:nvSpPr>
          <p:cNvPr id="5" name="Text 5"/>
          <p:cNvSpPr txBox="1"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/ 61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457200" y="1333500"/>
            <a:ext cx="21336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/>
          <p:cNvSpPr/>
          <p:nvPr/>
        </p:nvSpPr>
        <p:spPr>
          <a:xfrm>
            <a:off x="590550" y="150495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0"/>
          <p:cNvSpPr txBox="1"/>
          <p:nvPr/>
        </p:nvSpPr>
        <p:spPr>
          <a:xfrm>
            <a:off x="590550" y="15049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11"/>
          <p:cNvSpPr txBox="1"/>
          <p:nvPr/>
        </p:nvSpPr>
        <p:spPr>
          <a:xfrm>
            <a:off x="1066800" y="1428750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 표 → Golden</a:t>
            </a:r>
            <a:endParaRPr lang="en-US" sz="1450" dirty="0"/>
          </a:p>
        </p:txBody>
      </p:sp>
      <p:cxnSp>
        <p:nvCxnSpPr>
          <p:cNvPr id="12" name="Line 12"/>
          <p:cNvCxnSpPr/>
          <p:nvPr/>
        </p:nvCxnSpPr>
        <p:spPr>
          <a:xfrm>
            <a:off x="2609850" y="1695450"/>
            <a:ext cx="114300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457200" y="2209800"/>
            <a:ext cx="2133600" cy="403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4"/>
          <p:cNvSpPr txBox="1"/>
          <p:nvPr/>
        </p:nvSpPr>
        <p:spPr>
          <a:xfrm>
            <a:off x="609600" y="2362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구현</a:t>
            </a:r>
            <a:endParaRPr lang="en-US" sz="1100" dirty="0"/>
          </a:p>
        </p:txBody>
      </p:sp>
      <p:sp>
        <p:nvSpPr>
          <p:cNvPr id="15" name="Shape 15"/>
          <p:cNvSpPr/>
          <p:nvPr/>
        </p:nvSpPr>
        <p:spPr>
          <a:xfrm>
            <a:off x="609600" y="2609850"/>
            <a:ext cx="1828800" cy="609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704850" y="2609850"/>
            <a:ext cx="163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g_next · g_code function</a:t>
            </a:r>
            <a:endParaRPr lang="en-US" sz="1050" dirty="0"/>
          </a:p>
        </p:txBody>
      </p:sp>
      <p:sp>
        <p:nvSpPr>
          <p:cNvPr id="17" name="Text 17"/>
          <p:cNvSpPr txBox="1"/>
          <p:nvPr/>
        </p:nvSpPr>
        <p:spPr>
          <a:xfrm>
            <a:off x="609600" y="34290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FSM 적용</a:t>
            </a:r>
            <a:endParaRPr lang="en-US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609600" y="3695700"/>
            <a:ext cx="182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× 입력 표를 function으로 작성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 코드와 다른 형태 (삼항 · 표)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코드 직접 기재</a:t>
            </a:r>
            <a:endParaRPr lang="en-US" sz="1250" dirty="0"/>
          </a:p>
        </p:txBody>
      </p:sp>
      <p:sp>
        <p:nvSpPr>
          <p:cNvPr id="19" name="Text 19"/>
          <p:cNvSpPr txBox="1"/>
          <p:nvPr/>
        </p:nvSpPr>
        <p:spPr>
          <a:xfrm>
            <a:off x="609600" y="5410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Check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09600" y="5657850"/>
            <a:ext cx="1828800" cy="40005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609600" y="56578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기대값</a:t>
            </a:r>
            <a:endParaRPr lang="en-US" sz="1300" dirty="0"/>
          </a:p>
        </p:txBody>
      </p:sp>
      <p:sp>
        <p:nvSpPr>
          <p:cNvPr id="22" name="Shape 22"/>
          <p:cNvSpPr/>
          <p:nvPr/>
        </p:nvSpPr>
        <p:spPr>
          <a:xfrm>
            <a:off x="2743200" y="1333500"/>
            <a:ext cx="21336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2876550" y="1504950"/>
            <a:ext cx="381000" cy="3810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4"/>
          <p:cNvSpPr txBox="1"/>
          <p:nvPr/>
        </p:nvSpPr>
        <p:spPr>
          <a:xfrm>
            <a:off x="2876550" y="15049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5"/>
          <p:cNvSpPr txBox="1"/>
          <p:nvPr/>
        </p:nvSpPr>
        <p:spPr>
          <a:xfrm>
            <a:off x="3352800" y="1428750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933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갱신</a:t>
            </a:r>
            <a:endParaRPr lang="en-US" sz="1450" dirty="0"/>
          </a:p>
        </p:txBody>
      </p:sp>
      <p:cxnSp>
        <p:nvCxnSpPr>
          <p:cNvPr id="26" name="Line 26"/>
          <p:cNvCxnSpPr/>
          <p:nvPr/>
        </p:nvCxnSpPr>
        <p:spPr>
          <a:xfrm>
            <a:off x="4895850" y="1695450"/>
            <a:ext cx="114300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2743200" y="2209800"/>
            <a:ext cx="2133600" cy="403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8"/>
          <p:cNvSpPr txBox="1"/>
          <p:nvPr/>
        </p:nvSpPr>
        <p:spPr>
          <a:xfrm>
            <a:off x="2895600" y="2362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구현</a:t>
            </a:r>
            <a:endParaRPr lang="en-US" sz="1100" dirty="0"/>
          </a:p>
        </p:txBody>
      </p:sp>
      <p:sp>
        <p:nvSpPr>
          <p:cNvPr id="29" name="Shape 29"/>
          <p:cNvSpPr/>
          <p:nvPr/>
        </p:nvSpPr>
        <p:spPr>
          <a:xfrm>
            <a:off x="2895600" y="2609850"/>
            <a:ext cx="1828800" cy="609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30"/>
          <p:cNvSpPr txBox="1"/>
          <p:nvPr/>
        </p:nvSpPr>
        <p:spPr>
          <a:xfrm>
            <a:off x="2990850" y="2609850"/>
            <a:ext cx="163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i_clk or posedge i_reset)</a:t>
            </a:r>
            <a:endParaRPr lang="en-US" sz="1050" dirty="0"/>
          </a:p>
        </p:txBody>
      </p:sp>
      <p:sp>
        <p:nvSpPr>
          <p:cNvPr id="31" name="Text 31"/>
          <p:cNvSpPr txBox="1"/>
          <p:nvPr/>
        </p:nvSpPr>
        <p:spPr>
          <a:xfrm>
            <a:off x="2895600" y="34290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FSM 적용</a:t>
            </a:r>
            <a:endParaRPr lang="en-US" sz="1100" dirty="0"/>
          </a:p>
        </p:txBody>
      </p:sp>
      <p:sp>
        <p:nvSpPr>
          <p:cNvPr id="32" name="Text 32"/>
          <p:cNvSpPr txBox="1"/>
          <p:nvPr/>
        </p:nvSpPr>
        <p:spPr>
          <a:xfrm>
            <a:off x="2895600" y="3695700"/>
            <a:ext cx="182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DUT와 같은 clock · reset 조건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reset DUT일 경우 동기 형태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실행 횟수 기록</a:t>
            </a:r>
            <a:endParaRPr lang="en-US" sz="1250" dirty="0"/>
          </a:p>
        </p:txBody>
      </p:sp>
      <p:sp>
        <p:nvSpPr>
          <p:cNvPr id="33" name="Text 33"/>
          <p:cNvSpPr txBox="1"/>
          <p:nvPr/>
        </p:nvSpPr>
        <p:spPr>
          <a:xfrm>
            <a:off x="2895600" y="5410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Check</a:t>
            </a:r>
            <a:endParaRPr lang="en-US" sz="1100" dirty="0"/>
          </a:p>
        </p:txBody>
      </p:sp>
      <p:sp>
        <p:nvSpPr>
          <p:cNvPr id="34" name="Shape 34"/>
          <p:cNvSpPr/>
          <p:nvPr/>
        </p:nvSpPr>
        <p:spPr>
          <a:xfrm>
            <a:off x="2895600" y="5657850"/>
            <a:ext cx="1828800" cy="40005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2895600" y="56578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기대 state · C4 표</a:t>
            </a:r>
            <a:endParaRPr lang="en-US" sz="1300" dirty="0"/>
          </a:p>
        </p:txBody>
      </p:sp>
      <p:sp>
        <p:nvSpPr>
          <p:cNvPr id="36" name="Shape 36"/>
          <p:cNvSpPr/>
          <p:nvPr/>
        </p:nvSpPr>
        <p:spPr>
          <a:xfrm>
            <a:off x="5029200" y="1333500"/>
            <a:ext cx="21336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7"/>
          <p:cNvSpPr/>
          <p:nvPr/>
        </p:nvSpPr>
        <p:spPr>
          <a:xfrm>
            <a:off x="5162550" y="1504950"/>
            <a:ext cx="381000" cy="381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8"/>
          <p:cNvSpPr txBox="1"/>
          <p:nvPr/>
        </p:nvSpPr>
        <p:spPr>
          <a:xfrm>
            <a:off x="5162550" y="15049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39" name="Text 39"/>
          <p:cNvSpPr txBox="1"/>
          <p:nvPr/>
        </p:nvSpPr>
        <p:spPr>
          <a:xfrm>
            <a:off x="5638800" y="1428750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Checker 시점</a:t>
            </a:r>
            <a:endParaRPr lang="en-US" sz="1450" dirty="0"/>
          </a:p>
        </p:txBody>
      </p:sp>
      <p:cxnSp>
        <p:nvCxnSpPr>
          <p:cNvPr id="40" name="Line 40"/>
          <p:cNvCxnSpPr/>
          <p:nvPr/>
        </p:nvCxnSpPr>
        <p:spPr>
          <a:xfrm>
            <a:off x="7181850" y="1695450"/>
            <a:ext cx="114300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5029200" y="2209800"/>
            <a:ext cx="2133600" cy="403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2"/>
          <p:cNvSpPr txBox="1"/>
          <p:nvPr/>
        </p:nvSpPr>
        <p:spPr>
          <a:xfrm>
            <a:off x="5181600" y="2362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구현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5181600" y="2609850"/>
            <a:ext cx="1828800" cy="609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4"/>
          <p:cNvSpPr txBox="1"/>
          <p:nvPr/>
        </p:nvSpPr>
        <p:spPr>
          <a:xfrm>
            <a:off x="5276850" y="2609850"/>
            <a:ext cx="163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negedge · !== 비교</a:t>
            </a:r>
            <a:endParaRPr lang="en-US" sz="1050" dirty="0"/>
          </a:p>
        </p:txBody>
      </p:sp>
      <p:sp>
        <p:nvSpPr>
          <p:cNvPr id="45" name="Text 45"/>
          <p:cNvSpPr txBox="1"/>
          <p:nvPr/>
        </p:nvSpPr>
        <p:spPr>
          <a:xfrm>
            <a:off x="5181600" y="34290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FSM 적용</a:t>
            </a:r>
            <a:endParaRPr lang="en-US" sz="1100" dirty="0"/>
          </a:p>
        </p:txBody>
      </p:sp>
      <p:sp>
        <p:nvSpPr>
          <p:cNvPr id="46" name="Text 46"/>
          <p:cNvSpPr txBox="1"/>
          <p:nvPr/>
        </p:nvSpPr>
        <p:spPr>
          <a:xfrm>
            <a:off x="5181600" y="3695700"/>
            <a:ext cx="182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· 출력 안정 구간에서 판정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포트만 관측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· Z까지 비교</a:t>
            </a:r>
            <a:endParaRPr lang="en-US" sz="1250" dirty="0"/>
          </a:p>
        </p:txBody>
      </p:sp>
      <p:sp>
        <p:nvSpPr>
          <p:cNvPr id="47" name="Text 47"/>
          <p:cNvSpPr txBox="1"/>
          <p:nvPr/>
        </p:nvSpPr>
        <p:spPr>
          <a:xfrm>
            <a:off x="5181600" y="5410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Check</a:t>
            </a:r>
            <a:endParaRPr lang="en-US" sz="1100" dirty="0"/>
          </a:p>
        </p:txBody>
      </p:sp>
      <p:sp>
        <p:nvSpPr>
          <p:cNvPr id="48" name="Shape 48"/>
          <p:cNvSpPr/>
          <p:nvPr/>
        </p:nvSpPr>
        <p:spPr>
          <a:xfrm>
            <a:off x="5181600" y="5657850"/>
            <a:ext cx="1828800" cy="40005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9"/>
          <p:cNvSpPr txBox="1"/>
          <p:nvPr/>
        </p:nvSpPr>
        <p:spPr>
          <a:xfrm>
            <a:off x="5181600" y="56578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</a:t>
            </a:r>
            <a:endParaRPr lang="en-US" sz="1300" dirty="0"/>
          </a:p>
        </p:txBody>
      </p:sp>
      <p:sp>
        <p:nvSpPr>
          <p:cNvPr id="50" name="Shape 50"/>
          <p:cNvSpPr/>
          <p:nvPr/>
        </p:nvSpPr>
        <p:spPr>
          <a:xfrm>
            <a:off x="7315200" y="1333500"/>
            <a:ext cx="21336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51"/>
          <p:cNvSpPr/>
          <p:nvPr/>
        </p:nvSpPr>
        <p:spPr>
          <a:xfrm>
            <a:off x="7448550" y="1504950"/>
            <a:ext cx="381000" cy="381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2"/>
          <p:cNvSpPr txBox="1"/>
          <p:nvPr/>
        </p:nvSpPr>
        <p:spPr>
          <a:xfrm>
            <a:off x="7448550" y="15049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53" name="Text 53"/>
          <p:cNvSpPr txBox="1"/>
          <p:nvPr/>
        </p:nvSpPr>
        <p:spPr>
          <a:xfrm>
            <a:off x="7924800" y="1428750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 task</a:t>
            </a:r>
            <a:endParaRPr lang="en-US" sz="1450" dirty="0"/>
          </a:p>
        </p:txBody>
      </p:sp>
      <p:cxnSp>
        <p:nvCxnSpPr>
          <p:cNvPr id="54" name="Line 54"/>
          <p:cNvCxnSpPr/>
          <p:nvPr/>
        </p:nvCxnSpPr>
        <p:spPr>
          <a:xfrm>
            <a:off x="9467850" y="1695450"/>
            <a:ext cx="114300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55" name="Shape 55"/>
          <p:cNvSpPr/>
          <p:nvPr/>
        </p:nvSpPr>
        <p:spPr>
          <a:xfrm>
            <a:off x="7315200" y="2209800"/>
            <a:ext cx="2133600" cy="403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6"/>
          <p:cNvSpPr txBox="1"/>
          <p:nvPr/>
        </p:nvSpPr>
        <p:spPr>
          <a:xfrm>
            <a:off x="7467600" y="2362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구현</a:t>
            </a:r>
            <a:endParaRPr lang="en-US" sz="1100" dirty="0"/>
          </a:p>
        </p:txBody>
      </p:sp>
      <p:sp>
        <p:nvSpPr>
          <p:cNvPr id="57" name="Shape 57"/>
          <p:cNvSpPr/>
          <p:nvPr/>
        </p:nvSpPr>
        <p:spPr>
          <a:xfrm>
            <a:off x="7467600" y="2609850"/>
            <a:ext cx="1828800" cy="609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8"/>
          <p:cNvSpPr txBox="1"/>
          <p:nvPr/>
        </p:nvSpPr>
        <p:spPr>
          <a:xfrm>
            <a:off x="7562850" y="2609850"/>
            <a:ext cx="163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 · async_reset · arc</a:t>
            </a:r>
            <a:endParaRPr lang="en-US" sz="1050" dirty="0"/>
          </a:p>
        </p:txBody>
      </p:sp>
      <p:sp>
        <p:nvSpPr>
          <p:cNvPr id="59" name="Text 59"/>
          <p:cNvSpPr txBox="1"/>
          <p:nvPr/>
        </p:nvSpPr>
        <p:spPr>
          <a:xfrm>
            <a:off x="7467600" y="34290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FSM 적용</a:t>
            </a:r>
            <a:endParaRPr lang="en-US" sz="1100" dirty="0"/>
          </a:p>
        </p:txBody>
      </p:sp>
      <p:sp>
        <p:nvSpPr>
          <p:cNvPr id="60" name="Text 60"/>
          <p:cNvSpPr txBox="1"/>
          <p:nvPr/>
        </p:nvSpPr>
        <p:spPr>
          <a:xfrm>
            <a:off x="7467600" y="3695700"/>
            <a:ext cx="182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인가 + 구조 검사 묶음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불변 · async reset 확인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call = 1 clock</a:t>
            </a:r>
            <a:endParaRPr lang="en-US" sz="1250" dirty="0"/>
          </a:p>
        </p:txBody>
      </p:sp>
      <p:sp>
        <p:nvSpPr>
          <p:cNvPr id="61" name="Text 61"/>
          <p:cNvSpPr txBox="1"/>
          <p:nvPr/>
        </p:nvSpPr>
        <p:spPr>
          <a:xfrm>
            <a:off x="7467600" y="5410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Check</a:t>
            </a:r>
            <a:endParaRPr lang="en-US" sz="1100" dirty="0"/>
          </a:p>
        </p:txBody>
      </p:sp>
      <p:sp>
        <p:nvSpPr>
          <p:cNvPr id="62" name="Shape 62"/>
          <p:cNvSpPr/>
          <p:nvPr/>
        </p:nvSpPr>
        <p:spPr>
          <a:xfrm>
            <a:off x="7467600" y="5657850"/>
            <a:ext cx="1828800" cy="400050"/>
          </a:xfrm>
          <a:prstGeom prst="roundRect">
            <a:avLst>
              <a:gd name="adj" fmla="val 12000"/>
            </a:avLst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3"/>
          <p:cNvSpPr txBox="1"/>
          <p:nvPr/>
        </p:nvSpPr>
        <p:spPr>
          <a:xfrm>
            <a:off x="7467600" y="56578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 · C3</a:t>
            </a:r>
            <a:endParaRPr lang="en-US" sz="1300" dirty="0"/>
          </a:p>
        </p:txBody>
      </p:sp>
      <p:sp>
        <p:nvSpPr>
          <p:cNvPr id="64" name="Shape 64"/>
          <p:cNvSpPr/>
          <p:nvPr/>
        </p:nvSpPr>
        <p:spPr>
          <a:xfrm>
            <a:off x="9601200" y="1333500"/>
            <a:ext cx="2133600" cy="723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5"/>
          <p:cNvSpPr/>
          <p:nvPr/>
        </p:nvSpPr>
        <p:spPr>
          <a:xfrm>
            <a:off x="9734550" y="1504950"/>
            <a:ext cx="381000" cy="381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6"/>
          <p:cNvSpPr txBox="1"/>
          <p:nvPr/>
        </p:nvSpPr>
        <p:spPr>
          <a:xfrm>
            <a:off x="9734550" y="15049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/>
          </a:p>
        </p:txBody>
      </p:sp>
      <p:sp>
        <p:nvSpPr>
          <p:cNvPr id="67" name="Text 67"/>
          <p:cNvSpPr txBox="1"/>
          <p:nvPr/>
        </p:nvSpPr>
        <p:spPr>
          <a:xfrm>
            <a:off x="10210800" y="1428750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Stimulus · Report</a:t>
            </a:r>
            <a:endParaRPr lang="en-US" sz="1450" dirty="0"/>
          </a:p>
        </p:txBody>
      </p:sp>
      <p:sp>
        <p:nvSpPr>
          <p:cNvPr id="68" name="Shape 68"/>
          <p:cNvSpPr/>
          <p:nvPr/>
        </p:nvSpPr>
        <p:spPr>
          <a:xfrm>
            <a:off x="9601200" y="2209800"/>
            <a:ext cx="2133600" cy="403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9"/>
          <p:cNvSpPr txBox="1"/>
          <p:nvPr/>
        </p:nvSpPr>
        <p:spPr>
          <a:xfrm>
            <a:off x="9753600" y="2362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구현</a:t>
            </a:r>
            <a:endParaRPr lang="en-US" sz="1100" dirty="0"/>
          </a:p>
        </p:txBody>
      </p:sp>
      <p:sp>
        <p:nvSpPr>
          <p:cNvPr id="70" name="Shape 70"/>
          <p:cNvSpPr/>
          <p:nvPr/>
        </p:nvSpPr>
        <p:spPr>
          <a:xfrm>
            <a:off x="9753600" y="2609850"/>
            <a:ext cx="1828800" cy="609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71"/>
          <p:cNvSpPr txBox="1"/>
          <p:nvPr/>
        </p:nvSpPr>
        <p:spPr>
          <a:xfrm>
            <a:off x="9848850" y="2609850"/>
            <a:ext cx="163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arc → random 300 → 표</a:t>
            </a:r>
            <a:endParaRPr lang="en-US" sz="1050" dirty="0"/>
          </a:p>
        </p:txBody>
      </p:sp>
      <p:sp>
        <p:nvSpPr>
          <p:cNvPr id="72" name="Text 72"/>
          <p:cNvSpPr txBox="1"/>
          <p:nvPr/>
        </p:nvSpPr>
        <p:spPr>
          <a:xfrm>
            <a:off x="9753600" y="34290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FSM 적용</a:t>
            </a:r>
            <a:endParaRPr lang="en-US" sz="1100" dirty="0"/>
          </a:p>
        </p:txBody>
      </p:sp>
      <p:sp>
        <p:nvSpPr>
          <p:cNvPr id="73" name="Text 73"/>
          <p:cNvSpPr txBox="1"/>
          <p:nvPr/>
        </p:nvSpPr>
        <p:spPr>
          <a:xfrm>
            <a:off x="9753600" y="3695700"/>
            <a:ext cx="182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전수 arc 먼저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+ 고정 seed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coverage 표 · error 수 · PASS/FAIL</a:t>
            </a:r>
            <a:endParaRPr lang="en-US" sz="1250" dirty="0"/>
          </a:p>
        </p:txBody>
      </p:sp>
      <p:sp>
        <p:nvSpPr>
          <p:cNvPr id="74" name="Text 74"/>
          <p:cNvSpPr txBox="1"/>
          <p:nvPr/>
        </p:nvSpPr>
        <p:spPr>
          <a:xfrm>
            <a:off x="9753600" y="54102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Check</a:t>
            </a:r>
            <a:endParaRPr lang="en-US" sz="1100" dirty="0"/>
          </a:p>
        </p:txBody>
      </p:sp>
      <p:sp>
        <p:nvSpPr>
          <p:cNvPr id="75" name="Shape 75"/>
          <p:cNvSpPr/>
          <p:nvPr/>
        </p:nvSpPr>
        <p:spPr>
          <a:xfrm>
            <a:off x="9753600" y="5657850"/>
            <a:ext cx="1828800" cy="40005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6"/>
          <p:cNvSpPr txBox="1"/>
          <p:nvPr/>
        </p:nvSpPr>
        <p:spPr>
          <a:xfrm>
            <a:off x="9753600" y="56578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 · PASS / FAIL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새 TB 제안 · 실행 결과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TB Passes with 12 / 12 Arc Coverage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573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 Coverage (state × i_sw, 실행 횟수)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62100"/>
          <a:ext cx="6096000" cy="1752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5433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결과 · 원본 RTL</a:t>
            </a:r>
            <a:endParaRPr lang="en-US" sz="150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8100"/>
          <a:ext cx="6096000" cy="22860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checked cycles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C1 output mismatch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C2 Mealy path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C3 async reset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C4 arc coverage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 / 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781800" y="1295400"/>
            <a:ext cx="4953000" cy="4953000"/>
          </a:xfrm>
          <a:prstGeom prst="roundRect">
            <a:avLst>
              <a:gd name="adj" fmla="val 1477"/>
            </a:avLst>
          </a:prstGeom>
          <a:solidFill>
            <a:srgbClr val="E8F5E9"/>
          </a:solidFill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781800" y="17145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5400" dirty="0"/>
          </a:p>
        </p:txBody>
      </p:sp>
      <p:sp>
        <p:nvSpPr>
          <p:cNvPr id="13" name="Text 9"/>
          <p:cNvSpPr/>
          <p:nvPr/>
        </p:nvSpPr>
        <p:spPr>
          <a:xfrm>
            <a:off x="6781800" y="24384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RTL · error 0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086600" y="3048000"/>
            <a:ext cx="4381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/ 61</a:t>
            </a:r>
            <a:endParaRPr 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B16149E-D40C-561C-3EEC-ACE7DE6A9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777"/>
          <a:stretch>
            <a:fillRect/>
          </a:stretch>
        </p:blipFill>
        <p:spPr>
          <a:xfrm>
            <a:off x="7402955" y="2857500"/>
            <a:ext cx="4065145" cy="30479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· 결론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09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FSMs Verified by Self-Checking TB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82250" y="209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4389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· FSM Control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28750"/>
            <a:ext cx="3657600" cy="57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695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2190750"/>
            <a:ext cx="3238500" cy="352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D-FF = 반대 위상 Gated Latch 2개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 = Master 안정 시간, Hold = clk̄ 지연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CDC: single-bit = 2-FF, multi-bit = Gray · Handshake · FIFO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FF는 Glitch가 문제 되는 곳에만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의미 · 입력 성질로 Moore / Mealy 선택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67200" y="1428750"/>
            <a:ext cx="3657600" cy="5715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95800" y="1695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95800" y="2190750"/>
            <a:ext cx="3238500" cy="352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Homework-1: default 추가로 Latch 제거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Homework-2: STOP 중심 3-state Moore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 결과 Output Decode 입력 = state만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7200" y="1428750"/>
            <a:ext cx="3657600" cy="4476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77200" y="1428750"/>
            <a:ext cx="3657600" cy="5715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05800" y="1695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05800" y="2190750"/>
            <a:ext cx="3238500" cy="352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TB: 육안 판정, arc 9 / 12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3종 원본과 파형 동일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TB: Golden model · arc 전수 · 결함 7 / 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29800" y="6438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/ 61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8041</Words>
  <Application>Microsoft Office PowerPoint</Application>
  <PresentationFormat>와이드스크린</PresentationFormat>
  <Paragraphs>2101</Paragraphs>
  <Slides>61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5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안성 정</cp:lastModifiedBy>
  <cp:revision>10</cp:revision>
  <dcterms:created xsi:type="dcterms:W3CDTF">2026-10-09T15:59:34Z</dcterms:created>
  <dcterms:modified xsi:type="dcterms:W3CDTF">2026-10-11T05:08:00Z</dcterms:modified>
</cp:coreProperties>
</file>