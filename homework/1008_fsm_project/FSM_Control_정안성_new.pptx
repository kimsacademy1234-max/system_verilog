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jpg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323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324" r:id="rId11"/>
    <p:sldId id="325" r:id="rId12"/>
    <p:sldId id="326" r:id="rId13"/>
    <p:sldId id="327" r:id="rId14"/>
    <p:sldId id="328" r:id="rId15"/>
    <p:sldId id="266" r:id="rId16"/>
    <p:sldId id="267" r:id="rId17"/>
    <p:sldId id="268" r:id="rId18"/>
    <p:sldId id="269" r:id="rId19"/>
    <p:sldId id="271" r:id="rId20"/>
    <p:sldId id="318" r:id="rId21"/>
    <p:sldId id="309" r:id="rId22"/>
    <p:sldId id="319" r:id="rId23"/>
    <p:sldId id="320" r:id="rId24"/>
    <p:sldId id="321" r:id="rId25"/>
    <p:sldId id="310" r:id="rId26"/>
    <p:sldId id="313" r:id="rId27"/>
    <p:sldId id="311" r:id="rId28"/>
    <p:sldId id="314" r:id="rId29"/>
    <p:sldId id="315" r:id="rId30"/>
    <p:sldId id="322" r:id="rId31"/>
    <p:sldId id="312" r:id="rId32"/>
    <p:sldId id="274" r:id="rId33"/>
    <p:sldId id="275" r:id="rId34"/>
    <p:sldId id="316" r:id="rId35"/>
    <p:sldId id="317" r:id="rId36"/>
    <p:sldId id="278" r:id="rId37"/>
    <p:sldId id="277" r:id="rId38"/>
    <p:sldId id="279" r:id="rId39"/>
    <p:sldId id="280" r:id="rId40"/>
    <p:sldId id="281" r:id="rId41"/>
    <p:sldId id="282" r:id="rId42"/>
    <p:sldId id="283" r:id="rId43"/>
    <p:sldId id="285" r:id="rId44"/>
    <p:sldId id="287" r:id="rId45"/>
    <p:sldId id="289" r:id="rId46"/>
    <p:sldId id="291" r:id="rId47"/>
    <p:sldId id="293" r:id="rId48"/>
    <p:sldId id="294" r:id="rId49"/>
    <p:sldId id="295" r:id="rId50"/>
    <p:sldId id="308" r:id="rId51"/>
    <p:sldId id="307" r:id="rId52"/>
    <p:sldId id="306" r:id="rId53"/>
    <p:sldId id="305" r:id="rId54"/>
    <p:sldId id="304" r:id="rId55"/>
    <p:sldId id="303" r:id="rId56"/>
    <p:sldId id="302" r:id="rId57"/>
    <p:sldId id="301" r:id="rId58"/>
    <p:sldId id="300" r:id="rId59"/>
    <p:sldId id="299" r:id="rId60"/>
    <p:sldId id="297" r:id="rId61"/>
    <p:sldId id="298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282" y="5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0547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AED19-0B88-F952-76CD-9B1403A18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F79128-142C-DC2F-4F64-CBFD3CA89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793E1-5242-47D7-C495-EF6CF2E93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2B291-CFDD-6D81-227D-50AE07F4E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565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8397-6266-D7F6-DA47-080F14F6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D93E66-2DA5-07A2-DF7E-84B4F2F7D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1CDD-65C6-62FE-7E52-3E5D5D6DA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7DEBF-84BF-1B2A-23C9-A4A5C40A97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954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82B2-AE52-6D41-EC9E-B0FD5D51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127BC-72CF-1135-0764-B932ACB7F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6CAB8-83D3-30EC-C086-0D62FC281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A1CA7-70AF-1D0F-B716-915C60F3DE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061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31EB5-CFAB-6E10-09B6-24A06A05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A016EC-9477-F359-C8A5-9A5C3485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D8F26-5CE6-9DE2-3E25-8276C1B1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5DBCA-4570-49A1-1B48-5B3EAFDC92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610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D3D8-7A2B-D19B-415A-F8787B1A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CAB10-3E65-4880-196F-A999E55E8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51B3E-B27E-8116-70DE-9F311B0CB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1FE628-7DA0-CE35-329B-58FB057AA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27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7970A-3D1B-8F74-6440-CAD61167F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9D5A0-89BB-7136-2156-39A7732626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5C5C3-721A-0839-3AFD-9096153C95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E5B8B-0DD6-2AD9-89CC-931AFE864E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56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340C-8125-AD4A-7742-B1E7AB53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16B75-614E-F2EB-D56C-3FF2A7C8F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19CEE-8895-EC3C-A911-0BC45D2B6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D6FD8-913E-E8E1-2817-50AE59349E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2786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AE36-A13D-4483-2571-30E36B56D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B0D2F7-ADE0-1524-49F7-3CDF2BD31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587AF-026A-67D6-B6A7-9F6A9F8F9A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7EB54-05DE-505C-DDBD-E5E2073124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6100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20" Type="http://schemas.openxmlformats.org/officeDocument/2006/relationships/image" Target="../media/board_s0.jpg"/><Relationship Id="rId21" Type="http://schemas.openxmlformats.org/officeDocument/2006/relationships/image" Target="../media/board_s1.jpg"/><Relationship Id="rId22" Type="http://schemas.openxmlformats.org/officeDocument/2006/relationships/image" Target="../media/board_s2.jpg"/><Relationship Id="rId23" Type="http://schemas.openxmlformats.org/officeDocument/2006/relationships/image" Target="../media/board_s3.jpg"/><Relationship Id="rId24" Type="http://schemas.openxmlformats.org/officeDocument/2006/relationships/image" Target="../media/board_s4.jp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3425" y="104775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3425" y="142875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기반 Control 설계</a:t>
            </a:r>
            <a:endParaRPr lang="en-US" sz="3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구조부터 STOP · RUN · CLEAR FSM까지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3425" y="30289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· Setup / Hold · CDC · Glitch · Moore vs Mealy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(S0 ~ S4) · Homework-2 (FSM_RUN_STOP)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3425" y="3810000"/>
            <a:ext cx="609600" cy="4762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3425" y="58293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2026. 10. 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기반 Control 설계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61</a:t>
            </a:r>
            <a:endParaRPr lang="en-US" sz="900" dirty="0"/>
          </a:p>
        </p:txBody>
      </p:sp>
      <p:sp>
        <p:nvSpPr>
          <p:cNvPr id="8" name="Text 8"/>
          <p:cNvSpPr txBox="1"/>
          <p:nvPr/>
        </p:nvSpPr>
        <p:spPr>
          <a:xfrm>
            <a:off x="457200" y="12573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정리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457200" y="158115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647700" y="158115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11"/>
          <p:cNvSpPr txBox="1"/>
          <p:nvPr/>
        </p:nvSpPr>
        <p:spPr>
          <a:xfrm>
            <a:off x="1276350" y="169545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구조</a:t>
            </a:r>
            <a:endParaRPr lang="en-US" sz="1600" dirty="0"/>
          </a:p>
        </p:txBody>
      </p:sp>
      <p:sp>
        <p:nvSpPr>
          <p:cNvPr id="12" name="Text 12"/>
          <p:cNvSpPr txBox="1"/>
          <p:nvPr/>
        </p:nvSpPr>
        <p:spPr>
          <a:xfrm>
            <a:off x="1276350" y="19621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 → Gated D Latch → Master-Slave</a:t>
            </a:r>
            <a:endParaRPr lang="en-US" sz="1100" dirty="0"/>
          </a:p>
        </p:txBody>
      </p:sp>
      <p:sp>
        <p:nvSpPr>
          <p:cNvPr id="13" name="Text 13"/>
          <p:cNvSpPr txBox="1"/>
          <p:nvPr/>
        </p:nvSpPr>
        <p:spPr>
          <a:xfrm>
            <a:off x="4933950" y="158115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p.3 – 5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457200" y="2352675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647700" y="2352675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276350" y="2466975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· Hold</a:t>
            </a:r>
            <a:endParaRPr lang="en-US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1276350" y="2733675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 · 발생 원인 · Slack · Synchronizer</a:t>
            </a:r>
            <a:endParaRPr lang="en-US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4933950" y="2352675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p.6 – 9</a:t>
            </a:r>
            <a:endParaRPr lang="en-US" sz="1200" dirty="0"/>
          </a:p>
        </p:txBody>
      </p:sp>
      <p:sp>
        <p:nvSpPr>
          <p:cNvPr id="19" name="Shape 19"/>
          <p:cNvSpPr/>
          <p:nvPr/>
        </p:nvSpPr>
        <p:spPr>
          <a:xfrm>
            <a:off x="457200" y="312420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20"/>
          <p:cNvSpPr txBox="1"/>
          <p:nvPr/>
        </p:nvSpPr>
        <p:spPr>
          <a:xfrm>
            <a:off x="647700" y="312420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4D7C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1" name="Text 21"/>
          <p:cNvSpPr txBox="1"/>
          <p:nvPr/>
        </p:nvSpPr>
        <p:spPr>
          <a:xfrm>
            <a:off x="1276350" y="323850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CDC</a:t>
            </a:r>
            <a:endParaRPr lang="en-US" sz="1600" dirty="0"/>
          </a:p>
        </p:txBody>
      </p:sp>
      <p:sp>
        <p:nvSpPr>
          <p:cNvPr id="22" name="Text 22"/>
          <p:cNvSpPr txBox="1"/>
          <p:nvPr/>
        </p:nvSpPr>
        <p:spPr>
          <a:xfrm>
            <a:off x="1276350" y="3505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 · 문제 유형 · Single-bit · Multi-bit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4933950" y="312420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4D7C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p.10 – 14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457200" y="3895725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647700" y="3895725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6"/>
          <p:cNvSpPr txBox="1"/>
          <p:nvPr/>
        </p:nvSpPr>
        <p:spPr>
          <a:xfrm>
            <a:off x="1276350" y="4010025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Glitch</a:t>
            </a:r>
            <a:endParaRPr lang="en-US" sz="1600" dirty="0"/>
          </a:p>
        </p:txBody>
      </p:sp>
      <p:sp>
        <p:nvSpPr>
          <p:cNvPr id="27" name="Text 27"/>
          <p:cNvSpPr txBox="1"/>
          <p:nvPr/>
        </p:nvSpPr>
        <p:spPr>
          <a:xfrm>
            <a:off x="1276350" y="4276725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 · FF 필요 여부</a:t>
            </a:r>
            <a:endParaRPr lang="en-US" sz="1100" dirty="0"/>
          </a:p>
        </p:txBody>
      </p:sp>
      <p:sp>
        <p:nvSpPr>
          <p:cNvPr id="28" name="Text 28"/>
          <p:cNvSpPr txBox="1"/>
          <p:nvPr/>
        </p:nvSpPr>
        <p:spPr>
          <a:xfrm>
            <a:off x="4933950" y="3895725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p.15 – 16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457200" y="466725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647700" y="466725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400" dirty="0"/>
          </a:p>
        </p:txBody>
      </p:sp>
      <p:sp>
        <p:nvSpPr>
          <p:cNvPr id="31" name="Text 31"/>
          <p:cNvSpPr txBox="1"/>
          <p:nvPr/>
        </p:nvSpPr>
        <p:spPr>
          <a:xfrm>
            <a:off x="1276350" y="478155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vs Mealy</a:t>
            </a:r>
            <a:endParaRPr lang="en-US" sz="1600" dirty="0"/>
          </a:p>
        </p:txBody>
      </p:sp>
      <p:sp>
        <p:nvSpPr>
          <p:cNvPr id="32" name="Text 32"/>
          <p:cNvSpPr txBox="1"/>
          <p:nvPr/>
        </p:nvSpPr>
        <p:spPr>
          <a:xfrm>
            <a:off x="1276350" y="50482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결정 방식 · 응답 시점 비교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4933950" y="466725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p.17 – 18</a:t>
            </a:r>
            <a:endParaRPr lang="en-US" sz="1200" dirty="0"/>
          </a:p>
        </p:txBody>
      </p:sp>
      <p:sp>
        <p:nvSpPr>
          <p:cNvPr id="34" name="Text 34"/>
          <p:cNvSpPr txBox="1"/>
          <p:nvPr/>
        </p:nvSpPr>
        <p:spPr>
          <a:xfrm>
            <a:off x="6172200" y="12573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검증</a:t>
            </a:r>
            <a:endParaRPr lang="en-US" sz="1400" dirty="0"/>
          </a:p>
        </p:txBody>
      </p:sp>
      <p:sp>
        <p:nvSpPr>
          <p:cNvPr id="35" name="Shape 35"/>
          <p:cNvSpPr/>
          <p:nvPr/>
        </p:nvSpPr>
        <p:spPr>
          <a:xfrm>
            <a:off x="6172200" y="158115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6362700" y="158115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400" dirty="0"/>
          </a:p>
        </p:txBody>
      </p:sp>
      <p:sp>
        <p:nvSpPr>
          <p:cNvPr id="37" name="Text 37"/>
          <p:cNvSpPr txBox="1"/>
          <p:nvPr/>
        </p:nvSpPr>
        <p:spPr>
          <a:xfrm>
            <a:off x="6991350" y="169545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· FSM_S3</a:t>
            </a:r>
            <a:endParaRPr lang="en-US" sz="1600" dirty="0"/>
          </a:p>
        </p:txBody>
      </p:sp>
      <p:sp>
        <p:nvSpPr>
          <p:cNvPr id="38" name="Text 38"/>
          <p:cNvSpPr txBox="1"/>
          <p:nvPr/>
        </p:nvSpPr>
        <p:spPr>
          <a:xfrm>
            <a:off x="6991350" y="19621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Diagram · TB · 시뮬레이션 · Latch · 보드</a:t>
            </a:r>
            <a:endParaRPr lang="en-US" sz="1100" dirty="0"/>
          </a:p>
        </p:txBody>
      </p:sp>
      <p:sp>
        <p:nvSpPr>
          <p:cNvPr id="39" name="Text 39"/>
          <p:cNvSpPr txBox="1"/>
          <p:nvPr/>
        </p:nvSpPr>
        <p:spPr>
          <a:xfrm>
            <a:off x="10648950" y="158115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p.19 – 35</a:t>
            </a:r>
            <a:endParaRPr lang="en-US" sz="1200" dirty="0"/>
          </a:p>
        </p:txBody>
      </p:sp>
      <p:sp>
        <p:nvSpPr>
          <p:cNvPr id="40" name="Shape 40"/>
          <p:cNvSpPr/>
          <p:nvPr/>
        </p:nvSpPr>
        <p:spPr>
          <a:xfrm>
            <a:off x="6172200" y="2352675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362700" y="2352675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400" dirty="0"/>
          </a:p>
        </p:txBody>
      </p:sp>
      <p:sp>
        <p:nvSpPr>
          <p:cNvPr id="42" name="Text 42"/>
          <p:cNvSpPr txBox="1"/>
          <p:nvPr/>
        </p:nvSpPr>
        <p:spPr>
          <a:xfrm>
            <a:off x="6991350" y="2466975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설계</a:t>
            </a:r>
            <a:endParaRPr lang="en-US" sz="1600" dirty="0"/>
          </a:p>
        </p:txBody>
      </p:sp>
      <p:sp>
        <p:nvSpPr>
          <p:cNvPr id="43" name="Text 43"/>
          <p:cNvSpPr txBox="1"/>
          <p:nvPr/>
        </p:nvSpPr>
        <p:spPr>
          <a:xfrm>
            <a:off x="6991350" y="2733675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Diagram · Block Diagram · 코드 연결 · RTL</a:t>
            </a:r>
            <a:endParaRPr lang="en-US" sz="1100" dirty="0"/>
          </a:p>
        </p:txBody>
      </p:sp>
      <p:sp>
        <p:nvSpPr>
          <p:cNvPr id="44" name="Text 44"/>
          <p:cNvSpPr txBox="1"/>
          <p:nvPr/>
        </p:nvSpPr>
        <p:spPr>
          <a:xfrm>
            <a:off x="10648950" y="2352675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p.36 – 42</a:t>
            </a:r>
            <a:endParaRPr lang="en-US" sz="1200" dirty="0"/>
          </a:p>
        </p:txBody>
      </p:sp>
      <p:sp>
        <p:nvSpPr>
          <p:cNvPr id="45" name="Shape 45"/>
          <p:cNvSpPr/>
          <p:nvPr/>
        </p:nvSpPr>
        <p:spPr>
          <a:xfrm>
            <a:off x="6172200" y="312420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6362700" y="312420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400" dirty="0"/>
          </a:p>
        </p:txBody>
      </p:sp>
      <p:sp>
        <p:nvSpPr>
          <p:cNvPr id="47" name="Text 47"/>
          <p:cNvSpPr txBox="1"/>
          <p:nvPr/>
        </p:nvSpPr>
        <p:spPr>
          <a:xfrm>
            <a:off x="6991350" y="323850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검증</a:t>
            </a:r>
            <a:endParaRPr lang="en-US" sz="1600" dirty="0"/>
          </a:p>
        </p:txBody>
      </p:sp>
      <p:sp>
        <p:nvSpPr>
          <p:cNvPr id="48" name="Text 48"/>
          <p:cNvSpPr txBox="1"/>
          <p:nvPr/>
        </p:nvSpPr>
        <p:spPr>
          <a:xfrm>
            <a:off x="6991350" y="3505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 · 시나리오 3종 파형</a:t>
            </a:r>
            <a:endParaRPr lang="en-US" sz="1100" dirty="0"/>
          </a:p>
        </p:txBody>
      </p:sp>
      <p:sp>
        <p:nvSpPr>
          <p:cNvPr id="49" name="Text 49"/>
          <p:cNvSpPr txBox="1"/>
          <p:nvPr/>
        </p:nvSpPr>
        <p:spPr>
          <a:xfrm>
            <a:off x="10648950" y="312420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p.43 – 46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6172200" y="3895725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6362700" y="3895725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400" dirty="0"/>
          </a:p>
        </p:txBody>
      </p:sp>
      <p:sp>
        <p:nvSpPr>
          <p:cNvPr id="52" name="Text 52"/>
          <p:cNvSpPr txBox="1"/>
          <p:nvPr/>
        </p:nvSpPr>
        <p:spPr>
          <a:xfrm>
            <a:off x="6991350" y="4010025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방법론 평가</a:t>
            </a:r>
            <a:endParaRPr lang="en-US" sz="1600" dirty="0"/>
          </a:p>
        </p:txBody>
      </p:sp>
      <p:sp>
        <p:nvSpPr>
          <p:cNvPr id="53" name="Text 53"/>
          <p:cNvSpPr txBox="1"/>
          <p:nvPr/>
        </p:nvSpPr>
        <p:spPr>
          <a:xfrm>
            <a:off x="6991350" y="4276725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평가표 · 결함 주입 7종</a:t>
            </a:r>
            <a:endParaRPr lang="en-US" sz="1100" dirty="0"/>
          </a:p>
        </p:txBody>
      </p:sp>
      <p:sp>
        <p:nvSpPr>
          <p:cNvPr id="54" name="Text 54"/>
          <p:cNvSpPr txBox="1"/>
          <p:nvPr/>
        </p:nvSpPr>
        <p:spPr>
          <a:xfrm>
            <a:off x="10648950" y="3895725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p.47 – 48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6172200" y="4667250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6362700" y="4667250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400" dirty="0"/>
          </a:p>
        </p:txBody>
      </p:sp>
      <p:sp>
        <p:nvSpPr>
          <p:cNvPr id="57" name="Text 57"/>
          <p:cNvSpPr txBox="1"/>
          <p:nvPr/>
        </p:nvSpPr>
        <p:spPr>
          <a:xfrm>
            <a:off x="6991350" y="4781550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TB 제안</a:t>
            </a:r>
            <a:endParaRPr lang="en-US" sz="1600" dirty="0"/>
          </a:p>
        </p:txBody>
      </p:sp>
      <p:sp>
        <p:nvSpPr>
          <p:cNvPr id="58" name="Text 58"/>
          <p:cNvSpPr txBox="1"/>
          <p:nvPr/>
        </p:nvSpPr>
        <p:spPr>
          <a:xfrm>
            <a:off x="6991350" y="50482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 · 채점 항목 C1 ~ C4 · 실행 결과</a:t>
            </a:r>
            <a:endParaRPr lang="en-US" sz="1100" dirty="0"/>
          </a:p>
        </p:txBody>
      </p:sp>
      <p:sp>
        <p:nvSpPr>
          <p:cNvPr id="59" name="Text 59"/>
          <p:cNvSpPr txBox="1"/>
          <p:nvPr/>
        </p:nvSpPr>
        <p:spPr>
          <a:xfrm>
            <a:off x="10648950" y="4667250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p.49 – 60</a:t>
            </a:r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6172200" y="5438775"/>
            <a:ext cx="55626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6362700" y="5438775"/>
            <a:ext cx="53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400" dirty="0"/>
          </a:p>
        </p:txBody>
      </p:sp>
      <p:sp>
        <p:nvSpPr>
          <p:cNvPr id="62" name="Text 62"/>
          <p:cNvSpPr txBox="1"/>
          <p:nvPr/>
        </p:nvSpPr>
        <p:spPr>
          <a:xfrm>
            <a:off x="6991350" y="5553075"/>
            <a:ext cx="3619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600" dirty="0"/>
          </a:p>
        </p:txBody>
      </p:sp>
      <p:sp>
        <p:nvSpPr>
          <p:cNvPr id="63" name="Text 63"/>
          <p:cNvSpPr txBox="1"/>
          <p:nvPr/>
        </p:nvSpPr>
        <p:spPr>
          <a:xfrm>
            <a:off x="6991350" y="5819775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· 고찰</a:t>
            </a:r>
            <a:endParaRPr lang="en-US" sz="1100" dirty="0"/>
          </a:p>
        </p:txBody>
      </p:sp>
      <p:sp>
        <p:nvSpPr>
          <p:cNvPr id="64" name="Text 64"/>
          <p:cNvSpPr txBox="1"/>
          <p:nvPr/>
        </p:nvSpPr>
        <p:spPr>
          <a:xfrm>
            <a:off x="10648950" y="5438775"/>
            <a:ext cx="895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p.61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SR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 Oscillates When S and R Release Together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3340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47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 SR Latch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81250" y="2095500"/>
            <a:ext cx="1047750" cy="66675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381250" y="2095500"/>
            <a:ext cx="9715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381250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381250" y="4095750"/>
            <a:ext cx="1047750" cy="66675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381250" y="4095750"/>
            <a:ext cx="9715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4381500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57250" y="2143125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" y="2257425"/>
            <a:ext cx="1238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57250" y="4495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43000" y="4610100"/>
            <a:ext cx="1238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3524250" y="2428875"/>
            <a:ext cx="1524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43500" y="231457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524250" y="4429125"/>
            <a:ext cx="1524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43500" y="431482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Q̄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86250" y="2428875"/>
            <a:ext cx="0" cy="714375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 flipH="1">
            <a:off x="1905000" y="3143250"/>
            <a:ext cx="2381250" cy="5715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905000" y="3714750"/>
            <a:ext cx="0" cy="5524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905000" y="42672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 flipV="1">
            <a:off x="4286250" y="3810000"/>
            <a:ext cx="0" cy="619125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 flipH="1" flipV="1">
            <a:off x="1905000" y="3238500"/>
            <a:ext cx="2381250" cy="5715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1905000" y="2590800"/>
            <a:ext cx="0" cy="6477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905000" y="25908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85800" y="552450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· Q̄가 서로의 입력으로 되돌아감 → 값 유지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81700" y="12954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Truth Table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1700" y="1600200"/>
          <a:ext cx="5753100" cy="1809750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금지 (Q = Q̄)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5981700" y="3619500"/>
            <a:ext cx="5753100" cy="2628900"/>
          </a:xfrm>
          <a:prstGeom prst="roundRect">
            <a:avLst>
              <a:gd name="adj" fmla="val 2783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6210300" y="3771900"/>
            <a:ext cx="533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S = 11 → 00 동시 변경 시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210300" y="41910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· 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210300" y="47625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0300" y="53340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Q̄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239000" y="4191000"/>
            <a:ext cx="10001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8239125" y="4191000"/>
            <a:ext cx="0" cy="2286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8"/>
          <p:cNvSpPr/>
          <p:nvPr/>
        </p:nvSpPr>
        <p:spPr>
          <a:xfrm>
            <a:off x="8239125" y="4419600"/>
            <a:ext cx="326707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7239000" y="4991100"/>
            <a:ext cx="12001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84391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1"/>
          <p:cNvSpPr/>
          <p:nvPr/>
        </p:nvSpPr>
        <p:spPr>
          <a:xfrm>
            <a:off x="84391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89725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8972550" y="49911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5059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95059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6"/>
          <p:cNvSpPr/>
          <p:nvPr/>
        </p:nvSpPr>
        <p:spPr>
          <a:xfrm>
            <a:off x="100393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10039350" y="49911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105727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9"/>
          <p:cNvSpPr/>
          <p:nvPr/>
        </p:nvSpPr>
        <p:spPr>
          <a:xfrm>
            <a:off x="105727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0"/>
          <p:cNvSpPr/>
          <p:nvPr/>
        </p:nvSpPr>
        <p:spPr>
          <a:xfrm>
            <a:off x="111061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11106150" y="4991100"/>
            <a:ext cx="4000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7239000" y="5562600"/>
            <a:ext cx="12001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84391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4"/>
          <p:cNvSpPr/>
          <p:nvPr/>
        </p:nvSpPr>
        <p:spPr>
          <a:xfrm>
            <a:off x="84391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5"/>
          <p:cNvSpPr/>
          <p:nvPr/>
        </p:nvSpPr>
        <p:spPr>
          <a:xfrm>
            <a:off x="89725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8972550" y="55626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7"/>
          <p:cNvSpPr/>
          <p:nvPr/>
        </p:nvSpPr>
        <p:spPr>
          <a:xfrm>
            <a:off x="95059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95059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9"/>
          <p:cNvSpPr/>
          <p:nvPr/>
        </p:nvSpPr>
        <p:spPr>
          <a:xfrm>
            <a:off x="100393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0"/>
          <p:cNvSpPr/>
          <p:nvPr/>
        </p:nvSpPr>
        <p:spPr>
          <a:xfrm>
            <a:off x="10039350" y="55626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1"/>
          <p:cNvSpPr/>
          <p:nvPr/>
        </p:nvSpPr>
        <p:spPr>
          <a:xfrm>
            <a:off x="105727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2"/>
          <p:cNvSpPr/>
          <p:nvPr/>
        </p:nvSpPr>
        <p:spPr>
          <a:xfrm>
            <a:off x="105727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3"/>
          <p:cNvSpPr/>
          <p:nvPr/>
        </p:nvSpPr>
        <p:spPr>
          <a:xfrm>
            <a:off x="111061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4"/>
          <p:cNvSpPr/>
          <p:nvPr/>
        </p:nvSpPr>
        <p:spPr>
          <a:xfrm>
            <a:off x="11106150" y="5562600"/>
            <a:ext cx="4000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6210300" y="57721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NOR 동시 0 → 동시 1 → 동시 0 반복 = 발진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D Latch → Gated D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 Gate Restores Memory to the D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562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 D Latch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77165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 = D, R = D̄ → R S = 11 입력 불가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81250" y="2381250"/>
            <a:ext cx="1524000" cy="1428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381250" y="2381250"/>
            <a:ext cx="152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2000" y="253365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47750" y="2647950"/>
            <a:ext cx="1333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152650" y="241935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33500" y="2647950"/>
            <a:ext cx="0" cy="895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333500" y="35433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 rot="5400000">
            <a:off x="1619250" y="3409950"/>
            <a:ext cx="323850" cy="26670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43100" y="34956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038350" y="3543300"/>
            <a:ext cx="342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152650" y="33147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05250" y="2857500"/>
            <a:ext cx="762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743450" y="27432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191000"/>
          <a:ext cx="5105400" cy="9715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 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685800" y="53340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입력 (00) 없음 → Q = D 항상 따라감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메모리 기능 상실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172200" y="1295400"/>
            <a:ext cx="5562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6400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#4 Gated D Latch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00800" y="1771650"/>
            <a:ext cx="5143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 · R 앞에 AND + EN 추가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7620000" y="2286000"/>
            <a:ext cx="857250" cy="53340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7620000" y="2286000"/>
            <a:ext cx="7810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620000" y="3276600"/>
            <a:ext cx="857250" cy="53340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7620000" y="3276600"/>
            <a:ext cx="7810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048750" y="2286000"/>
            <a:ext cx="1333500" cy="152400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9048750" y="2286000"/>
            <a:ext cx="1333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477000" y="23241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743700" y="2438400"/>
            <a:ext cx="876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6477000" y="285750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858000" y="29718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 flipV="1">
            <a:off x="7334250" y="2667000"/>
            <a:ext cx="0" cy="3048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7334250" y="2667000"/>
            <a:ext cx="2857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7334250" y="2971800"/>
            <a:ext cx="0" cy="4572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8"/>
          <p:cNvSpPr/>
          <p:nvPr/>
        </p:nvSpPr>
        <p:spPr>
          <a:xfrm>
            <a:off x="7334250" y="3429000"/>
            <a:ext cx="2857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7048500" y="2438400"/>
            <a:ext cx="0" cy="123825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7048500" y="3676650"/>
            <a:ext cx="5715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7086600" y="3695700"/>
            <a:ext cx="476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D̄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477250" y="25527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8477250" y="35433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10382250" y="28575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11010900" y="27432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191000"/>
          <a:ext cx="5105400" cy="9715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 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6400800" y="53340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= 0 → S = R = 0 → HOLD 복구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= 1 동안 D 변화 전부 통과 (level 동작)</a:t>
            </a:r>
            <a:endParaRPr lang="en-US" sz="1400" dirty="0"/>
          </a:p>
        </p:txBody>
      </p:sp>
      <p:sp>
        <p:nvSpPr>
          <p:cNvPr id="51" name="Text 4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Master-Slave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Gated Latches Capture D at the Rising Edge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112776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 (Master)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57150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(Slave)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476500" y="4248150"/>
            <a:ext cx="209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572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5720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56197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619750" y="42481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6675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66675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152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15250" y="42481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8763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87630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8107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810750" y="4248150"/>
            <a:ext cx="14668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2476500" y="48196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52425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3524250" y="4572000"/>
            <a:ext cx="15716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095875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095875" y="48196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143625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143625" y="4572000"/>
            <a:ext cx="11525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29615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296150" y="4819650"/>
            <a:ext cx="39814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476500" y="5391150"/>
            <a:ext cx="11525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629025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629025" y="5143500"/>
            <a:ext cx="19907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561975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619750" y="5391150"/>
            <a:ext cx="58674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620649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6206490" y="5143500"/>
            <a:ext cx="150876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71525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15250" y="5391150"/>
            <a:ext cx="35623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2476500" y="5962650"/>
            <a:ext cx="215836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4634865" y="5715000"/>
            <a:ext cx="0" cy="2476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634865" y="5715000"/>
            <a:ext cx="4191000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825865" y="5715000"/>
            <a:ext cx="0" cy="2476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8825865" y="5962650"/>
            <a:ext cx="245173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45720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6675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87630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4572000" y="5105400"/>
            <a:ext cx="1047750" cy="323850"/>
          </a:xfrm>
          <a:prstGeom prst="rect">
            <a:avLst/>
          </a:prstGeom>
          <a:solidFill>
            <a:srgbClr val="FDECEC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/>
          <p:nvPr/>
        </p:nvSpPr>
        <p:spPr>
          <a:xfrm>
            <a:off x="4610100" y="487680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= 1 → Master HOLD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2514600" y="48768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= 0 → Master 투명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76775" y="60007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순간의 D만 Q로 전달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정의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Must Stay Still Around the Clock Edge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3143250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80975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76225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76500" y="2095500"/>
            <a:ext cx="3810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286500" y="18097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86500" y="1809750"/>
            <a:ext cx="3048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334500" y="18097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334500" y="2095500"/>
            <a:ext cx="1981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67300" y="1619250"/>
            <a:ext cx="2133600" cy="1619250"/>
          </a:xfrm>
          <a:prstGeom prst="rect">
            <a:avLst/>
          </a:prstGeom>
          <a:solidFill>
            <a:srgbClr val="E0E7FF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476500" y="3048000"/>
            <a:ext cx="1371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848100" y="27622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848100" y="2762250"/>
            <a:ext cx="7467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286500" y="1524000"/>
            <a:ext cx="0" cy="1905000"/>
          </a:xfrm>
          <a:prstGeom prst="line">
            <a:avLst/>
          </a:prstGeom>
          <a:noFill/>
          <a:ln w="2222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 flipH="1">
            <a:off x="5067300" y="3524250"/>
            <a:ext cx="1219200" cy="0"/>
          </a:xfrm>
          <a:prstGeom prst="line">
            <a:avLst/>
          </a:prstGeom>
          <a:noFill/>
          <a:ln w="22225">
            <a:solidFill>
              <a:srgbClr val="4F46E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67300" y="358140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t_setup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86500" y="3524250"/>
            <a:ext cx="914400" cy="0"/>
          </a:xfrm>
          <a:prstGeom prst="line">
            <a:avLst/>
          </a:prstGeom>
          <a:noFill/>
          <a:ln w="22225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286500" y="3581400"/>
            <a:ext cx="914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t_hold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67300" y="3924300"/>
            <a:ext cx="2133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변경 금지 구간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이전 D 유지 시간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26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45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45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이후 D 유지 시간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7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26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26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Latch 출력 0 / 1 미결정 = Metastability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Setup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 Lets the Master Settle Before It Closes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E3F0FD"/>
          </a:solidFill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72390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095500" y="4248150"/>
            <a:ext cx="4191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2865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286500" y="4000500"/>
            <a:ext cx="1257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095500" y="4819650"/>
            <a:ext cx="16764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377190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3771900" y="4572000"/>
            <a:ext cx="3771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2095500" y="5391150"/>
            <a:ext cx="3248025" cy="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343525" y="5143500"/>
            <a:ext cx="0" cy="2476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343525" y="5143500"/>
            <a:ext cx="2200275" cy="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286500" y="3905250"/>
            <a:ext cx="0" cy="1619250"/>
          </a:xfrm>
          <a:prstGeom prst="line">
            <a:avLst/>
          </a:prstGeom>
          <a:noFill/>
          <a:ln w="1905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771900" y="5619750"/>
            <a:ext cx="15716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3771900" y="5676900"/>
            <a:ext cx="1571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내부 전파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 flipH="1">
            <a:off x="3771900" y="5886450"/>
            <a:ext cx="2514600" cy="0"/>
          </a:xfrm>
          <a:prstGeom prst="line">
            <a:avLst/>
          </a:prstGeom>
          <a:noFill/>
          <a:ln w="22225">
            <a:solidFill>
              <a:srgbClr val="4F46E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3771900" y="5943600"/>
            <a:ext cx="2514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t_setup 이상 확보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848600" y="3810000"/>
            <a:ext cx="3886200" cy="2438400"/>
          </a:xfrm>
          <a:prstGeom prst="roundRect">
            <a:avLst>
              <a:gd name="adj" fmla="val 3000"/>
            </a:avLst>
          </a:prstGeom>
          <a:solidFill>
            <a:srgbClr val="E3F0FD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8058150" y="4000500"/>
            <a:ext cx="3524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→ Master gate → feedback loop 안정까지 delay 존재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= Master EN 차단 시점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전 loop 미안정 → Q' 중간 전압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 ≥ Master 내부 전파 delay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61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Hold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 Covers the Late Closing of the Master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72390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095500" y="4248150"/>
            <a:ext cx="209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4191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191000" y="4000500"/>
            <a:ext cx="33528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095500" y="4572000"/>
            <a:ext cx="29337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5029200" y="4572000"/>
            <a:ext cx="0" cy="2476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029200" y="4819650"/>
            <a:ext cx="25146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2095500" y="5391150"/>
            <a:ext cx="2514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4610100" y="5143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4610100" y="5143500"/>
            <a:ext cx="29337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191000" y="3905250"/>
            <a:ext cx="838200" cy="1581150"/>
          </a:xfrm>
          <a:prstGeom prst="rect">
            <a:avLst/>
          </a:prstGeom>
          <a:solidFill>
            <a:srgbClr val="FDECEC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191000" y="3905250"/>
            <a:ext cx="0" cy="1619250"/>
          </a:xfrm>
          <a:prstGeom prst="line">
            <a:avLst/>
          </a:prstGeom>
          <a:noFill/>
          <a:ln w="1905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191000" y="5657850"/>
            <a:ext cx="8382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3810000" y="5715000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 delay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8750" y="42672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Master 아직 열림 → D 유입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48600" y="3810000"/>
            <a:ext cx="3886200" cy="2438400"/>
          </a:xfrm>
          <a:prstGeom prst="roundRect">
            <a:avLst>
              <a:gd name="adj" fmla="val 300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8058150" y="4000500"/>
            <a:ext cx="3524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EN = clk̄ → inverter 통과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상승 후 inverter delay 동안 Master 열림 유지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구간 D 변경 → 새 값이 Q'로 유입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 ≥ clk̄ 지연 − D 경로 delay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 (delay 0) 조건일 경우 Hold = 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61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해결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Slack Sets the Clock Limit, Synchronizer Guards Async Inputs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28750"/>
            <a:ext cx="3657600" cy="5715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조건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T_clk ≥ T_cq + T_comb(max) + T_setup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Slack (margin) = T_clk − (T_cq + T_comb + T_setup)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Negative Slack → 조합 경로 분할 (pipeline) 또는 클럭 감소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6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267200" y="1428750"/>
            <a:ext cx="3657600" cy="5715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7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조건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47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T_cq + T_comb(min) ≥ T_hold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주파수와 무관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위반 → 짧은 경로에 delay 추가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77200" y="1428750"/>
            <a:ext cx="3657600" cy="5715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8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8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· 외부 신호 = 클럭과 무관한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· Hold 위반 피할 수 없음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Synchronizer로 metastability 확률 감소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61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CDC · 정의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CDC Path Has No Guaranteed Setup and Hold Margin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66675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685800" y="1600200"/>
            <a:ext cx="2857500" cy="1238250"/>
          </a:xfrm>
          <a:prstGeom prst="roundRect">
            <a:avLst>
              <a:gd name="adj" fmla="val 615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80010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 도메인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000500" y="1600200"/>
            <a:ext cx="2895600" cy="1238250"/>
          </a:xfrm>
          <a:prstGeom prst="roundRect">
            <a:avLst>
              <a:gd name="adj" fmla="val 615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11480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도메인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1866900" y="190500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4"/>
          <p:cNvSpPr txBox="1"/>
          <p:nvPr/>
        </p:nvSpPr>
        <p:spPr>
          <a:xfrm>
            <a:off x="1866900" y="190500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FF_A</a:t>
            </a:r>
            <a:endParaRPr lang="en-US" sz="1300" dirty="0"/>
          </a:p>
        </p:txBody>
      </p:sp>
      <p:sp>
        <p:nvSpPr>
          <p:cNvPr id="15" name="Shape 15"/>
          <p:cNvSpPr/>
          <p:nvPr/>
        </p:nvSpPr>
        <p:spPr>
          <a:xfrm>
            <a:off x="5143500" y="190500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5143500" y="190500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FF_B</a:t>
            </a:r>
            <a:endParaRPr lang="en-US" sz="1300" dirty="0"/>
          </a:p>
        </p:txBody>
      </p:sp>
      <p:cxnSp>
        <p:nvCxnSpPr>
          <p:cNvPr id="17" name="Line 17"/>
          <p:cNvCxnSpPr/>
          <p:nvPr/>
        </p:nvCxnSpPr>
        <p:spPr>
          <a:xfrm>
            <a:off x="2628900" y="2247900"/>
            <a:ext cx="25146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18" name="Text 18"/>
          <p:cNvSpPr txBox="1"/>
          <p:nvPr/>
        </p:nvSpPr>
        <p:spPr>
          <a:xfrm>
            <a:off x="2724150" y="2038350"/>
            <a:ext cx="857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data_a</a:t>
            </a:r>
            <a:endParaRPr lang="en-US" sz="1100" dirty="0"/>
          </a:p>
        </p:txBody>
      </p:sp>
      <p:cxnSp>
        <p:nvCxnSpPr>
          <p:cNvPr id="19" name="Line 19"/>
          <p:cNvCxnSpPr/>
          <p:nvPr/>
        </p:nvCxnSpPr>
        <p:spPr>
          <a:xfrm>
            <a:off x="5905500" y="2247900"/>
            <a:ext cx="8001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0" name="Text 20"/>
          <p:cNvSpPr txBox="1"/>
          <p:nvPr/>
        </p:nvSpPr>
        <p:spPr>
          <a:xfrm>
            <a:off x="6096000" y="203835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q_b</a:t>
            </a:r>
            <a:endParaRPr lang="en-US" sz="1100" dirty="0"/>
          </a:p>
        </p:txBody>
      </p:sp>
      <p:cxnSp>
        <p:nvCxnSpPr>
          <p:cNvPr id="21" name="Line 21"/>
          <p:cNvCxnSpPr/>
          <p:nvPr/>
        </p:nvCxnSpPr>
        <p:spPr>
          <a:xfrm flipV="1">
            <a:off x="2247900" y="2590800"/>
            <a:ext cx="0" cy="171450"/>
          </a:xfrm>
          <a:prstGeom prst="line">
            <a:avLst/>
          </a:prstGeom>
          <a:ln w="19050">
            <a:solidFill>
              <a:srgbClr val="1D4ED8"/>
            </a:solidFill>
            <a:prstDash val="solid"/>
            <a:tailEnd type="triangle"/>
          </a:ln>
        </p:spPr>
      </p:cxnSp>
      <p:sp>
        <p:nvSpPr>
          <p:cNvPr id="22" name="Text 22"/>
          <p:cNvSpPr txBox="1"/>
          <p:nvPr/>
        </p:nvSpPr>
        <p:spPr>
          <a:xfrm>
            <a:off x="2324100" y="2609850"/>
            <a:ext cx="666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000" dirty="0"/>
          </a:p>
        </p:txBody>
      </p:sp>
      <p:cxnSp>
        <p:nvCxnSpPr>
          <p:cNvPr id="23" name="Line 23"/>
          <p:cNvCxnSpPr/>
          <p:nvPr/>
        </p:nvCxnSpPr>
        <p:spPr>
          <a:xfrm flipV="1">
            <a:off x="5524500" y="2590800"/>
            <a:ext cx="0" cy="17145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sp>
        <p:nvSpPr>
          <p:cNvPr id="24" name="Text 24"/>
          <p:cNvSpPr txBox="1"/>
          <p:nvPr/>
        </p:nvSpPr>
        <p:spPr>
          <a:xfrm>
            <a:off x="5600700" y="2609850"/>
            <a:ext cx="666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000" dirty="0"/>
          </a:p>
        </p:txBody>
      </p:sp>
      <p:cxnSp>
        <p:nvCxnSpPr>
          <p:cNvPr id="25" name="Line 25"/>
          <p:cNvCxnSpPr/>
          <p:nvPr/>
        </p:nvCxnSpPr>
        <p:spPr>
          <a:xfrm>
            <a:off x="3771900" y="1676400"/>
            <a:ext cx="0" cy="1238250"/>
          </a:xfrm>
          <a:prstGeom prst="line">
            <a:avLst/>
          </a:prstGeom>
          <a:ln w="22225">
            <a:solidFill>
              <a:srgbClr val="DC2626"/>
            </a:solidFill>
            <a:prstDash val="dash"/>
          </a:ln>
        </p:spPr>
      </p:cxnSp>
      <p:sp>
        <p:nvSpPr>
          <p:cNvPr id="26" name="Text 26"/>
          <p:cNvSpPr txBox="1"/>
          <p:nvPr/>
        </p:nvSpPr>
        <p:spPr>
          <a:xfrm>
            <a:off x="3486150" y="15049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CDC</a:t>
            </a:r>
            <a:endParaRPr lang="en-US" sz="1100" dirty="0"/>
          </a:p>
        </p:txBody>
      </p:sp>
      <p:sp>
        <p:nvSpPr>
          <p:cNvPr id="27" name="Shape 27"/>
          <p:cNvSpPr/>
          <p:nvPr/>
        </p:nvSpPr>
        <p:spPr>
          <a:xfrm>
            <a:off x="4114800" y="3143250"/>
            <a:ext cx="266700" cy="177165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685800" y="3238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685800" y="37147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data_a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685800" y="41910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200" dirty="0"/>
          </a:p>
        </p:txBody>
      </p:sp>
      <p:sp>
        <p:nvSpPr>
          <p:cNvPr id="31" name="Text 31"/>
          <p:cNvSpPr txBox="1"/>
          <p:nvPr/>
        </p:nvSpPr>
        <p:spPr>
          <a:xfrm>
            <a:off x="685800" y="46672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q_b</a:t>
            </a:r>
            <a:endParaRPr lang="en-US" sz="1200" dirty="0"/>
          </a:p>
        </p:txBody>
      </p:sp>
      <p:sp>
        <p:nvSpPr>
          <p:cNvPr id="32" name="Path 32"/>
          <p:cNvSpPr/>
          <p:nvPr/>
        </p:nvSpPr>
        <p:spPr>
          <a:xfrm>
            <a:off x="1714500" y="323850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190500"/>
                </a:moveTo>
                <a:lnTo>
                  <a:pt x="95250" y="190500"/>
                </a:lnTo>
                <a:lnTo>
                  <a:pt x="95250" y="0"/>
                </a:lnTo>
                <a:lnTo>
                  <a:pt x="381000" y="0"/>
                </a:lnTo>
                <a:lnTo>
                  <a:pt x="381000" y="190500"/>
                </a:lnTo>
                <a:lnTo>
                  <a:pt x="666750" y="190500"/>
                </a:lnTo>
                <a:lnTo>
                  <a:pt x="666750" y="0"/>
                </a:lnTo>
                <a:lnTo>
                  <a:pt x="952500" y="0"/>
                </a:lnTo>
                <a:lnTo>
                  <a:pt x="952500" y="190500"/>
                </a:lnTo>
                <a:lnTo>
                  <a:pt x="1238250" y="190500"/>
                </a:lnTo>
                <a:lnTo>
                  <a:pt x="1238250" y="0"/>
                </a:lnTo>
                <a:lnTo>
                  <a:pt x="1524000" y="0"/>
                </a:lnTo>
                <a:lnTo>
                  <a:pt x="1524000" y="190500"/>
                </a:lnTo>
                <a:lnTo>
                  <a:pt x="1809750" y="190500"/>
                </a:lnTo>
                <a:lnTo>
                  <a:pt x="1809750" y="0"/>
                </a:lnTo>
                <a:lnTo>
                  <a:pt x="2095500" y="0"/>
                </a:lnTo>
                <a:lnTo>
                  <a:pt x="2095500" y="190500"/>
                </a:lnTo>
                <a:lnTo>
                  <a:pt x="2381250" y="190500"/>
                </a:lnTo>
                <a:lnTo>
                  <a:pt x="2381250" y="0"/>
                </a:lnTo>
                <a:lnTo>
                  <a:pt x="2667000" y="0"/>
                </a:lnTo>
                <a:lnTo>
                  <a:pt x="2667000" y="190500"/>
                </a:lnTo>
                <a:lnTo>
                  <a:pt x="2952750" y="190500"/>
                </a:lnTo>
                <a:lnTo>
                  <a:pt x="2952750" y="0"/>
                </a:lnTo>
                <a:lnTo>
                  <a:pt x="3238500" y="0"/>
                </a:lnTo>
                <a:lnTo>
                  <a:pt x="3238500" y="190500"/>
                </a:lnTo>
                <a:lnTo>
                  <a:pt x="3524250" y="190500"/>
                </a:lnTo>
                <a:lnTo>
                  <a:pt x="3524250" y="0"/>
                </a:lnTo>
                <a:lnTo>
                  <a:pt x="3810000" y="0"/>
                </a:lnTo>
                <a:lnTo>
                  <a:pt x="3810000" y="190500"/>
                </a:lnTo>
                <a:lnTo>
                  <a:pt x="4095750" y="190500"/>
                </a:lnTo>
                <a:lnTo>
                  <a:pt x="4095750" y="0"/>
                </a:lnTo>
                <a:lnTo>
                  <a:pt x="4381500" y="0"/>
                </a:lnTo>
                <a:lnTo>
                  <a:pt x="4381500" y="190500"/>
                </a:lnTo>
                <a:lnTo>
                  <a:pt x="4667250" y="190500"/>
                </a:lnTo>
                <a:lnTo>
                  <a:pt x="4667250" y="0"/>
                </a:lnTo>
                <a:lnTo>
                  <a:pt x="4953000" y="0"/>
                </a:lnTo>
                <a:lnTo>
                  <a:pt x="4953000" y="190500"/>
                </a:lnTo>
                <a:lnTo>
                  <a:pt x="5143500" y="190500"/>
                </a:lnTo>
              </a:path>
            </a:pathLst>
          </a:custGeom>
          <a:noFill/>
          <a:ln w="19050">
            <a:solidFill>
              <a:srgbClr val="1D4ED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Path 33"/>
          <p:cNvSpPr/>
          <p:nvPr/>
        </p:nvSpPr>
        <p:spPr>
          <a:xfrm>
            <a:off x="1714500" y="371475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190500"/>
                </a:moveTo>
                <a:lnTo>
                  <a:pt x="2419350" y="190500"/>
                </a:lnTo>
                <a:lnTo>
                  <a:pt x="2419350" y="0"/>
                </a:lnTo>
                <a:lnTo>
                  <a:pt x="514350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Path 34"/>
          <p:cNvSpPr/>
          <p:nvPr/>
        </p:nvSpPr>
        <p:spPr>
          <a:xfrm>
            <a:off x="1714500" y="419100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0"/>
                </a:moveTo>
                <a:lnTo>
                  <a:pt x="390525" y="0"/>
                </a:lnTo>
                <a:lnTo>
                  <a:pt x="390525" y="190500"/>
                </a:lnTo>
                <a:lnTo>
                  <a:pt x="819150" y="190500"/>
                </a:lnTo>
                <a:lnTo>
                  <a:pt x="819150" y="0"/>
                </a:lnTo>
                <a:lnTo>
                  <a:pt x="1247775" y="0"/>
                </a:lnTo>
                <a:lnTo>
                  <a:pt x="1247775" y="190500"/>
                </a:lnTo>
                <a:lnTo>
                  <a:pt x="1676400" y="190500"/>
                </a:lnTo>
                <a:lnTo>
                  <a:pt x="1676400" y="0"/>
                </a:lnTo>
                <a:lnTo>
                  <a:pt x="2105025" y="0"/>
                </a:lnTo>
                <a:lnTo>
                  <a:pt x="2105025" y="190500"/>
                </a:lnTo>
                <a:lnTo>
                  <a:pt x="2533650" y="190500"/>
                </a:lnTo>
                <a:lnTo>
                  <a:pt x="2533650" y="0"/>
                </a:lnTo>
                <a:lnTo>
                  <a:pt x="2962275" y="0"/>
                </a:lnTo>
                <a:lnTo>
                  <a:pt x="2962275" y="190500"/>
                </a:lnTo>
                <a:lnTo>
                  <a:pt x="3390900" y="190500"/>
                </a:lnTo>
                <a:lnTo>
                  <a:pt x="3390900" y="0"/>
                </a:lnTo>
                <a:lnTo>
                  <a:pt x="3819525" y="0"/>
                </a:lnTo>
                <a:lnTo>
                  <a:pt x="3819525" y="190500"/>
                </a:lnTo>
                <a:lnTo>
                  <a:pt x="4248150" y="190500"/>
                </a:lnTo>
                <a:lnTo>
                  <a:pt x="4248150" y="0"/>
                </a:lnTo>
                <a:lnTo>
                  <a:pt x="4676775" y="0"/>
                </a:lnTo>
                <a:lnTo>
                  <a:pt x="4676775" y="190500"/>
                </a:lnTo>
                <a:lnTo>
                  <a:pt x="5105400" y="190500"/>
                </a:lnTo>
                <a:lnTo>
                  <a:pt x="5105400" y="0"/>
                </a:lnTo>
                <a:lnTo>
                  <a:pt x="5143500" y="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Path 35"/>
          <p:cNvSpPr/>
          <p:nvPr/>
        </p:nvSpPr>
        <p:spPr>
          <a:xfrm>
            <a:off x="1714500" y="4857750"/>
            <a:ext cx="2533650" cy="9525"/>
          </a:xfrm>
          <a:custGeom>
            <a:avLst/>
            <a:gdLst/>
            <a:ahLst/>
            <a:cxnLst/>
            <a:rect l="0" t="0" r="r" b="b"/>
            <a:pathLst>
              <a:path w="2533650" h="9525" fill="none">
                <a:moveTo>
                  <a:pt x="0" y="0"/>
                </a:moveTo>
                <a:lnTo>
                  <a:pt x="25336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6"/>
          <p:cNvSpPr/>
          <p:nvPr/>
        </p:nvSpPr>
        <p:spPr>
          <a:xfrm>
            <a:off x="4248150" y="4667250"/>
            <a:ext cx="857250" cy="190500"/>
          </a:xfrm>
          <a:prstGeom prst="rect">
            <a:avLst/>
          </a:prstGeom>
          <a:solidFill>
            <a:srgbClr val="FDE68A"/>
          </a:solidFill>
          <a:ln w="158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4248150" y="4667250"/>
            <a:ext cx="85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미결정</a:t>
            </a:r>
            <a:endParaRPr lang="en-US" sz="900" dirty="0"/>
          </a:p>
        </p:txBody>
      </p:sp>
      <p:sp>
        <p:nvSpPr>
          <p:cNvPr id="38" name="Path 38"/>
          <p:cNvSpPr/>
          <p:nvPr/>
        </p:nvSpPr>
        <p:spPr>
          <a:xfrm>
            <a:off x="5105400" y="4667250"/>
            <a:ext cx="1752600" cy="9525"/>
          </a:xfrm>
          <a:custGeom>
            <a:avLst/>
            <a:gdLst/>
            <a:ahLst/>
            <a:cxnLst/>
            <a:rect l="0" t="0" r="r" b="b"/>
            <a:pathLst>
              <a:path w="1752600" h="9525" fill="none">
                <a:moveTo>
                  <a:pt x="0" y="0"/>
                </a:moveTo>
                <a:lnTo>
                  <a:pt x="175260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3486150" y="499110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· hold window</a:t>
            </a:r>
            <a:endParaRPr lang="en-US" sz="1000" dirty="0"/>
          </a:p>
        </p:txBody>
      </p:sp>
      <p:sp>
        <p:nvSpPr>
          <p:cNvPr id="40" name="Shape 40"/>
          <p:cNvSpPr/>
          <p:nvPr/>
        </p:nvSpPr>
        <p:spPr>
          <a:xfrm>
            <a:off x="1714500" y="5619750"/>
            <a:ext cx="247650" cy="13335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2019300" y="55816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setup · hold window</a:t>
            </a:r>
            <a:endParaRPr lang="en-US" sz="1100" dirty="0"/>
          </a:p>
        </p:txBody>
      </p:sp>
      <p:sp>
        <p:nvSpPr>
          <p:cNvPr id="42" name="Shape 42"/>
          <p:cNvSpPr/>
          <p:nvPr/>
        </p:nvSpPr>
        <p:spPr>
          <a:xfrm>
            <a:off x="4000500" y="5619750"/>
            <a:ext cx="247650" cy="133350"/>
          </a:xfrm>
          <a:prstGeom prst="rect">
            <a:avLst/>
          </a:prstGeom>
          <a:solidFill>
            <a:srgbClr val="FDE68A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4305300" y="55816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metastable 구간</a:t>
            </a:r>
            <a:endParaRPr lang="en-US" sz="1100" dirty="0"/>
          </a:p>
        </p:txBody>
      </p:sp>
      <p:sp>
        <p:nvSpPr>
          <p:cNvPr id="44" name="Shape 44"/>
          <p:cNvSpPr/>
          <p:nvPr/>
        </p:nvSpPr>
        <p:spPr>
          <a:xfrm>
            <a:off x="7277100" y="1295400"/>
            <a:ext cx="4457700" cy="4953000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7505700" y="1485900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</a:t>
            </a:r>
            <a:endParaRPr lang="en-US" sz="1400" dirty="0"/>
          </a:p>
        </p:txBody>
      </p:sp>
      <p:sp>
        <p:nvSpPr>
          <p:cNvPr id="46" name="Text 46"/>
          <p:cNvSpPr txBox="1"/>
          <p:nvPr/>
        </p:nvSpPr>
        <p:spPr>
          <a:xfrm>
            <a:off x="7505700" y="17716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CDC (Clock Domain Crossing) = 서로 다른 클럭으로 동작하는 FF 사이의 신호 전달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송신 FF = clk_A, 수신 FF = clk_B</a:t>
            </a:r>
            <a:endParaRPr lang="en-US" sz="1200" dirty="0"/>
          </a:p>
        </p:txBody>
      </p:sp>
      <p:sp>
        <p:nvSpPr>
          <p:cNvPr id="47" name="Text 47"/>
          <p:cNvSpPr txBox="1"/>
          <p:nvPr/>
        </p:nvSpPr>
        <p:spPr>
          <a:xfrm>
            <a:off x="7505700" y="2971800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</a:t>
            </a:r>
            <a:endParaRPr lang="en-US" sz="1400" dirty="0"/>
          </a:p>
        </p:txBody>
      </p:sp>
      <p:sp>
        <p:nvSpPr>
          <p:cNvPr id="48" name="Text 48"/>
          <p:cNvSpPr txBox="1"/>
          <p:nvPr/>
        </p:nvSpPr>
        <p:spPr>
          <a:xfrm>
            <a:off x="7505700" y="32575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 · clk_B 위상 관계 고정 불가 (비동기 · 주파수 상이)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data_a 변경 시점이 clk_B setup · hold window와 겹칠 확률 항상 존재</a:t>
            </a:r>
            <a:endParaRPr lang="en-US" sz="1200" dirty="0"/>
          </a:p>
        </p:txBody>
      </p:sp>
      <p:sp>
        <p:nvSpPr>
          <p:cNvPr id="49" name="Text 49"/>
          <p:cNvSpPr txBox="1"/>
          <p:nvPr/>
        </p:nvSpPr>
        <p:spPr>
          <a:xfrm>
            <a:off x="7505700" y="4457700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치명적인 이유</a:t>
            </a:r>
            <a:endParaRPr lang="en-US" sz="1400" dirty="0"/>
          </a:p>
        </p:txBody>
      </p:sp>
      <p:sp>
        <p:nvSpPr>
          <p:cNvPr id="50" name="Text 50"/>
          <p:cNvSpPr txBox="1"/>
          <p:nvPr/>
        </p:nvSpPr>
        <p:spPr>
          <a:xfrm>
            <a:off x="7505700" y="47434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클럭 간 경로 → STA로 Setup · Hold 보장 불가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metastable 값 → fan-out 로직마다 0 / 1 다르게 해석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 시뮬레이션에 metastability 없음 → 보드에서만 간헐적 오동작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CDC · 문제 유형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CDC Fails as Metastability, Data Loss or Incoherence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2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Metastability</a:t>
            </a:r>
            <a:endParaRPr lang="en-US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628650" y="171450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Single-bit · 모든 CDC 경로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2552700" y="2057400"/>
            <a:ext cx="228600" cy="123825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628650" y="21526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100" dirty="0"/>
          </a:p>
        </p:txBody>
      </p:sp>
      <p:sp>
        <p:nvSpPr>
          <p:cNvPr id="13" name="Text 13"/>
          <p:cNvSpPr txBox="1"/>
          <p:nvPr/>
        </p:nvSpPr>
        <p:spPr>
          <a:xfrm>
            <a:off x="628650" y="26289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28650" y="31051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100" dirty="0"/>
          </a:p>
        </p:txBody>
      </p:sp>
      <p:sp>
        <p:nvSpPr>
          <p:cNvPr id="15" name="Path 15"/>
          <p:cNvSpPr/>
          <p:nvPr/>
        </p:nvSpPr>
        <p:spPr>
          <a:xfrm>
            <a:off x="1371600" y="2152650"/>
            <a:ext cx="2571750" cy="190500"/>
          </a:xfrm>
          <a:custGeom>
            <a:avLst/>
            <a:gdLst/>
            <a:ahLst/>
            <a:cxnLst/>
            <a:rect l="0" t="0" r="r" b="b"/>
            <a:pathLst>
              <a:path w="2571750" h="190500" fill="none">
                <a:moveTo>
                  <a:pt x="0" y="190500"/>
                </a:moveTo>
                <a:lnTo>
                  <a:pt x="381000" y="190500"/>
                </a:lnTo>
                <a:lnTo>
                  <a:pt x="381000" y="0"/>
                </a:lnTo>
                <a:lnTo>
                  <a:pt x="828675" y="0"/>
                </a:lnTo>
                <a:lnTo>
                  <a:pt x="828675" y="190500"/>
                </a:lnTo>
                <a:lnTo>
                  <a:pt x="1276350" y="190500"/>
                </a:lnTo>
                <a:lnTo>
                  <a:pt x="1276350" y="0"/>
                </a:lnTo>
                <a:lnTo>
                  <a:pt x="1724025" y="0"/>
                </a:lnTo>
                <a:lnTo>
                  <a:pt x="1724025" y="190500"/>
                </a:lnTo>
                <a:lnTo>
                  <a:pt x="2171700" y="190500"/>
                </a:lnTo>
                <a:lnTo>
                  <a:pt x="2171700" y="0"/>
                </a:lnTo>
                <a:lnTo>
                  <a:pt x="2571750" y="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Path 16"/>
          <p:cNvSpPr/>
          <p:nvPr/>
        </p:nvSpPr>
        <p:spPr>
          <a:xfrm>
            <a:off x="1371600" y="2628900"/>
            <a:ext cx="2571750" cy="190500"/>
          </a:xfrm>
          <a:custGeom>
            <a:avLst/>
            <a:gdLst/>
            <a:ahLst/>
            <a:cxnLst/>
            <a:rect l="0" t="0" r="r" b="b"/>
            <a:pathLst>
              <a:path w="2571750" h="190500" fill="none">
                <a:moveTo>
                  <a:pt x="0" y="190500"/>
                </a:moveTo>
                <a:lnTo>
                  <a:pt x="1314450" y="190500"/>
                </a:lnTo>
                <a:lnTo>
                  <a:pt x="1314450" y="0"/>
                </a:lnTo>
                <a:lnTo>
                  <a:pt x="2571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Path 17"/>
          <p:cNvSpPr/>
          <p:nvPr/>
        </p:nvSpPr>
        <p:spPr>
          <a:xfrm>
            <a:off x="1371600" y="3295650"/>
            <a:ext cx="1276350" cy="9525"/>
          </a:xfrm>
          <a:custGeom>
            <a:avLst/>
            <a:gdLst/>
            <a:ahLst/>
            <a:cxnLst/>
            <a:rect l="0" t="0" r="r" b="b"/>
            <a:pathLst>
              <a:path w="1276350" h="9525" fill="none">
                <a:moveTo>
                  <a:pt x="0" y="0"/>
                </a:moveTo>
                <a:lnTo>
                  <a:pt x="12763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8"/>
          <p:cNvSpPr/>
          <p:nvPr/>
        </p:nvSpPr>
        <p:spPr>
          <a:xfrm>
            <a:off x="2647950" y="3105150"/>
            <a:ext cx="895350" cy="190500"/>
          </a:xfrm>
          <a:prstGeom prst="rect">
            <a:avLst/>
          </a:prstGeom>
          <a:solidFill>
            <a:srgbClr val="FDE68A"/>
          </a:solidFill>
          <a:ln w="158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2647950" y="310515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미결정</a:t>
            </a:r>
            <a:endParaRPr lang="en-US" sz="900" dirty="0"/>
          </a:p>
        </p:txBody>
      </p:sp>
      <p:sp>
        <p:nvSpPr>
          <p:cNvPr id="20" name="Path 20"/>
          <p:cNvSpPr/>
          <p:nvPr/>
        </p:nvSpPr>
        <p:spPr>
          <a:xfrm>
            <a:off x="3543300" y="3105150"/>
            <a:ext cx="400050" cy="9525"/>
          </a:xfrm>
          <a:custGeom>
            <a:avLst/>
            <a:gdLst/>
            <a:ahLst/>
            <a:cxnLst/>
            <a:rect l="0" t="0" r="r" b="b"/>
            <a:pathLst>
              <a:path w="400050" h="9525" fill="none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628650" y="3771900"/>
            <a:ext cx="333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변경 = clk_B setup · hold window 안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출력이 일정 시간 0 / 1 미결정 후 임의 값 확정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628650" y="5600700"/>
            <a:ext cx="3314700" cy="419100"/>
          </a:xfrm>
          <a:prstGeom prst="roundRect">
            <a:avLst>
              <a:gd name="adj" fmla="val 13636"/>
            </a:avLst>
          </a:prstGeom>
          <a:solidFill>
            <a:srgbClr val="F7FEE7"/>
          </a:solidFill>
          <a:ln w="15875">
            <a:solidFill>
              <a:srgbClr val="4D7C0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628650" y="5600700"/>
            <a:ext cx="3314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→ 2-FF Synchronizer</a:t>
            </a:r>
            <a:endParaRPr lang="en-US" sz="1100" dirty="0"/>
          </a:p>
        </p:txBody>
      </p:sp>
      <p:sp>
        <p:nvSpPr>
          <p:cNvPr id="24" name="Shape 24"/>
          <p:cNvSpPr/>
          <p:nvPr/>
        </p:nvSpPr>
        <p:spPr>
          <a:xfrm>
            <a:off x="426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443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Data Loss</a:t>
            </a:r>
            <a:endParaRPr lang="en-US" sz="1600" dirty="0"/>
          </a:p>
        </p:txBody>
      </p:sp>
      <p:sp>
        <p:nvSpPr>
          <p:cNvPr id="26" name="Text 26"/>
          <p:cNvSpPr txBox="1"/>
          <p:nvPr/>
        </p:nvSpPr>
        <p:spPr>
          <a:xfrm>
            <a:off x="4438650" y="171450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Single-bit pulse · fast → slow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4438650" y="2095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100" dirty="0"/>
          </a:p>
        </p:txBody>
      </p:sp>
      <p:sp>
        <p:nvSpPr>
          <p:cNvPr id="28" name="Text 28"/>
          <p:cNvSpPr txBox="1"/>
          <p:nvPr/>
        </p:nvSpPr>
        <p:spPr>
          <a:xfrm>
            <a:off x="4438650" y="24955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pulse_a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4438650" y="28956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100" dirty="0"/>
          </a:p>
        </p:txBody>
      </p:sp>
      <p:sp>
        <p:nvSpPr>
          <p:cNvPr id="30" name="Text 30"/>
          <p:cNvSpPr txBox="1"/>
          <p:nvPr/>
        </p:nvSpPr>
        <p:spPr>
          <a:xfrm>
            <a:off x="4438650" y="32956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q_b</a:t>
            </a:r>
            <a:endParaRPr lang="en-US" sz="1100" dirty="0"/>
          </a:p>
        </p:txBody>
      </p:sp>
      <p:sp>
        <p:nvSpPr>
          <p:cNvPr id="31" name="Path 31"/>
          <p:cNvSpPr/>
          <p:nvPr/>
        </p:nvSpPr>
        <p:spPr>
          <a:xfrm>
            <a:off x="5181600" y="2114550"/>
            <a:ext cx="2571750" cy="152400"/>
          </a:xfrm>
          <a:custGeom>
            <a:avLst/>
            <a:gdLst/>
            <a:ahLst/>
            <a:cxnLst/>
            <a:rect l="0" t="0" r="r" b="b"/>
            <a:pathLst>
              <a:path w="2571750" h="152400" fill="none">
                <a:moveTo>
                  <a:pt x="0" y="152400"/>
                </a:moveTo>
                <a:lnTo>
                  <a:pt x="95250" y="152400"/>
                </a:lnTo>
                <a:lnTo>
                  <a:pt x="95250" y="0"/>
                </a:lnTo>
                <a:lnTo>
                  <a:pt x="238125" y="0"/>
                </a:lnTo>
                <a:lnTo>
                  <a:pt x="238125" y="152400"/>
                </a:lnTo>
                <a:lnTo>
                  <a:pt x="381000" y="152400"/>
                </a:lnTo>
                <a:lnTo>
                  <a:pt x="381000" y="0"/>
                </a:lnTo>
                <a:lnTo>
                  <a:pt x="523875" y="0"/>
                </a:lnTo>
                <a:lnTo>
                  <a:pt x="523875" y="152400"/>
                </a:lnTo>
                <a:lnTo>
                  <a:pt x="666750" y="152400"/>
                </a:lnTo>
                <a:lnTo>
                  <a:pt x="666750" y="0"/>
                </a:lnTo>
                <a:lnTo>
                  <a:pt x="809625" y="0"/>
                </a:lnTo>
                <a:lnTo>
                  <a:pt x="809625" y="152400"/>
                </a:lnTo>
                <a:lnTo>
                  <a:pt x="952500" y="152400"/>
                </a:lnTo>
                <a:lnTo>
                  <a:pt x="952500" y="0"/>
                </a:lnTo>
                <a:lnTo>
                  <a:pt x="1095375" y="0"/>
                </a:lnTo>
                <a:lnTo>
                  <a:pt x="1095375" y="152400"/>
                </a:lnTo>
                <a:lnTo>
                  <a:pt x="1238250" y="152400"/>
                </a:lnTo>
                <a:lnTo>
                  <a:pt x="1238250" y="0"/>
                </a:lnTo>
                <a:lnTo>
                  <a:pt x="1381125" y="0"/>
                </a:lnTo>
                <a:lnTo>
                  <a:pt x="1381125" y="152400"/>
                </a:lnTo>
                <a:lnTo>
                  <a:pt x="1524000" y="152400"/>
                </a:lnTo>
                <a:lnTo>
                  <a:pt x="1524000" y="0"/>
                </a:lnTo>
                <a:lnTo>
                  <a:pt x="1666875" y="0"/>
                </a:lnTo>
                <a:lnTo>
                  <a:pt x="1666875" y="152400"/>
                </a:lnTo>
                <a:lnTo>
                  <a:pt x="1809750" y="152400"/>
                </a:lnTo>
                <a:lnTo>
                  <a:pt x="1809750" y="0"/>
                </a:lnTo>
                <a:lnTo>
                  <a:pt x="1952625" y="0"/>
                </a:lnTo>
                <a:lnTo>
                  <a:pt x="1952625" y="152400"/>
                </a:lnTo>
                <a:lnTo>
                  <a:pt x="2095500" y="152400"/>
                </a:lnTo>
                <a:lnTo>
                  <a:pt x="2095500" y="0"/>
                </a:lnTo>
                <a:lnTo>
                  <a:pt x="2238375" y="0"/>
                </a:lnTo>
                <a:lnTo>
                  <a:pt x="2238375" y="152400"/>
                </a:lnTo>
                <a:lnTo>
                  <a:pt x="2381250" y="152400"/>
                </a:lnTo>
                <a:lnTo>
                  <a:pt x="2381250" y="0"/>
                </a:lnTo>
                <a:lnTo>
                  <a:pt x="2524125" y="0"/>
                </a:lnTo>
                <a:lnTo>
                  <a:pt x="2524125" y="152400"/>
                </a:lnTo>
                <a:lnTo>
                  <a:pt x="2571750" y="152400"/>
                </a:lnTo>
              </a:path>
            </a:pathLst>
          </a:custGeom>
          <a:noFill/>
          <a:ln w="19050">
            <a:solidFill>
              <a:srgbClr val="1D4ED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Path 32"/>
          <p:cNvSpPr/>
          <p:nvPr/>
        </p:nvSpPr>
        <p:spPr>
          <a:xfrm>
            <a:off x="5181600" y="2514600"/>
            <a:ext cx="2571750" cy="152400"/>
          </a:xfrm>
          <a:custGeom>
            <a:avLst/>
            <a:gdLst/>
            <a:ahLst/>
            <a:cxnLst/>
            <a:rect l="0" t="0" r="r" b="b"/>
            <a:pathLst>
              <a:path w="2571750" h="152400" fill="none">
                <a:moveTo>
                  <a:pt x="0" y="152400"/>
                </a:moveTo>
                <a:lnTo>
                  <a:pt x="952500" y="152400"/>
                </a:lnTo>
                <a:lnTo>
                  <a:pt x="952500" y="0"/>
                </a:lnTo>
                <a:lnTo>
                  <a:pt x="1238250" y="0"/>
                </a:lnTo>
                <a:lnTo>
                  <a:pt x="1238250" y="152400"/>
                </a:lnTo>
                <a:lnTo>
                  <a:pt x="2571750" y="15240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3"/>
          <p:cNvSpPr/>
          <p:nvPr/>
        </p:nvSpPr>
        <p:spPr>
          <a:xfrm>
            <a:off x="6076950" y="2457450"/>
            <a:ext cx="400050" cy="266700"/>
          </a:xfrm>
          <a:prstGeom prst="roundRect">
            <a:avLst>
              <a:gd name="adj" fmla="val 14285"/>
            </a:avLst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Path 34"/>
          <p:cNvSpPr/>
          <p:nvPr/>
        </p:nvSpPr>
        <p:spPr>
          <a:xfrm>
            <a:off x="5181600" y="2914650"/>
            <a:ext cx="2571750" cy="152400"/>
          </a:xfrm>
          <a:custGeom>
            <a:avLst/>
            <a:gdLst/>
            <a:ahLst/>
            <a:cxnLst/>
            <a:rect l="0" t="0" r="r" b="b"/>
            <a:pathLst>
              <a:path w="2571750" h="152400" fill="none">
                <a:moveTo>
                  <a:pt x="0" y="152400"/>
                </a:moveTo>
                <a:lnTo>
                  <a:pt x="381000" y="152400"/>
                </a:lnTo>
                <a:lnTo>
                  <a:pt x="381000" y="0"/>
                </a:lnTo>
                <a:lnTo>
                  <a:pt x="952500" y="0"/>
                </a:lnTo>
                <a:lnTo>
                  <a:pt x="952500" y="152400"/>
                </a:lnTo>
                <a:lnTo>
                  <a:pt x="1524000" y="152400"/>
                </a:lnTo>
                <a:lnTo>
                  <a:pt x="1524000" y="0"/>
                </a:lnTo>
                <a:lnTo>
                  <a:pt x="2095500" y="0"/>
                </a:lnTo>
                <a:lnTo>
                  <a:pt x="2095500" y="152400"/>
                </a:lnTo>
                <a:lnTo>
                  <a:pt x="2571750" y="1524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Path 35"/>
          <p:cNvSpPr/>
          <p:nvPr/>
        </p:nvSpPr>
        <p:spPr>
          <a:xfrm>
            <a:off x="5181600" y="3467100"/>
            <a:ext cx="2571750" cy="9525"/>
          </a:xfrm>
          <a:custGeom>
            <a:avLst/>
            <a:gdLst/>
            <a:ahLst/>
            <a:cxnLst/>
            <a:rect l="0" t="0" r="r" b="b"/>
            <a:pathLst>
              <a:path w="2571750" h="9525" fill="none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5943600" y="35052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미검출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4438650" y="3771900"/>
            <a:ext cx="333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&lt; clk_B 주기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엣지 사이에서 pulse 소멸 → event 소실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4438650" y="5600700"/>
            <a:ext cx="3314700" cy="419100"/>
          </a:xfrm>
          <a:prstGeom prst="roundRect">
            <a:avLst>
              <a:gd name="adj" fmla="val 13636"/>
            </a:avLst>
          </a:prstGeom>
          <a:solidFill>
            <a:srgbClr val="F7FEE7"/>
          </a:solidFill>
          <a:ln w="15875">
            <a:solidFill>
              <a:srgbClr val="4D7C0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4438650" y="5600700"/>
            <a:ext cx="3314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→ Toggle Synchronizer · Handshake</a:t>
            </a:r>
            <a:endParaRPr lang="en-US" sz="1100" dirty="0"/>
          </a:p>
        </p:txBody>
      </p:sp>
      <p:sp>
        <p:nvSpPr>
          <p:cNvPr id="40" name="Shape 40"/>
          <p:cNvSpPr/>
          <p:nvPr/>
        </p:nvSpPr>
        <p:spPr>
          <a:xfrm>
            <a:off x="807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824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Incoherence</a:t>
            </a:r>
            <a:endParaRPr lang="en-US" sz="1600" dirty="0"/>
          </a:p>
        </p:txBody>
      </p:sp>
      <p:sp>
        <p:nvSpPr>
          <p:cNvPr id="42" name="Text 42"/>
          <p:cNvSpPr txBox="1"/>
          <p:nvPr/>
        </p:nvSpPr>
        <p:spPr>
          <a:xfrm>
            <a:off x="8248650" y="171450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Multi-bit bus</a:t>
            </a:r>
            <a:endParaRPr lang="en-US" sz="1100" dirty="0"/>
          </a:p>
        </p:txBody>
      </p:sp>
      <p:sp>
        <p:nvSpPr>
          <p:cNvPr id="43" name="Text 43"/>
          <p:cNvSpPr txBox="1"/>
          <p:nvPr/>
        </p:nvSpPr>
        <p:spPr>
          <a:xfrm>
            <a:off x="8248650" y="21526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100" dirty="0"/>
          </a:p>
        </p:txBody>
      </p:sp>
      <p:sp>
        <p:nvSpPr>
          <p:cNvPr id="44" name="Text 44"/>
          <p:cNvSpPr txBox="1"/>
          <p:nvPr/>
        </p:nvSpPr>
        <p:spPr>
          <a:xfrm>
            <a:off x="8248650" y="26289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d_a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8248650" y="31051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q_b</a:t>
            </a:r>
            <a:endParaRPr lang="en-US" sz="1100" dirty="0"/>
          </a:p>
        </p:txBody>
      </p:sp>
      <p:sp>
        <p:nvSpPr>
          <p:cNvPr id="46" name="Path 46"/>
          <p:cNvSpPr/>
          <p:nvPr/>
        </p:nvSpPr>
        <p:spPr>
          <a:xfrm>
            <a:off x="8991600" y="2152650"/>
            <a:ext cx="2571750" cy="190500"/>
          </a:xfrm>
          <a:custGeom>
            <a:avLst/>
            <a:gdLst/>
            <a:ahLst/>
            <a:cxnLst/>
            <a:rect l="0" t="0" r="r" b="b"/>
            <a:pathLst>
              <a:path w="2571750" h="190500" fill="none">
                <a:moveTo>
                  <a:pt x="0" y="190500"/>
                </a:moveTo>
                <a:lnTo>
                  <a:pt x="381000" y="190500"/>
                </a:lnTo>
                <a:lnTo>
                  <a:pt x="381000" y="0"/>
                </a:lnTo>
                <a:lnTo>
                  <a:pt x="828675" y="0"/>
                </a:lnTo>
                <a:lnTo>
                  <a:pt x="828675" y="190500"/>
                </a:lnTo>
                <a:lnTo>
                  <a:pt x="1276350" y="190500"/>
                </a:lnTo>
                <a:lnTo>
                  <a:pt x="1276350" y="0"/>
                </a:lnTo>
                <a:lnTo>
                  <a:pt x="1724025" y="0"/>
                </a:lnTo>
                <a:lnTo>
                  <a:pt x="1724025" y="190500"/>
                </a:lnTo>
                <a:lnTo>
                  <a:pt x="2171700" y="190500"/>
                </a:lnTo>
                <a:lnTo>
                  <a:pt x="2171700" y="0"/>
                </a:lnTo>
                <a:lnTo>
                  <a:pt x="2571750" y="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7"/>
          <p:cNvSpPr/>
          <p:nvPr/>
        </p:nvSpPr>
        <p:spPr>
          <a:xfrm>
            <a:off x="8991600" y="2619375"/>
            <a:ext cx="1238250" cy="20955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9029700" y="2619375"/>
            <a:ext cx="1162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000" dirty="0"/>
          </a:p>
        </p:txBody>
      </p:sp>
      <p:sp>
        <p:nvSpPr>
          <p:cNvPr id="49" name="Shape 49"/>
          <p:cNvSpPr/>
          <p:nvPr/>
        </p:nvSpPr>
        <p:spPr>
          <a:xfrm>
            <a:off x="10229850" y="2619375"/>
            <a:ext cx="1333500" cy="20955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10267950" y="2619375"/>
            <a:ext cx="1257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1" name="Shape 51"/>
          <p:cNvSpPr/>
          <p:nvPr/>
        </p:nvSpPr>
        <p:spPr>
          <a:xfrm>
            <a:off x="8991600" y="3095625"/>
            <a:ext cx="1276350" cy="20955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9029700" y="3095625"/>
            <a:ext cx="12001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10267950" y="3095625"/>
            <a:ext cx="895350" cy="209550"/>
          </a:xfrm>
          <a:prstGeom prst="rect">
            <a:avLst/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10306050" y="3095625"/>
            <a:ext cx="8191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  <p:sp>
        <p:nvSpPr>
          <p:cNvPr id="55" name="Shape 55"/>
          <p:cNvSpPr/>
          <p:nvPr/>
        </p:nvSpPr>
        <p:spPr>
          <a:xfrm>
            <a:off x="11163300" y="3095625"/>
            <a:ext cx="400050" cy="20955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11201400" y="3095625"/>
            <a:ext cx="3238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7" name="Text 57"/>
          <p:cNvSpPr txBox="1"/>
          <p:nvPr/>
        </p:nvSpPr>
        <p:spPr>
          <a:xfrm>
            <a:off x="8248650" y="3771900"/>
            <a:ext cx="333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bit별 metastability 해소 결과 상이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cycle 동안 존재하지 않는 값 수신 (011 → 111 → 100)</a:t>
            </a:r>
            <a:endParaRPr lang="en-US" sz="1200" dirty="0"/>
          </a:p>
        </p:txBody>
      </p:sp>
      <p:sp>
        <p:nvSpPr>
          <p:cNvPr id="58" name="Shape 58"/>
          <p:cNvSpPr/>
          <p:nvPr/>
        </p:nvSpPr>
        <p:spPr>
          <a:xfrm>
            <a:off x="8248650" y="5600700"/>
            <a:ext cx="3314700" cy="419100"/>
          </a:xfrm>
          <a:prstGeom prst="roundRect">
            <a:avLst>
              <a:gd name="adj" fmla="val 13636"/>
            </a:avLst>
          </a:prstGeom>
          <a:solidFill>
            <a:srgbClr val="F7FEE7"/>
          </a:solidFill>
          <a:ln w="15875">
            <a:solidFill>
              <a:srgbClr val="4D7C0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8248650" y="5600700"/>
            <a:ext cx="3314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→ Gray Code · Handshake · Async FIFO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CDC · Single-bit · Level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Single-Bit Level Signals Cross Through a 2-FF Synchronizer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685800" y="1600200"/>
            <a:ext cx="2381250" cy="1809750"/>
          </a:xfrm>
          <a:prstGeom prst="roundRect">
            <a:avLst>
              <a:gd name="adj" fmla="val 4210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80010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 도메인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3619500" y="1600200"/>
            <a:ext cx="7886700" cy="1809750"/>
          </a:xfrm>
          <a:prstGeom prst="roundRect">
            <a:avLst>
              <a:gd name="adj" fmla="val 421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373380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도메인</a:t>
            </a:r>
            <a:endParaRPr lang="en-US" sz="1100" dirty="0"/>
          </a:p>
        </p:txBody>
      </p:sp>
      <p:cxnSp>
        <p:nvCxnSpPr>
          <p:cNvPr id="13" name="Line 13"/>
          <p:cNvCxnSpPr/>
          <p:nvPr/>
        </p:nvCxnSpPr>
        <p:spPr>
          <a:xfrm>
            <a:off x="3343275" y="1676400"/>
            <a:ext cx="0" cy="1771650"/>
          </a:xfrm>
          <a:prstGeom prst="line">
            <a:avLst/>
          </a:prstGeom>
          <a:ln w="22225">
            <a:solidFill>
              <a:srgbClr val="DC2626"/>
            </a:solidFill>
            <a:prstDash val="dash"/>
          </a:ln>
        </p:spPr>
      </p:cxnSp>
      <p:sp>
        <p:nvSpPr>
          <p:cNvPr id="14" name="Text 14"/>
          <p:cNvSpPr txBox="1"/>
          <p:nvPr/>
        </p:nvSpPr>
        <p:spPr>
          <a:xfrm>
            <a:off x="3057525" y="15049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CDC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1619250" y="211455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1619250" y="211455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FF_A</a:t>
            </a:r>
            <a:endParaRPr lang="en-US" sz="1300" dirty="0"/>
          </a:p>
        </p:txBody>
      </p:sp>
      <p:sp>
        <p:nvSpPr>
          <p:cNvPr id="17" name="Shape 17"/>
          <p:cNvSpPr/>
          <p:nvPr/>
        </p:nvSpPr>
        <p:spPr>
          <a:xfrm>
            <a:off x="4038600" y="1866900"/>
            <a:ext cx="3238500" cy="1257300"/>
          </a:xfrm>
          <a:prstGeom prst="roundRect">
            <a:avLst>
              <a:gd name="adj" fmla="val 6060"/>
            </a:avLst>
          </a:prstGeom>
          <a:noFill/>
          <a:ln w="19050">
            <a:solidFill>
              <a:srgbClr val="4D7C0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4152900" y="1905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 · ASYNC_REG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4286250" y="217170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20"/>
          <p:cNvSpPr txBox="1"/>
          <p:nvPr/>
        </p:nvSpPr>
        <p:spPr>
          <a:xfrm>
            <a:off x="4286250" y="217170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FF1</a:t>
            </a:r>
            <a:endParaRPr lang="en-US" sz="1300" dirty="0"/>
          </a:p>
        </p:txBody>
      </p:sp>
      <p:sp>
        <p:nvSpPr>
          <p:cNvPr id="21" name="Shape 21"/>
          <p:cNvSpPr/>
          <p:nvPr/>
        </p:nvSpPr>
        <p:spPr>
          <a:xfrm>
            <a:off x="6229350" y="217170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229350" y="217170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FF2</a:t>
            </a:r>
            <a:endParaRPr lang="en-US" sz="1300" dirty="0"/>
          </a:p>
        </p:txBody>
      </p:sp>
      <p:cxnSp>
        <p:nvCxnSpPr>
          <p:cNvPr id="23" name="Line 23"/>
          <p:cNvCxnSpPr/>
          <p:nvPr/>
        </p:nvCxnSpPr>
        <p:spPr>
          <a:xfrm>
            <a:off x="2381250" y="2514600"/>
            <a:ext cx="19050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4" name="Text 24"/>
          <p:cNvSpPr txBox="1"/>
          <p:nvPr/>
        </p:nvSpPr>
        <p:spPr>
          <a:xfrm>
            <a:off x="2495550" y="230505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d_a</a:t>
            </a:r>
            <a:endParaRPr lang="en-US" sz="1100" dirty="0"/>
          </a:p>
        </p:txBody>
      </p:sp>
      <p:cxnSp>
        <p:nvCxnSpPr>
          <p:cNvPr id="25" name="Line 25"/>
          <p:cNvCxnSpPr/>
          <p:nvPr/>
        </p:nvCxnSpPr>
        <p:spPr>
          <a:xfrm>
            <a:off x="5048250" y="2514600"/>
            <a:ext cx="11811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5143500" y="230505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5105400" y="2571750"/>
            <a:ext cx="1104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metastable 가능</a:t>
            </a:r>
            <a:endParaRPr lang="en-US" sz="1000" dirty="0"/>
          </a:p>
        </p:txBody>
      </p:sp>
      <p:cxnSp>
        <p:nvCxnSpPr>
          <p:cNvPr id="28" name="Line 28"/>
          <p:cNvCxnSpPr/>
          <p:nvPr/>
        </p:nvCxnSpPr>
        <p:spPr>
          <a:xfrm>
            <a:off x="6991350" y="2514600"/>
            <a:ext cx="120015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9" name="Text 29"/>
          <p:cNvSpPr txBox="1"/>
          <p:nvPr/>
        </p:nvSpPr>
        <p:spPr>
          <a:xfrm>
            <a:off x="7086600" y="2305050"/>
            <a:ext cx="285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100" dirty="0"/>
          </a:p>
        </p:txBody>
      </p:sp>
      <p:sp>
        <p:nvSpPr>
          <p:cNvPr id="30" name="Text 30"/>
          <p:cNvSpPr txBox="1"/>
          <p:nvPr/>
        </p:nvSpPr>
        <p:spPr>
          <a:xfrm>
            <a:off x="7391400" y="230505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(안정)</a:t>
            </a:r>
            <a:endParaRPr lang="en-US" sz="1100" dirty="0"/>
          </a:p>
        </p:txBody>
      </p:sp>
      <p:sp>
        <p:nvSpPr>
          <p:cNvPr id="31" name="Shape 31"/>
          <p:cNvSpPr/>
          <p:nvPr/>
        </p:nvSpPr>
        <p:spPr>
          <a:xfrm>
            <a:off x="8191500" y="2171700"/>
            <a:ext cx="1428750" cy="685800"/>
          </a:xfrm>
          <a:prstGeom prst="rect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8191500" y="2171700"/>
            <a:ext cx="1428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로직</a:t>
            </a:r>
            <a:endParaRPr lang="en-US" sz="12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2000250" y="2800350"/>
            <a:ext cx="0" cy="438150"/>
          </a:xfrm>
          <a:prstGeom prst="line">
            <a:avLst/>
          </a:prstGeom>
          <a:ln w="19050">
            <a:solidFill>
              <a:srgbClr val="1D4ED8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2076450" y="30670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000" dirty="0"/>
          </a:p>
        </p:txBody>
      </p:sp>
      <p:cxnSp>
        <p:nvCxnSpPr>
          <p:cNvPr id="35" name="Line 35"/>
          <p:cNvCxnSpPr/>
          <p:nvPr/>
        </p:nvCxnSpPr>
        <p:spPr>
          <a:xfrm>
            <a:off x="4191000" y="3238500"/>
            <a:ext cx="4667250" cy="0"/>
          </a:xfrm>
          <a:prstGeom prst="line">
            <a:avLst/>
          </a:prstGeom>
          <a:ln w="19050">
            <a:solidFill>
              <a:srgbClr val="15803D"/>
            </a:solidFill>
            <a:prstDash val="solid"/>
          </a:ln>
        </p:spPr>
      </p:cxnSp>
      <p:cxnSp>
        <p:nvCxnSpPr>
          <p:cNvPr id="36" name="Line 36"/>
          <p:cNvCxnSpPr/>
          <p:nvPr/>
        </p:nvCxnSpPr>
        <p:spPr>
          <a:xfrm flipV="1">
            <a:off x="4667250" y="2857500"/>
            <a:ext cx="0" cy="38100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cxnSp>
        <p:nvCxnSpPr>
          <p:cNvPr id="37" name="Line 37"/>
          <p:cNvCxnSpPr/>
          <p:nvPr/>
        </p:nvCxnSpPr>
        <p:spPr>
          <a:xfrm flipV="1">
            <a:off x="6610350" y="2857500"/>
            <a:ext cx="0" cy="38100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 flipV="1">
            <a:off x="8858250" y="2857500"/>
            <a:ext cx="0" cy="38100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sp>
        <p:nvSpPr>
          <p:cNvPr id="39" name="Text 39"/>
          <p:cNvSpPr txBox="1"/>
          <p:nvPr/>
        </p:nvSpPr>
        <p:spPr>
          <a:xfrm>
            <a:off x="3733800" y="3162300"/>
            <a:ext cx="438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000" dirty="0"/>
          </a:p>
        </p:txBody>
      </p:sp>
      <p:sp>
        <p:nvSpPr>
          <p:cNvPr id="40" name="Shape 40"/>
          <p:cNvSpPr/>
          <p:nvPr/>
        </p:nvSpPr>
        <p:spPr>
          <a:xfrm>
            <a:off x="457200" y="3695700"/>
            <a:ext cx="66675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85800" y="3810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파형</a:t>
            </a:r>
            <a:endParaRPr lang="en-US" sz="1400" dirty="0"/>
          </a:p>
        </p:txBody>
      </p:sp>
      <p:sp>
        <p:nvSpPr>
          <p:cNvPr id="42" name="Shape 42"/>
          <p:cNvSpPr/>
          <p:nvPr/>
        </p:nvSpPr>
        <p:spPr>
          <a:xfrm>
            <a:off x="3048000" y="4095750"/>
            <a:ext cx="209550" cy="158115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685800" y="41338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200" dirty="0"/>
          </a:p>
        </p:txBody>
      </p:sp>
      <p:sp>
        <p:nvSpPr>
          <p:cNvPr id="44" name="Text 44"/>
          <p:cNvSpPr txBox="1"/>
          <p:nvPr/>
        </p:nvSpPr>
        <p:spPr>
          <a:xfrm>
            <a:off x="685800" y="45720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d_a</a:t>
            </a:r>
            <a:endParaRPr lang="en-US" sz="1200" dirty="0"/>
          </a:p>
        </p:txBody>
      </p:sp>
      <p:sp>
        <p:nvSpPr>
          <p:cNvPr id="45" name="Text 45"/>
          <p:cNvSpPr txBox="1"/>
          <p:nvPr/>
        </p:nvSpPr>
        <p:spPr>
          <a:xfrm>
            <a:off x="685800" y="50101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</a:t>
            </a:r>
            <a:endParaRPr lang="en-US" sz="1200" dirty="0"/>
          </a:p>
        </p:txBody>
      </p:sp>
      <p:sp>
        <p:nvSpPr>
          <p:cNvPr id="46" name="Text 46"/>
          <p:cNvSpPr txBox="1"/>
          <p:nvPr/>
        </p:nvSpPr>
        <p:spPr>
          <a:xfrm>
            <a:off x="685800" y="54483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200" dirty="0"/>
          </a:p>
        </p:txBody>
      </p:sp>
      <p:sp>
        <p:nvSpPr>
          <p:cNvPr id="47" name="Path 47"/>
          <p:cNvSpPr/>
          <p:nvPr/>
        </p:nvSpPr>
        <p:spPr>
          <a:xfrm>
            <a:off x="1714500" y="413385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190500"/>
                </a:moveTo>
                <a:lnTo>
                  <a:pt x="476250" y="190500"/>
                </a:lnTo>
                <a:lnTo>
                  <a:pt x="476250" y="0"/>
                </a:lnTo>
                <a:lnTo>
                  <a:pt x="952500" y="0"/>
                </a:lnTo>
                <a:lnTo>
                  <a:pt x="952500" y="190500"/>
                </a:lnTo>
                <a:lnTo>
                  <a:pt x="1428750" y="190500"/>
                </a:lnTo>
                <a:lnTo>
                  <a:pt x="1428750" y="0"/>
                </a:lnTo>
                <a:lnTo>
                  <a:pt x="1905000" y="0"/>
                </a:lnTo>
                <a:lnTo>
                  <a:pt x="1905000" y="190500"/>
                </a:lnTo>
                <a:lnTo>
                  <a:pt x="2381250" y="190500"/>
                </a:lnTo>
                <a:lnTo>
                  <a:pt x="2381250" y="0"/>
                </a:lnTo>
                <a:lnTo>
                  <a:pt x="2857500" y="0"/>
                </a:lnTo>
                <a:lnTo>
                  <a:pt x="2857500" y="190500"/>
                </a:lnTo>
                <a:lnTo>
                  <a:pt x="3333750" y="190500"/>
                </a:lnTo>
                <a:lnTo>
                  <a:pt x="3333750" y="0"/>
                </a:lnTo>
                <a:lnTo>
                  <a:pt x="3810000" y="0"/>
                </a:lnTo>
                <a:lnTo>
                  <a:pt x="3810000" y="190500"/>
                </a:lnTo>
                <a:lnTo>
                  <a:pt x="4286250" y="190500"/>
                </a:lnTo>
                <a:lnTo>
                  <a:pt x="4286250" y="0"/>
                </a:lnTo>
                <a:lnTo>
                  <a:pt x="4762500" y="0"/>
                </a:lnTo>
                <a:lnTo>
                  <a:pt x="4762500" y="190500"/>
                </a:lnTo>
                <a:lnTo>
                  <a:pt x="5143500" y="1905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Path 48"/>
          <p:cNvSpPr/>
          <p:nvPr/>
        </p:nvSpPr>
        <p:spPr>
          <a:xfrm>
            <a:off x="1714500" y="457200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190500"/>
                </a:moveTo>
                <a:lnTo>
                  <a:pt x="1466850" y="190500"/>
                </a:lnTo>
                <a:lnTo>
                  <a:pt x="1466850" y="0"/>
                </a:lnTo>
                <a:lnTo>
                  <a:pt x="514350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Path 49"/>
          <p:cNvSpPr/>
          <p:nvPr/>
        </p:nvSpPr>
        <p:spPr>
          <a:xfrm>
            <a:off x="1714500" y="5200650"/>
            <a:ext cx="1428750" cy="9525"/>
          </a:xfrm>
          <a:custGeom>
            <a:avLst/>
            <a:gdLst/>
            <a:ahLst/>
            <a:cxnLst/>
            <a:rect l="0" t="0" r="r" b="b"/>
            <a:pathLst>
              <a:path w="1428750" h="9525" fill="none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50"/>
          <p:cNvSpPr/>
          <p:nvPr/>
        </p:nvSpPr>
        <p:spPr>
          <a:xfrm>
            <a:off x="3143250" y="5010150"/>
            <a:ext cx="590550" cy="190500"/>
          </a:xfrm>
          <a:prstGeom prst="rect">
            <a:avLst/>
          </a:prstGeom>
          <a:solidFill>
            <a:srgbClr val="FDE68A"/>
          </a:solidFill>
          <a:ln w="158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3143250" y="5010150"/>
            <a:ext cx="590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미결정</a:t>
            </a:r>
            <a:endParaRPr lang="en-US" sz="900" dirty="0"/>
          </a:p>
        </p:txBody>
      </p:sp>
      <p:sp>
        <p:nvSpPr>
          <p:cNvPr id="52" name="Path 52"/>
          <p:cNvSpPr/>
          <p:nvPr/>
        </p:nvSpPr>
        <p:spPr>
          <a:xfrm>
            <a:off x="3733800" y="5010150"/>
            <a:ext cx="3124200" cy="9525"/>
          </a:xfrm>
          <a:custGeom>
            <a:avLst/>
            <a:gdLst/>
            <a:ahLst/>
            <a:cxnLst/>
            <a:rect l="0" t="0" r="r" b="b"/>
            <a:pathLst>
              <a:path w="3124200" h="9525" fill="none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Path 53"/>
          <p:cNvSpPr/>
          <p:nvPr/>
        </p:nvSpPr>
        <p:spPr>
          <a:xfrm>
            <a:off x="1714500" y="5448300"/>
            <a:ext cx="5143500" cy="190500"/>
          </a:xfrm>
          <a:custGeom>
            <a:avLst/>
            <a:gdLst/>
            <a:ahLst/>
            <a:cxnLst/>
            <a:rect l="0" t="0" r="r" b="b"/>
            <a:pathLst>
              <a:path w="5143500" h="190500" fill="none">
                <a:moveTo>
                  <a:pt x="0" y="190500"/>
                </a:moveTo>
                <a:lnTo>
                  <a:pt x="2381250" y="190500"/>
                </a:lnTo>
                <a:lnTo>
                  <a:pt x="2381250" y="0"/>
                </a:lnTo>
                <a:lnTo>
                  <a:pt x="514350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54" name="Line 54"/>
          <p:cNvCxnSpPr/>
          <p:nvPr/>
        </p:nvCxnSpPr>
        <p:spPr>
          <a:xfrm>
            <a:off x="3143250" y="5924550"/>
            <a:ext cx="952500" cy="0"/>
          </a:xfrm>
          <a:prstGeom prst="line">
            <a:avLst/>
          </a:prstGeom>
          <a:ln w="15875">
            <a:solidFill>
              <a:srgbClr val="D97706"/>
            </a:solidFill>
            <a:prstDash val="solid"/>
            <a:headEnd type="triangle"/>
            <a:tailEnd type="triangle"/>
          </a:ln>
        </p:spPr>
      </p:cxnSp>
      <p:sp>
        <p:nvSpPr>
          <p:cNvPr id="55" name="Text 55"/>
          <p:cNvSpPr txBox="1"/>
          <p:nvPr/>
        </p:nvSpPr>
        <p:spPr>
          <a:xfrm>
            <a:off x="4191000" y="582930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안정화 시간 = clk_B 1 cycle</a:t>
            </a:r>
            <a:endParaRPr lang="en-US" sz="1100" dirty="0"/>
          </a:p>
        </p:txBody>
      </p:sp>
      <p:sp>
        <p:nvSpPr>
          <p:cNvPr id="56" name="Shape 56"/>
          <p:cNvSpPr/>
          <p:nvPr/>
        </p:nvSpPr>
        <p:spPr>
          <a:xfrm>
            <a:off x="7277100" y="3695700"/>
            <a:ext cx="44577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7505700" y="3810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조건</a:t>
            </a:r>
            <a:endParaRPr lang="en-US" sz="1400" dirty="0"/>
          </a:p>
        </p:txBody>
      </p:sp>
      <p:sp>
        <p:nvSpPr>
          <p:cNvPr id="58" name="Text 58"/>
          <p:cNvSpPr txBox="1"/>
          <p:nvPr/>
        </p:nvSpPr>
        <p:spPr>
          <a:xfrm>
            <a:off x="7505700" y="4114800"/>
            <a:ext cx="4000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source = FF 출력 직결, 조합 로직 금지 (Glitch 동기화 방지)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d_a 유지 ≥ clk_B 1.5 cycle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FF1 · FF2 인접 배치 (ASYNC_REG) → 안정화 시간 확보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latency 2 cycle, 고속 clk_B → 3-FF로 MTBF 증가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CDC · Single-bit · Pulse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 Pulses Cross as a Toggle, Then Edge Detect Restores Them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685800" y="1600200"/>
            <a:ext cx="3619500" cy="1809750"/>
          </a:xfrm>
          <a:prstGeom prst="roundRect">
            <a:avLst>
              <a:gd name="adj" fmla="val 4210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80010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 도메인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857750" y="1600200"/>
            <a:ext cx="6648450" cy="1809750"/>
          </a:xfrm>
          <a:prstGeom prst="roundRect">
            <a:avLst>
              <a:gd name="adj" fmla="val 421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972050" y="165735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 도메인</a:t>
            </a:r>
            <a:endParaRPr lang="en-US" sz="1100" dirty="0"/>
          </a:p>
        </p:txBody>
      </p:sp>
      <p:cxnSp>
        <p:nvCxnSpPr>
          <p:cNvPr id="13" name="Line 13"/>
          <p:cNvCxnSpPr/>
          <p:nvPr/>
        </p:nvCxnSpPr>
        <p:spPr>
          <a:xfrm>
            <a:off x="4581525" y="1676400"/>
            <a:ext cx="0" cy="1771650"/>
          </a:xfrm>
          <a:prstGeom prst="line">
            <a:avLst/>
          </a:prstGeom>
          <a:ln w="22225">
            <a:solidFill>
              <a:srgbClr val="DC2626"/>
            </a:solidFill>
            <a:prstDash val="dash"/>
          </a:ln>
        </p:spPr>
      </p:cxnSp>
      <p:sp>
        <p:nvSpPr>
          <p:cNvPr id="14" name="Text 14"/>
          <p:cNvSpPr txBox="1"/>
          <p:nvPr/>
        </p:nvSpPr>
        <p:spPr>
          <a:xfrm>
            <a:off x="4295775" y="15049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CDC</a:t>
            </a:r>
            <a:endParaRPr lang="en-US" sz="1100" dirty="0"/>
          </a:p>
        </p:txBody>
      </p:sp>
      <p:cxnSp>
        <p:nvCxnSpPr>
          <p:cNvPr id="15" name="Line 15"/>
          <p:cNvCxnSpPr/>
          <p:nvPr/>
        </p:nvCxnSpPr>
        <p:spPr>
          <a:xfrm>
            <a:off x="819150" y="2457450"/>
            <a:ext cx="6096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16" name="Text 16"/>
          <p:cNvSpPr txBox="1"/>
          <p:nvPr/>
        </p:nvSpPr>
        <p:spPr>
          <a:xfrm>
            <a:off x="819150" y="2247900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pulse_a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1428750" y="2228850"/>
            <a:ext cx="5715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1428750" y="22288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XOR</a:t>
            </a:r>
            <a:endParaRPr lang="en-US" sz="1100" dirty="0"/>
          </a:p>
        </p:txBody>
      </p:sp>
      <p:cxnSp>
        <p:nvCxnSpPr>
          <p:cNvPr id="19" name="Line 19"/>
          <p:cNvCxnSpPr/>
          <p:nvPr/>
        </p:nvCxnSpPr>
        <p:spPr>
          <a:xfrm>
            <a:off x="2000250" y="2457450"/>
            <a:ext cx="3810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0" name="Shape 20"/>
          <p:cNvSpPr/>
          <p:nvPr/>
        </p:nvSpPr>
        <p:spPr>
          <a:xfrm>
            <a:off x="2381250" y="2114550"/>
            <a:ext cx="76200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2381250" y="2114550"/>
            <a:ext cx="76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FF_T</a:t>
            </a:r>
            <a:endParaRPr lang="en-US" sz="1300" dirty="0"/>
          </a:p>
        </p:txBody>
      </p:sp>
      <p:cxnSp>
        <p:nvCxnSpPr>
          <p:cNvPr id="22" name="Line 22"/>
          <p:cNvCxnSpPr/>
          <p:nvPr/>
        </p:nvCxnSpPr>
        <p:spPr>
          <a:xfrm>
            <a:off x="3143250" y="2457450"/>
            <a:ext cx="219075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23" name="Text 23"/>
          <p:cNvSpPr txBox="1"/>
          <p:nvPr/>
        </p:nvSpPr>
        <p:spPr>
          <a:xfrm>
            <a:off x="3619500" y="224790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tgl_a</a:t>
            </a:r>
            <a:endParaRPr lang="en-US" sz="1100" dirty="0"/>
          </a:p>
        </p:txBody>
      </p:sp>
      <p:sp>
        <p:nvSpPr>
          <p:cNvPr id="24" name="Path 24"/>
          <p:cNvSpPr/>
          <p:nvPr/>
        </p:nvSpPr>
        <p:spPr>
          <a:xfrm>
            <a:off x="1714500" y="2457450"/>
            <a:ext cx="1638300" cy="514350"/>
          </a:xfrm>
          <a:custGeom>
            <a:avLst/>
            <a:gdLst/>
            <a:ahLst/>
            <a:cxnLst/>
            <a:rect l="0" t="0" r="r" b="b"/>
            <a:pathLst>
              <a:path w="1638300" h="514350" fill="none">
                <a:moveTo>
                  <a:pt x="1638300" y="0"/>
                </a:moveTo>
                <a:lnTo>
                  <a:pt x="1638300" y="514350"/>
                </a:lnTo>
                <a:lnTo>
                  <a:pt x="0" y="51435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1D4ED8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 flipV="1">
            <a:off x="2762250" y="2800350"/>
            <a:ext cx="0" cy="438150"/>
          </a:xfrm>
          <a:prstGeom prst="line">
            <a:avLst/>
          </a:prstGeom>
          <a:ln w="19050">
            <a:solidFill>
              <a:srgbClr val="1D4ED8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2838450" y="30670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000" dirty="0"/>
          </a:p>
        </p:txBody>
      </p:sp>
      <p:sp>
        <p:nvSpPr>
          <p:cNvPr id="27" name="Shape 27"/>
          <p:cNvSpPr/>
          <p:nvPr/>
        </p:nvSpPr>
        <p:spPr>
          <a:xfrm>
            <a:off x="5334000" y="2114550"/>
            <a:ext cx="66675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5334000" y="2114550"/>
            <a:ext cx="666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FF1</a:t>
            </a:r>
            <a:endParaRPr lang="en-US" sz="1300" dirty="0"/>
          </a:p>
        </p:txBody>
      </p:sp>
      <p:cxnSp>
        <p:nvCxnSpPr>
          <p:cNvPr id="29" name="Line 29"/>
          <p:cNvCxnSpPr/>
          <p:nvPr/>
        </p:nvCxnSpPr>
        <p:spPr>
          <a:xfrm>
            <a:off x="6000750" y="2457450"/>
            <a:ext cx="3810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30" name="Shape 30"/>
          <p:cNvSpPr/>
          <p:nvPr/>
        </p:nvSpPr>
        <p:spPr>
          <a:xfrm>
            <a:off x="6381750" y="2114550"/>
            <a:ext cx="66675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6381750" y="2114550"/>
            <a:ext cx="666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FF2</a:t>
            </a:r>
            <a:endParaRPr lang="en-US" sz="1300" dirty="0"/>
          </a:p>
        </p:txBody>
      </p:sp>
      <p:cxnSp>
        <p:nvCxnSpPr>
          <p:cNvPr id="32" name="Line 32"/>
          <p:cNvCxnSpPr/>
          <p:nvPr/>
        </p:nvCxnSpPr>
        <p:spPr>
          <a:xfrm>
            <a:off x="7048500" y="2457450"/>
            <a:ext cx="3810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33" name="Shape 33"/>
          <p:cNvSpPr/>
          <p:nvPr/>
        </p:nvSpPr>
        <p:spPr>
          <a:xfrm>
            <a:off x="7429500" y="2114550"/>
            <a:ext cx="666750" cy="68580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7429500" y="2114550"/>
            <a:ext cx="666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FF3</a:t>
            </a:r>
            <a:endParaRPr lang="en-US" sz="1300" dirty="0"/>
          </a:p>
        </p:txBody>
      </p:sp>
      <p:sp>
        <p:nvSpPr>
          <p:cNvPr id="35" name="Path 35"/>
          <p:cNvSpPr/>
          <p:nvPr/>
        </p:nvSpPr>
        <p:spPr>
          <a:xfrm>
            <a:off x="7191375" y="1905000"/>
            <a:ext cx="1666875" cy="552450"/>
          </a:xfrm>
          <a:custGeom>
            <a:avLst/>
            <a:gdLst/>
            <a:ahLst/>
            <a:cxnLst/>
            <a:rect l="0" t="0" r="r" b="b"/>
            <a:pathLst>
              <a:path w="1666875" h="552450" fill="none">
                <a:moveTo>
                  <a:pt x="0" y="552450"/>
                </a:moveTo>
                <a:lnTo>
                  <a:pt x="0" y="0"/>
                </a:lnTo>
                <a:lnTo>
                  <a:pt x="1666875" y="0"/>
                </a:lnTo>
                <a:lnTo>
                  <a:pt x="1666875" y="323850"/>
                </a:lnTo>
              </a:path>
            </a:pathLst>
          </a:custGeom>
          <a:noFill/>
          <a:ln w="19050">
            <a:solidFill>
              <a:srgbClr val="0F172A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7239000" y="17335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>
            <a:off x="8096250" y="2457450"/>
            <a:ext cx="47625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8153400" y="22479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8572500" y="2228850"/>
            <a:ext cx="5715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8572500" y="22288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XOR</a:t>
            </a:r>
            <a:endParaRPr lang="en-US" sz="1100" dirty="0"/>
          </a:p>
        </p:txBody>
      </p:sp>
      <p:cxnSp>
        <p:nvCxnSpPr>
          <p:cNvPr id="41" name="Line 41"/>
          <p:cNvCxnSpPr/>
          <p:nvPr/>
        </p:nvCxnSpPr>
        <p:spPr>
          <a:xfrm>
            <a:off x="9144000" y="2457450"/>
            <a:ext cx="1143000" cy="0"/>
          </a:xfrm>
          <a:prstGeom prst="line">
            <a:avLst/>
          </a:prstGeom>
          <a:ln w="2222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42" name="Text 42"/>
          <p:cNvSpPr txBox="1"/>
          <p:nvPr/>
        </p:nvSpPr>
        <p:spPr>
          <a:xfrm>
            <a:off x="9334500" y="2247900"/>
            <a:ext cx="857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pulse_b</a:t>
            </a:r>
            <a:endParaRPr lang="en-US" sz="1100" dirty="0"/>
          </a:p>
        </p:txBody>
      </p:sp>
      <p:cxnSp>
        <p:nvCxnSpPr>
          <p:cNvPr id="43" name="Line 43"/>
          <p:cNvCxnSpPr/>
          <p:nvPr/>
        </p:nvCxnSpPr>
        <p:spPr>
          <a:xfrm>
            <a:off x="5334000" y="3238500"/>
            <a:ext cx="2428875" cy="0"/>
          </a:xfrm>
          <a:prstGeom prst="line">
            <a:avLst/>
          </a:prstGeom>
          <a:ln w="19050">
            <a:solidFill>
              <a:srgbClr val="15803D"/>
            </a:solidFill>
            <a:prstDash val="solid"/>
          </a:ln>
        </p:spPr>
      </p:cxnSp>
      <p:cxnSp>
        <p:nvCxnSpPr>
          <p:cNvPr id="44" name="Line 44"/>
          <p:cNvCxnSpPr/>
          <p:nvPr/>
        </p:nvCxnSpPr>
        <p:spPr>
          <a:xfrm flipV="1">
            <a:off x="5667375" y="2800350"/>
            <a:ext cx="0" cy="43815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cxnSp>
        <p:nvCxnSpPr>
          <p:cNvPr id="45" name="Line 45"/>
          <p:cNvCxnSpPr/>
          <p:nvPr/>
        </p:nvCxnSpPr>
        <p:spPr>
          <a:xfrm flipV="1">
            <a:off x="6715125" y="2800350"/>
            <a:ext cx="0" cy="43815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cxnSp>
        <p:nvCxnSpPr>
          <p:cNvPr id="46" name="Line 46"/>
          <p:cNvCxnSpPr/>
          <p:nvPr/>
        </p:nvCxnSpPr>
        <p:spPr>
          <a:xfrm flipV="1">
            <a:off x="7762875" y="2800350"/>
            <a:ext cx="0" cy="438150"/>
          </a:xfrm>
          <a:prstGeom prst="line">
            <a:avLst/>
          </a:prstGeom>
          <a:ln w="19050">
            <a:solidFill>
              <a:srgbClr val="15803D"/>
            </a:solidFill>
            <a:prstDash val="solid"/>
            <a:tailEnd type="triangle"/>
          </a:ln>
        </p:spPr>
      </p:cxnSp>
      <p:sp>
        <p:nvSpPr>
          <p:cNvPr id="47" name="Text 47"/>
          <p:cNvSpPr txBox="1"/>
          <p:nvPr/>
        </p:nvSpPr>
        <p:spPr>
          <a:xfrm>
            <a:off x="4933950" y="31623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000" dirty="0"/>
          </a:p>
        </p:txBody>
      </p:sp>
      <p:sp>
        <p:nvSpPr>
          <p:cNvPr id="48" name="Shape 48"/>
          <p:cNvSpPr/>
          <p:nvPr/>
        </p:nvSpPr>
        <p:spPr>
          <a:xfrm>
            <a:off x="457200" y="3695700"/>
            <a:ext cx="66675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685800" y="38481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clk_A</a:t>
            </a:r>
            <a:endParaRPr lang="en-US" sz="1100" dirty="0"/>
          </a:p>
        </p:txBody>
      </p:sp>
      <p:sp>
        <p:nvSpPr>
          <p:cNvPr id="50" name="Text 50"/>
          <p:cNvSpPr txBox="1"/>
          <p:nvPr/>
        </p:nvSpPr>
        <p:spPr>
          <a:xfrm>
            <a:off x="685800" y="41719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pulse_a</a:t>
            </a:r>
            <a:endParaRPr lang="en-US" sz="1100" dirty="0"/>
          </a:p>
        </p:txBody>
      </p:sp>
      <p:sp>
        <p:nvSpPr>
          <p:cNvPr id="51" name="Text 51"/>
          <p:cNvSpPr txBox="1"/>
          <p:nvPr/>
        </p:nvSpPr>
        <p:spPr>
          <a:xfrm>
            <a:off x="685800" y="44958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tgl_a</a:t>
            </a:r>
            <a:endParaRPr lang="en-US" sz="1100" dirty="0"/>
          </a:p>
        </p:txBody>
      </p:sp>
      <p:sp>
        <p:nvSpPr>
          <p:cNvPr id="52" name="Text 52"/>
          <p:cNvSpPr txBox="1"/>
          <p:nvPr/>
        </p:nvSpPr>
        <p:spPr>
          <a:xfrm>
            <a:off x="685800" y="48196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clk_B</a:t>
            </a:r>
            <a:endParaRPr lang="en-US" sz="1100" dirty="0"/>
          </a:p>
        </p:txBody>
      </p:sp>
      <p:sp>
        <p:nvSpPr>
          <p:cNvPr id="53" name="Text 53"/>
          <p:cNvSpPr txBox="1"/>
          <p:nvPr/>
        </p:nvSpPr>
        <p:spPr>
          <a:xfrm>
            <a:off x="685800" y="5143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100" dirty="0"/>
          </a:p>
        </p:txBody>
      </p:sp>
      <p:sp>
        <p:nvSpPr>
          <p:cNvPr id="54" name="Text 54"/>
          <p:cNvSpPr txBox="1"/>
          <p:nvPr/>
        </p:nvSpPr>
        <p:spPr>
          <a:xfrm>
            <a:off x="685800" y="54673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100" dirty="0"/>
          </a:p>
        </p:txBody>
      </p:sp>
      <p:sp>
        <p:nvSpPr>
          <p:cNvPr id="55" name="Text 55"/>
          <p:cNvSpPr txBox="1"/>
          <p:nvPr/>
        </p:nvSpPr>
        <p:spPr>
          <a:xfrm>
            <a:off x="685800" y="57912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pulse_b</a:t>
            </a:r>
            <a:endParaRPr lang="en-US" sz="1100" dirty="0"/>
          </a:p>
        </p:txBody>
      </p:sp>
      <p:sp>
        <p:nvSpPr>
          <p:cNvPr id="56" name="Path 56"/>
          <p:cNvSpPr/>
          <p:nvPr/>
        </p:nvSpPr>
        <p:spPr>
          <a:xfrm>
            <a:off x="1619250" y="383857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95250" y="209550"/>
                </a:lnTo>
                <a:lnTo>
                  <a:pt x="95250" y="0"/>
                </a:lnTo>
                <a:lnTo>
                  <a:pt x="209550" y="0"/>
                </a:lnTo>
                <a:lnTo>
                  <a:pt x="209550" y="209550"/>
                </a:lnTo>
                <a:lnTo>
                  <a:pt x="323850" y="209550"/>
                </a:lnTo>
                <a:lnTo>
                  <a:pt x="323850" y="0"/>
                </a:lnTo>
                <a:lnTo>
                  <a:pt x="438150" y="0"/>
                </a:lnTo>
                <a:lnTo>
                  <a:pt x="438150" y="209550"/>
                </a:lnTo>
                <a:lnTo>
                  <a:pt x="552450" y="209550"/>
                </a:lnTo>
                <a:lnTo>
                  <a:pt x="552450" y="0"/>
                </a:lnTo>
                <a:lnTo>
                  <a:pt x="666750" y="0"/>
                </a:lnTo>
                <a:lnTo>
                  <a:pt x="666750" y="209550"/>
                </a:lnTo>
                <a:lnTo>
                  <a:pt x="781050" y="209550"/>
                </a:lnTo>
                <a:lnTo>
                  <a:pt x="781050" y="0"/>
                </a:lnTo>
                <a:lnTo>
                  <a:pt x="895350" y="0"/>
                </a:lnTo>
                <a:lnTo>
                  <a:pt x="895350" y="209550"/>
                </a:lnTo>
                <a:lnTo>
                  <a:pt x="1009650" y="209550"/>
                </a:lnTo>
                <a:lnTo>
                  <a:pt x="1009650" y="0"/>
                </a:lnTo>
                <a:lnTo>
                  <a:pt x="1123950" y="0"/>
                </a:lnTo>
                <a:lnTo>
                  <a:pt x="1123950" y="209550"/>
                </a:lnTo>
                <a:lnTo>
                  <a:pt x="1238250" y="209550"/>
                </a:lnTo>
                <a:lnTo>
                  <a:pt x="1238250" y="0"/>
                </a:lnTo>
                <a:lnTo>
                  <a:pt x="1352550" y="0"/>
                </a:lnTo>
                <a:lnTo>
                  <a:pt x="1352550" y="209550"/>
                </a:lnTo>
                <a:lnTo>
                  <a:pt x="1466850" y="209550"/>
                </a:lnTo>
                <a:lnTo>
                  <a:pt x="1466850" y="0"/>
                </a:lnTo>
                <a:lnTo>
                  <a:pt x="1581150" y="0"/>
                </a:lnTo>
                <a:lnTo>
                  <a:pt x="1581150" y="209550"/>
                </a:lnTo>
                <a:lnTo>
                  <a:pt x="1695450" y="209550"/>
                </a:lnTo>
                <a:lnTo>
                  <a:pt x="1695450" y="0"/>
                </a:lnTo>
                <a:lnTo>
                  <a:pt x="1809750" y="0"/>
                </a:lnTo>
                <a:lnTo>
                  <a:pt x="1809750" y="209550"/>
                </a:lnTo>
                <a:lnTo>
                  <a:pt x="1924050" y="209550"/>
                </a:lnTo>
                <a:lnTo>
                  <a:pt x="1924050" y="0"/>
                </a:lnTo>
                <a:lnTo>
                  <a:pt x="2038350" y="0"/>
                </a:lnTo>
                <a:lnTo>
                  <a:pt x="2038350" y="209550"/>
                </a:lnTo>
                <a:lnTo>
                  <a:pt x="2152650" y="209550"/>
                </a:lnTo>
                <a:lnTo>
                  <a:pt x="2152650" y="0"/>
                </a:lnTo>
                <a:lnTo>
                  <a:pt x="2266950" y="0"/>
                </a:lnTo>
                <a:lnTo>
                  <a:pt x="2266950" y="209550"/>
                </a:lnTo>
                <a:lnTo>
                  <a:pt x="2381250" y="209550"/>
                </a:lnTo>
                <a:lnTo>
                  <a:pt x="2381250" y="0"/>
                </a:lnTo>
                <a:lnTo>
                  <a:pt x="2495550" y="0"/>
                </a:lnTo>
                <a:lnTo>
                  <a:pt x="2495550" y="209550"/>
                </a:lnTo>
                <a:lnTo>
                  <a:pt x="2609850" y="209550"/>
                </a:lnTo>
                <a:lnTo>
                  <a:pt x="2609850" y="0"/>
                </a:lnTo>
                <a:lnTo>
                  <a:pt x="2724150" y="0"/>
                </a:lnTo>
                <a:lnTo>
                  <a:pt x="2724150" y="209550"/>
                </a:lnTo>
                <a:lnTo>
                  <a:pt x="2838450" y="209550"/>
                </a:lnTo>
                <a:lnTo>
                  <a:pt x="2838450" y="0"/>
                </a:lnTo>
                <a:lnTo>
                  <a:pt x="2952750" y="0"/>
                </a:lnTo>
                <a:lnTo>
                  <a:pt x="2952750" y="209550"/>
                </a:lnTo>
                <a:lnTo>
                  <a:pt x="3067050" y="209550"/>
                </a:lnTo>
                <a:lnTo>
                  <a:pt x="3067050" y="0"/>
                </a:lnTo>
                <a:lnTo>
                  <a:pt x="3181350" y="0"/>
                </a:lnTo>
                <a:lnTo>
                  <a:pt x="3181350" y="209550"/>
                </a:lnTo>
                <a:lnTo>
                  <a:pt x="3295650" y="209550"/>
                </a:lnTo>
                <a:lnTo>
                  <a:pt x="3295650" y="0"/>
                </a:lnTo>
                <a:lnTo>
                  <a:pt x="3409950" y="0"/>
                </a:lnTo>
                <a:lnTo>
                  <a:pt x="3409950" y="209550"/>
                </a:lnTo>
                <a:lnTo>
                  <a:pt x="3524250" y="209550"/>
                </a:lnTo>
                <a:lnTo>
                  <a:pt x="3524250" y="0"/>
                </a:lnTo>
                <a:lnTo>
                  <a:pt x="3638550" y="0"/>
                </a:lnTo>
                <a:lnTo>
                  <a:pt x="3638550" y="209550"/>
                </a:lnTo>
                <a:lnTo>
                  <a:pt x="3752850" y="209550"/>
                </a:lnTo>
                <a:lnTo>
                  <a:pt x="3752850" y="0"/>
                </a:lnTo>
                <a:lnTo>
                  <a:pt x="3867150" y="0"/>
                </a:lnTo>
                <a:lnTo>
                  <a:pt x="3867150" y="209550"/>
                </a:lnTo>
                <a:lnTo>
                  <a:pt x="3981450" y="209550"/>
                </a:lnTo>
                <a:lnTo>
                  <a:pt x="3981450" y="0"/>
                </a:lnTo>
                <a:lnTo>
                  <a:pt x="4095750" y="0"/>
                </a:lnTo>
                <a:lnTo>
                  <a:pt x="4095750" y="209550"/>
                </a:lnTo>
                <a:lnTo>
                  <a:pt x="4210050" y="209550"/>
                </a:lnTo>
                <a:lnTo>
                  <a:pt x="4210050" y="0"/>
                </a:lnTo>
                <a:lnTo>
                  <a:pt x="4324350" y="0"/>
                </a:lnTo>
                <a:lnTo>
                  <a:pt x="4324350" y="209550"/>
                </a:lnTo>
                <a:lnTo>
                  <a:pt x="4438650" y="209550"/>
                </a:lnTo>
                <a:lnTo>
                  <a:pt x="4438650" y="0"/>
                </a:lnTo>
                <a:lnTo>
                  <a:pt x="4552950" y="0"/>
                </a:lnTo>
                <a:lnTo>
                  <a:pt x="4552950" y="209550"/>
                </a:lnTo>
                <a:lnTo>
                  <a:pt x="4667250" y="209550"/>
                </a:lnTo>
                <a:lnTo>
                  <a:pt x="4667250" y="0"/>
                </a:lnTo>
                <a:lnTo>
                  <a:pt x="4781550" y="0"/>
                </a:lnTo>
                <a:lnTo>
                  <a:pt x="4781550" y="209550"/>
                </a:lnTo>
                <a:lnTo>
                  <a:pt x="4895850" y="209550"/>
                </a:lnTo>
                <a:lnTo>
                  <a:pt x="4895850" y="0"/>
                </a:lnTo>
                <a:lnTo>
                  <a:pt x="5010150" y="0"/>
                </a:lnTo>
                <a:lnTo>
                  <a:pt x="5010150" y="209550"/>
                </a:lnTo>
                <a:lnTo>
                  <a:pt x="5124450" y="209550"/>
                </a:lnTo>
                <a:lnTo>
                  <a:pt x="5124450" y="0"/>
                </a:lnTo>
                <a:lnTo>
                  <a:pt x="5238750" y="0"/>
                </a:lnTo>
              </a:path>
            </a:pathLst>
          </a:custGeom>
          <a:noFill/>
          <a:ln w="19050">
            <a:solidFill>
              <a:srgbClr val="1D4ED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Path 57"/>
          <p:cNvSpPr/>
          <p:nvPr/>
        </p:nvSpPr>
        <p:spPr>
          <a:xfrm>
            <a:off x="1619250" y="416242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1238250" y="209550"/>
                </a:lnTo>
                <a:lnTo>
                  <a:pt x="1238250" y="0"/>
                </a:lnTo>
                <a:lnTo>
                  <a:pt x="1466850" y="0"/>
                </a:lnTo>
                <a:lnTo>
                  <a:pt x="1466850" y="209550"/>
                </a:lnTo>
                <a:lnTo>
                  <a:pt x="5238750" y="20955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Path 58"/>
          <p:cNvSpPr/>
          <p:nvPr/>
        </p:nvSpPr>
        <p:spPr>
          <a:xfrm>
            <a:off x="1619250" y="448627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1485900" y="209550"/>
                </a:lnTo>
                <a:lnTo>
                  <a:pt x="1485900" y="0"/>
                </a:lnTo>
                <a:lnTo>
                  <a:pt x="5238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Path 59"/>
          <p:cNvSpPr/>
          <p:nvPr/>
        </p:nvSpPr>
        <p:spPr>
          <a:xfrm>
            <a:off x="1619250" y="481012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381000" y="209550"/>
                </a:lnTo>
                <a:lnTo>
                  <a:pt x="381000" y="0"/>
                </a:lnTo>
                <a:lnTo>
                  <a:pt x="809625" y="0"/>
                </a:lnTo>
                <a:lnTo>
                  <a:pt x="809625" y="209550"/>
                </a:lnTo>
                <a:lnTo>
                  <a:pt x="1238250" y="209550"/>
                </a:lnTo>
                <a:lnTo>
                  <a:pt x="1238250" y="0"/>
                </a:lnTo>
                <a:lnTo>
                  <a:pt x="1666875" y="0"/>
                </a:lnTo>
                <a:lnTo>
                  <a:pt x="1666875" y="209550"/>
                </a:lnTo>
                <a:lnTo>
                  <a:pt x="2095500" y="209550"/>
                </a:lnTo>
                <a:lnTo>
                  <a:pt x="2095500" y="0"/>
                </a:lnTo>
                <a:lnTo>
                  <a:pt x="2524125" y="0"/>
                </a:lnTo>
                <a:lnTo>
                  <a:pt x="2524125" y="209550"/>
                </a:lnTo>
                <a:lnTo>
                  <a:pt x="2952750" y="209550"/>
                </a:lnTo>
                <a:lnTo>
                  <a:pt x="2952750" y="0"/>
                </a:lnTo>
                <a:lnTo>
                  <a:pt x="3381375" y="0"/>
                </a:lnTo>
                <a:lnTo>
                  <a:pt x="3381375" y="209550"/>
                </a:lnTo>
                <a:lnTo>
                  <a:pt x="3810000" y="209550"/>
                </a:lnTo>
                <a:lnTo>
                  <a:pt x="3810000" y="0"/>
                </a:lnTo>
                <a:lnTo>
                  <a:pt x="4238625" y="0"/>
                </a:lnTo>
                <a:lnTo>
                  <a:pt x="4238625" y="209550"/>
                </a:lnTo>
                <a:lnTo>
                  <a:pt x="4667250" y="209550"/>
                </a:lnTo>
                <a:lnTo>
                  <a:pt x="4667250" y="0"/>
                </a:lnTo>
                <a:lnTo>
                  <a:pt x="5095875" y="0"/>
                </a:lnTo>
                <a:lnTo>
                  <a:pt x="5095875" y="209550"/>
                </a:lnTo>
                <a:lnTo>
                  <a:pt x="5238750" y="20955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Path 60"/>
          <p:cNvSpPr/>
          <p:nvPr/>
        </p:nvSpPr>
        <p:spPr>
          <a:xfrm>
            <a:off x="1619250" y="513397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2952750" y="209550"/>
                </a:lnTo>
                <a:lnTo>
                  <a:pt x="2952750" y="0"/>
                </a:lnTo>
                <a:lnTo>
                  <a:pt x="5238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Path 61"/>
          <p:cNvSpPr/>
          <p:nvPr/>
        </p:nvSpPr>
        <p:spPr>
          <a:xfrm>
            <a:off x="1619250" y="545782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3810000" y="209550"/>
                </a:lnTo>
                <a:lnTo>
                  <a:pt x="3810000" y="0"/>
                </a:lnTo>
                <a:lnTo>
                  <a:pt x="5238750" y="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Path 62"/>
          <p:cNvSpPr/>
          <p:nvPr/>
        </p:nvSpPr>
        <p:spPr>
          <a:xfrm>
            <a:off x="1619250" y="5781675"/>
            <a:ext cx="5238750" cy="209550"/>
          </a:xfrm>
          <a:custGeom>
            <a:avLst/>
            <a:gdLst/>
            <a:ahLst/>
            <a:cxnLst/>
            <a:rect l="0" t="0" r="r" b="b"/>
            <a:pathLst>
              <a:path w="5238750" h="209550" fill="none">
                <a:moveTo>
                  <a:pt x="0" y="209550"/>
                </a:moveTo>
                <a:lnTo>
                  <a:pt x="2952750" y="209550"/>
                </a:lnTo>
                <a:lnTo>
                  <a:pt x="2952750" y="0"/>
                </a:lnTo>
                <a:lnTo>
                  <a:pt x="3810000" y="0"/>
                </a:lnTo>
                <a:lnTo>
                  <a:pt x="3810000" y="209550"/>
                </a:lnTo>
                <a:lnTo>
                  <a:pt x="5238750" y="209550"/>
                </a:lnTo>
              </a:path>
            </a:pathLst>
          </a:custGeom>
          <a:noFill/>
          <a:ln w="25400">
            <a:solidFill>
              <a:srgbClr val="15803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3"/>
          <p:cNvSpPr/>
          <p:nvPr/>
        </p:nvSpPr>
        <p:spPr>
          <a:xfrm>
            <a:off x="7277100" y="3695700"/>
            <a:ext cx="44577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7505700" y="3810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4D7C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· 조건</a:t>
            </a:r>
            <a:endParaRPr lang="en-US" sz="1400" dirty="0"/>
          </a:p>
        </p:txBody>
      </p:sp>
      <p:sp>
        <p:nvSpPr>
          <p:cNvPr id="65" name="Text 65"/>
          <p:cNvSpPr txBox="1"/>
          <p:nvPr/>
        </p:nvSpPr>
        <p:spPr>
          <a:xfrm>
            <a:off x="7505700" y="4114800"/>
            <a:ext cx="4000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→ toggle level 변환, level만 2-FF 동기화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^ q3 edge detect → clk_B 1 cycle pulse 복원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간격 ≥ clk_B 3 cycle (이전 toggle 동기화 완료 필요)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간격 연속 event → Handshake · Async FIFO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CDC · Multi-bit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Multi-Bit Data Crosses via Gray Code, Handshake or Async FIFO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2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Gray Code</a:t>
            </a:r>
            <a:endParaRPr lang="en-US" sz="1600" dirty="0"/>
          </a:p>
        </p:txBody>
      </p:sp>
      <p:sp>
        <p:nvSpPr>
          <p:cNvPr id="10" name="Shape 10"/>
          <p:cNvSpPr/>
          <p:nvPr/>
        </p:nvSpPr>
        <p:spPr>
          <a:xfrm>
            <a:off x="426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443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Handshake</a:t>
            </a:r>
            <a:endParaRPr lang="en-US" sz="1600" dirty="0"/>
          </a:p>
        </p:txBody>
      </p:sp>
      <p:sp>
        <p:nvSpPr>
          <p:cNvPr id="12" name="Shape 12"/>
          <p:cNvSpPr/>
          <p:nvPr/>
        </p:nvSpPr>
        <p:spPr>
          <a:xfrm>
            <a:off x="8077200" y="1295400"/>
            <a:ext cx="3657600" cy="4953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8248650" y="1447800"/>
            <a:ext cx="3238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Async FIFO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666750" y="1847850"/>
            <a:ext cx="952500" cy="32385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723900" y="1847850"/>
            <a:ext cx="838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1619250" y="1847850"/>
            <a:ext cx="1143000" cy="32385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1676400" y="1847850"/>
            <a:ext cx="10287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Binary</a:t>
            </a:r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2762250" y="1847850"/>
            <a:ext cx="1143000" cy="32385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2819400" y="1847850"/>
            <a:ext cx="10287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Gray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666750" y="2171700"/>
            <a:ext cx="9525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762000" y="2171700"/>
            <a:ext cx="76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1619250" y="21717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1714500" y="217170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2762250" y="21717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2857500" y="217170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200" dirty="0"/>
          </a:p>
        </p:txBody>
      </p:sp>
      <p:sp>
        <p:nvSpPr>
          <p:cNvPr id="26" name="Shape 26"/>
          <p:cNvSpPr/>
          <p:nvPr/>
        </p:nvSpPr>
        <p:spPr>
          <a:xfrm>
            <a:off x="666750" y="2495550"/>
            <a:ext cx="9525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762000" y="2495550"/>
            <a:ext cx="76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1619250" y="24955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9"/>
          <p:cNvSpPr txBox="1"/>
          <p:nvPr/>
        </p:nvSpPr>
        <p:spPr>
          <a:xfrm>
            <a:off x="1714500" y="249555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2762250" y="24955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2857500" y="249555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666750" y="2819400"/>
            <a:ext cx="9525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762000" y="2819400"/>
            <a:ext cx="76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bit</a:t>
            </a:r>
            <a:endParaRPr lang="en-US" sz="1200" dirty="0"/>
          </a:p>
        </p:txBody>
      </p:sp>
      <p:sp>
        <p:nvSpPr>
          <p:cNvPr id="34" name="Shape 34"/>
          <p:cNvSpPr/>
          <p:nvPr/>
        </p:nvSpPr>
        <p:spPr>
          <a:xfrm>
            <a:off x="1619250" y="2819400"/>
            <a:ext cx="1143000" cy="32385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1714500" y="281940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2762250" y="2819400"/>
            <a:ext cx="1143000" cy="32385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2857500" y="2819400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666750" y="3352800"/>
            <a:ext cx="723900" cy="381000"/>
          </a:xfrm>
          <a:prstGeom prst="rect">
            <a:avLst/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666750" y="3352800"/>
            <a:ext cx="723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000" dirty="0"/>
          </a:p>
        </p:txBody>
      </p:sp>
      <p:cxnSp>
        <p:nvCxnSpPr>
          <p:cNvPr id="40" name="Line 40"/>
          <p:cNvCxnSpPr/>
          <p:nvPr/>
        </p:nvCxnSpPr>
        <p:spPr>
          <a:xfrm>
            <a:off x="1390650" y="3543300"/>
            <a:ext cx="114300" cy="0"/>
          </a:xfrm>
          <a:prstGeom prst="line">
            <a:avLst/>
          </a:prstGeom>
          <a:ln w="1587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41" name="Shape 41"/>
          <p:cNvSpPr/>
          <p:nvPr/>
        </p:nvSpPr>
        <p:spPr>
          <a:xfrm>
            <a:off x="1504950" y="3352800"/>
            <a:ext cx="723900" cy="381000"/>
          </a:xfrm>
          <a:prstGeom prst="rect">
            <a:avLst/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1504950" y="3352800"/>
            <a:ext cx="723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bin2gray</a:t>
            </a:r>
            <a:endParaRPr lang="en-US" sz="1000" dirty="0"/>
          </a:p>
        </p:txBody>
      </p:sp>
      <p:cxnSp>
        <p:nvCxnSpPr>
          <p:cNvPr id="43" name="Line 43"/>
          <p:cNvCxnSpPr/>
          <p:nvPr/>
        </p:nvCxnSpPr>
        <p:spPr>
          <a:xfrm>
            <a:off x="2228850" y="3543300"/>
            <a:ext cx="114300" cy="0"/>
          </a:xfrm>
          <a:prstGeom prst="line">
            <a:avLst/>
          </a:prstGeom>
          <a:ln w="1587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44" name="Shape 44"/>
          <p:cNvSpPr/>
          <p:nvPr/>
        </p:nvSpPr>
        <p:spPr>
          <a:xfrm>
            <a:off x="2343150" y="3352800"/>
            <a:ext cx="723900" cy="381000"/>
          </a:xfrm>
          <a:prstGeom prst="rect">
            <a:avLst/>
          </a:prstGeom>
          <a:solidFill>
            <a:srgbClr val="F0FDF4"/>
          </a:solidFill>
          <a:ln w="158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2343150" y="3352800"/>
            <a:ext cx="723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2-FF × N</a:t>
            </a:r>
            <a:endParaRPr lang="en-US" sz="1000" dirty="0"/>
          </a:p>
        </p:txBody>
      </p:sp>
      <p:cxnSp>
        <p:nvCxnSpPr>
          <p:cNvPr id="46" name="Line 46"/>
          <p:cNvCxnSpPr/>
          <p:nvPr/>
        </p:nvCxnSpPr>
        <p:spPr>
          <a:xfrm>
            <a:off x="3067050" y="3543300"/>
            <a:ext cx="114300" cy="0"/>
          </a:xfrm>
          <a:prstGeom prst="line">
            <a:avLst/>
          </a:prstGeom>
          <a:ln w="15875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47" name="Shape 47"/>
          <p:cNvSpPr/>
          <p:nvPr/>
        </p:nvSpPr>
        <p:spPr>
          <a:xfrm>
            <a:off x="3181350" y="3352800"/>
            <a:ext cx="723900" cy="381000"/>
          </a:xfrm>
          <a:prstGeom prst="rect">
            <a:avLst/>
          </a:prstGeom>
          <a:solidFill>
            <a:srgbClr val="F0FDF4"/>
          </a:solidFill>
          <a:ln w="158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3181350" y="3352800"/>
            <a:ext cx="723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gray2bin</a:t>
            </a:r>
            <a:endParaRPr lang="en-US" sz="1000" dirty="0"/>
          </a:p>
        </p:txBody>
      </p:sp>
      <p:cxnSp>
        <p:nvCxnSpPr>
          <p:cNvPr id="49" name="Line 49"/>
          <p:cNvCxnSpPr/>
          <p:nvPr/>
        </p:nvCxnSpPr>
        <p:spPr>
          <a:xfrm>
            <a:off x="2286000" y="3276600"/>
            <a:ext cx="0" cy="533400"/>
          </a:xfrm>
          <a:prstGeom prst="line">
            <a:avLst/>
          </a:prstGeom>
          <a:ln w="19050">
            <a:solidFill>
              <a:srgbClr val="DC2626"/>
            </a:solidFill>
            <a:prstDash val="dash"/>
          </a:ln>
        </p:spPr>
      </p:cxnSp>
      <p:sp>
        <p:nvSpPr>
          <p:cNvPr id="50" name="Text 50"/>
          <p:cNvSpPr txBox="1"/>
          <p:nvPr/>
        </p:nvSpPr>
        <p:spPr>
          <a:xfrm>
            <a:off x="628650" y="4000500"/>
            <a:ext cx="333375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값 사이 1 bit만 변경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오차 = 이전 값 또는 새 값만 발생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조건: +1 · −1씩 변하는 counter · pointer</a:t>
            </a:r>
            <a:endParaRPr lang="en-US" sz="1200" dirty="0"/>
          </a:p>
        </p:txBody>
      </p:sp>
      <p:cxnSp>
        <p:nvCxnSpPr>
          <p:cNvPr id="51" name="Line 51"/>
          <p:cNvCxnSpPr/>
          <p:nvPr/>
        </p:nvCxnSpPr>
        <p:spPr>
          <a:xfrm>
            <a:off x="6096000" y="1771650"/>
            <a:ext cx="0" cy="2038350"/>
          </a:xfrm>
          <a:prstGeom prst="line">
            <a:avLst/>
          </a:prstGeom>
          <a:ln w="19050">
            <a:solidFill>
              <a:srgbClr val="DC2626"/>
            </a:solidFill>
            <a:prstDash val="dash"/>
          </a:ln>
        </p:spPr>
      </p:cxnSp>
      <p:sp>
        <p:nvSpPr>
          <p:cNvPr id="52" name="Shape 52"/>
          <p:cNvSpPr/>
          <p:nvPr/>
        </p:nvSpPr>
        <p:spPr>
          <a:xfrm>
            <a:off x="4476750" y="1866900"/>
            <a:ext cx="990600" cy="18669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4476750" y="1905000"/>
            <a:ext cx="99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송신</a:t>
            </a:r>
            <a:endParaRPr lang="en-US" sz="1100" dirty="0"/>
          </a:p>
          <a:p>
            <a:pPr marL="0" indent="0" algn="ctr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</a:t>
            </a:r>
            <a:endParaRPr lang="en-US" sz="1100" dirty="0"/>
          </a:p>
        </p:txBody>
      </p:sp>
      <p:sp>
        <p:nvSpPr>
          <p:cNvPr id="54" name="Shape 54"/>
          <p:cNvSpPr/>
          <p:nvPr/>
        </p:nvSpPr>
        <p:spPr>
          <a:xfrm>
            <a:off x="6724650" y="1866900"/>
            <a:ext cx="990600" cy="1866900"/>
          </a:xfrm>
          <a:prstGeom prst="rect">
            <a:avLst/>
          </a:prstGeom>
          <a:solidFill>
            <a:srgbClr val="F0FDF4"/>
          </a:solidFill>
          <a:ln w="158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6724650" y="1905000"/>
            <a:ext cx="99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</a:t>
            </a:r>
            <a:endParaRPr lang="en-US" sz="1100" dirty="0"/>
          </a:p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</a:t>
            </a:r>
            <a:endParaRPr lang="en-US" sz="1100" dirty="0"/>
          </a:p>
        </p:txBody>
      </p:sp>
      <p:cxnSp>
        <p:nvCxnSpPr>
          <p:cNvPr id="56" name="Line 56"/>
          <p:cNvCxnSpPr/>
          <p:nvPr/>
        </p:nvCxnSpPr>
        <p:spPr>
          <a:xfrm>
            <a:off x="5467350" y="2438400"/>
            <a:ext cx="1257300" cy="0"/>
          </a:xfrm>
          <a:prstGeom prst="line">
            <a:avLst/>
          </a:prstGeom>
          <a:ln w="44450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57" name="Shape 57"/>
          <p:cNvSpPr/>
          <p:nvPr/>
        </p:nvSpPr>
        <p:spPr>
          <a:xfrm>
            <a:off x="5657850" y="2190750"/>
            <a:ext cx="8763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5657850" y="2190750"/>
            <a:ext cx="8763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data[N] 고정</a:t>
            </a:r>
            <a:endParaRPr lang="en-US" sz="1000" dirty="0"/>
          </a:p>
        </p:txBody>
      </p:sp>
      <p:cxnSp>
        <p:nvCxnSpPr>
          <p:cNvPr id="59" name="Line 59"/>
          <p:cNvCxnSpPr/>
          <p:nvPr/>
        </p:nvCxnSpPr>
        <p:spPr>
          <a:xfrm>
            <a:off x="5467350" y="2971800"/>
            <a:ext cx="342900" cy="0"/>
          </a:xfrm>
          <a:prstGeom prst="line">
            <a:avLst/>
          </a:prstGeom>
          <a:ln w="19050">
            <a:solidFill>
              <a:srgbClr val="9333EA"/>
            </a:solidFill>
            <a:prstDash val="solid"/>
          </a:ln>
        </p:spPr>
      </p:cxnSp>
      <p:sp>
        <p:nvSpPr>
          <p:cNvPr id="60" name="Shape 60"/>
          <p:cNvSpPr/>
          <p:nvPr/>
        </p:nvSpPr>
        <p:spPr>
          <a:xfrm>
            <a:off x="5810250" y="2857500"/>
            <a:ext cx="571500" cy="228600"/>
          </a:xfrm>
          <a:prstGeom prst="rect">
            <a:avLst/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5810250" y="2857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2-FF</a:t>
            </a:r>
            <a:endParaRPr lang="en-US" sz="1000" dirty="0"/>
          </a:p>
        </p:txBody>
      </p:sp>
      <p:cxnSp>
        <p:nvCxnSpPr>
          <p:cNvPr id="62" name="Line 62"/>
          <p:cNvCxnSpPr/>
          <p:nvPr/>
        </p:nvCxnSpPr>
        <p:spPr>
          <a:xfrm>
            <a:off x="6381750" y="2971800"/>
            <a:ext cx="342900" cy="0"/>
          </a:xfrm>
          <a:prstGeom prst="line">
            <a:avLst/>
          </a:prstGeom>
          <a:ln w="1905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63" name="Text 63"/>
          <p:cNvSpPr txBox="1"/>
          <p:nvPr/>
        </p:nvSpPr>
        <p:spPr>
          <a:xfrm>
            <a:off x="5505450" y="274320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endParaRPr lang="en-US" sz="1000" dirty="0"/>
          </a:p>
        </p:txBody>
      </p:sp>
      <p:cxnSp>
        <p:nvCxnSpPr>
          <p:cNvPr id="64" name="Line 64"/>
          <p:cNvCxnSpPr/>
          <p:nvPr/>
        </p:nvCxnSpPr>
        <p:spPr>
          <a:xfrm flipH="1">
            <a:off x="6381750" y="3448050"/>
            <a:ext cx="342900" cy="0"/>
          </a:xfrm>
          <a:prstGeom prst="line">
            <a:avLst/>
          </a:prstGeom>
          <a:ln w="19050">
            <a:solidFill>
              <a:srgbClr val="9333EA"/>
            </a:solidFill>
            <a:prstDash val="solid"/>
          </a:ln>
        </p:spPr>
      </p:cxnSp>
      <p:sp>
        <p:nvSpPr>
          <p:cNvPr id="65" name="Shape 65"/>
          <p:cNvSpPr/>
          <p:nvPr/>
        </p:nvSpPr>
        <p:spPr>
          <a:xfrm>
            <a:off x="5810250" y="3333750"/>
            <a:ext cx="571500" cy="228600"/>
          </a:xfrm>
          <a:prstGeom prst="rect">
            <a:avLst/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5810250" y="33337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2-FF</a:t>
            </a:r>
            <a:endParaRPr lang="en-US" sz="1000" dirty="0"/>
          </a:p>
        </p:txBody>
      </p:sp>
      <p:cxnSp>
        <p:nvCxnSpPr>
          <p:cNvPr id="67" name="Line 67"/>
          <p:cNvCxnSpPr/>
          <p:nvPr/>
        </p:nvCxnSpPr>
        <p:spPr>
          <a:xfrm flipH="1">
            <a:off x="5467350" y="3448050"/>
            <a:ext cx="342900" cy="0"/>
          </a:xfrm>
          <a:prstGeom prst="line">
            <a:avLst/>
          </a:prstGeom>
          <a:ln w="1905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68" name="Text 68"/>
          <p:cNvSpPr txBox="1"/>
          <p:nvPr/>
        </p:nvSpPr>
        <p:spPr>
          <a:xfrm>
            <a:off x="6419850" y="32194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</a:t>
            </a:r>
            <a:endParaRPr lang="en-US" sz="1000" dirty="0"/>
          </a:p>
        </p:txBody>
      </p:sp>
      <p:sp>
        <p:nvSpPr>
          <p:cNvPr id="69" name="Text 69"/>
          <p:cNvSpPr txBox="1"/>
          <p:nvPr/>
        </p:nvSpPr>
        <p:spPr>
          <a:xfrm>
            <a:off x="4438650" y="4000500"/>
            <a:ext cx="333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고정 → req 1 bit만 동기화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 확인 시점 data 안정 → 수신 측 직접 캡처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ack 회신 후 다음 data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bus 동기화 없음, word당 수 cycle 소요</a:t>
            </a:r>
            <a:endParaRPr lang="en-US" sz="1200" dirty="0"/>
          </a:p>
        </p:txBody>
      </p:sp>
      <p:cxnSp>
        <p:nvCxnSpPr>
          <p:cNvPr id="70" name="Line 70"/>
          <p:cNvCxnSpPr/>
          <p:nvPr/>
        </p:nvCxnSpPr>
        <p:spPr>
          <a:xfrm>
            <a:off x="9906000" y="1771650"/>
            <a:ext cx="0" cy="2038350"/>
          </a:xfrm>
          <a:prstGeom prst="line">
            <a:avLst/>
          </a:prstGeom>
          <a:ln w="19050">
            <a:solidFill>
              <a:srgbClr val="DC2626"/>
            </a:solidFill>
            <a:prstDash val="dash"/>
          </a:ln>
        </p:spPr>
      </p:cxnSp>
      <p:sp>
        <p:nvSpPr>
          <p:cNvPr id="71" name="Shape 71"/>
          <p:cNvSpPr/>
          <p:nvPr/>
        </p:nvSpPr>
        <p:spPr>
          <a:xfrm>
            <a:off x="8286750" y="1905000"/>
            <a:ext cx="857250" cy="6096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2"/>
          <p:cNvSpPr txBox="1"/>
          <p:nvPr/>
        </p:nvSpPr>
        <p:spPr>
          <a:xfrm>
            <a:off x="8286750" y="1905000"/>
            <a:ext cx="85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write</a:t>
            </a:r>
            <a:endParaRPr lang="en-US" sz="1100" dirty="0"/>
          </a:p>
          <a:p>
            <a:pPr marL="0" indent="0" algn="ctr">
              <a:buNone/>
            </a:pPr>
            <a:r>
              <a:rPr lang="ko-KR" altLang="en-US" sz="11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clk_A</a:t>
            </a:r>
            <a:endParaRPr lang="en-US" sz="1100" dirty="0"/>
          </a:p>
        </p:txBody>
      </p:sp>
      <p:sp>
        <p:nvSpPr>
          <p:cNvPr id="73" name="Shape 73"/>
          <p:cNvSpPr/>
          <p:nvPr/>
        </p:nvSpPr>
        <p:spPr>
          <a:xfrm>
            <a:off x="9429750" y="1905000"/>
            <a:ext cx="952500" cy="609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9429750" y="1905000"/>
            <a:ext cx="95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Dual-port</a:t>
            </a:r>
            <a:endParaRPr lang="en-US" sz="1100" dirty="0"/>
          </a:p>
          <a:p>
            <a:pPr marL="0" indent="0" algn="ctr">
              <a:buNone/>
            </a:pPr>
            <a:r>
              <a:rPr lang="ko-KR" alt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RAM</a:t>
            </a:r>
            <a:endParaRPr lang="en-US" sz="1100" dirty="0"/>
          </a:p>
        </p:txBody>
      </p:sp>
      <p:sp>
        <p:nvSpPr>
          <p:cNvPr id="75" name="Shape 75"/>
          <p:cNvSpPr/>
          <p:nvPr/>
        </p:nvSpPr>
        <p:spPr>
          <a:xfrm>
            <a:off x="10668000" y="1905000"/>
            <a:ext cx="857250" cy="609600"/>
          </a:xfrm>
          <a:prstGeom prst="rect">
            <a:avLst/>
          </a:prstGeom>
          <a:solidFill>
            <a:srgbClr val="F0FDF4"/>
          </a:solidFill>
          <a:ln w="158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10668000" y="1905000"/>
            <a:ext cx="85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</a:t>
            </a:r>
            <a:endParaRPr lang="en-US" sz="1100" dirty="0"/>
          </a:p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clk_B</a:t>
            </a:r>
            <a:endParaRPr lang="en-US" sz="1100" dirty="0"/>
          </a:p>
        </p:txBody>
      </p:sp>
      <p:cxnSp>
        <p:nvCxnSpPr>
          <p:cNvPr id="77" name="Line 77"/>
          <p:cNvCxnSpPr/>
          <p:nvPr/>
        </p:nvCxnSpPr>
        <p:spPr>
          <a:xfrm>
            <a:off x="9144000" y="2209800"/>
            <a:ext cx="285750" cy="0"/>
          </a:xfrm>
          <a:prstGeom prst="line">
            <a:avLst/>
          </a:prstGeom>
          <a:ln w="31750">
            <a:solidFill>
              <a:srgbClr val="0F172A"/>
            </a:solidFill>
            <a:prstDash val="solid"/>
            <a:tailEnd type="triangle"/>
          </a:ln>
        </p:spPr>
      </p:cxnSp>
      <p:cxnSp>
        <p:nvCxnSpPr>
          <p:cNvPr id="78" name="Line 78"/>
          <p:cNvCxnSpPr/>
          <p:nvPr/>
        </p:nvCxnSpPr>
        <p:spPr>
          <a:xfrm>
            <a:off x="10382250" y="2209800"/>
            <a:ext cx="285750" cy="0"/>
          </a:xfrm>
          <a:prstGeom prst="line">
            <a:avLst/>
          </a:prstGeom>
          <a:ln w="31750">
            <a:solidFill>
              <a:srgbClr val="0F172A"/>
            </a:solidFill>
            <a:prstDash val="solid"/>
            <a:tailEnd type="triangle"/>
          </a:ln>
        </p:spPr>
      </p:cxnSp>
      <p:sp>
        <p:nvSpPr>
          <p:cNvPr id="79" name="Path 79"/>
          <p:cNvSpPr/>
          <p:nvPr/>
        </p:nvSpPr>
        <p:spPr>
          <a:xfrm>
            <a:off x="8620125" y="2514600"/>
            <a:ext cx="1000125" cy="457200"/>
          </a:xfrm>
          <a:custGeom>
            <a:avLst/>
            <a:gdLst/>
            <a:ahLst/>
            <a:cxnLst/>
            <a:rect l="0" t="0" r="r" b="b"/>
            <a:pathLst>
              <a:path w="1000125" h="457200" fill="none">
                <a:moveTo>
                  <a:pt x="0" y="0"/>
                </a:moveTo>
                <a:lnTo>
                  <a:pt x="0" y="457200"/>
                </a:lnTo>
                <a:lnTo>
                  <a:pt x="1000125" y="457200"/>
                </a:lnTo>
              </a:path>
            </a:pathLst>
          </a:custGeom>
          <a:noFill/>
          <a:ln w="19050">
            <a:solidFill>
              <a:srgbClr val="0D948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80"/>
          <p:cNvSpPr/>
          <p:nvPr/>
        </p:nvSpPr>
        <p:spPr>
          <a:xfrm>
            <a:off x="9620250" y="2857500"/>
            <a:ext cx="571500" cy="228600"/>
          </a:xfrm>
          <a:prstGeom prst="rect">
            <a:avLst/>
          </a:prstGeom>
          <a:solidFill>
            <a:srgbClr val="CCFBF1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81"/>
          <p:cNvSpPr txBox="1"/>
          <p:nvPr/>
        </p:nvSpPr>
        <p:spPr>
          <a:xfrm>
            <a:off x="9620250" y="2857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2-FF</a:t>
            </a:r>
            <a:endParaRPr lang="en-US" sz="1000" dirty="0"/>
          </a:p>
        </p:txBody>
      </p:sp>
      <p:sp>
        <p:nvSpPr>
          <p:cNvPr id="82" name="Path 82"/>
          <p:cNvSpPr/>
          <p:nvPr/>
        </p:nvSpPr>
        <p:spPr>
          <a:xfrm>
            <a:off x="10191750" y="2514600"/>
            <a:ext cx="1000125" cy="457200"/>
          </a:xfrm>
          <a:custGeom>
            <a:avLst/>
            <a:gdLst/>
            <a:ahLst/>
            <a:cxnLst/>
            <a:rect l="0" t="0" r="r" b="b"/>
            <a:pathLst>
              <a:path w="1000125" h="457200" fill="none">
                <a:moveTo>
                  <a:pt x="0" y="457200"/>
                </a:moveTo>
                <a:lnTo>
                  <a:pt x="1000125" y="457200"/>
                </a:lnTo>
                <a:lnTo>
                  <a:pt x="1000125" y="0"/>
                </a:lnTo>
              </a:path>
            </a:pathLst>
          </a:custGeom>
          <a:noFill/>
          <a:ln w="19050">
            <a:solidFill>
              <a:srgbClr val="0D9488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3"/>
          <p:cNvSpPr txBox="1"/>
          <p:nvPr/>
        </p:nvSpPr>
        <p:spPr>
          <a:xfrm>
            <a:off x="8648700" y="3009900"/>
            <a:ext cx="95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wptr · Gray</a:t>
            </a:r>
            <a:endParaRPr lang="en-US" sz="1000" dirty="0"/>
          </a:p>
        </p:txBody>
      </p:sp>
      <p:sp>
        <p:nvSpPr>
          <p:cNvPr id="84" name="Path 84"/>
          <p:cNvSpPr/>
          <p:nvPr/>
        </p:nvSpPr>
        <p:spPr>
          <a:xfrm>
            <a:off x="10191750" y="2514600"/>
            <a:ext cx="809625" cy="971550"/>
          </a:xfrm>
          <a:custGeom>
            <a:avLst/>
            <a:gdLst/>
            <a:ahLst/>
            <a:cxnLst/>
            <a:rect l="0" t="0" r="r" b="b"/>
            <a:pathLst>
              <a:path w="809625" h="971550" fill="none">
                <a:moveTo>
                  <a:pt x="809625" y="0"/>
                </a:moveTo>
                <a:lnTo>
                  <a:pt x="809625" y="971550"/>
                </a:lnTo>
                <a:lnTo>
                  <a:pt x="0" y="971550"/>
                </a:lnTo>
              </a:path>
            </a:pathLst>
          </a:custGeom>
          <a:noFill/>
          <a:ln w="19050">
            <a:solidFill>
              <a:srgbClr val="0D948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5"/>
          <p:cNvSpPr/>
          <p:nvPr/>
        </p:nvSpPr>
        <p:spPr>
          <a:xfrm>
            <a:off x="9620250" y="3371850"/>
            <a:ext cx="571500" cy="228600"/>
          </a:xfrm>
          <a:prstGeom prst="rect">
            <a:avLst/>
          </a:prstGeom>
          <a:solidFill>
            <a:srgbClr val="CCFBF1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6"/>
          <p:cNvSpPr txBox="1"/>
          <p:nvPr/>
        </p:nvSpPr>
        <p:spPr>
          <a:xfrm>
            <a:off x="9620250" y="33718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2-FF</a:t>
            </a:r>
            <a:endParaRPr lang="en-US" sz="1000" dirty="0"/>
          </a:p>
        </p:txBody>
      </p:sp>
      <p:sp>
        <p:nvSpPr>
          <p:cNvPr id="87" name="Path 87"/>
          <p:cNvSpPr/>
          <p:nvPr/>
        </p:nvSpPr>
        <p:spPr>
          <a:xfrm>
            <a:off x="8810625" y="2514600"/>
            <a:ext cx="809625" cy="971550"/>
          </a:xfrm>
          <a:custGeom>
            <a:avLst/>
            <a:gdLst/>
            <a:ahLst/>
            <a:cxnLst/>
            <a:rect l="0" t="0" r="r" b="b"/>
            <a:pathLst>
              <a:path w="809625" h="971550" fill="none">
                <a:moveTo>
                  <a:pt x="809625" y="971550"/>
                </a:moveTo>
                <a:lnTo>
                  <a:pt x="0" y="9715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D9488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8"/>
          <p:cNvSpPr txBox="1"/>
          <p:nvPr/>
        </p:nvSpPr>
        <p:spPr>
          <a:xfrm>
            <a:off x="10229850" y="3524250"/>
            <a:ext cx="95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rptr · Gray</a:t>
            </a:r>
            <a:endParaRPr lang="en-US" sz="1000" dirty="0"/>
          </a:p>
        </p:txBody>
      </p:sp>
      <p:sp>
        <p:nvSpPr>
          <p:cNvPr id="89" name="Text 89"/>
          <p:cNvSpPr txBox="1"/>
          <p:nvPr/>
        </p:nvSpPr>
        <p:spPr>
          <a:xfrm>
            <a:off x="8248650" y="4000500"/>
            <a:ext cx="333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= dual-clock RAM 저장, 동기화 없음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pointer만 Gray 변환 후 2-FF 동기화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empty = 수신 측 판정, full = 송신 측 판정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data stream 전달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Glitch · 발생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Unequal Path Delays Create a Glitch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9055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gl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524000"/>
            <a:ext cx="5334000" cy="433729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53200" y="1295400"/>
            <a:ext cx="5181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781800" y="1485900"/>
            <a:ext cx="4762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: 1 → 0, A = 0, C =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781800" y="19050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 Path (n2): B 직접 → AND → 빠르게 0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 Path (n1): B → inverter → AND → 늦게 1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n1 · n2 둘 다 0인 구간 발생 → Y = 1 → 0 → 1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Glitch 폭 = 두 경로 delay 차이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781800" y="4476750"/>
            <a:ext cx="4724400" cy="1524000"/>
          </a:xfrm>
          <a:prstGeom prst="roundRect">
            <a:avLst>
              <a:gd name="adj" fmla="val 4800"/>
            </a:avLst>
          </a:prstGeom>
          <a:solidFill>
            <a:srgbClr val="FCE7F3"/>
          </a:solidFill>
          <a:ln w="9525">
            <a:solidFill>
              <a:srgbClr val="F9A8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972300" y="4629150"/>
            <a:ext cx="438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위치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72300" y="495300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조합회로 출력 (입력 간 도착 시간 차이)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출력 = 클럭 엣지에서만 변경 → Glitch 없음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61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Glitch · FF 필요 여부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 Outputs Only Where Glitches Matter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57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 vs Sequential Output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729865"/>
              </p:ext>
            </p:extLst>
          </p:nvPr>
        </p:nvGraphicFramePr>
        <p:xfrm>
          <a:off x="457200" y="1562100"/>
          <a:ext cx="11277600" cy="2628900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 </a:t>
                      </a:r>
                      <a:r>
                        <a:rPr lang="en-US" sz="14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SL </a:t>
                      </a:r>
                      <a:r>
                        <a:rPr lang="en-US" sz="14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Glitch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응답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전파 delay만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 cycle 지연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· Cost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수 증가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전력 · 발열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클럭 부하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클럭 toggle 전력 증가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Timing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Critical Path 길어짐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분할 → 안정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438650"/>
            <a:ext cx="5562600" cy="1809750"/>
          </a:xfrm>
          <a:prstGeom prst="roundRect">
            <a:avLst>
              <a:gd name="adj" fmla="val 4042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85800" y="459105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필요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4914900"/>
            <a:ext cx="514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· enable · async reset으로 쓰는 신호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클럭 도메인 · 외부 칩 입력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 Path 분할 필요 구간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4438650"/>
            <a:ext cx="5562600" cy="1809750"/>
          </a:xfrm>
          <a:prstGeom prst="roundRect">
            <a:avLst>
              <a:gd name="adj" fmla="val 40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10"/>
          <p:cNvSpPr/>
          <p:nvPr/>
        </p:nvSpPr>
        <p:spPr>
          <a:xfrm>
            <a:off x="6400800" y="459105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불필요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00800" y="4914900"/>
            <a:ext cx="514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FF가 엣지에서만 읽는 내부 신호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엣지 Setup 전 안정 → Glitch 무관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LED처럼 ns 단위 Glitch가 의미 없는 출력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61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Moore vs Mealy · 개념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Output Depends on State Only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562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7700" y="14287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0550" y="22669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66800" y="2381250"/>
            <a:ext cx="3429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409700" y="2095500"/>
            <a:ext cx="1238250" cy="571500"/>
          </a:xfrm>
          <a:prstGeom prst="rect">
            <a:avLst/>
          </a:prstGeom>
          <a:solidFill>
            <a:srgbClr val="E3F0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09700" y="2095500"/>
            <a:ext cx="1238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795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028950" y="2095500"/>
            <a:ext cx="1047750" cy="571500"/>
          </a:xfrm>
          <a:prstGeom prst="rect">
            <a:avLst/>
          </a:prstGeom>
          <a:solidFill>
            <a:srgbClr val="F1F5F9"/>
          </a:solidFill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02895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7670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457700" y="2095500"/>
            <a:ext cx="1047750" cy="5715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45770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05450" y="2381250"/>
            <a:ext cx="32385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219700" y="26860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67200" y="2381250"/>
            <a:ext cx="0" cy="66675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2028825" y="3048000"/>
            <a:ext cx="2238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028825" y="2667000"/>
            <a:ext cx="0" cy="3810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7700" y="323850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= f(state)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72200" y="1295400"/>
            <a:ext cx="5562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362700" y="14287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05550" y="22669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81800" y="2381250"/>
            <a:ext cx="3429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124700" y="2095500"/>
            <a:ext cx="1238250" cy="571500"/>
          </a:xfrm>
          <a:prstGeom prst="rect">
            <a:avLst/>
          </a:prstGeom>
          <a:solidFill>
            <a:srgbClr val="E3F0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124700" y="2095500"/>
            <a:ext cx="1238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6295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8743950" y="2095500"/>
            <a:ext cx="1047750" cy="571500"/>
          </a:xfrm>
          <a:prstGeom prst="rect">
            <a:avLst/>
          </a:prstGeom>
          <a:solidFill>
            <a:srgbClr val="F1F5F9"/>
          </a:solidFill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74395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79170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0172700" y="2095500"/>
            <a:ext cx="1047750" cy="5715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017270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1220450" y="2381250"/>
            <a:ext cx="32385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934700" y="26860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982200" y="2381250"/>
            <a:ext cx="0" cy="66675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743825" y="3048000"/>
            <a:ext cx="2238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7743825" y="2667000"/>
            <a:ext cx="0" cy="3810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953250" y="1714500"/>
            <a:ext cx="0" cy="66675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6953250" y="1714500"/>
            <a:ext cx="3743325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10696575" y="1714500"/>
            <a:ext cx="0" cy="3810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553450" y="14668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→ output 직결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62700" y="323850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= f(state, input)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8100"/>
          <a:ext cx="11277600" cy="186690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0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Moore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Mealy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결정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state만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state + 현재 input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변경 시점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클럭 엣지 이후 (state 변경 시)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변경 즉시 (같은 cycle)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응답 지연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clock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clock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Glitch · bounce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출력에 전달 안 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출력에 그대로 전달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상태 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기능 기준 많거나 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적거나 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Timing path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register → output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→ output 조합 경로 추가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61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Moore vs Mealy · 개념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Reacts Instantly, Moore Waits One Clock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3771900"/>
          </a:xfrm>
          <a:prstGeom prst="roundRect">
            <a:avLst>
              <a:gd name="adj" fmla="val 19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666875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333625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527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619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출력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2862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출력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24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857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1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524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858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0191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190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857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857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524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24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191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191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857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857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524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524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191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191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858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858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7524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7524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91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8191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858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858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9525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9525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191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0191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10858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0858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190750" y="2619375"/>
            <a:ext cx="1866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0576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4057650" y="2333625"/>
            <a:ext cx="273367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791325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791325" y="2619375"/>
            <a:ext cx="2000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9913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991350" y="2333625"/>
            <a:ext cx="2400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3916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9391650" y="2619375"/>
            <a:ext cx="2133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190750" y="2971800"/>
            <a:ext cx="2667000" cy="2667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190750" y="29718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57750" y="2971800"/>
            <a:ext cx="5334000" cy="2667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857750" y="2971800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191750" y="2971800"/>
            <a:ext cx="1333500" cy="2667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10191750" y="297180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190750" y="3905250"/>
            <a:ext cx="273367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924425" y="3619500"/>
            <a:ext cx="0" cy="2857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4924425" y="3619500"/>
            <a:ext cx="5334000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10258425" y="3619500"/>
            <a:ext cx="0" cy="2857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0258425" y="3905250"/>
            <a:ext cx="126682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2190750" y="4572000"/>
            <a:ext cx="193357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1243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124325" y="4286250"/>
            <a:ext cx="273367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858000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858000" y="4572000"/>
            <a:ext cx="20002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70580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7058025" y="4286250"/>
            <a:ext cx="24003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94583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9458325" y="4572000"/>
            <a:ext cx="206692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/>
          <p:nvPr/>
        </p:nvSpPr>
        <p:spPr>
          <a:xfrm>
            <a:off x="7191375" y="401955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bounce 그대로 통과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7191375" y="241935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스위치 bounce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5057775" y="365760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엣지에서만 변경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0325100" y="39243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clock 늦음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124325" y="4762500"/>
            <a:ext cx="800100" cy="0"/>
          </a:xfrm>
          <a:prstGeom prst="line">
            <a:avLst/>
          </a:prstGeom>
          <a:noFill/>
          <a:ln w="1587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/>
          <p:nvPr/>
        </p:nvSpPr>
        <p:spPr>
          <a:xfrm>
            <a:off x="3790950" y="480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차이 = 1 clock 이내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457200" y="5200650"/>
            <a:ext cx="5562600" cy="1143000"/>
          </a:xfrm>
          <a:prstGeom prst="roundRect">
            <a:avLst>
              <a:gd name="adj" fmla="val 6400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685800" y="529590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685800" y="55816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엣지에서만 출력 변경, 엣지 사이 input 변화 무시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대가: input 대비 최대 1 clock 지연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6172200" y="5200650"/>
            <a:ext cx="5562600" cy="1143000"/>
          </a:xfrm>
          <a:prstGeom prst="roundRect">
            <a:avLst>
              <a:gd name="adj" fmla="val 640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/>
          <p:nvPr/>
        </p:nvSpPr>
        <p:spPr>
          <a:xfrm>
            <a:off x="6400800" y="529590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400800" y="55816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변경 즉시 출력 반영, 지연 없음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대가: input의 Glitch · bounce가 출력까지 전달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61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FSM_S3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States Step the LEDs by Switch Code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81915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019550" y="192405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019550" y="208978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185285" y="2495550"/>
            <a:ext cx="77343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7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4481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638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877050" y="192405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877050" y="208978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042785" y="2495550"/>
            <a:ext cx="77343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1151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05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7496175" y="26098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8770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8770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042785" y="5067300"/>
            <a:ext cx="773430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115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305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96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0195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0195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185285" y="5067300"/>
            <a:ext cx="773430" cy="0"/>
          </a:xfrm>
          <a:prstGeom prst="line">
            <a:avLst/>
          </a:prstGeom>
          <a:noFill/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257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448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6386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525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3525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18285" y="5067300"/>
            <a:ext cx="773430" cy="0"/>
          </a:xfrm>
          <a:prstGeom prst="line">
            <a:avLst/>
          </a:prstGeom>
          <a:noFill/>
          <a:ln w="127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90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7811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971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124450" y="2476500"/>
            <a:ext cx="1752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5619750" y="221932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429500" y="3028950"/>
            <a:ext cx="0" cy="146685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353300" y="36576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 flipH="1">
            <a:off x="5124450" y="5048250"/>
            <a:ext cx="1752600" cy="0"/>
          </a:xfrm>
          <a:prstGeom prst="line">
            <a:avLst/>
          </a:prstGeom>
          <a:noFill/>
          <a:ln w="2540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5619750" y="511492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 flipV="1">
            <a:off x="4400550" y="3009900"/>
            <a:ext cx="0" cy="150495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3714750" y="36576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 flipV="1">
            <a:off x="4972050" y="2857500"/>
            <a:ext cx="2057400" cy="180975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810250" y="38004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 flipH="1">
            <a:off x="2457450" y="5048250"/>
            <a:ext cx="1562100" cy="0"/>
          </a:xfrm>
          <a:prstGeom prst="line">
            <a:avLst/>
          </a:prstGeom>
          <a:noFill/>
          <a:ln w="2540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2857500" y="47910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 flipV="1">
            <a:off x="2247900" y="2762250"/>
            <a:ext cx="1847850" cy="184785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2476500" y="34194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572000" y="1524000"/>
            <a:ext cx="0" cy="40005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4667250" y="15049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5800" y="14859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: o_led[2] [1] [0]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839200" y="12573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조건</a:t>
            </a:r>
            <a:endParaRPr lang="en-US" sz="15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39200" y="1562100"/>
          <a:ext cx="2895600" cy="2286000"/>
        </p:xfrm>
        <a:graphic>
          <a:graphicData uri="http://schemas.openxmlformats.org/drawingml/2006/table">
            <a:tbl>
              <a:tblPr/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o_led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563E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891B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9333E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B277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Text 5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61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Block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Decode Reads Only the State Register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5000" y="1428750"/>
            <a:ext cx="8382000" cy="4191000"/>
          </a:xfrm>
          <a:prstGeom prst="rect">
            <a:avLst/>
          </a:prstGeom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9300" y="14859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FSM_S3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336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4350" y="27336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35292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4350" y="43529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291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4350" y="48291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72750" y="3019425"/>
            <a:ext cx="1238250" cy="247650"/>
          </a:xfrm>
          <a:prstGeom prst="homePlate">
            <a:avLst/>
          </a:prstGeom>
          <a:solidFill>
            <a:srgbClr val="DCFCE7"/>
          </a:solidFill>
          <a:ln w="158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629900" y="30194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o_led[2:0]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7500" y="2381250"/>
            <a:ext cx="2000250" cy="1524000"/>
          </a:xfrm>
          <a:prstGeom prst="roundRect">
            <a:avLst>
              <a:gd name="adj" fmla="val 36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857500" y="2457450"/>
            <a:ext cx="2000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7500" y="2667000"/>
            <a:ext cx="2000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0350" y="280035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952750" y="2762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00350" y="3467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952750" y="3429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762375" y="3048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571750"/>
            <a:ext cx="1809750" cy="2762250"/>
          </a:xfrm>
          <a:prstGeom prst="roundRect">
            <a:avLst>
              <a:gd name="adj" fmla="val 3032"/>
            </a:avLst>
          </a:prstGeom>
          <a:solidFill>
            <a:srgbClr val="FEF2F2"/>
          </a:solidFill>
          <a:ln w="222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715000" y="2647950"/>
            <a:ext cx="1809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state_reg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857500"/>
            <a:ext cx="180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57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10250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57850" y="441960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810250" y="43815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57850" y="489585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810250" y="485775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67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24625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382000" y="2571750"/>
            <a:ext cx="1619250" cy="1143000"/>
          </a:xfrm>
          <a:prstGeom prst="roundRect">
            <a:avLst>
              <a:gd name="adj" fmla="val 48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382000" y="2647950"/>
            <a:ext cx="1619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 Decode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382000" y="28575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324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477250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9441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096375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695450" y="2857500"/>
            <a:ext cx="110490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914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695450" y="447675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695450" y="495300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581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10058400" y="3143250"/>
            <a:ext cx="5143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7953375" y="3143250"/>
            <a:ext cx="0" cy="1047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 flipH="1">
            <a:off x="2476500" y="4191000"/>
            <a:ext cx="5476875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 flipV="1">
            <a:off x="2476500" y="3524250"/>
            <a:ext cx="0" cy="666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2476500" y="3524250"/>
            <a:ext cx="3238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4953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20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095500" y="5829300"/>
            <a:ext cx="209550" cy="152400"/>
          </a:xfrm>
          <a:prstGeom prst="rect">
            <a:avLst/>
          </a:prstGeom>
          <a:solidFill>
            <a:srgbClr val="ECFEFF"/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2381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0500" y="5829300"/>
            <a:ext cx="209550" cy="152400"/>
          </a:xfrm>
          <a:prstGeom prst="rect">
            <a:avLst/>
          </a:prstGeom>
          <a:solidFill>
            <a:srgbClr val="FEF2F2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286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61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TB 구조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Compares o_led with a Golden Model Every Cycle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685800" y="1600200"/>
            <a:ext cx="1905000" cy="7239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6858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· async_reset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3162300" y="1600200"/>
            <a:ext cx="1905000" cy="72390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31623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500" dirty="0"/>
          </a:p>
        </p:txBody>
      </p:sp>
      <p:sp>
        <p:nvSpPr>
          <p:cNvPr id="14" name="Text 14"/>
          <p:cNvSpPr txBox="1"/>
          <p:nvPr/>
        </p:nvSpPr>
        <p:spPr>
          <a:xfrm>
            <a:off x="31623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FSM_S3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7620000" y="1600200"/>
            <a:ext cx="1905000" cy="723900"/>
          </a:xfrm>
          <a:prstGeom prst="rect">
            <a:avLst/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76200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Checker</a:t>
            </a:r>
            <a:endParaRPr lang="en-US" sz="1500" dirty="0"/>
          </a:p>
        </p:txBody>
      </p:sp>
      <p:sp>
        <p:nvSpPr>
          <p:cNvPr id="17" name="Text 17"/>
          <p:cNvSpPr txBox="1"/>
          <p:nvPr/>
        </p:nvSpPr>
        <p:spPr>
          <a:xfrm>
            <a:off x="76200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비교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10001250" y="1600200"/>
            <a:ext cx="1504950" cy="7239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10001250" y="1695450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Report</a:t>
            </a:r>
            <a:endParaRPr lang="en-US" sz="1500" dirty="0"/>
          </a:p>
        </p:txBody>
      </p:sp>
      <p:sp>
        <p:nvSpPr>
          <p:cNvPr id="20" name="Text 20"/>
          <p:cNvSpPr txBox="1"/>
          <p:nvPr/>
        </p:nvSpPr>
        <p:spPr>
          <a:xfrm>
            <a:off x="10001250" y="1981200"/>
            <a:ext cx="1504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표 · PASS</a:t>
            </a:r>
            <a:endParaRPr lang="en-US" sz="1100" dirty="0"/>
          </a:p>
        </p:txBody>
      </p:sp>
      <p:sp>
        <p:nvSpPr>
          <p:cNvPr id="21" name="Shape 21"/>
          <p:cNvSpPr/>
          <p:nvPr/>
        </p:nvSpPr>
        <p:spPr>
          <a:xfrm>
            <a:off x="5391150" y="2590800"/>
            <a:ext cx="1905000" cy="7239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5391150" y="26860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Golden Model</a:t>
            </a:r>
            <a:endParaRPr lang="en-US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5391150" y="29718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· g_code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2590800" y="1962150"/>
            <a:ext cx="57150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5" name="Text 25"/>
          <p:cNvSpPr txBox="1"/>
          <p:nvPr/>
        </p:nvSpPr>
        <p:spPr>
          <a:xfrm>
            <a:off x="2590800" y="17526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5067300" y="1962150"/>
            <a:ext cx="255270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7" name="Text 27"/>
          <p:cNvSpPr txBox="1"/>
          <p:nvPr/>
        </p:nvSpPr>
        <p:spPr>
          <a:xfrm>
            <a:off x="5905500" y="17526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100" dirty="0"/>
          </a:p>
        </p:txBody>
      </p:sp>
      <p:cxnSp>
        <p:nvCxnSpPr>
          <p:cNvPr id="28" name="Line 28"/>
          <p:cNvCxnSpPr/>
          <p:nvPr/>
        </p:nvCxnSpPr>
        <p:spPr>
          <a:xfrm>
            <a:off x="9525000" y="1962150"/>
            <a:ext cx="47625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9" name="Path 29"/>
          <p:cNvSpPr/>
          <p:nvPr/>
        </p:nvSpPr>
        <p:spPr>
          <a:xfrm>
            <a:off x="1638300" y="2324100"/>
            <a:ext cx="3752850" cy="628650"/>
          </a:xfrm>
          <a:custGeom>
            <a:avLst/>
            <a:gdLst/>
            <a:ahLst/>
            <a:cxnLst/>
            <a:rect l="0" t="0" r="r" b="b"/>
            <a:pathLst>
              <a:path w="3752850" h="628650" fill="none">
                <a:moveTo>
                  <a:pt x="0" y="0"/>
                </a:moveTo>
                <a:lnTo>
                  <a:pt x="0" y="628650"/>
                </a:lnTo>
                <a:lnTo>
                  <a:pt x="3752850" y="62865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476500" y="2743200"/>
            <a:ext cx="2286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 · i_reset · i_sw</a:t>
            </a:r>
            <a:endParaRPr lang="en-US" sz="1100" dirty="0"/>
          </a:p>
        </p:txBody>
      </p:sp>
      <p:sp>
        <p:nvSpPr>
          <p:cNvPr id="31" name="Path 31"/>
          <p:cNvSpPr/>
          <p:nvPr/>
        </p:nvSpPr>
        <p:spPr>
          <a:xfrm>
            <a:off x="7296150" y="2324100"/>
            <a:ext cx="1276350" cy="628650"/>
          </a:xfrm>
          <a:custGeom>
            <a:avLst/>
            <a:gdLst/>
            <a:ahLst/>
            <a:cxnLst/>
            <a:rect l="0" t="0" r="r" b="b"/>
            <a:pathLst>
              <a:path w="1276350" h="628650" fill="none">
                <a:moveTo>
                  <a:pt x="0" y="628650"/>
                </a:moveTo>
                <a:lnTo>
                  <a:pt x="1276350" y="628650"/>
                </a:lnTo>
                <a:lnTo>
                  <a:pt x="1276350" y="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7410450" y="2743200"/>
            <a:ext cx="104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o_led</a:t>
            </a:r>
            <a:endParaRPr lang="en-US" sz="1100" dirty="0"/>
          </a:p>
        </p:txBody>
      </p:sp>
      <p:sp>
        <p:nvSpPr>
          <p:cNvPr id="33" name="Shape 33"/>
          <p:cNvSpPr/>
          <p:nvPr/>
        </p:nvSpPr>
        <p:spPr>
          <a:xfrm>
            <a:off x="4572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6286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35" name="Text 35"/>
          <p:cNvSpPr txBox="1"/>
          <p:nvPr/>
        </p:nvSpPr>
        <p:spPr>
          <a:xfrm>
            <a:off x="6286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ns에 i_sw 인가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하위 2 bit → 00 · 01 · 10 · 11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 async_reset 1회 → S0</a:t>
            </a:r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33147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34861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Golden Model</a:t>
            </a:r>
            <a:endParaRPr lang="en-US" sz="1500" dirty="0"/>
          </a:p>
        </p:txBody>
      </p:sp>
      <p:sp>
        <p:nvSpPr>
          <p:cNvPr id="38" name="Text 38"/>
          <p:cNvSpPr txBox="1"/>
          <p:nvPr/>
        </p:nvSpPr>
        <p:spPr>
          <a:xfrm>
            <a:off x="34861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전용 integer state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function = 다음 state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 function = 기대 o_led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posedge · async reset으로 갱신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61722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3436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Checker</a:t>
            </a:r>
            <a:endParaRPr lang="en-US" sz="1500" dirty="0"/>
          </a:p>
        </p:txBody>
      </p:sp>
      <p:sp>
        <p:nvSpPr>
          <p:cNvPr id="41" name="Text 41"/>
          <p:cNvSpPr txBox="1"/>
          <p:nvPr/>
        </p:nvSpPr>
        <p:spPr>
          <a:xfrm>
            <a:off x="63436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negedge, i_reset = 0 구간만 비교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o_led !== g_code(state) → err_c1 + 1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· sw · 기대값 · 실제값 출력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90297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92011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Report</a:t>
            </a:r>
            <a:endParaRPr lang="en-US" sz="1500" dirty="0"/>
          </a:p>
        </p:txBody>
      </p:sp>
      <p:sp>
        <p:nvSpPr>
          <p:cNvPr id="44" name="Text 44"/>
          <p:cNvSpPr txBox="1"/>
          <p:nvPr/>
        </p:nvSpPr>
        <p:spPr>
          <a:xfrm>
            <a:off x="92011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cycle 10000 도달 시 종료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표 (state × i_sw)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err_c1 = 0 → PASS 출력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Golden Model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 Keeps Its Own State and Output Table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68199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vs Golden Model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1828800"/>
            <a:ext cx="13335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742950" y="18288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2019300" y="1828800"/>
            <a:ext cx="25146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2076450" y="1828800"/>
            <a:ext cx="240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· FSM_S3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4533900" y="1828800"/>
            <a:ext cx="25146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4591050" y="1828800"/>
            <a:ext cx="240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· tb_FSM_S3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685800" y="22098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81050" y="22098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변수</a:t>
            </a:r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2019300" y="22098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2114550" y="22098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state_t enum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33900" y="22098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4629150" y="22098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integer state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685800" y="28003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781050" y="28003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번호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2019300" y="28003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2114550" y="28003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enum S0 ~ S4</a:t>
            </a:r>
            <a:endParaRPr lang="en-US" sz="1200" dirty="0"/>
          </a:p>
        </p:txBody>
      </p:sp>
      <p:sp>
        <p:nvSpPr>
          <p:cNvPr id="26" name="Shape 26"/>
          <p:cNvSpPr/>
          <p:nvPr/>
        </p:nvSpPr>
        <p:spPr>
          <a:xfrm>
            <a:off x="4533900" y="28003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4629150" y="28003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localparam S0 ~ S4 = 0 ~ 4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685800" y="33909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9"/>
          <p:cNvSpPr txBox="1"/>
          <p:nvPr/>
        </p:nvSpPr>
        <p:spPr>
          <a:xfrm>
            <a:off x="781050" y="33909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2019300" y="33909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2114550" y="33909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always @(*) · case + if-else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533900" y="33909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4629150" y="33909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n_state · 삼항 연산</a:t>
            </a:r>
            <a:endParaRPr lang="en-US" sz="1200" dirty="0"/>
          </a:p>
        </p:txBody>
      </p:sp>
      <p:sp>
        <p:nvSpPr>
          <p:cNvPr id="34" name="Shape 34"/>
          <p:cNvSpPr/>
          <p:nvPr/>
        </p:nvSpPr>
        <p:spPr>
          <a:xfrm>
            <a:off x="685800" y="39814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781050" y="39814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code</a:t>
            </a:r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2019300" y="39814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2114550" y="39814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→ n_state = state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4533900" y="39814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4629150" y="39814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→ S0</a:t>
            </a:r>
            <a:endParaRPr lang="en-US" sz="1200" dirty="0"/>
          </a:p>
        </p:txBody>
      </p:sp>
      <p:sp>
        <p:nvSpPr>
          <p:cNvPr id="40" name="Shape 40"/>
          <p:cNvSpPr/>
          <p:nvPr/>
        </p:nvSpPr>
        <p:spPr>
          <a:xfrm>
            <a:off x="685800" y="45720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781050" y="45720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2019300" y="45720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2114550" y="45720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always @(*) · case → o_led</a:t>
            </a:r>
            <a:endParaRPr lang="en-US" sz="1200" dirty="0"/>
          </a:p>
        </p:txBody>
      </p:sp>
      <p:sp>
        <p:nvSpPr>
          <p:cNvPr id="44" name="Shape 44"/>
          <p:cNvSpPr/>
          <p:nvPr/>
        </p:nvSpPr>
        <p:spPr>
          <a:xfrm>
            <a:off x="4533900" y="45720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4629150" y="45720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g_code(state)</a:t>
            </a:r>
            <a:endParaRPr lang="en-US" sz="1200" dirty="0"/>
          </a:p>
        </p:txBody>
      </p:sp>
      <p:sp>
        <p:nvSpPr>
          <p:cNvPr id="46" name="Shape 46"/>
          <p:cNvSpPr/>
          <p:nvPr/>
        </p:nvSpPr>
        <p:spPr>
          <a:xfrm>
            <a:off x="685800" y="51625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781050" y="51625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시점</a:t>
            </a:r>
            <a:endParaRPr lang="en-US" sz="1200" dirty="0"/>
          </a:p>
        </p:txBody>
      </p:sp>
      <p:sp>
        <p:nvSpPr>
          <p:cNvPr id="48" name="Shape 48"/>
          <p:cNvSpPr/>
          <p:nvPr/>
        </p:nvSpPr>
        <p:spPr>
          <a:xfrm>
            <a:off x="2019300" y="51625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2114550" y="51625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i_clk · posedge i_reset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533900" y="51625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4629150" y="51625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엣지 · 동일 reset</a:t>
            </a:r>
            <a:endParaRPr lang="en-US" sz="1200" dirty="0"/>
          </a:p>
        </p:txBody>
      </p:sp>
      <p:sp>
        <p:nvSpPr>
          <p:cNvPr id="52" name="Shape 52"/>
          <p:cNvSpPr/>
          <p:nvPr/>
        </p:nvSpPr>
        <p:spPr>
          <a:xfrm>
            <a:off x="7429500" y="1295400"/>
            <a:ext cx="4305300" cy="4953000"/>
          </a:xfrm>
          <a:prstGeom prst="roundRect">
            <a:avLst>
              <a:gd name="adj" fmla="val 17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6581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구조</a:t>
            </a:r>
            <a:endParaRPr lang="en-US" sz="1500" dirty="0"/>
          </a:p>
        </p:txBody>
      </p:sp>
      <p:sp>
        <p:nvSpPr>
          <p:cNvPr id="54" name="Shape 54"/>
          <p:cNvSpPr/>
          <p:nvPr/>
        </p:nvSpPr>
        <p:spPr>
          <a:xfrm>
            <a:off x="7658100" y="1847850"/>
            <a:ext cx="3848100" cy="342900"/>
          </a:xfrm>
          <a:prstGeom prst="roundRect">
            <a:avLst>
              <a:gd name="adj" fmla="val 16666"/>
            </a:avLst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7658100" y="1847850"/>
            <a:ext cx="3848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 · i_reset · i_sw</a:t>
            </a:r>
            <a:endParaRPr lang="en-US" sz="1200" dirty="0"/>
          </a:p>
        </p:txBody>
      </p:sp>
      <p:cxnSp>
        <p:nvCxnSpPr>
          <p:cNvPr id="56" name="Line 56"/>
          <p:cNvCxnSpPr/>
          <p:nvPr/>
        </p:nvCxnSpPr>
        <p:spPr>
          <a:xfrm>
            <a:off x="8553450" y="2190750"/>
            <a:ext cx="0" cy="400050"/>
          </a:xfrm>
          <a:prstGeom prst="line">
            <a:avLst/>
          </a:prstGeom>
          <a:ln w="19050">
            <a:solidFill>
              <a:srgbClr val="64748B"/>
            </a:solidFill>
            <a:prstDash val="solid"/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10610850" y="2190750"/>
            <a:ext cx="0" cy="400050"/>
          </a:xfrm>
          <a:prstGeom prst="line">
            <a:avLst/>
          </a:prstGeom>
          <a:ln w="190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58" name="Shape 58"/>
          <p:cNvSpPr/>
          <p:nvPr/>
        </p:nvSpPr>
        <p:spPr>
          <a:xfrm>
            <a:off x="7696200" y="2590800"/>
            <a:ext cx="1714500" cy="1066800"/>
          </a:xfrm>
          <a:prstGeom prst="rect">
            <a:avLst/>
          </a:prstGeom>
          <a:solidFill>
            <a:srgbClr val="F8FAFC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7696200" y="268605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500" dirty="0"/>
          </a:p>
        </p:txBody>
      </p:sp>
      <p:sp>
        <p:nvSpPr>
          <p:cNvPr id="60" name="Shape 60"/>
          <p:cNvSpPr/>
          <p:nvPr/>
        </p:nvSpPr>
        <p:spPr>
          <a:xfrm>
            <a:off x="7886700" y="3067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886700" y="30670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(enum)</a:t>
            </a:r>
            <a:endParaRPr lang="en-US" sz="1200" dirty="0"/>
          </a:p>
        </p:txBody>
      </p:sp>
      <p:sp>
        <p:nvSpPr>
          <p:cNvPr id="62" name="Shape 62"/>
          <p:cNvSpPr/>
          <p:nvPr/>
        </p:nvSpPr>
        <p:spPr>
          <a:xfrm>
            <a:off x="9753600" y="2590800"/>
            <a:ext cx="1714500" cy="10668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9753600" y="268605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500" dirty="0"/>
          </a:p>
        </p:txBody>
      </p:sp>
      <p:sp>
        <p:nvSpPr>
          <p:cNvPr id="64" name="Shape 64"/>
          <p:cNvSpPr/>
          <p:nvPr/>
        </p:nvSpPr>
        <p:spPr>
          <a:xfrm>
            <a:off x="9944100" y="3067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9944100" y="30670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(integer)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9410700" y="2857500"/>
            <a:ext cx="342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200" dirty="0"/>
          </a:p>
        </p:txBody>
      </p:sp>
      <p:sp>
        <p:nvSpPr>
          <p:cNvPr id="67" name="Text 67"/>
          <p:cNvSpPr txBox="1"/>
          <p:nvPr/>
        </p:nvSpPr>
        <p:spPr>
          <a:xfrm>
            <a:off x="8953500" y="3695700"/>
            <a:ext cx="125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state 미참조</a:t>
            </a:r>
            <a:endParaRPr lang="en-US" sz="1100" dirty="0"/>
          </a:p>
        </p:txBody>
      </p:sp>
      <p:sp>
        <p:nvSpPr>
          <p:cNvPr id="68" name="Path 68"/>
          <p:cNvSpPr/>
          <p:nvPr/>
        </p:nvSpPr>
        <p:spPr>
          <a:xfrm>
            <a:off x="8553450" y="3657600"/>
            <a:ext cx="609600" cy="819150"/>
          </a:xfrm>
          <a:custGeom>
            <a:avLst/>
            <a:gdLst/>
            <a:ahLst/>
            <a:cxnLst/>
            <a:rect l="0" t="0" r="r" b="b"/>
            <a:pathLst>
              <a:path w="609600" h="819150" fill="none">
                <a:moveTo>
                  <a:pt x="0" y="0"/>
                </a:moveTo>
                <a:lnTo>
                  <a:pt x="0" y="819150"/>
                </a:lnTo>
                <a:lnTo>
                  <a:pt x="609600" y="819150"/>
                </a:lnTo>
              </a:path>
            </a:pathLst>
          </a:custGeom>
          <a:noFill/>
          <a:ln w="22225">
            <a:solidFill>
              <a:srgbClr val="0F172A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7696200" y="4000500"/>
            <a:ext cx="80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200" dirty="0"/>
          </a:p>
        </p:txBody>
      </p:sp>
      <p:sp>
        <p:nvSpPr>
          <p:cNvPr id="70" name="Path 70"/>
          <p:cNvSpPr/>
          <p:nvPr/>
        </p:nvSpPr>
        <p:spPr>
          <a:xfrm>
            <a:off x="10001250" y="3657600"/>
            <a:ext cx="609600" cy="819150"/>
          </a:xfrm>
          <a:custGeom>
            <a:avLst/>
            <a:gdLst/>
            <a:ahLst/>
            <a:cxnLst/>
            <a:rect l="0" t="0" r="r" b="b"/>
            <a:pathLst>
              <a:path w="609600" h="819150" fill="none">
                <a:moveTo>
                  <a:pt x="609600" y="0"/>
                </a:moveTo>
                <a:lnTo>
                  <a:pt x="609600" y="819150"/>
                </a:lnTo>
                <a:lnTo>
                  <a:pt x="0" y="81915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10687050" y="4000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g_code</a:t>
            </a:r>
            <a:endParaRPr lang="en-US" sz="1200" dirty="0"/>
          </a:p>
        </p:txBody>
      </p:sp>
      <p:sp>
        <p:nvSpPr>
          <p:cNvPr id="72" name="Shape 72"/>
          <p:cNvSpPr/>
          <p:nvPr/>
        </p:nvSpPr>
        <p:spPr>
          <a:xfrm>
            <a:off x="9163050" y="4152900"/>
            <a:ext cx="838200" cy="647700"/>
          </a:xfrm>
          <a:prstGeom prst="ellipse">
            <a:avLst/>
          </a:prstGeom>
          <a:solidFill>
            <a:srgbClr val="FDECEC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3"/>
          <p:cNvSpPr txBox="1"/>
          <p:nvPr/>
        </p:nvSpPr>
        <p:spPr>
          <a:xfrm>
            <a:off x="9163050" y="4152900"/>
            <a:ext cx="838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8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!==</a:t>
            </a:r>
            <a:endParaRPr lang="en-US" sz="1800" dirty="0"/>
          </a:p>
        </p:txBody>
      </p:sp>
      <p:cxnSp>
        <p:nvCxnSpPr>
          <p:cNvPr id="74" name="Line 74"/>
          <p:cNvCxnSpPr/>
          <p:nvPr/>
        </p:nvCxnSpPr>
        <p:spPr>
          <a:xfrm>
            <a:off x="9582150" y="4800600"/>
            <a:ext cx="0" cy="457200"/>
          </a:xfrm>
          <a:prstGeom prst="line">
            <a:avLst/>
          </a:prstGeom>
          <a:ln w="22225">
            <a:solidFill>
              <a:srgbClr val="C62828"/>
            </a:solidFill>
            <a:prstDash val="solid"/>
            <a:tailEnd type="triangle"/>
          </a:ln>
        </p:spPr>
      </p:cxnSp>
      <p:sp>
        <p:nvSpPr>
          <p:cNvPr id="75" name="Shape 75"/>
          <p:cNvSpPr/>
          <p:nvPr/>
        </p:nvSpPr>
        <p:spPr>
          <a:xfrm>
            <a:off x="8820150" y="5257800"/>
            <a:ext cx="1524000" cy="381000"/>
          </a:xfrm>
          <a:prstGeom prst="roundRect">
            <a:avLst>
              <a:gd name="adj" fmla="val 15000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8820150" y="52578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err_c1 + 1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Driver Timing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 Changes i_sw 1 ns After Each Negedge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90500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40030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384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0384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</a:t>
            </a:r>
            <a:endParaRPr lang="en-US" sz="10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3337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4"/>
          <p:cNvSpPr txBox="1"/>
          <p:nvPr/>
        </p:nvSpPr>
        <p:spPr>
          <a:xfrm>
            <a:off x="685800" y="35337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685800" y="38290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685800" y="40290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2309812" y="1619250"/>
            <a:ext cx="2266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· reset = 0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4633912" y="1619250"/>
            <a:ext cx="0" cy="2628900"/>
          </a:xfrm>
          <a:prstGeom prst="line">
            <a:avLst/>
          </a:prstGeom>
          <a:ln w="15875">
            <a:solidFill>
              <a:srgbClr val="DC2626"/>
            </a:solidFill>
            <a:prstDash val="dash"/>
          </a:ln>
        </p:spPr>
      </p:cxnSp>
      <p:sp>
        <p:nvSpPr>
          <p:cNvPr id="19" name="Text 19"/>
          <p:cNvSpPr txBox="1"/>
          <p:nvPr/>
        </p:nvSpPr>
        <p:spPr>
          <a:xfrm>
            <a:off x="4595812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0" name="Line 20"/>
          <p:cNvCxnSpPr/>
          <p:nvPr/>
        </p:nvCxnSpPr>
        <p:spPr>
          <a:xfrm>
            <a:off x="5453062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1" name="Text 21"/>
          <p:cNvSpPr txBox="1"/>
          <p:nvPr/>
        </p:nvSpPr>
        <p:spPr>
          <a:xfrm>
            <a:off x="6643688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7500938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8691562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9548812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5" name="Text 25"/>
          <p:cNvSpPr txBox="1"/>
          <p:nvPr/>
        </p:nvSpPr>
        <p:spPr>
          <a:xfrm>
            <a:off x="6738938" y="45529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i_sw 인가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8786812" y="45529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i_sw 인가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4705350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753225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8801100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35" name="Path 35"/>
          <p:cNvSpPr/>
          <p:nvPr/>
        </p:nvSpPr>
        <p:spPr>
          <a:xfrm>
            <a:off x="2381250" y="1885950"/>
            <a:ext cx="9010650" cy="266700"/>
          </a:xfrm>
          <a:custGeom>
            <a:avLst/>
            <a:gdLst/>
            <a:ahLst/>
            <a:cxnLst/>
            <a:rect l="0" t="0" r="r" b="b"/>
            <a:pathLst>
              <a:path w="9010650" h="266700" fill="none">
                <a:moveTo>
                  <a:pt x="0" y="266700"/>
                </a:moveTo>
                <a:lnTo>
                  <a:pt x="1023938" y="266700"/>
                </a:lnTo>
                <a:lnTo>
                  <a:pt x="1023938" y="0"/>
                </a:lnTo>
                <a:lnTo>
                  <a:pt x="2047875" y="0"/>
                </a:lnTo>
                <a:lnTo>
                  <a:pt x="2047875" y="266700"/>
                </a:lnTo>
                <a:lnTo>
                  <a:pt x="3071812" y="266700"/>
                </a:lnTo>
                <a:lnTo>
                  <a:pt x="3071812" y="0"/>
                </a:lnTo>
                <a:lnTo>
                  <a:pt x="4095750" y="0"/>
                </a:lnTo>
                <a:lnTo>
                  <a:pt x="4095750" y="266700"/>
                </a:lnTo>
                <a:lnTo>
                  <a:pt x="5119688" y="266700"/>
                </a:lnTo>
                <a:lnTo>
                  <a:pt x="5119688" y="0"/>
                </a:lnTo>
                <a:lnTo>
                  <a:pt x="6143625" y="0"/>
                </a:lnTo>
                <a:lnTo>
                  <a:pt x="6143625" y="266700"/>
                </a:lnTo>
                <a:lnTo>
                  <a:pt x="7167562" y="266700"/>
                </a:lnTo>
                <a:lnTo>
                  <a:pt x="7167562" y="0"/>
                </a:lnTo>
                <a:lnTo>
                  <a:pt x="8191500" y="0"/>
                </a:lnTo>
                <a:lnTo>
                  <a:pt x="8191500" y="266700"/>
                </a:lnTo>
                <a:lnTo>
                  <a:pt x="9010650" y="26670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Path 36"/>
          <p:cNvSpPr/>
          <p:nvPr/>
        </p:nvSpPr>
        <p:spPr>
          <a:xfrm>
            <a:off x="2381250" y="2381250"/>
            <a:ext cx="9010650" cy="266700"/>
          </a:xfrm>
          <a:custGeom>
            <a:avLst/>
            <a:gdLst/>
            <a:ahLst/>
            <a:cxnLst/>
            <a:rect l="0" t="0" r="r" b="b"/>
            <a:pathLst>
              <a:path w="9010650" h="266700" fill="none">
                <a:moveTo>
                  <a:pt x="0" y="0"/>
                </a:moveTo>
                <a:lnTo>
                  <a:pt x="2252662" y="0"/>
                </a:lnTo>
                <a:lnTo>
                  <a:pt x="2252662" y="266700"/>
                </a:lnTo>
                <a:lnTo>
                  <a:pt x="9010650" y="266700"/>
                </a:lnTo>
              </a:path>
            </a:pathLst>
          </a:custGeom>
          <a:noFill/>
          <a:ln w="19050">
            <a:solidFill>
              <a:srgbClr val="DC262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7"/>
          <p:cNvSpPr/>
          <p:nvPr/>
        </p:nvSpPr>
        <p:spPr>
          <a:xfrm>
            <a:off x="2390775" y="2876550"/>
            <a:ext cx="428148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2457450" y="2876550"/>
            <a:ext cx="414813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6691312" y="2876550"/>
            <a:ext cx="2028825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757988" y="28765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739188" y="2876550"/>
            <a:ext cx="2028825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805862" y="28765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10787062" y="2876550"/>
            <a:ext cx="595312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10853738" y="2876550"/>
            <a:ext cx="4619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Shape 45"/>
          <p:cNvSpPr/>
          <p:nvPr/>
        </p:nvSpPr>
        <p:spPr>
          <a:xfrm>
            <a:off x="2390775" y="3371850"/>
            <a:ext cx="510063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2457450" y="3371850"/>
            <a:ext cx="49672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7510462" y="3371850"/>
            <a:ext cx="2028825" cy="26670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7577138" y="33718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100" dirty="0"/>
          </a:p>
        </p:txBody>
      </p:sp>
      <p:sp>
        <p:nvSpPr>
          <p:cNvPr id="49" name="Shape 49"/>
          <p:cNvSpPr/>
          <p:nvPr/>
        </p:nvSpPr>
        <p:spPr>
          <a:xfrm>
            <a:off x="9558338" y="3371850"/>
            <a:ext cx="1824038" cy="266700"/>
          </a:xfrm>
          <a:prstGeom prst="rect">
            <a:avLst/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9625012" y="3371850"/>
            <a:ext cx="1690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2390775" y="3867150"/>
            <a:ext cx="510063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2457450" y="3867150"/>
            <a:ext cx="49672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100" dirty="0"/>
          </a:p>
        </p:txBody>
      </p:sp>
      <p:sp>
        <p:nvSpPr>
          <p:cNvPr id="53" name="Shape 53"/>
          <p:cNvSpPr/>
          <p:nvPr/>
        </p:nvSpPr>
        <p:spPr>
          <a:xfrm>
            <a:off x="7510462" y="3867150"/>
            <a:ext cx="2028825" cy="26670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7577138" y="38671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100" dirty="0"/>
          </a:p>
        </p:txBody>
      </p:sp>
      <p:sp>
        <p:nvSpPr>
          <p:cNvPr id="55" name="Shape 55"/>
          <p:cNvSpPr/>
          <p:nvPr/>
        </p:nvSpPr>
        <p:spPr>
          <a:xfrm>
            <a:off x="9558338" y="3867150"/>
            <a:ext cx="1824038" cy="266700"/>
          </a:xfrm>
          <a:prstGeom prst="rect">
            <a:avLst/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9625012" y="3867150"/>
            <a:ext cx="1690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6534150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6534150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Shape 59"/>
          <p:cNvSpPr/>
          <p:nvPr/>
        </p:nvSpPr>
        <p:spPr>
          <a:xfrm>
            <a:off x="8582025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8582025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61" name="Shape 61"/>
          <p:cNvSpPr/>
          <p:nvPr/>
        </p:nvSpPr>
        <p:spPr>
          <a:xfrm>
            <a:off x="10629900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10629900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63" name="Shape 63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62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구동 시점</a:t>
            </a:r>
            <a:endParaRPr lang="en-US" sz="1300" dirty="0"/>
          </a:p>
        </p:txBody>
      </p:sp>
      <p:sp>
        <p:nvSpPr>
          <p:cNvPr id="65" name="Text 65"/>
          <p:cNvSpPr txBox="1"/>
          <p:nvPr/>
        </p:nvSpPr>
        <p:spPr>
          <a:xfrm>
            <a:off x="62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· i_sw 인가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posedge까지 4 ns 안정</a:t>
            </a:r>
            <a:endParaRPr lang="en-US" sz="1200" dirty="0"/>
          </a:p>
        </p:txBody>
      </p:sp>
      <p:sp>
        <p:nvSpPr>
          <p:cNvPr id="66" name="Shape 66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443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입력값</a:t>
            </a:r>
            <a:endParaRPr lang="en-US" sz="1300" dirty="0"/>
          </a:p>
        </p:txBody>
      </p:sp>
      <p:sp>
        <p:nvSpPr>
          <p:cNvPr id="68" name="Text 68"/>
          <p:cNvSpPr txBox="1"/>
          <p:nvPr/>
        </p:nvSpPr>
        <p:spPr>
          <a:xfrm>
            <a:off x="443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하위 2 bit · 매 cycle 새 값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 async_reset 1회 → S0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824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71" name="Text 71"/>
          <p:cNvSpPr txBox="1"/>
          <p:nvPr/>
        </p:nvSpPr>
        <p:spPr>
          <a:xfrm>
            <a:off x="824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 · i_reset = 0 구간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비교 후 i_sw 변경 → race 없음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Coverage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Input Covers All 20 Arcs in 10,000 Cycles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54102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커버리지 확보 방법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18478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857250" y="19145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$random → i_sw[1:0]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857250" y="21431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cycle 새 값 · 4가지 code</a:t>
            </a:r>
            <a:endParaRPr lang="en-US" sz="1100" dirty="0"/>
          </a:p>
        </p:txBody>
      </p:sp>
      <p:cxnSp>
        <p:nvCxnSpPr>
          <p:cNvPr id="13" name="Line 13"/>
          <p:cNvCxnSpPr/>
          <p:nvPr/>
        </p:nvCxnSpPr>
        <p:spPr>
          <a:xfrm>
            <a:off x="2971800" y="2400300"/>
            <a:ext cx="0" cy="171450"/>
          </a:xfrm>
          <a:prstGeom prst="line">
            <a:avLst/>
          </a:prstGeom>
          <a:ln w="158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14" name="Shape 14"/>
          <p:cNvSpPr/>
          <p:nvPr/>
        </p:nvSpPr>
        <p:spPr>
          <a:xfrm>
            <a:off x="685800" y="25717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857250" y="26384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posedge · cov[state][i_sw] + 1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857250" y="28670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state × 입력 = arc 1회 기록</a:t>
            </a:r>
            <a:endParaRPr lang="en-US" sz="1100" dirty="0"/>
          </a:p>
        </p:txBody>
      </p:sp>
      <p:cxnSp>
        <p:nvCxnSpPr>
          <p:cNvPr id="17" name="Line 17"/>
          <p:cNvCxnSpPr/>
          <p:nvPr/>
        </p:nvCxnSpPr>
        <p:spPr>
          <a:xfrm>
            <a:off x="2971800" y="3124200"/>
            <a:ext cx="0" cy="171450"/>
          </a:xfrm>
          <a:prstGeom prst="line">
            <a:avLst/>
          </a:prstGeom>
          <a:ln w="158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18" name="Shape 18"/>
          <p:cNvSpPr/>
          <p:nvPr/>
        </p:nvSpPr>
        <p:spPr>
          <a:xfrm>
            <a:off x="685800" y="32956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857250" y="33623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cycle 10000 도달까지 반복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857250" y="35909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 시 5 × 4 arc 표 출력</a:t>
            </a:r>
            <a:endParaRPr lang="en-US" sz="1100" dirty="0"/>
          </a:p>
        </p:txBody>
      </p:sp>
      <p:sp>
        <p:nvSpPr>
          <p:cNvPr id="21" name="Path 21"/>
          <p:cNvSpPr/>
          <p:nvPr/>
        </p:nvSpPr>
        <p:spPr>
          <a:xfrm>
            <a:off x="5257800" y="2124075"/>
            <a:ext cx="285750" cy="1447800"/>
          </a:xfrm>
          <a:custGeom>
            <a:avLst/>
            <a:gdLst/>
            <a:ahLst/>
            <a:cxnLst/>
            <a:rect l="0" t="0" r="r" b="b"/>
            <a:pathLst>
              <a:path w="285750" h="1447800" fill="none">
                <a:moveTo>
                  <a:pt x="0" y="1447800"/>
                </a:moveTo>
                <a:lnTo>
                  <a:pt x="285750" y="1447800"/>
                </a:lnTo>
                <a:lnTo>
                  <a:pt x="285750" y="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85800" y="42291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 도달 경로</a:t>
            </a:r>
            <a:endParaRPr lang="en-US" sz="1300" dirty="0"/>
          </a:p>
        </p:txBody>
      </p:sp>
      <p:sp>
        <p:nvSpPr>
          <p:cNvPr id="23" name="Shape 23"/>
          <p:cNvSpPr/>
          <p:nvPr/>
        </p:nvSpPr>
        <p:spPr>
          <a:xfrm>
            <a:off x="7429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7429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400" dirty="0"/>
          </a:p>
        </p:txBody>
      </p:sp>
      <p:cxnSp>
        <p:nvCxnSpPr>
          <p:cNvPr id="25" name="Line 25"/>
          <p:cNvCxnSpPr/>
          <p:nvPr/>
        </p:nvCxnSpPr>
        <p:spPr>
          <a:xfrm>
            <a:off x="1257300" y="5048250"/>
            <a:ext cx="561975" cy="0"/>
          </a:xfrm>
          <a:prstGeom prst="line">
            <a:avLst/>
          </a:prstGeom>
          <a:ln w="2540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13525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27" name="Shape 27"/>
          <p:cNvSpPr/>
          <p:nvPr/>
        </p:nvSpPr>
        <p:spPr>
          <a:xfrm>
            <a:off x="18478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18478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400" dirty="0"/>
          </a:p>
        </p:txBody>
      </p:sp>
      <p:cxnSp>
        <p:nvCxnSpPr>
          <p:cNvPr id="29" name="Line 29"/>
          <p:cNvCxnSpPr/>
          <p:nvPr/>
        </p:nvCxnSpPr>
        <p:spPr>
          <a:xfrm>
            <a:off x="2362200" y="5048250"/>
            <a:ext cx="561975" cy="0"/>
          </a:xfrm>
          <a:prstGeom prst="line">
            <a:avLst/>
          </a:prstGeom>
          <a:ln w="25400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24574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Shape 31"/>
          <p:cNvSpPr/>
          <p:nvPr/>
        </p:nvSpPr>
        <p:spPr>
          <a:xfrm>
            <a:off x="29527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29527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400" dirty="0"/>
          </a:p>
        </p:txBody>
      </p:sp>
      <p:cxnSp>
        <p:nvCxnSpPr>
          <p:cNvPr id="33" name="Line 33"/>
          <p:cNvCxnSpPr/>
          <p:nvPr/>
        </p:nvCxnSpPr>
        <p:spPr>
          <a:xfrm>
            <a:off x="3467100" y="5048250"/>
            <a:ext cx="561975" cy="0"/>
          </a:xfrm>
          <a:prstGeom prst="line">
            <a:avLst/>
          </a:prstGeom>
          <a:ln w="2540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35623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Shape 35"/>
          <p:cNvSpPr/>
          <p:nvPr/>
        </p:nvSpPr>
        <p:spPr>
          <a:xfrm>
            <a:off x="40576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40576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400" dirty="0"/>
          </a:p>
        </p:txBody>
      </p:sp>
      <p:cxnSp>
        <p:nvCxnSpPr>
          <p:cNvPr id="37" name="Line 37"/>
          <p:cNvCxnSpPr/>
          <p:nvPr/>
        </p:nvCxnSpPr>
        <p:spPr>
          <a:xfrm>
            <a:off x="4572000" y="5048250"/>
            <a:ext cx="561975" cy="0"/>
          </a:xfrm>
          <a:prstGeom prst="line">
            <a:avLst/>
          </a:prstGeom>
          <a:ln w="25400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672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51625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51625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400" dirty="0"/>
          </a:p>
        </p:txBody>
      </p:sp>
      <p:sp>
        <p:nvSpPr>
          <p:cNvPr id="41" name="Shape 41"/>
          <p:cNvSpPr/>
          <p:nvPr/>
        </p:nvSpPr>
        <p:spPr>
          <a:xfrm>
            <a:off x="6019800" y="1295400"/>
            <a:ext cx="57150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6248400" y="142875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i_sw, 실행 횟수)</a:t>
            </a:r>
            <a:endParaRPr lang="en-US" sz="1400" dirty="0"/>
          </a:p>
        </p:txBody>
      </p:sp>
      <p:sp>
        <p:nvSpPr>
          <p:cNvPr id="43" name="Shape 43"/>
          <p:cNvSpPr/>
          <p:nvPr/>
        </p:nvSpPr>
        <p:spPr>
          <a:xfrm>
            <a:off x="6248400" y="1733550"/>
            <a:ext cx="10668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305550" y="1733550"/>
            <a:ext cx="95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</p:txBody>
      </p:sp>
      <p:sp>
        <p:nvSpPr>
          <p:cNvPr id="45" name="Shape 45"/>
          <p:cNvSpPr/>
          <p:nvPr/>
        </p:nvSpPr>
        <p:spPr>
          <a:xfrm>
            <a:off x="73152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73723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83058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83629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200" dirty="0"/>
          </a:p>
        </p:txBody>
      </p:sp>
      <p:sp>
        <p:nvSpPr>
          <p:cNvPr id="49" name="Shape 49"/>
          <p:cNvSpPr/>
          <p:nvPr/>
        </p:nvSpPr>
        <p:spPr>
          <a:xfrm>
            <a:off x="92964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93535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Shape 51"/>
          <p:cNvSpPr/>
          <p:nvPr/>
        </p:nvSpPr>
        <p:spPr>
          <a:xfrm>
            <a:off x="102870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103441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6248400" y="20383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6343650" y="20383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73152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4104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499</a:t>
            </a:r>
            <a:endParaRPr lang="en-US" sz="1200" dirty="0"/>
          </a:p>
        </p:txBody>
      </p:sp>
      <p:sp>
        <p:nvSpPr>
          <p:cNvPr id="57" name="Shape 57"/>
          <p:cNvSpPr/>
          <p:nvPr/>
        </p:nvSpPr>
        <p:spPr>
          <a:xfrm>
            <a:off x="83058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4010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490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92964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93916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489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102870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103822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514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6248400" y="23431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6343650" y="23431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73152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74104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783</a:t>
            </a:r>
            <a:endParaRPr lang="en-US" sz="1200" dirty="0"/>
          </a:p>
        </p:txBody>
      </p:sp>
      <p:sp>
        <p:nvSpPr>
          <p:cNvPr id="67" name="Shape 67"/>
          <p:cNvSpPr/>
          <p:nvPr/>
        </p:nvSpPr>
        <p:spPr>
          <a:xfrm>
            <a:off x="83058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84010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734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92964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93916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767</a:t>
            </a:r>
            <a:endParaRPr lang="en-US" sz="1200" dirty="0"/>
          </a:p>
        </p:txBody>
      </p:sp>
      <p:sp>
        <p:nvSpPr>
          <p:cNvPr id="71" name="Shape 71"/>
          <p:cNvSpPr/>
          <p:nvPr/>
        </p:nvSpPr>
        <p:spPr>
          <a:xfrm>
            <a:off x="102870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2"/>
          <p:cNvSpPr txBox="1"/>
          <p:nvPr/>
        </p:nvSpPr>
        <p:spPr>
          <a:xfrm>
            <a:off x="103822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754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6248400" y="26479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6343650" y="26479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200" dirty="0"/>
          </a:p>
        </p:txBody>
      </p:sp>
      <p:sp>
        <p:nvSpPr>
          <p:cNvPr id="75" name="Shape 75"/>
          <p:cNvSpPr/>
          <p:nvPr/>
        </p:nvSpPr>
        <p:spPr>
          <a:xfrm>
            <a:off x="73152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74104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770</a:t>
            </a:r>
            <a:endParaRPr lang="en-US" sz="1200" dirty="0"/>
          </a:p>
        </p:txBody>
      </p:sp>
      <p:sp>
        <p:nvSpPr>
          <p:cNvPr id="77" name="Shape 77"/>
          <p:cNvSpPr/>
          <p:nvPr/>
        </p:nvSpPr>
        <p:spPr>
          <a:xfrm>
            <a:off x="83058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84010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793</a:t>
            </a:r>
            <a:endParaRPr lang="en-US" sz="1200" dirty="0"/>
          </a:p>
        </p:txBody>
      </p:sp>
      <p:sp>
        <p:nvSpPr>
          <p:cNvPr id="79" name="Shape 79"/>
          <p:cNvSpPr/>
          <p:nvPr/>
        </p:nvSpPr>
        <p:spPr>
          <a:xfrm>
            <a:off x="92964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80"/>
          <p:cNvSpPr txBox="1"/>
          <p:nvPr/>
        </p:nvSpPr>
        <p:spPr>
          <a:xfrm>
            <a:off x="93916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724</a:t>
            </a:r>
            <a:endParaRPr lang="en-US" sz="1200" dirty="0"/>
          </a:p>
        </p:txBody>
      </p:sp>
      <p:sp>
        <p:nvSpPr>
          <p:cNvPr id="81" name="Shape 81"/>
          <p:cNvSpPr/>
          <p:nvPr/>
        </p:nvSpPr>
        <p:spPr>
          <a:xfrm>
            <a:off x="102870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2"/>
          <p:cNvSpPr txBox="1"/>
          <p:nvPr/>
        </p:nvSpPr>
        <p:spPr>
          <a:xfrm>
            <a:off x="103822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767</a:t>
            </a:r>
            <a:endParaRPr lang="en-US" sz="1200" dirty="0"/>
          </a:p>
        </p:txBody>
      </p:sp>
      <p:sp>
        <p:nvSpPr>
          <p:cNvPr id="83" name="Shape 83"/>
          <p:cNvSpPr/>
          <p:nvPr/>
        </p:nvSpPr>
        <p:spPr>
          <a:xfrm>
            <a:off x="6248400" y="29527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4"/>
          <p:cNvSpPr txBox="1"/>
          <p:nvPr/>
        </p:nvSpPr>
        <p:spPr>
          <a:xfrm>
            <a:off x="6343650" y="29527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200" dirty="0"/>
          </a:p>
        </p:txBody>
      </p:sp>
      <p:sp>
        <p:nvSpPr>
          <p:cNvPr id="85" name="Shape 85"/>
          <p:cNvSpPr/>
          <p:nvPr/>
        </p:nvSpPr>
        <p:spPr>
          <a:xfrm>
            <a:off x="73152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6"/>
          <p:cNvSpPr txBox="1"/>
          <p:nvPr/>
        </p:nvSpPr>
        <p:spPr>
          <a:xfrm>
            <a:off x="74104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</a:t>
            </a:r>
            <a:endParaRPr lang="en-US" sz="1200" dirty="0"/>
          </a:p>
        </p:txBody>
      </p:sp>
      <p:sp>
        <p:nvSpPr>
          <p:cNvPr id="87" name="Shape 87"/>
          <p:cNvSpPr/>
          <p:nvPr/>
        </p:nvSpPr>
        <p:spPr>
          <a:xfrm>
            <a:off x="83058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8"/>
          <p:cNvSpPr txBox="1"/>
          <p:nvPr/>
        </p:nvSpPr>
        <p:spPr>
          <a:xfrm>
            <a:off x="84010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277</a:t>
            </a:r>
            <a:endParaRPr lang="en-US" sz="1200" dirty="0"/>
          </a:p>
        </p:txBody>
      </p:sp>
      <p:sp>
        <p:nvSpPr>
          <p:cNvPr id="89" name="Shape 89"/>
          <p:cNvSpPr/>
          <p:nvPr/>
        </p:nvSpPr>
        <p:spPr>
          <a:xfrm>
            <a:off x="92964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90"/>
          <p:cNvSpPr txBox="1"/>
          <p:nvPr/>
        </p:nvSpPr>
        <p:spPr>
          <a:xfrm>
            <a:off x="93916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</a:t>
            </a:r>
            <a:endParaRPr lang="en-US" sz="1200" dirty="0"/>
          </a:p>
        </p:txBody>
      </p:sp>
      <p:sp>
        <p:nvSpPr>
          <p:cNvPr id="91" name="Shape 91"/>
          <p:cNvSpPr/>
          <p:nvPr/>
        </p:nvSpPr>
        <p:spPr>
          <a:xfrm>
            <a:off x="102870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2"/>
          <p:cNvSpPr txBox="1"/>
          <p:nvPr/>
        </p:nvSpPr>
        <p:spPr>
          <a:xfrm>
            <a:off x="103822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254</a:t>
            </a:r>
            <a:endParaRPr lang="en-US" sz="1200" dirty="0"/>
          </a:p>
        </p:txBody>
      </p:sp>
      <p:sp>
        <p:nvSpPr>
          <p:cNvPr id="93" name="Shape 93"/>
          <p:cNvSpPr/>
          <p:nvPr/>
        </p:nvSpPr>
        <p:spPr>
          <a:xfrm>
            <a:off x="6248400" y="32575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4"/>
          <p:cNvSpPr txBox="1"/>
          <p:nvPr/>
        </p:nvSpPr>
        <p:spPr>
          <a:xfrm>
            <a:off x="6343650" y="3257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200" dirty="0"/>
          </a:p>
        </p:txBody>
      </p:sp>
      <p:sp>
        <p:nvSpPr>
          <p:cNvPr id="95" name="Shape 95"/>
          <p:cNvSpPr/>
          <p:nvPr/>
        </p:nvSpPr>
        <p:spPr>
          <a:xfrm>
            <a:off x="73152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6"/>
          <p:cNvSpPr txBox="1"/>
          <p:nvPr/>
        </p:nvSpPr>
        <p:spPr>
          <a:xfrm>
            <a:off x="74104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</a:t>
            </a:r>
            <a:endParaRPr lang="en-US" sz="1200" dirty="0"/>
          </a:p>
        </p:txBody>
      </p:sp>
      <p:sp>
        <p:nvSpPr>
          <p:cNvPr id="97" name="Shape 97"/>
          <p:cNvSpPr/>
          <p:nvPr/>
        </p:nvSpPr>
        <p:spPr>
          <a:xfrm>
            <a:off x="83058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Text 98"/>
          <p:cNvSpPr txBox="1"/>
          <p:nvPr/>
        </p:nvSpPr>
        <p:spPr>
          <a:xfrm>
            <a:off x="84010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236</a:t>
            </a:r>
            <a:endParaRPr lang="en-US" sz="1200" dirty="0"/>
          </a:p>
        </p:txBody>
      </p:sp>
      <p:sp>
        <p:nvSpPr>
          <p:cNvPr id="99" name="Shape 99"/>
          <p:cNvSpPr/>
          <p:nvPr/>
        </p:nvSpPr>
        <p:spPr>
          <a:xfrm>
            <a:off x="92964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100"/>
          <p:cNvSpPr txBox="1"/>
          <p:nvPr/>
        </p:nvSpPr>
        <p:spPr>
          <a:xfrm>
            <a:off x="93916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</a:t>
            </a:r>
            <a:endParaRPr lang="en-US" sz="1200" dirty="0"/>
          </a:p>
        </p:txBody>
      </p:sp>
      <p:sp>
        <p:nvSpPr>
          <p:cNvPr id="101" name="Shape 101"/>
          <p:cNvSpPr/>
          <p:nvPr/>
        </p:nvSpPr>
        <p:spPr>
          <a:xfrm>
            <a:off x="102870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2"/>
          <p:cNvSpPr txBox="1"/>
          <p:nvPr/>
        </p:nvSpPr>
        <p:spPr>
          <a:xfrm>
            <a:off x="103822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207</a:t>
            </a:r>
            <a:endParaRPr lang="en-US" sz="1200" dirty="0"/>
          </a:p>
        </p:txBody>
      </p:sp>
      <p:sp>
        <p:nvSpPr>
          <p:cNvPr id="103" name="Text 103"/>
          <p:cNvSpPr txBox="1"/>
          <p:nvPr/>
        </p:nvSpPr>
        <p:spPr>
          <a:xfrm>
            <a:off x="6248400" y="367665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Tcl Console · tb_FSM_S3</a:t>
            </a:r>
            <a:endParaRPr lang="en-US" sz="1400" dirty="0"/>
          </a:p>
        </p:txBody>
      </p:sp>
      <p:sp>
        <p:nvSpPr>
          <p:cNvPr id="104" name="Shape 104"/>
          <p:cNvSpPr/>
          <p:nvPr/>
        </p:nvSpPr>
        <p:spPr>
          <a:xfrm>
            <a:off x="6248400" y="3962400"/>
            <a:ext cx="52578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5" name="Image 1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4038600"/>
            <a:ext cx="4013200" cy="19431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S0 → S1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 Moves to S1 Only on 01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1822426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5166920" y="1474340"/>
            <a:ext cx="0" cy="1567286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5176445" y="3098776"/>
            <a:ext cx="3554334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6839312" y="3270226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6839312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4861999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8740304" y="1474340"/>
            <a:ext cx="0" cy="1567286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8749829" y="3098776"/>
            <a:ext cx="1410304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9340681" y="327022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9340681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8435383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10169658" y="1474340"/>
            <a:ext cx="0" cy="1567286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10179183" y="3098776"/>
            <a:ext cx="1517505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823635" y="327022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823635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9864737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4445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285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6172200" y="49530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172200" y="49530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S1 → S2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 Moves to S2 Only on 10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rcRect t="27725" b="34267"/>
          <a:stretch>
            <a:fillRect/>
          </a:stretch>
        </p:blipFill>
        <p:spPr>
          <a:xfrm>
            <a:off x="457200" y="1219200"/>
            <a:ext cx="11277600" cy="1716615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2265274" y="1459526"/>
            <a:ext cx="0" cy="1476289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2274799" y="2992965"/>
            <a:ext cx="2443308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3382153" y="3164415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3382153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2246224" y="1810166"/>
            <a:ext cx="819019" cy="154777"/>
          </a:xfrm>
          <a:prstGeom prst="roundRect">
            <a:avLst>
              <a:gd name="adj" fmla="val 18462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4727632" y="1459526"/>
            <a:ext cx="0" cy="1476289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4737157" y="2992965"/>
            <a:ext cx="4202135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6723925" y="316441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723925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427170" y="1950438"/>
            <a:ext cx="319512" cy="190821"/>
          </a:xfrm>
          <a:prstGeom prst="roundRect">
            <a:avLst>
              <a:gd name="adj" fmla="val 14974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948818" y="1459526"/>
            <a:ext cx="0" cy="1476289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958343" y="2992965"/>
            <a:ext cx="2731756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209921" y="3164415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209921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8648355" y="1950438"/>
            <a:ext cx="319512" cy="190821"/>
          </a:xfrm>
          <a:prstGeom prst="roundRect">
            <a:avLst>
              <a:gd name="adj" fmla="val 14974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44450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3" name="Line 43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285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44" name="Text 44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5" name="Shape 45"/>
          <p:cNvSpPr/>
          <p:nvPr/>
        </p:nvSpPr>
        <p:spPr>
          <a:xfrm>
            <a:off x="4533900" y="440055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4533900" y="44005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S2 → S3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 Moves to S3 Only on 11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198964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3688175" y="1497751"/>
            <a:ext cx="0" cy="1711096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3697700" y="3265997"/>
            <a:ext cx="1741699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454250" y="3437447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454250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316975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448925" y="1497751"/>
            <a:ext cx="0" cy="1711096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458450" y="3265997"/>
            <a:ext cx="3502449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7095374" y="3437447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095374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5077725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970423" y="1497751"/>
            <a:ext cx="0" cy="1711096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979948" y="3265997"/>
            <a:ext cx="2622074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176685" y="343744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176685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8599224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4445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S3 → S4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Moves to S4 on 10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175141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767208" y="1464398"/>
            <a:ext cx="0" cy="1506218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776733" y="3027767"/>
            <a:ext cx="2265406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5795136" y="319921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5795136" y="319921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4443564" y="1967340"/>
            <a:ext cx="342694" cy="201832"/>
          </a:xfrm>
          <a:prstGeom prst="roundRect">
            <a:avLst>
              <a:gd name="adj" fmla="val 14157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7051664" y="1464398"/>
            <a:ext cx="0" cy="1506218"/>
          </a:xfrm>
          <a:prstGeom prst="line">
            <a:avLst/>
          </a:prstGeom>
          <a:ln w="22225">
            <a:solidFill>
              <a:srgbClr val="DB2777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7061189" y="3027767"/>
            <a:ext cx="4641241" cy="11430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9267510" y="3199217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9267510" y="319921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6728020" y="1967340"/>
            <a:ext cx="342694" cy="201832"/>
          </a:xfrm>
          <a:prstGeom prst="roundRect">
            <a:avLst>
              <a:gd name="adj" fmla="val 14157"/>
            </a:avLst>
          </a:prstGeom>
          <a:noFill/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9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0" name="Line 20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1" name="Text 21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3" name="Text 23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25" name="Text 25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26" name="Line 26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44450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27" name="Text 27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8" name="Line 28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9" name="Text 29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0" name="Line 30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1" name="Text 31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2" name="Line 32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3" name="Text 33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6"/>
          <p:cNvSpPr/>
          <p:nvPr/>
        </p:nvSpPr>
        <p:spPr>
          <a:xfrm>
            <a:off x="4838700" y="550545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4838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cxnSp>
        <p:nvCxnSpPr>
          <p:cNvPr id="38" name="Line 38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9" name="Text 39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0" name="Shape 40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2" name="Text 42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43" name="Shape 43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45" name="Text 45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6" name="Shape 46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48" name="Text 48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9" name="Shape 49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1" name="Text 51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2" name="Shape 52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54" name="Text 54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S3 → S0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Returns to S0 on 00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2011726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318691" y="1500842"/>
            <a:ext cx="0" cy="1730084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328216" y="3288076"/>
            <a:ext cx="841901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634866" y="345952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634866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958671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179642" y="1500842"/>
            <a:ext cx="0" cy="1730084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189167" y="3288076"/>
            <a:ext cx="833376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5491555" y="3459526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5491555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819621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6032068" y="1500842"/>
            <a:ext cx="0" cy="1730084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6041593" y="3288076"/>
            <a:ext cx="2538229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7196407" y="3459526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7196407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5672048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4" name="Line 24"/>
          <p:cNvCxnSpPr/>
          <p:nvPr/>
        </p:nvCxnSpPr>
        <p:spPr>
          <a:xfrm>
            <a:off x="8589347" y="1500842"/>
            <a:ext cx="0" cy="1730084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25" name="Shape 25"/>
          <p:cNvSpPr/>
          <p:nvPr/>
        </p:nvSpPr>
        <p:spPr>
          <a:xfrm>
            <a:off x="8598872" y="3288076"/>
            <a:ext cx="3100830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10034987" y="345952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10034987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8229326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0" name="Line 30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1" name="Text 31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2" name="Line 32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3" name="Text 33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34" name="Line 34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5" name="Text 35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6" name="Line 36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7" name="Text 37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8" name="Line 38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444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39" name="Text 39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1" name="Text 41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42" name="Line 42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3" name="Text 43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44" name="Shape 44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6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6172200" y="49530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6172200" y="49530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cxnSp>
        <p:nvCxnSpPr>
          <p:cNvPr id="52" name="Line 52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53" name="Text 53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4" name="Shape 54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56" name="Text 56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7" name="Shape 57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9" name="Text 59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60" name="Shape 60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62" name="Text 62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63" name="Shape 63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65" name="Text 65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66" name="Shape 66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8" name="Text 68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S3 → S1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Returns to S1 on 01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1955012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3581804" y="1492902"/>
            <a:ext cx="0" cy="1681310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3591329" y="3231362"/>
            <a:ext cx="1688384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321221" y="3402812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321221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221267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289238" y="1492902"/>
            <a:ext cx="0" cy="1681310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298763" y="3231362"/>
            <a:ext cx="4249534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7309230" y="3402812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309230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928701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9557822" y="1492902"/>
            <a:ext cx="0" cy="1681310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9567347" y="3231362"/>
            <a:ext cx="2132317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519205" y="3402812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519205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9197285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4445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6953250" y="517207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6953250" y="51720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시뮬레이션 · S4 → S0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 Returns to S0 Only on 00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61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217623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089655" y="1523873"/>
            <a:ext cx="0" cy="1871564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099180" y="3452587"/>
            <a:ext cx="798050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383905" y="362403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38390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74700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4906755" y="1523873"/>
            <a:ext cx="0" cy="1871564"/>
          </a:xfrm>
          <a:prstGeom prst="line">
            <a:avLst/>
          </a:prstGeom>
          <a:ln w="22225">
            <a:solidFill>
              <a:srgbClr val="DB2777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4916280" y="3452587"/>
            <a:ext cx="3216990" cy="11430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6410475" y="3624037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41047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56410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142795" y="1523873"/>
            <a:ext cx="0" cy="1871564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152320" y="3452587"/>
            <a:ext cx="789960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8433000" y="3624037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8433000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780014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4" name="Line 24"/>
          <p:cNvCxnSpPr/>
          <p:nvPr/>
        </p:nvCxnSpPr>
        <p:spPr>
          <a:xfrm>
            <a:off x="8951805" y="1523873"/>
            <a:ext cx="0" cy="1871564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25" name="Shape 25"/>
          <p:cNvSpPr/>
          <p:nvPr/>
        </p:nvSpPr>
        <p:spPr>
          <a:xfrm>
            <a:off x="8961330" y="3452587"/>
            <a:ext cx="1598970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9646515" y="3624037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964651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860915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9" name="Line 29"/>
          <p:cNvCxnSpPr/>
          <p:nvPr/>
        </p:nvCxnSpPr>
        <p:spPr>
          <a:xfrm>
            <a:off x="10569826" y="1523873"/>
            <a:ext cx="0" cy="1871564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30" name="Shape 30"/>
          <p:cNvSpPr/>
          <p:nvPr/>
        </p:nvSpPr>
        <p:spPr>
          <a:xfrm>
            <a:off x="10579351" y="3452587"/>
            <a:ext cx="789960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31"/>
          <p:cNvSpPr/>
          <p:nvPr/>
        </p:nvSpPr>
        <p:spPr>
          <a:xfrm>
            <a:off x="10860031" y="3624037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10860031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Shape 33"/>
          <p:cNvSpPr/>
          <p:nvPr/>
        </p:nvSpPr>
        <p:spPr>
          <a:xfrm>
            <a:off x="10227172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5" name="Line 3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7" name="Line 3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39" name="Line 3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40" name="Text 4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41" name="Line 4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28575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42" name="Text 4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43" name="Line 4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4" name="Text 4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47" name="Line 4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444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48" name="Text 4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49" name="Shape 49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4838700" y="550545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4838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Shape 53"/>
          <p:cNvSpPr/>
          <p:nvPr/>
        </p:nvSpPr>
        <p:spPr>
          <a:xfrm>
            <a:off x="5029200" y="51435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5029200" y="51435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Shape 55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cxnSp>
        <p:nvCxnSpPr>
          <p:cNvPr id="59" name="Line 59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60" name="Text 60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1" name="Shape 61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63" name="Text 63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64" name="Shape 64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6" name="Text 66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67" name="Shape 67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69" name="Text 69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70" name="Shape 70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2" name="Text 72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73" name="Shape 73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75" name="Text 75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Missing Default Leaves N_State Unassigned, Inferring a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264505"/>
            <a:ext cx="4953000" cy="2857500"/>
          </a:xfrm>
          <a:prstGeom prst="roundRect">
            <a:avLst>
              <a:gd name="adj" fmla="val 256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2416905"/>
            <a:ext cx="438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State[2:0] = 8가지 코드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828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28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71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971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114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85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828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828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71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2971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971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114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114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62600" y="2264505"/>
            <a:ext cx="6172200" cy="2857500"/>
          </a:xfrm>
          <a:prstGeom prst="roundRect">
            <a:avLst>
              <a:gd name="adj" fmla="val 256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753100" y="2397855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없음 → RTL_LATCH</a:t>
            </a:r>
            <a:endParaRPr lang="en-US" sz="1500" dirty="0"/>
          </a:p>
        </p:txBody>
      </p:sp>
      <p:pic>
        <p:nvPicPr>
          <p:cNvPr id="35" name="Image 0" descr="img/s3_latc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2740755"/>
            <a:ext cx="5791200" cy="16002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600950" y="2931255"/>
            <a:ext cx="800100" cy="666750"/>
          </a:xfrm>
          <a:prstGeom prst="rect">
            <a:avLst/>
          </a:prstGeom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/>
          <p:nvPr/>
        </p:nvSpPr>
        <p:spPr>
          <a:xfrm>
            <a:off x="5753100" y="440763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700" dirty="0"/>
          </a:p>
        </p:txBody>
      </p:sp>
      <p:sp>
        <p:nvSpPr>
          <p:cNvPr id="42" name="Text 39"/>
          <p:cNvSpPr/>
          <p:nvPr/>
        </p:nvSpPr>
        <p:spPr>
          <a:xfrm>
            <a:off x="5783385" y="4709742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Case 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문에서 </a:t>
            </a:r>
            <a:r>
              <a:rPr lang="en-US" altLang="ko-KR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default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문을 명시하지 않을 경우 합성단계에서 </a:t>
            </a:r>
            <a:r>
              <a:rPr lang="en-US" altLang="ko-KR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Latch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가 발생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61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RTL Schematic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Default, Only the State Register Stores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1000" y="1295400"/>
            <a:ext cx="114300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s3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428750"/>
            <a:ext cx="11239500" cy="463831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4025" y="1630416"/>
            <a:ext cx="7528852" cy="4234979"/>
          </a:xfrm>
          <a:prstGeom prst="rect">
            <a:avLst/>
          </a:prstGeom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014025" y="1401816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Next-State Logic · RTL_MUX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12597" y="4420124"/>
            <a:ext cx="1041939" cy="873885"/>
          </a:xfrm>
          <a:prstGeom prst="rect">
            <a:avLst/>
          </a:prstGeom>
          <a:ln w="285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8912597" y="4191524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State_reg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257035" y="3848738"/>
            <a:ext cx="773052" cy="537775"/>
          </a:xfrm>
          <a:prstGeom prst="rect">
            <a:avLst/>
          </a:prstGeom>
          <a:ln w="285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10257035" y="3620138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o_led ROM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61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Board I/O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· SW0 Drive i_sw, BTNC Resets, LD2 ~ LD0 Show o_led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78105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99" name="그림 16">
            <a:extLst>
              <a:ext uri="{FF2B5EF4-FFF2-40B4-BE49-F238E27FC236}">
                <a16:creationId xmlns:a16="http://schemas.microsoft.com/office/drawing/2014/main" id="{977454D4-6E36-AB0F-A412-78F847DE08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53"/>
          <a:stretch>
            <a:fillRect/>
          </a:stretch>
        </p:blipFill>
        <p:spPr>
          <a:xfrm rot="16200000">
            <a:off x="1471524" y="819373"/>
            <a:ext cx="3657601" cy="5886546"/>
          </a:xfrm>
          <a:prstGeom prst="rect">
            <a:avLst/>
          </a:prstGeom>
        </p:spPr>
      </p:pic>
      <p:sp>
        <p:nvSpPr>
          <p:cNvPr id="9" name="Shape 9"/>
          <p:cNvSpPr/>
          <p:nvPr/>
        </p:nvSpPr>
        <p:spPr>
          <a:xfrm>
            <a:off x="4600575" y="3705225"/>
            <a:ext cx="180975" cy="180975"/>
          </a:xfrm>
          <a:prstGeom prst="ellips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838700" y="4152900"/>
            <a:ext cx="628650" cy="171450"/>
          </a:xfrm>
          <a:prstGeom prst="roundRect">
            <a:avLst>
              <a:gd name="adj" fmla="val 16666"/>
            </a:avLst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5153025" y="4400550"/>
            <a:ext cx="476250" cy="4953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" name="Line 12"/>
          <p:cNvCxnSpPr/>
          <p:nvPr/>
        </p:nvCxnSpPr>
        <p:spPr>
          <a:xfrm flipV="1">
            <a:off x="4781550" y="3009900"/>
            <a:ext cx="1543050" cy="781050"/>
          </a:xfrm>
          <a:prstGeom prst="line">
            <a:avLst/>
          </a:prstGeom>
          <a:ln w="19050">
            <a:solidFill>
              <a:srgbClr val="DC2626"/>
            </a:solidFill>
            <a:prstDash val="solid"/>
          </a:ln>
        </p:spPr>
      </p:cxnSp>
      <p:cxnSp>
        <p:nvCxnSpPr>
          <p:cNvPr id="13" name="Line 13"/>
          <p:cNvCxnSpPr/>
          <p:nvPr/>
        </p:nvCxnSpPr>
        <p:spPr>
          <a:xfrm>
            <a:off x="5467350" y="4238625"/>
            <a:ext cx="857250" cy="0"/>
          </a:xfrm>
          <a:prstGeom prst="line">
            <a:avLst/>
          </a:prstGeom>
          <a:ln w="19050">
            <a:solidFill>
              <a:srgbClr val="16A34A"/>
            </a:solidFill>
            <a:prstDash val="solid"/>
          </a:ln>
        </p:spPr>
      </p:cxnSp>
      <p:cxnSp>
        <p:nvCxnSpPr>
          <p:cNvPr id="14" name="Line 14"/>
          <p:cNvCxnSpPr/>
          <p:nvPr/>
        </p:nvCxnSpPr>
        <p:spPr>
          <a:xfrm>
            <a:off x="5629275" y="4743450"/>
            <a:ext cx="695325" cy="647700"/>
          </a:xfrm>
          <a:prstGeom prst="line">
            <a:avLst/>
          </a:prstGeom>
          <a:ln w="19050">
            <a:solidFill>
              <a:srgbClr val="2563EB"/>
            </a:solidFill>
            <a:prstDash val="solid"/>
          </a:ln>
        </p:spPr>
      </p:cxnSp>
      <p:sp>
        <p:nvSpPr>
          <p:cNvPr id="15" name="Shape 15"/>
          <p:cNvSpPr/>
          <p:nvPr/>
        </p:nvSpPr>
        <p:spPr>
          <a:xfrm>
            <a:off x="6324600" y="2819400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6419850" y="2838450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6419850" y="30099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BTNC · U18</a:t>
            </a:r>
            <a:endParaRPr lang="en-US" sz="1000" dirty="0"/>
          </a:p>
        </p:txBody>
      </p:sp>
      <p:sp>
        <p:nvSpPr>
          <p:cNvPr id="18" name="Shape 18"/>
          <p:cNvSpPr/>
          <p:nvPr/>
        </p:nvSpPr>
        <p:spPr>
          <a:xfrm>
            <a:off x="6324600" y="4048125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6419850" y="406717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o_led[2:0]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6419850" y="4238625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LD2 · LD1 · LD0</a:t>
            </a:r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6324600" y="5200650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419850" y="5219700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6419850" y="539115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· SW0</a:t>
            </a:r>
            <a:endParaRPr lang="en-US" sz="1000" dirty="0"/>
          </a:p>
        </p:txBody>
      </p:sp>
      <p:sp>
        <p:nvSpPr>
          <p:cNvPr id="24" name="Shape 24"/>
          <p:cNvSpPr/>
          <p:nvPr/>
        </p:nvSpPr>
        <p:spPr>
          <a:xfrm>
            <a:off x="8420100" y="1295400"/>
            <a:ext cx="3314700" cy="4953000"/>
          </a:xfrm>
          <a:prstGeom prst="roundRect">
            <a:avLst>
              <a:gd name="adj" fmla="val 229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8591550" y="14478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FSM_CON.xdc</a:t>
            </a:r>
            <a:endParaRPr lang="en-US" sz="1500" dirty="0"/>
          </a:p>
        </p:txBody>
      </p:sp>
      <p:sp>
        <p:nvSpPr>
          <p:cNvPr id="26" name="Shape 26"/>
          <p:cNvSpPr/>
          <p:nvPr/>
        </p:nvSpPr>
        <p:spPr>
          <a:xfrm>
            <a:off x="8591550" y="1828800"/>
            <a:ext cx="9144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8648700" y="1828800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Port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9505950" y="1828800"/>
            <a:ext cx="62865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9"/>
          <p:cNvSpPr txBox="1"/>
          <p:nvPr/>
        </p:nvSpPr>
        <p:spPr>
          <a:xfrm>
            <a:off x="9563100" y="1828800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</a:t>
            </a:r>
            <a:endParaRPr lang="en-US" sz="1100" dirty="0"/>
          </a:p>
        </p:txBody>
      </p:sp>
      <p:sp>
        <p:nvSpPr>
          <p:cNvPr id="30" name="Shape 30"/>
          <p:cNvSpPr/>
          <p:nvPr/>
        </p:nvSpPr>
        <p:spPr>
          <a:xfrm>
            <a:off x="10134600" y="1828800"/>
            <a:ext cx="4953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10191750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100" dirty="0"/>
          </a:p>
        </p:txBody>
      </p:sp>
      <p:sp>
        <p:nvSpPr>
          <p:cNvPr id="32" name="Shape 32"/>
          <p:cNvSpPr/>
          <p:nvPr/>
        </p:nvSpPr>
        <p:spPr>
          <a:xfrm>
            <a:off x="10629900" y="1828800"/>
            <a:ext cx="93345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10687050" y="1828800"/>
            <a:ext cx="819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Board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8591550" y="22098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8686800" y="22098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36" name="Shape 36"/>
          <p:cNvSpPr/>
          <p:nvPr/>
        </p:nvSpPr>
        <p:spPr>
          <a:xfrm>
            <a:off x="9505950" y="22098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9601200" y="22098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38" name="Shape 38"/>
          <p:cNvSpPr/>
          <p:nvPr/>
        </p:nvSpPr>
        <p:spPr>
          <a:xfrm>
            <a:off x="10134600" y="22098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10229850" y="22098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W5</a:t>
            </a:r>
            <a:endParaRPr lang="en-US" sz="1100" dirty="0"/>
          </a:p>
        </p:txBody>
      </p:sp>
      <p:sp>
        <p:nvSpPr>
          <p:cNvPr id="40" name="Shape 40"/>
          <p:cNvSpPr/>
          <p:nvPr/>
        </p:nvSpPr>
        <p:spPr>
          <a:xfrm>
            <a:off x="10629900" y="22098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10725150" y="22098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MHz</a:t>
            </a:r>
            <a:endParaRPr lang="en-US" sz="1100" dirty="0"/>
          </a:p>
        </p:txBody>
      </p:sp>
      <p:sp>
        <p:nvSpPr>
          <p:cNvPr id="42" name="Shape 42"/>
          <p:cNvSpPr/>
          <p:nvPr/>
        </p:nvSpPr>
        <p:spPr>
          <a:xfrm>
            <a:off x="8591550" y="26670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8686800" y="26670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4" name="Shape 44"/>
          <p:cNvSpPr/>
          <p:nvPr/>
        </p:nvSpPr>
        <p:spPr>
          <a:xfrm>
            <a:off x="9505950" y="26670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9601200" y="26670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46" name="Shape 46"/>
          <p:cNvSpPr/>
          <p:nvPr/>
        </p:nvSpPr>
        <p:spPr>
          <a:xfrm>
            <a:off x="10134600" y="26670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10229850" y="26670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U18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10629900" y="26670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10725150" y="26670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BTNC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8591550" y="31242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686800" y="31242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i_sw[0]</a:t>
            </a:r>
            <a:endParaRPr lang="en-US" sz="1100" dirty="0"/>
          </a:p>
        </p:txBody>
      </p:sp>
      <p:sp>
        <p:nvSpPr>
          <p:cNvPr id="52" name="Shape 52"/>
          <p:cNvSpPr/>
          <p:nvPr/>
        </p:nvSpPr>
        <p:spPr>
          <a:xfrm>
            <a:off x="9505950" y="31242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9601200" y="31242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54" name="Shape 54"/>
          <p:cNvSpPr/>
          <p:nvPr/>
        </p:nvSpPr>
        <p:spPr>
          <a:xfrm>
            <a:off x="10134600" y="31242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10229850" y="31242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V17</a:t>
            </a:r>
            <a:endParaRPr lang="en-US" sz="1100" dirty="0"/>
          </a:p>
        </p:txBody>
      </p:sp>
      <p:sp>
        <p:nvSpPr>
          <p:cNvPr id="56" name="Shape 56"/>
          <p:cNvSpPr/>
          <p:nvPr/>
        </p:nvSpPr>
        <p:spPr>
          <a:xfrm>
            <a:off x="10629900" y="31242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10725150" y="31242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SW0</a:t>
            </a:r>
            <a:endParaRPr lang="en-US" sz="1100" dirty="0"/>
          </a:p>
        </p:txBody>
      </p:sp>
      <p:sp>
        <p:nvSpPr>
          <p:cNvPr id="58" name="Shape 58"/>
          <p:cNvSpPr/>
          <p:nvPr/>
        </p:nvSpPr>
        <p:spPr>
          <a:xfrm>
            <a:off x="8591550" y="35814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8686800" y="35814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i_sw[1]</a:t>
            </a:r>
            <a:endParaRPr lang="en-US" sz="1100" dirty="0"/>
          </a:p>
        </p:txBody>
      </p:sp>
      <p:sp>
        <p:nvSpPr>
          <p:cNvPr id="60" name="Shape 60"/>
          <p:cNvSpPr/>
          <p:nvPr/>
        </p:nvSpPr>
        <p:spPr>
          <a:xfrm>
            <a:off x="9505950" y="35814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9601200" y="35814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62" name="Shape 62"/>
          <p:cNvSpPr/>
          <p:nvPr/>
        </p:nvSpPr>
        <p:spPr>
          <a:xfrm>
            <a:off x="10134600" y="35814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10229850" y="35814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V16</a:t>
            </a:r>
            <a:endParaRPr lang="en-US" sz="1100" dirty="0"/>
          </a:p>
        </p:txBody>
      </p:sp>
      <p:sp>
        <p:nvSpPr>
          <p:cNvPr id="64" name="Shape 64"/>
          <p:cNvSpPr/>
          <p:nvPr/>
        </p:nvSpPr>
        <p:spPr>
          <a:xfrm>
            <a:off x="10629900" y="35814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10725150" y="35814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</a:t>
            </a:r>
            <a:endParaRPr lang="en-US" sz="1100" dirty="0"/>
          </a:p>
        </p:txBody>
      </p:sp>
      <p:sp>
        <p:nvSpPr>
          <p:cNvPr id="66" name="Shape 66"/>
          <p:cNvSpPr/>
          <p:nvPr/>
        </p:nvSpPr>
        <p:spPr>
          <a:xfrm>
            <a:off x="8591550" y="40386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8686800" y="40386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o_led[0]</a:t>
            </a:r>
            <a:endParaRPr lang="en-US" sz="1100" dirty="0"/>
          </a:p>
        </p:txBody>
      </p:sp>
      <p:sp>
        <p:nvSpPr>
          <p:cNvPr id="68" name="Shape 68"/>
          <p:cNvSpPr/>
          <p:nvPr/>
        </p:nvSpPr>
        <p:spPr>
          <a:xfrm>
            <a:off x="9505950" y="40386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9601200" y="40386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70" name="Shape 70"/>
          <p:cNvSpPr/>
          <p:nvPr/>
        </p:nvSpPr>
        <p:spPr>
          <a:xfrm>
            <a:off x="10134600" y="40386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10229850" y="40386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U16</a:t>
            </a:r>
            <a:endParaRPr lang="en-US" sz="1100" dirty="0"/>
          </a:p>
        </p:txBody>
      </p:sp>
      <p:sp>
        <p:nvSpPr>
          <p:cNvPr id="72" name="Shape 72"/>
          <p:cNvSpPr/>
          <p:nvPr/>
        </p:nvSpPr>
        <p:spPr>
          <a:xfrm>
            <a:off x="10629900" y="40386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3"/>
          <p:cNvSpPr txBox="1"/>
          <p:nvPr/>
        </p:nvSpPr>
        <p:spPr>
          <a:xfrm>
            <a:off x="10725150" y="40386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LD0</a:t>
            </a:r>
            <a:endParaRPr lang="en-US" sz="1100" dirty="0"/>
          </a:p>
        </p:txBody>
      </p:sp>
      <p:sp>
        <p:nvSpPr>
          <p:cNvPr id="74" name="Shape 74"/>
          <p:cNvSpPr/>
          <p:nvPr/>
        </p:nvSpPr>
        <p:spPr>
          <a:xfrm>
            <a:off x="8591550" y="44958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5"/>
          <p:cNvSpPr txBox="1"/>
          <p:nvPr/>
        </p:nvSpPr>
        <p:spPr>
          <a:xfrm>
            <a:off x="8686800" y="44958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o_led[1]</a:t>
            </a:r>
            <a:endParaRPr lang="en-US" sz="1100" dirty="0"/>
          </a:p>
        </p:txBody>
      </p:sp>
      <p:sp>
        <p:nvSpPr>
          <p:cNvPr id="76" name="Shape 76"/>
          <p:cNvSpPr/>
          <p:nvPr/>
        </p:nvSpPr>
        <p:spPr>
          <a:xfrm>
            <a:off x="9505950" y="44958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7"/>
          <p:cNvSpPr txBox="1"/>
          <p:nvPr/>
        </p:nvSpPr>
        <p:spPr>
          <a:xfrm>
            <a:off x="9601200" y="44958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78" name="Shape 78"/>
          <p:cNvSpPr/>
          <p:nvPr/>
        </p:nvSpPr>
        <p:spPr>
          <a:xfrm>
            <a:off x="10134600" y="44958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9"/>
          <p:cNvSpPr txBox="1"/>
          <p:nvPr/>
        </p:nvSpPr>
        <p:spPr>
          <a:xfrm>
            <a:off x="10229850" y="44958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E19</a:t>
            </a:r>
            <a:endParaRPr lang="en-US" sz="1100" dirty="0"/>
          </a:p>
        </p:txBody>
      </p:sp>
      <p:sp>
        <p:nvSpPr>
          <p:cNvPr id="80" name="Shape 80"/>
          <p:cNvSpPr/>
          <p:nvPr/>
        </p:nvSpPr>
        <p:spPr>
          <a:xfrm>
            <a:off x="10629900" y="44958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81"/>
          <p:cNvSpPr txBox="1"/>
          <p:nvPr/>
        </p:nvSpPr>
        <p:spPr>
          <a:xfrm>
            <a:off x="10725150" y="44958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LD1</a:t>
            </a:r>
            <a:endParaRPr lang="en-US" sz="1100" dirty="0"/>
          </a:p>
        </p:txBody>
      </p:sp>
      <p:sp>
        <p:nvSpPr>
          <p:cNvPr id="82" name="Shape 82"/>
          <p:cNvSpPr/>
          <p:nvPr/>
        </p:nvSpPr>
        <p:spPr>
          <a:xfrm>
            <a:off x="8591550" y="49530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3"/>
          <p:cNvSpPr txBox="1"/>
          <p:nvPr/>
        </p:nvSpPr>
        <p:spPr>
          <a:xfrm>
            <a:off x="8686800" y="49530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o_led[2]</a:t>
            </a:r>
            <a:endParaRPr lang="en-US" sz="1100" dirty="0"/>
          </a:p>
        </p:txBody>
      </p:sp>
      <p:sp>
        <p:nvSpPr>
          <p:cNvPr id="84" name="Shape 84"/>
          <p:cNvSpPr/>
          <p:nvPr/>
        </p:nvSpPr>
        <p:spPr>
          <a:xfrm>
            <a:off x="9505950" y="49530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5"/>
          <p:cNvSpPr txBox="1"/>
          <p:nvPr/>
        </p:nvSpPr>
        <p:spPr>
          <a:xfrm>
            <a:off x="9601200" y="49530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86" name="Shape 86"/>
          <p:cNvSpPr/>
          <p:nvPr/>
        </p:nvSpPr>
        <p:spPr>
          <a:xfrm>
            <a:off x="10134600" y="49530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7"/>
          <p:cNvSpPr txBox="1"/>
          <p:nvPr/>
        </p:nvSpPr>
        <p:spPr>
          <a:xfrm>
            <a:off x="10229850" y="49530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U19</a:t>
            </a:r>
            <a:endParaRPr lang="en-US" sz="1100" dirty="0"/>
          </a:p>
        </p:txBody>
      </p:sp>
      <p:sp>
        <p:nvSpPr>
          <p:cNvPr id="88" name="Shape 88"/>
          <p:cNvSpPr/>
          <p:nvPr/>
        </p:nvSpPr>
        <p:spPr>
          <a:xfrm>
            <a:off x="10629900" y="49530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9"/>
          <p:cNvSpPr txBox="1"/>
          <p:nvPr/>
        </p:nvSpPr>
        <p:spPr>
          <a:xfrm>
            <a:off x="10725150" y="49530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LD2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Homework-1 · Board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Board LEDs Match All Five State Codes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4271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1" name="Board S0" descr="Basys3 board, state S0, o_led 000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14875" y="1638300"/>
            <a:ext cx="2762250" cy="178117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2" name="Tag S0"/>
          <p:cNvSpPr/>
          <p:nvPr/>
        </p:nvSpPr>
        <p:spPr>
          <a:xfrm>
            <a:off x="4791075" y="1714500"/>
            <a:ext cx="1066800" cy="2857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3" name="Tag S0 Name"/>
          <p:cNvSpPr txBox="1"/>
          <p:nvPr/>
        </p:nvSpPr>
        <p:spPr>
          <a:xfrm>
            <a:off x="4867275" y="1714500"/>
            <a:ext cx="342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</a:p>
        </p:txBody>
      </p:sp>
      <p:sp>
        <p:nvSpPr>
          <p:cNvPr id="204" name="Tag S0 LED2"/>
          <p:cNvSpPr/>
          <p:nvPr/>
        </p:nvSpPr>
        <p:spPr>
          <a:xfrm>
            <a:off x="5248275" y="17907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5" name="Tag S0 LED1"/>
          <p:cNvSpPr/>
          <p:nvPr/>
        </p:nvSpPr>
        <p:spPr>
          <a:xfrm>
            <a:off x="5438775" y="17907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Tag S0 LED0"/>
          <p:cNvSpPr/>
          <p:nvPr/>
        </p:nvSpPr>
        <p:spPr>
          <a:xfrm>
            <a:off x="5629275" y="17907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7" name="Board S1" descr="Basys3 board, state S1, o_led 001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01050" y="1638300"/>
            <a:ext cx="2762250" cy="178117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8" name="Tag S1"/>
          <p:cNvSpPr/>
          <p:nvPr/>
        </p:nvSpPr>
        <p:spPr>
          <a:xfrm>
            <a:off x="8477250" y="1714500"/>
            <a:ext cx="1066800" cy="2857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9" name="Tag S1 Name"/>
          <p:cNvSpPr txBox="1"/>
          <p:nvPr/>
        </p:nvSpPr>
        <p:spPr>
          <a:xfrm>
            <a:off x="8553450" y="1714500"/>
            <a:ext cx="342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</a:p>
        </p:txBody>
      </p:sp>
      <p:sp>
        <p:nvSpPr>
          <p:cNvPr id="210" name="Tag S1 LED2"/>
          <p:cNvSpPr/>
          <p:nvPr/>
        </p:nvSpPr>
        <p:spPr>
          <a:xfrm>
            <a:off x="8934450" y="17907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1" name="Tag S1 LED1"/>
          <p:cNvSpPr/>
          <p:nvPr/>
        </p:nvSpPr>
        <p:spPr>
          <a:xfrm>
            <a:off x="9124950" y="17907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2" name="Tag S1 LED0"/>
          <p:cNvSpPr/>
          <p:nvPr/>
        </p:nvSpPr>
        <p:spPr>
          <a:xfrm>
            <a:off x="9315450" y="17907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3" name="Board S2" descr="Basys3 board, state S2, o_led 01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01050" y="4248150"/>
            <a:ext cx="2762250" cy="178117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14" name="Tag S2"/>
          <p:cNvSpPr/>
          <p:nvPr/>
        </p:nvSpPr>
        <p:spPr>
          <a:xfrm>
            <a:off x="8477250" y="4324350"/>
            <a:ext cx="1066800" cy="2857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5" name="Tag S2 Name"/>
          <p:cNvSpPr txBox="1"/>
          <p:nvPr/>
        </p:nvSpPr>
        <p:spPr>
          <a:xfrm>
            <a:off x="8553450" y="4324350"/>
            <a:ext cx="342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</a:p>
        </p:txBody>
      </p:sp>
      <p:sp>
        <p:nvSpPr>
          <p:cNvPr id="216" name="Tag S2 LED2"/>
          <p:cNvSpPr/>
          <p:nvPr/>
        </p:nvSpPr>
        <p:spPr>
          <a:xfrm>
            <a:off x="8934450" y="44005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7" name="Tag S2 LED1"/>
          <p:cNvSpPr/>
          <p:nvPr/>
        </p:nvSpPr>
        <p:spPr>
          <a:xfrm>
            <a:off x="9124950" y="44005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8" name="Tag S2 LED0"/>
          <p:cNvSpPr/>
          <p:nvPr/>
        </p:nvSpPr>
        <p:spPr>
          <a:xfrm>
            <a:off x="9315450" y="44005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9" name="Board S3" descr="Basys3 board, state S3, o_led 100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714875" y="4248150"/>
            <a:ext cx="2762250" cy="178117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20" name="Tag S3"/>
          <p:cNvSpPr/>
          <p:nvPr/>
        </p:nvSpPr>
        <p:spPr>
          <a:xfrm>
            <a:off x="4791075" y="4324350"/>
            <a:ext cx="1066800" cy="2857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1" name="Tag S3 Name"/>
          <p:cNvSpPr txBox="1"/>
          <p:nvPr/>
        </p:nvSpPr>
        <p:spPr>
          <a:xfrm>
            <a:off x="4867275" y="4324350"/>
            <a:ext cx="342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</a:p>
        </p:txBody>
      </p:sp>
      <p:sp>
        <p:nvSpPr>
          <p:cNvPr id="222" name="Tag S3 LED2"/>
          <p:cNvSpPr/>
          <p:nvPr/>
        </p:nvSpPr>
        <p:spPr>
          <a:xfrm>
            <a:off x="5248275" y="44005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3" name="Tag S3 LED1"/>
          <p:cNvSpPr/>
          <p:nvPr/>
        </p:nvSpPr>
        <p:spPr>
          <a:xfrm>
            <a:off x="5438775" y="44005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4" name="Tag S3 LED0"/>
          <p:cNvSpPr/>
          <p:nvPr/>
        </p:nvSpPr>
        <p:spPr>
          <a:xfrm>
            <a:off x="5629275" y="44005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5" name="Board S4" descr="Basys3 board, state S4, o_led 111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8700" y="4248150"/>
            <a:ext cx="2762250" cy="178117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26" name="Tag S4"/>
          <p:cNvSpPr/>
          <p:nvPr/>
        </p:nvSpPr>
        <p:spPr>
          <a:xfrm>
            <a:off x="1104900" y="4324350"/>
            <a:ext cx="1066800" cy="2857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7" name="Tag S4 Name"/>
          <p:cNvSpPr txBox="1"/>
          <p:nvPr/>
        </p:nvSpPr>
        <p:spPr>
          <a:xfrm>
            <a:off x="1181100" y="4324350"/>
            <a:ext cx="342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</a:p>
        </p:txBody>
      </p:sp>
      <p:sp>
        <p:nvSpPr>
          <p:cNvPr id="228" name="Tag S4 LED2"/>
          <p:cNvSpPr/>
          <p:nvPr/>
        </p:nvSpPr>
        <p:spPr>
          <a:xfrm>
            <a:off x="1562100" y="44005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9" name="Tag S4 LED1"/>
          <p:cNvSpPr/>
          <p:nvPr/>
        </p:nvSpPr>
        <p:spPr>
          <a:xfrm>
            <a:off x="1752600" y="44005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0" name="Tag S4 LED0"/>
          <p:cNvSpPr/>
          <p:nvPr/>
        </p:nvSpPr>
        <p:spPr>
          <a:xfrm>
            <a:off x="1943100" y="44005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31" name="Arc S0→S1"/>
          <p:cNvCxnSpPr/>
          <p:nvPr/>
        </p:nvCxnSpPr>
        <p:spPr>
          <a:xfrm>
            <a:off x="7534275" y="2524125"/>
            <a:ext cx="809625" cy="0"/>
          </a:xfrm>
          <a:prstGeom prst="straightConnector1">
            <a:avLst/>
          </a:prstGeom>
          <a:ln w="22225">
            <a:solidFill>
              <a:srgbClr val="2563EB"/>
            </a:solidFill>
            <a:tailEnd type="triangle"/>
          </a:ln>
        </p:spPr>
      </p:cxnSp>
      <p:sp>
        <p:nvSpPr>
          <p:cNvPr id="232" name="Arc S0→S1 i_sw"/>
          <p:cNvSpPr txBox="1"/>
          <p:nvPr/>
        </p:nvSpPr>
        <p:spPr>
          <a:xfrm>
            <a:off x="7648575" y="226695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</a:p>
        </p:txBody>
      </p:sp>
      <p:cxnSp>
        <p:nvCxnSpPr>
          <p:cNvPr id="233" name="Arc S1→S2"/>
          <p:cNvCxnSpPr/>
          <p:nvPr/>
        </p:nvCxnSpPr>
        <p:spPr>
          <a:xfrm>
            <a:off x="9782175" y="3476625"/>
            <a:ext cx="0" cy="714375"/>
          </a:xfrm>
          <a:prstGeom prst="straightConnector1">
            <a:avLst/>
          </a:prstGeom>
          <a:ln w="22225">
            <a:solidFill>
              <a:srgbClr val="0891B2"/>
            </a:solidFill>
            <a:tailEnd type="triangle"/>
          </a:ln>
        </p:spPr>
      </p:cxnSp>
      <p:sp>
        <p:nvSpPr>
          <p:cNvPr id="234" name="Arc S1→S2 i_sw"/>
          <p:cNvSpPr txBox="1"/>
          <p:nvPr/>
        </p:nvSpPr>
        <p:spPr>
          <a:xfrm>
            <a:off x="9877425" y="373380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</a:p>
        </p:txBody>
      </p:sp>
      <p:cxnSp>
        <p:nvCxnSpPr>
          <p:cNvPr id="235" name="Arc S2→S3"/>
          <p:cNvCxnSpPr/>
          <p:nvPr/>
        </p:nvCxnSpPr>
        <p:spPr>
          <a:xfrm flipH="1">
            <a:off x="7534275" y="5143500"/>
            <a:ext cx="809625" cy="0"/>
          </a:xfrm>
          <a:prstGeom prst="straightConnector1">
            <a:avLst/>
          </a:prstGeom>
          <a:ln w="22225">
            <a:solidFill>
              <a:srgbClr val="9333EA"/>
            </a:solidFill>
            <a:tailEnd type="triangle"/>
          </a:ln>
        </p:spPr>
      </p:cxnSp>
      <p:sp>
        <p:nvSpPr>
          <p:cNvPr id="236" name="Arc S2→S3 i_sw"/>
          <p:cNvSpPr txBox="1"/>
          <p:nvPr/>
        </p:nvSpPr>
        <p:spPr>
          <a:xfrm>
            <a:off x="7648575" y="4886325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</a:p>
        </p:txBody>
      </p:sp>
      <p:cxnSp>
        <p:nvCxnSpPr>
          <p:cNvPr id="237" name="Arc S3→S4"/>
          <p:cNvCxnSpPr/>
          <p:nvPr/>
        </p:nvCxnSpPr>
        <p:spPr>
          <a:xfrm flipH="1">
            <a:off x="3848100" y="5143500"/>
            <a:ext cx="809625" cy="0"/>
          </a:xfrm>
          <a:prstGeom prst="straightConnector1">
            <a:avLst/>
          </a:prstGeom>
          <a:ln w="22225">
            <a:solidFill>
              <a:srgbClr val="DB2777"/>
            </a:solidFill>
            <a:tailEnd type="triangle"/>
          </a:ln>
        </p:spPr>
      </p:cxnSp>
      <p:sp>
        <p:nvSpPr>
          <p:cNvPr id="238" name="Arc S3→S4 i_sw"/>
          <p:cNvSpPr txBox="1"/>
          <p:nvPr/>
        </p:nvSpPr>
        <p:spPr>
          <a:xfrm>
            <a:off x="3962400" y="4886325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</a:p>
        </p:txBody>
      </p:sp>
      <p:cxnSp>
        <p:nvCxnSpPr>
          <p:cNvPr id="239" name="Arc S3→S0"/>
          <p:cNvCxnSpPr/>
          <p:nvPr/>
        </p:nvCxnSpPr>
        <p:spPr>
          <a:xfrm flipV="1">
            <a:off x="5715000" y="3476625"/>
            <a:ext cx="0" cy="714375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240" name="Arc S3→S0 i_sw"/>
          <p:cNvSpPr txBox="1"/>
          <p:nvPr/>
        </p:nvSpPr>
        <p:spPr>
          <a:xfrm>
            <a:off x="5105400" y="373380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</a:p>
        </p:txBody>
      </p:sp>
      <p:cxnSp>
        <p:nvCxnSpPr>
          <p:cNvPr id="241" name="Arc S3→S1"/>
          <p:cNvCxnSpPr/>
          <p:nvPr/>
        </p:nvCxnSpPr>
        <p:spPr>
          <a:xfrm flipV="1">
            <a:off x="7048500" y="3476625"/>
            <a:ext cx="1571625" cy="714375"/>
          </a:xfrm>
          <a:prstGeom prst="straightConnector1">
            <a:avLst/>
          </a:prstGeom>
          <a:ln w="22225">
            <a:solidFill>
              <a:srgbClr val="2563EB"/>
            </a:solidFill>
            <a:tailEnd type="triangle"/>
          </a:ln>
        </p:spPr>
      </p:cxnSp>
      <p:sp>
        <p:nvSpPr>
          <p:cNvPr id="242" name="Arc S3→S1 i_sw"/>
          <p:cNvSpPr txBox="1"/>
          <p:nvPr/>
        </p:nvSpPr>
        <p:spPr>
          <a:xfrm>
            <a:off x="7962900" y="388620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</a:p>
        </p:txBody>
      </p:sp>
      <p:cxnSp>
        <p:nvCxnSpPr>
          <p:cNvPr id="243" name="Arc S4→S0"/>
          <p:cNvCxnSpPr/>
          <p:nvPr/>
        </p:nvCxnSpPr>
        <p:spPr>
          <a:xfrm flipV="1">
            <a:off x="3143250" y="3476625"/>
            <a:ext cx="2000250" cy="714375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244" name="Arc S4→S0 i_sw"/>
          <p:cNvSpPr txBox="1"/>
          <p:nvPr/>
        </p:nvSpPr>
        <p:spPr>
          <a:xfrm>
            <a:off x="3810000" y="356235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</a:p>
        </p:txBody>
      </p:sp>
      <p:sp>
        <p:nvSpPr>
          <p:cNvPr id="245" name="LED Legend"/>
          <p:cNvSpPr txBox="1"/>
          <p:nvPr/>
        </p:nvSpPr>
        <p:spPr>
          <a:xfrm>
            <a:off x="685800" y="14859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: o_led[2] [1] [0]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State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Is the Hub Between RUN and CLEAR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619250" y="3048000"/>
            <a:ext cx="1524000" cy="1524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61925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847850" y="3829050"/>
            <a:ext cx="10668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61925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334000" y="3048000"/>
            <a:ext cx="1524000" cy="1524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33400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562600" y="3829050"/>
            <a:ext cx="10668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33400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48750" y="3048000"/>
            <a:ext cx="1524000" cy="1524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04875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277350" y="3829050"/>
            <a:ext cx="10668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904875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H="1">
            <a:off x="3097530" y="3558540"/>
            <a:ext cx="2282190" cy="0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097530" y="329184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01 · 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97530" y="4061460"/>
            <a:ext cx="228219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3097530" y="411861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10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12280" y="3558540"/>
            <a:ext cx="228219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812280" y="329184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812280" y="4061460"/>
            <a:ext cx="228219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812280" y="411861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01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96000" y="2381250"/>
            <a:ext cx="0" cy="66675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172200" y="241935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66687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66687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01 · 11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8162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38162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9637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09637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10 · 11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61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Block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 Logic Wraps One State Register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5000" y="1428750"/>
            <a:ext cx="8382000" cy="4191000"/>
          </a:xfrm>
          <a:prstGeom prst="rect">
            <a:avLst/>
          </a:prstGeom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9300" y="14859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336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4350" y="27336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35292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4350" y="43529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291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4350" y="48291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72750" y="3019425"/>
            <a:ext cx="1238250" cy="247650"/>
          </a:xfrm>
          <a:prstGeom prst="homePlate">
            <a:avLst/>
          </a:prstGeom>
          <a:solidFill>
            <a:srgbClr val="DCFCE7"/>
          </a:solidFill>
          <a:ln w="158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629900" y="30194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7500" y="2381250"/>
            <a:ext cx="2000250" cy="1524000"/>
          </a:xfrm>
          <a:prstGeom prst="roundRect">
            <a:avLst>
              <a:gd name="adj" fmla="val 36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857500" y="2457450"/>
            <a:ext cx="2000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7500" y="2667000"/>
            <a:ext cx="2000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0350" y="280035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952750" y="2762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00350" y="3467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952750" y="3429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762375" y="3048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571750"/>
            <a:ext cx="1809750" cy="2762250"/>
          </a:xfrm>
          <a:prstGeom prst="roundRect">
            <a:avLst>
              <a:gd name="adj" fmla="val 3032"/>
            </a:avLst>
          </a:prstGeom>
          <a:solidFill>
            <a:srgbClr val="FEF2F2"/>
          </a:solidFill>
          <a:ln w="222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715000" y="2647950"/>
            <a:ext cx="1809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state_reg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857500"/>
            <a:ext cx="180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57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10250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57850" y="441960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810250" y="43815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57850" y="489585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810250" y="485775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CLR / PRE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67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24625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382000" y="2571750"/>
            <a:ext cx="1619250" cy="1143000"/>
          </a:xfrm>
          <a:prstGeom prst="roundRect">
            <a:avLst>
              <a:gd name="adj" fmla="val 48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382000" y="2647950"/>
            <a:ext cx="1619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 Decode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382000" y="28575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324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477250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9441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096375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695450" y="2857500"/>
            <a:ext cx="110490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914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695450" y="447675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695450" y="495300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581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10058400" y="3143250"/>
            <a:ext cx="5143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7953375" y="3143250"/>
            <a:ext cx="0" cy="1047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 flipH="1">
            <a:off x="2476500" y="4191000"/>
            <a:ext cx="5476875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 flipV="1">
            <a:off x="2476500" y="3524250"/>
            <a:ext cx="0" cy="666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2476500" y="3524250"/>
            <a:ext cx="3238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4953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20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095500" y="5829300"/>
            <a:ext cx="209550" cy="152400"/>
          </a:xfrm>
          <a:prstGeom prst="rect">
            <a:avLst/>
          </a:prstGeom>
          <a:solidFill>
            <a:srgbClr val="ECFEFF"/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2381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0500" y="5829300"/>
            <a:ext cx="209550" cy="152400"/>
          </a:xfrm>
          <a:prstGeom prst="rect">
            <a:avLst/>
          </a:prstGeom>
          <a:solidFill>
            <a:srgbClr val="FEF2F2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286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61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코드 연결 · State Register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Enum and State Register Hold the Current State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491199"/>
            <a:ext cx="5715000" cy="2249091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62454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enum logic [2:0] {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44815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2844815"/>
            <a:ext cx="47625" cy="220266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284481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clear = 3'd0, stop = 3'd1, run = 3'd2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9600" y="306508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state_t;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9600" y="328534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state_t state, n_state;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9600" y="3505612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9600" y="372587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 begin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46143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3946143"/>
            <a:ext cx="47625" cy="22026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09600" y="394614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(i_reset) state &lt;= stop;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166408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57200" y="4166408"/>
            <a:ext cx="47625" cy="22026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09600" y="4166408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state &lt;= n_state;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9600" y="438667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26" name="Shape 24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28" name="Shape 26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0" name="Shape 28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2" name="Shape 30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34" name="Shape 32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36" name="Shape 34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44450">
            <a:solidFill>
              <a:srgbClr val="F9731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91300" y="148590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i_reset → STOP (클럭 무관)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591300" y="533400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엣지마다 state ← n_state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6675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6675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= 0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3058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83058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= 1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99441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99441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= 2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61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코드 연결 · STOP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Branch Selects RUN or CLEAR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43156"/>
            <a:ext cx="5715000" cy="246935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47650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(state)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9600" y="2696772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stop : begin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9600" y="291703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(i_sw)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137303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3137303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09600" y="313730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2'b11   : n_state = run;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57569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3357569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09600" y="335756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2'b01   : n_state = run;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77834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577834"/>
            <a:ext cx="47625" cy="220266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09600" y="357783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2'b10   : n_state = clear;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98100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57200" y="3798100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9600" y="379810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 : n_state = stop;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09600" y="401836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4238631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4238631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09600" y="423863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3'b001;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600" y="445889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31" name="Shape 29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33" name="Shape 31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5" name="Shape 33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7" name="Shape 35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39" name="Shape 37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41" name="Shape 39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44450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4445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EA580C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61</a:t>
            </a:r>
            <a:endParaRPr lang="en-US" sz="9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B832ED1-8F15-C3C7-B3E0-07C46A07477E}"/>
              </a:ext>
            </a:extLst>
          </p:cNvPr>
          <p:cNvSpPr/>
          <p:nvPr/>
        </p:nvSpPr>
        <p:spPr>
          <a:xfrm>
            <a:off x="6820989" y="3431181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01 · 11</a:t>
            </a:r>
            <a:endParaRPr lang="en-US" sz="11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6E13AF74-8F18-FB1A-FCD4-F5E2E407EFCF}"/>
              </a:ext>
            </a:extLst>
          </p:cNvPr>
          <p:cNvSpPr/>
          <p:nvPr/>
        </p:nvSpPr>
        <p:spPr>
          <a:xfrm>
            <a:off x="9012828" y="3425027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10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코드 연결 · RUN · CLEAR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and CLEAR Branches Return to STOP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08320"/>
            <a:ext cx="5715000" cy="246935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44167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clear : begin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61936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2661936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266193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(!i_sw[1]) n_state = stop;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882201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882201"/>
            <a:ext cx="47625" cy="220266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09600" y="288220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 n_state = clear;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102467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3102467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09600" y="310246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3'b100;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600" y="332273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09600" y="3542998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 : begin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63264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57200" y="3763264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9600" y="376326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(!i_sw[0]) n_state = stop;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983529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3983529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09600" y="398352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 n_state = run;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203795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4203795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09600" y="420379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3'b010;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09600" y="442406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33" name="Shape 31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35" name="Shape 33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7" name="Shape 35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9" name="Shape 37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41" name="Shape 39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43" name="Shape 41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C62828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61</a:t>
            </a:r>
            <a:endParaRPr lang="en-US" sz="900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B3C531CA-9FC5-7577-5A67-9075C197EEE5}"/>
              </a:ext>
            </a:extLst>
          </p:cNvPr>
          <p:cNvSpPr/>
          <p:nvPr/>
        </p:nvSpPr>
        <p:spPr>
          <a:xfrm>
            <a:off x="6803571" y="3997832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10</a:t>
            </a:r>
            <a:endParaRPr lang="en-US" sz="11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D9F408A2-29F8-1FFF-5543-A463381D6C35}"/>
              </a:ext>
            </a:extLst>
          </p:cNvPr>
          <p:cNvSpPr/>
          <p:nvPr/>
        </p:nvSpPr>
        <p:spPr>
          <a:xfrm>
            <a:off x="9063985" y="3997832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01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코드 연결 · default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Branch Covers Unused Codes, No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822121"/>
            <a:ext cx="5715000" cy="1412081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955471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: begin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84547"/>
            <a:ext cx="5715000" cy="22907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3184547"/>
            <a:ext cx="47625" cy="22907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3184547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n_state = stop;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413624"/>
            <a:ext cx="5715000" cy="22907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3413624"/>
            <a:ext cx="47625" cy="22907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09600" y="3413624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   = 3'b001;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9600" y="3642700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9600" y="3871776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endcase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62700" y="1739541"/>
            <a:ext cx="5372100" cy="3720737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591300" y="1891941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state[2:0] 코드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9130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59130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9130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2955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2955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2955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6780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06780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6780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30605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030605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30605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9130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59130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59130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82955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782955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2955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06780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906780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06780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30605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030605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30605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591300" y="4504510"/>
            <a:ext cx="49149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코드 5개 → default → STOP 복귀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branch에서 n_state · o_sw 대입 → </a:t>
            </a:r>
            <a:r>
              <a:rPr 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 없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61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Homework-2 설계 · RTL Schematic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Schematic Shows Output Decoded from State Only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1000" y="1295400"/>
            <a:ext cx="86487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sch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809750"/>
            <a:ext cx="8572500" cy="413092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12238" y="2900315"/>
            <a:ext cx="4031785" cy="2775983"/>
          </a:xfrm>
          <a:prstGeom prst="rect">
            <a:avLst/>
          </a:prstGeom>
          <a:ln w="285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193188" y="265266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08402" y="2140224"/>
            <a:ext cx="1520181" cy="991423"/>
          </a:xfrm>
          <a:prstGeom prst="rect">
            <a:avLst/>
          </a:prstGeom>
          <a:ln w="285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5489352" y="1892574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259915" y="2391385"/>
            <a:ext cx="859233" cy="475883"/>
          </a:xfrm>
          <a:prstGeom prst="rect">
            <a:avLst/>
          </a:prstGeom>
          <a:ln w="285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240865" y="214373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182100" y="12954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9353550" y="14287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Next-State Logic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353550" y="17335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RTL_MUX × 4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353550" y="20193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· state → n_state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182100" y="29718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9353550" y="31051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State Register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53550" y="34099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RTL_REG_ASYNC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353550" y="36957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CLR · PRE = reset 시 001 (STOP) 로드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182100" y="46482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9353550" y="47815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Output Decode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353550" y="50863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RTL_ROM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353550" y="53721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A[2:0] = state만 연결, i_sw 연결 없음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/ 61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Homework-2 검증 · 기존 TB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Existing TB Walks Three Start States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1428750"/>
          </a:xfrm>
          <a:prstGeom prst="roundRect">
            <a:avLst>
              <a:gd name="adj" fmla="val 512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tb_FSM_RUN_STOP 구성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771650"/>
            <a:ext cx="10763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변경 = negedge 시점 → 상승 엣지에서 input 안정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set_sw: 한 값을 2 clock 유지 (RUN → STOP → CLEAR 최장 경로 2 천이 대응)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변수 k + reset으로 시작 </a:t>
            </a:r>
            <a:r>
              <a:rPr lang="en-US" sz="135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구분</a:t>
            </a: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판정 = 파형 육안 확인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00 → 00 · 01 · 10 · 11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26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45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1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 시작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5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10 → 00 · 01 · 10 · 11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5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5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5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7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26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2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시작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6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01 → 00 · 01 · 10 · 11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36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6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6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6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04825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TB가 지나간 arc (state × i_sw, 실측)</a:t>
            </a:r>
            <a:endParaRPr lang="en-US" sz="1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334000"/>
          <a:ext cx="6667500" cy="103632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51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7315200" y="5048250"/>
            <a:ext cx="4419600" cy="1238250"/>
          </a:xfrm>
          <a:prstGeom prst="roundRect">
            <a:avLst>
              <a:gd name="adj" fmla="val 5908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7505700" y="5181600"/>
            <a:ext cx="4000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9 / 12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7505700" y="5505450"/>
            <a:ext cx="4095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+ 11 (SW0 우선 규칙) 미검증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기대값 · 자동 판정 없음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/ 61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Homework-2 검증 · 시나리오 1 · STOP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1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25252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944203" y="1543939"/>
            <a:ext cx="0" cy="2314825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953728" y="3934964"/>
            <a:ext cx="3041876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360366" y="4087364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60366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05129" y="1543939"/>
            <a:ext cx="0" cy="2314825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014654" y="3934964"/>
            <a:ext cx="1894029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847368" y="4087364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847368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18208" y="1543939"/>
            <a:ext cx="0" cy="2314825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7927733" y="3934964"/>
            <a:ext cx="937489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8282177" y="4087364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8282177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874747" y="1543939"/>
            <a:ext cx="0" cy="2314825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884272" y="3934964"/>
            <a:ext cx="937489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8717" y="4087364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9238717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831287" y="1543939"/>
            <a:ext cx="0" cy="2314825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9840812" y="3934964"/>
            <a:ext cx="1607067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10530045" y="4087364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10530045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400550"/>
            <a:ext cx="11277600" cy="18478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3857625" y="48387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3857625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1" name="Shape 28"/>
          <p:cNvSpPr/>
          <p:nvPr/>
        </p:nvSpPr>
        <p:spPr>
          <a:xfrm>
            <a:off x="3971925" y="52387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3857625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715000" y="48387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5715000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35" name="Shape 32"/>
          <p:cNvSpPr/>
          <p:nvPr/>
        </p:nvSpPr>
        <p:spPr>
          <a:xfrm>
            <a:off x="5829300" y="52387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5715000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572375" y="48387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7572375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7686675" y="52387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7572375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 flipH="1">
            <a:off x="4596765" y="50939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5053013" y="48082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/>
          <p:nvPr/>
        </p:nvSpPr>
        <p:spPr>
          <a:xfrm>
            <a:off x="5053013" y="48082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96765" y="53454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5053013" y="54025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5053013" y="54025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454140" y="5093970"/>
            <a:ext cx="1141095" cy="0"/>
          </a:xfrm>
          <a:prstGeom prst="line">
            <a:avLst/>
          </a:prstGeom>
          <a:noFill/>
          <a:ln w="4445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6910388" y="480822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/>
          <p:nvPr/>
        </p:nvSpPr>
        <p:spPr>
          <a:xfrm>
            <a:off x="6910388" y="48082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 flipH="1">
            <a:off x="6454140" y="5345430"/>
            <a:ext cx="1141095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6096000" y="4505325"/>
            <a:ext cx="0" cy="333375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/>
          <p:nvPr/>
        </p:nvSpPr>
        <p:spPr>
          <a:xfrm>
            <a:off x="6172200" y="45243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3781425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3781425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638800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3"/>
          <p:cNvSpPr/>
          <p:nvPr/>
        </p:nvSpPr>
        <p:spPr>
          <a:xfrm>
            <a:off x="5638800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6591300" y="580072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/>
          <p:nvPr/>
        </p:nvSpPr>
        <p:spPr>
          <a:xfrm>
            <a:off x="6591300" y="58007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7496175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CA8A04"/>
          </a:solidFill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/>
          <p:nvPr/>
        </p:nvSpPr>
        <p:spPr>
          <a:xfrm>
            <a:off x="7496175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8448675" y="5800725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8448675" y="58007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 / 61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Homework-2 검증 · 시나리오 2 · CLEAR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2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19666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15011" y="1502510"/>
            <a:ext cx="0" cy="1797656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324536" y="3376366"/>
            <a:ext cx="749179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3584826" y="352876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584826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83240" y="1502510"/>
            <a:ext cx="0" cy="1797656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092765" y="3376366"/>
            <a:ext cx="1517408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37169" y="3528766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737169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19698" y="1502510"/>
            <a:ext cx="0" cy="1797656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29223" y="3376366"/>
            <a:ext cx="1517408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6273627" y="352876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273627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156156" y="1502510"/>
            <a:ext cx="0" cy="1797656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7165681" y="3376366"/>
            <a:ext cx="1517408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7810085" y="3528766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810085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692614" y="1502510"/>
            <a:ext cx="0" cy="1797656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8702139" y="3376366"/>
            <a:ext cx="749179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8962428" y="3528766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8962428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460843" y="1502510"/>
            <a:ext cx="0" cy="1797656"/>
          </a:xfrm>
          <a:prstGeom prst="line">
            <a:avLst/>
          </a:prstGeom>
          <a:noFill/>
          <a:ln w="22225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9470368" y="3376366"/>
            <a:ext cx="749179" cy="13335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730657" y="3528766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9730657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229071" y="1502510"/>
            <a:ext cx="0" cy="1797656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238596" y="3376366"/>
            <a:ext cx="1440585" cy="1333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10844589" y="3528766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10844589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905250"/>
            <a:ext cx="11277600" cy="23431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4"/>
          <p:cNvSpPr/>
          <p:nvPr/>
        </p:nvSpPr>
        <p:spPr>
          <a:xfrm>
            <a:off x="3857625" y="45720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385762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3971925" y="49720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385762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715000" y="45720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5715000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43" name="Shape 40"/>
          <p:cNvSpPr/>
          <p:nvPr/>
        </p:nvSpPr>
        <p:spPr>
          <a:xfrm>
            <a:off x="5829300" y="49720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5715000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72375" y="45720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757237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47" name="Shape 44"/>
          <p:cNvSpPr/>
          <p:nvPr/>
        </p:nvSpPr>
        <p:spPr>
          <a:xfrm>
            <a:off x="7686675" y="49720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757237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4596765" y="4827270"/>
            <a:ext cx="1141095" cy="0"/>
          </a:xfrm>
          <a:prstGeom prst="line">
            <a:avLst/>
          </a:prstGeom>
          <a:noFill/>
          <a:ln w="4445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5053013" y="454152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505301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4596765" y="5078730"/>
            <a:ext cx="1141095" cy="0"/>
          </a:xfrm>
          <a:prstGeom prst="line">
            <a:avLst/>
          </a:prstGeom>
          <a:noFill/>
          <a:ln w="44450">
            <a:solidFill>
              <a:srgbClr val="CA8A04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0"/>
          <p:cNvSpPr/>
          <p:nvPr/>
        </p:nvSpPr>
        <p:spPr>
          <a:xfrm>
            <a:off x="5053013" y="5135880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5053013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6454140" y="48272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6786563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/>
          <p:nvPr/>
        </p:nvSpPr>
        <p:spPr>
          <a:xfrm>
            <a:off x="678656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034213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6"/>
          <p:cNvSpPr/>
          <p:nvPr/>
        </p:nvSpPr>
        <p:spPr>
          <a:xfrm>
            <a:off x="703421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 flipH="1">
            <a:off x="6454140" y="50787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691038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691038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6096000" y="4238625"/>
            <a:ext cx="0" cy="333375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/>
          <p:nvPr/>
        </p:nvSpPr>
        <p:spPr>
          <a:xfrm>
            <a:off x="6172200" y="42576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5772150" y="41338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3"/>
          <p:cNvSpPr/>
          <p:nvPr/>
        </p:nvSpPr>
        <p:spPr>
          <a:xfrm>
            <a:off x="5772150" y="41338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378142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378142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5638800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7"/>
          <p:cNvSpPr/>
          <p:nvPr/>
        </p:nvSpPr>
        <p:spPr>
          <a:xfrm>
            <a:off x="5638800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49617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DC2626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749617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448675" y="5534025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/>
          <p:nvPr/>
        </p:nvSpPr>
        <p:spPr>
          <a:xfrm>
            <a:off x="8448675" y="55340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/ 61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Homework-2 검증 · 시나리오 3 · RUN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3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169514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050622" y="1487604"/>
            <a:ext cx="0" cy="1541039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4060147" y="3104842"/>
            <a:ext cx="681422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286558" y="3257242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286558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1094" y="1487604"/>
            <a:ext cx="0" cy="1541039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760619" y="3104842"/>
            <a:ext cx="1381894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337266" y="3257242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5337266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52038" y="1487604"/>
            <a:ext cx="0" cy="1541039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6161563" y="3104842"/>
            <a:ext cx="1381894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6738210" y="3257242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738210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552982" y="1487604"/>
            <a:ext cx="0" cy="1541039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7562507" y="3104842"/>
            <a:ext cx="1381894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8139154" y="3257242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8139154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953926" y="1487604"/>
            <a:ext cx="0" cy="1541039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8963451" y="3104842"/>
            <a:ext cx="681422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9189862" y="3257242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9189862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654398" y="1487604"/>
            <a:ext cx="0" cy="1541039"/>
          </a:xfrm>
          <a:prstGeom prst="line">
            <a:avLst/>
          </a:prstGeom>
          <a:noFill/>
          <a:ln w="22225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9663923" y="3104842"/>
            <a:ext cx="681422" cy="13335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890334" y="3257242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9890334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354870" y="1487604"/>
            <a:ext cx="0" cy="1541039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364395" y="3104842"/>
            <a:ext cx="1311847" cy="1333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10906019" y="3257242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10906019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905250"/>
            <a:ext cx="11277600" cy="23431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4"/>
          <p:cNvSpPr/>
          <p:nvPr/>
        </p:nvSpPr>
        <p:spPr>
          <a:xfrm>
            <a:off x="3857625" y="45720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385762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3971925" y="49720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385762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715000" y="45720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5715000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43" name="Shape 40"/>
          <p:cNvSpPr/>
          <p:nvPr/>
        </p:nvSpPr>
        <p:spPr>
          <a:xfrm>
            <a:off x="5829300" y="49720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5715000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72375" y="45720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757237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47" name="Shape 44"/>
          <p:cNvSpPr/>
          <p:nvPr/>
        </p:nvSpPr>
        <p:spPr>
          <a:xfrm>
            <a:off x="7686675" y="49720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757237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4596765" y="48272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4929188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492918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176838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0"/>
          <p:cNvSpPr/>
          <p:nvPr/>
        </p:nvSpPr>
        <p:spPr>
          <a:xfrm>
            <a:off x="517683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596765" y="50787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492918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3"/>
          <p:cNvSpPr/>
          <p:nvPr/>
        </p:nvSpPr>
        <p:spPr>
          <a:xfrm>
            <a:off x="492918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17683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/>
          <p:nvPr/>
        </p:nvSpPr>
        <p:spPr>
          <a:xfrm>
            <a:off x="517683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454140" y="4827270"/>
            <a:ext cx="1141095" cy="0"/>
          </a:xfrm>
          <a:prstGeom prst="line">
            <a:avLst/>
          </a:prstGeom>
          <a:noFill/>
          <a:ln w="4445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7"/>
          <p:cNvSpPr/>
          <p:nvPr/>
        </p:nvSpPr>
        <p:spPr>
          <a:xfrm>
            <a:off x="6910388" y="4541520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8"/>
          <p:cNvSpPr/>
          <p:nvPr/>
        </p:nvSpPr>
        <p:spPr>
          <a:xfrm>
            <a:off x="691038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 flipH="1">
            <a:off x="6454140" y="5078730"/>
            <a:ext cx="1141095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0"/>
          <p:cNvSpPr/>
          <p:nvPr/>
        </p:nvSpPr>
        <p:spPr>
          <a:xfrm>
            <a:off x="6096000" y="4238625"/>
            <a:ext cx="0" cy="333375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/>
          <p:nvPr/>
        </p:nvSpPr>
        <p:spPr>
          <a:xfrm>
            <a:off x="6172200" y="42576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5772150" y="41338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3"/>
          <p:cNvSpPr/>
          <p:nvPr/>
        </p:nvSpPr>
        <p:spPr>
          <a:xfrm>
            <a:off x="5772150" y="41338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378142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378142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5638800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7"/>
          <p:cNvSpPr/>
          <p:nvPr/>
        </p:nvSpPr>
        <p:spPr>
          <a:xfrm>
            <a:off x="5638800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49617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DC2626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749617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448675" y="5534025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/>
          <p:nvPr/>
        </p:nvSpPr>
        <p:spPr>
          <a:xfrm>
            <a:off x="8448675" y="55340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 / 61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검증 방법론 평가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Existing TB </a:t>
            </a:r>
            <a:r>
              <a:rPr 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Scores 21 / 40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5400"/>
          <a:ext cx="8001000" cy="462915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항목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입력 커버리지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arc 9 / 12, STOP + 11 · RUN + 11 · CLEAR + 01 미검증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기대값 독립성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기대값 없음, 정답 기준 = 작성자 머릿속 State Diagram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관측 지점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포트 o_sw 파형 관측, 내부 state도 함께 표시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 타이밍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negedge input 변경 → 상승 엣지 시점 input 안정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 판정 · 리포트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err 카운트 · PASS/FAIL 없음, phase 번호 출력만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검증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사이 reset 사용, 비동기 동작 (엣지 없는 시점) 미확인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보드 Top 일치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DUT = 보드에 올린 FSM 모듈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문서화 · 재현성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 · phase 구조와 주석 명확, SV 컴파일 시 k 선언 순서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48700" y="1295400"/>
            <a:ext cx="3086100" cy="4953000"/>
          </a:xfrm>
          <a:prstGeom prst="roundRect">
            <a:avLst>
              <a:gd name="adj" fmla="val 237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648700" y="16192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48700" y="20002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40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8648700" y="28575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C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877300" y="35242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stimulus 설계는 양호, 판정이 전부 사람 몫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결함 7종 중 3종은 원본과 파형 동일 → 육안으로도 검출 불가 (p.48)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방향: Golden model + 자동 비교 + arc 커버리지 (p.49)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61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검증 방법론 평가 · 결함 주입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of Seven Faults Leave Identical Waveforms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5400"/>
          <a:ext cx="11277600" cy="3771900"/>
        </p:xfrm>
        <a:graphic>
          <a:graphicData uri="http://schemas.openxmlformats.org/drawingml/2006/table">
            <a:tbl>
              <a:tblPr/>
              <a:tblGrid>
                <a:gridCol w="66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결함 (증상)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버그 유형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TB (파형 차이)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TB (error 수)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 + 11 → CLEAR로 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 뒤바뀜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78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탈출 조건이 SW1 기준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비트 인덱스 오타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7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86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CLEAR에서 LED1 점등 (010)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코드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10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79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후 CLEAR로 시작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값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4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37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 + 01 → RUN 직행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천이 추가 (STOP 생략)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17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o_sw가 n_state 기준 (Mealy화)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출력이 input 즉시 반영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3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266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reset이 클럭 엣지까지 대기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동기 reset으로 작성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FSM_RUN_STOP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 · 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 파형 동일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 stimulus로는 원본과 출력이 같음 → 육안 검출 불가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6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43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파형 차이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43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존재, 기대값 없이 사람이 찾아야 검출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7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4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자동 검출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4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error 카운트 + FAIL 리포트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/ 61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tb_FSM_RUN_STOP_v2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TB Compares Output Pins Against Spec Table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2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5800" y="1619250"/>
            <a:ext cx="1809750" cy="723900"/>
          </a:xfrm>
          <a:prstGeom prst="rect">
            <a:avLst/>
          </a:prstGeom>
          <a:solidFill>
            <a:srgbClr val="E3F0FD"/>
          </a:solidFill>
          <a:ln w="222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71450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00025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 12 arc + random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9555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7050" y="1619250"/>
            <a:ext cx="1619250" cy="723900"/>
          </a:xfrm>
          <a:prstGeom prst="rect">
            <a:avLst/>
          </a:prstGeom>
          <a:solidFill>
            <a:srgbClr val="F1F5F9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067050" y="171450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DUT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67050" y="20002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86300" y="17526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57800" y="1619250"/>
            <a:ext cx="1905000" cy="723900"/>
          </a:xfrm>
          <a:prstGeom prst="rect">
            <a:avLst/>
          </a:prstGeom>
          <a:solidFill>
            <a:srgbClr val="F3E8FF"/>
          </a:solidFill>
          <a:ln w="222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257800" y="17145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Monitor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57800" y="20002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state 이름 역변환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6280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7734300" y="1619250"/>
            <a:ext cx="1809750" cy="723900"/>
          </a:xfrm>
          <a:prstGeom prst="rect">
            <a:avLst/>
          </a:prstGeom>
          <a:solidFill>
            <a:srgbClr val="FDECEC"/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734300" y="171450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Checker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34300" y="200025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· C2 · C3 · C4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4050" y="1981200"/>
            <a:ext cx="476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020300" y="1619250"/>
            <a:ext cx="1485900" cy="723900"/>
          </a:xfrm>
          <a:prstGeom prst="rect">
            <a:avLst/>
          </a:prstGeom>
          <a:solidFill>
            <a:srgbClr val="E8F5E9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020300" y="1714500"/>
            <a:ext cx="1485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Report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20300" y="2000250"/>
            <a:ext cx="1485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/ FAIL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257800" y="2667000"/>
            <a:ext cx="1905000" cy="723900"/>
          </a:xfrm>
          <a:prstGeom prst="rect">
            <a:avLst/>
          </a:prstGeom>
          <a:solidFill>
            <a:srgbClr val="FFF3E0"/>
          </a:solidFill>
          <a:ln w="2222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257800" y="27622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Golden Model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30480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Action Table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590675" y="2343150"/>
            <a:ext cx="0" cy="6858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590675" y="3028950"/>
            <a:ext cx="366712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476500" y="28194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· i_reset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162800" y="3028950"/>
            <a:ext cx="1476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639175" y="2343150"/>
            <a:ext cx="0" cy="6858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239000" y="28194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o_sw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0960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0960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→ 목표 state 이동 → sw 인가, 3 state × 4 sw = 12 arc 전수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random 300 cycle + 임의 시점 async reset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29565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344805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Monitor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344805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포트 o_sw만 관측, 내부 state 미사용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001 · 010 · 100 → STOP · RUN · CLEAR 역변환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13410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628650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Golden Model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8650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코드 재사용 없이 표 기준으로 별도 작성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엣지 · 같은 reset으로 기대 state 갱신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97255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912495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④⑤ Checker · Report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12495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~ C4 위반 시 error 카운트 + 시각 · 기대값 · 실제값 출력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커버리지 표 + PASS / FAIL 요약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/ 61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채점 항목 · C1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o_sw == golden value ? 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Golden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g_code(g_state)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8290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(STOP + 11 → CLEAR)</a:t>
            </a:r>
            <a:endParaRPr lang="en-US" sz="1300" dirty="0"/>
          </a:p>
        </p:txBody>
      </p:sp>
      <p:sp>
        <p:nvSpPr>
          <p:cNvPr id="15" name="Text 15"/>
          <p:cNvSpPr txBox="1"/>
          <p:nvPr/>
        </p:nvSpPr>
        <p:spPr>
          <a:xfrm>
            <a:off x="5112159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sp>
        <p:nvSpPr>
          <p:cNvPr id="17" name="Text 17"/>
          <p:cNvSpPr txBox="1"/>
          <p:nvPr/>
        </p:nvSpPr>
        <p:spPr>
          <a:xfrm>
            <a:off x="8018820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2863645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sw 인가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3658829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565490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9472151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2381250" y="2171700"/>
            <a:ext cx="87199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3253248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3253248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4706579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4706579" y="217170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159909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159909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1324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13240" y="217170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906657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066570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519901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519901" y="2171700"/>
            <a:ext cx="87199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39" name="Shape 39"/>
          <p:cNvSpPr/>
          <p:nvPr/>
        </p:nvSpPr>
        <p:spPr>
          <a:xfrm>
            <a:off x="2395537" y="2390775"/>
            <a:ext cx="2587420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2528887" y="2390775"/>
            <a:ext cx="24540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41" name="Shape 41"/>
          <p:cNvSpPr/>
          <p:nvPr/>
        </p:nvSpPr>
        <p:spPr>
          <a:xfrm>
            <a:off x="5011532" y="2390775"/>
            <a:ext cx="6366079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5144882" y="2390775"/>
            <a:ext cx="623272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50" dirty="0"/>
          </a:p>
        </p:txBody>
      </p:sp>
      <p:sp>
        <p:nvSpPr>
          <p:cNvPr id="43" name="Shape 43"/>
          <p:cNvSpPr/>
          <p:nvPr/>
        </p:nvSpPr>
        <p:spPr>
          <a:xfrm>
            <a:off x="2395537" y="290512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2528887" y="290512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5" name="Shape 45"/>
          <p:cNvSpPr/>
          <p:nvPr/>
        </p:nvSpPr>
        <p:spPr>
          <a:xfrm>
            <a:off x="6174197" y="2905125"/>
            <a:ext cx="520341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6307547" y="290512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7" name="Shape 47"/>
          <p:cNvSpPr/>
          <p:nvPr/>
        </p:nvSpPr>
        <p:spPr>
          <a:xfrm>
            <a:off x="2395537" y="341947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2528887" y="341947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9" name="Shape 49"/>
          <p:cNvSpPr/>
          <p:nvPr/>
        </p:nvSpPr>
        <p:spPr>
          <a:xfrm>
            <a:off x="6174197" y="3419475"/>
            <a:ext cx="520341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6307547" y="341947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51" name="Shape 51"/>
          <p:cNvSpPr/>
          <p:nvPr/>
        </p:nvSpPr>
        <p:spPr>
          <a:xfrm>
            <a:off x="2395537" y="393382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2528887" y="393382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53" name="Shape 53"/>
          <p:cNvSpPr/>
          <p:nvPr/>
        </p:nvSpPr>
        <p:spPr>
          <a:xfrm>
            <a:off x="6174197" y="3933825"/>
            <a:ext cx="5203415" cy="3048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6307547" y="393382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 100</a:t>
            </a:r>
            <a:endParaRPr lang="en-US" sz="1150" dirty="0"/>
          </a:p>
        </p:txBody>
      </p:sp>
      <p:sp>
        <p:nvSpPr>
          <p:cNvPr id="55" name="Shape 55"/>
          <p:cNvSpPr/>
          <p:nvPr/>
        </p:nvSpPr>
        <p:spPr>
          <a:xfrm>
            <a:off x="4382729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4382729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7" name="Shape 57"/>
          <p:cNvSpPr/>
          <p:nvPr/>
        </p:nvSpPr>
        <p:spPr>
          <a:xfrm>
            <a:off x="4382729" y="397192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4382729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7708490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7708490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7708490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7708490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10615151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10615151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10615151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10615151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67" name="Shape 67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69" name="Text 69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 (posedge 갱신 5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i_reset = 0 구간만 판정</a:t>
            </a:r>
            <a:endParaRPr lang="en-US" sz="1200" dirty="0"/>
          </a:p>
        </p:txBody>
      </p:sp>
      <p:sp>
        <p:nvSpPr>
          <p:cNvPr id="70" name="Shape 70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72" name="Text 72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g_code(g_state)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DUT </a:t>
            </a:r>
            <a:r>
              <a:rPr lang="ko-KR" alt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외부의 기댓값과 비교하여 결과가 다르면 </a:t>
            </a:r>
            <a:r>
              <a:rPr lang="en-US" altLang="ko-KR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err_cnt1 </a:t>
            </a:r>
            <a:r>
              <a:rPr lang="ko-KR" altLang="en-US" sz="120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</a:rPr>
              <a:t>↑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73" name="Shape 73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75" name="Text 75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우선순위 · F2 비트 오타 · F3 출력 코드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reset 값 · F5 STOP 생략</a:t>
            </a:r>
            <a:endParaRPr lang="en-US" sz="1200" dirty="0"/>
          </a:p>
        </p:txBody>
      </p:sp>
      <p:cxnSp>
        <p:nvCxnSpPr>
          <p:cNvPr id="22" name="Line 22"/>
          <p:cNvCxnSpPr/>
          <p:nvPr/>
        </p:nvCxnSpPr>
        <p:spPr>
          <a:xfrm>
            <a:off x="7613240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cxnSp>
        <p:nvCxnSpPr>
          <p:cNvPr id="24" name="Line 24"/>
          <p:cNvCxnSpPr/>
          <p:nvPr/>
        </p:nvCxnSpPr>
        <p:spPr>
          <a:xfrm>
            <a:off x="10519901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cxnSp>
        <p:nvCxnSpPr>
          <p:cNvPr id="18" name="Line 18"/>
          <p:cNvCxnSpPr/>
          <p:nvPr/>
        </p:nvCxnSpPr>
        <p:spPr>
          <a:xfrm>
            <a:off x="4997245" y="1714500"/>
            <a:ext cx="0" cy="2686050"/>
          </a:xfrm>
          <a:prstGeom prst="line">
            <a:avLst/>
          </a:prstGeom>
          <a:ln w="15875">
            <a:solidFill>
              <a:srgbClr val="CA8A04"/>
            </a:solidFill>
            <a:prstDash val="dash"/>
          </a:ln>
        </p:spPr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3F99F92-4B29-8EE8-6941-30430EF53400}"/>
              </a:ext>
            </a:extLst>
          </p:cNvPr>
          <p:cNvCxnSpPr/>
          <p:nvPr/>
        </p:nvCxnSpPr>
        <p:spPr>
          <a:xfrm flipV="1">
            <a:off x="9066570" y="1885950"/>
            <a:ext cx="0" cy="285750"/>
          </a:xfrm>
          <a:prstGeom prst="straightConnector1">
            <a:avLst/>
          </a:prstGeom>
          <a:ln>
            <a:solidFill>
              <a:srgbClr val="39843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644F04F-1D3E-7E02-D667-EF64545B3895}"/>
              </a:ext>
            </a:extLst>
          </p:cNvPr>
          <p:cNvCxnSpPr/>
          <p:nvPr/>
        </p:nvCxnSpPr>
        <p:spPr>
          <a:xfrm flipV="1">
            <a:off x="6149055" y="1885950"/>
            <a:ext cx="0" cy="285750"/>
          </a:xfrm>
          <a:prstGeom prst="straightConnector1">
            <a:avLst/>
          </a:prstGeom>
          <a:ln>
            <a:solidFill>
              <a:srgbClr val="39843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채점 항목 · C2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o_sw == o_before ( inner clock range)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drive(01)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o_before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직전 o_sw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(Moore)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5084445" y="1752600"/>
            <a:ext cx="3604260" cy="260985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5084445" y="4667250"/>
            <a:ext cx="3604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A162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없는 구간 → o_</a:t>
            </a:r>
            <a:r>
              <a:rPr lang="ko-KR" altLang="en-US" sz="1050" b="1">
                <a:solidFill>
                  <a:srgbClr val="A162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불변이어야 함</a:t>
            </a:r>
            <a:endParaRPr lang="en-US" sz="1050" dirty="0"/>
          </a:p>
        </p:txBody>
      </p:sp>
      <p:cxnSp>
        <p:nvCxnSpPr>
          <p:cNvPr id="16" name="Line 16"/>
          <p:cNvCxnSpPr/>
          <p:nvPr/>
        </p:nvCxnSpPr>
        <p:spPr>
          <a:xfrm>
            <a:off x="4183380" y="1714500"/>
            <a:ext cx="0" cy="2686050"/>
          </a:xfrm>
          <a:prstGeom prst="line">
            <a:avLst/>
          </a:prstGeom>
          <a:ln w="15875">
            <a:solidFill>
              <a:srgbClr val="EA580C"/>
            </a:solidFill>
            <a:prstDash val="dash"/>
          </a:ln>
        </p:spPr>
      </p:cxnSp>
      <p:sp>
        <p:nvSpPr>
          <p:cNvPr id="17" name="Text 17"/>
          <p:cNvSpPr txBox="1"/>
          <p:nvPr/>
        </p:nvSpPr>
        <p:spPr>
          <a:xfrm>
            <a:off x="3135630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5084445" y="1714500"/>
            <a:ext cx="0" cy="2686050"/>
          </a:xfrm>
          <a:prstGeom prst="line">
            <a:avLst/>
          </a:prstGeom>
          <a:ln w="15875">
            <a:solidFill>
              <a:srgbClr val="CA8A04"/>
            </a:solidFill>
            <a:prstDash val="dash"/>
          </a:ln>
        </p:spPr>
      </p:cxnSp>
      <p:sp>
        <p:nvSpPr>
          <p:cNvPr id="19" name="Text 19"/>
          <p:cNvSpPr txBox="1"/>
          <p:nvPr/>
        </p:nvSpPr>
        <p:spPr>
          <a:xfrm>
            <a:off x="4036693" y="1466850"/>
            <a:ext cx="22546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o_before 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</a:t>
            </a:r>
            <a:r>
              <a:rPr lang="en-US" altLang="ko-KR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</a:t>
            </a: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5838825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 </a:t>
            </a:r>
            <a:r>
              <a:rPr lang="ko-KR" altLang="en-US" sz="1100" b="1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ns 비교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8688705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7640955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2381250" y="1885950"/>
            <a:ext cx="18021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418338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4183380" y="2171700"/>
            <a:ext cx="45053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688705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688705" y="1885950"/>
            <a:ext cx="270319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29" name="Shape 29"/>
          <p:cNvSpPr/>
          <p:nvPr/>
        </p:nvSpPr>
        <p:spPr>
          <a:xfrm>
            <a:off x="2395537" y="2390775"/>
            <a:ext cx="2674619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395537" y="2390775"/>
            <a:ext cx="26746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31" name="Shape 31"/>
          <p:cNvSpPr/>
          <p:nvPr/>
        </p:nvSpPr>
        <p:spPr>
          <a:xfrm>
            <a:off x="5098732" y="2390775"/>
            <a:ext cx="6278880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5098732" y="239077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50" dirty="0"/>
          </a:p>
        </p:txBody>
      </p:sp>
      <p:sp>
        <p:nvSpPr>
          <p:cNvPr id="33" name="Shape 33"/>
          <p:cNvSpPr/>
          <p:nvPr/>
        </p:nvSpPr>
        <p:spPr>
          <a:xfrm>
            <a:off x="5098732" y="2905125"/>
            <a:ext cx="627888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5098732" y="290512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35" name="Shape 35"/>
          <p:cNvSpPr/>
          <p:nvPr/>
        </p:nvSpPr>
        <p:spPr>
          <a:xfrm>
            <a:off x="2395537" y="3419475"/>
            <a:ext cx="627888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2395537" y="341947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37" name="Shape 37"/>
          <p:cNvSpPr/>
          <p:nvPr/>
        </p:nvSpPr>
        <p:spPr>
          <a:xfrm>
            <a:off x="8702992" y="3419475"/>
            <a:ext cx="2674619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8702992" y="3419475"/>
            <a:ext cx="26746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3" name="Shape 43"/>
          <p:cNvSpPr/>
          <p:nvPr/>
        </p:nvSpPr>
        <p:spPr>
          <a:xfrm>
            <a:off x="6981825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981825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49" name="Text 49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+ 3 ns (sw 인가 2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posedge 이전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52" name="Text 52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o_before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입력만 바뀐 </a:t>
            </a:r>
            <a:r>
              <a:rPr lang="ko-KR" alt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구간에서 출력이 불변하는지 검토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55" name="Text 55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F6 Mealy화 (o_sw = n_state 기준)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→ output 조합 경로</a:t>
            </a:r>
            <a:endParaRPr lang="en-US" sz="1200" dirty="0"/>
          </a:p>
        </p:txBody>
      </p:sp>
      <p:cxnSp>
        <p:nvCxnSpPr>
          <p:cNvPr id="20" name="Line 20"/>
          <p:cNvCxnSpPr/>
          <p:nvPr/>
        </p:nvCxnSpPr>
        <p:spPr>
          <a:xfrm>
            <a:off x="6886575" y="1714500"/>
            <a:ext cx="0" cy="2686050"/>
          </a:xfrm>
          <a:prstGeom prst="line">
            <a:avLst/>
          </a:prstGeom>
          <a:ln w="22225">
            <a:solidFill>
              <a:srgbClr val="C62828"/>
            </a:solidFill>
            <a:prstDash val="sysDash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채점 항목 · C3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 edge </a:t>
            </a: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state</a:t>
            </a: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넘어가는지 확인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async_reset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(async)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(reset → CLEAR)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8290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(동기 reset)</a:t>
            </a:r>
            <a:endParaRPr lang="en-US" sz="1300" dirty="0"/>
          </a:p>
        </p:txBody>
      </p:sp>
      <p:cxnSp>
        <p:nvCxnSpPr>
          <p:cNvPr id="14" name="Line 14"/>
          <p:cNvCxnSpPr/>
          <p:nvPr/>
        </p:nvCxnSpPr>
        <p:spPr>
          <a:xfrm>
            <a:off x="4070746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5" name="Text 15"/>
          <p:cNvSpPr txBox="1"/>
          <p:nvPr/>
        </p:nvSpPr>
        <p:spPr>
          <a:xfrm>
            <a:off x="3022996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6" name="Line 16"/>
          <p:cNvCxnSpPr/>
          <p:nvPr/>
        </p:nvCxnSpPr>
        <p:spPr>
          <a:xfrm>
            <a:off x="5197078" y="1714500"/>
            <a:ext cx="0" cy="2686050"/>
          </a:xfrm>
          <a:prstGeom prst="line">
            <a:avLst/>
          </a:prstGeom>
          <a:ln w="15875">
            <a:solidFill>
              <a:srgbClr val="C62828"/>
            </a:solidFill>
            <a:prstDash val="dash"/>
          </a:ln>
        </p:spPr>
      </p:cxnSp>
      <p:sp>
        <p:nvSpPr>
          <p:cNvPr id="17" name="Text 17"/>
          <p:cNvSpPr txBox="1"/>
          <p:nvPr/>
        </p:nvSpPr>
        <p:spPr>
          <a:xfrm>
            <a:off x="4149328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 ns · reset = 1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5760243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sp>
        <p:nvSpPr>
          <p:cNvPr id="19" name="Text 19"/>
          <p:cNvSpPr txBox="1"/>
          <p:nvPr/>
        </p:nvSpPr>
        <p:spPr>
          <a:xfrm>
            <a:off x="3626643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 ns · C3 비교</a:t>
            </a:r>
            <a:endParaRPr lang="en-US" sz="1100" dirty="0"/>
          </a:p>
        </p:txBody>
      </p:sp>
      <p:cxnSp>
        <p:nvCxnSpPr>
          <p:cNvPr id="20" name="Line 20"/>
          <p:cNvCxnSpPr/>
          <p:nvPr/>
        </p:nvCxnSpPr>
        <p:spPr>
          <a:xfrm>
            <a:off x="6886575" y="1714500"/>
            <a:ext cx="0" cy="2686050"/>
          </a:xfrm>
          <a:prstGeom prst="line">
            <a:avLst/>
          </a:prstGeom>
          <a:ln w="15875">
            <a:solidFill>
              <a:srgbClr val="94A3B8"/>
            </a:solidFill>
            <a:prstDash val="dash"/>
          </a:ln>
        </p:spPr>
      </p:cxnSp>
      <p:sp>
        <p:nvSpPr>
          <p:cNvPr id="21" name="Text 21"/>
          <p:cNvSpPr txBox="1"/>
          <p:nvPr/>
        </p:nvSpPr>
        <p:spPr>
          <a:xfrm>
            <a:off x="6924675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생략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7449740" y="1714500"/>
            <a:ext cx="0" cy="2686050"/>
          </a:xfrm>
          <a:prstGeom prst="line">
            <a:avLst/>
          </a:prstGeom>
          <a:ln w="15875">
            <a:solidFill>
              <a:srgbClr val="C62828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6401990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= 0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9702403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25" name="Text 25"/>
          <p:cNvSpPr txBox="1"/>
          <p:nvPr/>
        </p:nvSpPr>
        <p:spPr>
          <a:xfrm>
            <a:off x="8654653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2381250" y="2171700"/>
            <a:ext cx="1689496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4070746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4070746" y="1885950"/>
            <a:ext cx="281582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886575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886575" y="2171700"/>
            <a:ext cx="281582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9702403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9702403" y="1885950"/>
            <a:ext cx="1689496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2381250" y="2686050"/>
            <a:ext cx="2815828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5197078" y="2400300"/>
            <a:ext cx="2252662" cy="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5197078" y="2400300"/>
            <a:ext cx="0" cy="28575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449740" y="2686050"/>
            <a:ext cx="3942159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449740" y="2400300"/>
            <a:ext cx="0" cy="28575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2395537" y="2905125"/>
            <a:ext cx="2787253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2395537" y="2905125"/>
            <a:ext cx="278725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0" name="Shape 40"/>
          <p:cNvSpPr/>
          <p:nvPr/>
        </p:nvSpPr>
        <p:spPr>
          <a:xfrm>
            <a:off x="5211365" y="2905125"/>
            <a:ext cx="447675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5211365" y="2905125"/>
            <a:ext cx="447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2" name="Shape 42"/>
          <p:cNvSpPr/>
          <p:nvPr/>
        </p:nvSpPr>
        <p:spPr>
          <a:xfrm>
            <a:off x="9716690" y="2905125"/>
            <a:ext cx="1660921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9716690" y="2905125"/>
            <a:ext cx="16609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4" name="Shape 44"/>
          <p:cNvSpPr/>
          <p:nvPr/>
        </p:nvSpPr>
        <p:spPr>
          <a:xfrm>
            <a:off x="2395537" y="3419475"/>
            <a:ext cx="2787253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2395537" y="3419475"/>
            <a:ext cx="278725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5211365" y="3419475"/>
            <a:ext cx="4476750" cy="3048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5211365" y="3419475"/>
            <a:ext cx="447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 100</a:t>
            </a:r>
            <a:endParaRPr lang="en-US" sz="1150" dirty="0"/>
          </a:p>
        </p:txBody>
      </p:sp>
      <p:sp>
        <p:nvSpPr>
          <p:cNvPr id="48" name="Shape 48"/>
          <p:cNvSpPr/>
          <p:nvPr/>
        </p:nvSpPr>
        <p:spPr>
          <a:xfrm>
            <a:off x="9716690" y="3419475"/>
            <a:ext cx="1660921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9716690" y="3419475"/>
            <a:ext cx="16609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50" name="Shape 50"/>
          <p:cNvSpPr/>
          <p:nvPr/>
        </p:nvSpPr>
        <p:spPr>
          <a:xfrm>
            <a:off x="2395537" y="3933825"/>
            <a:ext cx="898207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2395537" y="3933825"/>
            <a:ext cx="8982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52" name="Shape 52"/>
          <p:cNvSpPr/>
          <p:nvPr/>
        </p:nvSpPr>
        <p:spPr>
          <a:xfrm>
            <a:off x="5855493" y="294322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5855493" y="29432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5855493" y="345757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5855493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5855493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855493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58" name="Shape 58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60" name="Text 60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+ 3 ns (reset 인가 1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구간 = posedge + 2 ~ 6 ns, posedge 없음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63" name="Text 63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3'b001 (STOP)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없이 즉시 STOP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66" name="Text 66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reset 값 오류 (CLEAR 100)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동기 reset (posedge 없음 → reset 미반영)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채점 항목 · C4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</a:t>
            </a: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Logs Each Arc at the Posedge and Requires 12 of 12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74295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90500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49555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arc(RUN, 10)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308610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g_state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67665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arc</a:t>
            </a:r>
            <a:endParaRPr lang="en-US" sz="1300" dirty="0"/>
          </a:p>
        </p:txBody>
      </p:sp>
      <p:cxnSp>
        <p:nvCxnSpPr>
          <p:cNvPr id="13" name="Line 13"/>
          <p:cNvCxnSpPr/>
          <p:nvPr/>
        </p:nvCxnSpPr>
        <p:spPr>
          <a:xfrm>
            <a:off x="3311524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4" name="Text 14"/>
          <p:cNvSpPr txBox="1"/>
          <p:nvPr/>
        </p:nvSpPr>
        <p:spPr>
          <a:xfrm>
            <a:off x="2263774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5" name="Line 15"/>
          <p:cNvCxnSpPr/>
          <p:nvPr/>
        </p:nvCxnSpPr>
        <p:spPr>
          <a:xfrm>
            <a:off x="5184774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6" name="Text 16"/>
          <p:cNvSpPr txBox="1"/>
          <p:nvPr/>
        </p:nvSpPr>
        <p:spPr>
          <a:xfrm>
            <a:off x="4137024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7" name="Line 17"/>
          <p:cNvCxnSpPr/>
          <p:nvPr/>
        </p:nvCxnSpPr>
        <p:spPr>
          <a:xfrm>
            <a:off x="7058025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8" name="Text 18"/>
          <p:cNvSpPr txBox="1"/>
          <p:nvPr/>
        </p:nvSpPr>
        <p:spPr>
          <a:xfrm>
            <a:off x="6010275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9" name="Line 19"/>
          <p:cNvCxnSpPr/>
          <p:nvPr/>
        </p:nvCxnSpPr>
        <p:spPr>
          <a:xfrm>
            <a:off x="2000250" y="2019300"/>
            <a:ext cx="37465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237490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237490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311524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3311524" y="2019300"/>
            <a:ext cx="9366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424815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424815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5184774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5184774" y="2019300"/>
            <a:ext cx="9366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12140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12140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058025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058025" y="2019300"/>
            <a:ext cx="56197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32" name="Shape 32"/>
          <p:cNvSpPr/>
          <p:nvPr/>
        </p:nvSpPr>
        <p:spPr>
          <a:xfrm>
            <a:off x="2014537" y="2600325"/>
            <a:ext cx="533400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2014537" y="2600325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34" name="Shape 34"/>
          <p:cNvSpPr/>
          <p:nvPr/>
        </p:nvSpPr>
        <p:spPr>
          <a:xfrm>
            <a:off x="2576512" y="2600325"/>
            <a:ext cx="1844674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2576512" y="2600325"/>
            <a:ext cx="18446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50" dirty="0"/>
          </a:p>
        </p:txBody>
      </p:sp>
      <p:sp>
        <p:nvSpPr>
          <p:cNvPr id="36" name="Shape 36"/>
          <p:cNvSpPr/>
          <p:nvPr/>
        </p:nvSpPr>
        <p:spPr>
          <a:xfrm>
            <a:off x="4449762" y="2600325"/>
            <a:ext cx="3155950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4449762" y="2600325"/>
            <a:ext cx="3155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50" dirty="0"/>
          </a:p>
        </p:txBody>
      </p:sp>
      <p:sp>
        <p:nvSpPr>
          <p:cNvPr id="38" name="Shape 38"/>
          <p:cNvSpPr/>
          <p:nvPr/>
        </p:nvSpPr>
        <p:spPr>
          <a:xfrm>
            <a:off x="2014537" y="3190875"/>
            <a:ext cx="1282699" cy="3810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2014537" y="3190875"/>
            <a:ext cx="128269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0" name="Shape 40"/>
          <p:cNvSpPr/>
          <p:nvPr/>
        </p:nvSpPr>
        <p:spPr>
          <a:xfrm>
            <a:off x="3325812" y="3190875"/>
            <a:ext cx="1844674" cy="3810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3325812" y="3190875"/>
            <a:ext cx="18446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2" name="Shape 42"/>
          <p:cNvSpPr/>
          <p:nvPr/>
        </p:nvSpPr>
        <p:spPr>
          <a:xfrm>
            <a:off x="5199062" y="3190875"/>
            <a:ext cx="1844675" cy="3810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5199062" y="3190875"/>
            <a:ext cx="1844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4" name="Shape 44"/>
          <p:cNvSpPr/>
          <p:nvPr/>
        </p:nvSpPr>
        <p:spPr>
          <a:xfrm>
            <a:off x="7072312" y="3190875"/>
            <a:ext cx="533400" cy="3810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7072312" y="3190875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2701924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2701924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× 01 +1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4575174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4575174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× 10 +1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6448425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6448425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× 10 +1</a:t>
            </a:r>
            <a:endParaRPr lang="en-US" sz="1100" dirty="0"/>
          </a:p>
        </p:txBody>
      </p:sp>
      <p:sp>
        <p:nvSpPr>
          <p:cNvPr id="52" name="Text 52"/>
          <p:cNvSpPr txBox="1"/>
          <p:nvPr/>
        </p:nvSpPr>
        <p:spPr>
          <a:xfrm>
            <a:off x="685800" y="44767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직전 값으로 기록</a:t>
            </a:r>
            <a:r>
              <a:rPr lang="ko-KR" alt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cov[g_state][i_sw] + 1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8039100" y="1295400"/>
            <a:ext cx="36957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229600" y="1447800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i_sw)</a:t>
            </a:r>
            <a:endParaRPr lang="en-US" sz="1300" dirty="0"/>
          </a:p>
        </p:txBody>
      </p:sp>
      <p:sp>
        <p:nvSpPr>
          <p:cNvPr id="55" name="Shape 55"/>
          <p:cNvSpPr/>
          <p:nvPr/>
        </p:nvSpPr>
        <p:spPr>
          <a:xfrm>
            <a:off x="8229600" y="1866900"/>
            <a:ext cx="3314700" cy="4953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8229600" y="18669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</p:txBody>
      </p:sp>
      <p:sp>
        <p:nvSpPr>
          <p:cNvPr id="57" name="Text 57"/>
          <p:cNvSpPr txBox="1"/>
          <p:nvPr/>
        </p:nvSpPr>
        <p:spPr>
          <a:xfrm>
            <a:off x="902970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965835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59" name="Text 59"/>
          <p:cNvSpPr txBox="1"/>
          <p:nvPr/>
        </p:nvSpPr>
        <p:spPr>
          <a:xfrm>
            <a:off x="1028700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60" name="Text 60"/>
          <p:cNvSpPr txBox="1"/>
          <p:nvPr/>
        </p:nvSpPr>
        <p:spPr>
          <a:xfrm>
            <a:off x="1091565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8229600" y="23622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8229600" y="23622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9029700" y="23622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902970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65" name="Shape 65"/>
          <p:cNvSpPr/>
          <p:nvPr/>
        </p:nvSpPr>
        <p:spPr>
          <a:xfrm>
            <a:off x="9658350" y="2362200"/>
            <a:ext cx="628650" cy="495300"/>
          </a:xfrm>
          <a:prstGeom prst="rect">
            <a:avLst/>
          </a:prstGeom>
          <a:solidFill>
            <a:srgbClr val="FFF3E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965835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67" name="Shape 67"/>
          <p:cNvSpPr/>
          <p:nvPr/>
        </p:nvSpPr>
        <p:spPr>
          <a:xfrm>
            <a:off x="10287000" y="2362200"/>
            <a:ext cx="628650" cy="495300"/>
          </a:xfrm>
          <a:prstGeom prst="rect">
            <a:avLst/>
          </a:prstGeom>
          <a:solidFill>
            <a:srgbClr val="FFF3E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1028700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69" name="Shape 69"/>
          <p:cNvSpPr/>
          <p:nvPr/>
        </p:nvSpPr>
        <p:spPr>
          <a:xfrm>
            <a:off x="10915650" y="23622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1091565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1" name="Shape 71"/>
          <p:cNvSpPr/>
          <p:nvPr/>
        </p:nvSpPr>
        <p:spPr>
          <a:xfrm>
            <a:off x="8229600" y="28575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2"/>
          <p:cNvSpPr txBox="1"/>
          <p:nvPr/>
        </p:nvSpPr>
        <p:spPr>
          <a:xfrm>
            <a:off x="8229600" y="28575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902970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902970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5" name="Shape 75"/>
          <p:cNvSpPr/>
          <p:nvPr/>
        </p:nvSpPr>
        <p:spPr>
          <a:xfrm>
            <a:off x="965835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965835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7" name="Shape 77"/>
          <p:cNvSpPr/>
          <p:nvPr/>
        </p:nvSpPr>
        <p:spPr>
          <a:xfrm>
            <a:off x="10287000" y="2857500"/>
            <a:ext cx="628650" cy="495300"/>
          </a:xfrm>
          <a:prstGeom prst="rect">
            <a:avLst/>
          </a:prstGeom>
          <a:solidFill>
            <a:srgbClr val="E8F5E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1028700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79" name="Shape 79"/>
          <p:cNvSpPr/>
          <p:nvPr/>
        </p:nvSpPr>
        <p:spPr>
          <a:xfrm>
            <a:off x="1091565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80"/>
          <p:cNvSpPr txBox="1"/>
          <p:nvPr/>
        </p:nvSpPr>
        <p:spPr>
          <a:xfrm>
            <a:off x="1091565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1" name="Shape 81"/>
          <p:cNvSpPr/>
          <p:nvPr/>
        </p:nvSpPr>
        <p:spPr>
          <a:xfrm>
            <a:off x="8229600" y="33528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2"/>
          <p:cNvSpPr txBox="1"/>
          <p:nvPr/>
        </p:nvSpPr>
        <p:spPr>
          <a:xfrm>
            <a:off x="8229600" y="33528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83" name="Shape 83"/>
          <p:cNvSpPr/>
          <p:nvPr/>
        </p:nvSpPr>
        <p:spPr>
          <a:xfrm>
            <a:off x="902970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4"/>
          <p:cNvSpPr txBox="1"/>
          <p:nvPr/>
        </p:nvSpPr>
        <p:spPr>
          <a:xfrm>
            <a:off x="902970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5" name="Shape 85"/>
          <p:cNvSpPr/>
          <p:nvPr/>
        </p:nvSpPr>
        <p:spPr>
          <a:xfrm>
            <a:off x="965835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6"/>
          <p:cNvSpPr txBox="1"/>
          <p:nvPr/>
        </p:nvSpPr>
        <p:spPr>
          <a:xfrm>
            <a:off x="965835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7" name="Shape 87"/>
          <p:cNvSpPr/>
          <p:nvPr/>
        </p:nvSpPr>
        <p:spPr>
          <a:xfrm>
            <a:off x="1028700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8"/>
          <p:cNvSpPr txBox="1"/>
          <p:nvPr/>
        </p:nvSpPr>
        <p:spPr>
          <a:xfrm>
            <a:off x="1028700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9" name="Shape 89"/>
          <p:cNvSpPr/>
          <p:nvPr/>
        </p:nvSpPr>
        <p:spPr>
          <a:xfrm>
            <a:off x="1091565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90"/>
          <p:cNvSpPr txBox="1"/>
          <p:nvPr/>
        </p:nvSpPr>
        <p:spPr>
          <a:xfrm>
            <a:off x="1091565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91" name="Text 91"/>
          <p:cNvSpPr txBox="1"/>
          <p:nvPr/>
        </p:nvSpPr>
        <p:spPr>
          <a:xfrm>
            <a:off x="8229600" y="4019550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 시 0인 칸 존재 → FAIL</a:t>
            </a:r>
            <a:endParaRPr lang="en-US" sz="1200" dirty="0"/>
          </a:p>
          <a:p>
            <a:pPr marL="0" indent="0">
              <a:buNone/>
            </a:pPr>
            <a:r>
              <a:rPr lang="ko-KR" alt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arc(RUN, 10) 1회 = 3칸 기록</a:t>
            </a:r>
            <a:endParaRPr lang="en-US" sz="1200" dirty="0"/>
          </a:p>
        </p:txBody>
      </p:sp>
      <p:sp>
        <p:nvSpPr>
          <p:cNvPr id="92" name="Shape 92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3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판정 시점</a:t>
            </a:r>
            <a:endParaRPr lang="en-US" sz="1300" dirty="0"/>
          </a:p>
        </p:txBody>
      </p:sp>
      <p:sp>
        <p:nvSpPr>
          <p:cNvPr id="94" name="Text 94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기록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 종료 시 12칸 집계</a:t>
            </a:r>
            <a:endParaRPr lang="en-US" sz="1200" dirty="0"/>
          </a:p>
        </p:txBody>
      </p:sp>
      <p:sp>
        <p:nvSpPr>
          <p:cNvPr id="95" name="Shape 95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6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97" name="Text 97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12칸 모두 1회 이상 실행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 == 12</a:t>
            </a:r>
            <a:endParaRPr lang="en-US" sz="1200" dirty="0"/>
          </a:p>
        </p:txBody>
      </p:sp>
      <p:sp>
        <p:nvSpPr>
          <p:cNvPr id="98" name="Shape 98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9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대상</a:t>
            </a:r>
            <a:endParaRPr lang="en-US" sz="1300" dirty="0"/>
          </a:p>
        </p:txBody>
      </p:sp>
      <p:sp>
        <p:nvSpPr>
          <p:cNvPr id="100" name="Text 100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DUT가 아닌 TB stimulus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미실행 arc = 검증 누락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코드 연결 · Golden Model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 Rewrites the Spec Table, Not the RTL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52550"/>
            <a:ext cx="6286500" cy="48387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457200" y="1581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57200" y="1581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609600" y="158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localparam G_STOP = 0, G_RUN = 1, G_CLEAR = 2;</a:t>
            </a:r>
            <a:endParaRPr lang="en-US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6457950" y="1581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609600" y="196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integer g_next(input integer st, input [1:0] sw);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09600" y="2152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5" name="Text 15"/>
          <p:cNvSpPr txBox="1"/>
          <p:nvPr/>
        </p:nvSpPr>
        <p:spPr>
          <a:xfrm>
            <a:off x="609600" y="2343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(st)</a:t>
            </a:r>
            <a:endParaRPr lang="en-US" sz="1100" dirty="0"/>
          </a:p>
        </p:txBody>
      </p:sp>
      <p:sp>
        <p:nvSpPr>
          <p:cNvPr id="16" name="Shape 16"/>
          <p:cNvSpPr/>
          <p:nvPr/>
        </p:nvSpPr>
        <p:spPr>
          <a:xfrm>
            <a:off x="457200" y="2533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7"/>
          <p:cNvSpPr/>
          <p:nvPr/>
        </p:nvSpPr>
        <p:spPr>
          <a:xfrm>
            <a:off x="457200" y="2533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609600" y="2533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G_STOP : g_next = (sw[0]) ? G_RUN : (sw[1]) ? G_CLEAR : G_STOP;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6457950" y="2533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7200" y="2724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457200" y="27241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09600" y="2724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G_RUN  : g_next = (sw[0]) ? G_RUN   : G_STOP;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457950" y="2724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457200" y="2914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5"/>
          <p:cNvSpPr/>
          <p:nvPr/>
        </p:nvSpPr>
        <p:spPr>
          <a:xfrm>
            <a:off x="457200" y="29146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6"/>
          <p:cNvSpPr txBox="1"/>
          <p:nvPr/>
        </p:nvSpPr>
        <p:spPr>
          <a:xfrm>
            <a:off x="609600" y="2914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G_CLEAR: g_next = (sw[1]) ? G_CLEAR : G_STOP;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457950" y="2914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609600" y="3105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default: g_next = G_STOP;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609600" y="3295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100" dirty="0"/>
          </a:p>
        </p:txBody>
      </p:sp>
      <p:sp>
        <p:nvSpPr>
          <p:cNvPr id="30" name="Text 30"/>
          <p:cNvSpPr txBox="1"/>
          <p:nvPr/>
        </p:nvSpPr>
        <p:spPr>
          <a:xfrm>
            <a:off x="609600" y="3486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09600" y="3676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endfunction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609600" y="4057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[2:0] g_code(input integer st);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4248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34" name="Text 34"/>
          <p:cNvSpPr txBox="1"/>
          <p:nvPr/>
        </p:nvSpPr>
        <p:spPr>
          <a:xfrm>
            <a:off x="609600" y="4438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(st)</a:t>
            </a:r>
            <a:endParaRPr lang="en-US" sz="1100" dirty="0"/>
          </a:p>
        </p:txBody>
      </p:sp>
      <p:sp>
        <p:nvSpPr>
          <p:cNvPr id="35" name="Shape 35"/>
          <p:cNvSpPr/>
          <p:nvPr/>
        </p:nvSpPr>
        <p:spPr>
          <a:xfrm>
            <a:off x="457200" y="4629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6"/>
          <p:cNvSpPr/>
          <p:nvPr/>
        </p:nvSpPr>
        <p:spPr>
          <a:xfrm>
            <a:off x="457200" y="4629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609600" y="4629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G_STOP : g_code = 3'b001;</a:t>
            </a:r>
            <a:endParaRPr lang="en-US" sz="1100" dirty="0"/>
          </a:p>
        </p:txBody>
      </p:sp>
      <p:sp>
        <p:nvSpPr>
          <p:cNvPr id="38" name="Text 38"/>
          <p:cNvSpPr txBox="1"/>
          <p:nvPr/>
        </p:nvSpPr>
        <p:spPr>
          <a:xfrm>
            <a:off x="6457950" y="4629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457200" y="4819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40"/>
          <p:cNvSpPr/>
          <p:nvPr/>
        </p:nvSpPr>
        <p:spPr>
          <a:xfrm>
            <a:off x="457200" y="48196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09600" y="4819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G_RUN  : g_code = 3'b010;</a:t>
            </a:r>
            <a:endParaRPr lang="en-US" sz="1100" dirty="0"/>
          </a:p>
        </p:txBody>
      </p:sp>
      <p:sp>
        <p:nvSpPr>
          <p:cNvPr id="42" name="Text 42"/>
          <p:cNvSpPr txBox="1"/>
          <p:nvPr/>
        </p:nvSpPr>
        <p:spPr>
          <a:xfrm>
            <a:off x="6457950" y="4819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3" name="Shape 43"/>
          <p:cNvSpPr/>
          <p:nvPr/>
        </p:nvSpPr>
        <p:spPr>
          <a:xfrm>
            <a:off x="457200" y="5010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4"/>
          <p:cNvSpPr/>
          <p:nvPr/>
        </p:nvSpPr>
        <p:spPr>
          <a:xfrm>
            <a:off x="457200" y="5010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609600" y="5010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G_CLEAR: g_code = 3'b100;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6457950" y="5010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7" name="Text 47"/>
          <p:cNvSpPr txBox="1"/>
          <p:nvPr/>
        </p:nvSpPr>
        <p:spPr>
          <a:xfrm>
            <a:off x="609600" y="5200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default: g_code = 3'bxxx;</a:t>
            </a:r>
            <a:endParaRPr lang="en-US" sz="1100" dirty="0"/>
          </a:p>
        </p:txBody>
      </p:sp>
      <p:sp>
        <p:nvSpPr>
          <p:cNvPr id="48" name="Text 48"/>
          <p:cNvSpPr txBox="1"/>
          <p:nvPr/>
        </p:nvSpPr>
        <p:spPr>
          <a:xfrm>
            <a:off x="609600" y="539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100" dirty="0"/>
          </a:p>
        </p:txBody>
      </p:sp>
      <p:sp>
        <p:nvSpPr>
          <p:cNvPr id="49" name="Text 49"/>
          <p:cNvSpPr txBox="1"/>
          <p:nvPr/>
        </p:nvSpPr>
        <p:spPr>
          <a:xfrm>
            <a:off x="609600" y="558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50" name="Text 50"/>
          <p:cNvSpPr txBox="1"/>
          <p:nvPr/>
        </p:nvSpPr>
        <p:spPr>
          <a:xfrm>
            <a:off x="609600" y="577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endfunction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2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전용 state 번호</a:t>
            </a:r>
            <a:endParaRPr lang="en-US" sz="1350" dirty="0"/>
          </a:p>
        </p:txBody>
      </p:sp>
      <p:sp>
        <p:nvSpPr>
          <p:cNvPr id="55" name="Text 55"/>
          <p:cNvSpPr txBox="1"/>
          <p:nvPr/>
        </p:nvSpPr>
        <p:spPr>
          <a:xfrm>
            <a:off x="7486650" y="1809750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· RUN · CLEAR = 0 · 1 · 2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enum (CLEAR = 0, STOP = 1, RUN = 2)과 별개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인코딩 실수 비복사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7124700" y="2524125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7124700" y="25241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25336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STOP: SW0 먼저 검사</a:t>
            </a:r>
            <a:endParaRPr lang="en-US" sz="1350" dirty="0"/>
          </a:p>
        </p:txBody>
      </p:sp>
      <p:sp>
        <p:nvSpPr>
          <p:cNvPr id="59" name="Text 59"/>
          <p:cNvSpPr txBox="1"/>
          <p:nvPr/>
        </p:nvSpPr>
        <p:spPr>
          <a:xfrm>
            <a:off x="7486650" y="2809875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삼항 연산 순서 = 우선순위 SW0 &gt; SW1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= 11 → RUN 기대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(STOP + 11 → CLEAR) 검출 근거</a:t>
            </a:r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7124700" y="352425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124700" y="35242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2" name="Text 62"/>
          <p:cNvSpPr txBox="1"/>
          <p:nvPr/>
        </p:nvSpPr>
        <p:spPr>
          <a:xfrm>
            <a:off x="7486650" y="35337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· CLEAR: 탈출 비트 하나만 확인</a:t>
            </a:r>
            <a:endParaRPr lang="en-US" sz="135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38100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= SW0, CLEAR = SW1 기준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F2 (비트 인덱스 오타) · F5 (STOP 생략) 검출 근거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7124700" y="43434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7124700" y="43434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7486650" y="43529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 = 기대 o_sw</a:t>
            </a:r>
            <a:endParaRPr lang="en-US" sz="135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46291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state별 one-hot 코드 직접 기재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F3 (CLEAR 출력 코드 오류) 검출 근거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코드 연결 · Golden 갱신 · C1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Steps with the DUT, C1 Compares Half a Cycle Later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828800"/>
            <a:ext cx="6286500" cy="3886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457200" y="2057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57200" y="2057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609600" y="2057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 begin</a:t>
            </a:r>
            <a:endParaRPr lang="en-US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6457950" y="2057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3" name="Shape 13"/>
          <p:cNvSpPr/>
          <p:nvPr/>
        </p:nvSpPr>
        <p:spPr>
          <a:xfrm>
            <a:off x="457200" y="2247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4"/>
          <p:cNvSpPr/>
          <p:nvPr/>
        </p:nvSpPr>
        <p:spPr>
          <a:xfrm>
            <a:off x="457200" y="2247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(i_reset) g_state &lt;= G_STOP;</a:t>
            </a:r>
            <a:endParaRPr lang="en-US" sz="1100" dirty="0"/>
          </a:p>
        </p:txBody>
      </p:sp>
      <p:sp>
        <p:nvSpPr>
          <p:cNvPr id="16" name="Text 16"/>
          <p:cNvSpPr txBox="1"/>
          <p:nvPr/>
        </p:nvSpPr>
        <p:spPr>
          <a:xfrm>
            <a:off x="6457950" y="2247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609600" y="2438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begin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57200" y="2628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9"/>
          <p:cNvSpPr/>
          <p:nvPr/>
        </p:nvSpPr>
        <p:spPr>
          <a:xfrm>
            <a:off x="457200" y="26289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20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cov[g_state][i_sw] = cov[g_state][i_sw] + 1;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6457950" y="2628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457200" y="2819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3"/>
          <p:cNvSpPr/>
          <p:nvPr/>
        </p:nvSpPr>
        <p:spPr>
          <a:xfrm>
            <a:off x="457200" y="2819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g_state &lt;= g_next(g_state, i_sw);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6457950" y="2819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26" name="Text 26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457200" y="3581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35814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@(negedge i_clk) begin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457950" y="3581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2" name="Text 32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(!i_reset) begin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3962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cycles = cycles + 1;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457200" y="4152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5"/>
          <p:cNvSpPr/>
          <p:nvPr/>
        </p:nvSpPr>
        <p:spPr>
          <a:xfrm>
            <a:off x="457200" y="4152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g_code(g_state)) begin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457950" y="4152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8" name="Text 38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err_c1 = err_c1 + 1;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457200" y="4533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40"/>
          <p:cNvSpPr/>
          <p:nvPr/>
        </p:nvSpPr>
        <p:spPr>
          <a:xfrm>
            <a:off x="457200" y="45339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(err_c1 &lt;= 10)</a:t>
            </a:r>
            <a:endParaRPr lang="en-US" sz="1100" dirty="0"/>
          </a:p>
        </p:txBody>
      </p:sp>
      <p:sp>
        <p:nvSpPr>
          <p:cNvPr id="42" name="Text 42"/>
          <p:cNvSpPr txBox="1"/>
          <p:nvPr/>
        </p:nvSpPr>
        <p:spPr>
          <a:xfrm>
            <a:off x="6457950" y="4533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43" name="Text 43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$display("[C1 FAIL] ...");</a:t>
            </a:r>
            <a:endParaRPr lang="en-US" sz="1100" dirty="0"/>
          </a:p>
        </p:txBody>
      </p:sp>
      <p:sp>
        <p:nvSpPr>
          <p:cNvPr id="44" name="Text 44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609600" y="5295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8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50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clock · async reset</a:t>
            </a:r>
            <a:endParaRPr lang="en-US" sz="1350" dirty="0"/>
          </a:p>
        </p:txBody>
      </p:sp>
      <p:sp>
        <p:nvSpPr>
          <p:cNvPr id="51" name="Text 51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state를 DUT와 같은 엣지에서 갱신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중 기대값 = STOP 고정</a:t>
            </a:r>
            <a:endParaRPr lang="en-US" sz="1200" dirty="0"/>
          </a:p>
        </p:txBody>
      </p:sp>
      <p:sp>
        <p:nvSpPr>
          <p:cNvPr id="52" name="Shape 52"/>
          <p:cNvSpPr/>
          <p:nvPr/>
        </p:nvSpPr>
        <p:spPr>
          <a:xfrm>
            <a:off x="7124700" y="22860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124700" y="2286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2295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실행 횟수 기록</a:t>
            </a:r>
            <a:endParaRPr lang="en-US" sz="1350" dirty="0"/>
          </a:p>
        </p:txBody>
      </p:sp>
      <p:sp>
        <p:nvSpPr>
          <p:cNvPr id="55" name="Text 55"/>
          <p:cNvSpPr txBox="1"/>
          <p:nvPr/>
        </p:nvSpPr>
        <p:spPr>
          <a:xfrm>
            <a:off x="7486650" y="2571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state × i_sw 칸 +1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C4 arc 커버리지 표의 원천 data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7124700" y="30480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7124700" y="3048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3057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비교</a:t>
            </a:r>
            <a:endParaRPr lang="en-US" sz="1350" dirty="0"/>
          </a:p>
        </p:txBody>
      </p:sp>
      <p:sp>
        <p:nvSpPr>
          <p:cNvPr id="59" name="Text 59"/>
          <p:cNvSpPr txBox="1"/>
          <p:nvPr/>
        </p:nvSpPr>
        <p:spPr>
          <a:xfrm>
            <a:off x="7486650" y="3333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갱신 후 반 cycle, o_sw 안정 구간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변경 (negedge + 1 ns) 이전 판정</a:t>
            </a:r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7124700" y="381000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124700" y="3810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2" name="Text 62"/>
          <p:cNvSpPr txBox="1"/>
          <p:nvPr/>
        </p:nvSpPr>
        <p:spPr>
          <a:xfrm>
            <a:off x="7486650" y="3819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!== (4-state 비교)</a:t>
            </a:r>
            <a:endParaRPr lang="en-US" sz="135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4095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· Z까지 불일치 처리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!= 사용 시 X 비교 결과 = X → FAIL 누락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7124700" y="4572000"/>
            <a:ext cx="247650" cy="24765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7124700" y="4572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7486650" y="4581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 10건 제한</a:t>
            </a:r>
            <a:endParaRPr lang="en-US" sz="135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48577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출력만 제한, error 카운트는 계속 증가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코드 연결 · drive · C2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 Task Applies the Switch and Runs the Moore Check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2019300"/>
            <a:ext cx="6286500" cy="3505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 [2:0] o_before;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drive(input [1:0] sw);</a:t>
            </a:r>
            <a:endParaRPr lang="en-US" sz="1100" dirty="0"/>
          </a:p>
        </p:txBody>
      </p:sp>
      <p:sp>
        <p:nvSpPr>
          <p:cNvPr id="11" name="Text 11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457200" y="3009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3"/>
          <p:cNvSpPr/>
          <p:nvPr/>
        </p:nvSpPr>
        <p:spPr>
          <a:xfrm>
            <a:off x="457200" y="3009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4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@(negedge i_clk);</a:t>
            </a:r>
            <a:endParaRPr lang="en-US" sz="1100" dirty="0"/>
          </a:p>
        </p:txBody>
      </p:sp>
      <p:sp>
        <p:nvSpPr>
          <p:cNvPr id="15" name="Text 15"/>
          <p:cNvSpPr txBox="1"/>
          <p:nvPr/>
        </p:nvSpPr>
        <p:spPr>
          <a:xfrm>
            <a:off x="6457950" y="3009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457200" y="3200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7"/>
          <p:cNvSpPr/>
          <p:nvPr/>
        </p:nvSpPr>
        <p:spPr>
          <a:xfrm>
            <a:off x="457200" y="32004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#1;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6457950" y="3200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7200" y="3390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457200" y="3390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09600" y="3390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o_before = o_sw;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457950" y="3390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457200" y="3581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5"/>
          <p:cNvSpPr/>
          <p:nvPr/>
        </p:nvSpPr>
        <p:spPr>
          <a:xfrm>
            <a:off x="457200" y="3581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6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i_sw     = sw;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457950" y="3581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457200" y="3771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3771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#2;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457950" y="3771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57200" y="3962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3"/>
          <p:cNvSpPr/>
          <p:nvPr/>
        </p:nvSpPr>
        <p:spPr>
          <a:xfrm>
            <a:off x="457200" y="39624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609600" y="3962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o_before) begin</a:t>
            </a:r>
            <a:endParaRPr lang="en-US" sz="1100" dirty="0"/>
          </a:p>
        </p:txBody>
      </p:sp>
      <p:sp>
        <p:nvSpPr>
          <p:cNvPr id="35" name="Text 35"/>
          <p:cNvSpPr txBox="1"/>
          <p:nvPr/>
        </p:nvSpPr>
        <p:spPr>
          <a:xfrm>
            <a:off x="6457950" y="3962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err_c2 = err_c2 + 1;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(err_c2 &lt;= 10)</a:t>
            </a:r>
            <a:endParaRPr lang="en-US" sz="1100" dirty="0"/>
          </a:p>
        </p:txBody>
      </p:sp>
      <p:sp>
        <p:nvSpPr>
          <p:cNvPr id="38" name="Text 38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$display("[C2 FAIL] ...");</a:t>
            </a:r>
            <a:endParaRPr lang="en-US" sz="1100" dirty="0"/>
          </a:p>
        </p:txBody>
      </p:sp>
      <p:sp>
        <p:nvSpPr>
          <p:cNvPr id="39" name="Text 39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40" name="Text 40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42" name="Shape 42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45" name="Text 45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대기</a:t>
            </a:r>
            <a:endParaRPr lang="en-US" sz="1350" dirty="0"/>
          </a:p>
        </p:txBody>
      </p:sp>
      <p:sp>
        <p:nvSpPr>
          <p:cNvPr id="46" name="Text 46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변경 = 항상 negedge 이후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시점 i_sw 반 cycle 이상 안정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7124700" y="23241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7124700" y="23241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49" name="Text 49"/>
          <p:cNvSpPr txBox="1"/>
          <p:nvPr/>
        </p:nvSpPr>
        <p:spPr>
          <a:xfrm>
            <a:off x="7486650" y="23336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 지연</a:t>
            </a:r>
            <a:endParaRPr lang="en-US" sz="1350" dirty="0"/>
          </a:p>
        </p:txBody>
      </p:sp>
      <p:sp>
        <p:nvSpPr>
          <p:cNvPr id="50" name="Text 50"/>
          <p:cNvSpPr txBox="1"/>
          <p:nvPr/>
        </p:nvSpPr>
        <p:spPr>
          <a:xfrm>
            <a:off x="7486650" y="26098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negedge의 C1 비교 먼저 실행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판정값과 i_sw 변경의 race 제거</a:t>
            </a:r>
            <a:endParaRPr lang="en-US" sz="1200" dirty="0"/>
          </a:p>
        </p:txBody>
      </p:sp>
      <p:sp>
        <p:nvSpPr>
          <p:cNvPr id="51" name="Shape 51"/>
          <p:cNvSpPr/>
          <p:nvPr/>
        </p:nvSpPr>
        <p:spPr>
          <a:xfrm>
            <a:off x="7124700" y="31242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7124700" y="31242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3" name="Text 53"/>
          <p:cNvSpPr txBox="1"/>
          <p:nvPr/>
        </p:nvSpPr>
        <p:spPr>
          <a:xfrm>
            <a:off x="7486650" y="31337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직전 출력 저장 → i_sw 인가</a:t>
            </a:r>
            <a:endParaRPr lang="en-US" sz="135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34099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o_before = 입력 변경 전 o_sw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7124700" y="3743325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124700" y="37433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7"/>
          <p:cNvSpPr txBox="1"/>
          <p:nvPr/>
        </p:nvSpPr>
        <p:spPr>
          <a:xfrm>
            <a:off x="7486650" y="37528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 후 o_sw 재확인 (C2)</a:t>
            </a:r>
            <a:endParaRPr lang="en-US" sz="135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4029075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없는 구간 → Moore 출력 불변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변화 = input → output 조합 경로 (Mealy)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F6 (o_sw가 n_state 기준) 검출 근거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7124700" y="4800600"/>
            <a:ext cx="4419600" cy="533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7277100" y="4800600"/>
            <a:ext cx="419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 1회 = 1 clock</a:t>
            </a: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인가 + C2 판정 동시 수행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코드 연결 · async_reset · arc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Every Arc Test Starts from a Checked Async Reset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447800"/>
            <a:ext cx="6286500" cy="4648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1676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async_reset;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1866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57200" y="2057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2"/>
          <p:cNvSpPr/>
          <p:nvPr/>
        </p:nvSpPr>
        <p:spPr>
          <a:xfrm>
            <a:off x="457200" y="20574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609600" y="2057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@(posedge i_clk); #2;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457950" y="2057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457200" y="2247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457200" y="2247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i_reset = 1; #1;</a:t>
            </a:r>
            <a:endParaRPr lang="en-US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6457950" y="2247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9" name="Shape 19"/>
          <p:cNvSpPr/>
          <p:nvPr/>
        </p:nvSpPr>
        <p:spPr>
          <a:xfrm>
            <a:off x="457200" y="2438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20"/>
          <p:cNvSpPr/>
          <p:nvPr/>
        </p:nvSpPr>
        <p:spPr>
          <a:xfrm>
            <a:off x="457200" y="24384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609600" y="2438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3'b001) begin</a:t>
            </a:r>
            <a:endParaRPr lang="en-US" sz="1100" dirty="0"/>
          </a:p>
        </p:txBody>
      </p:sp>
      <p:sp>
        <p:nvSpPr>
          <p:cNvPr id="22" name="Text 22"/>
          <p:cNvSpPr txBox="1"/>
          <p:nvPr/>
        </p:nvSpPr>
        <p:spPr>
          <a:xfrm>
            <a:off x="6457950" y="2438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err_c3 = err_c3 + 1;</a:t>
            </a:r>
            <a:endParaRPr lang="en-US" sz="1100" dirty="0"/>
          </a:p>
        </p:txBody>
      </p:sp>
      <p:sp>
        <p:nvSpPr>
          <p:cNvPr id="24" name="Text 24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$display("[C3 FAIL] ...");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457200" y="3200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7"/>
          <p:cNvSpPr/>
          <p:nvPr/>
        </p:nvSpPr>
        <p:spPr>
          <a:xfrm>
            <a:off x="457200" y="3200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@(negedge i_clk); #1;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6457950" y="3200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457200" y="3390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31"/>
          <p:cNvSpPr/>
          <p:nvPr/>
        </p:nvSpPr>
        <p:spPr>
          <a:xfrm>
            <a:off x="457200" y="3390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609600" y="3390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i_reset = 0;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457950" y="3390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4" name="Text 34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35" name="Text 35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arc(input integer st, input [1:0] sw);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38" name="Shape 38"/>
          <p:cNvSpPr/>
          <p:nvPr/>
        </p:nvSpPr>
        <p:spPr>
          <a:xfrm>
            <a:off x="457200" y="4533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9"/>
          <p:cNvSpPr/>
          <p:nvPr/>
        </p:nvSpPr>
        <p:spPr>
          <a:xfrm>
            <a:off x="457200" y="4533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async_reset;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457950" y="4533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457200" y="4724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457200" y="47244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 == G_RUN)   drive(2'b01);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457950" y="4724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6" name="Shape 46"/>
          <p:cNvSpPr/>
          <p:nvPr/>
        </p:nvSpPr>
        <p:spPr>
          <a:xfrm>
            <a:off x="457200" y="4914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7"/>
          <p:cNvSpPr/>
          <p:nvPr/>
        </p:nvSpPr>
        <p:spPr>
          <a:xfrm>
            <a:off x="457200" y="4914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 == G_CLEAR) drive(2'b10);</a:t>
            </a:r>
            <a:endParaRPr lang="en-US" sz="1100" dirty="0"/>
          </a:p>
        </p:txBody>
      </p:sp>
      <p:sp>
        <p:nvSpPr>
          <p:cNvPr id="49" name="Text 49"/>
          <p:cNvSpPr txBox="1"/>
          <p:nvPr/>
        </p:nvSpPr>
        <p:spPr>
          <a:xfrm>
            <a:off x="6457950" y="4914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57200" y="5105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51"/>
          <p:cNvSpPr/>
          <p:nvPr/>
        </p:nvSpPr>
        <p:spPr>
          <a:xfrm>
            <a:off x="457200" y="51054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drive(sw);</a:t>
            </a:r>
            <a:endParaRPr lang="en-US" sz="1100" dirty="0"/>
          </a:p>
        </p:txBody>
      </p:sp>
      <p:sp>
        <p:nvSpPr>
          <p:cNvPr id="53" name="Text 53"/>
          <p:cNvSpPr txBox="1"/>
          <p:nvPr/>
        </p:nvSpPr>
        <p:spPr>
          <a:xfrm>
            <a:off x="6457950" y="5105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457200" y="5295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5"/>
          <p:cNvSpPr/>
          <p:nvPr/>
        </p:nvSpPr>
        <p:spPr>
          <a:xfrm>
            <a:off x="457200" y="52959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609600" y="5295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drive(sw);</a:t>
            </a:r>
            <a:endParaRPr lang="en-US" sz="1100" dirty="0"/>
          </a:p>
        </p:txBody>
      </p:sp>
      <p:sp>
        <p:nvSpPr>
          <p:cNvPr id="57" name="Text 57"/>
          <p:cNvSpPr txBox="1"/>
          <p:nvPr/>
        </p:nvSpPr>
        <p:spPr>
          <a:xfrm>
            <a:off x="6457950" y="5295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609600" y="5486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59" name="Text 59"/>
          <p:cNvSpPr txBox="1"/>
          <p:nvPr/>
        </p:nvSpPr>
        <p:spPr>
          <a:xfrm>
            <a:off x="609600" y="5676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60" name="Shape 60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61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+ 2 ns에 reset 인가</a:t>
            </a:r>
            <a:endParaRPr lang="en-US" sz="1350" dirty="0"/>
          </a:p>
        </p:txBody>
      </p:sp>
      <p:sp>
        <p:nvSpPr>
          <p:cNvPr id="64" name="Text 64"/>
          <p:cNvSpPr txBox="1"/>
          <p:nvPr/>
        </p:nvSpPr>
        <p:spPr>
          <a:xfrm>
            <a:off x="7486650" y="18097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엣지까지 클럭 엣지 없는 구간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7124700" y="2105025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7124700" y="21050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21145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ns 뒤 o_sw = 001 확인 (C3)</a:t>
            </a:r>
            <a:endParaRPr lang="en-US" sz="1350" dirty="0"/>
          </a:p>
        </p:txBody>
      </p:sp>
      <p:sp>
        <p:nvSpPr>
          <p:cNvPr id="68" name="Text 68"/>
          <p:cNvSpPr txBox="1"/>
          <p:nvPr/>
        </p:nvSpPr>
        <p:spPr>
          <a:xfrm>
            <a:off x="7486650" y="2390775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 reset → 즉시 STOP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(동기 reset) → 이전 값 유지 → FAIL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7124700" y="2867025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7124700" y="28670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71"/>
          <p:cNvSpPr txBox="1"/>
          <p:nvPr/>
        </p:nvSpPr>
        <p:spPr>
          <a:xfrm>
            <a:off x="7486650" y="28765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ns에 reset 해제</a:t>
            </a:r>
            <a:endParaRPr lang="en-US" sz="1350" dirty="0"/>
          </a:p>
        </p:txBody>
      </p:sp>
      <p:sp>
        <p:nvSpPr>
          <p:cNvPr id="72" name="Text 72"/>
          <p:cNvSpPr txBox="1"/>
          <p:nvPr/>
        </p:nvSpPr>
        <p:spPr>
          <a:xfrm>
            <a:off x="7486650" y="3152775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시점을 posedge와 분리 → race 제거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7124700" y="344805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7124700" y="34480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5"/>
          <p:cNvSpPr txBox="1"/>
          <p:nvPr/>
        </p:nvSpPr>
        <p:spPr>
          <a:xfrm>
            <a:off x="7486650" y="34575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state 이동</a:t>
            </a:r>
            <a:endParaRPr lang="en-US" sz="1350" dirty="0"/>
          </a:p>
        </p:txBody>
      </p:sp>
      <p:sp>
        <p:nvSpPr>
          <p:cNvPr id="76" name="Text 76"/>
          <p:cNvSpPr txBox="1"/>
          <p:nvPr/>
        </p:nvSpPr>
        <p:spPr>
          <a:xfrm>
            <a:off x="7486650" y="37338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STOP: 이동 없음 · RUN: 01 · CLEAR: 10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직후 출발 → 시작 state 확정</a:t>
            </a:r>
            <a:endParaRPr lang="en-US" sz="1200" dirty="0"/>
          </a:p>
        </p:txBody>
      </p:sp>
      <p:sp>
        <p:nvSpPr>
          <p:cNvPr id="77" name="Shape 77"/>
          <p:cNvSpPr/>
          <p:nvPr/>
        </p:nvSpPr>
        <p:spPr>
          <a:xfrm>
            <a:off x="7124700" y="4210050"/>
            <a:ext cx="247650" cy="24765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7124700" y="42100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79" name="Text 79"/>
          <p:cNvSpPr txBox="1"/>
          <p:nvPr/>
        </p:nvSpPr>
        <p:spPr>
          <a:xfrm>
            <a:off x="7486650" y="42195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sw 2회 인가</a:t>
            </a:r>
            <a:endParaRPr lang="en-US" sz="1350" dirty="0"/>
          </a:p>
        </p:txBody>
      </p:sp>
      <p:sp>
        <p:nvSpPr>
          <p:cNvPr id="80" name="Text 80"/>
          <p:cNvSpPr txBox="1"/>
          <p:nvPr/>
        </p:nvSpPr>
        <p:spPr>
          <a:xfrm>
            <a:off x="7486650" y="44958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1회차: 목표 state × sw arc 실행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2회차: RUN + 10 → STOP → CLEAR 경로 포함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코드 연결 · Stimulus · Report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 Directed Arcs First, Then 300 Random Cycles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52550"/>
            <a:ext cx="6286500" cy="48387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158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 begin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177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i_clk = 0; i_reset = 1; i_sw = 2'b00; g_state = G_STOP;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57200" y="1962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2"/>
          <p:cNvSpPr/>
          <p:nvPr/>
        </p:nvSpPr>
        <p:spPr>
          <a:xfrm>
            <a:off x="457200" y="1962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609600" y="196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err_c1 = 0; err_c2 = 0; err_c3 = 0; cycles = 0; seed = 1008;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457950" y="1962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609600" y="2152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100" dirty="0"/>
          </a:p>
        </p:txBody>
      </p:sp>
      <p:sp>
        <p:nvSpPr>
          <p:cNvPr id="16" name="Text 16"/>
          <p:cNvSpPr txBox="1"/>
          <p:nvPr/>
        </p:nvSpPr>
        <p:spPr>
          <a:xfrm>
            <a:off x="609600" y="2343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#12 i_reset = 0;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457200" y="2724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8"/>
          <p:cNvSpPr/>
          <p:nvPr/>
        </p:nvSpPr>
        <p:spPr>
          <a:xfrm>
            <a:off x="457200" y="2724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609600" y="2724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$display("[MARK] %0d ns phase 1 : directed arcs", $time);</a:t>
            </a:r>
            <a:endParaRPr lang="en-US" sz="1100" dirty="0"/>
          </a:p>
        </p:txBody>
      </p:sp>
      <p:sp>
        <p:nvSpPr>
          <p:cNvPr id="20" name="Text 20"/>
          <p:cNvSpPr txBox="1"/>
          <p:nvPr/>
        </p:nvSpPr>
        <p:spPr>
          <a:xfrm>
            <a:off x="6457950" y="2724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21" name="Shape 21"/>
          <p:cNvSpPr/>
          <p:nvPr/>
        </p:nvSpPr>
        <p:spPr>
          <a:xfrm>
            <a:off x="457200" y="2914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2"/>
          <p:cNvSpPr/>
          <p:nvPr/>
        </p:nvSpPr>
        <p:spPr>
          <a:xfrm>
            <a:off x="457200" y="2914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609600" y="2914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(s = 0; s &lt; 3; s = s + 1)</a:t>
            </a:r>
            <a:endParaRPr lang="en-US" sz="1100" dirty="0"/>
          </a:p>
        </p:txBody>
      </p:sp>
      <p:sp>
        <p:nvSpPr>
          <p:cNvPr id="24" name="Text 24"/>
          <p:cNvSpPr txBox="1"/>
          <p:nvPr/>
        </p:nvSpPr>
        <p:spPr>
          <a:xfrm>
            <a:off x="6457950" y="2914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5" name="Shape 25"/>
          <p:cNvSpPr/>
          <p:nvPr/>
        </p:nvSpPr>
        <p:spPr>
          <a:xfrm>
            <a:off x="457200" y="3105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457200" y="31051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609600" y="3105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(w = 0; w &lt; 4; w = w + 1)</a:t>
            </a:r>
            <a:endParaRPr lang="en-US" sz="1100" dirty="0"/>
          </a:p>
        </p:txBody>
      </p:sp>
      <p:sp>
        <p:nvSpPr>
          <p:cNvPr id="28" name="Text 28"/>
          <p:cNvSpPr txBox="1"/>
          <p:nvPr/>
        </p:nvSpPr>
        <p:spPr>
          <a:xfrm>
            <a:off x="6457950" y="3105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457200" y="3295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30"/>
          <p:cNvSpPr/>
          <p:nvPr/>
        </p:nvSpPr>
        <p:spPr>
          <a:xfrm>
            <a:off x="457200" y="3295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609600" y="3295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arc(s, w[1:0]);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6457950" y="3295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3676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$display("[MARK] %0d ns phase 2 : random 300 cycles", $time);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457200" y="3867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5"/>
          <p:cNvSpPr/>
          <p:nvPr/>
        </p:nvSpPr>
        <p:spPr>
          <a:xfrm>
            <a:off x="457200" y="3867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609600" y="3867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 = 0; i &lt; 300; i = i + 1) begin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457950" y="3867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457200" y="4057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9"/>
          <p:cNvSpPr/>
          <p:nvPr/>
        </p:nvSpPr>
        <p:spPr>
          <a:xfrm>
            <a:off x="457200" y="40576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09600" y="4057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(($random(seed) &amp; 31) == 0) async_reset;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457950" y="4057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457200" y="4248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457200" y="4248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09600" y="4248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drive($random(seed));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457950" y="4248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46" name="Text 46"/>
          <p:cNvSpPr txBox="1"/>
          <p:nvPr/>
        </p:nvSpPr>
        <p:spPr>
          <a:xfrm>
            <a:off x="609600" y="4438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7" name="Text 47"/>
          <p:cNvSpPr txBox="1"/>
          <p:nvPr/>
        </p:nvSpPr>
        <p:spPr>
          <a:xfrm>
            <a:off x="609600" y="4629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457200" y="4819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9"/>
          <p:cNvSpPr/>
          <p:nvPr/>
        </p:nvSpPr>
        <p:spPr>
          <a:xfrm>
            <a:off x="457200" y="48196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609600" y="4819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(err_c1 + err_c2 + err_c3 == 0 &amp;&amp; hit == 12)</a:t>
            </a:r>
            <a:endParaRPr lang="en-US" sz="1100" dirty="0"/>
          </a:p>
        </p:txBody>
      </p:sp>
      <p:sp>
        <p:nvSpPr>
          <p:cNvPr id="51" name="Text 51"/>
          <p:cNvSpPr txBox="1"/>
          <p:nvPr/>
        </p:nvSpPr>
        <p:spPr>
          <a:xfrm>
            <a:off x="6457950" y="4819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52" name="Text 52"/>
          <p:cNvSpPr txBox="1"/>
          <p:nvPr/>
        </p:nvSpPr>
        <p:spPr>
          <a:xfrm>
            <a:off x="609600" y="5010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$display(" RESULT : PASS");</a:t>
            </a:r>
            <a:endParaRPr lang="en-US" sz="1100" dirty="0"/>
          </a:p>
        </p:txBody>
      </p:sp>
      <p:sp>
        <p:nvSpPr>
          <p:cNvPr id="53" name="Text 53"/>
          <p:cNvSpPr txBox="1"/>
          <p:nvPr/>
        </p:nvSpPr>
        <p:spPr>
          <a:xfrm>
            <a:off x="609600" y="5200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</a:t>
            </a:r>
            <a:endParaRPr lang="en-US" sz="1100" dirty="0"/>
          </a:p>
        </p:txBody>
      </p:sp>
      <p:sp>
        <p:nvSpPr>
          <p:cNvPr id="54" name="Text 54"/>
          <p:cNvSpPr txBox="1"/>
          <p:nvPr/>
        </p:nvSpPr>
        <p:spPr>
          <a:xfrm>
            <a:off x="609600" y="539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$display(" RESULT : FAIL (errors=%0d)", ...);</a:t>
            </a:r>
            <a:endParaRPr lang="en-US" sz="1100" dirty="0"/>
          </a:p>
        </p:txBody>
      </p:sp>
      <p:sp>
        <p:nvSpPr>
          <p:cNvPr id="55" name="Text 55"/>
          <p:cNvSpPr txBox="1"/>
          <p:nvPr/>
        </p:nvSpPr>
        <p:spPr>
          <a:xfrm>
            <a:off x="609600" y="558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$finish;</a:t>
            </a:r>
            <a:endParaRPr lang="en-US" sz="1100" dirty="0"/>
          </a:p>
        </p:txBody>
      </p:sp>
      <p:sp>
        <p:nvSpPr>
          <p:cNvPr id="56" name="Text 56"/>
          <p:cNvSpPr txBox="1"/>
          <p:nvPr/>
        </p:nvSpPr>
        <p:spPr>
          <a:xfrm>
            <a:off x="609600" y="577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8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60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1008 고정 · [MARK] 로그</a:t>
            </a:r>
            <a:endParaRPr lang="en-US" sz="1350" dirty="0"/>
          </a:p>
        </p:txBody>
      </p:sp>
      <p:sp>
        <p:nvSpPr>
          <p:cNvPr id="61" name="Text 61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실행 같은 random 순서 → FAIL 재현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[MARK] = 파형 캡처 위치 표시</a:t>
            </a:r>
            <a:endParaRPr lang="en-US" sz="1200" dirty="0"/>
          </a:p>
        </p:txBody>
      </p:sp>
      <p:sp>
        <p:nvSpPr>
          <p:cNvPr id="62" name="Shape 62"/>
          <p:cNvSpPr/>
          <p:nvPr/>
        </p:nvSpPr>
        <p:spPr>
          <a:xfrm>
            <a:off x="7124700" y="23241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7124700" y="23241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4"/>
          <p:cNvSpPr txBox="1"/>
          <p:nvPr/>
        </p:nvSpPr>
        <p:spPr>
          <a:xfrm>
            <a:off x="7486650" y="23336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1 · directed 12 arc</a:t>
            </a:r>
            <a:endParaRPr lang="en-US" sz="1350" dirty="0"/>
          </a:p>
        </p:txBody>
      </p:sp>
      <p:sp>
        <p:nvSpPr>
          <p:cNvPr id="65" name="Text 65"/>
          <p:cNvSpPr txBox="1"/>
          <p:nvPr/>
        </p:nvSpPr>
        <p:spPr>
          <a:xfrm>
            <a:off x="7486650" y="26098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state × 4 sw 전수, arc task 호출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결과와 무관하게 C4 12 / 12 확보</a:t>
            </a:r>
            <a:endParaRPr lang="en-US" sz="1200" dirty="0"/>
          </a:p>
        </p:txBody>
      </p:sp>
      <p:sp>
        <p:nvSpPr>
          <p:cNvPr id="66" name="Shape 66"/>
          <p:cNvSpPr/>
          <p:nvPr/>
        </p:nvSpPr>
        <p:spPr>
          <a:xfrm>
            <a:off x="7124700" y="31242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7124700" y="31242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8"/>
          <p:cNvSpPr txBox="1"/>
          <p:nvPr/>
        </p:nvSpPr>
        <p:spPr>
          <a:xfrm>
            <a:off x="7486650" y="31337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· random 300 cycle</a:t>
            </a:r>
            <a:endParaRPr lang="en-US" sz="1350" dirty="0"/>
          </a:p>
        </p:txBody>
      </p:sp>
      <p:sp>
        <p:nvSpPr>
          <p:cNvPr id="69" name="Text 69"/>
          <p:cNvSpPr txBox="1"/>
          <p:nvPr/>
        </p:nvSpPr>
        <p:spPr>
          <a:xfrm>
            <a:off x="7486650" y="3409950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않은 입력 순서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31 == 0 → 1/32 확률 async reset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 state에서 C3 판정</a:t>
            </a:r>
            <a:endParaRPr lang="en-US" sz="1200" dirty="0"/>
          </a:p>
        </p:txBody>
      </p:sp>
      <p:sp>
        <p:nvSpPr>
          <p:cNvPr id="70" name="Shape 70"/>
          <p:cNvSpPr/>
          <p:nvPr/>
        </p:nvSpPr>
        <p:spPr>
          <a:xfrm>
            <a:off x="7124700" y="4105275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7124700" y="410527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72" name="Text 72"/>
          <p:cNvSpPr txBox="1"/>
          <p:nvPr/>
        </p:nvSpPr>
        <p:spPr>
          <a:xfrm>
            <a:off x="7486650" y="411480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50" dirty="0"/>
          </a:p>
        </p:txBody>
      </p:sp>
      <p:sp>
        <p:nvSpPr>
          <p:cNvPr id="73" name="Text 73"/>
          <p:cNvSpPr txBox="1"/>
          <p:nvPr/>
        </p:nvSpPr>
        <p:spPr>
          <a:xfrm>
            <a:off x="7486650" y="4391025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· C2 · C3 error 0 + C4 arc 12 / 12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 시 FAIL + error 수 출력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TB 작성 순서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Steps Turn an FSM Spec into a Self-Checking TB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/ 61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590550" y="1504950"/>
            <a:ext cx="381000" cy="381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590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11"/>
          <p:cNvSpPr txBox="1"/>
          <p:nvPr/>
        </p:nvSpPr>
        <p:spPr>
          <a:xfrm>
            <a:off x="1066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Spec 표 → Golden</a:t>
            </a:r>
            <a:endParaRPr lang="en-US" sz="1450" dirty="0"/>
          </a:p>
        </p:txBody>
      </p:sp>
      <p:cxnSp>
        <p:nvCxnSpPr>
          <p:cNvPr id="12" name="Line 12"/>
          <p:cNvCxnSpPr/>
          <p:nvPr/>
        </p:nvCxnSpPr>
        <p:spPr>
          <a:xfrm>
            <a:off x="2609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3" name="Shape 13"/>
          <p:cNvSpPr/>
          <p:nvPr/>
        </p:nvSpPr>
        <p:spPr>
          <a:xfrm>
            <a:off x="457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4"/>
          <p:cNvSpPr txBox="1"/>
          <p:nvPr/>
        </p:nvSpPr>
        <p:spPr>
          <a:xfrm>
            <a:off x="609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609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704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g_next · g_code function</a:t>
            </a:r>
            <a:endParaRPr lang="en-US" sz="1050" dirty="0"/>
          </a:p>
        </p:txBody>
      </p:sp>
      <p:sp>
        <p:nvSpPr>
          <p:cNvPr id="17" name="Text 17"/>
          <p:cNvSpPr txBox="1"/>
          <p:nvPr/>
        </p:nvSpPr>
        <p:spPr>
          <a:xfrm>
            <a:off x="609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609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× 입력 표를 function으로 작성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코드와 다른 형태 (삼항 · 표)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코드 직접 기재</a:t>
            </a:r>
            <a:endParaRPr lang="en-US" sz="1250" dirty="0"/>
          </a:p>
        </p:txBody>
      </p:sp>
      <p:sp>
        <p:nvSpPr>
          <p:cNvPr id="19" name="Text 19"/>
          <p:cNvSpPr txBox="1"/>
          <p:nvPr/>
        </p:nvSpPr>
        <p:spPr>
          <a:xfrm>
            <a:off x="609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609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609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기대값</a:t>
            </a:r>
            <a:endParaRPr lang="en-US" sz="1300" dirty="0"/>
          </a:p>
        </p:txBody>
      </p:sp>
      <p:sp>
        <p:nvSpPr>
          <p:cNvPr id="22" name="Shape 22"/>
          <p:cNvSpPr/>
          <p:nvPr/>
        </p:nvSpPr>
        <p:spPr>
          <a:xfrm>
            <a:off x="2743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3"/>
          <p:cNvSpPr/>
          <p:nvPr/>
        </p:nvSpPr>
        <p:spPr>
          <a:xfrm>
            <a:off x="2876550" y="1504950"/>
            <a:ext cx="381000" cy="38100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2876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Text 25"/>
          <p:cNvSpPr txBox="1"/>
          <p:nvPr/>
        </p:nvSpPr>
        <p:spPr>
          <a:xfrm>
            <a:off x="3352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갱신</a:t>
            </a:r>
            <a:endParaRPr lang="en-US" sz="1450" dirty="0"/>
          </a:p>
        </p:txBody>
      </p:sp>
      <p:cxnSp>
        <p:nvCxnSpPr>
          <p:cNvPr id="26" name="Line 26"/>
          <p:cNvCxnSpPr/>
          <p:nvPr/>
        </p:nvCxnSpPr>
        <p:spPr>
          <a:xfrm>
            <a:off x="4895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2743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2895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29" name="Shape 29"/>
          <p:cNvSpPr/>
          <p:nvPr/>
        </p:nvSpPr>
        <p:spPr>
          <a:xfrm>
            <a:off x="2895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990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</a:t>
            </a:r>
            <a:endParaRPr lang="en-US" sz="1050" dirty="0"/>
          </a:p>
        </p:txBody>
      </p:sp>
      <p:sp>
        <p:nvSpPr>
          <p:cNvPr id="31" name="Text 31"/>
          <p:cNvSpPr txBox="1"/>
          <p:nvPr/>
        </p:nvSpPr>
        <p:spPr>
          <a:xfrm>
            <a:off x="2895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2895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clock · reset 조건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reset DUT일 경우 동기 형태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실행 횟수 기록</a:t>
            </a:r>
            <a:endParaRPr lang="en-US" sz="1250" dirty="0"/>
          </a:p>
        </p:txBody>
      </p:sp>
      <p:sp>
        <p:nvSpPr>
          <p:cNvPr id="33" name="Text 33"/>
          <p:cNvSpPr txBox="1"/>
          <p:nvPr/>
        </p:nvSpPr>
        <p:spPr>
          <a:xfrm>
            <a:off x="2895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2895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2895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기대 state · C4 표</a:t>
            </a:r>
            <a:endParaRPr lang="en-US" sz="1300" dirty="0"/>
          </a:p>
        </p:txBody>
      </p:sp>
      <p:sp>
        <p:nvSpPr>
          <p:cNvPr id="36" name="Shape 36"/>
          <p:cNvSpPr/>
          <p:nvPr/>
        </p:nvSpPr>
        <p:spPr>
          <a:xfrm>
            <a:off x="5029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7"/>
          <p:cNvSpPr/>
          <p:nvPr/>
        </p:nvSpPr>
        <p:spPr>
          <a:xfrm>
            <a:off x="5162550" y="1504950"/>
            <a:ext cx="381000" cy="3810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5162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Text 39"/>
          <p:cNvSpPr txBox="1"/>
          <p:nvPr/>
        </p:nvSpPr>
        <p:spPr>
          <a:xfrm>
            <a:off x="5638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Checker 시점</a:t>
            </a:r>
            <a:endParaRPr lang="en-US" sz="1450" dirty="0"/>
          </a:p>
        </p:txBody>
      </p:sp>
      <p:cxnSp>
        <p:nvCxnSpPr>
          <p:cNvPr id="40" name="Line 40"/>
          <p:cNvCxnSpPr/>
          <p:nvPr/>
        </p:nvCxnSpPr>
        <p:spPr>
          <a:xfrm>
            <a:off x="7181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41" name="Shape 41"/>
          <p:cNvSpPr/>
          <p:nvPr/>
        </p:nvSpPr>
        <p:spPr>
          <a:xfrm>
            <a:off x="5029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5181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5181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5276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negedge · !== 비교</a:t>
            </a:r>
            <a:endParaRPr lang="en-US" sz="1050" dirty="0"/>
          </a:p>
        </p:txBody>
      </p:sp>
      <p:sp>
        <p:nvSpPr>
          <p:cNvPr id="45" name="Text 45"/>
          <p:cNvSpPr txBox="1"/>
          <p:nvPr/>
        </p:nvSpPr>
        <p:spPr>
          <a:xfrm>
            <a:off x="5181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5181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· 출력 안정 구간에서 판정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포트만 관측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· Z까지 비교</a:t>
            </a:r>
            <a:endParaRPr lang="en-US" sz="1250" dirty="0"/>
          </a:p>
        </p:txBody>
      </p:sp>
      <p:sp>
        <p:nvSpPr>
          <p:cNvPr id="47" name="Text 47"/>
          <p:cNvSpPr txBox="1"/>
          <p:nvPr/>
        </p:nvSpPr>
        <p:spPr>
          <a:xfrm>
            <a:off x="5181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5181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5181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</a:t>
            </a:r>
            <a:endParaRPr lang="en-US" sz="1300" dirty="0"/>
          </a:p>
        </p:txBody>
      </p:sp>
      <p:sp>
        <p:nvSpPr>
          <p:cNvPr id="50" name="Shape 50"/>
          <p:cNvSpPr/>
          <p:nvPr/>
        </p:nvSpPr>
        <p:spPr>
          <a:xfrm>
            <a:off x="7315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51"/>
          <p:cNvSpPr/>
          <p:nvPr/>
        </p:nvSpPr>
        <p:spPr>
          <a:xfrm>
            <a:off x="7448550" y="1504950"/>
            <a:ext cx="381000" cy="381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7448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700" dirty="0"/>
          </a:p>
        </p:txBody>
      </p:sp>
      <p:sp>
        <p:nvSpPr>
          <p:cNvPr id="53" name="Text 53"/>
          <p:cNvSpPr txBox="1"/>
          <p:nvPr/>
        </p:nvSpPr>
        <p:spPr>
          <a:xfrm>
            <a:off x="7924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 task</a:t>
            </a:r>
            <a:endParaRPr lang="en-US" sz="1450" dirty="0"/>
          </a:p>
        </p:txBody>
      </p:sp>
      <p:cxnSp>
        <p:nvCxnSpPr>
          <p:cNvPr id="54" name="Line 54"/>
          <p:cNvCxnSpPr/>
          <p:nvPr/>
        </p:nvCxnSpPr>
        <p:spPr>
          <a:xfrm>
            <a:off x="9467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5" name="Shape 55"/>
          <p:cNvSpPr/>
          <p:nvPr/>
        </p:nvSpPr>
        <p:spPr>
          <a:xfrm>
            <a:off x="7315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467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7467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7562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 · async_reset · arc</a:t>
            </a:r>
            <a:endParaRPr lang="en-US" sz="1050" dirty="0"/>
          </a:p>
        </p:txBody>
      </p:sp>
      <p:sp>
        <p:nvSpPr>
          <p:cNvPr id="59" name="Text 59"/>
          <p:cNvSpPr txBox="1"/>
          <p:nvPr/>
        </p:nvSpPr>
        <p:spPr>
          <a:xfrm>
            <a:off x="7467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60" name="Text 60"/>
          <p:cNvSpPr txBox="1"/>
          <p:nvPr/>
        </p:nvSpPr>
        <p:spPr>
          <a:xfrm>
            <a:off x="7467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인가 + 구조 검사 묶음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불변 · async reset 확인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call = 1 clock</a:t>
            </a:r>
            <a:endParaRPr lang="en-US" sz="1250" dirty="0"/>
          </a:p>
        </p:txBody>
      </p:sp>
      <p:sp>
        <p:nvSpPr>
          <p:cNvPr id="61" name="Text 61"/>
          <p:cNvSpPr txBox="1"/>
          <p:nvPr/>
        </p:nvSpPr>
        <p:spPr>
          <a:xfrm>
            <a:off x="7467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62" name="Shape 62"/>
          <p:cNvSpPr/>
          <p:nvPr/>
        </p:nvSpPr>
        <p:spPr>
          <a:xfrm>
            <a:off x="7467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7467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C2 · C3</a:t>
            </a:r>
            <a:endParaRPr lang="en-US" sz="1300" dirty="0"/>
          </a:p>
        </p:txBody>
      </p:sp>
      <p:sp>
        <p:nvSpPr>
          <p:cNvPr id="64" name="Shape 64"/>
          <p:cNvSpPr/>
          <p:nvPr/>
        </p:nvSpPr>
        <p:spPr>
          <a:xfrm>
            <a:off x="9601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5"/>
          <p:cNvSpPr/>
          <p:nvPr/>
        </p:nvSpPr>
        <p:spPr>
          <a:xfrm>
            <a:off x="9734550" y="1504950"/>
            <a:ext cx="381000" cy="381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9734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Text 67"/>
          <p:cNvSpPr txBox="1"/>
          <p:nvPr/>
        </p:nvSpPr>
        <p:spPr>
          <a:xfrm>
            <a:off x="10210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Stimulus · Report</a:t>
            </a:r>
            <a:endParaRPr lang="en-US" sz="1450" dirty="0"/>
          </a:p>
        </p:txBody>
      </p:sp>
      <p:sp>
        <p:nvSpPr>
          <p:cNvPr id="68" name="Shape 68"/>
          <p:cNvSpPr/>
          <p:nvPr/>
        </p:nvSpPr>
        <p:spPr>
          <a:xfrm>
            <a:off x="9601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9753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70" name="Shape 70"/>
          <p:cNvSpPr/>
          <p:nvPr/>
        </p:nvSpPr>
        <p:spPr>
          <a:xfrm>
            <a:off x="9753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9848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arc → random 300 → 표</a:t>
            </a:r>
            <a:endParaRPr lang="en-US" sz="1050" dirty="0"/>
          </a:p>
        </p:txBody>
      </p:sp>
      <p:sp>
        <p:nvSpPr>
          <p:cNvPr id="72" name="Text 72"/>
          <p:cNvSpPr txBox="1"/>
          <p:nvPr/>
        </p:nvSpPr>
        <p:spPr>
          <a:xfrm>
            <a:off x="9753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73" name="Text 73"/>
          <p:cNvSpPr txBox="1"/>
          <p:nvPr/>
        </p:nvSpPr>
        <p:spPr>
          <a:xfrm>
            <a:off x="9753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 전수 arc 먼저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+ 고정 seed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coverage 표 · error 수 · PASS/FAIL</a:t>
            </a:r>
            <a:endParaRPr lang="en-US" sz="1250" dirty="0"/>
          </a:p>
        </p:txBody>
      </p:sp>
      <p:sp>
        <p:nvSpPr>
          <p:cNvPr id="74" name="Text 74"/>
          <p:cNvSpPr txBox="1"/>
          <p:nvPr/>
        </p:nvSpPr>
        <p:spPr>
          <a:xfrm>
            <a:off x="9753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75" name="Shape 75"/>
          <p:cNvSpPr/>
          <p:nvPr/>
        </p:nvSpPr>
        <p:spPr>
          <a:xfrm>
            <a:off x="9753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9753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C4 · PASS / FAIL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새 TB 제안 · 실행 결과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TB Passes with 12 / 12 Arc Coverage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57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i_sw, 실행 횟수)</a:t>
            </a:r>
            <a:endParaRPr lang="en-US" sz="15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62100"/>
          <a:ext cx="6096000" cy="17526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651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543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결과 · 원본 RTL</a:t>
            </a:r>
            <a:endParaRPr lang="en-US" sz="1500" dirty="0"/>
          </a:p>
        </p:txBody>
      </p:sp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8100"/>
          <a:ext cx="6096000" cy="2286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checked cycles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C1 output mismatch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C2 Mealy path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C3 async reset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C4 arc coverage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 / 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781800" y="1295400"/>
            <a:ext cx="4953000" cy="4953000"/>
          </a:xfrm>
          <a:prstGeom prst="roundRect">
            <a:avLst>
              <a:gd name="adj" fmla="val 1477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781800" y="17145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5400" dirty="0"/>
          </a:p>
        </p:txBody>
      </p:sp>
      <p:sp>
        <p:nvSpPr>
          <p:cNvPr id="13" name="Text 9"/>
          <p:cNvSpPr/>
          <p:nvPr/>
        </p:nvSpPr>
        <p:spPr>
          <a:xfrm>
            <a:off x="6781800" y="2438400"/>
            <a:ext cx="495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· error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086600" y="3048000"/>
            <a:ext cx="43815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/ 61</a:t>
            </a:r>
            <a:endParaRPr lang="en-US" sz="9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B16149E-D40C-561C-3EEC-ACE7DE6A9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777"/>
          <a:stretch>
            <a:fillRect/>
          </a:stretch>
        </p:blipFill>
        <p:spPr>
          <a:xfrm>
            <a:off x="7402955" y="2857500"/>
            <a:ext cx="4065145" cy="3047999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· 결론 · 고찰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FSMs Verified by Self-Checking TB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/ 61</a:t>
            </a:r>
            <a:endParaRPr lang="en-US" sz="900" dirty="0"/>
          </a:p>
        </p:txBody>
      </p:sp>
      <p:sp>
        <p:nvSpPr>
          <p:cNvPr id="246" name="Conclusion Card"/>
          <p:cNvSpPr/>
          <p:nvPr/>
        </p:nvSpPr>
        <p:spPr>
          <a:xfrm>
            <a:off x="457200" y="1295400"/>
            <a:ext cx="11277600" cy="14859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7" name="Conclusion Title"/>
          <p:cNvSpPr txBox="1"/>
          <p:nvPr/>
        </p:nvSpPr>
        <p:spPr>
          <a:xfrm>
            <a:off x="685800" y="14478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</a:p>
        </p:txBody>
      </p:sp>
      <p:sp>
        <p:nvSpPr>
          <p:cNvPr id="248" name="Conclusion 1 Badge"/>
          <p:cNvSpPr/>
          <p:nvPr/>
        </p:nvSpPr>
        <p:spPr>
          <a:xfrm>
            <a:off x="685800" y="1905000"/>
            <a:ext cx="285750" cy="285750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9" name="Conclusion 1 No"/>
          <p:cNvSpPr txBox="1"/>
          <p:nvPr/>
        </p:nvSpPr>
        <p:spPr>
          <a:xfrm>
            <a:off x="685800" y="19050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</a:p>
        </p:txBody>
      </p:sp>
      <p:sp>
        <p:nvSpPr>
          <p:cNvPr id="250" name="Conclusion 1 Lead"/>
          <p:cNvSpPr txBox="1"/>
          <p:nvPr/>
        </p:nvSpPr>
        <p:spPr>
          <a:xfrm>
            <a:off x="1104900" y="18859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5-state FSM 보드 동작 확인</a:t>
            </a:r>
          </a:p>
        </p:txBody>
      </p:sp>
      <p:sp>
        <p:nvSpPr>
          <p:cNvPr id="251" name="Conclusion 1 Detail"/>
          <p:cNvSpPr txBox="1"/>
          <p:nvPr/>
        </p:nvSpPr>
        <p:spPr>
          <a:xfrm>
            <a:off x="1104900" y="22669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· FSM_S3 · Switch 입력에 따른 State 천이 → LED 출력</a:t>
            </a:r>
          </a:p>
        </p:txBody>
      </p:sp>
      <p:sp>
        <p:nvSpPr>
          <p:cNvPr id="252" name="Conclusion 2 Badge"/>
          <p:cNvSpPr/>
          <p:nvPr/>
        </p:nvSpPr>
        <p:spPr>
          <a:xfrm>
            <a:off x="6324600" y="1905000"/>
            <a:ext cx="285750" cy="285750"/>
          </a:xfrm>
          <a:prstGeom prst="ellipse">
            <a:avLst/>
          </a:prstGeom>
          <a:solidFill>
            <a:srgbClr val="F59E0B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3" name="Conclusion 2 No"/>
          <p:cNvSpPr txBox="1"/>
          <p:nvPr/>
        </p:nvSpPr>
        <p:spPr>
          <a:xfrm>
            <a:off x="6324600" y="19050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</a:p>
        </p:txBody>
      </p:sp>
      <p:sp>
        <p:nvSpPr>
          <p:cNvPr id="254" name="Conclusion 2 Lead"/>
          <p:cNvSpPr txBox="1"/>
          <p:nvPr/>
        </p:nvSpPr>
        <p:spPr>
          <a:xfrm>
            <a:off x="6743700" y="18859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· STOP · CLEAR 모듈 검증 및 합성</a:t>
            </a:r>
          </a:p>
        </p:txBody>
      </p:sp>
      <p:sp>
        <p:nvSpPr>
          <p:cNvPr id="255" name="Conclusion 2 Detail"/>
          <p:cNvSpPr txBox="1"/>
          <p:nvPr/>
        </p:nvSpPr>
        <p:spPr>
          <a:xfrm>
            <a:off x="6743700" y="22669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· FSM_RUN_STOP · Switch 입력에 따른 3-state Moore FSM</a:t>
            </a:r>
          </a:p>
        </p:txBody>
      </p:sp>
      <p:sp>
        <p:nvSpPr>
          <p:cNvPr id="256" name="Conclusion Divider"/>
          <p:cNvSpPr/>
          <p:nvPr/>
        </p:nvSpPr>
        <p:spPr>
          <a:xfrm>
            <a:off x="6096000" y="1866900"/>
            <a:ext cx="0" cy="762000"/>
          </a:xfrm>
          <a:prstGeom prst="line">
            <a:avLst/>
          </a:prstGeom>
          <a:noFill/>
          <a:ln w="12700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7" name="Reflection Card"/>
          <p:cNvSpPr/>
          <p:nvPr/>
        </p:nvSpPr>
        <p:spPr>
          <a:xfrm>
            <a:off x="457200" y="2971800"/>
            <a:ext cx="11277600" cy="3276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8" name="Reflection Title"/>
          <p:cNvSpPr txBox="1"/>
          <p:nvPr/>
        </p:nvSpPr>
        <p:spPr>
          <a:xfrm>
            <a:off x="685800" y="3124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</a:p>
        </p:txBody>
      </p:sp>
      <p:sp>
        <p:nvSpPr>
          <p:cNvPr id="259" name="Reflection 1 Badge"/>
          <p:cNvSpPr/>
          <p:nvPr/>
        </p:nvSpPr>
        <p:spPr>
          <a:xfrm>
            <a:off x="685800" y="3619500"/>
            <a:ext cx="285750" cy="285750"/>
          </a:xfrm>
          <a:prstGeom prst="ellipse">
            <a:avLst/>
          </a:prstGeom>
          <a:solidFill>
            <a:srgbClr val="2E7D32"/>
          </a:solidFill>
          <a:ln w="9525">
            <a:solidFill>
              <a:srgbClr val="2E7D3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0" name="Reflection 1 No"/>
          <p:cNvSpPr txBox="1"/>
          <p:nvPr/>
        </p:nvSpPr>
        <p:spPr>
          <a:xfrm>
            <a:off x="685800" y="36195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</a:p>
        </p:txBody>
      </p:sp>
      <p:sp>
        <p:nvSpPr>
          <p:cNvPr id="261" name="Reflection 1 Lead"/>
          <p:cNvSpPr txBox="1"/>
          <p:nvPr/>
        </p:nvSpPr>
        <p:spPr>
          <a:xfrm>
            <a:off x="1104900" y="35814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7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model로 기대값 독립성 확보</a:t>
            </a:r>
          </a:p>
        </p:txBody>
      </p:sp>
      <p:sp>
        <p:nvSpPr>
          <p:cNvPr id="262" name="Reflection 1 Body"/>
          <p:cNvSpPr txBox="1"/>
          <p:nvPr/>
        </p:nvSpPr>
        <p:spPr>
          <a:xfrm>
            <a:off x="685800" y="4305300"/>
            <a:ext cx="3276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검증 평가에서 기존 TB의 기대값 부재 확인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분리된 Golden model 설계 방법 터득</a:t>
            </a:r>
          </a:p>
        </p:txBody>
      </p:sp>
      <p:sp>
        <p:nvSpPr>
          <p:cNvPr id="263" name="Reflection Divider 1"/>
          <p:cNvSpPr/>
          <p:nvPr/>
        </p:nvSpPr>
        <p:spPr>
          <a:xfrm>
            <a:off x="4229100" y="3619500"/>
            <a:ext cx="0" cy="2400300"/>
          </a:xfrm>
          <a:prstGeom prst="line">
            <a:avLst/>
          </a:prstGeom>
          <a:noFill/>
          <a:ln w="12700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4" name="Reflection 2 Badge"/>
          <p:cNvSpPr/>
          <p:nvPr/>
        </p:nvSpPr>
        <p:spPr>
          <a:xfrm>
            <a:off x="4419600" y="3619500"/>
            <a:ext cx="285750" cy="2857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5" name="Reflection 2 No"/>
          <p:cNvSpPr txBox="1"/>
          <p:nvPr/>
        </p:nvSpPr>
        <p:spPr>
          <a:xfrm>
            <a:off x="4419600" y="36195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</a:p>
        </p:txBody>
      </p:sp>
      <p:sp>
        <p:nvSpPr>
          <p:cNvPr id="266" name="Reflection 2 Lead"/>
          <p:cNvSpPr txBox="1"/>
          <p:nvPr/>
        </p:nvSpPr>
        <p:spPr>
          <a:xfrm>
            <a:off x="4838700" y="35814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기반 Driver로 입력 커버리지 확보</a:t>
            </a:r>
          </a:p>
        </p:txBody>
      </p:sp>
      <p:sp>
        <p:nvSpPr>
          <p:cNvPr id="267" name="Reflection 2 Body"/>
          <p:cNvSpPr txBox="1"/>
          <p:nvPr/>
        </p:nvSpPr>
        <p:spPr>
          <a:xfrm>
            <a:off x="4419600" y="4305300"/>
            <a:ext cx="3276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커버리지 확보를 위한 Driver 설계 방법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사용법 습득</a:t>
            </a:r>
          </a:p>
        </p:txBody>
      </p:sp>
      <p:sp>
        <p:nvSpPr>
          <p:cNvPr id="268" name="Reflection Divider 2"/>
          <p:cNvSpPr/>
          <p:nvPr/>
        </p:nvSpPr>
        <p:spPr>
          <a:xfrm>
            <a:off x="7962900" y="3619500"/>
            <a:ext cx="0" cy="2400300"/>
          </a:xfrm>
          <a:prstGeom prst="line">
            <a:avLst/>
          </a:prstGeom>
          <a:noFill/>
          <a:ln w="12700">
            <a:solidFill>
              <a:srgbClr val="E2E8F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9" name="Reflection 3 Badge"/>
          <p:cNvSpPr/>
          <p:nvPr/>
        </p:nvSpPr>
        <p:spPr>
          <a:xfrm>
            <a:off x="8153400" y="3619500"/>
            <a:ext cx="285750" cy="285750"/>
          </a:xfrm>
          <a:prstGeom prst="ellipse">
            <a:avLst/>
          </a:prstGeom>
          <a:solidFill>
            <a:srgbClr val="C62828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0" name="Reflection 3 No"/>
          <p:cNvSpPr txBox="1"/>
          <p:nvPr/>
        </p:nvSpPr>
        <p:spPr>
          <a:xfrm>
            <a:off x="8153400" y="36195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</a:p>
        </p:txBody>
      </p:sp>
      <p:sp>
        <p:nvSpPr>
          <p:cNvPr id="271" name="Reflection 3 Lead"/>
          <p:cNvSpPr txBox="1"/>
          <p:nvPr/>
        </p:nvSpPr>
        <p:spPr>
          <a:xfrm>
            <a:off x="8572500" y="35814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ko-KR" altLang="en-US" sz="17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과제 · async reset 판정</a:t>
            </a:r>
          </a:p>
        </p:txBody>
      </p:sp>
      <p:sp>
        <p:nvSpPr>
          <p:cNvPr id="272" name="Reflection 3 Body"/>
          <p:cNvSpPr txBox="1"/>
          <p:nvPr/>
        </p:nvSpPr>
        <p:spPr>
          <a:xfrm>
            <a:off x="8153400" y="4305300"/>
            <a:ext cx="3276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edge와 동시에 인가되는 reset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 reset deassert 구간에 들어오는 clock edge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•"/>
            </a:pPr>
            <a:r>
              <a:rPr lang="ko-KR" alt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경우의 simulation 판정 방식 연구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2060</TotalTime>
  <Words>8112</Words>
  <Application>Microsoft Office PowerPoint</Application>
  <PresentationFormat>와이드스크린</PresentationFormat>
  <Paragraphs>2112</Paragraphs>
  <Slides>61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5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안성 정</cp:lastModifiedBy>
  <cp:revision>11</cp:revision>
  <dcterms:created xsi:type="dcterms:W3CDTF">2026-10-09T15:59:34Z</dcterms:created>
  <dcterms:modified xsi:type="dcterms:W3CDTF">2026-10-12T00:08:28Z</dcterms:modified>
</cp:coreProperties>
</file>