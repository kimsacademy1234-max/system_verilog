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1" r:id="rId15"/>
    <p:sldId id="318" r:id="rId16"/>
    <p:sldId id="309" r:id="rId17"/>
    <p:sldId id="319" r:id="rId59"/>
    <p:sldId id="320" r:id="rId60"/>
    <p:sldId id="321" r:id="rId61"/>
    <p:sldId id="310" r:id="rId18"/>
    <p:sldId id="313" r:id="rId20"/>
    <p:sldId id="311" r:id="rId19"/>
    <p:sldId id="314" r:id="rId22"/>
    <p:sldId id="315" r:id="rId23"/>
    <p:sldId id="322" r:id="rId62"/>
    <p:sldId id="312" r:id="rId21"/>
    <p:sldId id="274" r:id="rId24"/>
    <p:sldId id="275" r:id="rId25"/>
    <p:sldId id="316" r:id="rId26"/>
    <p:sldId id="317" r:id="rId27"/>
    <p:sldId id="278" r:id="rId28"/>
    <p:sldId id="277" r:id="rId29"/>
    <p:sldId id="279" r:id="rId30"/>
    <p:sldId id="280" r:id="rId31"/>
    <p:sldId id="281" r:id="rId32"/>
    <p:sldId id="282" r:id="rId33"/>
    <p:sldId id="283" r:id="rId34"/>
    <p:sldId id="285" r:id="rId35"/>
    <p:sldId id="287" r:id="rId36"/>
    <p:sldId id="289" r:id="rId37"/>
    <p:sldId id="291" r:id="rId38"/>
    <p:sldId id="293" r:id="rId39"/>
    <p:sldId id="294" r:id="rId40"/>
    <p:sldId id="295" r:id="rId41"/>
    <p:sldId id="308" r:id="rId42"/>
    <p:sldId id="307" r:id="rId43"/>
    <p:sldId id="306" r:id="rId44"/>
    <p:sldId id="305" r:id="rId45"/>
    <p:sldId id="304" r:id="rId46"/>
    <p:sldId id="303" r:id="rId47"/>
    <p:sldId id="302" r:id="rId48"/>
    <p:sldId id="301" r:id="rId49"/>
    <p:sldId id="300" r:id="rId50"/>
    <p:sldId id="299" r:id="rId51"/>
    <p:sldId id="297" r:id="rId52"/>
    <p:sldId id="298" r:id="rId5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9843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2" autoAdjust="0"/>
    <p:restoredTop sz="94610"/>
  </p:normalViewPr>
  <p:slideViewPr>
    <p:cSldViewPr snapToGrid="0" snapToObjects="1">
      <p:cViewPr varScale="1">
        <p:scale>
          <a:sx n="110" d="100"/>
          <a:sy n="110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ableStyles" Target="tableStyle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  <Relationship Id="rId59" Type="http://schemas.openxmlformats.org/officeDocument/2006/relationships/slide" Target="slides/slide53.xml"/>
  <Relationship Id="rId60" Type="http://schemas.openxmlformats.org/officeDocument/2006/relationships/slide" Target="slides/slide54.xml"/>
  <Relationship Id="rId61" Type="http://schemas.openxmlformats.org/officeDocument/2006/relationships/slide" Target="slides/slide55.xml"/>
  <Relationship Id="rId62" Type="http://schemas.openxmlformats.org/officeDocument/2006/relationships/slide" Target="slides/slide56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05478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AED19-0B88-F952-76CD-9B1403A18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F79128-142C-DC2F-4F64-CBFD3CA895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7793E1-5242-47D7-C495-EF6CF2E934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2B291-CFDD-6D81-227D-50AE07F4EDA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75565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8397-6266-D7F6-DA47-080F14F6D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D93E66-2DA5-07A2-DF7E-84B4F2F7D9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D91CDD-65C6-62FE-7E52-3E5D5D6DA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37DEBF-84BF-1B2A-23C9-A4A5C40A97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8954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E382B2-AE52-6D41-EC9E-B0FD5D514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9127BC-72CF-1135-0764-B932ACB7F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36CAB8-83D3-30EC-C086-0D62FC2817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A1CA7-70AF-1D0F-B716-915C60F3DE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3061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6D3D8-7A2B-D19B-415A-F8787B1A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8CAB10-3E65-4880-196F-A999E55E8A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F51B3E-B27E-8116-70DE-9F311B0CB0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1FE628-7DA0-CE35-329B-58FB057AA4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0272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31EB5-CFAB-6E10-09B6-24A06A05CF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A016EC-9477-F359-C8A5-9A5C34850C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DD8F26-5CE6-9DE2-3E25-8276C1B1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45DBCA-4570-49A1-1B48-5B3EAFDC92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61035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7970A-3D1B-8F74-6440-CAD61167F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09D5A0-89BB-7136-2156-39A7732626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5C5C3-721A-0839-3AFD-9096153C95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CE5B8B-0DD6-2AD9-89CC-931AFE864E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12562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11340C-8125-AD4A-7742-B1E7AB53E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316B75-614E-F2EB-D56C-3FF2A7C8FA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C19CEE-8895-EC3C-A911-0BC45D2B6B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9D6FD8-913E-E8E1-2817-50AE59349E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22786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61AE36-A13D-4483-2571-30E36B56D5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B0D2F7-ADE0-1524-49F7-3CDF2BD313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0B587AF-026A-67D6-B6A7-9F6A9F8F9A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07EB54-05DE-505C-DDBD-E5E2073124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6100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3425" y="1047750"/>
            <a:ext cx="762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VERILOG · HOMEWORK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33425" y="1428750"/>
            <a:ext cx="104775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 기반 Control 설계</a:t>
            </a:r>
            <a:endParaRPr lang="en-US" sz="34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D-FF 구조부터 STOP · RUN · CLEAR FSM까지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3425" y="302895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D-FF · Setup / Hold · Glitch · Moore vs Mealy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 (S0 ~ S4) · HW_4_2 (FSM_RUN_STOP)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3425" y="3810000"/>
            <a:ext cx="609600" cy="4762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/>
          <p:nvPr/>
        </p:nvSpPr>
        <p:spPr>
          <a:xfrm>
            <a:off x="733425" y="58293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 ·  2026. 10. 08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 FSMs Built, New TB Catches All 7 Faults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428750"/>
            <a:ext cx="2762250" cy="447675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428750"/>
            <a:ext cx="2762250" cy="5715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47700" y="1676400"/>
            <a:ext cx="2381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개념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7700" y="2152650"/>
            <a:ext cx="24384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D-FF = Gated D-Latch 2개 (Master-Slave)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· Hold = Master Latch 내부 delay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Glitch = 경로 delay 차이, FF는 필요한 곳만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 vs Mealy 선택 기준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295650" y="1428750"/>
            <a:ext cx="2762250" cy="447675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3295650" y="1428750"/>
            <a:ext cx="2762250" cy="5715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486150" y="1676400"/>
            <a:ext cx="2381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486150" y="2152650"/>
            <a:ext cx="24384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 ~ S4 5-state Moore FSM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default 누락 → N_State Latch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default 추가 → Latch 제거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134100" y="1428750"/>
            <a:ext cx="2762250" cy="447675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6134100" y="1428750"/>
            <a:ext cx="2762250" cy="5715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324600" y="1676400"/>
            <a:ext cx="2381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HW_4_2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6324600" y="2152650"/>
            <a:ext cx="24384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 · RUN · CLEAR 3-state Moore FSM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3종 시뮬레이션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Basys3 보드 확인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972550" y="1428750"/>
            <a:ext cx="2762250" cy="447675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8972550" y="1428750"/>
            <a:ext cx="2762250" cy="5715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9163050" y="1676400"/>
            <a:ext cx="2381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9163050" y="2152650"/>
            <a:ext cx="24384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TB: arc 9 / 12, 자동 판정 없음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결함 3종은 원본과 파형 동일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TB: 결함 7 / 7 검출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56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D-FF 구조 · SR Latch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SR Latch Oscillates When S and R Release Together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53340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14478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 SR Latch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381250" y="2095500"/>
            <a:ext cx="1047750" cy="66675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2381250" y="2095500"/>
            <a:ext cx="9715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429000" y="2381250"/>
            <a:ext cx="95250" cy="952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2381250" y="4095750"/>
            <a:ext cx="1047750" cy="66675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2381250" y="4095750"/>
            <a:ext cx="9715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NOR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29000" y="4381500"/>
            <a:ext cx="95250" cy="952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857250" y="2143125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1143000" y="2257425"/>
            <a:ext cx="12382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57250" y="449580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1143000" y="4610100"/>
            <a:ext cx="12382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3524250" y="2428875"/>
            <a:ext cx="15240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143500" y="2314575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3524250" y="4429125"/>
            <a:ext cx="15240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5143500" y="4314825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Q̄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286250" y="2428875"/>
            <a:ext cx="0" cy="714375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 flipH="1">
            <a:off x="1905000" y="3143250"/>
            <a:ext cx="2381250" cy="57150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1905000" y="3714750"/>
            <a:ext cx="0" cy="55245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1905000" y="4267200"/>
            <a:ext cx="476250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 flipV="1">
            <a:off x="4286250" y="3810000"/>
            <a:ext cx="0" cy="619125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 flipH="1" flipV="1">
            <a:off x="1905000" y="3238500"/>
            <a:ext cx="2381250" cy="57150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 flipV="1">
            <a:off x="1905000" y="2590800"/>
            <a:ext cx="0" cy="64770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1905000" y="2590800"/>
            <a:ext cx="476250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685800" y="5524500"/>
            <a:ext cx="495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 · Q̄가 서로의 입력으로 되돌아감 → 값 유지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81700" y="1295400"/>
            <a:ext cx="3810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Truth Table</a:t>
            </a:r>
            <a:endParaRPr lang="en-US" sz="15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1700" y="1600200"/>
          <a:ext cx="5753100" cy="1809750"/>
        </p:xfrm>
        <a:graphic>
          <a:graphicData uri="http://schemas.openxmlformats.org/drawingml/2006/table">
            <a:tbl>
              <a:tblPr/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05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19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RESET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9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금지 (Q = Q̄)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Shape 31"/>
          <p:cNvSpPr/>
          <p:nvPr/>
        </p:nvSpPr>
        <p:spPr>
          <a:xfrm>
            <a:off x="5981700" y="3619500"/>
            <a:ext cx="5753100" cy="2628900"/>
          </a:xfrm>
          <a:prstGeom prst="roundRect">
            <a:avLst>
              <a:gd name="adj" fmla="val 2783"/>
            </a:avLst>
          </a:prstGeom>
          <a:solidFill>
            <a:srgbClr val="FDECEC"/>
          </a:solidFill>
          <a:ln w="9525">
            <a:solidFill>
              <a:srgbClr val="F5C6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2"/>
          <p:cNvSpPr/>
          <p:nvPr/>
        </p:nvSpPr>
        <p:spPr>
          <a:xfrm>
            <a:off x="6210300" y="3771900"/>
            <a:ext cx="5334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 S = 11 → 00 동시 변경 시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6210300" y="419100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· 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210300" y="476250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210300" y="5334000"/>
            <a:ext cx="857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Q̄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7239000" y="4191000"/>
            <a:ext cx="100012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8239125" y="4191000"/>
            <a:ext cx="0" cy="22860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8"/>
          <p:cNvSpPr/>
          <p:nvPr/>
        </p:nvSpPr>
        <p:spPr>
          <a:xfrm>
            <a:off x="8239125" y="4419600"/>
            <a:ext cx="326707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9"/>
          <p:cNvSpPr/>
          <p:nvPr/>
        </p:nvSpPr>
        <p:spPr>
          <a:xfrm>
            <a:off x="7239000" y="4991100"/>
            <a:ext cx="120015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0"/>
          <p:cNvSpPr/>
          <p:nvPr/>
        </p:nvSpPr>
        <p:spPr>
          <a:xfrm>
            <a:off x="8439150" y="47625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1"/>
          <p:cNvSpPr/>
          <p:nvPr/>
        </p:nvSpPr>
        <p:spPr>
          <a:xfrm>
            <a:off x="8439150" y="47625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2"/>
          <p:cNvSpPr/>
          <p:nvPr/>
        </p:nvSpPr>
        <p:spPr>
          <a:xfrm>
            <a:off x="8972550" y="47625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8972550" y="49911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9505950" y="47625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9505950" y="47625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6"/>
          <p:cNvSpPr/>
          <p:nvPr/>
        </p:nvSpPr>
        <p:spPr>
          <a:xfrm>
            <a:off x="10039350" y="47625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7"/>
          <p:cNvSpPr/>
          <p:nvPr/>
        </p:nvSpPr>
        <p:spPr>
          <a:xfrm>
            <a:off x="10039350" y="49911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8"/>
          <p:cNvSpPr/>
          <p:nvPr/>
        </p:nvSpPr>
        <p:spPr>
          <a:xfrm>
            <a:off x="10572750" y="47625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9"/>
          <p:cNvSpPr/>
          <p:nvPr/>
        </p:nvSpPr>
        <p:spPr>
          <a:xfrm>
            <a:off x="10572750" y="47625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0"/>
          <p:cNvSpPr/>
          <p:nvPr/>
        </p:nvSpPr>
        <p:spPr>
          <a:xfrm>
            <a:off x="11106150" y="47625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1"/>
          <p:cNvSpPr/>
          <p:nvPr/>
        </p:nvSpPr>
        <p:spPr>
          <a:xfrm>
            <a:off x="11106150" y="4991100"/>
            <a:ext cx="40005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2"/>
          <p:cNvSpPr/>
          <p:nvPr/>
        </p:nvSpPr>
        <p:spPr>
          <a:xfrm>
            <a:off x="7239000" y="5562600"/>
            <a:ext cx="120015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3"/>
          <p:cNvSpPr/>
          <p:nvPr/>
        </p:nvSpPr>
        <p:spPr>
          <a:xfrm>
            <a:off x="8439150" y="53340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4"/>
          <p:cNvSpPr/>
          <p:nvPr/>
        </p:nvSpPr>
        <p:spPr>
          <a:xfrm>
            <a:off x="8439150" y="53340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5"/>
          <p:cNvSpPr/>
          <p:nvPr/>
        </p:nvSpPr>
        <p:spPr>
          <a:xfrm>
            <a:off x="8972550" y="53340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6"/>
          <p:cNvSpPr/>
          <p:nvPr/>
        </p:nvSpPr>
        <p:spPr>
          <a:xfrm>
            <a:off x="8972550" y="55626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7"/>
          <p:cNvSpPr/>
          <p:nvPr/>
        </p:nvSpPr>
        <p:spPr>
          <a:xfrm>
            <a:off x="9505950" y="53340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8"/>
          <p:cNvSpPr/>
          <p:nvPr/>
        </p:nvSpPr>
        <p:spPr>
          <a:xfrm>
            <a:off x="9505950" y="53340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59"/>
          <p:cNvSpPr/>
          <p:nvPr/>
        </p:nvSpPr>
        <p:spPr>
          <a:xfrm>
            <a:off x="10039350" y="53340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0"/>
          <p:cNvSpPr/>
          <p:nvPr/>
        </p:nvSpPr>
        <p:spPr>
          <a:xfrm>
            <a:off x="10039350" y="55626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1"/>
          <p:cNvSpPr/>
          <p:nvPr/>
        </p:nvSpPr>
        <p:spPr>
          <a:xfrm>
            <a:off x="10572750" y="53340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2"/>
          <p:cNvSpPr/>
          <p:nvPr/>
        </p:nvSpPr>
        <p:spPr>
          <a:xfrm>
            <a:off x="10572750" y="5334000"/>
            <a:ext cx="5334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3"/>
          <p:cNvSpPr/>
          <p:nvPr/>
        </p:nvSpPr>
        <p:spPr>
          <a:xfrm>
            <a:off x="11106150" y="5334000"/>
            <a:ext cx="0" cy="2286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4"/>
          <p:cNvSpPr/>
          <p:nvPr/>
        </p:nvSpPr>
        <p:spPr>
          <a:xfrm>
            <a:off x="11106150" y="5562600"/>
            <a:ext cx="40005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5"/>
          <p:cNvSpPr/>
          <p:nvPr/>
        </p:nvSpPr>
        <p:spPr>
          <a:xfrm>
            <a:off x="6210300" y="5772150"/>
            <a:ext cx="533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NOR 동시 0 → 동시 1 → 동시 0 반복 = 발진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56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D-FF 구조 · D Latch → Gated D Latch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Enable Gate Restores Memory to the D Latch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5562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1447800"/>
            <a:ext cx="3810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#3 D Latch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1771650"/>
            <a:ext cx="4953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 = D, R = D̄ → R S = 11 입력 불가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81250" y="2381250"/>
            <a:ext cx="1524000" cy="1428750"/>
          </a:xfrm>
          <a:prstGeom prst="rect">
            <a:avLst/>
          </a:prstGeom>
          <a:solidFill>
            <a:srgbClr val="F1F5F9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381250" y="2381250"/>
            <a:ext cx="15240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SR Latch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62000" y="253365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47750" y="2647950"/>
            <a:ext cx="1333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2152650" y="241935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333500" y="2647950"/>
            <a:ext cx="0" cy="8953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1333500" y="3543300"/>
            <a:ext cx="285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 rot="5400000">
            <a:off x="1619250" y="3409950"/>
            <a:ext cx="323850" cy="266700"/>
          </a:xfrm>
          <a:prstGeom prst="triangl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1943100" y="3495675"/>
            <a:ext cx="95250" cy="952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2038350" y="3543300"/>
            <a:ext cx="3429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2152650" y="3314700"/>
            <a:ext cx="228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905250" y="2857500"/>
            <a:ext cx="7620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4743450" y="27432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5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191000"/>
          <a:ext cx="5105400" cy="971550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1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 R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685800" y="5334000"/>
            <a:ext cx="5105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입력 (00) 없음 → Q = D 항상 따라감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메모리 기능 상실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172200" y="1295400"/>
            <a:ext cx="5562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/>
          <p:nvPr/>
        </p:nvSpPr>
        <p:spPr>
          <a:xfrm>
            <a:off x="6400800" y="1447800"/>
            <a:ext cx="3810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#4 Gated D Latch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400800" y="1771650"/>
            <a:ext cx="5143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 · R 앞에 AND + EN 추가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7620000" y="2286000"/>
            <a:ext cx="857250" cy="53340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/>
          <p:nvPr/>
        </p:nvSpPr>
        <p:spPr>
          <a:xfrm>
            <a:off x="7620000" y="2286000"/>
            <a:ext cx="7810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7620000" y="3276600"/>
            <a:ext cx="857250" cy="533400"/>
          </a:xfrm>
          <a:prstGeom prst="flowChartDelay">
            <a:avLst/>
          </a:prstGeom>
          <a:solidFill>
            <a:srgbClr val="FFFFFF"/>
          </a:solidFill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7620000" y="3276600"/>
            <a:ext cx="7810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9048750" y="2286000"/>
            <a:ext cx="1333500" cy="1524000"/>
          </a:xfrm>
          <a:prstGeom prst="rect">
            <a:avLst/>
          </a:prstGeom>
          <a:solidFill>
            <a:srgbClr val="F1F5F9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/>
          <p:nvPr/>
        </p:nvSpPr>
        <p:spPr>
          <a:xfrm>
            <a:off x="9048750" y="2286000"/>
            <a:ext cx="1333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SR Latch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477000" y="23241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743700" y="2438400"/>
            <a:ext cx="8763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/>
          <p:nvPr/>
        </p:nvSpPr>
        <p:spPr>
          <a:xfrm>
            <a:off x="6477000" y="2857500"/>
            <a:ext cx="47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6858000" y="2971800"/>
            <a:ext cx="476250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5"/>
          <p:cNvSpPr/>
          <p:nvPr/>
        </p:nvSpPr>
        <p:spPr>
          <a:xfrm flipV="1">
            <a:off x="7334250" y="2667000"/>
            <a:ext cx="0" cy="30480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6"/>
          <p:cNvSpPr/>
          <p:nvPr/>
        </p:nvSpPr>
        <p:spPr>
          <a:xfrm>
            <a:off x="7334250" y="2667000"/>
            <a:ext cx="285750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7334250" y="2971800"/>
            <a:ext cx="0" cy="45720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8"/>
          <p:cNvSpPr/>
          <p:nvPr/>
        </p:nvSpPr>
        <p:spPr>
          <a:xfrm>
            <a:off x="7334250" y="3429000"/>
            <a:ext cx="285750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9"/>
          <p:cNvSpPr/>
          <p:nvPr/>
        </p:nvSpPr>
        <p:spPr>
          <a:xfrm>
            <a:off x="7048500" y="2438400"/>
            <a:ext cx="0" cy="123825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0"/>
          <p:cNvSpPr/>
          <p:nvPr/>
        </p:nvSpPr>
        <p:spPr>
          <a:xfrm>
            <a:off x="7048500" y="3676650"/>
            <a:ext cx="571500" cy="0"/>
          </a:xfrm>
          <a:prstGeom prst="line">
            <a:avLst/>
          </a:prstGeom>
          <a:noFill/>
          <a:ln w="1587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/>
          <p:nvPr/>
        </p:nvSpPr>
        <p:spPr>
          <a:xfrm>
            <a:off x="7086600" y="3695700"/>
            <a:ext cx="476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D̄</a:t>
            </a:r>
            <a:endParaRPr lang="en-US" sz="1100" dirty="0"/>
          </a:p>
        </p:txBody>
      </p:sp>
      <p:sp>
        <p:nvSpPr>
          <p:cNvPr id="45" name="Shape 42"/>
          <p:cNvSpPr/>
          <p:nvPr/>
        </p:nvSpPr>
        <p:spPr>
          <a:xfrm>
            <a:off x="8477250" y="2552700"/>
            <a:ext cx="571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8477250" y="3543300"/>
            <a:ext cx="571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10382250" y="2857500"/>
            <a:ext cx="571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5"/>
          <p:cNvSpPr/>
          <p:nvPr/>
        </p:nvSpPr>
        <p:spPr>
          <a:xfrm>
            <a:off x="11010900" y="27432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500" dirty="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4191000"/>
          <a:ext cx="5105400" cy="971550"/>
        </p:xfrm>
        <a:graphic>
          <a:graphicData uri="http://schemas.openxmlformats.org/drawingml/2006/table">
            <a:tbl>
              <a:tblPr/>
              <a:tblGrid>
                <a:gridCol w="1428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716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EN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x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38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/ 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= D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6400800" y="5334000"/>
            <a:ext cx="5105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 = 0 → S = R = 0 → HOLD 복구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 = 1 동안 D 변화 전부 통과 (level 동작)</a:t>
            </a:r>
            <a:endParaRPr lang="en-US" sz="1400" dirty="0"/>
          </a:p>
        </p:txBody>
      </p:sp>
      <p:sp>
        <p:nvSpPr>
          <p:cNvPr id="51" name="Text 47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56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D-FF 구조 · Master-Slave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Two Gated Latches Capture D at the Rising Edge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11277600" cy="2381250"/>
          </a:xfrm>
          <a:prstGeom prst="roundRect">
            <a:avLst>
              <a:gd name="adj" fmla="val 307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143000" y="19050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428750" y="2019300"/>
            <a:ext cx="11430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571750" y="1524000"/>
            <a:ext cx="2286000" cy="1047750"/>
          </a:xfrm>
          <a:prstGeom prst="rect">
            <a:avLst/>
          </a:prstGeom>
          <a:solidFill>
            <a:srgbClr val="F1F5F9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571750" y="1638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571750" y="190500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Gated D Latch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71750" y="21526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= clk̄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57750" y="2019300"/>
            <a:ext cx="1428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29250" y="1771650"/>
            <a:ext cx="381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Q'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86500" y="1524000"/>
            <a:ext cx="2286000" cy="1047750"/>
          </a:xfrm>
          <a:prstGeom prst="rect">
            <a:avLst/>
          </a:prstGeom>
          <a:solidFill>
            <a:srgbClr val="F1F5F9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286500" y="1638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Slave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86500" y="190500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Gated D Latch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86500" y="21526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= clk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72500" y="2019300"/>
            <a:ext cx="952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9620250" y="19050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43000" y="3143250"/>
            <a:ext cx="47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524000" y="3257550"/>
            <a:ext cx="5905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7429500" y="2571750"/>
            <a:ext cx="0" cy="68580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3048000" y="3257550"/>
            <a:ext cx="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 flipV="1">
            <a:off x="2286000" y="2952750"/>
            <a:ext cx="0" cy="30480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2152650" y="2667000"/>
            <a:ext cx="266700" cy="247650"/>
          </a:xfrm>
          <a:prstGeom prst="triangl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2238375" y="2581275"/>
            <a:ext cx="95250" cy="952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 flipV="1">
            <a:off x="2286000" y="2476500"/>
            <a:ext cx="0" cy="1047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286000" y="2476500"/>
            <a:ext cx="285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2476500" y="27813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inverter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3810000"/>
            <a:ext cx="11277600" cy="2438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85800" y="4000500"/>
            <a:ext cx="1714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5800" y="4572000"/>
            <a:ext cx="1714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5800" y="5143500"/>
            <a:ext cx="1714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Q' (Master)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85800" y="5715000"/>
            <a:ext cx="1714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 (Slave)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476500" y="4248150"/>
            <a:ext cx="2095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4572000" y="4000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4572000" y="4000500"/>
            <a:ext cx="1047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5619750" y="4000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5619750" y="4248150"/>
            <a:ext cx="1047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6667500" y="4000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6667500" y="4000500"/>
            <a:ext cx="1047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7715250" y="4000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7715250" y="4248150"/>
            <a:ext cx="1047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8763000" y="4000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8763000" y="4000500"/>
            <a:ext cx="1047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9810750" y="4000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9810750" y="4248150"/>
            <a:ext cx="14668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2476500" y="4819650"/>
            <a:ext cx="1047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3524250" y="45720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3524250" y="4572000"/>
            <a:ext cx="157162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5095875" y="45720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5095875" y="4819650"/>
            <a:ext cx="1047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6143625" y="45720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6143625" y="4572000"/>
            <a:ext cx="115252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7296150" y="45720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6"/>
          <p:cNvSpPr/>
          <p:nvPr/>
        </p:nvSpPr>
        <p:spPr>
          <a:xfrm>
            <a:off x="7296150" y="4819650"/>
            <a:ext cx="39814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2476500" y="5391150"/>
            <a:ext cx="1152525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3629025" y="5143500"/>
            <a:ext cx="0" cy="24765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9"/>
          <p:cNvSpPr/>
          <p:nvPr/>
        </p:nvSpPr>
        <p:spPr>
          <a:xfrm>
            <a:off x="3629025" y="5143500"/>
            <a:ext cx="1990725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5619750" y="5143500"/>
            <a:ext cx="0" cy="24765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5619750" y="5391150"/>
            <a:ext cx="586740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6206490" y="5143500"/>
            <a:ext cx="0" cy="24765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6206490" y="5143500"/>
            <a:ext cx="1508760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7715250" y="5143500"/>
            <a:ext cx="0" cy="24765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7715250" y="5391150"/>
            <a:ext cx="3562350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2476500" y="5962650"/>
            <a:ext cx="2158365" cy="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4634865" y="5715000"/>
            <a:ext cx="0" cy="24765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4634865" y="5715000"/>
            <a:ext cx="4191000" cy="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8825865" y="5715000"/>
            <a:ext cx="0" cy="24765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8825865" y="5962650"/>
            <a:ext cx="2451735" cy="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Shape 71"/>
          <p:cNvSpPr/>
          <p:nvPr/>
        </p:nvSpPr>
        <p:spPr>
          <a:xfrm>
            <a:off x="4572000" y="3905250"/>
            <a:ext cx="0" cy="2152650"/>
          </a:xfrm>
          <a:prstGeom prst="line">
            <a:avLst/>
          </a:prstGeom>
          <a:noFill/>
          <a:ln w="15875">
            <a:solidFill>
              <a:srgbClr val="C6282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6667500" y="3905250"/>
            <a:ext cx="0" cy="2152650"/>
          </a:xfrm>
          <a:prstGeom prst="line">
            <a:avLst/>
          </a:prstGeom>
          <a:noFill/>
          <a:ln w="15875">
            <a:solidFill>
              <a:srgbClr val="C6282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8763000" y="3905250"/>
            <a:ext cx="0" cy="2152650"/>
          </a:xfrm>
          <a:prstGeom prst="line">
            <a:avLst/>
          </a:prstGeom>
          <a:noFill/>
          <a:ln w="15875">
            <a:solidFill>
              <a:srgbClr val="C6282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Shape 74"/>
          <p:cNvSpPr/>
          <p:nvPr/>
        </p:nvSpPr>
        <p:spPr>
          <a:xfrm>
            <a:off x="4572000" y="5105400"/>
            <a:ext cx="1047750" cy="323850"/>
          </a:xfrm>
          <a:prstGeom prst="rect">
            <a:avLst/>
          </a:prstGeom>
          <a:solidFill>
            <a:srgbClr val="FDECEC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5"/>
          <p:cNvSpPr/>
          <p:nvPr/>
        </p:nvSpPr>
        <p:spPr>
          <a:xfrm>
            <a:off x="4610100" y="4876800"/>
            <a:ext cx="2095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= 1 → Master HOLD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2514600" y="4876800"/>
            <a:ext cx="2000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= 0 → Master 투명</a:t>
            </a:r>
            <a:endParaRPr lang="en-US" sz="1100" dirty="0"/>
          </a:p>
        </p:txBody>
      </p:sp>
      <p:sp>
        <p:nvSpPr>
          <p:cNvPr id="79" name="Text 77"/>
          <p:cNvSpPr/>
          <p:nvPr/>
        </p:nvSpPr>
        <p:spPr>
          <a:xfrm>
            <a:off x="4676775" y="600075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상승 엣지 순간의 D만 Q로 전달</a:t>
            </a:r>
            <a:endParaRPr lang="en-US" sz="1200" dirty="0"/>
          </a:p>
        </p:txBody>
      </p:sp>
      <p:sp>
        <p:nvSpPr>
          <p:cNvPr id="80" name="Text 78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56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· Setup · Hold · 정의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 Must Stay Still Around the Clock Edge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11277600" cy="3143250"/>
          </a:xfrm>
          <a:prstGeom prst="roundRect">
            <a:avLst>
              <a:gd name="adj" fmla="val 232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1809750"/>
            <a:ext cx="1428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762250"/>
            <a:ext cx="14287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476500" y="2095500"/>
            <a:ext cx="38100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6286500" y="1809750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6286500" y="1809750"/>
            <a:ext cx="30480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9334500" y="1809750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334500" y="2095500"/>
            <a:ext cx="19812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5067300" y="1619250"/>
            <a:ext cx="2133600" cy="1619250"/>
          </a:xfrm>
          <a:prstGeom prst="rect">
            <a:avLst/>
          </a:prstGeom>
          <a:solidFill>
            <a:srgbClr val="E0E7FF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2476500" y="3048000"/>
            <a:ext cx="13716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3848100" y="2762250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3848100" y="2762250"/>
            <a:ext cx="74676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6286500" y="1524000"/>
            <a:ext cx="0" cy="1905000"/>
          </a:xfrm>
          <a:prstGeom prst="line">
            <a:avLst/>
          </a:prstGeom>
          <a:noFill/>
          <a:ln w="22225">
            <a:solidFill>
              <a:srgbClr val="C6282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 flipH="1">
            <a:off x="5067300" y="3524250"/>
            <a:ext cx="1219200" cy="0"/>
          </a:xfrm>
          <a:prstGeom prst="line">
            <a:avLst/>
          </a:prstGeom>
          <a:noFill/>
          <a:ln w="22225">
            <a:solidFill>
              <a:srgbClr val="4F46E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067300" y="3581400"/>
            <a:ext cx="12192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t_setup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86500" y="3524250"/>
            <a:ext cx="914400" cy="0"/>
          </a:xfrm>
          <a:prstGeom prst="line">
            <a:avLst/>
          </a:prstGeom>
          <a:noFill/>
          <a:ln w="22225">
            <a:solidFill>
              <a:srgbClr val="9333E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6286500" y="3581400"/>
            <a:ext cx="9144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t_hold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67300" y="3924300"/>
            <a:ext cx="21336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46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 변경 금지 구간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591050"/>
            <a:ext cx="3657600" cy="1657350"/>
          </a:xfrm>
          <a:prstGeom prst="roundRect">
            <a:avLst>
              <a:gd name="adj" fmla="val 44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47700" y="476250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4F46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Time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47700" y="5143500"/>
            <a:ext cx="3276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상승 엣지 이전 D 유지 시간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267200" y="4591050"/>
            <a:ext cx="3657600" cy="1657350"/>
          </a:xfrm>
          <a:prstGeom prst="roundRect">
            <a:avLst>
              <a:gd name="adj" fmla="val 44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4457700" y="476250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Time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4457700" y="5143500"/>
            <a:ext cx="3276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상승 엣지 이후 D 유지 시간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8077200" y="4591050"/>
            <a:ext cx="3657600" cy="1657350"/>
          </a:xfrm>
          <a:prstGeom prst="roundRect">
            <a:avLst>
              <a:gd name="adj" fmla="val 441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8267700" y="476250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위반 시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8267700" y="5143500"/>
            <a:ext cx="32766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Latch 출력 0 / 1 미결정 = Metastability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56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· Setup · Hold · Setup 원인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Time Lets the Master Settle Before It Closes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11277600" cy="2381250"/>
          </a:xfrm>
          <a:prstGeom prst="roundRect">
            <a:avLst>
              <a:gd name="adj" fmla="val 307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143000" y="19050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428750" y="2019300"/>
            <a:ext cx="1143000" cy="0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571750" y="1524000"/>
            <a:ext cx="2286000" cy="1047750"/>
          </a:xfrm>
          <a:prstGeom prst="rect">
            <a:avLst/>
          </a:prstGeom>
          <a:solidFill>
            <a:srgbClr val="E3F0FD"/>
          </a:solidFill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571750" y="1638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571750" y="190500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Gated D Latch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71750" y="21526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= clk̄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57750" y="2019300"/>
            <a:ext cx="1428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29250" y="1771650"/>
            <a:ext cx="381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Q'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86500" y="1524000"/>
            <a:ext cx="2286000" cy="1047750"/>
          </a:xfrm>
          <a:prstGeom prst="rect">
            <a:avLst/>
          </a:prstGeom>
          <a:solidFill>
            <a:srgbClr val="F1F5F9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286500" y="1638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Slave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86500" y="190500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Gated D Latch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86500" y="21526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= clk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72500" y="2019300"/>
            <a:ext cx="952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9620250" y="19050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43000" y="3143250"/>
            <a:ext cx="47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524000" y="3257550"/>
            <a:ext cx="5905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7429500" y="2571750"/>
            <a:ext cx="0" cy="68580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3048000" y="3257550"/>
            <a:ext cx="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 flipV="1">
            <a:off x="2286000" y="2952750"/>
            <a:ext cx="0" cy="30480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2152650" y="2667000"/>
            <a:ext cx="266700" cy="247650"/>
          </a:xfrm>
          <a:prstGeom prst="triangl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2238375" y="2581275"/>
            <a:ext cx="95250" cy="952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 flipV="1">
            <a:off x="2286000" y="2476500"/>
            <a:ext cx="0" cy="104775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286000" y="2476500"/>
            <a:ext cx="285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2476500" y="27813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inverter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3810000"/>
            <a:ext cx="7239000" cy="2438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85800" y="4000500"/>
            <a:ext cx="114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5800" y="4572000"/>
            <a:ext cx="114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5800" y="5143500"/>
            <a:ext cx="114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Q'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095500" y="4248150"/>
            <a:ext cx="41910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6286500" y="4000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6286500" y="4000500"/>
            <a:ext cx="12573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2095500" y="4819650"/>
            <a:ext cx="16764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3771900" y="45720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3771900" y="4572000"/>
            <a:ext cx="37719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2095500" y="5391150"/>
            <a:ext cx="3248025" cy="0"/>
          </a:xfrm>
          <a:prstGeom prst="line">
            <a:avLst/>
          </a:prstGeom>
          <a:noFill/>
          <a:ln w="285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5343525" y="5143500"/>
            <a:ext cx="0" cy="247650"/>
          </a:xfrm>
          <a:prstGeom prst="line">
            <a:avLst/>
          </a:prstGeom>
          <a:noFill/>
          <a:ln w="285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5343525" y="5143500"/>
            <a:ext cx="2200275" cy="0"/>
          </a:xfrm>
          <a:prstGeom prst="line">
            <a:avLst/>
          </a:prstGeom>
          <a:noFill/>
          <a:ln w="285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6286500" y="3905250"/>
            <a:ext cx="0" cy="1619250"/>
          </a:xfrm>
          <a:prstGeom prst="line">
            <a:avLst/>
          </a:prstGeom>
          <a:noFill/>
          <a:ln w="19050">
            <a:solidFill>
              <a:srgbClr val="C6282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3771900" y="5619750"/>
            <a:ext cx="1571625" cy="0"/>
          </a:xfrm>
          <a:prstGeom prst="line">
            <a:avLst/>
          </a:prstGeom>
          <a:noFill/>
          <a:ln w="22225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3771900" y="5676900"/>
            <a:ext cx="1571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내부 전파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 flipH="1">
            <a:off x="3771900" y="5886450"/>
            <a:ext cx="2514600" cy="0"/>
          </a:xfrm>
          <a:prstGeom prst="line">
            <a:avLst/>
          </a:prstGeom>
          <a:noFill/>
          <a:ln w="22225">
            <a:solidFill>
              <a:srgbClr val="4F46E5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3771900" y="5943600"/>
            <a:ext cx="2514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F46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t_setup 이상 확보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848600" y="3810000"/>
            <a:ext cx="3886200" cy="2438400"/>
          </a:xfrm>
          <a:prstGeom prst="roundRect">
            <a:avLst>
              <a:gd name="adj" fmla="val 3000"/>
            </a:avLst>
          </a:prstGeom>
          <a:solidFill>
            <a:srgbClr val="E3F0FD"/>
          </a:solidFill>
          <a:ln w="9525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8058150" y="4000500"/>
            <a:ext cx="3524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 → Master gate → feedback loop 안정까지 delay 존재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상승 엣지 = Master EN 차단 시점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차단 전 loop 미안정 → Q' 중간 전압 고정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Time ≥ Master 내부 전파 delay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56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· Setup · Hold · Hold 원인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Time Covers the Late Closing of the Master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11277600" cy="2381250"/>
          </a:xfrm>
          <a:prstGeom prst="roundRect">
            <a:avLst>
              <a:gd name="adj" fmla="val 307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1143000" y="19050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428750" y="2019300"/>
            <a:ext cx="11430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2571750" y="1524000"/>
            <a:ext cx="2286000" cy="1047750"/>
          </a:xfrm>
          <a:prstGeom prst="rect">
            <a:avLst/>
          </a:prstGeom>
          <a:solidFill>
            <a:srgbClr val="F1F5F9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2571750" y="1638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571750" y="190500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Gated D Latch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571750" y="21526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= clk̄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857750" y="2019300"/>
            <a:ext cx="1428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29250" y="1771650"/>
            <a:ext cx="381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Q'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286500" y="1524000"/>
            <a:ext cx="2286000" cy="1047750"/>
          </a:xfrm>
          <a:prstGeom prst="rect">
            <a:avLst/>
          </a:prstGeom>
          <a:solidFill>
            <a:srgbClr val="F1F5F9"/>
          </a:solidFill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286500" y="16383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Slave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286500" y="190500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Gated D Latch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86500" y="21526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 = clk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72500" y="2019300"/>
            <a:ext cx="952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9620250" y="1905000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43000" y="3143250"/>
            <a:ext cx="47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1524000" y="3257550"/>
            <a:ext cx="5905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7429500" y="2571750"/>
            <a:ext cx="0" cy="68580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3048000" y="3257550"/>
            <a:ext cx="0" cy="0"/>
          </a:xfrm>
          <a:prstGeom prst="line">
            <a:avLst/>
          </a:prstGeom>
          <a:noFill/>
          <a:ln w="19050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 flipV="1">
            <a:off x="2286000" y="2952750"/>
            <a:ext cx="0" cy="304800"/>
          </a:xfrm>
          <a:prstGeom prst="line">
            <a:avLst/>
          </a:prstGeom>
          <a:noFill/>
          <a:ln w="381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2152650" y="2667000"/>
            <a:ext cx="266700" cy="247650"/>
          </a:xfrm>
          <a:prstGeom prst="triangle">
            <a:avLst/>
          </a:prstGeom>
          <a:solidFill>
            <a:srgbClr val="FFFFFF"/>
          </a:solidFill>
          <a:ln w="317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2238375" y="2581275"/>
            <a:ext cx="95250" cy="952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 flipV="1">
            <a:off x="2286000" y="2476500"/>
            <a:ext cx="0" cy="104775"/>
          </a:xfrm>
          <a:prstGeom prst="line">
            <a:avLst/>
          </a:prstGeom>
          <a:noFill/>
          <a:ln w="381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286000" y="2476500"/>
            <a:ext cx="285750" cy="0"/>
          </a:xfrm>
          <a:prstGeom prst="line">
            <a:avLst/>
          </a:prstGeom>
          <a:noFill/>
          <a:ln w="381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2476500" y="278130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inverter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" y="3810000"/>
            <a:ext cx="7239000" cy="2438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85800" y="4000500"/>
            <a:ext cx="114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85800" y="4572000"/>
            <a:ext cx="114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clk̄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85800" y="5143500"/>
            <a:ext cx="1143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095500" y="4248150"/>
            <a:ext cx="2095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4191000" y="4000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4191000" y="4000500"/>
            <a:ext cx="33528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2095500" y="4572000"/>
            <a:ext cx="2933700" cy="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5029200" y="4572000"/>
            <a:ext cx="0" cy="24765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5029200" y="4819650"/>
            <a:ext cx="2514600" cy="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2095500" y="5391150"/>
            <a:ext cx="25146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4610100" y="5143500"/>
            <a:ext cx="0" cy="2476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4610100" y="5143500"/>
            <a:ext cx="29337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4191000" y="3905250"/>
            <a:ext cx="838200" cy="1581150"/>
          </a:xfrm>
          <a:prstGeom prst="rect">
            <a:avLst/>
          </a:prstGeom>
          <a:solidFill>
            <a:srgbClr val="FDECEC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4191000" y="3905250"/>
            <a:ext cx="0" cy="1619250"/>
          </a:xfrm>
          <a:prstGeom prst="line">
            <a:avLst/>
          </a:prstGeom>
          <a:noFill/>
          <a:ln w="19050">
            <a:solidFill>
              <a:srgbClr val="C6282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4191000" y="5657850"/>
            <a:ext cx="838200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3810000" y="5715000"/>
            <a:ext cx="16002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inverter delay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38750" y="4267200"/>
            <a:ext cx="285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Master 아직 열림 → D 유입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7848600" y="3810000"/>
            <a:ext cx="3886200" cy="2438400"/>
          </a:xfrm>
          <a:prstGeom prst="roundRect">
            <a:avLst>
              <a:gd name="adj" fmla="val 3000"/>
            </a:avLst>
          </a:prstGeom>
          <a:solidFill>
            <a:srgbClr val="FDECEC"/>
          </a:solidFill>
          <a:ln w="9525">
            <a:solidFill>
              <a:srgbClr val="F5C6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8058150" y="4000500"/>
            <a:ext cx="3524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Master EN = clk̄ → inverter 통과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 상승 후 inverter delay 동안 Master 열림 유지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구간 D 변경 → 새 값이 Q'로 유입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Time ≥ clk̄ 지연 − D 경로 delay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ideal (delay 0) 조건일 경우 Hold = 0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/ 56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818C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· Setup · Hold · 해결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Slack Sets the Clock Limit, Synchronizer Guards Async Inputs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428750"/>
            <a:ext cx="3657600" cy="44767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428750"/>
            <a:ext cx="3657600" cy="5715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66750" y="167640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4F46E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조건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66750" y="2152650"/>
            <a:ext cx="32766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T_clk ≥ T_cq + T_comb(max) + T_setup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Slack (margin) = T_clk − (T_cq + T_comb + T_setup)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Negative Slack → 조합 경로 분할 (pipeline) 또는 클럭 감소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67200" y="1428750"/>
            <a:ext cx="3657600" cy="44767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267200" y="1428750"/>
            <a:ext cx="3657600" cy="5715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476750" y="167640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조건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476750" y="2152650"/>
            <a:ext cx="32766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T_cq + T_comb(min) ≥ T_hold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클럭 주파수와 무관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위반 → 짧은 경로에 delay 추가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77200" y="1428750"/>
            <a:ext cx="3657600" cy="44767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077200" y="1428750"/>
            <a:ext cx="3657600" cy="5715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286750" y="1676400"/>
            <a:ext cx="323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비동기 입력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286750" y="2152650"/>
            <a:ext cx="32766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스위치 · 외부 신호 = 클럭과 무관한 변화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· Hold 위반 피할 수 없음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2-FF Synchronizer로 metastability 확률 감소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/ 56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72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· Glitch · 발생 원인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Unequal Path Delays Create a Glitch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59055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gli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524000"/>
            <a:ext cx="5334000" cy="433729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553200" y="1295400"/>
            <a:ext cx="5181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6781800" y="1485900"/>
            <a:ext cx="4762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 : 1 → 0, A = 0, C = 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781800" y="1905000"/>
            <a:ext cx="4762500" cy="285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Short Path (n2): B 직접 → AND → 빠르게 0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Critical Path (n1): B → inverter → AND → 늦게 1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n1 · n2 둘 다 0인 구간 발생 → Y = 1 → 0 → 1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Glitch 폭 = 두 경로 delay 차이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781800" y="4476750"/>
            <a:ext cx="4724400" cy="1524000"/>
          </a:xfrm>
          <a:prstGeom prst="roundRect">
            <a:avLst>
              <a:gd name="adj" fmla="val 4800"/>
            </a:avLst>
          </a:prstGeom>
          <a:solidFill>
            <a:srgbClr val="FCE7F3"/>
          </a:solidFill>
          <a:ln w="9525">
            <a:solidFill>
              <a:srgbClr val="F9A8D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6972300" y="4629150"/>
            <a:ext cx="438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BE185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위치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972300" y="4953000"/>
            <a:ext cx="4381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조합회로 출력 (입력 간 도착 시간 차이)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 출력 = 클럭 엣지에서만 변경 → Glitch 없음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56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472B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· Glitch · FF 필요 여부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Register Outputs Only Where Glitches Matter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472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57300"/>
            <a:ext cx="571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Combinational vs Sequential Output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729865"/>
              </p:ext>
            </p:extLst>
          </p:nvPr>
        </p:nvGraphicFramePr>
        <p:xfrm>
          <a:off x="457200" y="1562100"/>
          <a:ext cx="11277600" cy="2628900"/>
        </p:xfrm>
        <a:graphic>
          <a:graphicData uri="http://schemas.openxmlformats.org/drawingml/2006/table">
            <a:tbl>
              <a:tblPr/>
              <a:tblGrid>
                <a:gridCol w="2095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 </a:t>
                      </a:r>
                      <a:r>
                        <a:rPr lang="en-US" sz="140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 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SL </a:t>
                      </a:r>
                      <a:r>
                        <a:rPr lang="en-US" sz="1400" b="1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 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Glitch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통과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제거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응답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전파 delay만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+1 cycle 지연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면적 · Cost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FF 없음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FF 수 증가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전력 · 발열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클럭 부하 없음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FF 클럭 toggle 전력 증가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Timing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Critical Path 길어짐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 분할 → 안정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438650"/>
            <a:ext cx="5562600" cy="1809750"/>
          </a:xfrm>
          <a:prstGeom prst="roundRect">
            <a:avLst>
              <a:gd name="adj" fmla="val 4042"/>
            </a:avLst>
          </a:prstGeom>
          <a:solidFill>
            <a:srgbClr val="E8F5E9"/>
          </a:solidFill>
          <a:ln w="9525">
            <a:solidFill>
              <a:srgbClr val="C8E6C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685800" y="4591050"/>
            <a:ext cx="5143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 필요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85800" y="4914900"/>
            <a:ext cx="5143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clock · enable · async reset으로 쓰는 신호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클럭 도메인 · 외부 칩 입력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Critical Path 분할 필요 구간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172200" y="4438650"/>
            <a:ext cx="5562600" cy="1809750"/>
          </a:xfrm>
          <a:prstGeom prst="roundRect">
            <a:avLst>
              <a:gd name="adj" fmla="val 404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10"/>
          <p:cNvSpPr/>
          <p:nvPr/>
        </p:nvSpPr>
        <p:spPr>
          <a:xfrm>
            <a:off x="6400800" y="4591050"/>
            <a:ext cx="5143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 불필요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00800" y="4914900"/>
            <a:ext cx="5143500" cy="1295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클럭 FF가 엣지에서만 읽는 내부 신호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엣지 Setup 전 안정 → Glitch 무관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LED처럼 ns 단위 Glitch가 의미 없는 출력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56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· Moore vs Mealy · 개념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 Output Depends on State Only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5562600" cy="2381250"/>
          </a:xfrm>
          <a:prstGeom prst="roundRect">
            <a:avLst>
              <a:gd name="adj" fmla="val 307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47700" y="14287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90550" y="226695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66800" y="2381250"/>
            <a:ext cx="34290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409700" y="2095500"/>
            <a:ext cx="1238250" cy="571500"/>
          </a:xfrm>
          <a:prstGeom prst="rect">
            <a:avLst/>
          </a:prstGeom>
          <a:solidFill>
            <a:srgbClr val="E3F0FD"/>
          </a:solidFill>
          <a:ln w="15875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1409700" y="2095500"/>
            <a:ext cx="1238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Next-State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647950" y="2381250"/>
            <a:ext cx="38100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3028950" y="2095500"/>
            <a:ext cx="1047750" cy="571500"/>
          </a:xfrm>
          <a:prstGeom prst="rect">
            <a:avLst/>
          </a:prstGeom>
          <a:solidFill>
            <a:srgbClr val="F1F5F9"/>
          </a:solidFill>
          <a:ln w="1587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028950" y="2095500"/>
            <a:ext cx="1047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Register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76700" y="2381250"/>
            <a:ext cx="38100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457700" y="2095500"/>
            <a:ext cx="1047750" cy="5715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4457700" y="2095500"/>
            <a:ext cx="1047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Output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Logic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505450" y="2381250"/>
            <a:ext cx="32385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5219700" y="2686050"/>
            <a:ext cx="76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267200" y="2381250"/>
            <a:ext cx="0" cy="66675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2028825" y="3048000"/>
            <a:ext cx="2238375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2028825" y="2667000"/>
            <a:ext cx="0" cy="38100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head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47700" y="3238500"/>
            <a:ext cx="5143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= f(state)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172200" y="1295400"/>
            <a:ext cx="5562600" cy="2381250"/>
          </a:xfrm>
          <a:prstGeom prst="roundRect">
            <a:avLst>
              <a:gd name="adj" fmla="val 307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362700" y="1428750"/>
            <a:ext cx="2857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305550" y="2266950"/>
            <a:ext cx="57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781800" y="2381250"/>
            <a:ext cx="34290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7124700" y="2095500"/>
            <a:ext cx="1238250" cy="571500"/>
          </a:xfrm>
          <a:prstGeom prst="rect">
            <a:avLst/>
          </a:prstGeom>
          <a:solidFill>
            <a:srgbClr val="E3F0FD"/>
          </a:solidFill>
          <a:ln w="15875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7124700" y="2095500"/>
            <a:ext cx="1238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Next-State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Logic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362950" y="2381250"/>
            <a:ext cx="38100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8743950" y="2095500"/>
            <a:ext cx="1047750" cy="571500"/>
          </a:xfrm>
          <a:prstGeom prst="rect">
            <a:avLst/>
          </a:prstGeom>
          <a:solidFill>
            <a:srgbClr val="F1F5F9"/>
          </a:solidFill>
          <a:ln w="1587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8743950" y="2095500"/>
            <a:ext cx="1047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Register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791700" y="2381250"/>
            <a:ext cx="38100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0172700" y="2095500"/>
            <a:ext cx="1047750" cy="5715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10172700" y="2095500"/>
            <a:ext cx="10477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Output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Logic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1220450" y="2381250"/>
            <a:ext cx="323850" cy="0"/>
          </a:xfrm>
          <a:prstGeom prst="line">
            <a:avLst/>
          </a:prstGeom>
          <a:noFill/>
          <a:ln w="2222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10934700" y="2686050"/>
            <a:ext cx="76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20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9982200" y="2381250"/>
            <a:ext cx="0" cy="66675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7743825" y="3048000"/>
            <a:ext cx="2238375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7743825" y="2667000"/>
            <a:ext cx="0" cy="38100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head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6953250" y="1714500"/>
            <a:ext cx="0" cy="66675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6953250" y="1714500"/>
            <a:ext cx="3743325" cy="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10696575" y="1714500"/>
            <a:ext cx="0" cy="381000"/>
          </a:xfrm>
          <a:prstGeom prst="line">
            <a:avLst/>
          </a:prstGeom>
          <a:noFill/>
          <a:ln w="22225">
            <a:solidFill>
              <a:srgbClr val="C6282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8553450" y="146685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 → output 직결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6362700" y="3238500"/>
            <a:ext cx="5143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= f(state, input)</a:t>
            </a:r>
            <a:endParaRPr lang="en-US" sz="1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8100"/>
          <a:ext cx="11277600" cy="1866900"/>
        </p:xfrm>
        <a:graphic>
          <a:graphicData uri="http://schemas.openxmlformats.org/drawingml/2006/table">
            <a:tbl>
              <a:tblPr/>
              <a:tblGrid>
                <a:gridCol w="247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0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00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Moore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Mealy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 결정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현재 state만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현재 state + 현재 input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 변경 시점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클럭 엣지 이후 (state 변경 시)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input 변경 즉시 (같은 cycle)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응답 지연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clock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clock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input Glitch · bounce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출력에 전달 안 됨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출력에 그대로 전달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필요 상태 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기능 기준 많거나 같음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적거나 같음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Timing path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register → output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input → output 조합 경로 추가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8" name="Text 45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/ 56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· Moore vs Mealy · 개념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Reacts Instantly, Moore Waits One Clock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11277600" cy="3771900"/>
          </a:xfrm>
          <a:prstGeom prst="roundRect">
            <a:avLst>
              <a:gd name="adj" fmla="val 193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1666875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2333625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i_sw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95275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6195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 출력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428625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 출력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524250" y="1524000"/>
            <a:ext cx="0" cy="3333750"/>
          </a:xfrm>
          <a:prstGeom prst="line">
            <a:avLst/>
          </a:prstGeom>
          <a:noFill/>
          <a:ln w="952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4857750" y="1524000"/>
            <a:ext cx="0" cy="3333750"/>
          </a:xfrm>
          <a:prstGeom prst="line">
            <a:avLst/>
          </a:prstGeom>
          <a:noFill/>
          <a:ln w="952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6191250" y="1524000"/>
            <a:ext cx="0" cy="3333750"/>
          </a:xfrm>
          <a:prstGeom prst="line">
            <a:avLst/>
          </a:prstGeom>
          <a:noFill/>
          <a:ln w="952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7524750" y="1524000"/>
            <a:ext cx="0" cy="3333750"/>
          </a:xfrm>
          <a:prstGeom prst="line">
            <a:avLst/>
          </a:prstGeom>
          <a:noFill/>
          <a:ln w="952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8858250" y="1524000"/>
            <a:ext cx="0" cy="3333750"/>
          </a:xfrm>
          <a:prstGeom prst="line">
            <a:avLst/>
          </a:prstGeom>
          <a:noFill/>
          <a:ln w="952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10191750" y="1524000"/>
            <a:ext cx="0" cy="3333750"/>
          </a:xfrm>
          <a:prstGeom prst="line">
            <a:avLst/>
          </a:prstGeom>
          <a:noFill/>
          <a:ln w="9525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2190750" y="166687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285750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2857500" y="195262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352425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3524250" y="166687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419100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4191000" y="195262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85775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4857750" y="166687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552450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5524500" y="195262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619125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6191250" y="166687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685800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6858000" y="195262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2"/>
          <p:cNvSpPr/>
          <p:nvPr/>
        </p:nvSpPr>
        <p:spPr>
          <a:xfrm>
            <a:off x="752475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7524750" y="166687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819150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8191500" y="195262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885825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8858250" y="166687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952500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9525000" y="195262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1019175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10191750" y="166687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10858500" y="166687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10858500" y="1952625"/>
            <a:ext cx="6667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2190750" y="2619375"/>
            <a:ext cx="18669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4057650" y="233362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4057650" y="2333625"/>
            <a:ext cx="273367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6791325" y="233362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6791325" y="2619375"/>
            <a:ext cx="200025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6991350" y="233362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>
            <a:off x="6991350" y="2333625"/>
            <a:ext cx="24003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9391650" y="2333625"/>
            <a:ext cx="0" cy="28575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9391650" y="2619375"/>
            <a:ext cx="21336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3"/>
          <p:cNvSpPr/>
          <p:nvPr/>
        </p:nvSpPr>
        <p:spPr>
          <a:xfrm>
            <a:off x="2190750" y="2971800"/>
            <a:ext cx="2667000" cy="2667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4"/>
          <p:cNvSpPr/>
          <p:nvPr/>
        </p:nvSpPr>
        <p:spPr>
          <a:xfrm>
            <a:off x="2190750" y="2971800"/>
            <a:ext cx="2667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857750" y="2971800"/>
            <a:ext cx="5334000" cy="2667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/>
          <p:nvPr/>
        </p:nvSpPr>
        <p:spPr>
          <a:xfrm>
            <a:off x="4857750" y="2971800"/>
            <a:ext cx="5334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0191750" y="2971800"/>
            <a:ext cx="1333500" cy="2667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/>
          <p:nvPr/>
        </p:nvSpPr>
        <p:spPr>
          <a:xfrm>
            <a:off x="10191750" y="2971800"/>
            <a:ext cx="1333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190750" y="3905250"/>
            <a:ext cx="2733675" cy="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4924425" y="3619500"/>
            <a:ext cx="0" cy="28575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4924425" y="3619500"/>
            <a:ext cx="5334000" cy="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62"/>
          <p:cNvSpPr/>
          <p:nvPr/>
        </p:nvSpPr>
        <p:spPr>
          <a:xfrm>
            <a:off x="10258425" y="3619500"/>
            <a:ext cx="0" cy="28575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10258425" y="3905250"/>
            <a:ext cx="1266825" cy="0"/>
          </a:xfrm>
          <a:prstGeom prst="line">
            <a:avLst/>
          </a:prstGeom>
          <a:noFill/>
          <a:ln w="285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2190750" y="4572000"/>
            <a:ext cx="1933575" cy="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Shape 65"/>
          <p:cNvSpPr/>
          <p:nvPr/>
        </p:nvSpPr>
        <p:spPr>
          <a:xfrm>
            <a:off x="4124325" y="4286250"/>
            <a:ext cx="0" cy="28575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4124325" y="4286250"/>
            <a:ext cx="2733675" cy="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6858000" y="4286250"/>
            <a:ext cx="0" cy="28575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8"/>
          <p:cNvSpPr/>
          <p:nvPr/>
        </p:nvSpPr>
        <p:spPr>
          <a:xfrm>
            <a:off x="6858000" y="4572000"/>
            <a:ext cx="200025" cy="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7058025" y="4286250"/>
            <a:ext cx="0" cy="28575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7058025" y="4286250"/>
            <a:ext cx="2400300" cy="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Shape 71"/>
          <p:cNvSpPr/>
          <p:nvPr/>
        </p:nvSpPr>
        <p:spPr>
          <a:xfrm>
            <a:off x="9458325" y="4286250"/>
            <a:ext cx="0" cy="28575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9458325" y="4572000"/>
            <a:ext cx="2066925" cy="0"/>
          </a:xfrm>
          <a:prstGeom prst="line">
            <a:avLst/>
          </a:prstGeom>
          <a:noFill/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/>
          <p:nvPr/>
        </p:nvSpPr>
        <p:spPr>
          <a:xfrm>
            <a:off x="7191375" y="4019550"/>
            <a:ext cx="2476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bounce 그대로 통과</a:t>
            </a:r>
            <a:endParaRPr lang="en-US" sz="1200" dirty="0"/>
          </a:p>
        </p:txBody>
      </p:sp>
      <p:sp>
        <p:nvSpPr>
          <p:cNvPr id="76" name="Text 74"/>
          <p:cNvSpPr/>
          <p:nvPr/>
        </p:nvSpPr>
        <p:spPr>
          <a:xfrm>
            <a:off x="7191375" y="2419350"/>
            <a:ext cx="2476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스위치 bounce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5057775" y="3657600"/>
            <a:ext cx="2476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← 엣지에서만 변경</a:t>
            </a:r>
            <a:endParaRPr lang="en-US" sz="1200" dirty="0"/>
          </a:p>
        </p:txBody>
      </p:sp>
      <p:sp>
        <p:nvSpPr>
          <p:cNvPr id="78" name="Text 76"/>
          <p:cNvSpPr/>
          <p:nvPr/>
        </p:nvSpPr>
        <p:spPr>
          <a:xfrm>
            <a:off x="10325100" y="392430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clock 늦음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4124325" y="4762500"/>
            <a:ext cx="800100" cy="0"/>
          </a:xfrm>
          <a:prstGeom prst="line">
            <a:avLst/>
          </a:prstGeom>
          <a:noFill/>
          <a:ln w="15875">
            <a:solidFill>
              <a:srgbClr val="4B556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78"/>
          <p:cNvSpPr/>
          <p:nvPr/>
        </p:nvSpPr>
        <p:spPr>
          <a:xfrm>
            <a:off x="3790950" y="48006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 차이 = 1 clock 이내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457200" y="5200650"/>
            <a:ext cx="5562600" cy="1143000"/>
          </a:xfrm>
          <a:prstGeom prst="roundRect">
            <a:avLst>
              <a:gd name="adj" fmla="val 6400"/>
            </a:avLst>
          </a:prstGeom>
          <a:solidFill>
            <a:srgbClr val="E8F5E9"/>
          </a:solidFill>
          <a:ln w="9525">
            <a:solidFill>
              <a:srgbClr val="C8E6C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/>
          <p:nvPr/>
        </p:nvSpPr>
        <p:spPr>
          <a:xfrm>
            <a:off x="685800" y="5295900"/>
            <a:ext cx="5143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</a:t>
            </a:r>
            <a:endParaRPr lang="en-US" sz="1600" dirty="0"/>
          </a:p>
        </p:txBody>
      </p:sp>
      <p:sp>
        <p:nvSpPr>
          <p:cNvPr id="83" name="Text 81"/>
          <p:cNvSpPr/>
          <p:nvPr/>
        </p:nvSpPr>
        <p:spPr>
          <a:xfrm>
            <a:off x="685800" y="5581650"/>
            <a:ext cx="514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클럭 엣지에서만 출력 변경, 엣지 사이 input 변화 무시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대가: input 대비 최대 1 clock 지연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6172200" y="5200650"/>
            <a:ext cx="5562600" cy="1143000"/>
          </a:xfrm>
          <a:prstGeom prst="roundRect">
            <a:avLst>
              <a:gd name="adj" fmla="val 6400"/>
            </a:avLst>
          </a:prstGeom>
          <a:solidFill>
            <a:srgbClr val="FDECEC"/>
          </a:solidFill>
          <a:ln w="9525">
            <a:solidFill>
              <a:srgbClr val="F5C6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/>
          <p:nvPr/>
        </p:nvSpPr>
        <p:spPr>
          <a:xfrm>
            <a:off x="6400800" y="5295900"/>
            <a:ext cx="5143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Mealy</a:t>
            </a:r>
            <a:endParaRPr lang="en-US" sz="1600" dirty="0"/>
          </a:p>
        </p:txBody>
      </p:sp>
      <p:sp>
        <p:nvSpPr>
          <p:cNvPr id="86" name="Text 84"/>
          <p:cNvSpPr/>
          <p:nvPr/>
        </p:nvSpPr>
        <p:spPr>
          <a:xfrm>
            <a:off x="6400800" y="5581650"/>
            <a:ext cx="51435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 변경 즉시 출력 반영, 지연 없음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대가: input의 Glitch · bounce가 출력까지 전달</a:t>
            </a:r>
            <a:endParaRPr lang="en-US" sz="1300" dirty="0"/>
          </a:p>
        </p:txBody>
      </p:sp>
      <p:sp>
        <p:nvSpPr>
          <p:cNvPr id="87" name="Text 85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/ 56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FSM_S3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 States Step the LEDs by Switch Code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81915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019550" y="1924050"/>
            <a:ext cx="1104900" cy="11049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4019550" y="2089785"/>
            <a:ext cx="110490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4185285" y="2495550"/>
            <a:ext cx="77343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4257675" y="260985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448175" y="260985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638675" y="260985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877050" y="1924050"/>
            <a:ext cx="1104900" cy="11049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6877050" y="2089785"/>
            <a:ext cx="110490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042785" y="2495550"/>
            <a:ext cx="773430" cy="0"/>
          </a:xfrm>
          <a:prstGeom prst="line">
            <a:avLst/>
          </a:prstGeom>
          <a:noFill/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7115175" y="260985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7305675" y="260985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7496175" y="260985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6877050" y="4495800"/>
            <a:ext cx="1104900" cy="11049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877050" y="4661535"/>
            <a:ext cx="110490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042785" y="5067300"/>
            <a:ext cx="773430" cy="0"/>
          </a:xfrm>
          <a:prstGeom prst="line">
            <a:avLst/>
          </a:prstGeom>
          <a:noFill/>
          <a:ln w="127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7115175" y="518160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7305675" y="518160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7496175" y="518160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4019550" y="4495800"/>
            <a:ext cx="1104900" cy="11049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4019550" y="4661535"/>
            <a:ext cx="110490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4185285" y="5067300"/>
            <a:ext cx="773430" cy="0"/>
          </a:xfrm>
          <a:prstGeom prst="line">
            <a:avLst/>
          </a:prstGeom>
          <a:noFill/>
          <a:ln w="127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4257675" y="518160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4448175" y="518160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4638675" y="5181600"/>
            <a:ext cx="133350" cy="13335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352550" y="4495800"/>
            <a:ext cx="1104900" cy="11049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1352550" y="4661535"/>
            <a:ext cx="110490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18285" y="5067300"/>
            <a:ext cx="773430" cy="0"/>
          </a:xfrm>
          <a:prstGeom prst="line">
            <a:avLst/>
          </a:prstGeom>
          <a:noFill/>
          <a:ln w="127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590675" y="518160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1781175" y="518160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1971675" y="5181600"/>
            <a:ext cx="133350" cy="133350"/>
          </a:xfrm>
          <a:prstGeom prst="ellipse">
            <a:avLst/>
          </a:prstGeom>
          <a:solidFill>
            <a:srgbClr val="EF4444"/>
          </a:solidFill>
          <a:ln w="1587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5124450" y="2476500"/>
            <a:ext cx="1752600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/>
          <p:nvPr/>
        </p:nvSpPr>
        <p:spPr>
          <a:xfrm>
            <a:off x="5619750" y="2219325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7429500" y="3028950"/>
            <a:ext cx="0" cy="1466850"/>
          </a:xfrm>
          <a:prstGeom prst="line">
            <a:avLst/>
          </a:prstGeom>
          <a:noFill/>
          <a:ln w="25400">
            <a:solidFill>
              <a:srgbClr val="0891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7353300" y="36576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 flipH="1">
            <a:off x="5124450" y="5048250"/>
            <a:ext cx="1752600" cy="0"/>
          </a:xfrm>
          <a:prstGeom prst="line">
            <a:avLst/>
          </a:prstGeom>
          <a:noFill/>
          <a:ln w="25400">
            <a:solidFill>
              <a:srgbClr val="9333E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5619750" y="5114925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 flipV="1">
            <a:off x="4400550" y="3009900"/>
            <a:ext cx="0" cy="150495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3714750" y="36576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 flipV="1">
            <a:off x="4972050" y="2857500"/>
            <a:ext cx="2057400" cy="180975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5810250" y="3800475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 flipH="1">
            <a:off x="2457450" y="5048250"/>
            <a:ext cx="1562100" cy="0"/>
          </a:xfrm>
          <a:prstGeom prst="line">
            <a:avLst/>
          </a:prstGeom>
          <a:noFill/>
          <a:ln w="25400">
            <a:solidFill>
              <a:srgbClr val="DB2777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/>
          <p:nvPr/>
        </p:nvSpPr>
        <p:spPr>
          <a:xfrm>
            <a:off x="2857500" y="4791075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 flipV="1">
            <a:off x="2247900" y="2762250"/>
            <a:ext cx="1847850" cy="184785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2476500" y="3419475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52" name="Shape 50"/>
          <p:cNvSpPr/>
          <p:nvPr/>
        </p:nvSpPr>
        <p:spPr>
          <a:xfrm>
            <a:off x="4572000" y="1524000"/>
            <a:ext cx="0" cy="400050"/>
          </a:xfrm>
          <a:prstGeom prst="line">
            <a:avLst/>
          </a:prstGeom>
          <a:noFill/>
          <a:ln w="25400">
            <a:solidFill>
              <a:srgbClr val="4B5563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/>
          <p:nvPr/>
        </p:nvSpPr>
        <p:spPr>
          <a:xfrm>
            <a:off x="4667250" y="150495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85800" y="1485900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: o_led[2] [1] [0]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8839200" y="1257300"/>
            <a:ext cx="2857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조건</a:t>
            </a:r>
            <a:endParaRPr lang="en-US" sz="15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39200" y="1562100"/>
          <a:ext cx="2895600" cy="2286000"/>
        </p:xfrm>
        <a:graphic>
          <a:graphicData uri="http://schemas.openxmlformats.org/drawingml/2006/table">
            <a:tbl>
              <a:tblPr/>
              <a:tblGrid>
                <a:gridCol w="857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State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HOLD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o_led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≠ 01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2563E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≠ 10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001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0891B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≠ 11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010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9333E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DB277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S4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≠ 00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111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7" name="Text 54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/ 56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Block Diagram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LED Decode Reads Only the State Register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905000" y="1428750"/>
            <a:ext cx="8382000" cy="4191000"/>
          </a:xfrm>
          <a:prstGeom prst="rect">
            <a:avLst/>
          </a:prstGeom>
          <a:ln w="12700">
            <a:solidFill>
              <a:srgbClr val="9CA3AF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019300" y="1485900"/>
            <a:ext cx="285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FSM_S3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33675"/>
            <a:ext cx="1238250" cy="247650"/>
          </a:xfrm>
          <a:prstGeom prst="homePlate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14350" y="2733675"/>
            <a:ext cx="1085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i_sw[1:0]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4352925"/>
            <a:ext cx="1238250" cy="247650"/>
          </a:xfrm>
          <a:prstGeom prst="homePlate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14350" y="4352925"/>
            <a:ext cx="1085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829175"/>
            <a:ext cx="1238250" cy="247650"/>
          </a:xfrm>
          <a:prstGeom prst="homePlate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14350" y="4829175"/>
            <a:ext cx="1085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572750" y="3019425"/>
            <a:ext cx="1238250" cy="247650"/>
          </a:xfrm>
          <a:prstGeom prst="homePlate">
            <a:avLst/>
          </a:prstGeom>
          <a:solidFill>
            <a:srgbClr val="DCFCE7"/>
          </a:solidFill>
          <a:ln w="1587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0629900" y="3019425"/>
            <a:ext cx="1085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o_led[2:0]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57500" y="2381250"/>
            <a:ext cx="2000250" cy="1524000"/>
          </a:xfrm>
          <a:prstGeom prst="roundRect">
            <a:avLst>
              <a:gd name="adj" fmla="val 3600"/>
            </a:avLst>
          </a:prstGeom>
          <a:solidFill>
            <a:srgbClr val="ECFE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2857500" y="2457450"/>
            <a:ext cx="2000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Next-State Logic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857500" y="2667000"/>
            <a:ext cx="2000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Combinational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00350" y="2800350"/>
            <a:ext cx="114300" cy="1143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2952750" y="276225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800350" y="3467100"/>
            <a:ext cx="114300" cy="1143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2952750" y="342900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3086100"/>
            <a:ext cx="114300" cy="114300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3762375" y="304800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n_state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715000" y="2571750"/>
            <a:ext cx="1809750" cy="2762250"/>
          </a:xfrm>
          <a:prstGeom prst="roundRect">
            <a:avLst>
              <a:gd name="adj" fmla="val 3032"/>
            </a:avLst>
          </a:prstGeom>
          <a:solidFill>
            <a:srgbClr val="FEF2F2"/>
          </a:solidFill>
          <a:ln w="222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715000" y="2647950"/>
            <a:ext cx="1809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91C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state_reg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15000" y="2857500"/>
            <a:ext cx="1809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Sequential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57850" y="3086100"/>
            <a:ext cx="114300" cy="1143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810250" y="3048000"/>
            <a:ext cx="904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57850" y="4419600"/>
            <a:ext cx="114300" cy="11430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5810250" y="4381500"/>
            <a:ext cx="904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57850" y="4895850"/>
            <a:ext cx="114300" cy="11430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810250" y="4857750"/>
            <a:ext cx="904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67600" y="3086100"/>
            <a:ext cx="114300" cy="114300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6524625" y="3048000"/>
            <a:ext cx="904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382000" y="2571750"/>
            <a:ext cx="1619250" cy="1143000"/>
          </a:xfrm>
          <a:prstGeom prst="roundRect">
            <a:avLst>
              <a:gd name="adj" fmla="val 4800"/>
            </a:avLst>
          </a:prstGeom>
          <a:solidFill>
            <a:srgbClr val="ECFE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8382000" y="2647950"/>
            <a:ext cx="1619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Output Decode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382000" y="2857500"/>
            <a:ext cx="1619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Combinational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324850" y="3086100"/>
            <a:ext cx="114300" cy="1143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8477250" y="3048000"/>
            <a:ext cx="809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9944100" y="3086100"/>
            <a:ext cx="114300" cy="114300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9096375" y="3048000"/>
            <a:ext cx="809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695450" y="2857500"/>
            <a:ext cx="110490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4914900" y="3143250"/>
            <a:ext cx="74295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1695450" y="4476750"/>
            <a:ext cx="396240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695450" y="4953000"/>
            <a:ext cx="396240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7581900" y="3143250"/>
            <a:ext cx="74295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10058400" y="3143250"/>
            <a:ext cx="51435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7953375" y="3143250"/>
            <a:ext cx="0" cy="104775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 flipH="1">
            <a:off x="2476500" y="4191000"/>
            <a:ext cx="5476875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 flipV="1">
            <a:off x="2476500" y="3524250"/>
            <a:ext cx="0" cy="66675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2476500" y="3524250"/>
            <a:ext cx="32385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4953000" y="2914650"/>
            <a:ext cx="76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n_state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620000" y="2914650"/>
            <a:ext cx="76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2095500" y="5829300"/>
            <a:ext cx="209550" cy="152400"/>
          </a:xfrm>
          <a:prstGeom prst="rect">
            <a:avLst/>
          </a:prstGeom>
          <a:solidFill>
            <a:srgbClr val="ECFEFF"/>
          </a:solidFill>
          <a:ln w="1905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/>
          <p:nvPr/>
        </p:nvSpPr>
        <p:spPr>
          <a:xfrm>
            <a:off x="2381250" y="5810250"/>
            <a:ext cx="152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Combinational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000500" y="5829300"/>
            <a:ext cx="209550" cy="152400"/>
          </a:xfrm>
          <a:prstGeom prst="rect">
            <a:avLst/>
          </a:prstGeom>
          <a:solidFill>
            <a:srgbClr val="FEF2F2"/>
          </a:solidFill>
          <a:ln w="1905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/>
          <p:nvPr/>
        </p:nvSpPr>
        <p:spPr>
          <a:xfrm>
            <a:off x="4286250" y="5810250"/>
            <a:ext cx="152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Sequential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/ 56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시뮬레이션 · TB 구조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 Compares o_led with a Golden Model Every Cycle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 / 56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9"/>
          <p:cNvSpPr/>
          <p:nvPr/>
        </p:nvSpPr>
        <p:spPr>
          <a:xfrm>
            <a:off x="685800" y="1600200"/>
            <a:ext cx="1905000" cy="7239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10"/>
          <p:cNvSpPr txBox="1"/>
          <p:nvPr/>
        </p:nvSpPr>
        <p:spPr>
          <a:xfrm>
            <a:off x="685800" y="169545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Driver</a:t>
            </a:r>
            <a:endParaRPr lang="en-US" sz="1500" dirty="0"/>
          </a:p>
        </p:txBody>
      </p:sp>
      <p:sp>
        <p:nvSpPr>
          <p:cNvPr id="11" name="Text 11"/>
          <p:cNvSpPr txBox="1"/>
          <p:nvPr/>
        </p:nvSpPr>
        <p:spPr>
          <a:xfrm>
            <a:off x="685800" y="19812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$random · async_reset</a:t>
            </a:r>
            <a:endParaRPr lang="en-US" sz="1100" dirty="0"/>
          </a:p>
        </p:txBody>
      </p:sp>
      <p:sp>
        <p:nvSpPr>
          <p:cNvPr id="12" name="Shape 12"/>
          <p:cNvSpPr/>
          <p:nvPr/>
        </p:nvSpPr>
        <p:spPr>
          <a:xfrm>
            <a:off x="3162300" y="1600200"/>
            <a:ext cx="1905000" cy="723900"/>
          </a:xfrm>
          <a:prstGeom prst="rect">
            <a:avLst/>
          </a:prstGeom>
          <a:solidFill>
            <a:srgbClr val="F1F5F9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3"/>
          <p:cNvSpPr txBox="1"/>
          <p:nvPr/>
        </p:nvSpPr>
        <p:spPr>
          <a:xfrm>
            <a:off x="3162300" y="169545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</a:t>
            </a:r>
            <a:endParaRPr lang="en-US" sz="1500" dirty="0"/>
          </a:p>
        </p:txBody>
      </p:sp>
      <p:sp>
        <p:nvSpPr>
          <p:cNvPr id="14" name="Text 14"/>
          <p:cNvSpPr txBox="1"/>
          <p:nvPr/>
        </p:nvSpPr>
        <p:spPr>
          <a:xfrm>
            <a:off x="3162300" y="19812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FSM_S3</a:t>
            </a:r>
            <a:endParaRPr lang="en-US" sz="1100" dirty="0"/>
          </a:p>
        </p:txBody>
      </p:sp>
      <p:sp>
        <p:nvSpPr>
          <p:cNvPr id="15" name="Shape 15"/>
          <p:cNvSpPr/>
          <p:nvPr/>
        </p:nvSpPr>
        <p:spPr>
          <a:xfrm>
            <a:off x="7620000" y="1600200"/>
            <a:ext cx="1905000" cy="723900"/>
          </a:xfrm>
          <a:prstGeom prst="rect">
            <a:avLst/>
          </a:prstGeom>
          <a:solidFill>
            <a:srgbClr val="FDECEC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6"/>
          <p:cNvSpPr txBox="1"/>
          <p:nvPr/>
        </p:nvSpPr>
        <p:spPr>
          <a:xfrm>
            <a:off x="7620000" y="169545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Checker</a:t>
            </a:r>
            <a:endParaRPr lang="en-US" sz="1500" dirty="0"/>
          </a:p>
        </p:txBody>
      </p:sp>
      <p:sp>
        <p:nvSpPr>
          <p:cNvPr id="17" name="Text 17"/>
          <p:cNvSpPr txBox="1"/>
          <p:nvPr/>
        </p:nvSpPr>
        <p:spPr>
          <a:xfrm>
            <a:off x="7620000" y="19812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비교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10001250" y="1600200"/>
            <a:ext cx="1504950" cy="7239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9"/>
          <p:cNvSpPr txBox="1"/>
          <p:nvPr/>
        </p:nvSpPr>
        <p:spPr>
          <a:xfrm>
            <a:off x="10001250" y="1695450"/>
            <a:ext cx="15049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Report</a:t>
            </a:r>
            <a:endParaRPr lang="en-US" sz="1500" dirty="0"/>
          </a:p>
        </p:txBody>
      </p:sp>
      <p:sp>
        <p:nvSpPr>
          <p:cNvPr id="20" name="Text 20"/>
          <p:cNvSpPr txBox="1"/>
          <p:nvPr/>
        </p:nvSpPr>
        <p:spPr>
          <a:xfrm>
            <a:off x="10001250" y="1981200"/>
            <a:ext cx="15049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표 · PASS</a:t>
            </a:r>
            <a:endParaRPr lang="en-US" sz="1100" dirty="0"/>
          </a:p>
        </p:txBody>
      </p:sp>
      <p:sp>
        <p:nvSpPr>
          <p:cNvPr id="21" name="Shape 21"/>
          <p:cNvSpPr/>
          <p:nvPr/>
        </p:nvSpPr>
        <p:spPr>
          <a:xfrm>
            <a:off x="5391150" y="2590800"/>
            <a:ext cx="1905000" cy="7239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5391150" y="268605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Golden Model</a:t>
            </a:r>
            <a:endParaRPr lang="en-US" sz="1500" dirty="0"/>
          </a:p>
        </p:txBody>
      </p:sp>
      <p:sp>
        <p:nvSpPr>
          <p:cNvPr id="23" name="Text 23"/>
          <p:cNvSpPr txBox="1"/>
          <p:nvPr/>
        </p:nvSpPr>
        <p:spPr>
          <a:xfrm>
            <a:off x="5391150" y="29718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n_state · g_code</a:t>
            </a:r>
            <a:endParaRPr lang="en-US" sz="1100" dirty="0"/>
          </a:p>
        </p:txBody>
      </p:sp>
      <p:cxnSp>
        <p:nvCxnSpPr>
          <p:cNvPr id="24" name="Line 24"/>
          <p:cNvCxnSpPr/>
          <p:nvPr/>
        </p:nvCxnSpPr>
        <p:spPr>
          <a:xfrm>
            <a:off x="2590800" y="1962150"/>
            <a:ext cx="571500" cy="0"/>
          </a:xfrm>
          <a:prstGeom prst="line">
            <a:avLst/>
          </a:prstGeom>
          <a:ln w="19050">
            <a:solidFill>
              <a:srgbClr val="334155"/>
            </a:solidFill>
            <a:prstDash val="solid"/>
            <a:tailEnd type="triangle"/>
          </a:ln>
        </p:spPr>
      </p:cxnSp>
      <p:sp>
        <p:nvSpPr>
          <p:cNvPr id="25" name="Text 25"/>
          <p:cNvSpPr txBox="1"/>
          <p:nvPr/>
        </p:nvSpPr>
        <p:spPr>
          <a:xfrm>
            <a:off x="2590800" y="1752600"/>
            <a:ext cx="571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</a:t>
            </a:r>
            <a:endParaRPr lang="en-US" sz="1100" dirty="0"/>
          </a:p>
        </p:txBody>
      </p:sp>
      <p:cxnSp>
        <p:nvCxnSpPr>
          <p:cNvPr id="26" name="Line 26"/>
          <p:cNvCxnSpPr/>
          <p:nvPr/>
        </p:nvCxnSpPr>
        <p:spPr>
          <a:xfrm>
            <a:off x="5067300" y="1962150"/>
            <a:ext cx="2552700" cy="0"/>
          </a:xfrm>
          <a:prstGeom prst="line">
            <a:avLst/>
          </a:prstGeom>
          <a:ln w="19050">
            <a:solidFill>
              <a:srgbClr val="334155"/>
            </a:solidFill>
            <a:prstDash val="solid"/>
            <a:tailEnd type="triangle"/>
          </a:ln>
        </p:spPr>
      </p:cxnSp>
      <p:sp>
        <p:nvSpPr>
          <p:cNvPr id="27" name="Text 27"/>
          <p:cNvSpPr txBox="1"/>
          <p:nvPr/>
        </p:nvSpPr>
        <p:spPr>
          <a:xfrm>
            <a:off x="5905500" y="175260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</a:t>
            </a:r>
            <a:endParaRPr lang="en-US" sz="1100" dirty="0"/>
          </a:p>
        </p:txBody>
      </p:sp>
      <p:cxnSp>
        <p:nvCxnSpPr>
          <p:cNvPr id="28" name="Line 28"/>
          <p:cNvCxnSpPr/>
          <p:nvPr/>
        </p:nvCxnSpPr>
        <p:spPr>
          <a:xfrm>
            <a:off x="9525000" y="1962150"/>
            <a:ext cx="476250" cy="0"/>
          </a:xfrm>
          <a:prstGeom prst="line">
            <a:avLst/>
          </a:prstGeom>
          <a:ln w="19050">
            <a:solidFill>
              <a:srgbClr val="334155"/>
            </a:solidFill>
            <a:prstDash val="solid"/>
            <a:tailEnd type="triangle"/>
          </a:ln>
        </p:spPr>
      </p:cxnSp>
      <p:sp>
        <p:nvSpPr>
          <p:cNvPr id="29" name="Path 29"/>
          <p:cNvSpPr/>
          <p:nvPr/>
        </p:nvSpPr>
        <p:spPr>
          <a:xfrm>
            <a:off x="1638300" y="2324100"/>
            <a:ext cx="3752850" cy="628650"/>
          </a:xfrm>
          <a:custGeom>
            <a:avLst/>
            <a:gdLst/>
            <a:ahLst/>
            <a:cxnLst/>
            <a:rect l="0" t="0" r="r" b="b"/>
            <a:pathLst>
              <a:path w="3752850" h="628650" fill="none">
                <a:moveTo>
                  <a:pt x="0" y="0"/>
                </a:moveTo>
                <a:lnTo>
                  <a:pt x="0" y="628650"/>
                </a:lnTo>
                <a:lnTo>
                  <a:pt x="3752850" y="628650"/>
                </a:lnTo>
              </a:path>
            </a:pathLst>
          </a:custGeom>
          <a:noFill/>
          <a:ln w="19050">
            <a:solidFill>
              <a:srgbClr val="64748B"/>
            </a:solidFill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30"/>
          <p:cNvSpPr txBox="1"/>
          <p:nvPr/>
        </p:nvSpPr>
        <p:spPr>
          <a:xfrm>
            <a:off x="2476500" y="2743200"/>
            <a:ext cx="2286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 · i_reset · i_sw</a:t>
            </a:r>
            <a:endParaRPr lang="en-US" sz="1100" dirty="0"/>
          </a:p>
        </p:txBody>
      </p:sp>
      <p:sp>
        <p:nvSpPr>
          <p:cNvPr id="31" name="Path 31"/>
          <p:cNvSpPr/>
          <p:nvPr/>
        </p:nvSpPr>
        <p:spPr>
          <a:xfrm>
            <a:off x="7296150" y="2324100"/>
            <a:ext cx="1276350" cy="628650"/>
          </a:xfrm>
          <a:custGeom>
            <a:avLst/>
            <a:gdLst/>
            <a:ahLst/>
            <a:cxnLst/>
            <a:rect l="0" t="0" r="r" b="b"/>
            <a:pathLst>
              <a:path w="1276350" h="628650" fill="none">
                <a:moveTo>
                  <a:pt x="0" y="628650"/>
                </a:moveTo>
                <a:lnTo>
                  <a:pt x="1276350" y="628650"/>
                </a:lnTo>
                <a:lnTo>
                  <a:pt x="1276350" y="0"/>
                </a:lnTo>
              </a:path>
            </a:pathLst>
          </a:custGeom>
          <a:noFill/>
          <a:ln w="19050">
            <a:solidFill>
              <a:srgbClr val="64748B"/>
            </a:solidFill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2"/>
          <p:cNvSpPr txBox="1"/>
          <p:nvPr/>
        </p:nvSpPr>
        <p:spPr>
          <a:xfrm>
            <a:off x="7410450" y="2743200"/>
            <a:ext cx="1047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o_led</a:t>
            </a:r>
            <a:endParaRPr lang="en-US" sz="1100" dirty="0"/>
          </a:p>
        </p:txBody>
      </p:sp>
      <p:sp>
        <p:nvSpPr>
          <p:cNvPr id="33" name="Shape 33"/>
          <p:cNvSpPr/>
          <p:nvPr/>
        </p:nvSpPr>
        <p:spPr>
          <a:xfrm>
            <a:off x="457200" y="3695700"/>
            <a:ext cx="2705100" cy="25527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4"/>
          <p:cNvSpPr txBox="1"/>
          <p:nvPr/>
        </p:nvSpPr>
        <p:spPr>
          <a:xfrm>
            <a:off x="628650" y="3848100"/>
            <a:ext cx="2381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Driver</a:t>
            </a:r>
            <a:endParaRPr lang="en-US" sz="1500" dirty="0"/>
          </a:p>
        </p:txBody>
      </p:sp>
      <p:sp>
        <p:nvSpPr>
          <p:cNvPr id="35" name="Text 35"/>
          <p:cNvSpPr txBox="1"/>
          <p:nvPr/>
        </p:nvSpPr>
        <p:spPr>
          <a:xfrm>
            <a:off x="628650" y="4210050"/>
            <a:ext cx="2381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+ 1 ns에 i_sw 인가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$random 하위 2 bit → 00 · 01 · 10 · 11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시 async_reset 1회 → S0</a:t>
            </a:r>
            <a:endParaRPr lang="en-US" sz="1200" dirty="0"/>
          </a:p>
        </p:txBody>
      </p:sp>
      <p:sp>
        <p:nvSpPr>
          <p:cNvPr id="36" name="Shape 36"/>
          <p:cNvSpPr/>
          <p:nvPr/>
        </p:nvSpPr>
        <p:spPr>
          <a:xfrm>
            <a:off x="3314700" y="3695700"/>
            <a:ext cx="2705100" cy="25527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7"/>
          <p:cNvSpPr txBox="1"/>
          <p:nvPr/>
        </p:nvSpPr>
        <p:spPr>
          <a:xfrm>
            <a:off x="3486150" y="3848100"/>
            <a:ext cx="2381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Golden Model</a:t>
            </a:r>
            <a:endParaRPr lang="en-US" sz="1500" dirty="0"/>
          </a:p>
        </p:txBody>
      </p:sp>
      <p:sp>
        <p:nvSpPr>
          <p:cNvPr id="38" name="Text 38"/>
          <p:cNvSpPr txBox="1"/>
          <p:nvPr/>
        </p:nvSpPr>
        <p:spPr>
          <a:xfrm>
            <a:off x="3486150" y="4210050"/>
            <a:ext cx="2381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 전용 integer state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n_state function = 다음 state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g_code function = 기대 o_led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DUT와 같은 posedge · async reset으로 갱신</a:t>
            </a:r>
            <a:endParaRPr lang="en-US" sz="1200" dirty="0"/>
          </a:p>
        </p:txBody>
      </p:sp>
      <p:sp>
        <p:nvSpPr>
          <p:cNvPr id="39" name="Shape 39"/>
          <p:cNvSpPr/>
          <p:nvPr/>
        </p:nvSpPr>
        <p:spPr>
          <a:xfrm>
            <a:off x="6172200" y="3695700"/>
            <a:ext cx="2705100" cy="25527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6343650" y="3848100"/>
            <a:ext cx="2381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Checker</a:t>
            </a:r>
            <a:endParaRPr lang="en-US" sz="1500" dirty="0"/>
          </a:p>
        </p:txBody>
      </p:sp>
      <p:sp>
        <p:nvSpPr>
          <p:cNvPr id="41" name="Text 41"/>
          <p:cNvSpPr txBox="1"/>
          <p:nvPr/>
        </p:nvSpPr>
        <p:spPr>
          <a:xfrm>
            <a:off x="6343650" y="4210050"/>
            <a:ext cx="2381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negedge, i_reset = 0 구간만 비교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o_led !== g_code(state) → err_c1 + 1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 · sw · 기대값 · 실제값 출력</a:t>
            </a:r>
            <a:endParaRPr lang="en-US" sz="1200" dirty="0"/>
          </a:p>
        </p:txBody>
      </p:sp>
      <p:sp>
        <p:nvSpPr>
          <p:cNvPr id="42" name="Shape 42"/>
          <p:cNvSpPr/>
          <p:nvPr/>
        </p:nvSpPr>
        <p:spPr>
          <a:xfrm>
            <a:off x="9029700" y="3695700"/>
            <a:ext cx="2705100" cy="2552700"/>
          </a:xfrm>
          <a:prstGeom prst="roundRect">
            <a:avLst>
              <a:gd name="adj" fmla="val 298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3"/>
          <p:cNvSpPr txBox="1"/>
          <p:nvPr/>
        </p:nvSpPr>
        <p:spPr>
          <a:xfrm>
            <a:off x="9201150" y="3848100"/>
            <a:ext cx="2381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Report</a:t>
            </a:r>
            <a:endParaRPr lang="en-US" sz="1500" dirty="0"/>
          </a:p>
        </p:txBody>
      </p:sp>
      <p:sp>
        <p:nvSpPr>
          <p:cNvPr id="44" name="Text 44"/>
          <p:cNvSpPr txBox="1"/>
          <p:nvPr/>
        </p:nvSpPr>
        <p:spPr>
          <a:xfrm>
            <a:off x="9201150" y="4210050"/>
            <a:ext cx="238125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cycle 10000 도달 시 종료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coverage 표 (state × i_sw)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err_c1 = 0 → PASS 출력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시뮬레이션 · S0 → S1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 Moves to S1 Only on 01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 / 56</a:t>
            </a:r>
            <a:endParaRPr lang="en-US" sz="900" dirty="0"/>
          </a:p>
        </p:txBody>
      </p:sp>
      <p:pic>
        <p:nvPicPr>
          <p:cNvPr id="8" name="Imag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19200"/>
            <a:ext cx="11277600" cy="1822426"/>
          </a:xfrm>
          <a:prstGeom prst="rect">
            <a:avLst/>
          </a:prstGeom>
        </p:spPr>
      </p:pic>
      <p:cxnSp>
        <p:nvCxnSpPr>
          <p:cNvPr id="9" name="Line 9"/>
          <p:cNvCxnSpPr/>
          <p:nvPr/>
        </p:nvCxnSpPr>
        <p:spPr>
          <a:xfrm>
            <a:off x="5166920" y="1474340"/>
            <a:ext cx="0" cy="1567286"/>
          </a:xfrm>
          <a:prstGeom prst="line">
            <a:avLst/>
          </a:prstGeom>
          <a:ln w="22225">
            <a:solidFill>
              <a:srgbClr val="64748B"/>
            </a:solidFill>
            <a:prstDash val="dash"/>
          </a:ln>
        </p:spPr>
      </p:cxnSp>
      <p:sp>
        <p:nvSpPr>
          <p:cNvPr id="10" name="Shape 10"/>
          <p:cNvSpPr/>
          <p:nvPr/>
        </p:nvSpPr>
        <p:spPr>
          <a:xfrm>
            <a:off x="5176445" y="3098776"/>
            <a:ext cx="3554334" cy="1143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1"/>
          <p:cNvSpPr/>
          <p:nvPr/>
        </p:nvSpPr>
        <p:spPr>
          <a:xfrm>
            <a:off x="6839312" y="3270226"/>
            <a:ext cx="228600" cy="22860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6839312" y="327022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4861999" y="1976769"/>
            <a:ext cx="323971" cy="192939"/>
          </a:xfrm>
          <a:prstGeom prst="roundRect">
            <a:avLst>
              <a:gd name="adj" fmla="val 14810"/>
            </a:avLst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4" name="Line 14"/>
          <p:cNvCxnSpPr/>
          <p:nvPr/>
        </p:nvCxnSpPr>
        <p:spPr>
          <a:xfrm>
            <a:off x="8740304" y="1474340"/>
            <a:ext cx="0" cy="1567286"/>
          </a:xfrm>
          <a:prstGeom prst="line">
            <a:avLst/>
          </a:prstGeom>
          <a:ln w="22225">
            <a:solidFill>
              <a:srgbClr val="2563EB"/>
            </a:solidFill>
            <a:prstDash val="dash"/>
          </a:ln>
        </p:spPr>
      </p:cxnSp>
      <p:sp>
        <p:nvSpPr>
          <p:cNvPr id="15" name="Shape 15"/>
          <p:cNvSpPr/>
          <p:nvPr/>
        </p:nvSpPr>
        <p:spPr>
          <a:xfrm>
            <a:off x="8749829" y="3098776"/>
            <a:ext cx="1410304" cy="1143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6"/>
          <p:cNvSpPr/>
          <p:nvPr/>
        </p:nvSpPr>
        <p:spPr>
          <a:xfrm>
            <a:off x="9340681" y="3270226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9340681" y="327022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8435383" y="1976769"/>
            <a:ext cx="323971" cy="192939"/>
          </a:xfrm>
          <a:prstGeom prst="roundRect">
            <a:avLst>
              <a:gd name="adj" fmla="val 14810"/>
            </a:avLst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9" name="Line 19"/>
          <p:cNvCxnSpPr/>
          <p:nvPr/>
        </p:nvCxnSpPr>
        <p:spPr>
          <a:xfrm>
            <a:off x="10169658" y="1474340"/>
            <a:ext cx="0" cy="1567286"/>
          </a:xfrm>
          <a:prstGeom prst="line">
            <a:avLst/>
          </a:prstGeom>
          <a:ln w="22225">
            <a:solidFill>
              <a:srgbClr val="0891B2"/>
            </a:solidFill>
            <a:prstDash val="dash"/>
          </a:ln>
        </p:spPr>
      </p:cxnSp>
      <p:sp>
        <p:nvSpPr>
          <p:cNvPr id="20" name="Shape 20"/>
          <p:cNvSpPr/>
          <p:nvPr/>
        </p:nvSpPr>
        <p:spPr>
          <a:xfrm>
            <a:off x="10179183" y="3098776"/>
            <a:ext cx="1517505" cy="1143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21"/>
          <p:cNvSpPr/>
          <p:nvPr/>
        </p:nvSpPr>
        <p:spPr>
          <a:xfrm>
            <a:off x="10823635" y="3270226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10823635" y="327022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Shape 23"/>
          <p:cNvSpPr/>
          <p:nvPr/>
        </p:nvSpPr>
        <p:spPr>
          <a:xfrm>
            <a:off x="9864737" y="1976769"/>
            <a:ext cx="323971" cy="192939"/>
          </a:xfrm>
          <a:prstGeom prst="roundRect">
            <a:avLst>
              <a:gd name="adj" fmla="val 14810"/>
            </a:avLst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4"/>
          <p:cNvSpPr/>
          <p:nvPr/>
        </p:nvSpPr>
        <p:spPr>
          <a:xfrm>
            <a:off x="457200" y="40005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5" name="Line 25"/>
          <p:cNvCxnSpPr/>
          <p:nvPr/>
        </p:nvCxnSpPr>
        <p:spPr>
          <a:xfrm>
            <a:off x="6419850" y="4514850"/>
            <a:ext cx="1628775" cy="0"/>
          </a:xfrm>
          <a:prstGeom prst="line">
            <a:avLst/>
          </a:prstGeom>
          <a:ln w="44450">
            <a:solidFill>
              <a:srgbClr val="2563EB"/>
            </a:solidFill>
            <a:prstDash val="solid"/>
            <a:tailEnd type="triangle"/>
          </a:ln>
        </p:spPr>
      </p:cxnSp>
      <p:sp>
        <p:nvSpPr>
          <p:cNvPr id="26" name="Text 26"/>
          <p:cNvSpPr txBox="1"/>
          <p:nvPr/>
        </p:nvSpPr>
        <p:spPr>
          <a:xfrm>
            <a:off x="7048500" y="42767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cxnSp>
        <p:nvCxnSpPr>
          <p:cNvPr id="27" name="Line 27"/>
          <p:cNvCxnSpPr/>
          <p:nvPr/>
        </p:nvCxnSpPr>
        <p:spPr>
          <a:xfrm>
            <a:off x="8382000" y="4838700"/>
            <a:ext cx="0" cy="600075"/>
          </a:xfrm>
          <a:prstGeom prst="line">
            <a:avLst/>
          </a:prstGeom>
          <a:ln w="28575">
            <a:solidFill>
              <a:srgbClr val="0891B2"/>
            </a:solidFill>
            <a:prstDash val="solid"/>
            <a:tailEnd type="triangle"/>
          </a:ln>
        </p:spPr>
      </p:cxnSp>
      <p:sp>
        <p:nvSpPr>
          <p:cNvPr id="28" name="Text 28"/>
          <p:cNvSpPr txBox="1"/>
          <p:nvPr/>
        </p:nvSpPr>
        <p:spPr>
          <a:xfrm>
            <a:off x="84010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cxnSp>
        <p:nvCxnSpPr>
          <p:cNvPr id="29" name="Line 29"/>
          <p:cNvCxnSpPr/>
          <p:nvPr/>
        </p:nvCxnSpPr>
        <p:spPr>
          <a:xfrm flipH="1">
            <a:off x="6429375" y="57721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0" name="Text 30"/>
          <p:cNvSpPr txBox="1"/>
          <p:nvPr/>
        </p:nvSpPr>
        <p:spPr>
          <a:xfrm>
            <a:off x="7048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  <p:cxnSp>
        <p:nvCxnSpPr>
          <p:cNvPr id="31" name="Line 31"/>
          <p:cNvCxnSpPr/>
          <p:nvPr/>
        </p:nvCxnSpPr>
        <p:spPr>
          <a:xfrm flipH="1">
            <a:off x="4143375" y="57721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2" name="Text 32"/>
          <p:cNvSpPr txBox="1"/>
          <p:nvPr/>
        </p:nvSpPr>
        <p:spPr>
          <a:xfrm>
            <a:off x="4762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cxnSp>
        <p:nvCxnSpPr>
          <p:cNvPr id="33" name="Line 33"/>
          <p:cNvCxnSpPr/>
          <p:nvPr/>
        </p:nvCxnSpPr>
        <p:spPr>
          <a:xfrm flipV="1">
            <a:off x="6096000" y="4848225"/>
            <a:ext cx="0" cy="600075"/>
          </a:xfrm>
          <a:prstGeom prst="line">
            <a:avLst/>
          </a:prstGeom>
          <a:ln w="28575">
            <a:solidFill>
              <a:srgbClr val="64748B"/>
            </a:solidFill>
            <a:prstDash val="solid"/>
            <a:tailEnd type="triangle"/>
          </a:ln>
        </p:spPr>
      </p:cxnSp>
      <p:sp>
        <p:nvSpPr>
          <p:cNvPr id="34" name="Text 34"/>
          <p:cNvSpPr txBox="1"/>
          <p:nvPr/>
        </p:nvSpPr>
        <p:spPr>
          <a:xfrm>
            <a:off x="56959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cxnSp>
        <p:nvCxnSpPr>
          <p:cNvPr id="35" name="Line 35"/>
          <p:cNvCxnSpPr/>
          <p:nvPr/>
        </p:nvCxnSpPr>
        <p:spPr>
          <a:xfrm flipV="1">
            <a:off x="6379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6" name="Text 36"/>
          <p:cNvSpPr txBox="1"/>
          <p:nvPr/>
        </p:nvSpPr>
        <p:spPr>
          <a:xfrm>
            <a:off x="7191375" y="47815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cxnSp>
        <p:nvCxnSpPr>
          <p:cNvPr id="37" name="Line 37"/>
          <p:cNvCxnSpPr/>
          <p:nvPr/>
        </p:nvCxnSpPr>
        <p:spPr>
          <a:xfrm flipV="1">
            <a:off x="4093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8" name="Text 38"/>
          <p:cNvSpPr txBox="1"/>
          <p:nvPr/>
        </p:nvSpPr>
        <p:spPr>
          <a:xfrm>
            <a:off x="4619625" y="48577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sp>
        <p:nvSpPr>
          <p:cNvPr id="39" name="Shape 39"/>
          <p:cNvSpPr/>
          <p:nvPr/>
        </p:nvSpPr>
        <p:spPr>
          <a:xfrm>
            <a:off x="6172200" y="4953000"/>
            <a:ext cx="228600" cy="22860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6172200" y="49530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Shape 41"/>
          <p:cNvSpPr/>
          <p:nvPr/>
        </p:nvSpPr>
        <p:spPr>
          <a:xfrm>
            <a:off x="7124700" y="4552950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7124700" y="45529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3"/>
          <p:cNvSpPr/>
          <p:nvPr/>
        </p:nvSpPr>
        <p:spPr>
          <a:xfrm>
            <a:off x="8058150" y="502920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8058150" y="50292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cxnSp>
        <p:nvCxnSpPr>
          <p:cNvPr id="45" name="Line 45"/>
          <p:cNvCxnSpPr/>
          <p:nvPr/>
        </p:nvCxnSpPr>
        <p:spPr>
          <a:xfrm>
            <a:off x="4762500" y="4514850"/>
            <a:ext cx="100012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46" name="Text 46"/>
          <p:cNvSpPr txBox="1"/>
          <p:nvPr/>
        </p:nvSpPr>
        <p:spPr>
          <a:xfrm>
            <a:off x="4762500" y="42862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7" name="Shape 47"/>
          <p:cNvSpPr/>
          <p:nvPr/>
        </p:nvSpPr>
        <p:spPr>
          <a:xfrm>
            <a:off x="5791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5791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49" name="Text 49"/>
          <p:cNvSpPr txBox="1"/>
          <p:nvPr/>
        </p:nvSpPr>
        <p:spPr>
          <a:xfrm>
            <a:off x="5791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000" dirty="0"/>
          </a:p>
        </p:txBody>
      </p:sp>
      <p:sp>
        <p:nvSpPr>
          <p:cNvPr id="50" name="Shape 50"/>
          <p:cNvSpPr/>
          <p:nvPr/>
        </p:nvSpPr>
        <p:spPr>
          <a:xfrm>
            <a:off x="8077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8077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52" name="Text 52"/>
          <p:cNvSpPr txBox="1"/>
          <p:nvPr/>
        </p:nvSpPr>
        <p:spPr>
          <a:xfrm>
            <a:off x="8077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53" name="Shape 53"/>
          <p:cNvSpPr/>
          <p:nvPr/>
        </p:nvSpPr>
        <p:spPr>
          <a:xfrm>
            <a:off x="8077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8077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55" name="Text 55"/>
          <p:cNvSpPr txBox="1"/>
          <p:nvPr/>
        </p:nvSpPr>
        <p:spPr>
          <a:xfrm>
            <a:off x="8077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56" name="Shape 56"/>
          <p:cNvSpPr/>
          <p:nvPr/>
        </p:nvSpPr>
        <p:spPr>
          <a:xfrm>
            <a:off x="5791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5791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58" name="Text 58"/>
          <p:cNvSpPr txBox="1"/>
          <p:nvPr/>
        </p:nvSpPr>
        <p:spPr>
          <a:xfrm>
            <a:off x="5791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59" name="Shape 59"/>
          <p:cNvSpPr/>
          <p:nvPr/>
        </p:nvSpPr>
        <p:spPr>
          <a:xfrm>
            <a:off x="3505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0"/>
          <p:cNvSpPr txBox="1"/>
          <p:nvPr/>
        </p:nvSpPr>
        <p:spPr>
          <a:xfrm>
            <a:off x="3505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61" name="Text 61"/>
          <p:cNvSpPr txBox="1"/>
          <p:nvPr/>
        </p:nvSpPr>
        <p:spPr>
          <a:xfrm>
            <a:off x="3505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시뮬레이션 · S2 → S3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 Moves to S3 Only on 11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 / 56</a:t>
            </a:r>
            <a:endParaRPr lang="en-US" sz="900" dirty="0"/>
          </a:p>
        </p:txBody>
      </p:sp>
      <p:pic>
        <p:nvPicPr>
          <p:cNvPr id="8" name="Imag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19200"/>
            <a:ext cx="11277600" cy="1989647"/>
          </a:xfrm>
          <a:prstGeom prst="rect">
            <a:avLst/>
          </a:prstGeom>
        </p:spPr>
      </p:pic>
      <p:cxnSp>
        <p:nvCxnSpPr>
          <p:cNvPr id="9" name="Line 9"/>
          <p:cNvCxnSpPr/>
          <p:nvPr/>
        </p:nvCxnSpPr>
        <p:spPr>
          <a:xfrm>
            <a:off x="3688175" y="1497751"/>
            <a:ext cx="0" cy="1711096"/>
          </a:xfrm>
          <a:prstGeom prst="line">
            <a:avLst/>
          </a:prstGeom>
          <a:ln w="22225">
            <a:solidFill>
              <a:srgbClr val="2563EB"/>
            </a:solidFill>
            <a:prstDash val="dash"/>
          </a:ln>
        </p:spPr>
      </p:cxnSp>
      <p:sp>
        <p:nvSpPr>
          <p:cNvPr id="10" name="Shape 10"/>
          <p:cNvSpPr/>
          <p:nvPr/>
        </p:nvSpPr>
        <p:spPr>
          <a:xfrm>
            <a:off x="3697700" y="3265997"/>
            <a:ext cx="1741699" cy="1143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1"/>
          <p:cNvSpPr/>
          <p:nvPr/>
        </p:nvSpPr>
        <p:spPr>
          <a:xfrm>
            <a:off x="4454250" y="3437447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4454250" y="343744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3316975" y="2132626"/>
            <a:ext cx="390250" cy="224421"/>
          </a:xfrm>
          <a:prstGeom prst="roundRect">
            <a:avLst>
              <a:gd name="adj" fmla="val 12732"/>
            </a:avLst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4" name="Line 14"/>
          <p:cNvCxnSpPr/>
          <p:nvPr/>
        </p:nvCxnSpPr>
        <p:spPr>
          <a:xfrm>
            <a:off x="5448925" y="1497751"/>
            <a:ext cx="0" cy="1711096"/>
          </a:xfrm>
          <a:prstGeom prst="line">
            <a:avLst/>
          </a:prstGeom>
          <a:ln w="22225">
            <a:solidFill>
              <a:srgbClr val="0891B2"/>
            </a:solidFill>
            <a:prstDash val="dash"/>
          </a:ln>
        </p:spPr>
      </p:cxnSp>
      <p:sp>
        <p:nvSpPr>
          <p:cNvPr id="15" name="Shape 15"/>
          <p:cNvSpPr/>
          <p:nvPr/>
        </p:nvSpPr>
        <p:spPr>
          <a:xfrm>
            <a:off x="5458450" y="3265997"/>
            <a:ext cx="3502449" cy="1143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6"/>
          <p:cNvSpPr/>
          <p:nvPr/>
        </p:nvSpPr>
        <p:spPr>
          <a:xfrm>
            <a:off x="7095374" y="3437447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7095374" y="343744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5077725" y="2132626"/>
            <a:ext cx="390250" cy="224421"/>
          </a:xfrm>
          <a:prstGeom prst="roundRect">
            <a:avLst>
              <a:gd name="adj" fmla="val 12732"/>
            </a:avLst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9" name="Line 19"/>
          <p:cNvCxnSpPr/>
          <p:nvPr/>
        </p:nvCxnSpPr>
        <p:spPr>
          <a:xfrm>
            <a:off x="8970423" y="1497751"/>
            <a:ext cx="0" cy="1711096"/>
          </a:xfrm>
          <a:prstGeom prst="line">
            <a:avLst/>
          </a:prstGeom>
          <a:ln w="22225">
            <a:solidFill>
              <a:srgbClr val="9333EA"/>
            </a:solidFill>
            <a:prstDash val="dash"/>
          </a:ln>
        </p:spPr>
      </p:cxnSp>
      <p:sp>
        <p:nvSpPr>
          <p:cNvPr id="20" name="Shape 20"/>
          <p:cNvSpPr/>
          <p:nvPr/>
        </p:nvSpPr>
        <p:spPr>
          <a:xfrm>
            <a:off x="8979948" y="3265997"/>
            <a:ext cx="2622074" cy="1143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21"/>
          <p:cNvSpPr/>
          <p:nvPr/>
        </p:nvSpPr>
        <p:spPr>
          <a:xfrm>
            <a:off x="10176685" y="3437447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10176685" y="343744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Shape 23"/>
          <p:cNvSpPr/>
          <p:nvPr/>
        </p:nvSpPr>
        <p:spPr>
          <a:xfrm>
            <a:off x="8599224" y="2132626"/>
            <a:ext cx="390250" cy="224421"/>
          </a:xfrm>
          <a:prstGeom prst="roundRect">
            <a:avLst>
              <a:gd name="adj" fmla="val 12732"/>
            </a:avLst>
          </a:prstGeom>
          <a:noFill/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4"/>
          <p:cNvSpPr/>
          <p:nvPr/>
        </p:nvSpPr>
        <p:spPr>
          <a:xfrm>
            <a:off x="457200" y="40005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5" name="Line 25"/>
          <p:cNvCxnSpPr/>
          <p:nvPr/>
        </p:nvCxnSpPr>
        <p:spPr>
          <a:xfrm>
            <a:off x="6419850" y="4514850"/>
            <a:ext cx="1628775" cy="0"/>
          </a:xfrm>
          <a:prstGeom prst="line">
            <a:avLst/>
          </a:prstGeom>
          <a:ln w="28575">
            <a:solidFill>
              <a:srgbClr val="2563EB"/>
            </a:solidFill>
            <a:prstDash val="solid"/>
            <a:tailEnd type="triangle"/>
          </a:ln>
        </p:spPr>
      </p:cxnSp>
      <p:sp>
        <p:nvSpPr>
          <p:cNvPr id="26" name="Text 26"/>
          <p:cNvSpPr txBox="1"/>
          <p:nvPr/>
        </p:nvSpPr>
        <p:spPr>
          <a:xfrm>
            <a:off x="7048500" y="42767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cxnSp>
        <p:nvCxnSpPr>
          <p:cNvPr id="27" name="Line 27"/>
          <p:cNvCxnSpPr/>
          <p:nvPr/>
        </p:nvCxnSpPr>
        <p:spPr>
          <a:xfrm>
            <a:off x="8382000" y="4838700"/>
            <a:ext cx="0" cy="600075"/>
          </a:xfrm>
          <a:prstGeom prst="line">
            <a:avLst/>
          </a:prstGeom>
          <a:ln w="28575">
            <a:solidFill>
              <a:srgbClr val="0891B2"/>
            </a:solidFill>
            <a:prstDash val="solid"/>
            <a:tailEnd type="triangle"/>
          </a:ln>
        </p:spPr>
      </p:cxnSp>
      <p:sp>
        <p:nvSpPr>
          <p:cNvPr id="28" name="Text 28"/>
          <p:cNvSpPr txBox="1"/>
          <p:nvPr/>
        </p:nvSpPr>
        <p:spPr>
          <a:xfrm>
            <a:off x="84010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cxnSp>
        <p:nvCxnSpPr>
          <p:cNvPr id="29" name="Line 29"/>
          <p:cNvCxnSpPr/>
          <p:nvPr/>
        </p:nvCxnSpPr>
        <p:spPr>
          <a:xfrm flipH="1">
            <a:off x="6429375" y="5772150"/>
            <a:ext cx="1628775" cy="0"/>
          </a:xfrm>
          <a:prstGeom prst="line">
            <a:avLst/>
          </a:prstGeom>
          <a:ln w="44450">
            <a:solidFill>
              <a:srgbClr val="9333EA"/>
            </a:solidFill>
            <a:prstDash val="solid"/>
            <a:tailEnd type="triangle"/>
          </a:ln>
        </p:spPr>
      </p:cxnSp>
      <p:sp>
        <p:nvSpPr>
          <p:cNvPr id="30" name="Text 30"/>
          <p:cNvSpPr txBox="1"/>
          <p:nvPr/>
        </p:nvSpPr>
        <p:spPr>
          <a:xfrm>
            <a:off x="7048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200" dirty="0"/>
          </a:p>
        </p:txBody>
      </p:sp>
      <p:cxnSp>
        <p:nvCxnSpPr>
          <p:cNvPr id="31" name="Line 31"/>
          <p:cNvCxnSpPr/>
          <p:nvPr/>
        </p:nvCxnSpPr>
        <p:spPr>
          <a:xfrm flipH="1">
            <a:off x="4143375" y="57721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2" name="Text 32"/>
          <p:cNvSpPr txBox="1"/>
          <p:nvPr/>
        </p:nvSpPr>
        <p:spPr>
          <a:xfrm>
            <a:off x="4762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cxnSp>
        <p:nvCxnSpPr>
          <p:cNvPr id="33" name="Line 33"/>
          <p:cNvCxnSpPr/>
          <p:nvPr/>
        </p:nvCxnSpPr>
        <p:spPr>
          <a:xfrm flipV="1">
            <a:off x="6096000" y="4848225"/>
            <a:ext cx="0" cy="600075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4" name="Text 34"/>
          <p:cNvSpPr txBox="1"/>
          <p:nvPr/>
        </p:nvSpPr>
        <p:spPr>
          <a:xfrm>
            <a:off x="56959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cxnSp>
        <p:nvCxnSpPr>
          <p:cNvPr id="35" name="Line 35"/>
          <p:cNvCxnSpPr/>
          <p:nvPr/>
        </p:nvCxnSpPr>
        <p:spPr>
          <a:xfrm flipV="1">
            <a:off x="6379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6" name="Text 36"/>
          <p:cNvSpPr txBox="1"/>
          <p:nvPr/>
        </p:nvSpPr>
        <p:spPr>
          <a:xfrm>
            <a:off x="7191375" y="47815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cxnSp>
        <p:nvCxnSpPr>
          <p:cNvPr id="37" name="Line 37"/>
          <p:cNvCxnSpPr/>
          <p:nvPr/>
        </p:nvCxnSpPr>
        <p:spPr>
          <a:xfrm flipV="1">
            <a:off x="4093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8" name="Text 38"/>
          <p:cNvSpPr txBox="1"/>
          <p:nvPr/>
        </p:nvSpPr>
        <p:spPr>
          <a:xfrm>
            <a:off x="4619625" y="48577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sp>
        <p:nvSpPr>
          <p:cNvPr id="39" name="Shape 39"/>
          <p:cNvSpPr/>
          <p:nvPr/>
        </p:nvSpPr>
        <p:spPr>
          <a:xfrm>
            <a:off x="7124700" y="4552950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7124700" y="45529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Shape 41"/>
          <p:cNvSpPr/>
          <p:nvPr/>
        </p:nvSpPr>
        <p:spPr>
          <a:xfrm>
            <a:off x="8058150" y="502920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8058150" y="50292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3"/>
          <p:cNvSpPr/>
          <p:nvPr/>
        </p:nvSpPr>
        <p:spPr>
          <a:xfrm>
            <a:off x="7124700" y="550545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7124700" y="55054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cxnSp>
        <p:nvCxnSpPr>
          <p:cNvPr id="45" name="Line 45"/>
          <p:cNvCxnSpPr/>
          <p:nvPr/>
        </p:nvCxnSpPr>
        <p:spPr>
          <a:xfrm>
            <a:off x="4762500" y="4514850"/>
            <a:ext cx="100012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46" name="Text 46"/>
          <p:cNvSpPr txBox="1"/>
          <p:nvPr/>
        </p:nvSpPr>
        <p:spPr>
          <a:xfrm>
            <a:off x="4762500" y="42862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7" name="Shape 47"/>
          <p:cNvSpPr/>
          <p:nvPr/>
        </p:nvSpPr>
        <p:spPr>
          <a:xfrm>
            <a:off x="5791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5791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49" name="Text 49"/>
          <p:cNvSpPr txBox="1"/>
          <p:nvPr/>
        </p:nvSpPr>
        <p:spPr>
          <a:xfrm>
            <a:off x="5791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000" dirty="0"/>
          </a:p>
        </p:txBody>
      </p:sp>
      <p:sp>
        <p:nvSpPr>
          <p:cNvPr id="50" name="Shape 50"/>
          <p:cNvSpPr/>
          <p:nvPr/>
        </p:nvSpPr>
        <p:spPr>
          <a:xfrm>
            <a:off x="8077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8077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52" name="Text 52"/>
          <p:cNvSpPr txBox="1"/>
          <p:nvPr/>
        </p:nvSpPr>
        <p:spPr>
          <a:xfrm>
            <a:off x="8077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53" name="Shape 53"/>
          <p:cNvSpPr/>
          <p:nvPr/>
        </p:nvSpPr>
        <p:spPr>
          <a:xfrm>
            <a:off x="8077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8077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55" name="Text 55"/>
          <p:cNvSpPr txBox="1"/>
          <p:nvPr/>
        </p:nvSpPr>
        <p:spPr>
          <a:xfrm>
            <a:off x="8077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56" name="Shape 56"/>
          <p:cNvSpPr/>
          <p:nvPr/>
        </p:nvSpPr>
        <p:spPr>
          <a:xfrm>
            <a:off x="5791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5791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58" name="Text 58"/>
          <p:cNvSpPr txBox="1"/>
          <p:nvPr/>
        </p:nvSpPr>
        <p:spPr>
          <a:xfrm>
            <a:off x="5791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59" name="Shape 59"/>
          <p:cNvSpPr/>
          <p:nvPr/>
        </p:nvSpPr>
        <p:spPr>
          <a:xfrm>
            <a:off x="3505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0"/>
          <p:cNvSpPr txBox="1"/>
          <p:nvPr/>
        </p:nvSpPr>
        <p:spPr>
          <a:xfrm>
            <a:off x="3505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61" name="Text 61"/>
          <p:cNvSpPr txBox="1"/>
          <p:nvPr/>
        </p:nvSpPr>
        <p:spPr>
          <a:xfrm>
            <a:off x="3505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시뮬레이션 · S1 → S2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 Moves to S2 Only on 10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 / 56</a:t>
            </a:r>
            <a:endParaRPr lang="en-US" sz="900" dirty="0"/>
          </a:p>
        </p:txBody>
      </p:sp>
      <p:pic>
        <p:nvPicPr>
          <p:cNvPr id="8" name="Image 8"/>
          <p:cNvPicPr>
            <a:picLocks noChangeAspect="1"/>
          </p:cNvPicPr>
          <p:nvPr/>
        </p:nvPicPr>
        <p:blipFill>
          <a:blip r:embed="rId3"/>
          <a:srcRect t="27725" b="34267"/>
          <a:stretch>
            <a:fillRect/>
          </a:stretch>
        </p:blipFill>
        <p:spPr>
          <a:xfrm>
            <a:off x="457200" y="1219200"/>
            <a:ext cx="11277600" cy="1716615"/>
          </a:xfrm>
          <a:prstGeom prst="rect">
            <a:avLst/>
          </a:prstGeom>
        </p:spPr>
      </p:pic>
      <p:cxnSp>
        <p:nvCxnSpPr>
          <p:cNvPr id="9" name="Line 9"/>
          <p:cNvCxnSpPr/>
          <p:nvPr/>
        </p:nvCxnSpPr>
        <p:spPr>
          <a:xfrm>
            <a:off x="2265274" y="1459526"/>
            <a:ext cx="0" cy="1476289"/>
          </a:xfrm>
          <a:prstGeom prst="line">
            <a:avLst/>
          </a:prstGeom>
          <a:ln w="22225">
            <a:solidFill>
              <a:srgbClr val="64748B"/>
            </a:solidFill>
            <a:prstDash val="dash"/>
          </a:ln>
        </p:spPr>
      </p:cxnSp>
      <p:sp>
        <p:nvSpPr>
          <p:cNvPr id="10" name="Shape 10"/>
          <p:cNvSpPr/>
          <p:nvPr/>
        </p:nvSpPr>
        <p:spPr>
          <a:xfrm>
            <a:off x="2274799" y="2992965"/>
            <a:ext cx="2443308" cy="1143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1"/>
          <p:cNvSpPr/>
          <p:nvPr/>
        </p:nvSpPr>
        <p:spPr>
          <a:xfrm>
            <a:off x="3382153" y="3164415"/>
            <a:ext cx="228600" cy="22860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3382153" y="316441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2246224" y="1810166"/>
            <a:ext cx="819019" cy="154777"/>
          </a:xfrm>
          <a:prstGeom prst="roundRect">
            <a:avLst>
              <a:gd name="adj" fmla="val 18462"/>
            </a:avLst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4" name="Line 14"/>
          <p:cNvCxnSpPr/>
          <p:nvPr/>
        </p:nvCxnSpPr>
        <p:spPr>
          <a:xfrm>
            <a:off x="4727632" y="1459526"/>
            <a:ext cx="0" cy="1476289"/>
          </a:xfrm>
          <a:prstGeom prst="line">
            <a:avLst/>
          </a:prstGeom>
          <a:ln w="22225">
            <a:solidFill>
              <a:srgbClr val="2563EB"/>
            </a:solidFill>
            <a:prstDash val="dash"/>
          </a:ln>
        </p:spPr>
      </p:cxnSp>
      <p:sp>
        <p:nvSpPr>
          <p:cNvPr id="15" name="Shape 15"/>
          <p:cNvSpPr/>
          <p:nvPr/>
        </p:nvSpPr>
        <p:spPr>
          <a:xfrm>
            <a:off x="4737157" y="2992965"/>
            <a:ext cx="4202135" cy="1143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6"/>
          <p:cNvSpPr/>
          <p:nvPr/>
        </p:nvSpPr>
        <p:spPr>
          <a:xfrm>
            <a:off x="6723925" y="3164415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6723925" y="316441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4427170" y="1950438"/>
            <a:ext cx="319512" cy="190821"/>
          </a:xfrm>
          <a:prstGeom prst="roundRect">
            <a:avLst>
              <a:gd name="adj" fmla="val 14974"/>
            </a:avLst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9" name="Line 19"/>
          <p:cNvCxnSpPr/>
          <p:nvPr/>
        </p:nvCxnSpPr>
        <p:spPr>
          <a:xfrm>
            <a:off x="8948818" y="1459526"/>
            <a:ext cx="0" cy="1476289"/>
          </a:xfrm>
          <a:prstGeom prst="line">
            <a:avLst/>
          </a:prstGeom>
          <a:ln w="22225">
            <a:solidFill>
              <a:srgbClr val="0891B2"/>
            </a:solidFill>
            <a:prstDash val="dash"/>
          </a:ln>
        </p:spPr>
      </p:cxnSp>
      <p:sp>
        <p:nvSpPr>
          <p:cNvPr id="20" name="Shape 20"/>
          <p:cNvSpPr/>
          <p:nvPr/>
        </p:nvSpPr>
        <p:spPr>
          <a:xfrm>
            <a:off x="8958343" y="2992965"/>
            <a:ext cx="2731756" cy="1143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21"/>
          <p:cNvSpPr/>
          <p:nvPr/>
        </p:nvSpPr>
        <p:spPr>
          <a:xfrm>
            <a:off x="10209921" y="3164415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10209921" y="316441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Shape 23"/>
          <p:cNvSpPr/>
          <p:nvPr/>
        </p:nvSpPr>
        <p:spPr>
          <a:xfrm>
            <a:off x="8648355" y="1950438"/>
            <a:ext cx="319512" cy="190821"/>
          </a:xfrm>
          <a:prstGeom prst="roundRect">
            <a:avLst>
              <a:gd name="adj" fmla="val 14974"/>
            </a:avLst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4"/>
          <p:cNvSpPr/>
          <p:nvPr/>
        </p:nvSpPr>
        <p:spPr>
          <a:xfrm>
            <a:off x="457200" y="40005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5" name="Line 25"/>
          <p:cNvCxnSpPr/>
          <p:nvPr/>
        </p:nvCxnSpPr>
        <p:spPr>
          <a:xfrm>
            <a:off x="6419850" y="4514850"/>
            <a:ext cx="1628775" cy="0"/>
          </a:xfrm>
          <a:prstGeom prst="line">
            <a:avLst/>
          </a:prstGeom>
          <a:ln w="28575">
            <a:solidFill>
              <a:srgbClr val="2563EB"/>
            </a:solidFill>
            <a:prstDash val="solid"/>
            <a:tailEnd type="triangle"/>
          </a:ln>
        </p:spPr>
      </p:cxnSp>
      <p:sp>
        <p:nvSpPr>
          <p:cNvPr id="26" name="Text 26"/>
          <p:cNvSpPr txBox="1"/>
          <p:nvPr/>
        </p:nvSpPr>
        <p:spPr>
          <a:xfrm>
            <a:off x="7048500" y="42767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cxnSp>
        <p:nvCxnSpPr>
          <p:cNvPr id="27" name="Line 27"/>
          <p:cNvCxnSpPr/>
          <p:nvPr/>
        </p:nvCxnSpPr>
        <p:spPr>
          <a:xfrm>
            <a:off x="8382000" y="4838700"/>
            <a:ext cx="0" cy="600075"/>
          </a:xfrm>
          <a:prstGeom prst="line">
            <a:avLst/>
          </a:prstGeom>
          <a:ln w="44450">
            <a:solidFill>
              <a:srgbClr val="0891B2"/>
            </a:solidFill>
            <a:prstDash val="solid"/>
            <a:tailEnd type="triangle"/>
          </a:ln>
        </p:spPr>
      </p:cxnSp>
      <p:sp>
        <p:nvSpPr>
          <p:cNvPr id="28" name="Text 28"/>
          <p:cNvSpPr txBox="1"/>
          <p:nvPr/>
        </p:nvSpPr>
        <p:spPr>
          <a:xfrm>
            <a:off x="84010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cxnSp>
        <p:nvCxnSpPr>
          <p:cNvPr id="29" name="Line 29"/>
          <p:cNvCxnSpPr/>
          <p:nvPr/>
        </p:nvCxnSpPr>
        <p:spPr>
          <a:xfrm flipH="1">
            <a:off x="6429375" y="57721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0" name="Text 30"/>
          <p:cNvSpPr txBox="1"/>
          <p:nvPr/>
        </p:nvSpPr>
        <p:spPr>
          <a:xfrm>
            <a:off x="7048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  <p:cxnSp>
        <p:nvCxnSpPr>
          <p:cNvPr id="31" name="Line 31"/>
          <p:cNvCxnSpPr/>
          <p:nvPr/>
        </p:nvCxnSpPr>
        <p:spPr>
          <a:xfrm flipH="1">
            <a:off x="4143375" y="57721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2" name="Text 32"/>
          <p:cNvSpPr txBox="1"/>
          <p:nvPr/>
        </p:nvSpPr>
        <p:spPr>
          <a:xfrm>
            <a:off x="4762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cxnSp>
        <p:nvCxnSpPr>
          <p:cNvPr id="33" name="Line 33"/>
          <p:cNvCxnSpPr/>
          <p:nvPr/>
        </p:nvCxnSpPr>
        <p:spPr>
          <a:xfrm flipV="1">
            <a:off x="6096000" y="4848225"/>
            <a:ext cx="0" cy="600075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4" name="Text 34"/>
          <p:cNvSpPr txBox="1"/>
          <p:nvPr/>
        </p:nvSpPr>
        <p:spPr>
          <a:xfrm>
            <a:off x="56959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cxnSp>
        <p:nvCxnSpPr>
          <p:cNvPr id="35" name="Line 35"/>
          <p:cNvCxnSpPr/>
          <p:nvPr/>
        </p:nvCxnSpPr>
        <p:spPr>
          <a:xfrm flipV="1">
            <a:off x="6379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6" name="Text 36"/>
          <p:cNvSpPr txBox="1"/>
          <p:nvPr/>
        </p:nvSpPr>
        <p:spPr>
          <a:xfrm>
            <a:off x="7191375" y="47815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cxnSp>
        <p:nvCxnSpPr>
          <p:cNvPr id="37" name="Line 37"/>
          <p:cNvCxnSpPr/>
          <p:nvPr/>
        </p:nvCxnSpPr>
        <p:spPr>
          <a:xfrm flipV="1">
            <a:off x="4093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8" name="Text 38"/>
          <p:cNvSpPr txBox="1"/>
          <p:nvPr/>
        </p:nvSpPr>
        <p:spPr>
          <a:xfrm>
            <a:off x="4619625" y="48577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sp>
        <p:nvSpPr>
          <p:cNvPr id="39" name="Shape 39"/>
          <p:cNvSpPr/>
          <p:nvPr/>
        </p:nvSpPr>
        <p:spPr>
          <a:xfrm>
            <a:off x="7124700" y="4552950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7124700" y="45529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41" name="Shape 41"/>
          <p:cNvSpPr/>
          <p:nvPr/>
        </p:nvSpPr>
        <p:spPr>
          <a:xfrm>
            <a:off x="8058150" y="502920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8058150" y="50292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cxnSp>
        <p:nvCxnSpPr>
          <p:cNvPr id="43" name="Line 43"/>
          <p:cNvCxnSpPr/>
          <p:nvPr/>
        </p:nvCxnSpPr>
        <p:spPr>
          <a:xfrm>
            <a:off x="4762500" y="4514850"/>
            <a:ext cx="1000125" cy="0"/>
          </a:xfrm>
          <a:prstGeom prst="line">
            <a:avLst/>
          </a:prstGeom>
          <a:ln w="28575">
            <a:solidFill>
              <a:srgbClr val="64748B"/>
            </a:solidFill>
            <a:prstDash val="solid"/>
            <a:tailEnd type="triangle"/>
          </a:ln>
        </p:spPr>
      </p:cxnSp>
      <p:sp>
        <p:nvSpPr>
          <p:cNvPr id="44" name="Text 44"/>
          <p:cNvSpPr txBox="1"/>
          <p:nvPr/>
        </p:nvSpPr>
        <p:spPr>
          <a:xfrm>
            <a:off x="4762500" y="42862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5" name="Shape 45"/>
          <p:cNvSpPr/>
          <p:nvPr/>
        </p:nvSpPr>
        <p:spPr>
          <a:xfrm>
            <a:off x="4533900" y="4400550"/>
            <a:ext cx="228600" cy="22860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6"/>
          <p:cNvSpPr txBox="1"/>
          <p:nvPr/>
        </p:nvSpPr>
        <p:spPr>
          <a:xfrm>
            <a:off x="4533900" y="44005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47" name="Shape 47"/>
          <p:cNvSpPr/>
          <p:nvPr/>
        </p:nvSpPr>
        <p:spPr>
          <a:xfrm>
            <a:off x="5791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5791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49" name="Text 49"/>
          <p:cNvSpPr txBox="1"/>
          <p:nvPr/>
        </p:nvSpPr>
        <p:spPr>
          <a:xfrm>
            <a:off x="5791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000" dirty="0"/>
          </a:p>
        </p:txBody>
      </p:sp>
      <p:sp>
        <p:nvSpPr>
          <p:cNvPr id="50" name="Shape 50"/>
          <p:cNvSpPr/>
          <p:nvPr/>
        </p:nvSpPr>
        <p:spPr>
          <a:xfrm>
            <a:off x="8077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8077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52" name="Text 52"/>
          <p:cNvSpPr txBox="1"/>
          <p:nvPr/>
        </p:nvSpPr>
        <p:spPr>
          <a:xfrm>
            <a:off x="8077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53" name="Shape 53"/>
          <p:cNvSpPr/>
          <p:nvPr/>
        </p:nvSpPr>
        <p:spPr>
          <a:xfrm>
            <a:off x="8077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8077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55" name="Text 55"/>
          <p:cNvSpPr txBox="1"/>
          <p:nvPr/>
        </p:nvSpPr>
        <p:spPr>
          <a:xfrm>
            <a:off x="8077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56" name="Shape 56"/>
          <p:cNvSpPr/>
          <p:nvPr/>
        </p:nvSpPr>
        <p:spPr>
          <a:xfrm>
            <a:off x="5791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5791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58" name="Text 58"/>
          <p:cNvSpPr txBox="1"/>
          <p:nvPr/>
        </p:nvSpPr>
        <p:spPr>
          <a:xfrm>
            <a:off x="5791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59" name="Shape 59"/>
          <p:cNvSpPr/>
          <p:nvPr/>
        </p:nvSpPr>
        <p:spPr>
          <a:xfrm>
            <a:off x="3505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0"/>
          <p:cNvSpPr txBox="1"/>
          <p:nvPr/>
        </p:nvSpPr>
        <p:spPr>
          <a:xfrm>
            <a:off x="3505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61" name="Text 61"/>
          <p:cNvSpPr txBox="1"/>
          <p:nvPr/>
        </p:nvSpPr>
        <p:spPr>
          <a:xfrm>
            <a:off x="3505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시뮬레이션 · S4 → S0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 Returns to S0 Only on 00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 / 56</a:t>
            </a:r>
            <a:endParaRPr lang="en-US" sz="900" dirty="0"/>
          </a:p>
        </p:txBody>
      </p:sp>
      <p:pic>
        <p:nvPicPr>
          <p:cNvPr id="8" name="Imag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219200"/>
            <a:ext cx="11277600" cy="2176237"/>
          </a:xfrm>
          <a:prstGeom prst="rect">
            <a:avLst/>
          </a:prstGeom>
        </p:spPr>
      </p:pic>
      <p:cxnSp>
        <p:nvCxnSpPr>
          <p:cNvPr id="9" name="Line 9"/>
          <p:cNvCxnSpPr/>
          <p:nvPr/>
        </p:nvCxnSpPr>
        <p:spPr>
          <a:xfrm>
            <a:off x="4089655" y="1523873"/>
            <a:ext cx="0" cy="1871564"/>
          </a:xfrm>
          <a:prstGeom prst="line">
            <a:avLst/>
          </a:prstGeom>
          <a:ln w="22225">
            <a:solidFill>
              <a:srgbClr val="9333EA"/>
            </a:solidFill>
            <a:prstDash val="dash"/>
          </a:ln>
        </p:spPr>
      </p:cxnSp>
      <p:sp>
        <p:nvSpPr>
          <p:cNvPr id="10" name="Shape 10"/>
          <p:cNvSpPr/>
          <p:nvPr/>
        </p:nvSpPr>
        <p:spPr>
          <a:xfrm>
            <a:off x="4099180" y="3452587"/>
            <a:ext cx="798050" cy="1143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1"/>
          <p:cNvSpPr/>
          <p:nvPr/>
        </p:nvSpPr>
        <p:spPr>
          <a:xfrm>
            <a:off x="4383905" y="3624037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4383905" y="362403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3747001" y="2080536"/>
            <a:ext cx="361704" cy="210862"/>
          </a:xfrm>
          <a:prstGeom prst="roundRect">
            <a:avLst>
              <a:gd name="adj" fmla="val 13551"/>
            </a:avLst>
          </a:prstGeom>
          <a:noFill/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4" name="Line 14"/>
          <p:cNvCxnSpPr/>
          <p:nvPr/>
        </p:nvCxnSpPr>
        <p:spPr>
          <a:xfrm>
            <a:off x="4906755" y="1523873"/>
            <a:ext cx="0" cy="1871564"/>
          </a:xfrm>
          <a:prstGeom prst="line">
            <a:avLst/>
          </a:prstGeom>
          <a:ln w="22225">
            <a:solidFill>
              <a:srgbClr val="DB2777"/>
            </a:solidFill>
            <a:prstDash val="dash"/>
          </a:ln>
        </p:spPr>
      </p:cxnSp>
      <p:sp>
        <p:nvSpPr>
          <p:cNvPr id="15" name="Shape 15"/>
          <p:cNvSpPr/>
          <p:nvPr/>
        </p:nvSpPr>
        <p:spPr>
          <a:xfrm>
            <a:off x="4916280" y="3452587"/>
            <a:ext cx="3216990" cy="114300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6"/>
          <p:cNvSpPr/>
          <p:nvPr/>
        </p:nvSpPr>
        <p:spPr>
          <a:xfrm>
            <a:off x="6410475" y="3624037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6410475" y="362403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4564101" y="2080536"/>
            <a:ext cx="361704" cy="210862"/>
          </a:xfrm>
          <a:prstGeom prst="roundRect">
            <a:avLst>
              <a:gd name="adj" fmla="val 13551"/>
            </a:avLst>
          </a:prstGeom>
          <a:noFill/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9" name="Line 19"/>
          <p:cNvCxnSpPr/>
          <p:nvPr/>
        </p:nvCxnSpPr>
        <p:spPr>
          <a:xfrm>
            <a:off x="8142795" y="1523873"/>
            <a:ext cx="0" cy="1871564"/>
          </a:xfrm>
          <a:prstGeom prst="line">
            <a:avLst/>
          </a:prstGeom>
          <a:ln w="22225">
            <a:solidFill>
              <a:srgbClr val="64748B"/>
            </a:solidFill>
            <a:prstDash val="dash"/>
          </a:ln>
        </p:spPr>
      </p:cxnSp>
      <p:sp>
        <p:nvSpPr>
          <p:cNvPr id="20" name="Shape 20"/>
          <p:cNvSpPr/>
          <p:nvPr/>
        </p:nvSpPr>
        <p:spPr>
          <a:xfrm>
            <a:off x="8152320" y="3452587"/>
            <a:ext cx="789960" cy="1143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21"/>
          <p:cNvSpPr/>
          <p:nvPr/>
        </p:nvSpPr>
        <p:spPr>
          <a:xfrm>
            <a:off x="8433000" y="3624037"/>
            <a:ext cx="228600" cy="22860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8433000" y="362403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Shape 23"/>
          <p:cNvSpPr/>
          <p:nvPr/>
        </p:nvSpPr>
        <p:spPr>
          <a:xfrm>
            <a:off x="7800141" y="2080536"/>
            <a:ext cx="361704" cy="210862"/>
          </a:xfrm>
          <a:prstGeom prst="roundRect">
            <a:avLst>
              <a:gd name="adj" fmla="val 13551"/>
            </a:avLst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4" name="Line 24"/>
          <p:cNvCxnSpPr/>
          <p:nvPr/>
        </p:nvCxnSpPr>
        <p:spPr>
          <a:xfrm>
            <a:off x="8951805" y="1523873"/>
            <a:ext cx="0" cy="1871564"/>
          </a:xfrm>
          <a:prstGeom prst="line">
            <a:avLst/>
          </a:prstGeom>
          <a:ln w="22225">
            <a:solidFill>
              <a:srgbClr val="2563EB"/>
            </a:solidFill>
            <a:prstDash val="dash"/>
          </a:ln>
        </p:spPr>
      </p:cxnSp>
      <p:sp>
        <p:nvSpPr>
          <p:cNvPr id="25" name="Shape 25"/>
          <p:cNvSpPr/>
          <p:nvPr/>
        </p:nvSpPr>
        <p:spPr>
          <a:xfrm>
            <a:off x="8961330" y="3452587"/>
            <a:ext cx="1598970" cy="1143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6"/>
          <p:cNvSpPr/>
          <p:nvPr/>
        </p:nvSpPr>
        <p:spPr>
          <a:xfrm>
            <a:off x="9646515" y="3624037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7"/>
          <p:cNvSpPr txBox="1"/>
          <p:nvPr/>
        </p:nvSpPr>
        <p:spPr>
          <a:xfrm>
            <a:off x="9646515" y="362403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8"/>
          <p:cNvSpPr/>
          <p:nvPr/>
        </p:nvSpPr>
        <p:spPr>
          <a:xfrm>
            <a:off x="8609151" y="2080536"/>
            <a:ext cx="361704" cy="210862"/>
          </a:xfrm>
          <a:prstGeom prst="roundRect">
            <a:avLst>
              <a:gd name="adj" fmla="val 13551"/>
            </a:avLst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9" name="Line 29"/>
          <p:cNvCxnSpPr/>
          <p:nvPr/>
        </p:nvCxnSpPr>
        <p:spPr>
          <a:xfrm>
            <a:off x="10569826" y="1523873"/>
            <a:ext cx="0" cy="1871564"/>
          </a:xfrm>
          <a:prstGeom prst="line">
            <a:avLst/>
          </a:prstGeom>
          <a:ln w="22225">
            <a:solidFill>
              <a:srgbClr val="0891B2"/>
            </a:solidFill>
            <a:prstDash val="dash"/>
          </a:ln>
        </p:spPr>
      </p:cxnSp>
      <p:sp>
        <p:nvSpPr>
          <p:cNvPr id="30" name="Shape 30"/>
          <p:cNvSpPr/>
          <p:nvPr/>
        </p:nvSpPr>
        <p:spPr>
          <a:xfrm>
            <a:off x="10579351" y="3452587"/>
            <a:ext cx="789960" cy="1143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31"/>
          <p:cNvSpPr/>
          <p:nvPr/>
        </p:nvSpPr>
        <p:spPr>
          <a:xfrm>
            <a:off x="10860031" y="3624037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2"/>
          <p:cNvSpPr txBox="1"/>
          <p:nvPr/>
        </p:nvSpPr>
        <p:spPr>
          <a:xfrm>
            <a:off x="10860031" y="362403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Shape 33"/>
          <p:cNvSpPr/>
          <p:nvPr/>
        </p:nvSpPr>
        <p:spPr>
          <a:xfrm>
            <a:off x="10227172" y="2080536"/>
            <a:ext cx="361704" cy="210862"/>
          </a:xfrm>
          <a:prstGeom prst="roundRect">
            <a:avLst>
              <a:gd name="adj" fmla="val 13551"/>
            </a:avLst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4"/>
          <p:cNvSpPr/>
          <p:nvPr/>
        </p:nvSpPr>
        <p:spPr>
          <a:xfrm>
            <a:off x="457200" y="40005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5" name="Line 35"/>
          <p:cNvCxnSpPr/>
          <p:nvPr/>
        </p:nvCxnSpPr>
        <p:spPr>
          <a:xfrm>
            <a:off x="6419850" y="4514850"/>
            <a:ext cx="1628775" cy="0"/>
          </a:xfrm>
          <a:prstGeom prst="line">
            <a:avLst/>
          </a:prstGeom>
          <a:ln w="28575">
            <a:solidFill>
              <a:srgbClr val="2563EB"/>
            </a:solidFill>
            <a:prstDash val="solid"/>
            <a:tailEnd type="triangle"/>
          </a:ln>
        </p:spPr>
      </p:cxnSp>
      <p:sp>
        <p:nvSpPr>
          <p:cNvPr id="36" name="Text 36"/>
          <p:cNvSpPr txBox="1"/>
          <p:nvPr/>
        </p:nvSpPr>
        <p:spPr>
          <a:xfrm>
            <a:off x="7048500" y="42767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cxnSp>
        <p:nvCxnSpPr>
          <p:cNvPr id="37" name="Line 37"/>
          <p:cNvCxnSpPr/>
          <p:nvPr/>
        </p:nvCxnSpPr>
        <p:spPr>
          <a:xfrm>
            <a:off x="8382000" y="4838700"/>
            <a:ext cx="0" cy="600075"/>
          </a:xfrm>
          <a:prstGeom prst="line">
            <a:avLst/>
          </a:prstGeom>
          <a:ln w="28575">
            <a:solidFill>
              <a:srgbClr val="0891B2"/>
            </a:solidFill>
            <a:prstDash val="solid"/>
            <a:tailEnd type="triangle"/>
          </a:ln>
        </p:spPr>
      </p:cxnSp>
      <p:sp>
        <p:nvSpPr>
          <p:cNvPr id="38" name="Text 38"/>
          <p:cNvSpPr txBox="1"/>
          <p:nvPr/>
        </p:nvSpPr>
        <p:spPr>
          <a:xfrm>
            <a:off x="84010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cxnSp>
        <p:nvCxnSpPr>
          <p:cNvPr id="39" name="Line 39"/>
          <p:cNvCxnSpPr/>
          <p:nvPr/>
        </p:nvCxnSpPr>
        <p:spPr>
          <a:xfrm flipH="1">
            <a:off x="6429375" y="5772150"/>
            <a:ext cx="1628775" cy="0"/>
          </a:xfrm>
          <a:prstGeom prst="line">
            <a:avLst/>
          </a:prstGeom>
          <a:ln w="28575">
            <a:solidFill>
              <a:srgbClr val="9333EA"/>
            </a:solidFill>
            <a:prstDash val="solid"/>
            <a:tailEnd type="triangle"/>
          </a:ln>
        </p:spPr>
      </p:cxnSp>
      <p:sp>
        <p:nvSpPr>
          <p:cNvPr id="40" name="Text 40"/>
          <p:cNvSpPr txBox="1"/>
          <p:nvPr/>
        </p:nvSpPr>
        <p:spPr>
          <a:xfrm>
            <a:off x="7048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200" dirty="0"/>
          </a:p>
        </p:txBody>
      </p:sp>
      <p:cxnSp>
        <p:nvCxnSpPr>
          <p:cNvPr id="41" name="Line 41"/>
          <p:cNvCxnSpPr/>
          <p:nvPr/>
        </p:nvCxnSpPr>
        <p:spPr>
          <a:xfrm flipH="1">
            <a:off x="4143375" y="5772150"/>
            <a:ext cx="1628775" cy="0"/>
          </a:xfrm>
          <a:prstGeom prst="line">
            <a:avLst/>
          </a:prstGeom>
          <a:ln w="28575">
            <a:solidFill>
              <a:srgbClr val="DB2777"/>
            </a:solidFill>
            <a:prstDash val="solid"/>
            <a:tailEnd type="triangle"/>
          </a:ln>
        </p:spPr>
      </p:cxnSp>
      <p:sp>
        <p:nvSpPr>
          <p:cNvPr id="42" name="Text 42"/>
          <p:cNvSpPr txBox="1"/>
          <p:nvPr/>
        </p:nvSpPr>
        <p:spPr>
          <a:xfrm>
            <a:off x="4762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cxnSp>
        <p:nvCxnSpPr>
          <p:cNvPr id="43" name="Line 43"/>
          <p:cNvCxnSpPr/>
          <p:nvPr/>
        </p:nvCxnSpPr>
        <p:spPr>
          <a:xfrm flipV="1">
            <a:off x="6096000" y="4848225"/>
            <a:ext cx="0" cy="600075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44" name="Text 44"/>
          <p:cNvSpPr txBox="1"/>
          <p:nvPr/>
        </p:nvSpPr>
        <p:spPr>
          <a:xfrm>
            <a:off x="56959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cxnSp>
        <p:nvCxnSpPr>
          <p:cNvPr id="45" name="Line 45"/>
          <p:cNvCxnSpPr/>
          <p:nvPr/>
        </p:nvCxnSpPr>
        <p:spPr>
          <a:xfrm flipV="1">
            <a:off x="6379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46" name="Text 46"/>
          <p:cNvSpPr txBox="1"/>
          <p:nvPr/>
        </p:nvSpPr>
        <p:spPr>
          <a:xfrm>
            <a:off x="7191375" y="47815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cxnSp>
        <p:nvCxnSpPr>
          <p:cNvPr id="47" name="Line 47"/>
          <p:cNvCxnSpPr/>
          <p:nvPr/>
        </p:nvCxnSpPr>
        <p:spPr>
          <a:xfrm flipV="1">
            <a:off x="4093763" y="4675510"/>
            <a:ext cx="1710129" cy="940571"/>
          </a:xfrm>
          <a:prstGeom prst="line">
            <a:avLst/>
          </a:prstGeom>
          <a:ln w="44450">
            <a:solidFill>
              <a:srgbClr val="64748B"/>
            </a:solidFill>
            <a:prstDash val="solid"/>
            <a:tailEnd type="triangle"/>
          </a:ln>
        </p:spPr>
      </p:cxnSp>
      <p:sp>
        <p:nvSpPr>
          <p:cNvPr id="48" name="Text 48"/>
          <p:cNvSpPr txBox="1"/>
          <p:nvPr/>
        </p:nvSpPr>
        <p:spPr>
          <a:xfrm>
            <a:off x="4619625" y="48577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sp>
        <p:nvSpPr>
          <p:cNvPr id="49" name="Shape 49"/>
          <p:cNvSpPr/>
          <p:nvPr/>
        </p:nvSpPr>
        <p:spPr>
          <a:xfrm>
            <a:off x="7124700" y="550545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50"/>
          <p:cNvSpPr txBox="1"/>
          <p:nvPr/>
        </p:nvSpPr>
        <p:spPr>
          <a:xfrm>
            <a:off x="7124700" y="55054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51" name="Shape 51"/>
          <p:cNvSpPr/>
          <p:nvPr/>
        </p:nvSpPr>
        <p:spPr>
          <a:xfrm>
            <a:off x="4838700" y="5505450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2"/>
          <p:cNvSpPr txBox="1"/>
          <p:nvPr/>
        </p:nvSpPr>
        <p:spPr>
          <a:xfrm>
            <a:off x="4838700" y="55054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53" name="Shape 53"/>
          <p:cNvSpPr/>
          <p:nvPr/>
        </p:nvSpPr>
        <p:spPr>
          <a:xfrm>
            <a:off x="5029200" y="5143500"/>
            <a:ext cx="228600" cy="22860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5029200" y="51435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55" name="Shape 55"/>
          <p:cNvSpPr/>
          <p:nvPr/>
        </p:nvSpPr>
        <p:spPr>
          <a:xfrm>
            <a:off x="7124700" y="4552950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7124700" y="45529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57" name="Shape 57"/>
          <p:cNvSpPr/>
          <p:nvPr/>
        </p:nvSpPr>
        <p:spPr>
          <a:xfrm>
            <a:off x="8058150" y="502920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8"/>
          <p:cNvSpPr txBox="1"/>
          <p:nvPr/>
        </p:nvSpPr>
        <p:spPr>
          <a:xfrm>
            <a:off x="8058150" y="50292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cxnSp>
        <p:nvCxnSpPr>
          <p:cNvPr id="59" name="Line 59"/>
          <p:cNvCxnSpPr/>
          <p:nvPr/>
        </p:nvCxnSpPr>
        <p:spPr>
          <a:xfrm>
            <a:off x="4762500" y="4514850"/>
            <a:ext cx="100012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60" name="Text 60"/>
          <p:cNvSpPr txBox="1"/>
          <p:nvPr/>
        </p:nvSpPr>
        <p:spPr>
          <a:xfrm>
            <a:off x="4762500" y="42862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61" name="Shape 61"/>
          <p:cNvSpPr/>
          <p:nvPr/>
        </p:nvSpPr>
        <p:spPr>
          <a:xfrm>
            <a:off x="5791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2"/>
          <p:cNvSpPr txBox="1"/>
          <p:nvPr/>
        </p:nvSpPr>
        <p:spPr>
          <a:xfrm>
            <a:off x="5791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63" name="Text 63"/>
          <p:cNvSpPr txBox="1"/>
          <p:nvPr/>
        </p:nvSpPr>
        <p:spPr>
          <a:xfrm>
            <a:off x="5791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000" dirty="0"/>
          </a:p>
        </p:txBody>
      </p:sp>
      <p:sp>
        <p:nvSpPr>
          <p:cNvPr id="64" name="Shape 64"/>
          <p:cNvSpPr/>
          <p:nvPr/>
        </p:nvSpPr>
        <p:spPr>
          <a:xfrm>
            <a:off x="8077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5"/>
          <p:cNvSpPr txBox="1"/>
          <p:nvPr/>
        </p:nvSpPr>
        <p:spPr>
          <a:xfrm>
            <a:off x="8077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66" name="Text 66"/>
          <p:cNvSpPr txBox="1"/>
          <p:nvPr/>
        </p:nvSpPr>
        <p:spPr>
          <a:xfrm>
            <a:off x="8077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67" name="Shape 67"/>
          <p:cNvSpPr/>
          <p:nvPr/>
        </p:nvSpPr>
        <p:spPr>
          <a:xfrm>
            <a:off x="8077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8"/>
          <p:cNvSpPr txBox="1"/>
          <p:nvPr/>
        </p:nvSpPr>
        <p:spPr>
          <a:xfrm>
            <a:off x="8077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69" name="Text 69"/>
          <p:cNvSpPr txBox="1"/>
          <p:nvPr/>
        </p:nvSpPr>
        <p:spPr>
          <a:xfrm>
            <a:off x="8077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70" name="Shape 70"/>
          <p:cNvSpPr/>
          <p:nvPr/>
        </p:nvSpPr>
        <p:spPr>
          <a:xfrm>
            <a:off x="5791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71"/>
          <p:cNvSpPr txBox="1"/>
          <p:nvPr/>
        </p:nvSpPr>
        <p:spPr>
          <a:xfrm>
            <a:off x="5791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72" name="Text 72"/>
          <p:cNvSpPr txBox="1"/>
          <p:nvPr/>
        </p:nvSpPr>
        <p:spPr>
          <a:xfrm>
            <a:off x="5791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73" name="Shape 73"/>
          <p:cNvSpPr/>
          <p:nvPr/>
        </p:nvSpPr>
        <p:spPr>
          <a:xfrm>
            <a:off x="3505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4"/>
          <p:cNvSpPr txBox="1"/>
          <p:nvPr/>
        </p:nvSpPr>
        <p:spPr>
          <a:xfrm>
            <a:off x="3505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75" name="Text 75"/>
          <p:cNvSpPr txBox="1"/>
          <p:nvPr/>
        </p:nvSpPr>
        <p:spPr>
          <a:xfrm>
            <a:off x="3505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시뮬레이션 · S3 → S4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 Moves to S4 on 10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 / 56</a:t>
            </a:r>
            <a:endParaRPr lang="en-US" sz="900" dirty="0"/>
          </a:p>
        </p:txBody>
      </p:sp>
      <p:pic>
        <p:nvPicPr>
          <p:cNvPr id="8" name="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11277600" cy="1751417"/>
          </a:xfrm>
          <a:prstGeom prst="rect">
            <a:avLst/>
          </a:prstGeom>
        </p:spPr>
      </p:pic>
      <p:cxnSp>
        <p:nvCxnSpPr>
          <p:cNvPr id="9" name="Line 9"/>
          <p:cNvCxnSpPr/>
          <p:nvPr/>
        </p:nvCxnSpPr>
        <p:spPr>
          <a:xfrm>
            <a:off x="4767208" y="1464398"/>
            <a:ext cx="0" cy="1506218"/>
          </a:xfrm>
          <a:prstGeom prst="line">
            <a:avLst/>
          </a:prstGeom>
          <a:ln w="22225">
            <a:solidFill>
              <a:srgbClr val="9333EA"/>
            </a:solidFill>
            <a:prstDash val="dash"/>
          </a:ln>
        </p:spPr>
      </p:cxnSp>
      <p:sp>
        <p:nvSpPr>
          <p:cNvPr id="10" name="Shape 10"/>
          <p:cNvSpPr/>
          <p:nvPr/>
        </p:nvSpPr>
        <p:spPr>
          <a:xfrm>
            <a:off x="4776733" y="3027767"/>
            <a:ext cx="2265406" cy="1143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1"/>
          <p:cNvSpPr/>
          <p:nvPr/>
        </p:nvSpPr>
        <p:spPr>
          <a:xfrm>
            <a:off x="5795136" y="3199217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5795136" y="319921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4443564" y="1967340"/>
            <a:ext cx="342694" cy="201832"/>
          </a:xfrm>
          <a:prstGeom prst="roundRect">
            <a:avLst>
              <a:gd name="adj" fmla="val 14157"/>
            </a:avLst>
          </a:prstGeom>
          <a:noFill/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4" name="Line 14"/>
          <p:cNvCxnSpPr/>
          <p:nvPr/>
        </p:nvCxnSpPr>
        <p:spPr>
          <a:xfrm>
            <a:off x="7051664" y="1464398"/>
            <a:ext cx="0" cy="1506218"/>
          </a:xfrm>
          <a:prstGeom prst="line">
            <a:avLst/>
          </a:prstGeom>
          <a:ln w="22225">
            <a:solidFill>
              <a:srgbClr val="DB2777"/>
            </a:solidFill>
            <a:prstDash val="dash"/>
          </a:ln>
        </p:spPr>
      </p:cxnSp>
      <p:sp>
        <p:nvSpPr>
          <p:cNvPr id="15" name="Shape 15"/>
          <p:cNvSpPr/>
          <p:nvPr/>
        </p:nvSpPr>
        <p:spPr>
          <a:xfrm>
            <a:off x="7061189" y="3027767"/>
            <a:ext cx="4641241" cy="114300"/>
          </a:xfrm>
          <a:prstGeom prst="rect">
            <a:avLst/>
          </a:prstGeom>
          <a:solidFill>
            <a:srgbClr val="DB2777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6"/>
          <p:cNvSpPr/>
          <p:nvPr/>
        </p:nvSpPr>
        <p:spPr>
          <a:xfrm>
            <a:off x="9267510" y="3199217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9267510" y="3199217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6728020" y="1967340"/>
            <a:ext cx="342694" cy="201832"/>
          </a:xfrm>
          <a:prstGeom prst="roundRect">
            <a:avLst>
              <a:gd name="adj" fmla="val 14157"/>
            </a:avLst>
          </a:prstGeom>
          <a:noFill/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9"/>
          <p:cNvSpPr/>
          <p:nvPr/>
        </p:nvSpPr>
        <p:spPr>
          <a:xfrm>
            <a:off x="457200" y="40005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0" name="Line 20"/>
          <p:cNvCxnSpPr/>
          <p:nvPr/>
        </p:nvCxnSpPr>
        <p:spPr>
          <a:xfrm>
            <a:off x="6419850" y="45148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21" name="Text 21"/>
          <p:cNvSpPr txBox="1"/>
          <p:nvPr/>
        </p:nvSpPr>
        <p:spPr>
          <a:xfrm>
            <a:off x="7048500" y="42767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cxnSp>
        <p:nvCxnSpPr>
          <p:cNvPr id="22" name="Line 22"/>
          <p:cNvCxnSpPr/>
          <p:nvPr/>
        </p:nvCxnSpPr>
        <p:spPr>
          <a:xfrm>
            <a:off x="8382000" y="4838700"/>
            <a:ext cx="0" cy="600075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23" name="Text 23"/>
          <p:cNvSpPr txBox="1"/>
          <p:nvPr/>
        </p:nvSpPr>
        <p:spPr>
          <a:xfrm>
            <a:off x="84010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cxnSp>
        <p:nvCxnSpPr>
          <p:cNvPr id="24" name="Line 24"/>
          <p:cNvCxnSpPr/>
          <p:nvPr/>
        </p:nvCxnSpPr>
        <p:spPr>
          <a:xfrm flipH="1">
            <a:off x="6429375" y="5772150"/>
            <a:ext cx="1628775" cy="0"/>
          </a:xfrm>
          <a:prstGeom prst="line">
            <a:avLst/>
          </a:prstGeom>
          <a:ln w="28575">
            <a:solidFill>
              <a:srgbClr val="9333EA"/>
            </a:solidFill>
            <a:prstDash val="solid"/>
            <a:tailEnd type="triangle"/>
          </a:ln>
        </p:spPr>
      </p:cxnSp>
      <p:sp>
        <p:nvSpPr>
          <p:cNvPr id="25" name="Text 25"/>
          <p:cNvSpPr txBox="1"/>
          <p:nvPr/>
        </p:nvSpPr>
        <p:spPr>
          <a:xfrm>
            <a:off x="7048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200" dirty="0"/>
          </a:p>
        </p:txBody>
      </p:sp>
      <p:cxnSp>
        <p:nvCxnSpPr>
          <p:cNvPr id="26" name="Line 26"/>
          <p:cNvCxnSpPr/>
          <p:nvPr/>
        </p:nvCxnSpPr>
        <p:spPr>
          <a:xfrm flipH="1">
            <a:off x="4143375" y="5772150"/>
            <a:ext cx="1628775" cy="0"/>
          </a:xfrm>
          <a:prstGeom prst="line">
            <a:avLst/>
          </a:prstGeom>
          <a:ln w="44450">
            <a:solidFill>
              <a:srgbClr val="DB2777"/>
            </a:solidFill>
            <a:prstDash val="solid"/>
            <a:tailEnd type="triangle"/>
          </a:ln>
        </p:spPr>
      </p:cxnSp>
      <p:sp>
        <p:nvSpPr>
          <p:cNvPr id="27" name="Text 27"/>
          <p:cNvSpPr txBox="1"/>
          <p:nvPr/>
        </p:nvSpPr>
        <p:spPr>
          <a:xfrm>
            <a:off x="4762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cxnSp>
        <p:nvCxnSpPr>
          <p:cNvPr id="28" name="Line 28"/>
          <p:cNvCxnSpPr/>
          <p:nvPr/>
        </p:nvCxnSpPr>
        <p:spPr>
          <a:xfrm flipV="1">
            <a:off x="6096000" y="4848225"/>
            <a:ext cx="0" cy="600075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29" name="Text 29"/>
          <p:cNvSpPr txBox="1"/>
          <p:nvPr/>
        </p:nvSpPr>
        <p:spPr>
          <a:xfrm>
            <a:off x="56959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cxnSp>
        <p:nvCxnSpPr>
          <p:cNvPr id="30" name="Line 30"/>
          <p:cNvCxnSpPr/>
          <p:nvPr/>
        </p:nvCxnSpPr>
        <p:spPr>
          <a:xfrm flipV="1">
            <a:off x="6379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1" name="Text 31"/>
          <p:cNvSpPr txBox="1"/>
          <p:nvPr/>
        </p:nvSpPr>
        <p:spPr>
          <a:xfrm>
            <a:off x="7191375" y="47815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cxnSp>
        <p:nvCxnSpPr>
          <p:cNvPr id="32" name="Line 32"/>
          <p:cNvCxnSpPr/>
          <p:nvPr/>
        </p:nvCxnSpPr>
        <p:spPr>
          <a:xfrm flipV="1">
            <a:off x="4093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3" name="Text 33"/>
          <p:cNvSpPr txBox="1"/>
          <p:nvPr/>
        </p:nvSpPr>
        <p:spPr>
          <a:xfrm>
            <a:off x="4619625" y="48577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sp>
        <p:nvSpPr>
          <p:cNvPr id="34" name="Shape 34"/>
          <p:cNvSpPr/>
          <p:nvPr/>
        </p:nvSpPr>
        <p:spPr>
          <a:xfrm>
            <a:off x="7124700" y="550545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5"/>
          <p:cNvSpPr txBox="1"/>
          <p:nvPr/>
        </p:nvSpPr>
        <p:spPr>
          <a:xfrm>
            <a:off x="7124700" y="55054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36" name="Shape 36"/>
          <p:cNvSpPr/>
          <p:nvPr/>
        </p:nvSpPr>
        <p:spPr>
          <a:xfrm>
            <a:off x="4838700" y="5505450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7"/>
          <p:cNvSpPr txBox="1"/>
          <p:nvPr/>
        </p:nvSpPr>
        <p:spPr>
          <a:xfrm>
            <a:off x="4838700" y="55054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cxnSp>
        <p:nvCxnSpPr>
          <p:cNvPr id="38" name="Line 38"/>
          <p:cNvCxnSpPr/>
          <p:nvPr/>
        </p:nvCxnSpPr>
        <p:spPr>
          <a:xfrm>
            <a:off x="4762500" y="4514850"/>
            <a:ext cx="100012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9" name="Text 39"/>
          <p:cNvSpPr txBox="1"/>
          <p:nvPr/>
        </p:nvSpPr>
        <p:spPr>
          <a:xfrm>
            <a:off x="4762500" y="42862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0" name="Shape 40"/>
          <p:cNvSpPr/>
          <p:nvPr/>
        </p:nvSpPr>
        <p:spPr>
          <a:xfrm>
            <a:off x="5791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5791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42" name="Text 42"/>
          <p:cNvSpPr txBox="1"/>
          <p:nvPr/>
        </p:nvSpPr>
        <p:spPr>
          <a:xfrm>
            <a:off x="5791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000" dirty="0"/>
          </a:p>
        </p:txBody>
      </p:sp>
      <p:sp>
        <p:nvSpPr>
          <p:cNvPr id="43" name="Shape 43"/>
          <p:cNvSpPr/>
          <p:nvPr/>
        </p:nvSpPr>
        <p:spPr>
          <a:xfrm>
            <a:off x="8077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8077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45" name="Text 45"/>
          <p:cNvSpPr txBox="1"/>
          <p:nvPr/>
        </p:nvSpPr>
        <p:spPr>
          <a:xfrm>
            <a:off x="8077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46" name="Shape 46"/>
          <p:cNvSpPr/>
          <p:nvPr/>
        </p:nvSpPr>
        <p:spPr>
          <a:xfrm>
            <a:off x="8077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7"/>
          <p:cNvSpPr txBox="1"/>
          <p:nvPr/>
        </p:nvSpPr>
        <p:spPr>
          <a:xfrm>
            <a:off x="8077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48" name="Text 48"/>
          <p:cNvSpPr txBox="1"/>
          <p:nvPr/>
        </p:nvSpPr>
        <p:spPr>
          <a:xfrm>
            <a:off x="8077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49" name="Shape 49"/>
          <p:cNvSpPr/>
          <p:nvPr/>
        </p:nvSpPr>
        <p:spPr>
          <a:xfrm>
            <a:off x="5791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50"/>
          <p:cNvSpPr txBox="1"/>
          <p:nvPr/>
        </p:nvSpPr>
        <p:spPr>
          <a:xfrm>
            <a:off x="5791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51" name="Text 51"/>
          <p:cNvSpPr txBox="1"/>
          <p:nvPr/>
        </p:nvSpPr>
        <p:spPr>
          <a:xfrm>
            <a:off x="5791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52" name="Shape 52"/>
          <p:cNvSpPr/>
          <p:nvPr/>
        </p:nvSpPr>
        <p:spPr>
          <a:xfrm>
            <a:off x="3505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3"/>
          <p:cNvSpPr txBox="1"/>
          <p:nvPr/>
        </p:nvSpPr>
        <p:spPr>
          <a:xfrm>
            <a:off x="3505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54" name="Text 54"/>
          <p:cNvSpPr txBox="1"/>
          <p:nvPr/>
        </p:nvSpPr>
        <p:spPr>
          <a:xfrm>
            <a:off x="3505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시뮬레이션 · S3 → S0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 Returns to S0 on 00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/ 56</a:t>
            </a:r>
            <a:endParaRPr lang="en-US" sz="900" dirty="0"/>
          </a:p>
        </p:txBody>
      </p:sp>
      <p:pic>
        <p:nvPicPr>
          <p:cNvPr id="8" name="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11277600" cy="2011726"/>
          </a:xfrm>
          <a:prstGeom prst="rect">
            <a:avLst/>
          </a:prstGeom>
        </p:spPr>
      </p:pic>
      <p:cxnSp>
        <p:nvCxnSpPr>
          <p:cNvPr id="9" name="Line 9"/>
          <p:cNvCxnSpPr/>
          <p:nvPr/>
        </p:nvCxnSpPr>
        <p:spPr>
          <a:xfrm>
            <a:off x="4318691" y="1500842"/>
            <a:ext cx="0" cy="1730084"/>
          </a:xfrm>
          <a:prstGeom prst="line">
            <a:avLst/>
          </a:prstGeom>
          <a:ln w="22225">
            <a:solidFill>
              <a:srgbClr val="0891B2"/>
            </a:solidFill>
            <a:prstDash val="dash"/>
          </a:ln>
        </p:spPr>
      </p:cxnSp>
      <p:sp>
        <p:nvSpPr>
          <p:cNvPr id="10" name="Shape 10"/>
          <p:cNvSpPr/>
          <p:nvPr/>
        </p:nvSpPr>
        <p:spPr>
          <a:xfrm>
            <a:off x="4328216" y="3288076"/>
            <a:ext cx="841901" cy="1143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1"/>
          <p:cNvSpPr/>
          <p:nvPr/>
        </p:nvSpPr>
        <p:spPr>
          <a:xfrm>
            <a:off x="4634866" y="3459526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4634866" y="345952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3958671" y="2094197"/>
            <a:ext cx="379071" cy="219111"/>
          </a:xfrm>
          <a:prstGeom prst="roundRect">
            <a:avLst>
              <a:gd name="adj" fmla="val 13041"/>
            </a:avLst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4" name="Line 14"/>
          <p:cNvCxnSpPr/>
          <p:nvPr/>
        </p:nvCxnSpPr>
        <p:spPr>
          <a:xfrm>
            <a:off x="5179642" y="1500842"/>
            <a:ext cx="0" cy="1730084"/>
          </a:xfrm>
          <a:prstGeom prst="line">
            <a:avLst/>
          </a:prstGeom>
          <a:ln w="22225">
            <a:solidFill>
              <a:srgbClr val="9333EA"/>
            </a:solidFill>
            <a:prstDash val="dash"/>
          </a:ln>
        </p:spPr>
      </p:cxnSp>
      <p:sp>
        <p:nvSpPr>
          <p:cNvPr id="15" name="Shape 15"/>
          <p:cNvSpPr/>
          <p:nvPr/>
        </p:nvSpPr>
        <p:spPr>
          <a:xfrm>
            <a:off x="5189167" y="3288076"/>
            <a:ext cx="833376" cy="1143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6"/>
          <p:cNvSpPr/>
          <p:nvPr/>
        </p:nvSpPr>
        <p:spPr>
          <a:xfrm>
            <a:off x="5491555" y="3459526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5491555" y="345952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4819621" y="2094197"/>
            <a:ext cx="379071" cy="219111"/>
          </a:xfrm>
          <a:prstGeom prst="roundRect">
            <a:avLst>
              <a:gd name="adj" fmla="val 13041"/>
            </a:avLst>
          </a:prstGeom>
          <a:noFill/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9" name="Line 19"/>
          <p:cNvCxnSpPr/>
          <p:nvPr/>
        </p:nvCxnSpPr>
        <p:spPr>
          <a:xfrm>
            <a:off x="6032068" y="1500842"/>
            <a:ext cx="0" cy="1730084"/>
          </a:xfrm>
          <a:prstGeom prst="line">
            <a:avLst/>
          </a:prstGeom>
          <a:ln w="22225">
            <a:solidFill>
              <a:srgbClr val="64748B"/>
            </a:solidFill>
            <a:prstDash val="dash"/>
          </a:ln>
        </p:spPr>
      </p:cxnSp>
      <p:sp>
        <p:nvSpPr>
          <p:cNvPr id="20" name="Shape 20"/>
          <p:cNvSpPr/>
          <p:nvPr/>
        </p:nvSpPr>
        <p:spPr>
          <a:xfrm>
            <a:off x="6041593" y="3288076"/>
            <a:ext cx="2538229" cy="1143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21"/>
          <p:cNvSpPr/>
          <p:nvPr/>
        </p:nvSpPr>
        <p:spPr>
          <a:xfrm>
            <a:off x="7196407" y="3459526"/>
            <a:ext cx="228600" cy="22860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7196407" y="345952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Shape 23"/>
          <p:cNvSpPr/>
          <p:nvPr/>
        </p:nvSpPr>
        <p:spPr>
          <a:xfrm>
            <a:off x="5672048" y="2094197"/>
            <a:ext cx="379071" cy="219111"/>
          </a:xfrm>
          <a:prstGeom prst="roundRect">
            <a:avLst>
              <a:gd name="adj" fmla="val 13041"/>
            </a:avLst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4" name="Line 24"/>
          <p:cNvCxnSpPr/>
          <p:nvPr/>
        </p:nvCxnSpPr>
        <p:spPr>
          <a:xfrm>
            <a:off x="8589347" y="1500842"/>
            <a:ext cx="0" cy="1730084"/>
          </a:xfrm>
          <a:prstGeom prst="line">
            <a:avLst/>
          </a:prstGeom>
          <a:ln w="22225">
            <a:solidFill>
              <a:srgbClr val="2563EB"/>
            </a:solidFill>
            <a:prstDash val="dash"/>
          </a:ln>
        </p:spPr>
      </p:cxnSp>
      <p:sp>
        <p:nvSpPr>
          <p:cNvPr id="25" name="Shape 25"/>
          <p:cNvSpPr/>
          <p:nvPr/>
        </p:nvSpPr>
        <p:spPr>
          <a:xfrm>
            <a:off x="8598872" y="3288076"/>
            <a:ext cx="3100830" cy="1143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6"/>
          <p:cNvSpPr/>
          <p:nvPr/>
        </p:nvSpPr>
        <p:spPr>
          <a:xfrm>
            <a:off x="10034987" y="3459526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7"/>
          <p:cNvSpPr txBox="1"/>
          <p:nvPr/>
        </p:nvSpPr>
        <p:spPr>
          <a:xfrm>
            <a:off x="10034987" y="345952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Shape 28"/>
          <p:cNvSpPr/>
          <p:nvPr/>
        </p:nvSpPr>
        <p:spPr>
          <a:xfrm>
            <a:off x="8229326" y="2094197"/>
            <a:ext cx="379071" cy="219111"/>
          </a:xfrm>
          <a:prstGeom prst="roundRect">
            <a:avLst>
              <a:gd name="adj" fmla="val 13041"/>
            </a:avLst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9"/>
          <p:cNvSpPr/>
          <p:nvPr/>
        </p:nvSpPr>
        <p:spPr>
          <a:xfrm>
            <a:off x="457200" y="40005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30" name="Line 30"/>
          <p:cNvCxnSpPr/>
          <p:nvPr/>
        </p:nvCxnSpPr>
        <p:spPr>
          <a:xfrm>
            <a:off x="6419850" y="4514850"/>
            <a:ext cx="1628775" cy="0"/>
          </a:xfrm>
          <a:prstGeom prst="line">
            <a:avLst/>
          </a:prstGeom>
          <a:ln w="28575">
            <a:solidFill>
              <a:srgbClr val="2563EB"/>
            </a:solidFill>
            <a:prstDash val="solid"/>
            <a:tailEnd type="triangle"/>
          </a:ln>
        </p:spPr>
      </p:cxnSp>
      <p:sp>
        <p:nvSpPr>
          <p:cNvPr id="31" name="Text 31"/>
          <p:cNvSpPr txBox="1"/>
          <p:nvPr/>
        </p:nvSpPr>
        <p:spPr>
          <a:xfrm>
            <a:off x="7048500" y="42767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cxnSp>
        <p:nvCxnSpPr>
          <p:cNvPr id="32" name="Line 32"/>
          <p:cNvCxnSpPr/>
          <p:nvPr/>
        </p:nvCxnSpPr>
        <p:spPr>
          <a:xfrm>
            <a:off x="8382000" y="4838700"/>
            <a:ext cx="0" cy="600075"/>
          </a:xfrm>
          <a:prstGeom prst="line">
            <a:avLst/>
          </a:prstGeom>
          <a:ln w="28575">
            <a:solidFill>
              <a:srgbClr val="0891B2"/>
            </a:solidFill>
            <a:prstDash val="solid"/>
            <a:tailEnd type="triangle"/>
          </a:ln>
        </p:spPr>
      </p:cxnSp>
      <p:sp>
        <p:nvSpPr>
          <p:cNvPr id="33" name="Text 33"/>
          <p:cNvSpPr txBox="1"/>
          <p:nvPr/>
        </p:nvSpPr>
        <p:spPr>
          <a:xfrm>
            <a:off x="84010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cxnSp>
        <p:nvCxnSpPr>
          <p:cNvPr id="34" name="Line 34"/>
          <p:cNvCxnSpPr/>
          <p:nvPr/>
        </p:nvCxnSpPr>
        <p:spPr>
          <a:xfrm flipH="1">
            <a:off x="6429375" y="5772150"/>
            <a:ext cx="1628775" cy="0"/>
          </a:xfrm>
          <a:prstGeom prst="line">
            <a:avLst/>
          </a:prstGeom>
          <a:ln w="28575">
            <a:solidFill>
              <a:srgbClr val="9333EA"/>
            </a:solidFill>
            <a:prstDash val="solid"/>
            <a:tailEnd type="triangle"/>
          </a:ln>
        </p:spPr>
      </p:cxnSp>
      <p:sp>
        <p:nvSpPr>
          <p:cNvPr id="35" name="Text 35"/>
          <p:cNvSpPr txBox="1"/>
          <p:nvPr/>
        </p:nvSpPr>
        <p:spPr>
          <a:xfrm>
            <a:off x="7048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200" dirty="0"/>
          </a:p>
        </p:txBody>
      </p:sp>
      <p:cxnSp>
        <p:nvCxnSpPr>
          <p:cNvPr id="36" name="Line 36"/>
          <p:cNvCxnSpPr/>
          <p:nvPr/>
        </p:nvCxnSpPr>
        <p:spPr>
          <a:xfrm flipH="1">
            <a:off x="4143375" y="57721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7" name="Text 37"/>
          <p:cNvSpPr txBox="1"/>
          <p:nvPr/>
        </p:nvSpPr>
        <p:spPr>
          <a:xfrm>
            <a:off x="4762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cxnSp>
        <p:nvCxnSpPr>
          <p:cNvPr id="38" name="Line 38"/>
          <p:cNvCxnSpPr/>
          <p:nvPr/>
        </p:nvCxnSpPr>
        <p:spPr>
          <a:xfrm flipV="1">
            <a:off x="6096000" y="4848225"/>
            <a:ext cx="0" cy="600075"/>
          </a:xfrm>
          <a:prstGeom prst="line">
            <a:avLst/>
          </a:prstGeom>
          <a:ln w="44450">
            <a:solidFill>
              <a:srgbClr val="64748B"/>
            </a:solidFill>
            <a:prstDash val="solid"/>
            <a:tailEnd type="triangle"/>
          </a:ln>
        </p:spPr>
      </p:cxnSp>
      <p:sp>
        <p:nvSpPr>
          <p:cNvPr id="39" name="Text 39"/>
          <p:cNvSpPr txBox="1"/>
          <p:nvPr/>
        </p:nvSpPr>
        <p:spPr>
          <a:xfrm>
            <a:off x="56959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cxnSp>
        <p:nvCxnSpPr>
          <p:cNvPr id="40" name="Line 40"/>
          <p:cNvCxnSpPr/>
          <p:nvPr/>
        </p:nvCxnSpPr>
        <p:spPr>
          <a:xfrm flipV="1">
            <a:off x="6379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41" name="Text 41"/>
          <p:cNvSpPr txBox="1"/>
          <p:nvPr/>
        </p:nvSpPr>
        <p:spPr>
          <a:xfrm>
            <a:off x="7191375" y="47815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cxnSp>
        <p:nvCxnSpPr>
          <p:cNvPr id="42" name="Line 42"/>
          <p:cNvCxnSpPr/>
          <p:nvPr/>
        </p:nvCxnSpPr>
        <p:spPr>
          <a:xfrm flipV="1">
            <a:off x="4093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43" name="Text 43"/>
          <p:cNvSpPr txBox="1"/>
          <p:nvPr/>
        </p:nvSpPr>
        <p:spPr>
          <a:xfrm>
            <a:off x="4619625" y="48577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sp>
        <p:nvSpPr>
          <p:cNvPr id="44" name="Shape 44"/>
          <p:cNvSpPr/>
          <p:nvPr/>
        </p:nvSpPr>
        <p:spPr>
          <a:xfrm>
            <a:off x="8058150" y="502920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5"/>
          <p:cNvSpPr txBox="1"/>
          <p:nvPr/>
        </p:nvSpPr>
        <p:spPr>
          <a:xfrm>
            <a:off x="8058150" y="50292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46" name="Shape 46"/>
          <p:cNvSpPr/>
          <p:nvPr/>
        </p:nvSpPr>
        <p:spPr>
          <a:xfrm>
            <a:off x="7124700" y="550545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7"/>
          <p:cNvSpPr txBox="1"/>
          <p:nvPr/>
        </p:nvSpPr>
        <p:spPr>
          <a:xfrm>
            <a:off x="7124700" y="55054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48" name="Shape 48"/>
          <p:cNvSpPr/>
          <p:nvPr/>
        </p:nvSpPr>
        <p:spPr>
          <a:xfrm>
            <a:off x="6172200" y="4953000"/>
            <a:ext cx="228600" cy="22860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9"/>
          <p:cNvSpPr txBox="1"/>
          <p:nvPr/>
        </p:nvSpPr>
        <p:spPr>
          <a:xfrm>
            <a:off x="6172200" y="49530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50" name="Shape 50"/>
          <p:cNvSpPr/>
          <p:nvPr/>
        </p:nvSpPr>
        <p:spPr>
          <a:xfrm>
            <a:off x="7124700" y="4552950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7124700" y="45529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cxnSp>
        <p:nvCxnSpPr>
          <p:cNvPr id="52" name="Line 52"/>
          <p:cNvCxnSpPr/>
          <p:nvPr/>
        </p:nvCxnSpPr>
        <p:spPr>
          <a:xfrm>
            <a:off x="4762500" y="4514850"/>
            <a:ext cx="100012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53" name="Text 53"/>
          <p:cNvSpPr txBox="1"/>
          <p:nvPr/>
        </p:nvSpPr>
        <p:spPr>
          <a:xfrm>
            <a:off x="4762500" y="42862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54" name="Shape 54"/>
          <p:cNvSpPr/>
          <p:nvPr/>
        </p:nvSpPr>
        <p:spPr>
          <a:xfrm>
            <a:off x="5791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5"/>
          <p:cNvSpPr txBox="1"/>
          <p:nvPr/>
        </p:nvSpPr>
        <p:spPr>
          <a:xfrm>
            <a:off x="5791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56" name="Text 56"/>
          <p:cNvSpPr txBox="1"/>
          <p:nvPr/>
        </p:nvSpPr>
        <p:spPr>
          <a:xfrm>
            <a:off x="5791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000" dirty="0"/>
          </a:p>
        </p:txBody>
      </p:sp>
      <p:sp>
        <p:nvSpPr>
          <p:cNvPr id="57" name="Shape 57"/>
          <p:cNvSpPr/>
          <p:nvPr/>
        </p:nvSpPr>
        <p:spPr>
          <a:xfrm>
            <a:off x="8077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8"/>
          <p:cNvSpPr txBox="1"/>
          <p:nvPr/>
        </p:nvSpPr>
        <p:spPr>
          <a:xfrm>
            <a:off x="8077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59" name="Text 59"/>
          <p:cNvSpPr txBox="1"/>
          <p:nvPr/>
        </p:nvSpPr>
        <p:spPr>
          <a:xfrm>
            <a:off x="8077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60" name="Shape 60"/>
          <p:cNvSpPr/>
          <p:nvPr/>
        </p:nvSpPr>
        <p:spPr>
          <a:xfrm>
            <a:off x="8077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61"/>
          <p:cNvSpPr txBox="1"/>
          <p:nvPr/>
        </p:nvSpPr>
        <p:spPr>
          <a:xfrm>
            <a:off x="8077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62" name="Text 62"/>
          <p:cNvSpPr txBox="1"/>
          <p:nvPr/>
        </p:nvSpPr>
        <p:spPr>
          <a:xfrm>
            <a:off x="8077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63" name="Shape 63"/>
          <p:cNvSpPr/>
          <p:nvPr/>
        </p:nvSpPr>
        <p:spPr>
          <a:xfrm>
            <a:off x="5791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4"/>
          <p:cNvSpPr txBox="1"/>
          <p:nvPr/>
        </p:nvSpPr>
        <p:spPr>
          <a:xfrm>
            <a:off x="5791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65" name="Text 65"/>
          <p:cNvSpPr txBox="1"/>
          <p:nvPr/>
        </p:nvSpPr>
        <p:spPr>
          <a:xfrm>
            <a:off x="5791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66" name="Shape 66"/>
          <p:cNvSpPr/>
          <p:nvPr/>
        </p:nvSpPr>
        <p:spPr>
          <a:xfrm>
            <a:off x="3505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7"/>
          <p:cNvSpPr txBox="1"/>
          <p:nvPr/>
        </p:nvSpPr>
        <p:spPr>
          <a:xfrm>
            <a:off x="3505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68" name="Text 68"/>
          <p:cNvSpPr txBox="1"/>
          <p:nvPr/>
        </p:nvSpPr>
        <p:spPr>
          <a:xfrm>
            <a:off x="3505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Latch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Missing Default Leaves N_State Unassigned, Inferring a Latch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264505"/>
            <a:ext cx="4953000" cy="2857500"/>
          </a:xfrm>
          <a:prstGeom prst="roundRect">
            <a:avLst>
              <a:gd name="adj" fmla="val 256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2416905"/>
            <a:ext cx="4381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State[2:0] = 8가지 코드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85800" y="2836005"/>
            <a:ext cx="1009650" cy="876300"/>
          </a:xfrm>
          <a:prstGeom prst="roundRect">
            <a:avLst>
              <a:gd name="adj" fmla="val 6261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685800" y="2931255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255105"/>
            <a:ext cx="1009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828800" y="2836005"/>
            <a:ext cx="1009650" cy="876300"/>
          </a:xfrm>
          <a:prstGeom prst="roundRect">
            <a:avLst>
              <a:gd name="adj" fmla="val 6261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1828800" y="2931255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828800" y="3255105"/>
            <a:ext cx="1009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971800" y="2836005"/>
            <a:ext cx="1009650" cy="876300"/>
          </a:xfrm>
          <a:prstGeom prst="roundRect">
            <a:avLst>
              <a:gd name="adj" fmla="val 6261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2971800" y="2931255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971800" y="3255105"/>
            <a:ext cx="1009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2836005"/>
            <a:ext cx="1009650" cy="876300"/>
          </a:xfrm>
          <a:prstGeom prst="roundRect">
            <a:avLst>
              <a:gd name="adj" fmla="val 6261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114800" y="2931255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114800" y="3255105"/>
            <a:ext cx="1009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85800" y="3883755"/>
            <a:ext cx="1009650" cy="876300"/>
          </a:xfrm>
          <a:prstGeom prst="roundRect">
            <a:avLst>
              <a:gd name="adj" fmla="val 6261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85800" y="3979005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4302855"/>
            <a:ext cx="1009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828800" y="3883755"/>
            <a:ext cx="1009650" cy="876300"/>
          </a:xfrm>
          <a:prstGeom prst="roundRect">
            <a:avLst>
              <a:gd name="adj" fmla="val 6261"/>
            </a:avLst>
          </a:prstGeom>
          <a:solidFill>
            <a:srgbClr val="FDECEC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1828800" y="3979005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828800" y="4302855"/>
            <a:ext cx="1009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대입 없음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2971800" y="3883755"/>
            <a:ext cx="1009650" cy="876300"/>
          </a:xfrm>
          <a:prstGeom prst="roundRect">
            <a:avLst>
              <a:gd name="adj" fmla="val 6261"/>
            </a:avLst>
          </a:prstGeom>
          <a:solidFill>
            <a:srgbClr val="FDECEC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2971800" y="3979005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2971800" y="4302855"/>
            <a:ext cx="1009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대입 없음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114800" y="3883755"/>
            <a:ext cx="1009650" cy="876300"/>
          </a:xfrm>
          <a:prstGeom prst="roundRect">
            <a:avLst>
              <a:gd name="adj" fmla="val 6261"/>
            </a:avLst>
          </a:prstGeom>
          <a:solidFill>
            <a:srgbClr val="FDECEC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4114800" y="3979005"/>
            <a:ext cx="1009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114800" y="4302855"/>
            <a:ext cx="10096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대입 없음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562600" y="2264505"/>
            <a:ext cx="6172200" cy="2857500"/>
          </a:xfrm>
          <a:prstGeom prst="roundRect">
            <a:avLst>
              <a:gd name="adj" fmla="val 256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753100" y="2397855"/>
            <a:ext cx="571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default 없음 → RTL_LATCH</a:t>
            </a:r>
            <a:endParaRPr lang="en-US" sz="1500" dirty="0"/>
          </a:p>
        </p:txBody>
      </p:sp>
      <p:pic>
        <p:nvPicPr>
          <p:cNvPr id="35" name="Image 0" descr="img/s3_latch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3100" y="2740755"/>
            <a:ext cx="5791200" cy="1600200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7600950" y="2931255"/>
            <a:ext cx="800100" cy="666750"/>
          </a:xfrm>
          <a:prstGeom prst="rect">
            <a:avLst/>
          </a:prstGeom>
          <a:ln w="285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8"/>
          <p:cNvSpPr/>
          <p:nvPr/>
        </p:nvSpPr>
        <p:spPr>
          <a:xfrm>
            <a:off x="5753100" y="4407630"/>
            <a:ext cx="32385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700" dirty="0"/>
          </a:p>
        </p:txBody>
      </p:sp>
      <p:sp>
        <p:nvSpPr>
          <p:cNvPr id="42" name="Text 39"/>
          <p:cNvSpPr/>
          <p:nvPr/>
        </p:nvSpPr>
        <p:spPr>
          <a:xfrm>
            <a:off x="5783385" y="4709742"/>
            <a:ext cx="6096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Case </a:t>
            </a:r>
            <a:r>
              <a:rPr lang="ko-KR" altLang="en-US" sz="14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문에서 </a:t>
            </a:r>
            <a:r>
              <a:rPr lang="en-US" altLang="ko-KR" sz="14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default</a:t>
            </a:r>
            <a:r>
              <a:rPr lang="ko-KR" altLang="en-US" sz="14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문을 명시하지 않을 경우 합성단계에서 </a:t>
            </a:r>
            <a:r>
              <a:rPr lang="en-US" altLang="ko-KR" sz="14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Latch</a:t>
            </a:r>
            <a:r>
              <a:rPr lang="ko-KR" altLang="en-US" sz="14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가 발생</a:t>
            </a:r>
            <a:endParaRPr lang="en-US" sz="1400" dirty="0"/>
          </a:p>
        </p:txBody>
      </p:sp>
      <p:sp>
        <p:nvSpPr>
          <p:cNvPr id="46" name="Text 43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 / 56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RTL Schematic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With Default, Only the State Register Stores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81000" y="1295400"/>
            <a:ext cx="114300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s3_o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1428750"/>
            <a:ext cx="11239500" cy="463831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14025" y="1630416"/>
            <a:ext cx="7528852" cy="4234979"/>
          </a:xfrm>
          <a:prstGeom prst="rect">
            <a:avLst/>
          </a:prstGeom>
          <a:ln w="285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1014025" y="1401816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Next-State Logic · RTL_MUX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912597" y="4420124"/>
            <a:ext cx="1041939" cy="873885"/>
          </a:xfrm>
          <a:prstGeom prst="rect">
            <a:avLst/>
          </a:prstGeom>
          <a:ln w="2857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8912597" y="4191524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State_reg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0257035" y="3848738"/>
            <a:ext cx="773052" cy="537775"/>
          </a:xfrm>
          <a:prstGeom prst="rect">
            <a:avLst/>
          </a:prstGeom>
          <a:ln w="28575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10257035" y="3620138"/>
            <a:ext cx="2857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o_led ROM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 / 56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Board I/O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· SW0 Drive i_sw, BTNC Resets, LD2 ~ LD0 Show o_led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/ 56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7810500" cy="495300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99" name="그림 16">
            <a:extLst>
              <a:ext uri="{FF2B5EF4-FFF2-40B4-BE49-F238E27FC236}">
                <a16:creationId xmlns:a16="http://schemas.microsoft.com/office/drawing/2014/main" id="{977454D4-6E36-AB0F-A412-78F847DE087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7153"/>
          <a:stretch>
            <a:fillRect/>
          </a:stretch>
        </p:blipFill>
        <p:spPr>
          <a:xfrm rot="16200000">
            <a:off x="1471524" y="819373"/>
            <a:ext cx="3657601" cy="5886546"/>
          </a:xfrm>
          <a:prstGeom prst="rect">
            <a:avLst/>
          </a:prstGeom>
        </p:spPr>
      </p:pic>
      <p:sp>
        <p:nvSpPr>
          <p:cNvPr id="9" name="Shape 9"/>
          <p:cNvSpPr/>
          <p:nvPr/>
        </p:nvSpPr>
        <p:spPr>
          <a:xfrm>
            <a:off x="4600575" y="3705225"/>
            <a:ext cx="180975" cy="180975"/>
          </a:xfrm>
          <a:prstGeom prst="ellipse">
            <a:avLst/>
          </a:prstGeom>
          <a:noFill/>
          <a:ln w="254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10"/>
          <p:cNvSpPr/>
          <p:nvPr/>
        </p:nvSpPr>
        <p:spPr>
          <a:xfrm>
            <a:off x="4838700" y="4152900"/>
            <a:ext cx="628650" cy="171450"/>
          </a:xfrm>
          <a:prstGeom prst="roundRect">
            <a:avLst>
              <a:gd name="adj" fmla="val 16666"/>
            </a:avLst>
          </a:prstGeom>
          <a:noFill/>
          <a:ln w="2540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1"/>
          <p:cNvSpPr/>
          <p:nvPr/>
        </p:nvSpPr>
        <p:spPr>
          <a:xfrm>
            <a:off x="5153025" y="4400550"/>
            <a:ext cx="476250" cy="495300"/>
          </a:xfrm>
          <a:prstGeom prst="roundRect">
            <a:avLst>
              <a:gd name="adj" fmla="val 6000"/>
            </a:avLst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2" name="Line 12"/>
          <p:cNvCxnSpPr/>
          <p:nvPr/>
        </p:nvCxnSpPr>
        <p:spPr>
          <a:xfrm flipV="1">
            <a:off x="4781550" y="3009900"/>
            <a:ext cx="1543050" cy="781050"/>
          </a:xfrm>
          <a:prstGeom prst="line">
            <a:avLst/>
          </a:prstGeom>
          <a:ln w="19050">
            <a:solidFill>
              <a:srgbClr val="DC2626"/>
            </a:solidFill>
            <a:prstDash val="solid"/>
          </a:ln>
        </p:spPr>
      </p:cxnSp>
      <p:cxnSp>
        <p:nvCxnSpPr>
          <p:cNvPr id="13" name="Line 13"/>
          <p:cNvCxnSpPr/>
          <p:nvPr/>
        </p:nvCxnSpPr>
        <p:spPr>
          <a:xfrm>
            <a:off x="5467350" y="4238625"/>
            <a:ext cx="857250" cy="0"/>
          </a:xfrm>
          <a:prstGeom prst="line">
            <a:avLst/>
          </a:prstGeom>
          <a:ln w="19050">
            <a:solidFill>
              <a:srgbClr val="16A34A"/>
            </a:solidFill>
            <a:prstDash val="solid"/>
          </a:ln>
        </p:spPr>
      </p:cxnSp>
      <p:cxnSp>
        <p:nvCxnSpPr>
          <p:cNvPr id="14" name="Line 14"/>
          <p:cNvCxnSpPr/>
          <p:nvPr/>
        </p:nvCxnSpPr>
        <p:spPr>
          <a:xfrm>
            <a:off x="5629275" y="4743450"/>
            <a:ext cx="695325" cy="647700"/>
          </a:xfrm>
          <a:prstGeom prst="line">
            <a:avLst/>
          </a:prstGeom>
          <a:ln w="19050">
            <a:solidFill>
              <a:srgbClr val="2563EB"/>
            </a:solidFill>
            <a:prstDash val="solid"/>
          </a:ln>
        </p:spPr>
      </p:cxnSp>
      <p:sp>
        <p:nvSpPr>
          <p:cNvPr id="15" name="Shape 15"/>
          <p:cNvSpPr/>
          <p:nvPr/>
        </p:nvSpPr>
        <p:spPr>
          <a:xfrm>
            <a:off x="6324600" y="2819400"/>
            <a:ext cx="1790700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6"/>
          <p:cNvSpPr txBox="1"/>
          <p:nvPr/>
        </p:nvSpPr>
        <p:spPr>
          <a:xfrm>
            <a:off x="6419850" y="2838450"/>
            <a:ext cx="161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6419850" y="3009900"/>
            <a:ext cx="1619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BTNC · U18</a:t>
            </a:r>
            <a:endParaRPr lang="en-US" sz="1000" dirty="0"/>
          </a:p>
        </p:txBody>
      </p:sp>
      <p:sp>
        <p:nvSpPr>
          <p:cNvPr id="18" name="Shape 18"/>
          <p:cNvSpPr/>
          <p:nvPr/>
        </p:nvSpPr>
        <p:spPr>
          <a:xfrm>
            <a:off x="6324600" y="4048125"/>
            <a:ext cx="1790700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9"/>
          <p:cNvSpPr txBox="1"/>
          <p:nvPr/>
        </p:nvSpPr>
        <p:spPr>
          <a:xfrm>
            <a:off x="6419850" y="4067175"/>
            <a:ext cx="161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o_led[2:0]</a:t>
            </a:r>
            <a:endParaRPr lang="en-US" sz="1200" dirty="0"/>
          </a:p>
        </p:txBody>
      </p:sp>
      <p:sp>
        <p:nvSpPr>
          <p:cNvPr id="20" name="Text 20"/>
          <p:cNvSpPr txBox="1"/>
          <p:nvPr/>
        </p:nvSpPr>
        <p:spPr>
          <a:xfrm>
            <a:off x="6419850" y="4238625"/>
            <a:ext cx="1619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LD2 · LD1 · LD0</a:t>
            </a:r>
            <a:endParaRPr lang="en-US" sz="1000" dirty="0"/>
          </a:p>
        </p:txBody>
      </p:sp>
      <p:sp>
        <p:nvSpPr>
          <p:cNvPr id="21" name="Shape 21"/>
          <p:cNvSpPr/>
          <p:nvPr/>
        </p:nvSpPr>
        <p:spPr>
          <a:xfrm>
            <a:off x="6324600" y="5200650"/>
            <a:ext cx="1790700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6419850" y="5219700"/>
            <a:ext cx="1619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i_sw[1:0]</a:t>
            </a:r>
            <a:endParaRPr lang="en-US" sz="1200" dirty="0"/>
          </a:p>
        </p:txBody>
      </p:sp>
      <p:sp>
        <p:nvSpPr>
          <p:cNvPr id="23" name="Text 23"/>
          <p:cNvSpPr txBox="1"/>
          <p:nvPr/>
        </p:nvSpPr>
        <p:spPr>
          <a:xfrm>
            <a:off x="6419850" y="5391150"/>
            <a:ext cx="1619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· SW0</a:t>
            </a:r>
            <a:endParaRPr lang="en-US" sz="1000" dirty="0"/>
          </a:p>
        </p:txBody>
      </p:sp>
      <p:sp>
        <p:nvSpPr>
          <p:cNvPr id="24" name="Shape 24"/>
          <p:cNvSpPr/>
          <p:nvPr/>
        </p:nvSpPr>
        <p:spPr>
          <a:xfrm>
            <a:off x="8420100" y="1295400"/>
            <a:ext cx="3314700" cy="4953000"/>
          </a:xfrm>
          <a:prstGeom prst="roundRect">
            <a:avLst>
              <a:gd name="adj" fmla="val 229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5"/>
          <p:cNvSpPr txBox="1"/>
          <p:nvPr/>
        </p:nvSpPr>
        <p:spPr>
          <a:xfrm>
            <a:off x="8591550" y="1447800"/>
            <a:ext cx="2857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FSM_CON.xdc</a:t>
            </a:r>
            <a:endParaRPr lang="en-US" sz="1500" dirty="0"/>
          </a:p>
        </p:txBody>
      </p:sp>
      <p:sp>
        <p:nvSpPr>
          <p:cNvPr id="26" name="Shape 26"/>
          <p:cNvSpPr/>
          <p:nvPr/>
        </p:nvSpPr>
        <p:spPr>
          <a:xfrm>
            <a:off x="8591550" y="1828800"/>
            <a:ext cx="914400" cy="3810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7"/>
          <p:cNvSpPr txBox="1"/>
          <p:nvPr/>
        </p:nvSpPr>
        <p:spPr>
          <a:xfrm>
            <a:off x="8648700" y="1828800"/>
            <a:ext cx="800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Port</a:t>
            </a:r>
            <a:endParaRPr lang="en-US" sz="1100" dirty="0"/>
          </a:p>
        </p:txBody>
      </p:sp>
      <p:sp>
        <p:nvSpPr>
          <p:cNvPr id="28" name="Shape 28"/>
          <p:cNvSpPr/>
          <p:nvPr/>
        </p:nvSpPr>
        <p:spPr>
          <a:xfrm>
            <a:off x="9505950" y="1828800"/>
            <a:ext cx="628650" cy="3810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9"/>
          <p:cNvSpPr txBox="1"/>
          <p:nvPr/>
        </p:nvSpPr>
        <p:spPr>
          <a:xfrm>
            <a:off x="9563100" y="1828800"/>
            <a:ext cx="5143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</a:t>
            </a:r>
            <a:endParaRPr lang="en-US" sz="1100" dirty="0"/>
          </a:p>
        </p:txBody>
      </p:sp>
      <p:sp>
        <p:nvSpPr>
          <p:cNvPr id="30" name="Shape 30"/>
          <p:cNvSpPr/>
          <p:nvPr/>
        </p:nvSpPr>
        <p:spPr>
          <a:xfrm>
            <a:off x="10134600" y="1828800"/>
            <a:ext cx="495300" cy="3810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31"/>
          <p:cNvSpPr txBox="1"/>
          <p:nvPr/>
        </p:nvSpPr>
        <p:spPr>
          <a:xfrm>
            <a:off x="10191750" y="18288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Pin</a:t>
            </a:r>
            <a:endParaRPr lang="en-US" sz="1100" dirty="0"/>
          </a:p>
        </p:txBody>
      </p:sp>
      <p:sp>
        <p:nvSpPr>
          <p:cNvPr id="32" name="Shape 32"/>
          <p:cNvSpPr/>
          <p:nvPr/>
        </p:nvSpPr>
        <p:spPr>
          <a:xfrm>
            <a:off x="10629900" y="1828800"/>
            <a:ext cx="933450" cy="3810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3"/>
          <p:cNvSpPr txBox="1"/>
          <p:nvPr/>
        </p:nvSpPr>
        <p:spPr>
          <a:xfrm>
            <a:off x="10687050" y="1828800"/>
            <a:ext cx="819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Board</a:t>
            </a:r>
            <a:endParaRPr lang="en-US" sz="1100" dirty="0"/>
          </a:p>
        </p:txBody>
      </p:sp>
      <p:sp>
        <p:nvSpPr>
          <p:cNvPr id="34" name="Shape 34"/>
          <p:cNvSpPr/>
          <p:nvPr/>
        </p:nvSpPr>
        <p:spPr>
          <a:xfrm>
            <a:off x="8591550" y="2209800"/>
            <a:ext cx="914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5"/>
          <p:cNvSpPr txBox="1"/>
          <p:nvPr/>
        </p:nvSpPr>
        <p:spPr>
          <a:xfrm>
            <a:off x="8686800" y="2209800"/>
            <a:ext cx="723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100" dirty="0"/>
          </a:p>
        </p:txBody>
      </p:sp>
      <p:sp>
        <p:nvSpPr>
          <p:cNvPr id="36" name="Shape 36"/>
          <p:cNvSpPr/>
          <p:nvPr/>
        </p:nvSpPr>
        <p:spPr>
          <a:xfrm>
            <a:off x="9505950" y="2209800"/>
            <a:ext cx="6286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7"/>
          <p:cNvSpPr txBox="1"/>
          <p:nvPr/>
        </p:nvSpPr>
        <p:spPr>
          <a:xfrm>
            <a:off x="9601200" y="2209800"/>
            <a:ext cx="43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</a:t>
            </a:r>
            <a:endParaRPr lang="en-US" sz="1100" dirty="0"/>
          </a:p>
        </p:txBody>
      </p:sp>
      <p:sp>
        <p:nvSpPr>
          <p:cNvPr id="38" name="Shape 38"/>
          <p:cNvSpPr/>
          <p:nvPr/>
        </p:nvSpPr>
        <p:spPr>
          <a:xfrm>
            <a:off x="10134600" y="2209800"/>
            <a:ext cx="4953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9"/>
          <p:cNvSpPr txBox="1"/>
          <p:nvPr/>
        </p:nvSpPr>
        <p:spPr>
          <a:xfrm>
            <a:off x="10229850" y="2209800"/>
            <a:ext cx="30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W5</a:t>
            </a:r>
            <a:endParaRPr lang="en-US" sz="1100" dirty="0"/>
          </a:p>
        </p:txBody>
      </p:sp>
      <p:sp>
        <p:nvSpPr>
          <p:cNvPr id="40" name="Shape 40"/>
          <p:cNvSpPr/>
          <p:nvPr/>
        </p:nvSpPr>
        <p:spPr>
          <a:xfrm>
            <a:off x="10629900" y="2209800"/>
            <a:ext cx="9334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10725150" y="2209800"/>
            <a:ext cx="742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MHz</a:t>
            </a:r>
            <a:endParaRPr lang="en-US" sz="1100" dirty="0"/>
          </a:p>
        </p:txBody>
      </p:sp>
      <p:sp>
        <p:nvSpPr>
          <p:cNvPr id="42" name="Shape 42"/>
          <p:cNvSpPr/>
          <p:nvPr/>
        </p:nvSpPr>
        <p:spPr>
          <a:xfrm>
            <a:off x="8591550" y="2667000"/>
            <a:ext cx="914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3"/>
          <p:cNvSpPr txBox="1"/>
          <p:nvPr/>
        </p:nvSpPr>
        <p:spPr>
          <a:xfrm>
            <a:off x="8686800" y="2667000"/>
            <a:ext cx="723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4" name="Shape 44"/>
          <p:cNvSpPr/>
          <p:nvPr/>
        </p:nvSpPr>
        <p:spPr>
          <a:xfrm>
            <a:off x="9505950" y="2667000"/>
            <a:ext cx="6286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5"/>
          <p:cNvSpPr txBox="1"/>
          <p:nvPr/>
        </p:nvSpPr>
        <p:spPr>
          <a:xfrm>
            <a:off x="9601200" y="2667000"/>
            <a:ext cx="43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</a:t>
            </a:r>
            <a:endParaRPr lang="en-US" sz="1100" dirty="0"/>
          </a:p>
        </p:txBody>
      </p:sp>
      <p:sp>
        <p:nvSpPr>
          <p:cNvPr id="46" name="Shape 46"/>
          <p:cNvSpPr/>
          <p:nvPr/>
        </p:nvSpPr>
        <p:spPr>
          <a:xfrm>
            <a:off x="10134600" y="2667000"/>
            <a:ext cx="4953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7"/>
          <p:cNvSpPr txBox="1"/>
          <p:nvPr/>
        </p:nvSpPr>
        <p:spPr>
          <a:xfrm>
            <a:off x="10229850" y="2667000"/>
            <a:ext cx="30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U18</a:t>
            </a:r>
            <a:endParaRPr lang="en-US" sz="1100" dirty="0"/>
          </a:p>
        </p:txBody>
      </p:sp>
      <p:sp>
        <p:nvSpPr>
          <p:cNvPr id="48" name="Shape 48"/>
          <p:cNvSpPr/>
          <p:nvPr/>
        </p:nvSpPr>
        <p:spPr>
          <a:xfrm>
            <a:off x="10629900" y="2667000"/>
            <a:ext cx="9334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9"/>
          <p:cNvSpPr txBox="1"/>
          <p:nvPr/>
        </p:nvSpPr>
        <p:spPr>
          <a:xfrm>
            <a:off x="10725150" y="2667000"/>
            <a:ext cx="742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BTNC</a:t>
            </a:r>
            <a:endParaRPr lang="en-US" sz="1100" dirty="0"/>
          </a:p>
        </p:txBody>
      </p:sp>
      <p:sp>
        <p:nvSpPr>
          <p:cNvPr id="50" name="Shape 50"/>
          <p:cNvSpPr/>
          <p:nvPr/>
        </p:nvSpPr>
        <p:spPr>
          <a:xfrm>
            <a:off x="8591550" y="3124200"/>
            <a:ext cx="914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8686800" y="3124200"/>
            <a:ext cx="723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i_sw[0]</a:t>
            </a:r>
            <a:endParaRPr lang="en-US" sz="1100" dirty="0"/>
          </a:p>
        </p:txBody>
      </p:sp>
      <p:sp>
        <p:nvSpPr>
          <p:cNvPr id="52" name="Shape 52"/>
          <p:cNvSpPr/>
          <p:nvPr/>
        </p:nvSpPr>
        <p:spPr>
          <a:xfrm>
            <a:off x="9505950" y="3124200"/>
            <a:ext cx="6286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3"/>
          <p:cNvSpPr txBox="1"/>
          <p:nvPr/>
        </p:nvSpPr>
        <p:spPr>
          <a:xfrm>
            <a:off x="9601200" y="3124200"/>
            <a:ext cx="43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</a:t>
            </a:r>
            <a:endParaRPr lang="en-US" sz="1100" dirty="0"/>
          </a:p>
        </p:txBody>
      </p:sp>
      <p:sp>
        <p:nvSpPr>
          <p:cNvPr id="54" name="Shape 54"/>
          <p:cNvSpPr/>
          <p:nvPr/>
        </p:nvSpPr>
        <p:spPr>
          <a:xfrm>
            <a:off x="10134600" y="3124200"/>
            <a:ext cx="4953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5"/>
          <p:cNvSpPr txBox="1"/>
          <p:nvPr/>
        </p:nvSpPr>
        <p:spPr>
          <a:xfrm>
            <a:off x="10229850" y="3124200"/>
            <a:ext cx="30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V17</a:t>
            </a:r>
            <a:endParaRPr lang="en-US" sz="1100" dirty="0"/>
          </a:p>
        </p:txBody>
      </p:sp>
      <p:sp>
        <p:nvSpPr>
          <p:cNvPr id="56" name="Shape 56"/>
          <p:cNvSpPr/>
          <p:nvPr/>
        </p:nvSpPr>
        <p:spPr>
          <a:xfrm>
            <a:off x="10629900" y="3124200"/>
            <a:ext cx="9334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10725150" y="3124200"/>
            <a:ext cx="742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SW0</a:t>
            </a:r>
            <a:endParaRPr lang="en-US" sz="1100" dirty="0"/>
          </a:p>
        </p:txBody>
      </p:sp>
      <p:sp>
        <p:nvSpPr>
          <p:cNvPr id="58" name="Shape 58"/>
          <p:cNvSpPr/>
          <p:nvPr/>
        </p:nvSpPr>
        <p:spPr>
          <a:xfrm>
            <a:off x="8591550" y="3581400"/>
            <a:ext cx="914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9"/>
          <p:cNvSpPr txBox="1"/>
          <p:nvPr/>
        </p:nvSpPr>
        <p:spPr>
          <a:xfrm>
            <a:off x="8686800" y="3581400"/>
            <a:ext cx="723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i_sw[1]</a:t>
            </a:r>
            <a:endParaRPr lang="en-US" sz="1100" dirty="0"/>
          </a:p>
        </p:txBody>
      </p:sp>
      <p:sp>
        <p:nvSpPr>
          <p:cNvPr id="60" name="Shape 60"/>
          <p:cNvSpPr/>
          <p:nvPr/>
        </p:nvSpPr>
        <p:spPr>
          <a:xfrm>
            <a:off x="9505950" y="3581400"/>
            <a:ext cx="6286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61"/>
          <p:cNvSpPr txBox="1"/>
          <p:nvPr/>
        </p:nvSpPr>
        <p:spPr>
          <a:xfrm>
            <a:off x="9601200" y="3581400"/>
            <a:ext cx="43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</a:t>
            </a:r>
            <a:endParaRPr lang="en-US" sz="1100" dirty="0"/>
          </a:p>
        </p:txBody>
      </p:sp>
      <p:sp>
        <p:nvSpPr>
          <p:cNvPr id="62" name="Shape 62"/>
          <p:cNvSpPr/>
          <p:nvPr/>
        </p:nvSpPr>
        <p:spPr>
          <a:xfrm>
            <a:off x="10134600" y="3581400"/>
            <a:ext cx="4953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3"/>
          <p:cNvSpPr txBox="1"/>
          <p:nvPr/>
        </p:nvSpPr>
        <p:spPr>
          <a:xfrm>
            <a:off x="10229850" y="3581400"/>
            <a:ext cx="30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V16</a:t>
            </a:r>
            <a:endParaRPr lang="en-US" sz="1100" dirty="0"/>
          </a:p>
        </p:txBody>
      </p:sp>
      <p:sp>
        <p:nvSpPr>
          <p:cNvPr id="64" name="Shape 64"/>
          <p:cNvSpPr/>
          <p:nvPr/>
        </p:nvSpPr>
        <p:spPr>
          <a:xfrm>
            <a:off x="10629900" y="3581400"/>
            <a:ext cx="9334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5"/>
          <p:cNvSpPr txBox="1"/>
          <p:nvPr/>
        </p:nvSpPr>
        <p:spPr>
          <a:xfrm>
            <a:off x="10725150" y="3581400"/>
            <a:ext cx="742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</a:t>
            </a:r>
            <a:endParaRPr lang="en-US" sz="1100" dirty="0"/>
          </a:p>
        </p:txBody>
      </p:sp>
      <p:sp>
        <p:nvSpPr>
          <p:cNvPr id="66" name="Shape 66"/>
          <p:cNvSpPr/>
          <p:nvPr/>
        </p:nvSpPr>
        <p:spPr>
          <a:xfrm>
            <a:off x="8591550" y="4038600"/>
            <a:ext cx="914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7"/>
          <p:cNvSpPr txBox="1"/>
          <p:nvPr/>
        </p:nvSpPr>
        <p:spPr>
          <a:xfrm>
            <a:off x="8686800" y="4038600"/>
            <a:ext cx="723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o_led[0]</a:t>
            </a:r>
            <a:endParaRPr lang="en-US" sz="1100" dirty="0"/>
          </a:p>
        </p:txBody>
      </p:sp>
      <p:sp>
        <p:nvSpPr>
          <p:cNvPr id="68" name="Shape 68"/>
          <p:cNvSpPr/>
          <p:nvPr/>
        </p:nvSpPr>
        <p:spPr>
          <a:xfrm>
            <a:off x="9505950" y="4038600"/>
            <a:ext cx="6286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9"/>
          <p:cNvSpPr txBox="1"/>
          <p:nvPr/>
        </p:nvSpPr>
        <p:spPr>
          <a:xfrm>
            <a:off x="9601200" y="4038600"/>
            <a:ext cx="43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output</a:t>
            </a:r>
            <a:endParaRPr lang="en-US" sz="1100" dirty="0"/>
          </a:p>
        </p:txBody>
      </p:sp>
      <p:sp>
        <p:nvSpPr>
          <p:cNvPr id="70" name="Shape 70"/>
          <p:cNvSpPr/>
          <p:nvPr/>
        </p:nvSpPr>
        <p:spPr>
          <a:xfrm>
            <a:off x="10134600" y="4038600"/>
            <a:ext cx="4953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71"/>
          <p:cNvSpPr txBox="1"/>
          <p:nvPr/>
        </p:nvSpPr>
        <p:spPr>
          <a:xfrm>
            <a:off x="10229850" y="4038600"/>
            <a:ext cx="30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U16</a:t>
            </a:r>
            <a:endParaRPr lang="en-US" sz="1100" dirty="0"/>
          </a:p>
        </p:txBody>
      </p:sp>
      <p:sp>
        <p:nvSpPr>
          <p:cNvPr id="72" name="Shape 72"/>
          <p:cNvSpPr/>
          <p:nvPr/>
        </p:nvSpPr>
        <p:spPr>
          <a:xfrm>
            <a:off x="10629900" y="4038600"/>
            <a:ext cx="9334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3"/>
          <p:cNvSpPr txBox="1"/>
          <p:nvPr/>
        </p:nvSpPr>
        <p:spPr>
          <a:xfrm>
            <a:off x="10725150" y="4038600"/>
            <a:ext cx="742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LD0</a:t>
            </a:r>
            <a:endParaRPr lang="en-US" sz="1100" dirty="0"/>
          </a:p>
        </p:txBody>
      </p:sp>
      <p:sp>
        <p:nvSpPr>
          <p:cNvPr id="74" name="Shape 74"/>
          <p:cNvSpPr/>
          <p:nvPr/>
        </p:nvSpPr>
        <p:spPr>
          <a:xfrm>
            <a:off x="8591550" y="4495800"/>
            <a:ext cx="914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5"/>
          <p:cNvSpPr txBox="1"/>
          <p:nvPr/>
        </p:nvSpPr>
        <p:spPr>
          <a:xfrm>
            <a:off x="8686800" y="4495800"/>
            <a:ext cx="723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o_led[1]</a:t>
            </a:r>
            <a:endParaRPr lang="en-US" sz="1100" dirty="0"/>
          </a:p>
        </p:txBody>
      </p:sp>
      <p:sp>
        <p:nvSpPr>
          <p:cNvPr id="76" name="Shape 76"/>
          <p:cNvSpPr/>
          <p:nvPr/>
        </p:nvSpPr>
        <p:spPr>
          <a:xfrm>
            <a:off x="9505950" y="4495800"/>
            <a:ext cx="6286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7"/>
          <p:cNvSpPr txBox="1"/>
          <p:nvPr/>
        </p:nvSpPr>
        <p:spPr>
          <a:xfrm>
            <a:off x="9601200" y="4495800"/>
            <a:ext cx="43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output</a:t>
            </a:r>
            <a:endParaRPr lang="en-US" sz="1100" dirty="0"/>
          </a:p>
        </p:txBody>
      </p:sp>
      <p:sp>
        <p:nvSpPr>
          <p:cNvPr id="78" name="Shape 78"/>
          <p:cNvSpPr/>
          <p:nvPr/>
        </p:nvSpPr>
        <p:spPr>
          <a:xfrm>
            <a:off x="10134600" y="4495800"/>
            <a:ext cx="4953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9"/>
          <p:cNvSpPr txBox="1"/>
          <p:nvPr/>
        </p:nvSpPr>
        <p:spPr>
          <a:xfrm>
            <a:off x="10229850" y="4495800"/>
            <a:ext cx="30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E19</a:t>
            </a:r>
            <a:endParaRPr lang="en-US" sz="1100" dirty="0"/>
          </a:p>
        </p:txBody>
      </p:sp>
      <p:sp>
        <p:nvSpPr>
          <p:cNvPr id="80" name="Shape 80"/>
          <p:cNvSpPr/>
          <p:nvPr/>
        </p:nvSpPr>
        <p:spPr>
          <a:xfrm>
            <a:off x="10629900" y="4495800"/>
            <a:ext cx="9334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81"/>
          <p:cNvSpPr txBox="1"/>
          <p:nvPr/>
        </p:nvSpPr>
        <p:spPr>
          <a:xfrm>
            <a:off x="10725150" y="4495800"/>
            <a:ext cx="742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LD1</a:t>
            </a:r>
            <a:endParaRPr lang="en-US" sz="1100" dirty="0"/>
          </a:p>
        </p:txBody>
      </p:sp>
      <p:sp>
        <p:nvSpPr>
          <p:cNvPr id="82" name="Shape 82"/>
          <p:cNvSpPr/>
          <p:nvPr/>
        </p:nvSpPr>
        <p:spPr>
          <a:xfrm>
            <a:off x="8591550" y="4953000"/>
            <a:ext cx="9144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3" name="Text 83"/>
          <p:cNvSpPr txBox="1"/>
          <p:nvPr/>
        </p:nvSpPr>
        <p:spPr>
          <a:xfrm>
            <a:off x="8686800" y="4953000"/>
            <a:ext cx="723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o_led[2]</a:t>
            </a:r>
            <a:endParaRPr lang="en-US" sz="1100" dirty="0"/>
          </a:p>
        </p:txBody>
      </p:sp>
      <p:sp>
        <p:nvSpPr>
          <p:cNvPr id="84" name="Shape 84"/>
          <p:cNvSpPr/>
          <p:nvPr/>
        </p:nvSpPr>
        <p:spPr>
          <a:xfrm>
            <a:off x="9505950" y="4953000"/>
            <a:ext cx="6286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5"/>
          <p:cNvSpPr txBox="1"/>
          <p:nvPr/>
        </p:nvSpPr>
        <p:spPr>
          <a:xfrm>
            <a:off x="9601200" y="4953000"/>
            <a:ext cx="4381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output</a:t>
            </a:r>
            <a:endParaRPr lang="en-US" sz="1100" dirty="0"/>
          </a:p>
        </p:txBody>
      </p:sp>
      <p:sp>
        <p:nvSpPr>
          <p:cNvPr id="86" name="Shape 86"/>
          <p:cNvSpPr/>
          <p:nvPr/>
        </p:nvSpPr>
        <p:spPr>
          <a:xfrm>
            <a:off x="10134600" y="4953000"/>
            <a:ext cx="4953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Text 87"/>
          <p:cNvSpPr txBox="1"/>
          <p:nvPr/>
        </p:nvSpPr>
        <p:spPr>
          <a:xfrm>
            <a:off x="10229850" y="4953000"/>
            <a:ext cx="30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U19</a:t>
            </a:r>
            <a:endParaRPr lang="en-US" sz="1100" dirty="0"/>
          </a:p>
        </p:txBody>
      </p:sp>
      <p:sp>
        <p:nvSpPr>
          <p:cNvPr id="88" name="Shape 88"/>
          <p:cNvSpPr/>
          <p:nvPr/>
        </p:nvSpPr>
        <p:spPr>
          <a:xfrm>
            <a:off x="10629900" y="4953000"/>
            <a:ext cx="93345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9" name="Text 89"/>
          <p:cNvSpPr txBox="1"/>
          <p:nvPr/>
        </p:nvSpPr>
        <p:spPr>
          <a:xfrm>
            <a:off x="10725150" y="4953000"/>
            <a:ext cx="7429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16A3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LD2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Board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Board Test Photos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 / 56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11277600" cy="495300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457200" y="1295400"/>
            <a:ext cx="11277600" cy="495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6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보드 동작 사진 자리 (10/12 첨부 예정)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HW_4_2 설계 · State Diagram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 Is the Hub Between RUN and CLEAR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11277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619250" y="3048000"/>
            <a:ext cx="1524000" cy="1524000"/>
          </a:xfrm>
          <a:prstGeom prst="ellipse">
            <a:avLst/>
          </a:prstGeom>
          <a:solidFill>
            <a:srgbClr val="E8F5E9"/>
          </a:solidFill>
          <a:ln w="317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1619250" y="3337560"/>
            <a:ext cx="152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1847850" y="3829050"/>
            <a:ext cx="1066800" cy="0"/>
          </a:xfrm>
          <a:prstGeom prst="line">
            <a:avLst/>
          </a:prstGeom>
          <a:noFill/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1619250" y="3886200"/>
            <a:ext cx="152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334000" y="3048000"/>
            <a:ext cx="1524000" cy="1524000"/>
          </a:xfrm>
          <a:prstGeom prst="ellipse">
            <a:avLst/>
          </a:prstGeom>
          <a:solidFill>
            <a:srgbClr val="FFF3E0"/>
          </a:solidFill>
          <a:ln w="317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5334000" y="3337560"/>
            <a:ext cx="152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562600" y="3829050"/>
            <a:ext cx="1066800" cy="0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334000" y="3886200"/>
            <a:ext cx="152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9048750" y="3048000"/>
            <a:ext cx="1524000" cy="1524000"/>
          </a:xfrm>
          <a:prstGeom prst="ellipse">
            <a:avLst/>
          </a:prstGeom>
          <a:solidFill>
            <a:srgbClr val="FDECEC"/>
          </a:solidFill>
          <a:ln w="317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9048750" y="3337560"/>
            <a:ext cx="152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9277350" y="3829050"/>
            <a:ext cx="1066800" cy="0"/>
          </a:xfrm>
          <a:prstGeom prst="line">
            <a:avLst/>
          </a:prstGeom>
          <a:noFill/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9048750" y="3886200"/>
            <a:ext cx="152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 flipH="1">
            <a:off x="3097530" y="3558540"/>
            <a:ext cx="2282190" cy="0"/>
          </a:xfrm>
          <a:prstGeom prst="line">
            <a:avLst/>
          </a:prstGeom>
          <a:noFill/>
          <a:ln w="25400">
            <a:solidFill>
              <a:srgbClr val="2E7D3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3097530" y="3291840"/>
            <a:ext cx="22821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SW0 = 01 · 11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097530" y="4061460"/>
            <a:ext cx="2282190" cy="0"/>
          </a:xfrm>
          <a:prstGeom prst="line">
            <a:avLst/>
          </a:prstGeom>
          <a:noFill/>
          <a:ln w="25400">
            <a:solidFill>
              <a:srgbClr val="E6510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3097530" y="4118610"/>
            <a:ext cx="22821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SW0 = 00 · 10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812280" y="3558540"/>
            <a:ext cx="2282190" cy="0"/>
          </a:xfrm>
          <a:prstGeom prst="line">
            <a:avLst/>
          </a:prstGeom>
          <a:noFill/>
          <a:ln w="25400">
            <a:solidFill>
              <a:srgbClr val="C6282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812280" y="3291840"/>
            <a:ext cx="22821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SW0 = 10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 flipH="1">
            <a:off x="6812280" y="4061460"/>
            <a:ext cx="2282190" cy="0"/>
          </a:xfrm>
          <a:prstGeom prst="line">
            <a:avLst/>
          </a:prstGeom>
          <a:noFill/>
          <a:ln w="25400">
            <a:solidFill>
              <a:srgbClr val="E6510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812280" y="4118610"/>
            <a:ext cx="22821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SW0 = 00 · 01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096000" y="2381250"/>
            <a:ext cx="0" cy="666750"/>
          </a:xfrm>
          <a:prstGeom prst="line">
            <a:avLst/>
          </a:prstGeom>
          <a:noFill/>
          <a:ln w="25400">
            <a:solidFill>
              <a:srgbClr val="4B5563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172200" y="241935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666875" y="4743450"/>
            <a:ext cx="142875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2E7D32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1666875" y="474345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01 · 11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381625" y="4743450"/>
            <a:ext cx="142875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65100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5381625" y="474345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00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096375" y="4743450"/>
            <a:ext cx="142875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62828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9096375" y="474345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HOLD 10 · 11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 / 56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HW_4_2 설계 · Block Diagram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Combinational Logic Wraps One State Register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905000" y="1428750"/>
            <a:ext cx="8382000" cy="4191000"/>
          </a:xfrm>
          <a:prstGeom prst="rect">
            <a:avLst/>
          </a:prstGeom>
          <a:ln w="12700">
            <a:solidFill>
              <a:srgbClr val="9CA3AF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2019300" y="1485900"/>
            <a:ext cx="2857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FSM_RUN_STOP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33675"/>
            <a:ext cx="1238250" cy="247650"/>
          </a:xfrm>
          <a:prstGeom prst="homePlate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514350" y="2733675"/>
            <a:ext cx="1085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i_sw[1:0]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4352925"/>
            <a:ext cx="1238250" cy="247650"/>
          </a:xfrm>
          <a:prstGeom prst="homePlate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14350" y="4352925"/>
            <a:ext cx="1085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829175"/>
            <a:ext cx="1238250" cy="247650"/>
          </a:xfrm>
          <a:prstGeom prst="homePlate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514350" y="4829175"/>
            <a:ext cx="1085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572750" y="3019425"/>
            <a:ext cx="1238250" cy="247650"/>
          </a:xfrm>
          <a:prstGeom prst="homePlate">
            <a:avLst/>
          </a:prstGeom>
          <a:solidFill>
            <a:srgbClr val="DCFCE7"/>
          </a:solidFill>
          <a:ln w="15875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10629900" y="3019425"/>
            <a:ext cx="10858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o_sw[2:0]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857500" y="2381250"/>
            <a:ext cx="2000250" cy="1524000"/>
          </a:xfrm>
          <a:prstGeom prst="roundRect">
            <a:avLst>
              <a:gd name="adj" fmla="val 3600"/>
            </a:avLst>
          </a:prstGeom>
          <a:solidFill>
            <a:srgbClr val="ECFE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2857500" y="2457450"/>
            <a:ext cx="2000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Next-State Logic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857500" y="2667000"/>
            <a:ext cx="2000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Combinational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800350" y="2800350"/>
            <a:ext cx="114300" cy="1143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2952750" y="276225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800350" y="3467100"/>
            <a:ext cx="114300" cy="1143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2952750" y="342900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00600" y="3086100"/>
            <a:ext cx="114300" cy="114300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3762375" y="3048000"/>
            <a:ext cx="10001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n_state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715000" y="2571750"/>
            <a:ext cx="1809750" cy="2762250"/>
          </a:xfrm>
          <a:prstGeom prst="roundRect">
            <a:avLst>
              <a:gd name="adj" fmla="val 3032"/>
            </a:avLst>
          </a:prstGeom>
          <a:solidFill>
            <a:srgbClr val="FEF2F2"/>
          </a:solidFill>
          <a:ln w="22225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715000" y="2647950"/>
            <a:ext cx="18097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91C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state_reg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715000" y="2857500"/>
            <a:ext cx="1809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Sequential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57850" y="3086100"/>
            <a:ext cx="114300" cy="1143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5810250" y="3048000"/>
            <a:ext cx="904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57850" y="4419600"/>
            <a:ext cx="114300" cy="11430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5810250" y="4381500"/>
            <a:ext cx="904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657850" y="4895850"/>
            <a:ext cx="114300" cy="114300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5810250" y="4857750"/>
            <a:ext cx="904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CLR / PRE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7467600" y="3086100"/>
            <a:ext cx="114300" cy="114300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6524625" y="3048000"/>
            <a:ext cx="90487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382000" y="2571750"/>
            <a:ext cx="1619250" cy="1143000"/>
          </a:xfrm>
          <a:prstGeom prst="roundRect">
            <a:avLst>
              <a:gd name="adj" fmla="val 4800"/>
            </a:avLst>
          </a:prstGeom>
          <a:solidFill>
            <a:srgbClr val="ECFEFF"/>
          </a:solidFill>
          <a:ln w="22225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8382000" y="2647950"/>
            <a:ext cx="1619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Output Decode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8382000" y="2857500"/>
            <a:ext cx="1619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Combinational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324850" y="3086100"/>
            <a:ext cx="114300" cy="114300"/>
          </a:xfrm>
          <a:prstGeom prst="rect">
            <a:avLst/>
          </a:prstGeom>
          <a:solidFill>
            <a:srgbClr val="1D4ED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8477250" y="3048000"/>
            <a:ext cx="809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9944100" y="3086100"/>
            <a:ext cx="114300" cy="114300"/>
          </a:xfrm>
          <a:prstGeom prst="rect">
            <a:avLst/>
          </a:prstGeom>
          <a:solidFill>
            <a:srgbClr val="1580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9096375" y="3048000"/>
            <a:ext cx="80962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695450" y="2857500"/>
            <a:ext cx="110490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4914900" y="3143250"/>
            <a:ext cx="74295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>
            <a:off x="1695450" y="4476750"/>
            <a:ext cx="396240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695450" y="4953000"/>
            <a:ext cx="3962400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7581900" y="3143250"/>
            <a:ext cx="74295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7"/>
          <p:cNvSpPr/>
          <p:nvPr/>
        </p:nvSpPr>
        <p:spPr>
          <a:xfrm>
            <a:off x="10058400" y="3143250"/>
            <a:ext cx="51435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7953375" y="3143250"/>
            <a:ext cx="0" cy="104775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 flipH="1">
            <a:off x="2476500" y="4191000"/>
            <a:ext cx="5476875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0"/>
          <p:cNvSpPr/>
          <p:nvPr/>
        </p:nvSpPr>
        <p:spPr>
          <a:xfrm flipV="1">
            <a:off x="2476500" y="3524250"/>
            <a:ext cx="0" cy="66675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2476500" y="3524250"/>
            <a:ext cx="323850" cy="0"/>
          </a:xfrm>
          <a:prstGeom prst="line">
            <a:avLst/>
          </a:prstGeom>
          <a:noFill/>
          <a:ln w="31750">
            <a:solidFill>
              <a:srgbClr val="1E3A8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4953000" y="2914650"/>
            <a:ext cx="76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n_state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7620000" y="2914650"/>
            <a:ext cx="76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2095500" y="5829300"/>
            <a:ext cx="209550" cy="152400"/>
          </a:xfrm>
          <a:prstGeom prst="rect">
            <a:avLst/>
          </a:prstGeom>
          <a:solidFill>
            <a:srgbClr val="ECFEFF"/>
          </a:solidFill>
          <a:ln w="19050">
            <a:solidFill>
              <a:srgbClr val="0E74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/>
          <p:nvPr/>
        </p:nvSpPr>
        <p:spPr>
          <a:xfrm>
            <a:off x="2381250" y="5810250"/>
            <a:ext cx="152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E74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Combinational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000500" y="5829300"/>
            <a:ext cx="209550" cy="152400"/>
          </a:xfrm>
          <a:prstGeom prst="rect">
            <a:avLst/>
          </a:prstGeom>
          <a:solidFill>
            <a:srgbClr val="FEF2F2"/>
          </a:solidFill>
          <a:ln w="19050">
            <a:solidFill>
              <a:srgbClr val="B91C1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7"/>
          <p:cNvSpPr/>
          <p:nvPr/>
        </p:nvSpPr>
        <p:spPr>
          <a:xfrm>
            <a:off x="4286250" y="5810250"/>
            <a:ext cx="1524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B91C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Sequential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/ 56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HW_4_2 설계 · 코드 연결 · State Register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Enum and State Register Hold the Current State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491199"/>
            <a:ext cx="5715000" cy="2249091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09600" y="2624549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typedef enum logic [2:0] {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844815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2844815"/>
            <a:ext cx="47625" cy="220266"/>
          </a:xfrm>
          <a:prstGeom prst="rect">
            <a:avLst/>
          </a:prstGeom>
          <a:solidFill>
            <a:srgbClr val="9333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09600" y="2844815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clear = 3'd0, stop = 3'd1, run = 3'd2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09600" y="3065080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 state_t;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09600" y="3285346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state_t state, n_state;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09600" y="3505612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09600" y="3725877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always @(posedge i_clk or posedge i_reset) begin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946143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457200" y="3946143"/>
            <a:ext cx="47625" cy="220266"/>
          </a:xfrm>
          <a:prstGeom prst="rect">
            <a:avLst/>
          </a:prstGeom>
          <a:solidFill>
            <a:srgbClr val="F9731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09600" y="3946143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(i_reset) state &lt;= stop;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166408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457200" y="4166408"/>
            <a:ext cx="47625" cy="220266"/>
          </a:xfrm>
          <a:prstGeom prst="rect">
            <a:avLst/>
          </a:prstGeom>
          <a:solidFill>
            <a:srgbClr val="38BDF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09600" y="4166408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        state &lt;= n_state;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9600" y="4386674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362700" y="1295400"/>
            <a:ext cx="53721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6362700" y="3352800"/>
            <a:ext cx="914400" cy="914400"/>
          </a:xfrm>
          <a:prstGeom prst="ellipse">
            <a:avLst/>
          </a:prstGeom>
          <a:solidFill>
            <a:srgbClr val="E8F5E9"/>
          </a:solidFill>
          <a:ln w="317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36270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412" dirty="0"/>
          </a:p>
        </p:txBody>
      </p:sp>
      <p:sp>
        <p:nvSpPr>
          <p:cNvPr id="26" name="Shape 24"/>
          <p:cNvSpPr/>
          <p:nvPr/>
        </p:nvSpPr>
        <p:spPr>
          <a:xfrm>
            <a:off x="6499860" y="3829050"/>
            <a:ext cx="640080" cy="0"/>
          </a:xfrm>
          <a:prstGeom prst="line">
            <a:avLst/>
          </a:prstGeom>
          <a:noFill/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636270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59" dirty="0"/>
          </a:p>
        </p:txBody>
      </p:sp>
      <p:sp>
        <p:nvSpPr>
          <p:cNvPr id="28" name="Shape 26"/>
          <p:cNvSpPr/>
          <p:nvPr/>
        </p:nvSpPr>
        <p:spPr>
          <a:xfrm>
            <a:off x="8591550" y="3352800"/>
            <a:ext cx="914400" cy="914400"/>
          </a:xfrm>
          <a:prstGeom prst="ellipse">
            <a:avLst/>
          </a:prstGeom>
          <a:solidFill>
            <a:srgbClr val="FFF3E0"/>
          </a:solidFill>
          <a:ln w="317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859155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412" dirty="0"/>
          </a:p>
        </p:txBody>
      </p:sp>
      <p:sp>
        <p:nvSpPr>
          <p:cNvPr id="30" name="Shape 28"/>
          <p:cNvSpPr/>
          <p:nvPr/>
        </p:nvSpPr>
        <p:spPr>
          <a:xfrm>
            <a:off x="8728710" y="3829050"/>
            <a:ext cx="640080" cy="0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859155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59" dirty="0"/>
          </a:p>
        </p:txBody>
      </p:sp>
      <p:sp>
        <p:nvSpPr>
          <p:cNvPr id="32" name="Shape 30"/>
          <p:cNvSpPr/>
          <p:nvPr/>
        </p:nvSpPr>
        <p:spPr>
          <a:xfrm>
            <a:off x="10820400" y="3352800"/>
            <a:ext cx="914400" cy="914400"/>
          </a:xfrm>
          <a:prstGeom prst="ellipse">
            <a:avLst/>
          </a:prstGeom>
          <a:solidFill>
            <a:srgbClr val="FDECEC"/>
          </a:solidFill>
          <a:ln w="317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1082040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412" dirty="0"/>
          </a:p>
        </p:txBody>
      </p:sp>
      <p:sp>
        <p:nvSpPr>
          <p:cNvPr id="34" name="Shape 32"/>
          <p:cNvSpPr/>
          <p:nvPr/>
        </p:nvSpPr>
        <p:spPr>
          <a:xfrm>
            <a:off x="10957560" y="3829050"/>
            <a:ext cx="640080" cy="0"/>
          </a:xfrm>
          <a:prstGeom prst="line">
            <a:avLst/>
          </a:prstGeom>
          <a:noFill/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1082040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59" dirty="0"/>
          </a:p>
        </p:txBody>
      </p:sp>
      <p:sp>
        <p:nvSpPr>
          <p:cNvPr id="36" name="Shape 34"/>
          <p:cNvSpPr/>
          <p:nvPr/>
        </p:nvSpPr>
        <p:spPr>
          <a:xfrm flipH="1">
            <a:off x="7249668" y="3659124"/>
            <a:ext cx="1369314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5"/>
          <p:cNvSpPr/>
          <p:nvPr/>
        </p:nvSpPr>
        <p:spPr>
          <a:xfrm>
            <a:off x="7249668" y="3960876"/>
            <a:ext cx="1369314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478518" y="3659124"/>
            <a:ext cx="1369314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 flipH="1">
            <a:off x="9478518" y="3960876"/>
            <a:ext cx="1369314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8"/>
          <p:cNvSpPr/>
          <p:nvPr/>
        </p:nvSpPr>
        <p:spPr>
          <a:xfrm>
            <a:off x="9048750" y="2952750"/>
            <a:ext cx="0" cy="400050"/>
          </a:xfrm>
          <a:prstGeom prst="line">
            <a:avLst/>
          </a:prstGeom>
          <a:noFill/>
          <a:ln w="44450">
            <a:solidFill>
              <a:srgbClr val="F97316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9124950" y="297561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6270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/>
          <p:nvPr/>
        </p:nvSpPr>
        <p:spPr>
          <a:xfrm>
            <a:off x="636270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11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59155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/>
          <p:nvPr/>
        </p:nvSpPr>
        <p:spPr>
          <a:xfrm>
            <a:off x="859155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082040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1082040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11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6591300" y="1485900"/>
            <a:ext cx="4953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9731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i_reset → STOP (클럭 무관)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591300" y="5334000"/>
            <a:ext cx="4953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0284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상승 엣지마다 state ← n_state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6667500" y="5676900"/>
            <a:ext cx="1485900" cy="304800"/>
          </a:xfrm>
          <a:prstGeom prst="roundRect">
            <a:avLst>
              <a:gd name="adj" fmla="val 15000"/>
            </a:avLst>
          </a:prstGeom>
          <a:solidFill>
            <a:srgbClr val="F3E8FF"/>
          </a:solidFill>
          <a:ln w="15875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/>
          <p:nvPr/>
        </p:nvSpPr>
        <p:spPr>
          <a:xfrm>
            <a:off x="6667500" y="5676900"/>
            <a:ext cx="148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 = 0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8305800" y="5676900"/>
            <a:ext cx="1485900" cy="304800"/>
          </a:xfrm>
          <a:prstGeom prst="roundRect">
            <a:avLst>
              <a:gd name="adj" fmla="val 15000"/>
            </a:avLst>
          </a:prstGeom>
          <a:solidFill>
            <a:srgbClr val="F3E8FF"/>
          </a:solidFill>
          <a:ln w="15875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1"/>
          <p:cNvSpPr/>
          <p:nvPr/>
        </p:nvSpPr>
        <p:spPr>
          <a:xfrm>
            <a:off x="8305800" y="5676900"/>
            <a:ext cx="148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= 1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9944100" y="5676900"/>
            <a:ext cx="1485900" cy="304800"/>
          </a:xfrm>
          <a:prstGeom prst="roundRect">
            <a:avLst>
              <a:gd name="adj" fmla="val 15000"/>
            </a:avLst>
          </a:prstGeom>
          <a:solidFill>
            <a:srgbClr val="F3E8FF"/>
          </a:solidFill>
          <a:ln w="15875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/>
          <p:nvPr/>
        </p:nvSpPr>
        <p:spPr>
          <a:xfrm>
            <a:off x="9944100" y="5676900"/>
            <a:ext cx="14859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= 2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 / 56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HW_4_2 설계 · 코드 연결 · STOP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 Branch Selects RUN or CLEAR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343156"/>
            <a:ext cx="5715000" cy="2469356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09600" y="2476506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case (state)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09600" y="2696772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stop : begin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09600" y="2917037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(i_sw)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3137303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57200" y="3137303"/>
            <a:ext cx="47625" cy="22026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609600" y="3137303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2'b11   : n_state = run;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357569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457200" y="3357569"/>
            <a:ext cx="47625" cy="22026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09600" y="3357569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2'b01   : n_state = run;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77834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457200" y="3577834"/>
            <a:ext cx="47625" cy="220266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609600" y="3577834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2'b10   : n_state = clear;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3798100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57200" y="3798100"/>
            <a:ext cx="47625" cy="220266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09600" y="3798100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default : n_state = stop;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09600" y="4018365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endcase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4238631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457200" y="4238631"/>
            <a:ext cx="47625" cy="220266"/>
          </a:xfrm>
          <a:prstGeom prst="rect">
            <a:avLst/>
          </a:prstGeom>
          <a:solidFill>
            <a:srgbClr val="C084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09600" y="4238631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o_sw = 3'b001;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09600" y="4458897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362700" y="1295400"/>
            <a:ext cx="53721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362700" y="3352800"/>
            <a:ext cx="914400" cy="914400"/>
          </a:xfrm>
          <a:prstGeom prst="ellipse">
            <a:avLst/>
          </a:prstGeom>
          <a:solidFill>
            <a:srgbClr val="E8F5E9"/>
          </a:solidFill>
          <a:ln w="317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636270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412" dirty="0"/>
          </a:p>
        </p:txBody>
      </p:sp>
      <p:sp>
        <p:nvSpPr>
          <p:cNvPr id="31" name="Shape 29"/>
          <p:cNvSpPr/>
          <p:nvPr/>
        </p:nvSpPr>
        <p:spPr>
          <a:xfrm>
            <a:off x="6499860" y="3829050"/>
            <a:ext cx="640080" cy="0"/>
          </a:xfrm>
          <a:prstGeom prst="line">
            <a:avLst/>
          </a:prstGeom>
          <a:noFill/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36270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59" dirty="0"/>
          </a:p>
        </p:txBody>
      </p:sp>
      <p:sp>
        <p:nvSpPr>
          <p:cNvPr id="33" name="Shape 31"/>
          <p:cNvSpPr/>
          <p:nvPr/>
        </p:nvSpPr>
        <p:spPr>
          <a:xfrm>
            <a:off x="8591550" y="3352800"/>
            <a:ext cx="914400" cy="914400"/>
          </a:xfrm>
          <a:prstGeom prst="ellipse">
            <a:avLst/>
          </a:prstGeom>
          <a:solidFill>
            <a:srgbClr val="FFF3E0"/>
          </a:solidFill>
          <a:ln w="317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859155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412" dirty="0"/>
          </a:p>
        </p:txBody>
      </p:sp>
      <p:sp>
        <p:nvSpPr>
          <p:cNvPr id="35" name="Shape 33"/>
          <p:cNvSpPr/>
          <p:nvPr/>
        </p:nvSpPr>
        <p:spPr>
          <a:xfrm>
            <a:off x="8728710" y="3829050"/>
            <a:ext cx="640080" cy="0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859155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59" dirty="0"/>
          </a:p>
        </p:txBody>
      </p:sp>
      <p:sp>
        <p:nvSpPr>
          <p:cNvPr id="37" name="Shape 35"/>
          <p:cNvSpPr/>
          <p:nvPr/>
        </p:nvSpPr>
        <p:spPr>
          <a:xfrm>
            <a:off x="10820400" y="3352800"/>
            <a:ext cx="914400" cy="914400"/>
          </a:xfrm>
          <a:prstGeom prst="ellipse">
            <a:avLst/>
          </a:prstGeom>
          <a:solidFill>
            <a:srgbClr val="FDECEC"/>
          </a:solidFill>
          <a:ln w="317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1082040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412" dirty="0"/>
          </a:p>
        </p:txBody>
      </p:sp>
      <p:sp>
        <p:nvSpPr>
          <p:cNvPr id="39" name="Shape 37"/>
          <p:cNvSpPr/>
          <p:nvPr/>
        </p:nvSpPr>
        <p:spPr>
          <a:xfrm>
            <a:off x="10957560" y="3829050"/>
            <a:ext cx="640080" cy="0"/>
          </a:xfrm>
          <a:prstGeom prst="line">
            <a:avLst/>
          </a:prstGeom>
          <a:noFill/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1082040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59" dirty="0"/>
          </a:p>
        </p:txBody>
      </p:sp>
      <p:sp>
        <p:nvSpPr>
          <p:cNvPr id="41" name="Shape 39"/>
          <p:cNvSpPr/>
          <p:nvPr/>
        </p:nvSpPr>
        <p:spPr>
          <a:xfrm flipH="1">
            <a:off x="7249668" y="3659124"/>
            <a:ext cx="1369314" cy="0"/>
          </a:xfrm>
          <a:prstGeom prst="line">
            <a:avLst/>
          </a:prstGeom>
          <a:noFill/>
          <a:ln w="44450">
            <a:solidFill>
              <a:srgbClr val="2E7D3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7249668" y="3960876"/>
            <a:ext cx="1369314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1"/>
          <p:cNvSpPr/>
          <p:nvPr/>
        </p:nvSpPr>
        <p:spPr>
          <a:xfrm>
            <a:off x="9478518" y="3659124"/>
            <a:ext cx="1369314" cy="0"/>
          </a:xfrm>
          <a:prstGeom prst="line">
            <a:avLst/>
          </a:prstGeom>
          <a:noFill/>
          <a:ln w="44450">
            <a:solidFill>
              <a:srgbClr val="C62828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 flipH="1">
            <a:off x="9478518" y="3960876"/>
            <a:ext cx="1369314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9048750" y="2952750"/>
            <a:ext cx="0" cy="40005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/>
          <p:nvPr/>
        </p:nvSpPr>
        <p:spPr>
          <a:xfrm>
            <a:off x="9124950" y="297561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36270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636270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11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859155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EA580C"/>
          </a:solidFill>
          <a:ln w="1905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859155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1082040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1082040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11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 / 56</a:t>
            </a:r>
            <a:endParaRPr lang="en-US" sz="900" dirty="0"/>
          </a:p>
        </p:txBody>
      </p:sp>
      <p:sp>
        <p:nvSpPr>
          <p:cNvPr id="55" name="Text 19">
            <a:extLst>
              <a:ext uri="{FF2B5EF4-FFF2-40B4-BE49-F238E27FC236}">
                <a16:creationId xmlns:a16="http://schemas.microsoft.com/office/drawing/2014/main" id="{CB832ED1-8F15-C3C7-B3E0-07C46A07477E}"/>
              </a:ext>
            </a:extLst>
          </p:cNvPr>
          <p:cNvSpPr/>
          <p:nvPr/>
        </p:nvSpPr>
        <p:spPr>
          <a:xfrm>
            <a:off x="6820989" y="3431181"/>
            <a:ext cx="22821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SW0 = 01 · 11</a:t>
            </a:r>
            <a:endParaRPr lang="en-US" sz="1100" dirty="0"/>
          </a:p>
        </p:txBody>
      </p:sp>
      <p:sp>
        <p:nvSpPr>
          <p:cNvPr id="57" name="Text 23">
            <a:extLst>
              <a:ext uri="{FF2B5EF4-FFF2-40B4-BE49-F238E27FC236}">
                <a16:creationId xmlns:a16="http://schemas.microsoft.com/office/drawing/2014/main" id="{6E13AF74-8F18-FB1A-FCD4-F5E2E407EFCF}"/>
              </a:ext>
            </a:extLst>
          </p:cNvPr>
          <p:cNvSpPr/>
          <p:nvPr/>
        </p:nvSpPr>
        <p:spPr>
          <a:xfrm>
            <a:off x="9012828" y="3425027"/>
            <a:ext cx="22821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SW0 = 10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HW_4_2 설계 · 코드 연결 · RUN · CLEAR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and CLEAR Branches Return to STOP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308320"/>
            <a:ext cx="5715000" cy="2469356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09600" y="2441670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clear : begin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7200" y="2661936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2661936"/>
            <a:ext cx="47625" cy="220266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09600" y="2661936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(!i_sw[1]) n_state = stop;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882201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2882201"/>
            <a:ext cx="47625" cy="220266"/>
          </a:xfrm>
          <a:prstGeom prst="rect">
            <a:avLst/>
          </a:prstGeom>
          <a:solidFill>
            <a:srgbClr val="F8717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09600" y="2882201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         n_state = clear;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3102467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457200" y="3102467"/>
            <a:ext cx="47625" cy="220266"/>
          </a:xfrm>
          <a:prstGeom prst="rect">
            <a:avLst/>
          </a:prstGeom>
          <a:solidFill>
            <a:srgbClr val="C084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609600" y="3102467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o_sw = 3'b100;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09600" y="3322733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09600" y="3542998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run : begin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3763264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457200" y="3763264"/>
            <a:ext cx="47625" cy="220266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09600" y="3763264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(!i_sw[0]) n_state = stop;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57200" y="3983529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457200" y="3983529"/>
            <a:ext cx="47625" cy="220266"/>
          </a:xfrm>
          <a:prstGeom prst="rect">
            <a:avLst/>
          </a:prstGeom>
          <a:solidFill>
            <a:srgbClr val="22C55E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09600" y="3983529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          n_state = run;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7200" y="4203795"/>
            <a:ext cx="5715000" cy="22026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457200" y="4203795"/>
            <a:ext cx="47625" cy="220266"/>
          </a:xfrm>
          <a:prstGeom prst="rect">
            <a:avLst/>
          </a:prstGeom>
          <a:solidFill>
            <a:srgbClr val="C084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09600" y="4203795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o_sw = 3'b010;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09600" y="4424061"/>
            <a:ext cx="5486400" cy="2202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62700" y="1295400"/>
            <a:ext cx="53721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9"/>
          <p:cNvSpPr/>
          <p:nvPr/>
        </p:nvSpPr>
        <p:spPr>
          <a:xfrm>
            <a:off x="6362700" y="3352800"/>
            <a:ext cx="914400" cy="914400"/>
          </a:xfrm>
          <a:prstGeom prst="ellipse">
            <a:avLst/>
          </a:prstGeom>
          <a:solidFill>
            <a:srgbClr val="E8F5E9"/>
          </a:solidFill>
          <a:ln w="317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36270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412" dirty="0"/>
          </a:p>
        </p:txBody>
      </p:sp>
      <p:sp>
        <p:nvSpPr>
          <p:cNvPr id="33" name="Shape 31"/>
          <p:cNvSpPr/>
          <p:nvPr/>
        </p:nvSpPr>
        <p:spPr>
          <a:xfrm>
            <a:off x="6499860" y="3829050"/>
            <a:ext cx="640080" cy="0"/>
          </a:xfrm>
          <a:prstGeom prst="line">
            <a:avLst/>
          </a:prstGeom>
          <a:noFill/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/>
          <p:nvPr/>
        </p:nvSpPr>
        <p:spPr>
          <a:xfrm>
            <a:off x="636270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59" dirty="0"/>
          </a:p>
        </p:txBody>
      </p:sp>
      <p:sp>
        <p:nvSpPr>
          <p:cNvPr id="35" name="Shape 33"/>
          <p:cNvSpPr/>
          <p:nvPr/>
        </p:nvSpPr>
        <p:spPr>
          <a:xfrm>
            <a:off x="8591550" y="3352800"/>
            <a:ext cx="914400" cy="914400"/>
          </a:xfrm>
          <a:prstGeom prst="ellipse">
            <a:avLst/>
          </a:prstGeom>
          <a:solidFill>
            <a:srgbClr val="FFF3E0"/>
          </a:solidFill>
          <a:ln w="317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859155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412" dirty="0"/>
          </a:p>
        </p:txBody>
      </p:sp>
      <p:sp>
        <p:nvSpPr>
          <p:cNvPr id="37" name="Shape 35"/>
          <p:cNvSpPr/>
          <p:nvPr/>
        </p:nvSpPr>
        <p:spPr>
          <a:xfrm>
            <a:off x="8728710" y="3829050"/>
            <a:ext cx="640080" cy="0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859155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59" dirty="0"/>
          </a:p>
        </p:txBody>
      </p:sp>
      <p:sp>
        <p:nvSpPr>
          <p:cNvPr id="39" name="Shape 37"/>
          <p:cNvSpPr/>
          <p:nvPr/>
        </p:nvSpPr>
        <p:spPr>
          <a:xfrm>
            <a:off x="10820400" y="3352800"/>
            <a:ext cx="914400" cy="914400"/>
          </a:xfrm>
          <a:prstGeom prst="ellipse">
            <a:avLst/>
          </a:prstGeom>
          <a:solidFill>
            <a:srgbClr val="FDECEC"/>
          </a:solidFill>
          <a:ln w="317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/>
          <p:nvPr/>
        </p:nvSpPr>
        <p:spPr>
          <a:xfrm>
            <a:off x="10820400" y="35265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12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412" dirty="0"/>
          </a:p>
        </p:txBody>
      </p:sp>
      <p:sp>
        <p:nvSpPr>
          <p:cNvPr id="41" name="Shape 39"/>
          <p:cNvSpPr/>
          <p:nvPr/>
        </p:nvSpPr>
        <p:spPr>
          <a:xfrm>
            <a:off x="10957560" y="3829050"/>
            <a:ext cx="640080" cy="0"/>
          </a:xfrm>
          <a:prstGeom prst="line">
            <a:avLst/>
          </a:prstGeom>
          <a:noFill/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/>
          <p:nvPr/>
        </p:nvSpPr>
        <p:spPr>
          <a:xfrm>
            <a:off x="10820400" y="3886200"/>
            <a:ext cx="91440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59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59" dirty="0"/>
          </a:p>
        </p:txBody>
      </p:sp>
      <p:sp>
        <p:nvSpPr>
          <p:cNvPr id="43" name="Shape 41"/>
          <p:cNvSpPr/>
          <p:nvPr/>
        </p:nvSpPr>
        <p:spPr>
          <a:xfrm flipH="1">
            <a:off x="7249668" y="3659124"/>
            <a:ext cx="1369314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7249668" y="3960876"/>
            <a:ext cx="1369314" cy="0"/>
          </a:xfrm>
          <a:prstGeom prst="line">
            <a:avLst/>
          </a:prstGeom>
          <a:noFill/>
          <a:ln w="44450">
            <a:solidFill>
              <a:srgbClr val="EA58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9478518" y="3659124"/>
            <a:ext cx="1369314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4"/>
          <p:cNvSpPr/>
          <p:nvPr/>
        </p:nvSpPr>
        <p:spPr>
          <a:xfrm flipH="1">
            <a:off x="9478518" y="3960876"/>
            <a:ext cx="1369314" cy="0"/>
          </a:xfrm>
          <a:prstGeom prst="line">
            <a:avLst/>
          </a:prstGeom>
          <a:noFill/>
          <a:ln w="44450">
            <a:solidFill>
              <a:srgbClr val="EA580C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9048750" y="2952750"/>
            <a:ext cx="0" cy="40005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/>
          <p:nvPr/>
        </p:nvSpPr>
        <p:spPr>
          <a:xfrm>
            <a:off x="9124950" y="2975610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636270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2E7D32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8"/>
          <p:cNvSpPr/>
          <p:nvPr/>
        </p:nvSpPr>
        <p:spPr>
          <a:xfrm>
            <a:off x="636270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11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59155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/>
          <p:nvPr/>
        </p:nvSpPr>
        <p:spPr>
          <a:xfrm>
            <a:off x="859155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0820400" y="44386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C62828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/>
          <p:nvPr/>
        </p:nvSpPr>
        <p:spPr>
          <a:xfrm>
            <a:off x="10820400" y="44386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11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 / 56</a:t>
            </a:r>
            <a:endParaRPr lang="en-US" sz="900" dirty="0"/>
          </a:p>
        </p:txBody>
      </p:sp>
      <p:sp>
        <p:nvSpPr>
          <p:cNvPr id="57" name="Text 21">
            <a:extLst>
              <a:ext uri="{FF2B5EF4-FFF2-40B4-BE49-F238E27FC236}">
                <a16:creationId xmlns:a16="http://schemas.microsoft.com/office/drawing/2014/main" id="{B3C531CA-9FC5-7577-5A67-9075C197EEE5}"/>
              </a:ext>
            </a:extLst>
          </p:cNvPr>
          <p:cNvSpPr/>
          <p:nvPr/>
        </p:nvSpPr>
        <p:spPr>
          <a:xfrm>
            <a:off x="6803571" y="3997832"/>
            <a:ext cx="22821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SW0 = 00 · 10</a:t>
            </a:r>
            <a:endParaRPr lang="en-US" sz="1100" dirty="0"/>
          </a:p>
        </p:txBody>
      </p:sp>
      <p:sp>
        <p:nvSpPr>
          <p:cNvPr id="59" name="Text 25">
            <a:extLst>
              <a:ext uri="{FF2B5EF4-FFF2-40B4-BE49-F238E27FC236}">
                <a16:creationId xmlns:a16="http://schemas.microsoft.com/office/drawing/2014/main" id="{D9F408A2-29F8-1FFF-5543-A463381D6C35}"/>
              </a:ext>
            </a:extLst>
          </p:cNvPr>
          <p:cNvSpPr/>
          <p:nvPr/>
        </p:nvSpPr>
        <p:spPr>
          <a:xfrm>
            <a:off x="9063985" y="3997832"/>
            <a:ext cx="228219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SW1 SW0 = 00 · 01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HW_4_2 설계 · 코드 연결 · default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Default Branch Covers Unused Codes, No Latch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822121"/>
            <a:ext cx="5715000" cy="1412081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09600" y="2955471"/>
            <a:ext cx="5486400" cy="229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default : begin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184547"/>
            <a:ext cx="5715000" cy="22907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457200" y="3184547"/>
            <a:ext cx="47625" cy="229076"/>
          </a:xfrm>
          <a:prstGeom prst="rect">
            <a:avLst/>
          </a:prstGeom>
          <a:solidFill>
            <a:srgbClr val="FB923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09600" y="3184547"/>
            <a:ext cx="5486400" cy="229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n_state = stop;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3413624"/>
            <a:ext cx="5715000" cy="229076"/>
          </a:xfrm>
          <a:prstGeom prst="rect">
            <a:avLst/>
          </a:prstGeom>
          <a:solidFill>
            <a:srgbClr val="3132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457200" y="3413624"/>
            <a:ext cx="47625" cy="229076"/>
          </a:xfrm>
          <a:prstGeom prst="rect">
            <a:avLst/>
          </a:prstGeom>
          <a:solidFill>
            <a:srgbClr val="C084FC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609600" y="3413624"/>
            <a:ext cx="5486400" cy="229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o_sw    = 3'b001;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09600" y="3642700"/>
            <a:ext cx="5486400" cy="229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09600" y="3871776"/>
            <a:ext cx="5486400" cy="2290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endcase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62700" y="1739541"/>
            <a:ext cx="5372100" cy="3720737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6591300" y="1891941"/>
            <a:ext cx="476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state[2:0] 코드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591300" y="2311041"/>
            <a:ext cx="1104900" cy="876300"/>
          </a:xfrm>
          <a:prstGeom prst="roundRect">
            <a:avLst>
              <a:gd name="adj" fmla="val 6261"/>
            </a:avLst>
          </a:prstGeom>
          <a:solidFill>
            <a:srgbClr val="FDECEC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591300" y="2406291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91300" y="2749191"/>
            <a:ext cx="110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7829550" y="2311041"/>
            <a:ext cx="1104900" cy="876300"/>
          </a:xfrm>
          <a:prstGeom prst="roundRect">
            <a:avLst>
              <a:gd name="adj" fmla="val 6261"/>
            </a:avLst>
          </a:prstGeom>
          <a:solidFill>
            <a:srgbClr val="FFF3E0"/>
          </a:solidFill>
          <a:ln w="190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829550" y="2406291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829550" y="2749191"/>
            <a:ext cx="110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67800" y="2311041"/>
            <a:ext cx="1104900" cy="876300"/>
          </a:xfrm>
          <a:prstGeom prst="roundRect">
            <a:avLst>
              <a:gd name="adj" fmla="val 6261"/>
            </a:avLst>
          </a:prstGeom>
          <a:solidFill>
            <a:srgbClr val="E8F5E9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9067800" y="2406291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067800" y="2749191"/>
            <a:ext cx="110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10306050" y="2311041"/>
            <a:ext cx="1104900" cy="876300"/>
          </a:xfrm>
          <a:prstGeom prst="roundRect">
            <a:avLst>
              <a:gd name="adj" fmla="val 6261"/>
            </a:avLst>
          </a:prstGeom>
          <a:solidFill>
            <a:srgbClr val="FFF7ED"/>
          </a:solidFill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10306050" y="2406291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011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306050" y="2749191"/>
            <a:ext cx="110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591300" y="3358791"/>
            <a:ext cx="1104900" cy="876300"/>
          </a:xfrm>
          <a:prstGeom prst="roundRect">
            <a:avLst>
              <a:gd name="adj" fmla="val 6261"/>
            </a:avLst>
          </a:prstGeom>
          <a:solidFill>
            <a:srgbClr val="FFF7ED"/>
          </a:solidFill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591300" y="3454041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6591300" y="3796941"/>
            <a:ext cx="110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7829550" y="3358791"/>
            <a:ext cx="1104900" cy="876300"/>
          </a:xfrm>
          <a:prstGeom prst="roundRect">
            <a:avLst>
              <a:gd name="adj" fmla="val 6261"/>
            </a:avLst>
          </a:prstGeom>
          <a:solidFill>
            <a:srgbClr val="FFF7ED"/>
          </a:solidFill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7829550" y="3454041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101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829550" y="3796941"/>
            <a:ext cx="110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067800" y="3358791"/>
            <a:ext cx="1104900" cy="876300"/>
          </a:xfrm>
          <a:prstGeom prst="roundRect">
            <a:avLst>
              <a:gd name="adj" fmla="val 6261"/>
            </a:avLst>
          </a:prstGeom>
          <a:solidFill>
            <a:srgbClr val="FFF7ED"/>
          </a:solidFill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9067800" y="3454041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110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9067800" y="3796941"/>
            <a:ext cx="110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0306050" y="3358791"/>
            <a:ext cx="1104900" cy="876300"/>
          </a:xfrm>
          <a:prstGeom prst="roundRect">
            <a:avLst>
              <a:gd name="adj" fmla="val 6261"/>
            </a:avLst>
          </a:prstGeom>
          <a:solidFill>
            <a:srgbClr val="FFF7ED"/>
          </a:solidFill>
          <a:ln w="19050">
            <a:solidFill>
              <a:srgbClr val="FB923C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10306050" y="3454041"/>
            <a:ext cx="11049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10306050" y="3796941"/>
            <a:ext cx="11049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6591300" y="4504510"/>
            <a:ext cx="49149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 코드 5개 → default → STOP 복귀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branch에서 n_state · o_sw 대입 → </a:t>
            </a:r>
            <a:r>
              <a:rPr lang="en-US" sz="14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 없</a:t>
            </a:r>
            <a:r>
              <a:rPr lang="ko-KR" altLang="en-US" sz="14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 / 56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· HW_4_2 설계 · RTL Schematic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Schematic Shows Output Decoded from State Only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81000" y="1295400"/>
            <a:ext cx="86487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0" descr="img/sche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100" y="1809750"/>
            <a:ext cx="8572500" cy="413092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212238" y="2900315"/>
            <a:ext cx="4031785" cy="2775983"/>
          </a:xfrm>
          <a:prstGeom prst="rect">
            <a:avLst/>
          </a:prstGeom>
          <a:ln w="28575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/>
          <p:nvPr/>
        </p:nvSpPr>
        <p:spPr>
          <a:xfrm>
            <a:off x="1193188" y="2652665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508402" y="2140224"/>
            <a:ext cx="1520181" cy="991423"/>
          </a:xfrm>
          <a:prstGeom prst="rect">
            <a:avLst/>
          </a:prstGeom>
          <a:ln w="2857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5489352" y="1892574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259915" y="2391385"/>
            <a:ext cx="859233" cy="475883"/>
          </a:xfrm>
          <a:prstGeom prst="rect">
            <a:avLst/>
          </a:prstGeom>
          <a:ln w="285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1"/>
          <p:cNvSpPr/>
          <p:nvPr/>
        </p:nvSpPr>
        <p:spPr>
          <a:xfrm>
            <a:off x="7240865" y="2143735"/>
            <a:ext cx="381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9182100" y="1295400"/>
            <a:ext cx="25527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3"/>
          <p:cNvSpPr/>
          <p:nvPr/>
        </p:nvSpPr>
        <p:spPr>
          <a:xfrm>
            <a:off x="9353550" y="1428750"/>
            <a:ext cx="2286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Next-State Logic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9353550" y="17335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RTL_MUX × 4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9353550" y="2019300"/>
            <a:ext cx="2247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i_sw · state → n_state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182100" y="2971800"/>
            <a:ext cx="25527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/>
          <p:nvPr/>
        </p:nvSpPr>
        <p:spPr>
          <a:xfrm>
            <a:off x="9353550" y="3105150"/>
            <a:ext cx="2286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State Register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9353550" y="34099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RTL_REG_ASYNC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9353550" y="3695700"/>
            <a:ext cx="2247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CLR · PRE = reset 시 001 (STOP) 로드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9182100" y="4648200"/>
            <a:ext cx="255270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1"/>
          <p:cNvSpPr/>
          <p:nvPr/>
        </p:nvSpPr>
        <p:spPr>
          <a:xfrm>
            <a:off x="9353550" y="4781550"/>
            <a:ext cx="2286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Output Decode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9353550" y="5086350"/>
            <a:ext cx="2286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RTL_ROM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9353550" y="5372100"/>
            <a:ext cx="22479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A[2:0] = state만 연결, i_sw 연결 없음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 / 56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· HW_4_2 검증 · 기존 TB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Existing TB Walks Three Start States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11277600" cy="1428750"/>
          </a:xfrm>
          <a:prstGeom prst="roundRect">
            <a:avLst>
              <a:gd name="adj" fmla="val 512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685800" y="1428750"/>
            <a:ext cx="571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tb_FSM_RUN_STOP 구성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85800" y="1771650"/>
            <a:ext cx="1076325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i_sw 변경 = negedge 시점 → 상승 엣지에서 input 안정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set_sw: 한 값을 2 clock 유지 (RUN → STOP → CLEAR 최장 경로 2 천이 대응)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변수 k + reset으로 시작 </a:t>
            </a:r>
            <a:r>
              <a:rPr lang="en-US" sz="135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구분</a:t>
            </a:r>
            <a:r>
              <a:rPr lang="en-US" sz="13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판정 = 파형 육안 확인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2876550"/>
            <a:ext cx="3657600" cy="2038350"/>
          </a:xfrm>
          <a:prstGeom prst="roundRect">
            <a:avLst>
              <a:gd name="adj" fmla="val 35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647700" y="3009900"/>
            <a:ext cx="1143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00200" y="302895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 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7700" y="3352800"/>
            <a:ext cx="3238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 : 00 → 00 · 01 · 10 · 11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42950" y="36766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42950" y="39052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RUN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2950" y="41338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42950" y="43624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CLEAR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42950" y="45910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CLEAR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267200" y="2876550"/>
            <a:ext cx="3657600" cy="2038350"/>
          </a:xfrm>
          <a:prstGeom prst="roundRect">
            <a:avLst>
              <a:gd name="adj" fmla="val 35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457700" y="3009900"/>
            <a:ext cx="1143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10200" y="302895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 시작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457700" y="3352800"/>
            <a:ext cx="3238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 : 10 → 00 · 01 · 10 · 11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52950" y="36766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52950" y="39052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552950" y="41338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RUN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4552950" y="43624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52950" y="45910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CLEAR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077200" y="2876550"/>
            <a:ext cx="3657600" cy="2038350"/>
          </a:xfrm>
          <a:prstGeom prst="roundRect">
            <a:avLst>
              <a:gd name="adj" fmla="val 35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8267700" y="3009900"/>
            <a:ext cx="1143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= 2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220200" y="302895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시작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8267700" y="3352800"/>
            <a:ext cx="3238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4B55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 : 01 → 00 · 01 · 10 · 11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362950" y="36766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362950" y="39052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8362950" y="41338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RUN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362950" y="43624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STOP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8362950" y="4591050"/>
            <a:ext cx="31432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CLEAR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457200" y="5048250"/>
            <a:ext cx="571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TB가 지나간 arc (state × i_sw, 실측)</a:t>
            </a:r>
            <a:endParaRPr lang="en-US" sz="15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5334000"/>
          <a:ext cx="6667500" cy="1036320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5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58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5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58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476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E651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STOP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미검증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미검증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미검증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7315200" y="5048250"/>
            <a:ext cx="4419600" cy="1238250"/>
          </a:xfrm>
          <a:prstGeom prst="roundRect">
            <a:avLst>
              <a:gd name="adj" fmla="val 5908"/>
            </a:avLst>
          </a:prstGeom>
          <a:solidFill>
            <a:srgbClr val="FDECEC"/>
          </a:solidFill>
          <a:ln w="9525">
            <a:solidFill>
              <a:srgbClr val="F5C6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7"/>
          <p:cNvSpPr/>
          <p:nvPr/>
        </p:nvSpPr>
        <p:spPr>
          <a:xfrm>
            <a:off x="7505700" y="5181600"/>
            <a:ext cx="4000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9 / 12</a:t>
            </a:r>
            <a:endParaRPr lang="en-US" sz="1800" dirty="0"/>
          </a:p>
        </p:txBody>
      </p:sp>
      <p:sp>
        <p:nvSpPr>
          <p:cNvPr id="41" name="Text 38"/>
          <p:cNvSpPr/>
          <p:nvPr/>
        </p:nvSpPr>
        <p:spPr>
          <a:xfrm>
            <a:off x="7505700" y="5505450"/>
            <a:ext cx="40957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 + 11 (SW0 우선 규칙) 미검증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기대값 · 자동 판정 없음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 / 56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· HW_4_2 검증 · 시나리오 1 · STOP 시작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Scenario 1 Waveform Follows the Same Path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pic>
        <p:nvPicPr>
          <p:cNvPr id="7" name="Image 0" descr="img/w_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33500"/>
            <a:ext cx="11277600" cy="25252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944203" y="1543939"/>
            <a:ext cx="0" cy="2314825"/>
          </a:xfrm>
          <a:prstGeom prst="line">
            <a:avLst/>
          </a:prstGeom>
          <a:noFill/>
          <a:ln w="22225">
            <a:solidFill>
              <a:srgbClr val="2563EB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2953728" y="3934964"/>
            <a:ext cx="3041876" cy="13335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360366" y="4087364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4360366" y="408736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005129" y="1543939"/>
            <a:ext cx="0" cy="2314825"/>
          </a:xfrm>
          <a:prstGeom prst="line">
            <a:avLst/>
          </a:prstGeom>
          <a:noFill/>
          <a:ln w="22225">
            <a:solidFill>
              <a:srgbClr val="9333EA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6014654" y="3934964"/>
            <a:ext cx="1894029" cy="133350"/>
          </a:xfrm>
          <a:prstGeom prst="rect">
            <a:avLst/>
          </a:prstGeom>
          <a:solidFill>
            <a:srgbClr val="9333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6847368" y="4087364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6847368" y="408736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918208" y="1543939"/>
            <a:ext cx="0" cy="2314825"/>
          </a:xfrm>
          <a:prstGeom prst="line">
            <a:avLst/>
          </a:prstGeom>
          <a:noFill/>
          <a:ln w="22225">
            <a:solidFill>
              <a:srgbClr val="0891B2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7927733" y="3934964"/>
            <a:ext cx="937489" cy="13335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8282177" y="4087364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8282177" y="408736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874747" y="1543939"/>
            <a:ext cx="0" cy="2314825"/>
          </a:xfrm>
          <a:prstGeom prst="line">
            <a:avLst/>
          </a:prstGeom>
          <a:noFill/>
          <a:ln w="22225">
            <a:solidFill>
              <a:srgbClr val="DB2777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8884272" y="3934964"/>
            <a:ext cx="937489" cy="13335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9238717" y="4087364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9238717" y="408736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9831287" y="1543939"/>
            <a:ext cx="0" cy="2314825"/>
          </a:xfrm>
          <a:prstGeom prst="line">
            <a:avLst/>
          </a:prstGeom>
          <a:noFill/>
          <a:ln w="22225">
            <a:solidFill>
              <a:srgbClr val="CA8A04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2"/>
          <p:cNvSpPr/>
          <p:nvPr/>
        </p:nvSpPr>
        <p:spPr>
          <a:xfrm>
            <a:off x="9840812" y="3934964"/>
            <a:ext cx="1607067" cy="133350"/>
          </a:xfrm>
          <a:prstGeom prst="rect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10530045" y="4087364"/>
            <a:ext cx="228600" cy="228600"/>
          </a:xfrm>
          <a:prstGeom prst="ellipse">
            <a:avLst/>
          </a:prstGeom>
          <a:solidFill>
            <a:srgbClr val="CA8A0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10530045" y="4087364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400550"/>
            <a:ext cx="11277600" cy="1847850"/>
          </a:xfrm>
          <a:prstGeom prst="roundRect">
            <a:avLst>
              <a:gd name="adj" fmla="val 3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3857625" y="4838700"/>
            <a:ext cx="762000" cy="762000"/>
          </a:xfrm>
          <a:prstGeom prst="ellipse">
            <a:avLst/>
          </a:prstGeom>
          <a:solidFill>
            <a:srgbClr val="E8F5E9"/>
          </a:solidFill>
          <a:ln w="317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7"/>
          <p:cNvSpPr/>
          <p:nvPr/>
        </p:nvSpPr>
        <p:spPr>
          <a:xfrm>
            <a:off x="3857625" y="49834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176" dirty="0"/>
          </a:p>
        </p:txBody>
      </p:sp>
      <p:sp>
        <p:nvSpPr>
          <p:cNvPr id="31" name="Shape 28"/>
          <p:cNvSpPr/>
          <p:nvPr/>
        </p:nvSpPr>
        <p:spPr>
          <a:xfrm>
            <a:off x="3971925" y="5238750"/>
            <a:ext cx="533400" cy="0"/>
          </a:xfrm>
          <a:prstGeom prst="line">
            <a:avLst/>
          </a:prstGeom>
          <a:noFill/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/>
          <p:nvPr/>
        </p:nvSpPr>
        <p:spPr>
          <a:xfrm>
            <a:off x="3857625" y="52959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715000" y="4838700"/>
            <a:ext cx="762000" cy="762000"/>
          </a:xfrm>
          <a:prstGeom prst="ellipse">
            <a:avLst/>
          </a:prstGeom>
          <a:solidFill>
            <a:srgbClr val="FFF3E0"/>
          </a:solidFill>
          <a:ln w="317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1"/>
          <p:cNvSpPr/>
          <p:nvPr/>
        </p:nvSpPr>
        <p:spPr>
          <a:xfrm>
            <a:off x="5715000" y="49834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176" dirty="0"/>
          </a:p>
        </p:txBody>
      </p:sp>
      <p:sp>
        <p:nvSpPr>
          <p:cNvPr id="35" name="Shape 32"/>
          <p:cNvSpPr/>
          <p:nvPr/>
        </p:nvSpPr>
        <p:spPr>
          <a:xfrm>
            <a:off x="5829300" y="5238750"/>
            <a:ext cx="533400" cy="0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/>
          <p:nvPr/>
        </p:nvSpPr>
        <p:spPr>
          <a:xfrm>
            <a:off x="5715000" y="52959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7572375" y="4838700"/>
            <a:ext cx="762000" cy="762000"/>
          </a:xfrm>
          <a:prstGeom prst="ellipse">
            <a:avLst/>
          </a:prstGeom>
          <a:solidFill>
            <a:srgbClr val="FDECEC"/>
          </a:solidFill>
          <a:ln w="317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5"/>
          <p:cNvSpPr/>
          <p:nvPr/>
        </p:nvSpPr>
        <p:spPr>
          <a:xfrm>
            <a:off x="7572375" y="49834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176" dirty="0"/>
          </a:p>
        </p:txBody>
      </p:sp>
      <p:sp>
        <p:nvSpPr>
          <p:cNvPr id="39" name="Shape 36"/>
          <p:cNvSpPr/>
          <p:nvPr/>
        </p:nvSpPr>
        <p:spPr>
          <a:xfrm>
            <a:off x="7686675" y="5238750"/>
            <a:ext cx="533400" cy="0"/>
          </a:xfrm>
          <a:prstGeom prst="line">
            <a:avLst/>
          </a:prstGeom>
          <a:noFill/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7"/>
          <p:cNvSpPr/>
          <p:nvPr/>
        </p:nvSpPr>
        <p:spPr>
          <a:xfrm>
            <a:off x="7572375" y="52959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 flipH="1">
            <a:off x="4596765" y="5093970"/>
            <a:ext cx="1141095" cy="0"/>
          </a:xfrm>
          <a:prstGeom prst="line">
            <a:avLst/>
          </a:prstGeom>
          <a:noFill/>
          <a:ln w="44450">
            <a:solidFill>
              <a:srgbClr val="9333E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9"/>
          <p:cNvSpPr/>
          <p:nvPr/>
        </p:nvSpPr>
        <p:spPr>
          <a:xfrm>
            <a:off x="5053013" y="480822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0"/>
          <p:cNvSpPr/>
          <p:nvPr/>
        </p:nvSpPr>
        <p:spPr>
          <a:xfrm>
            <a:off x="5053013" y="48082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96765" y="5345430"/>
            <a:ext cx="1141095" cy="0"/>
          </a:xfrm>
          <a:prstGeom prst="line">
            <a:avLst/>
          </a:prstGeom>
          <a:noFill/>
          <a:ln w="44450">
            <a:solidFill>
              <a:srgbClr val="0891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2"/>
          <p:cNvSpPr/>
          <p:nvPr/>
        </p:nvSpPr>
        <p:spPr>
          <a:xfrm>
            <a:off x="5053013" y="540258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3"/>
          <p:cNvSpPr/>
          <p:nvPr/>
        </p:nvSpPr>
        <p:spPr>
          <a:xfrm>
            <a:off x="5053013" y="54025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6454140" y="5093970"/>
            <a:ext cx="1141095" cy="0"/>
          </a:xfrm>
          <a:prstGeom prst="line">
            <a:avLst/>
          </a:prstGeom>
          <a:noFill/>
          <a:ln w="44450">
            <a:solidFill>
              <a:srgbClr val="DB2777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6910388" y="4808220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6"/>
          <p:cNvSpPr/>
          <p:nvPr/>
        </p:nvSpPr>
        <p:spPr>
          <a:xfrm>
            <a:off x="6910388" y="48082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 flipH="1">
            <a:off x="6454140" y="5345430"/>
            <a:ext cx="1141095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8"/>
          <p:cNvSpPr/>
          <p:nvPr/>
        </p:nvSpPr>
        <p:spPr>
          <a:xfrm>
            <a:off x="6096000" y="4505325"/>
            <a:ext cx="0" cy="333375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9"/>
          <p:cNvSpPr/>
          <p:nvPr/>
        </p:nvSpPr>
        <p:spPr>
          <a:xfrm>
            <a:off x="6172200" y="4524375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3781425" y="57721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1"/>
          <p:cNvSpPr/>
          <p:nvPr/>
        </p:nvSpPr>
        <p:spPr>
          <a:xfrm>
            <a:off x="3781425" y="57721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11</a:t>
            </a:r>
            <a:endParaRPr lang="en-US" sz="1200" dirty="0"/>
          </a:p>
        </p:txBody>
      </p:sp>
      <p:sp>
        <p:nvSpPr>
          <p:cNvPr id="55" name="Shape 52"/>
          <p:cNvSpPr/>
          <p:nvPr/>
        </p:nvSpPr>
        <p:spPr>
          <a:xfrm>
            <a:off x="5638800" y="57721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 w="1905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3"/>
          <p:cNvSpPr/>
          <p:nvPr/>
        </p:nvSpPr>
        <p:spPr>
          <a:xfrm>
            <a:off x="5638800" y="57721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1200" dirty="0"/>
          </a:p>
        </p:txBody>
      </p:sp>
      <p:sp>
        <p:nvSpPr>
          <p:cNvPr id="57" name="Shape 54"/>
          <p:cNvSpPr/>
          <p:nvPr/>
        </p:nvSpPr>
        <p:spPr>
          <a:xfrm>
            <a:off x="6591300" y="5800725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/>
          <p:nvPr/>
        </p:nvSpPr>
        <p:spPr>
          <a:xfrm>
            <a:off x="6591300" y="58007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7496175" y="57721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CA8A04"/>
          </a:solidFill>
          <a:ln w="19050">
            <a:solidFill>
              <a:srgbClr val="CA8A0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7"/>
          <p:cNvSpPr/>
          <p:nvPr/>
        </p:nvSpPr>
        <p:spPr>
          <a:xfrm>
            <a:off x="7496175" y="57721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11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8448675" y="5800725"/>
            <a:ext cx="228600" cy="228600"/>
          </a:xfrm>
          <a:prstGeom prst="ellipse">
            <a:avLst/>
          </a:prstGeom>
          <a:solidFill>
            <a:srgbClr val="CA8A0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/>
          <p:nvPr/>
        </p:nvSpPr>
        <p:spPr>
          <a:xfrm>
            <a:off x="8448675" y="58007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63" name="Text 60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 / 56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· HW_4_2 검증 · 시나리오 2 · CLEAR 시작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Scenario 2 Waveform Follows the Same Path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pic>
        <p:nvPicPr>
          <p:cNvPr id="7" name="Image 0" descr="img/w_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33500"/>
            <a:ext cx="11277600" cy="196666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315011" y="1502510"/>
            <a:ext cx="0" cy="1797656"/>
          </a:xfrm>
          <a:prstGeom prst="line">
            <a:avLst/>
          </a:prstGeom>
          <a:noFill/>
          <a:ln w="22225">
            <a:solidFill>
              <a:srgbClr val="2563EB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3324536" y="3376366"/>
            <a:ext cx="749179" cy="13335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3584826" y="3528766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3584826" y="352876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83240" y="1502510"/>
            <a:ext cx="0" cy="1797656"/>
          </a:xfrm>
          <a:prstGeom prst="line">
            <a:avLst/>
          </a:prstGeom>
          <a:noFill/>
          <a:ln w="22225">
            <a:solidFill>
              <a:srgbClr val="9333EA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4092765" y="3376366"/>
            <a:ext cx="1517408" cy="133350"/>
          </a:xfrm>
          <a:prstGeom prst="rect">
            <a:avLst/>
          </a:prstGeom>
          <a:solidFill>
            <a:srgbClr val="9333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737169" y="3528766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4737169" y="352876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619698" y="1502510"/>
            <a:ext cx="0" cy="1797656"/>
          </a:xfrm>
          <a:prstGeom prst="line">
            <a:avLst/>
          </a:prstGeom>
          <a:noFill/>
          <a:ln w="22225">
            <a:solidFill>
              <a:srgbClr val="0891B2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5629223" y="3376366"/>
            <a:ext cx="1517408" cy="13335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6273627" y="3528766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273627" y="352876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156156" y="1502510"/>
            <a:ext cx="0" cy="1797656"/>
          </a:xfrm>
          <a:prstGeom prst="line">
            <a:avLst/>
          </a:prstGeom>
          <a:noFill/>
          <a:ln w="22225">
            <a:solidFill>
              <a:srgbClr val="DB2777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7165681" y="3376366"/>
            <a:ext cx="1517408" cy="13335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7810085" y="3528766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7810085" y="352876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692614" y="1502510"/>
            <a:ext cx="0" cy="1797656"/>
          </a:xfrm>
          <a:prstGeom prst="line">
            <a:avLst/>
          </a:prstGeom>
          <a:noFill/>
          <a:ln w="22225">
            <a:solidFill>
              <a:srgbClr val="CA8A04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2"/>
          <p:cNvSpPr/>
          <p:nvPr/>
        </p:nvSpPr>
        <p:spPr>
          <a:xfrm>
            <a:off x="8702139" y="3376366"/>
            <a:ext cx="749179" cy="133350"/>
          </a:xfrm>
          <a:prstGeom prst="rect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8962428" y="3528766"/>
            <a:ext cx="228600" cy="228600"/>
          </a:xfrm>
          <a:prstGeom prst="ellipse">
            <a:avLst/>
          </a:prstGeom>
          <a:solidFill>
            <a:srgbClr val="CA8A0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8962428" y="352876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9460843" y="1502510"/>
            <a:ext cx="0" cy="1797656"/>
          </a:xfrm>
          <a:prstGeom prst="line">
            <a:avLst/>
          </a:prstGeom>
          <a:noFill/>
          <a:ln w="22225">
            <a:solidFill>
              <a:srgbClr val="16A34A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9470368" y="3376366"/>
            <a:ext cx="749179" cy="13335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9730657" y="3528766"/>
            <a:ext cx="228600" cy="2286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9730657" y="352876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0229071" y="1502510"/>
            <a:ext cx="0" cy="1797656"/>
          </a:xfrm>
          <a:prstGeom prst="line">
            <a:avLst/>
          </a:prstGeom>
          <a:noFill/>
          <a:ln w="22225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10238596" y="3376366"/>
            <a:ext cx="1440585" cy="13335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10844589" y="3528766"/>
            <a:ext cx="228600" cy="2286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2"/>
          <p:cNvSpPr/>
          <p:nvPr/>
        </p:nvSpPr>
        <p:spPr>
          <a:xfrm>
            <a:off x="10844589" y="3528766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3905250"/>
            <a:ext cx="11277600" cy="2343150"/>
          </a:xfrm>
          <a:prstGeom prst="roundRect">
            <a:avLst>
              <a:gd name="adj" fmla="val 3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4"/>
          <p:cNvSpPr/>
          <p:nvPr/>
        </p:nvSpPr>
        <p:spPr>
          <a:xfrm>
            <a:off x="3857625" y="4572000"/>
            <a:ext cx="762000" cy="762000"/>
          </a:xfrm>
          <a:prstGeom prst="ellipse">
            <a:avLst/>
          </a:prstGeom>
          <a:solidFill>
            <a:srgbClr val="E8F5E9"/>
          </a:solidFill>
          <a:ln w="317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5"/>
          <p:cNvSpPr/>
          <p:nvPr/>
        </p:nvSpPr>
        <p:spPr>
          <a:xfrm>
            <a:off x="3857625" y="47167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176" dirty="0"/>
          </a:p>
        </p:txBody>
      </p:sp>
      <p:sp>
        <p:nvSpPr>
          <p:cNvPr id="39" name="Shape 36"/>
          <p:cNvSpPr/>
          <p:nvPr/>
        </p:nvSpPr>
        <p:spPr>
          <a:xfrm>
            <a:off x="3971925" y="4972050"/>
            <a:ext cx="533400" cy="0"/>
          </a:xfrm>
          <a:prstGeom prst="line">
            <a:avLst/>
          </a:prstGeom>
          <a:noFill/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7"/>
          <p:cNvSpPr/>
          <p:nvPr/>
        </p:nvSpPr>
        <p:spPr>
          <a:xfrm>
            <a:off x="3857625" y="50292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715000" y="4572000"/>
            <a:ext cx="762000" cy="762000"/>
          </a:xfrm>
          <a:prstGeom prst="ellipse">
            <a:avLst/>
          </a:prstGeom>
          <a:solidFill>
            <a:srgbClr val="FFF3E0"/>
          </a:solidFill>
          <a:ln w="317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9"/>
          <p:cNvSpPr/>
          <p:nvPr/>
        </p:nvSpPr>
        <p:spPr>
          <a:xfrm>
            <a:off x="5715000" y="47167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176" dirty="0"/>
          </a:p>
        </p:txBody>
      </p:sp>
      <p:sp>
        <p:nvSpPr>
          <p:cNvPr id="43" name="Shape 40"/>
          <p:cNvSpPr/>
          <p:nvPr/>
        </p:nvSpPr>
        <p:spPr>
          <a:xfrm>
            <a:off x="5829300" y="4972050"/>
            <a:ext cx="533400" cy="0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/>
          <p:nvPr/>
        </p:nvSpPr>
        <p:spPr>
          <a:xfrm>
            <a:off x="5715000" y="50292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572375" y="4572000"/>
            <a:ext cx="762000" cy="762000"/>
          </a:xfrm>
          <a:prstGeom prst="ellipse">
            <a:avLst/>
          </a:prstGeom>
          <a:solidFill>
            <a:srgbClr val="FDECEC"/>
          </a:solidFill>
          <a:ln w="317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3"/>
          <p:cNvSpPr/>
          <p:nvPr/>
        </p:nvSpPr>
        <p:spPr>
          <a:xfrm>
            <a:off x="7572375" y="47167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176" dirty="0"/>
          </a:p>
        </p:txBody>
      </p:sp>
      <p:sp>
        <p:nvSpPr>
          <p:cNvPr id="47" name="Shape 44"/>
          <p:cNvSpPr/>
          <p:nvPr/>
        </p:nvSpPr>
        <p:spPr>
          <a:xfrm>
            <a:off x="7686675" y="4972050"/>
            <a:ext cx="533400" cy="0"/>
          </a:xfrm>
          <a:prstGeom prst="line">
            <a:avLst/>
          </a:prstGeom>
          <a:noFill/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5"/>
          <p:cNvSpPr/>
          <p:nvPr/>
        </p:nvSpPr>
        <p:spPr>
          <a:xfrm>
            <a:off x="7572375" y="50292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 flipH="1">
            <a:off x="4596765" y="4827270"/>
            <a:ext cx="1141095" cy="0"/>
          </a:xfrm>
          <a:prstGeom prst="line">
            <a:avLst/>
          </a:prstGeom>
          <a:noFill/>
          <a:ln w="44450">
            <a:solidFill>
              <a:srgbClr val="DB2777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7"/>
          <p:cNvSpPr/>
          <p:nvPr/>
        </p:nvSpPr>
        <p:spPr>
          <a:xfrm>
            <a:off x="5053013" y="4541520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8"/>
          <p:cNvSpPr/>
          <p:nvPr/>
        </p:nvSpPr>
        <p:spPr>
          <a:xfrm>
            <a:off x="5053013" y="45415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4596765" y="5078730"/>
            <a:ext cx="1141095" cy="0"/>
          </a:xfrm>
          <a:prstGeom prst="line">
            <a:avLst/>
          </a:prstGeom>
          <a:noFill/>
          <a:ln w="44450">
            <a:solidFill>
              <a:srgbClr val="CA8A04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0"/>
          <p:cNvSpPr/>
          <p:nvPr/>
        </p:nvSpPr>
        <p:spPr>
          <a:xfrm>
            <a:off x="5053013" y="5135880"/>
            <a:ext cx="228600" cy="228600"/>
          </a:xfrm>
          <a:prstGeom prst="ellipse">
            <a:avLst/>
          </a:prstGeom>
          <a:solidFill>
            <a:srgbClr val="CA8A0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1"/>
          <p:cNvSpPr/>
          <p:nvPr/>
        </p:nvSpPr>
        <p:spPr>
          <a:xfrm>
            <a:off x="5053013" y="51358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6454140" y="4827270"/>
            <a:ext cx="1141095" cy="0"/>
          </a:xfrm>
          <a:prstGeom prst="line">
            <a:avLst/>
          </a:prstGeom>
          <a:noFill/>
          <a:ln w="44450">
            <a:solidFill>
              <a:srgbClr val="9333E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3"/>
          <p:cNvSpPr/>
          <p:nvPr/>
        </p:nvSpPr>
        <p:spPr>
          <a:xfrm>
            <a:off x="6786563" y="454152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4"/>
          <p:cNvSpPr/>
          <p:nvPr/>
        </p:nvSpPr>
        <p:spPr>
          <a:xfrm>
            <a:off x="6786563" y="45415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58" name="Shape 55"/>
          <p:cNvSpPr/>
          <p:nvPr/>
        </p:nvSpPr>
        <p:spPr>
          <a:xfrm>
            <a:off x="7034213" y="454152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6"/>
          <p:cNvSpPr/>
          <p:nvPr/>
        </p:nvSpPr>
        <p:spPr>
          <a:xfrm>
            <a:off x="7034213" y="45415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60" name="Shape 57"/>
          <p:cNvSpPr/>
          <p:nvPr/>
        </p:nvSpPr>
        <p:spPr>
          <a:xfrm flipH="1">
            <a:off x="6454140" y="5078730"/>
            <a:ext cx="1141095" cy="0"/>
          </a:xfrm>
          <a:prstGeom prst="line">
            <a:avLst/>
          </a:prstGeom>
          <a:noFill/>
          <a:ln w="44450">
            <a:solidFill>
              <a:srgbClr val="0891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8"/>
          <p:cNvSpPr/>
          <p:nvPr/>
        </p:nvSpPr>
        <p:spPr>
          <a:xfrm>
            <a:off x="6910388" y="513588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/>
          <p:nvPr/>
        </p:nvSpPr>
        <p:spPr>
          <a:xfrm>
            <a:off x="6910388" y="51358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63" name="Shape 60"/>
          <p:cNvSpPr/>
          <p:nvPr/>
        </p:nvSpPr>
        <p:spPr>
          <a:xfrm>
            <a:off x="6096000" y="4238625"/>
            <a:ext cx="0" cy="333375"/>
          </a:xfrm>
          <a:prstGeom prst="line">
            <a:avLst/>
          </a:prstGeom>
          <a:noFill/>
          <a:ln w="4445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1"/>
          <p:cNvSpPr/>
          <p:nvPr/>
        </p:nvSpPr>
        <p:spPr>
          <a:xfrm>
            <a:off x="6172200" y="4257675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65" name="Shape 62"/>
          <p:cNvSpPr/>
          <p:nvPr/>
        </p:nvSpPr>
        <p:spPr>
          <a:xfrm>
            <a:off x="5772150" y="4133850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3"/>
          <p:cNvSpPr/>
          <p:nvPr/>
        </p:nvSpPr>
        <p:spPr>
          <a:xfrm>
            <a:off x="5772150" y="41338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7" name="Shape 64"/>
          <p:cNvSpPr/>
          <p:nvPr/>
        </p:nvSpPr>
        <p:spPr>
          <a:xfrm>
            <a:off x="3781425" y="55054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5"/>
          <p:cNvSpPr/>
          <p:nvPr/>
        </p:nvSpPr>
        <p:spPr>
          <a:xfrm>
            <a:off x="3781425" y="55054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11</a:t>
            </a:r>
            <a:endParaRPr lang="en-US" sz="1200" dirty="0"/>
          </a:p>
        </p:txBody>
      </p:sp>
      <p:sp>
        <p:nvSpPr>
          <p:cNvPr id="69" name="Shape 66"/>
          <p:cNvSpPr/>
          <p:nvPr/>
        </p:nvSpPr>
        <p:spPr>
          <a:xfrm>
            <a:off x="5638800" y="55054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7"/>
          <p:cNvSpPr/>
          <p:nvPr/>
        </p:nvSpPr>
        <p:spPr>
          <a:xfrm>
            <a:off x="5638800" y="55054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1200" dirty="0"/>
          </a:p>
        </p:txBody>
      </p:sp>
      <p:sp>
        <p:nvSpPr>
          <p:cNvPr id="71" name="Shape 68"/>
          <p:cNvSpPr/>
          <p:nvPr/>
        </p:nvSpPr>
        <p:spPr>
          <a:xfrm>
            <a:off x="7496175" y="55054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DC2626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69"/>
          <p:cNvSpPr/>
          <p:nvPr/>
        </p:nvSpPr>
        <p:spPr>
          <a:xfrm>
            <a:off x="7496175" y="55054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11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8448675" y="5534025"/>
            <a:ext cx="228600" cy="2286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1"/>
          <p:cNvSpPr/>
          <p:nvPr/>
        </p:nvSpPr>
        <p:spPr>
          <a:xfrm>
            <a:off x="8448675" y="55340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75" name="Text 72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 / 56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· HW_4_2 검증 · 시나리오 3 · RUN 시작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Scenario 3 Waveform Follows the Same Path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pic>
        <p:nvPicPr>
          <p:cNvPr id="7" name="Image 0" descr="img/w_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33500"/>
            <a:ext cx="11277600" cy="169514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050622" y="1487604"/>
            <a:ext cx="0" cy="1541039"/>
          </a:xfrm>
          <a:prstGeom prst="line">
            <a:avLst/>
          </a:prstGeom>
          <a:noFill/>
          <a:ln w="22225">
            <a:solidFill>
              <a:srgbClr val="2563EB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4060147" y="3104842"/>
            <a:ext cx="681422" cy="13335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4286558" y="3257242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8"/>
          <p:cNvSpPr/>
          <p:nvPr/>
        </p:nvSpPr>
        <p:spPr>
          <a:xfrm>
            <a:off x="4286558" y="325724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51094" y="1487604"/>
            <a:ext cx="0" cy="1541039"/>
          </a:xfrm>
          <a:prstGeom prst="line">
            <a:avLst/>
          </a:prstGeom>
          <a:noFill/>
          <a:ln w="22225">
            <a:solidFill>
              <a:srgbClr val="9333EA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4760619" y="3104842"/>
            <a:ext cx="1381894" cy="133350"/>
          </a:xfrm>
          <a:prstGeom prst="rect">
            <a:avLst/>
          </a:prstGeom>
          <a:solidFill>
            <a:srgbClr val="9333E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5337266" y="3257242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5337266" y="325724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152038" y="1487604"/>
            <a:ext cx="0" cy="1541039"/>
          </a:xfrm>
          <a:prstGeom prst="line">
            <a:avLst/>
          </a:prstGeom>
          <a:noFill/>
          <a:ln w="22225">
            <a:solidFill>
              <a:srgbClr val="0891B2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6161563" y="3104842"/>
            <a:ext cx="1381894" cy="133350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6738210" y="3257242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6738210" y="325724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552982" y="1487604"/>
            <a:ext cx="0" cy="1541039"/>
          </a:xfrm>
          <a:prstGeom prst="line">
            <a:avLst/>
          </a:prstGeom>
          <a:noFill/>
          <a:ln w="22225">
            <a:solidFill>
              <a:srgbClr val="DB2777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7562507" y="3104842"/>
            <a:ext cx="1381894" cy="133350"/>
          </a:xfrm>
          <a:prstGeom prst="rect">
            <a:avLst/>
          </a:prstGeom>
          <a:solidFill>
            <a:srgbClr val="DB277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8139154" y="3257242"/>
            <a:ext cx="228600" cy="228600"/>
          </a:xfrm>
          <a:prstGeom prst="ellipse">
            <a:avLst/>
          </a:prstGeom>
          <a:solidFill>
            <a:srgbClr val="DB2777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/>
          <p:nvPr/>
        </p:nvSpPr>
        <p:spPr>
          <a:xfrm>
            <a:off x="8139154" y="325724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8953926" y="1487604"/>
            <a:ext cx="0" cy="1541039"/>
          </a:xfrm>
          <a:prstGeom prst="line">
            <a:avLst/>
          </a:prstGeom>
          <a:noFill/>
          <a:ln w="22225">
            <a:solidFill>
              <a:srgbClr val="CA8A04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2"/>
          <p:cNvSpPr/>
          <p:nvPr/>
        </p:nvSpPr>
        <p:spPr>
          <a:xfrm>
            <a:off x="8963451" y="3104842"/>
            <a:ext cx="681422" cy="133350"/>
          </a:xfrm>
          <a:prstGeom prst="rect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9189862" y="3257242"/>
            <a:ext cx="228600" cy="228600"/>
          </a:xfrm>
          <a:prstGeom prst="ellipse">
            <a:avLst/>
          </a:prstGeom>
          <a:solidFill>
            <a:srgbClr val="CA8A04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/>
          <p:nvPr/>
        </p:nvSpPr>
        <p:spPr>
          <a:xfrm>
            <a:off x="9189862" y="325724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9654398" y="1487604"/>
            <a:ext cx="0" cy="1541039"/>
          </a:xfrm>
          <a:prstGeom prst="line">
            <a:avLst/>
          </a:prstGeom>
          <a:noFill/>
          <a:ln w="22225">
            <a:solidFill>
              <a:srgbClr val="16A34A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9663923" y="3104842"/>
            <a:ext cx="681422" cy="13335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9890334" y="3257242"/>
            <a:ext cx="228600" cy="2286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8"/>
          <p:cNvSpPr/>
          <p:nvPr/>
        </p:nvSpPr>
        <p:spPr>
          <a:xfrm>
            <a:off x="9890334" y="325724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0354870" y="1487604"/>
            <a:ext cx="0" cy="1541039"/>
          </a:xfrm>
          <a:prstGeom prst="line">
            <a:avLst/>
          </a:prstGeom>
          <a:noFill/>
          <a:ln w="22225">
            <a:solidFill>
              <a:srgbClr val="DC2626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10364395" y="3104842"/>
            <a:ext cx="1311847" cy="13335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10906019" y="3257242"/>
            <a:ext cx="228600" cy="2286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2"/>
          <p:cNvSpPr/>
          <p:nvPr/>
        </p:nvSpPr>
        <p:spPr>
          <a:xfrm>
            <a:off x="10906019" y="325724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3905250"/>
            <a:ext cx="11277600" cy="2343150"/>
          </a:xfrm>
          <a:prstGeom prst="roundRect">
            <a:avLst>
              <a:gd name="adj" fmla="val 312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4"/>
          <p:cNvSpPr/>
          <p:nvPr/>
        </p:nvSpPr>
        <p:spPr>
          <a:xfrm>
            <a:off x="3857625" y="4572000"/>
            <a:ext cx="762000" cy="762000"/>
          </a:xfrm>
          <a:prstGeom prst="ellipse">
            <a:avLst/>
          </a:prstGeom>
          <a:solidFill>
            <a:srgbClr val="E8F5E9"/>
          </a:solidFill>
          <a:ln w="317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5"/>
          <p:cNvSpPr/>
          <p:nvPr/>
        </p:nvSpPr>
        <p:spPr>
          <a:xfrm>
            <a:off x="3857625" y="47167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176" dirty="0"/>
          </a:p>
        </p:txBody>
      </p:sp>
      <p:sp>
        <p:nvSpPr>
          <p:cNvPr id="39" name="Shape 36"/>
          <p:cNvSpPr/>
          <p:nvPr/>
        </p:nvSpPr>
        <p:spPr>
          <a:xfrm>
            <a:off x="3971925" y="4972050"/>
            <a:ext cx="533400" cy="0"/>
          </a:xfrm>
          <a:prstGeom prst="line">
            <a:avLst/>
          </a:prstGeom>
          <a:noFill/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7"/>
          <p:cNvSpPr/>
          <p:nvPr/>
        </p:nvSpPr>
        <p:spPr>
          <a:xfrm>
            <a:off x="3857625" y="50292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41" name="Shape 38"/>
          <p:cNvSpPr/>
          <p:nvPr/>
        </p:nvSpPr>
        <p:spPr>
          <a:xfrm>
            <a:off x="5715000" y="4572000"/>
            <a:ext cx="762000" cy="762000"/>
          </a:xfrm>
          <a:prstGeom prst="ellipse">
            <a:avLst/>
          </a:prstGeom>
          <a:solidFill>
            <a:srgbClr val="FFF3E0"/>
          </a:solidFill>
          <a:ln w="317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9"/>
          <p:cNvSpPr/>
          <p:nvPr/>
        </p:nvSpPr>
        <p:spPr>
          <a:xfrm>
            <a:off x="5715000" y="47167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176" dirty="0"/>
          </a:p>
        </p:txBody>
      </p:sp>
      <p:sp>
        <p:nvSpPr>
          <p:cNvPr id="43" name="Shape 40"/>
          <p:cNvSpPr/>
          <p:nvPr/>
        </p:nvSpPr>
        <p:spPr>
          <a:xfrm>
            <a:off x="5829300" y="4972050"/>
            <a:ext cx="533400" cy="0"/>
          </a:xfrm>
          <a:prstGeom prst="line">
            <a:avLst/>
          </a:prstGeom>
          <a:noFill/>
          <a:ln w="1270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/>
          <p:nvPr/>
        </p:nvSpPr>
        <p:spPr>
          <a:xfrm>
            <a:off x="5715000" y="50292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7572375" y="4572000"/>
            <a:ext cx="762000" cy="762000"/>
          </a:xfrm>
          <a:prstGeom prst="ellipse">
            <a:avLst/>
          </a:prstGeom>
          <a:solidFill>
            <a:srgbClr val="FDECEC"/>
          </a:solidFill>
          <a:ln w="317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3"/>
          <p:cNvSpPr/>
          <p:nvPr/>
        </p:nvSpPr>
        <p:spPr>
          <a:xfrm>
            <a:off x="7572375" y="4716780"/>
            <a:ext cx="76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76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176" dirty="0"/>
          </a:p>
        </p:txBody>
      </p:sp>
      <p:sp>
        <p:nvSpPr>
          <p:cNvPr id="47" name="Shape 44"/>
          <p:cNvSpPr/>
          <p:nvPr/>
        </p:nvSpPr>
        <p:spPr>
          <a:xfrm>
            <a:off x="7686675" y="4972050"/>
            <a:ext cx="533400" cy="0"/>
          </a:xfrm>
          <a:prstGeom prst="line">
            <a:avLst/>
          </a:prstGeom>
          <a:noFill/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5"/>
          <p:cNvSpPr/>
          <p:nvPr/>
        </p:nvSpPr>
        <p:spPr>
          <a:xfrm>
            <a:off x="7572375" y="5029200"/>
            <a:ext cx="762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 flipH="1">
            <a:off x="4596765" y="4827270"/>
            <a:ext cx="1141095" cy="0"/>
          </a:xfrm>
          <a:prstGeom prst="line">
            <a:avLst/>
          </a:prstGeom>
          <a:noFill/>
          <a:ln w="44450">
            <a:solidFill>
              <a:srgbClr val="9333E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7"/>
          <p:cNvSpPr/>
          <p:nvPr/>
        </p:nvSpPr>
        <p:spPr>
          <a:xfrm>
            <a:off x="4929188" y="454152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8"/>
          <p:cNvSpPr/>
          <p:nvPr/>
        </p:nvSpPr>
        <p:spPr>
          <a:xfrm>
            <a:off x="4929188" y="45415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5176838" y="454152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0"/>
          <p:cNvSpPr/>
          <p:nvPr/>
        </p:nvSpPr>
        <p:spPr>
          <a:xfrm>
            <a:off x="5176838" y="45415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4596765" y="5078730"/>
            <a:ext cx="1141095" cy="0"/>
          </a:xfrm>
          <a:prstGeom prst="line">
            <a:avLst/>
          </a:prstGeom>
          <a:noFill/>
          <a:ln w="44450">
            <a:solidFill>
              <a:srgbClr val="0891B2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2"/>
          <p:cNvSpPr/>
          <p:nvPr/>
        </p:nvSpPr>
        <p:spPr>
          <a:xfrm>
            <a:off x="4929188" y="513588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3"/>
          <p:cNvSpPr/>
          <p:nvPr/>
        </p:nvSpPr>
        <p:spPr>
          <a:xfrm>
            <a:off x="4929188" y="51358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5176838" y="513588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/>
          <p:nvPr/>
        </p:nvSpPr>
        <p:spPr>
          <a:xfrm>
            <a:off x="5176838" y="513588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6454140" y="4827270"/>
            <a:ext cx="1141095" cy="0"/>
          </a:xfrm>
          <a:prstGeom prst="line">
            <a:avLst/>
          </a:prstGeom>
          <a:noFill/>
          <a:ln w="44450">
            <a:solidFill>
              <a:srgbClr val="16A34A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7"/>
          <p:cNvSpPr/>
          <p:nvPr/>
        </p:nvSpPr>
        <p:spPr>
          <a:xfrm>
            <a:off x="6910388" y="4541520"/>
            <a:ext cx="228600" cy="22860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8"/>
          <p:cNvSpPr/>
          <p:nvPr/>
        </p:nvSpPr>
        <p:spPr>
          <a:xfrm>
            <a:off x="6910388" y="454152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 flipH="1">
            <a:off x="6454140" y="5078730"/>
            <a:ext cx="1141095" cy="0"/>
          </a:xfrm>
          <a:prstGeom prst="line">
            <a:avLst/>
          </a:prstGeom>
          <a:noFill/>
          <a:ln w="15875">
            <a:solidFill>
              <a:srgbClr val="CBD5E1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0"/>
          <p:cNvSpPr/>
          <p:nvPr/>
        </p:nvSpPr>
        <p:spPr>
          <a:xfrm>
            <a:off x="6096000" y="4238625"/>
            <a:ext cx="0" cy="333375"/>
          </a:xfrm>
          <a:prstGeom prst="line">
            <a:avLst/>
          </a:prstGeom>
          <a:noFill/>
          <a:ln w="44450">
            <a:solidFill>
              <a:srgbClr val="2563EB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1"/>
          <p:cNvSpPr/>
          <p:nvPr/>
        </p:nvSpPr>
        <p:spPr>
          <a:xfrm>
            <a:off x="6172200" y="4257675"/>
            <a:ext cx="114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65" name="Shape 62"/>
          <p:cNvSpPr/>
          <p:nvPr/>
        </p:nvSpPr>
        <p:spPr>
          <a:xfrm>
            <a:off x="5772150" y="4133850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3"/>
          <p:cNvSpPr/>
          <p:nvPr/>
        </p:nvSpPr>
        <p:spPr>
          <a:xfrm>
            <a:off x="5772150" y="41338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67" name="Shape 64"/>
          <p:cNvSpPr/>
          <p:nvPr/>
        </p:nvSpPr>
        <p:spPr>
          <a:xfrm>
            <a:off x="3781425" y="55054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5"/>
          <p:cNvSpPr/>
          <p:nvPr/>
        </p:nvSpPr>
        <p:spPr>
          <a:xfrm>
            <a:off x="3781425" y="55054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· 11</a:t>
            </a:r>
            <a:endParaRPr lang="en-US" sz="1200" dirty="0"/>
          </a:p>
        </p:txBody>
      </p:sp>
      <p:sp>
        <p:nvSpPr>
          <p:cNvPr id="69" name="Shape 66"/>
          <p:cNvSpPr/>
          <p:nvPr/>
        </p:nvSpPr>
        <p:spPr>
          <a:xfrm>
            <a:off x="5638800" y="55054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dash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7"/>
          <p:cNvSpPr/>
          <p:nvPr/>
        </p:nvSpPr>
        <p:spPr>
          <a:xfrm>
            <a:off x="5638800" y="55054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9CA3A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1200" dirty="0"/>
          </a:p>
        </p:txBody>
      </p:sp>
      <p:sp>
        <p:nvSpPr>
          <p:cNvPr id="71" name="Shape 68"/>
          <p:cNvSpPr/>
          <p:nvPr/>
        </p:nvSpPr>
        <p:spPr>
          <a:xfrm>
            <a:off x="7496175" y="5505450"/>
            <a:ext cx="914400" cy="285750"/>
          </a:xfrm>
          <a:prstGeom prst="roundRect">
            <a:avLst>
              <a:gd name="adj" fmla="val 16000"/>
            </a:avLst>
          </a:prstGeom>
          <a:solidFill>
            <a:srgbClr val="DC2626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69"/>
          <p:cNvSpPr/>
          <p:nvPr/>
        </p:nvSpPr>
        <p:spPr>
          <a:xfrm>
            <a:off x="7496175" y="5505450"/>
            <a:ext cx="9144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11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8448675" y="5534025"/>
            <a:ext cx="228600" cy="22860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1"/>
          <p:cNvSpPr/>
          <p:nvPr/>
        </p:nvSpPr>
        <p:spPr>
          <a:xfrm>
            <a:off x="8448675" y="55340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75" name="Text 72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 / 56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 · 검증 방법론 평가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Existing TB Scores 21 / 40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5400"/>
          <a:ext cx="8001000" cy="4629150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38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 항목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점수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입력 커버리지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/ 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arc 9 / 12, STOP + 11 · RUN + 11 · CLEAR + 01 미검증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기대값 독립성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 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기대값 없음, 정답 기준 = 작성자 머릿속 State Diagram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관측 지점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/ 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 포트 o_sw 파형 관측, 내부 state도 함께 표시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판정 타이밍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/ 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negedge input 변경 → 상승 엣지 시점 input 안정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자동 판정 · 리포트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/ 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err 카운트 · PASS/FAIL 없음, phase 번호 출력만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Reset 검증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/ 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phase 사이 reset 사용, 비동기 동작 (엣지 없는 시점) 미확인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보드 Top 일치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/ 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DUT = 보드에 올린 FSM 모듈 그대로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문서화 · 재현성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 / 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task · phase 구조와 주석 명확, SV 컴파일 시 k 선언 순서 오류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648700" y="1295400"/>
            <a:ext cx="3086100" cy="4953000"/>
          </a:xfrm>
          <a:prstGeom prst="roundRect">
            <a:avLst>
              <a:gd name="adj" fmla="val 2370"/>
            </a:avLst>
          </a:prstGeom>
          <a:solidFill>
            <a:srgbClr val="FDECEC"/>
          </a:solidFill>
          <a:ln w="9525">
            <a:solidFill>
              <a:srgbClr val="F5C6C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8648700" y="16192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648700" y="200025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40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8648700" y="28575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C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8877300" y="3524250"/>
            <a:ext cx="2667000" cy="2571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stimulus 설계는 양호, 판정이 전부 사람 몫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결함 7종 중 3종은 원본과 파형 동일 → 육안으로도 검출 불가 (p.43)</a:t>
            </a:r>
            <a:endParaRPr lang="en-US" sz="13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보완 방향: Golden model + 자동 비교 + arc 커버리지 (p.44)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 / 56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 · 검증 방법론 평가 · 결함 주입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 of Seven Faults Leave Identical Waveforms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95400"/>
          <a:ext cx="11277600" cy="3771900"/>
        </p:xfrm>
        <a:graphic>
          <a:graphicData uri="http://schemas.openxmlformats.org/drawingml/2006/table">
            <a:tbl>
              <a:tblPr/>
              <a:tblGrid>
                <a:gridCol w="666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7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55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#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결함 (증상)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버그 유형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기존 TB (파형 차이)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새 TB (error 수)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F1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STOP + 11 → CLEAR로 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우선순위 뒤바뀜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파형 동일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78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F2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 탈출 조건이 SW1 기준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비트 인덱스 오타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 7 cycle 차이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86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F3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CLEAR에서 LED1 점등 (010)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 코드 오류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 10 cycle 차이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79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F4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reset 후 CLEAR로 시작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reset 값 오류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 4 cycle 차이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37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F5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 + 01 → RUN 직행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천이 추가 (STOP 생략)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파형 동일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17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F6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o_sw가 n_state 기준 (Mealy화)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출력이 input 즉시 반영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B45309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△ 3 cycle 차이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266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F7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reset이 클럭 엣지까지 대기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동기 reset으로 작성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파형 동일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18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91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원본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FSM_RUN_STOP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PASS · 0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533400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628650" y="5467350"/>
            <a:ext cx="3238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✗ 파형 동일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8650" y="5753100"/>
            <a:ext cx="3333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TB stimulus로는 원본과 출력이 같음 → 육안 검출 불가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267200" y="533400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4438650" y="5467350"/>
            <a:ext cx="3238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파형 차이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4438650" y="5753100"/>
            <a:ext cx="3333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차이는 존재, 기대값 없이 사람이 찾아야 검출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77200" y="5334000"/>
            <a:ext cx="3657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8248650" y="5467350"/>
            <a:ext cx="3238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자동 검출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48650" y="5753100"/>
            <a:ext cx="3333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error 카운트 + FAIL 리포트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 / 56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· 새 TB 제안 · tb_FSM_RUN_STOP_v2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TB Compares Output Pins Against Spec Table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295400"/>
            <a:ext cx="11277600" cy="2247900"/>
          </a:xfrm>
          <a:prstGeom prst="roundRect">
            <a:avLst>
              <a:gd name="adj" fmla="val 32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685800" y="1619250"/>
            <a:ext cx="1809750" cy="723900"/>
          </a:xfrm>
          <a:prstGeom prst="rect">
            <a:avLst/>
          </a:prstGeom>
          <a:solidFill>
            <a:srgbClr val="E3F0FD"/>
          </a:solidFill>
          <a:ln w="22225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85800" y="1714500"/>
            <a:ext cx="1809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Driver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000250"/>
            <a:ext cx="1809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directed 12 arc + random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495550" y="1981200"/>
            <a:ext cx="571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3067050" y="1619250"/>
            <a:ext cx="1619250" cy="723900"/>
          </a:xfrm>
          <a:prstGeom prst="rect">
            <a:avLst/>
          </a:prstGeom>
          <a:solidFill>
            <a:srgbClr val="F1F5F9"/>
          </a:solidFill>
          <a:ln w="22225">
            <a:solidFill>
              <a:srgbClr val="1F293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3067050" y="1714500"/>
            <a:ext cx="161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DUT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067050" y="2000250"/>
            <a:ext cx="1619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FSM_RUN_STOP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86300" y="1981200"/>
            <a:ext cx="571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4686300" y="1752600"/>
            <a:ext cx="571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257800" y="1619250"/>
            <a:ext cx="1905000" cy="723900"/>
          </a:xfrm>
          <a:prstGeom prst="rect">
            <a:avLst/>
          </a:prstGeom>
          <a:solidFill>
            <a:srgbClr val="F3E8FF"/>
          </a:solidFill>
          <a:ln w="22225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5257800" y="171450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Monitor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57800" y="200025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 → state 이름 역변환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162800" y="1981200"/>
            <a:ext cx="57150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7734300" y="1619250"/>
            <a:ext cx="1809750" cy="723900"/>
          </a:xfrm>
          <a:prstGeom prst="rect">
            <a:avLst/>
          </a:prstGeom>
          <a:solidFill>
            <a:srgbClr val="FDECEC"/>
          </a:solidFill>
          <a:ln w="2222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7734300" y="1714500"/>
            <a:ext cx="1809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Checker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34300" y="2000250"/>
            <a:ext cx="1809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 · C2 · C3 · C4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544050" y="1981200"/>
            <a:ext cx="47625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10020300" y="1619250"/>
            <a:ext cx="1485900" cy="723900"/>
          </a:xfrm>
          <a:prstGeom prst="rect">
            <a:avLst/>
          </a:prstGeom>
          <a:solidFill>
            <a:srgbClr val="E8F5E9"/>
          </a:solidFill>
          <a:ln w="2222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0020300" y="1714500"/>
            <a:ext cx="1485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 Report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020300" y="2000250"/>
            <a:ext cx="14859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 / FAIL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257800" y="2667000"/>
            <a:ext cx="1905000" cy="723900"/>
          </a:xfrm>
          <a:prstGeom prst="rect">
            <a:avLst/>
          </a:prstGeom>
          <a:solidFill>
            <a:srgbClr val="FFF3E0"/>
          </a:solidFill>
          <a:ln w="2222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5257800" y="276225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Golden Model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257800" y="3048000"/>
            <a:ext cx="190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Switch Action Table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590675" y="2343150"/>
            <a:ext cx="0" cy="68580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590675" y="3028950"/>
            <a:ext cx="3667125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2476500" y="28194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 · i_reset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162800" y="3028950"/>
            <a:ext cx="1476375" cy="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8639175" y="2343150"/>
            <a:ext cx="0" cy="685800"/>
          </a:xfrm>
          <a:prstGeom prst="line">
            <a:avLst/>
          </a:prstGeom>
          <a:noFill/>
          <a:ln w="15875">
            <a:solidFill>
              <a:srgbClr val="6B7280"/>
            </a:solidFill>
            <a:prstDash val="solid"/>
            <a:head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/>
          <p:nvPr/>
        </p:nvSpPr>
        <p:spPr>
          <a:xfrm>
            <a:off x="7239000" y="2819400"/>
            <a:ext cx="1333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o_sw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3695700"/>
            <a:ext cx="2762250" cy="2552700"/>
          </a:xfrm>
          <a:prstGeom prst="roundRect">
            <a:avLst>
              <a:gd name="adj" fmla="val 286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609600" y="3829050"/>
            <a:ext cx="2476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Driver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09600" y="4171950"/>
            <a:ext cx="249555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reset → 목표 state 이동 → sw 인가, 3 state × 4 sw = 12 arc 전수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random 300 cycle + 임의 시점 async reset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3295650" y="3695700"/>
            <a:ext cx="2762250" cy="2552700"/>
          </a:xfrm>
          <a:prstGeom prst="roundRect">
            <a:avLst>
              <a:gd name="adj" fmla="val 286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3448050" y="3829050"/>
            <a:ext cx="2476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7C3AE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Monitor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3448050" y="4171950"/>
            <a:ext cx="249555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포트 o_sw만 관측, 내부 state 미사용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001 · 010 · 100 → STOP · RUN · CLEAR 역변환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134100" y="3695700"/>
            <a:ext cx="2762250" cy="2552700"/>
          </a:xfrm>
          <a:prstGeom prst="roundRect">
            <a:avLst>
              <a:gd name="adj" fmla="val 286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2"/>
          <p:cNvSpPr/>
          <p:nvPr/>
        </p:nvSpPr>
        <p:spPr>
          <a:xfrm>
            <a:off x="6286500" y="3829050"/>
            <a:ext cx="2476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Golden Model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286500" y="4171950"/>
            <a:ext cx="249555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 코드 재사용 없이 표 기준으로 별도 작성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DUT와 같은 엣지 · 같은 reset으로 기대 state 갱신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8972550" y="3695700"/>
            <a:ext cx="2762250" cy="2552700"/>
          </a:xfrm>
          <a:prstGeom prst="roundRect">
            <a:avLst>
              <a:gd name="adj" fmla="val 286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5"/>
          <p:cNvSpPr/>
          <p:nvPr/>
        </p:nvSpPr>
        <p:spPr>
          <a:xfrm>
            <a:off x="9124950" y="3829050"/>
            <a:ext cx="2476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④⑤ Checker · Report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9124950" y="4171950"/>
            <a:ext cx="249555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 ~ C4 위반 시 error 카운트 + 시각 · 기대값 · 실제값 출력</a:t>
            </a:r>
            <a:endParaRPr lang="en-US" sz="12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커버리지 표 + PASS / FAIL 요약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 / 56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· 새 TB 제안 · 채점 항목 · C1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</a:t>
            </a:r>
            <a:r>
              <a:rPr lang="en-US" altLang="ko-KR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o_sw == golden value ? 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 / 56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11277600" cy="369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85800" y="177165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685800" y="228600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</a:t>
            </a:r>
            <a:endParaRPr lang="en-US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685800" y="280035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Golden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g_code(g_state)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685800" y="331470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RTL</a:t>
            </a:r>
            <a:endParaRPr lang="en-US" sz="1300" dirty="0"/>
          </a:p>
        </p:txBody>
      </p:sp>
      <p:sp>
        <p:nvSpPr>
          <p:cNvPr id="13" name="Text 13"/>
          <p:cNvSpPr txBox="1"/>
          <p:nvPr/>
        </p:nvSpPr>
        <p:spPr>
          <a:xfrm>
            <a:off x="685800" y="382905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F1 (STOP + 11 → CLEAR)</a:t>
            </a:r>
            <a:endParaRPr lang="en-US" sz="1300" dirty="0"/>
          </a:p>
        </p:txBody>
      </p:sp>
      <p:sp>
        <p:nvSpPr>
          <p:cNvPr id="15" name="Text 15"/>
          <p:cNvSpPr txBox="1"/>
          <p:nvPr/>
        </p:nvSpPr>
        <p:spPr>
          <a:xfrm>
            <a:off x="5112159" y="14668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· state 갱신</a:t>
            </a:r>
            <a:endParaRPr lang="en-US" sz="1100" dirty="0"/>
          </a:p>
        </p:txBody>
      </p:sp>
      <p:sp>
        <p:nvSpPr>
          <p:cNvPr id="17" name="Text 17"/>
          <p:cNvSpPr txBox="1"/>
          <p:nvPr/>
        </p:nvSpPr>
        <p:spPr>
          <a:xfrm>
            <a:off x="8018820" y="14668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· state 갱신</a:t>
            </a:r>
            <a:endParaRPr lang="en-US" sz="1100" dirty="0"/>
          </a:p>
        </p:txBody>
      </p:sp>
      <p:sp>
        <p:nvSpPr>
          <p:cNvPr id="19" name="Text 19"/>
          <p:cNvSpPr txBox="1"/>
          <p:nvPr/>
        </p:nvSpPr>
        <p:spPr>
          <a:xfrm>
            <a:off x="2863645" y="14668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10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 ns · sw 인가</a:t>
            </a:r>
            <a:endParaRPr lang="en-US" sz="1100" dirty="0"/>
          </a:p>
        </p:txBody>
      </p:sp>
      <p:sp>
        <p:nvSpPr>
          <p:cNvPr id="21" name="Text 21"/>
          <p:cNvSpPr txBox="1"/>
          <p:nvPr/>
        </p:nvSpPr>
        <p:spPr>
          <a:xfrm>
            <a:off x="3658829" y="44386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· C1 비교</a:t>
            </a:r>
            <a:endParaRPr lang="en-US" sz="1100" dirty="0"/>
          </a:p>
        </p:txBody>
      </p:sp>
      <p:sp>
        <p:nvSpPr>
          <p:cNvPr id="23" name="Text 23"/>
          <p:cNvSpPr txBox="1"/>
          <p:nvPr/>
        </p:nvSpPr>
        <p:spPr>
          <a:xfrm>
            <a:off x="6565490" y="44386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· C1 비교</a:t>
            </a:r>
            <a:endParaRPr lang="en-US" sz="1100" dirty="0"/>
          </a:p>
        </p:txBody>
      </p:sp>
      <p:sp>
        <p:nvSpPr>
          <p:cNvPr id="25" name="Text 25"/>
          <p:cNvSpPr txBox="1"/>
          <p:nvPr/>
        </p:nvSpPr>
        <p:spPr>
          <a:xfrm>
            <a:off x="9472151" y="44386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· C1 비교</a:t>
            </a:r>
            <a:endParaRPr lang="en-US" sz="1100" dirty="0"/>
          </a:p>
        </p:txBody>
      </p:sp>
      <p:cxnSp>
        <p:nvCxnSpPr>
          <p:cNvPr id="26" name="Line 26"/>
          <p:cNvCxnSpPr/>
          <p:nvPr/>
        </p:nvCxnSpPr>
        <p:spPr>
          <a:xfrm>
            <a:off x="2381250" y="2171700"/>
            <a:ext cx="871998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3253248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3253248" y="1885950"/>
            <a:ext cx="1453330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4706579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4706579" y="2171700"/>
            <a:ext cx="1453330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6159909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6159909" y="1885950"/>
            <a:ext cx="1453330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7613240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7613240" y="2171700"/>
            <a:ext cx="1453330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9066570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9066570" y="1885950"/>
            <a:ext cx="1453330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10519901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8" name="Line 38"/>
          <p:cNvCxnSpPr/>
          <p:nvPr/>
        </p:nvCxnSpPr>
        <p:spPr>
          <a:xfrm>
            <a:off x="10519901" y="2171700"/>
            <a:ext cx="871998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sp>
        <p:nvSpPr>
          <p:cNvPr id="39" name="Shape 39"/>
          <p:cNvSpPr/>
          <p:nvPr/>
        </p:nvSpPr>
        <p:spPr>
          <a:xfrm>
            <a:off x="2395537" y="2390775"/>
            <a:ext cx="2587420" cy="304800"/>
          </a:xfrm>
          <a:prstGeom prst="rect">
            <a:avLst/>
          </a:prstGeom>
          <a:solidFill>
            <a:srgbClr val="F1F5F9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2528887" y="2390775"/>
            <a:ext cx="245407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50" dirty="0"/>
          </a:p>
        </p:txBody>
      </p:sp>
      <p:sp>
        <p:nvSpPr>
          <p:cNvPr id="41" name="Shape 41"/>
          <p:cNvSpPr/>
          <p:nvPr/>
        </p:nvSpPr>
        <p:spPr>
          <a:xfrm>
            <a:off x="5011532" y="2390775"/>
            <a:ext cx="6366079" cy="304800"/>
          </a:xfrm>
          <a:prstGeom prst="rect">
            <a:avLst/>
          </a:prstGeom>
          <a:solidFill>
            <a:srgbClr val="F1F5F9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5144882" y="2390775"/>
            <a:ext cx="623272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50" dirty="0"/>
          </a:p>
        </p:txBody>
      </p:sp>
      <p:sp>
        <p:nvSpPr>
          <p:cNvPr id="43" name="Shape 43"/>
          <p:cNvSpPr/>
          <p:nvPr/>
        </p:nvSpPr>
        <p:spPr>
          <a:xfrm>
            <a:off x="2395537" y="2905125"/>
            <a:ext cx="3750084" cy="3048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2528887" y="2905125"/>
            <a:ext cx="36167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45" name="Shape 45"/>
          <p:cNvSpPr/>
          <p:nvPr/>
        </p:nvSpPr>
        <p:spPr>
          <a:xfrm>
            <a:off x="6174197" y="2905125"/>
            <a:ext cx="5203415" cy="3048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6"/>
          <p:cNvSpPr txBox="1"/>
          <p:nvPr/>
        </p:nvSpPr>
        <p:spPr>
          <a:xfrm>
            <a:off x="6307547" y="2905125"/>
            <a:ext cx="507006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 010</a:t>
            </a:r>
            <a:endParaRPr lang="en-US" sz="1150" dirty="0"/>
          </a:p>
        </p:txBody>
      </p:sp>
      <p:sp>
        <p:nvSpPr>
          <p:cNvPr id="47" name="Shape 47"/>
          <p:cNvSpPr/>
          <p:nvPr/>
        </p:nvSpPr>
        <p:spPr>
          <a:xfrm>
            <a:off x="2395537" y="3419475"/>
            <a:ext cx="3750084" cy="3048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2528887" y="3419475"/>
            <a:ext cx="36167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49" name="Shape 49"/>
          <p:cNvSpPr/>
          <p:nvPr/>
        </p:nvSpPr>
        <p:spPr>
          <a:xfrm>
            <a:off x="6174197" y="3419475"/>
            <a:ext cx="5203415" cy="3048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50"/>
          <p:cNvSpPr txBox="1"/>
          <p:nvPr/>
        </p:nvSpPr>
        <p:spPr>
          <a:xfrm>
            <a:off x="6307547" y="3419475"/>
            <a:ext cx="507006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 010</a:t>
            </a:r>
            <a:endParaRPr lang="en-US" sz="1150" dirty="0"/>
          </a:p>
        </p:txBody>
      </p:sp>
      <p:sp>
        <p:nvSpPr>
          <p:cNvPr id="51" name="Shape 51"/>
          <p:cNvSpPr/>
          <p:nvPr/>
        </p:nvSpPr>
        <p:spPr>
          <a:xfrm>
            <a:off x="2395537" y="3933825"/>
            <a:ext cx="3750084" cy="3048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2"/>
          <p:cNvSpPr txBox="1"/>
          <p:nvPr/>
        </p:nvSpPr>
        <p:spPr>
          <a:xfrm>
            <a:off x="2528887" y="3933825"/>
            <a:ext cx="3616734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53" name="Shape 53"/>
          <p:cNvSpPr/>
          <p:nvPr/>
        </p:nvSpPr>
        <p:spPr>
          <a:xfrm>
            <a:off x="6174197" y="3933825"/>
            <a:ext cx="5203415" cy="304800"/>
          </a:xfrm>
          <a:prstGeom prst="rect">
            <a:avLst/>
          </a:prstGeom>
          <a:solidFill>
            <a:srgbClr val="FDECEC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6307547" y="3933825"/>
            <a:ext cx="507006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  100</a:t>
            </a:r>
            <a:endParaRPr lang="en-US" sz="1150" dirty="0"/>
          </a:p>
        </p:txBody>
      </p:sp>
      <p:sp>
        <p:nvSpPr>
          <p:cNvPr id="55" name="Shape 55"/>
          <p:cNvSpPr/>
          <p:nvPr/>
        </p:nvSpPr>
        <p:spPr>
          <a:xfrm>
            <a:off x="4382729" y="3457575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4382729" y="345757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57" name="Shape 57"/>
          <p:cNvSpPr/>
          <p:nvPr/>
        </p:nvSpPr>
        <p:spPr>
          <a:xfrm>
            <a:off x="4382729" y="3971925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8"/>
          <p:cNvSpPr txBox="1"/>
          <p:nvPr/>
        </p:nvSpPr>
        <p:spPr>
          <a:xfrm>
            <a:off x="4382729" y="39719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59" name="Shape 59"/>
          <p:cNvSpPr/>
          <p:nvPr/>
        </p:nvSpPr>
        <p:spPr>
          <a:xfrm>
            <a:off x="7708490" y="3457575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0"/>
          <p:cNvSpPr txBox="1"/>
          <p:nvPr/>
        </p:nvSpPr>
        <p:spPr>
          <a:xfrm>
            <a:off x="7708490" y="345757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61" name="Shape 61"/>
          <p:cNvSpPr/>
          <p:nvPr/>
        </p:nvSpPr>
        <p:spPr>
          <a:xfrm>
            <a:off x="7708490" y="3971925"/>
            <a:ext cx="228600" cy="2286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2"/>
          <p:cNvSpPr txBox="1"/>
          <p:nvPr/>
        </p:nvSpPr>
        <p:spPr>
          <a:xfrm>
            <a:off x="7708490" y="39719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✗</a:t>
            </a:r>
            <a:endParaRPr lang="en-US" sz="1200" dirty="0"/>
          </a:p>
        </p:txBody>
      </p:sp>
      <p:sp>
        <p:nvSpPr>
          <p:cNvPr id="63" name="Shape 63"/>
          <p:cNvSpPr/>
          <p:nvPr/>
        </p:nvSpPr>
        <p:spPr>
          <a:xfrm>
            <a:off x="10615151" y="3457575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4"/>
          <p:cNvSpPr txBox="1"/>
          <p:nvPr/>
        </p:nvSpPr>
        <p:spPr>
          <a:xfrm>
            <a:off x="10615151" y="345757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65" name="Shape 65"/>
          <p:cNvSpPr/>
          <p:nvPr/>
        </p:nvSpPr>
        <p:spPr>
          <a:xfrm>
            <a:off x="10615151" y="3971925"/>
            <a:ext cx="228600" cy="2286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6"/>
          <p:cNvSpPr txBox="1"/>
          <p:nvPr/>
        </p:nvSpPr>
        <p:spPr>
          <a:xfrm>
            <a:off x="10615151" y="39719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✗</a:t>
            </a:r>
            <a:endParaRPr lang="en-US" sz="1200" dirty="0"/>
          </a:p>
        </p:txBody>
      </p:sp>
      <p:sp>
        <p:nvSpPr>
          <p:cNvPr id="67" name="Shape 67"/>
          <p:cNvSpPr/>
          <p:nvPr/>
        </p:nvSpPr>
        <p:spPr>
          <a:xfrm>
            <a:off x="45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8"/>
          <p:cNvSpPr txBox="1"/>
          <p:nvPr/>
        </p:nvSpPr>
        <p:spPr>
          <a:xfrm>
            <a:off x="62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시점</a:t>
            </a:r>
            <a:endParaRPr lang="en-US" sz="1300" dirty="0"/>
          </a:p>
        </p:txBody>
      </p:sp>
      <p:sp>
        <p:nvSpPr>
          <p:cNvPr id="69" name="Text 69"/>
          <p:cNvSpPr txBox="1"/>
          <p:nvPr/>
        </p:nvSpPr>
        <p:spPr>
          <a:xfrm>
            <a:off x="62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negedge (posedge 갱신 5 ns 뒤)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i_reset = 0 구간만 판정</a:t>
            </a:r>
            <a:endParaRPr lang="en-US" sz="1200" dirty="0"/>
          </a:p>
        </p:txBody>
      </p:sp>
      <p:sp>
        <p:nvSpPr>
          <p:cNvPr id="70" name="Shape 70"/>
          <p:cNvSpPr/>
          <p:nvPr/>
        </p:nvSpPr>
        <p:spPr>
          <a:xfrm>
            <a:off x="426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71"/>
          <p:cNvSpPr txBox="1"/>
          <p:nvPr/>
        </p:nvSpPr>
        <p:spPr>
          <a:xfrm>
            <a:off x="443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 조건</a:t>
            </a:r>
            <a:endParaRPr lang="en-US" sz="1300" dirty="0"/>
          </a:p>
        </p:txBody>
      </p:sp>
      <p:sp>
        <p:nvSpPr>
          <p:cNvPr id="72" name="Text 72"/>
          <p:cNvSpPr txBox="1"/>
          <p:nvPr/>
        </p:nvSpPr>
        <p:spPr>
          <a:xfrm>
            <a:off x="443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 === g_code(g_state)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DUT </a:t>
            </a:r>
            <a:r>
              <a:rPr lang="ko-KR" altLang="en-US" sz="12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외부의 기댓값과 비교하여 결과가 다르면 </a:t>
            </a:r>
            <a:r>
              <a:rPr lang="en-US" altLang="ko-KR" sz="12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</a:rPr>
              <a:t>err_cnt1 </a:t>
            </a:r>
            <a:r>
              <a:rPr lang="ko-KR" altLang="en-US" sz="120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</a:rPr>
              <a:t>↑</a:t>
            </a:r>
            <a:endParaRPr lang="en-US" sz="1200" dirty="0">
              <a:solidFill>
                <a:srgbClr val="FF0000"/>
              </a:solidFill>
            </a:endParaRPr>
          </a:p>
        </p:txBody>
      </p:sp>
      <p:sp>
        <p:nvSpPr>
          <p:cNvPr id="73" name="Shape 73"/>
          <p:cNvSpPr/>
          <p:nvPr/>
        </p:nvSpPr>
        <p:spPr>
          <a:xfrm>
            <a:off x="807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4"/>
          <p:cNvSpPr txBox="1"/>
          <p:nvPr/>
        </p:nvSpPr>
        <p:spPr>
          <a:xfrm>
            <a:off x="824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잡는 결함</a:t>
            </a:r>
            <a:endParaRPr lang="en-US" sz="1300" dirty="0"/>
          </a:p>
        </p:txBody>
      </p:sp>
      <p:sp>
        <p:nvSpPr>
          <p:cNvPr id="75" name="Text 75"/>
          <p:cNvSpPr txBox="1"/>
          <p:nvPr/>
        </p:nvSpPr>
        <p:spPr>
          <a:xfrm>
            <a:off x="824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F1 우선순위 · F2 비트 오타 · F3 출력 코드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F4 reset 값 · F5 STOP 생략</a:t>
            </a:r>
            <a:endParaRPr lang="en-US" sz="1200" dirty="0"/>
          </a:p>
        </p:txBody>
      </p:sp>
      <p:cxnSp>
        <p:nvCxnSpPr>
          <p:cNvPr id="22" name="Line 22"/>
          <p:cNvCxnSpPr/>
          <p:nvPr/>
        </p:nvCxnSpPr>
        <p:spPr>
          <a:xfrm>
            <a:off x="7613240" y="1714500"/>
            <a:ext cx="0" cy="2686050"/>
          </a:xfrm>
          <a:prstGeom prst="line">
            <a:avLst/>
          </a:prstGeom>
          <a:ln w="22225">
            <a:solidFill>
              <a:srgbClr val="EA580C"/>
            </a:solidFill>
            <a:prstDash val="sysDash"/>
          </a:ln>
        </p:spPr>
      </p:cxnSp>
      <p:cxnSp>
        <p:nvCxnSpPr>
          <p:cNvPr id="24" name="Line 24"/>
          <p:cNvCxnSpPr/>
          <p:nvPr/>
        </p:nvCxnSpPr>
        <p:spPr>
          <a:xfrm>
            <a:off x="10519901" y="1714500"/>
            <a:ext cx="0" cy="2686050"/>
          </a:xfrm>
          <a:prstGeom prst="line">
            <a:avLst/>
          </a:prstGeom>
          <a:ln w="22225">
            <a:solidFill>
              <a:srgbClr val="EA580C"/>
            </a:solidFill>
            <a:prstDash val="sysDash"/>
          </a:ln>
        </p:spPr>
      </p:cxnSp>
      <p:cxnSp>
        <p:nvCxnSpPr>
          <p:cNvPr id="18" name="Line 18"/>
          <p:cNvCxnSpPr/>
          <p:nvPr/>
        </p:nvCxnSpPr>
        <p:spPr>
          <a:xfrm>
            <a:off x="4997245" y="1714500"/>
            <a:ext cx="0" cy="2686050"/>
          </a:xfrm>
          <a:prstGeom prst="line">
            <a:avLst/>
          </a:prstGeom>
          <a:ln w="15875">
            <a:solidFill>
              <a:srgbClr val="CA8A04"/>
            </a:solidFill>
            <a:prstDash val="dash"/>
          </a:ln>
        </p:spPr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A3F99F92-4B29-8EE8-6941-30430EF53400}"/>
              </a:ext>
            </a:extLst>
          </p:cNvPr>
          <p:cNvCxnSpPr/>
          <p:nvPr/>
        </p:nvCxnSpPr>
        <p:spPr>
          <a:xfrm flipV="1">
            <a:off x="9066570" y="1885950"/>
            <a:ext cx="0" cy="285750"/>
          </a:xfrm>
          <a:prstGeom prst="straightConnector1">
            <a:avLst/>
          </a:prstGeom>
          <a:ln>
            <a:solidFill>
              <a:srgbClr val="39843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7644F04F-1D3E-7E02-D667-EF64545B3895}"/>
              </a:ext>
            </a:extLst>
          </p:cNvPr>
          <p:cNvCxnSpPr/>
          <p:nvPr/>
        </p:nvCxnSpPr>
        <p:spPr>
          <a:xfrm flipV="1">
            <a:off x="6149055" y="1885950"/>
            <a:ext cx="0" cy="285750"/>
          </a:xfrm>
          <a:prstGeom prst="straightConnector1">
            <a:avLst/>
          </a:prstGeom>
          <a:ln>
            <a:solidFill>
              <a:srgbClr val="39843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· 새 TB 제안 · 채점 항목 · C2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ko-KR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 o_sw == o_before ( inner clock range)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 / 56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11277600" cy="369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85800" y="177165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685800" y="228600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drive(01)</a:t>
            </a:r>
            <a:endParaRPr lang="en-US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685800" y="280035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o_before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직전 o_sw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685800" y="331470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RTL (Moore)</a:t>
            </a:r>
            <a:endParaRPr lang="en-US" sz="1300" dirty="0"/>
          </a:p>
        </p:txBody>
      </p:sp>
      <p:sp>
        <p:nvSpPr>
          <p:cNvPr id="14" name="Shape 14"/>
          <p:cNvSpPr/>
          <p:nvPr/>
        </p:nvSpPr>
        <p:spPr>
          <a:xfrm>
            <a:off x="5084445" y="1752600"/>
            <a:ext cx="3604260" cy="2609850"/>
          </a:xfrm>
          <a:prstGeom prst="rect">
            <a:avLst/>
          </a:prstGeom>
          <a:solidFill>
            <a:srgbClr val="FEF9C3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5"/>
          <p:cNvSpPr txBox="1"/>
          <p:nvPr/>
        </p:nvSpPr>
        <p:spPr>
          <a:xfrm>
            <a:off x="5084445" y="4667250"/>
            <a:ext cx="360426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50" b="1" dirty="0">
                <a:solidFill>
                  <a:srgbClr val="A162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클럭 엣지 없는 구간 → o_</a:t>
            </a:r>
            <a:r>
              <a:rPr lang="ko-KR" altLang="en-US" sz="1050" b="1">
                <a:solidFill>
                  <a:srgbClr val="A1620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불변이어야 함</a:t>
            </a:r>
            <a:endParaRPr lang="en-US" sz="1050" dirty="0"/>
          </a:p>
        </p:txBody>
      </p:sp>
      <p:cxnSp>
        <p:nvCxnSpPr>
          <p:cNvPr id="16" name="Line 16"/>
          <p:cNvCxnSpPr/>
          <p:nvPr/>
        </p:nvCxnSpPr>
        <p:spPr>
          <a:xfrm>
            <a:off x="4183380" y="1714500"/>
            <a:ext cx="0" cy="2686050"/>
          </a:xfrm>
          <a:prstGeom prst="line">
            <a:avLst/>
          </a:prstGeom>
          <a:ln w="15875">
            <a:solidFill>
              <a:srgbClr val="EA580C"/>
            </a:solidFill>
            <a:prstDash val="dash"/>
          </a:ln>
        </p:spPr>
      </p:cxnSp>
      <p:sp>
        <p:nvSpPr>
          <p:cNvPr id="17" name="Text 17"/>
          <p:cNvSpPr txBox="1"/>
          <p:nvPr/>
        </p:nvSpPr>
        <p:spPr>
          <a:xfrm>
            <a:off x="3135630" y="44386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· C1 비교</a:t>
            </a:r>
            <a:endParaRPr lang="en-US" sz="1100" dirty="0"/>
          </a:p>
        </p:txBody>
      </p:sp>
      <p:cxnSp>
        <p:nvCxnSpPr>
          <p:cNvPr id="18" name="Line 18"/>
          <p:cNvCxnSpPr/>
          <p:nvPr/>
        </p:nvCxnSpPr>
        <p:spPr>
          <a:xfrm>
            <a:off x="5084445" y="1714500"/>
            <a:ext cx="0" cy="2686050"/>
          </a:xfrm>
          <a:prstGeom prst="line">
            <a:avLst/>
          </a:prstGeom>
          <a:ln w="15875">
            <a:solidFill>
              <a:srgbClr val="CA8A04"/>
            </a:solidFill>
            <a:prstDash val="dash"/>
          </a:ln>
        </p:spPr>
      </p:cxnSp>
      <p:sp>
        <p:nvSpPr>
          <p:cNvPr id="19" name="Text 19"/>
          <p:cNvSpPr txBox="1"/>
          <p:nvPr/>
        </p:nvSpPr>
        <p:spPr>
          <a:xfrm>
            <a:off x="4036693" y="1466850"/>
            <a:ext cx="225468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 ns · o_before </a:t>
            </a:r>
            <a:r>
              <a:rPr lang="ko-KR" altLang="en-US" sz="1100" b="1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 </a:t>
            </a:r>
            <a:r>
              <a:rPr lang="en-US" altLang="ko-KR" sz="1100" b="1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r>
              <a:rPr lang="ko-KR" altLang="en-US" sz="1100" b="1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100" b="1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</a:t>
            </a:r>
            <a:r>
              <a:rPr lang="ko-KR" altLang="en-US" sz="1100" b="1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</a:t>
            </a:r>
            <a:r>
              <a:rPr lang="ko-KR" altLang="en-US" sz="1100" b="1" dirty="0">
                <a:solidFill>
                  <a:srgbClr val="CA8A0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인가</a:t>
            </a:r>
            <a:endParaRPr lang="en-US" sz="1100" dirty="0"/>
          </a:p>
        </p:txBody>
      </p:sp>
      <p:sp>
        <p:nvSpPr>
          <p:cNvPr id="21" name="Text 21"/>
          <p:cNvSpPr txBox="1"/>
          <p:nvPr/>
        </p:nvSpPr>
        <p:spPr>
          <a:xfrm>
            <a:off x="5838825" y="44386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 </a:t>
            </a:r>
            <a:r>
              <a:rPr lang="ko-KR" altLang="en-US" sz="1100" b="1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ns 비교</a:t>
            </a:r>
            <a:endParaRPr lang="en-US" sz="1100" dirty="0"/>
          </a:p>
        </p:txBody>
      </p:sp>
      <p:cxnSp>
        <p:nvCxnSpPr>
          <p:cNvPr id="22" name="Line 22"/>
          <p:cNvCxnSpPr/>
          <p:nvPr/>
        </p:nvCxnSpPr>
        <p:spPr>
          <a:xfrm>
            <a:off x="8688705" y="1714500"/>
            <a:ext cx="0" cy="2686050"/>
          </a:xfrm>
          <a:prstGeom prst="line">
            <a:avLst/>
          </a:prstGeom>
          <a:ln w="15875">
            <a:solidFill>
              <a:srgbClr val="2E7D32"/>
            </a:solidFill>
            <a:prstDash val="dash"/>
          </a:ln>
        </p:spPr>
      </p:cxnSp>
      <p:sp>
        <p:nvSpPr>
          <p:cNvPr id="23" name="Text 23"/>
          <p:cNvSpPr txBox="1"/>
          <p:nvPr/>
        </p:nvSpPr>
        <p:spPr>
          <a:xfrm>
            <a:off x="7640955" y="14668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· state 갱신</a:t>
            </a:r>
            <a:endParaRPr lang="en-US" sz="1100" dirty="0"/>
          </a:p>
        </p:txBody>
      </p:sp>
      <p:cxnSp>
        <p:nvCxnSpPr>
          <p:cNvPr id="24" name="Line 24"/>
          <p:cNvCxnSpPr/>
          <p:nvPr/>
        </p:nvCxnSpPr>
        <p:spPr>
          <a:xfrm>
            <a:off x="2381250" y="1885950"/>
            <a:ext cx="1802130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4183380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4183380" y="2171700"/>
            <a:ext cx="4505325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8688705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8688705" y="1885950"/>
            <a:ext cx="2703194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sp>
        <p:nvSpPr>
          <p:cNvPr id="29" name="Shape 29"/>
          <p:cNvSpPr/>
          <p:nvPr/>
        </p:nvSpPr>
        <p:spPr>
          <a:xfrm>
            <a:off x="2395537" y="2390775"/>
            <a:ext cx="2674619" cy="304800"/>
          </a:xfrm>
          <a:prstGeom prst="rect">
            <a:avLst/>
          </a:prstGeom>
          <a:solidFill>
            <a:srgbClr val="F1F5F9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30"/>
          <p:cNvSpPr txBox="1"/>
          <p:nvPr/>
        </p:nvSpPr>
        <p:spPr>
          <a:xfrm>
            <a:off x="2395537" y="2390775"/>
            <a:ext cx="267461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50" dirty="0"/>
          </a:p>
        </p:txBody>
      </p:sp>
      <p:sp>
        <p:nvSpPr>
          <p:cNvPr id="31" name="Shape 31"/>
          <p:cNvSpPr/>
          <p:nvPr/>
        </p:nvSpPr>
        <p:spPr>
          <a:xfrm>
            <a:off x="5098732" y="2390775"/>
            <a:ext cx="6278880" cy="304800"/>
          </a:xfrm>
          <a:prstGeom prst="rect">
            <a:avLst/>
          </a:prstGeom>
          <a:solidFill>
            <a:srgbClr val="F1F5F9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2"/>
          <p:cNvSpPr txBox="1"/>
          <p:nvPr/>
        </p:nvSpPr>
        <p:spPr>
          <a:xfrm>
            <a:off x="5098732" y="2390775"/>
            <a:ext cx="6278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50" dirty="0"/>
          </a:p>
        </p:txBody>
      </p:sp>
      <p:sp>
        <p:nvSpPr>
          <p:cNvPr id="33" name="Shape 33"/>
          <p:cNvSpPr/>
          <p:nvPr/>
        </p:nvSpPr>
        <p:spPr>
          <a:xfrm>
            <a:off x="5098732" y="2905125"/>
            <a:ext cx="6278880" cy="3048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4"/>
          <p:cNvSpPr txBox="1"/>
          <p:nvPr/>
        </p:nvSpPr>
        <p:spPr>
          <a:xfrm>
            <a:off x="5098732" y="2905125"/>
            <a:ext cx="6278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35" name="Shape 35"/>
          <p:cNvSpPr/>
          <p:nvPr/>
        </p:nvSpPr>
        <p:spPr>
          <a:xfrm>
            <a:off x="2395537" y="3419475"/>
            <a:ext cx="6278880" cy="3048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6"/>
          <p:cNvSpPr txBox="1"/>
          <p:nvPr/>
        </p:nvSpPr>
        <p:spPr>
          <a:xfrm>
            <a:off x="2395537" y="3419475"/>
            <a:ext cx="62788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37" name="Shape 37"/>
          <p:cNvSpPr/>
          <p:nvPr/>
        </p:nvSpPr>
        <p:spPr>
          <a:xfrm>
            <a:off x="8702992" y="3419475"/>
            <a:ext cx="2674619" cy="3048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8"/>
          <p:cNvSpPr txBox="1"/>
          <p:nvPr/>
        </p:nvSpPr>
        <p:spPr>
          <a:xfrm>
            <a:off x="8702992" y="3419475"/>
            <a:ext cx="267461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 010</a:t>
            </a:r>
            <a:endParaRPr lang="en-US" sz="1150" dirty="0"/>
          </a:p>
        </p:txBody>
      </p:sp>
      <p:sp>
        <p:nvSpPr>
          <p:cNvPr id="43" name="Shape 43"/>
          <p:cNvSpPr/>
          <p:nvPr/>
        </p:nvSpPr>
        <p:spPr>
          <a:xfrm>
            <a:off x="6981825" y="3457575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6981825" y="345757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7" name="Shape 47"/>
          <p:cNvSpPr/>
          <p:nvPr/>
        </p:nvSpPr>
        <p:spPr>
          <a:xfrm>
            <a:off x="45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62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시점</a:t>
            </a:r>
            <a:endParaRPr lang="en-US" sz="1300" dirty="0"/>
          </a:p>
        </p:txBody>
      </p:sp>
      <p:sp>
        <p:nvSpPr>
          <p:cNvPr id="49" name="Text 49"/>
          <p:cNvSpPr txBox="1"/>
          <p:nvPr/>
        </p:nvSpPr>
        <p:spPr>
          <a:xfrm>
            <a:off x="62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+ 3 ns (sw 인가 2 ns 뒤)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posedge 이전</a:t>
            </a:r>
            <a:endParaRPr lang="en-US" sz="1200" dirty="0"/>
          </a:p>
        </p:txBody>
      </p:sp>
      <p:sp>
        <p:nvSpPr>
          <p:cNvPr id="50" name="Shape 50"/>
          <p:cNvSpPr/>
          <p:nvPr/>
        </p:nvSpPr>
        <p:spPr>
          <a:xfrm>
            <a:off x="426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443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 조건</a:t>
            </a:r>
            <a:endParaRPr lang="en-US" sz="1300" dirty="0"/>
          </a:p>
        </p:txBody>
      </p:sp>
      <p:sp>
        <p:nvSpPr>
          <p:cNvPr id="52" name="Text 52"/>
          <p:cNvSpPr txBox="1"/>
          <p:nvPr/>
        </p:nvSpPr>
        <p:spPr>
          <a:xfrm>
            <a:off x="443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 === o_before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입력만 바뀐 </a:t>
            </a:r>
            <a:r>
              <a:rPr lang="ko-KR" altLang="en-US" sz="120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구간에서 출력이 불변하는지 검토</a:t>
            </a:r>
            <a:endParaRPr lang="en-US" sz="1200" dirty="0"/>
          </a:p>
        </p:txBody>
      </p:sp>
      <p:sp>
        <p:nvSpPr>
          <p:cNvPr id="53" name="Shape 53"/>
          <p:cNvSpPr/>
          <p:nvPr/>
        </p:nvSpPr>
        <p:spPr>
          <a:xfrm>
            <a:off x="807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824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잡는 결함</a:t>
            </a:r>
            <a:endParaRPr lang="en-US" sz="1300" dirty="0"/>
          </a:p>
        </p:txBody>
      </p:sp>
      <p:sp>
        <p:nvSpPr>
          <p:cNvPr id="55" name="Text 55"/>
          <p:cNvSpPr txBox="1"/>
          <p:nvPr/>
        </p:nvSpPr>
        <p:spPr>
          <a:xfrm>
            <a:off x="824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F6 Mealy화 (o_sw = n_state 기준)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input → output 조합 경로</a:t>
            </a:r>
            <a:endParaRPr lang="en-US" sz="1200" dirty="0"/>
          </a:p>
        </p:txBody>
      </p:sp>
      <p:cxnSp>
        <p:nvCxnSpPr>
          <p:cNvPr id="20" name="Line 20"/>
          <p:cNvCxnSpPr/>
          <p:nvPr/>
        </p:nvCxnSpPr>
        <p:spPr>
          <a:xfrm>
            <a:off x="6886575" y="1714500"/>
            <a:ext cx="0" cy="2686050"/>
          </a:xfrm>
          <a:prstGeom prst="line">
            <a:avLst/>
          </a:prstGeom>
          <a:ln w="22225">
            <a:solidFill>
              <a:srgbClr val="C62828"/>
            </a:solidFill>
            <a:prstDash val="sysDash"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· 새 TB 제안 · 채점 항목 · C3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</a:t>
            </a:r>
            <a:r>
              <a:rPr lang="en-US" altLang="ko-KR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 edge </a:t>
            </a:r>
            <a:r>
              <a:rPr lang="ko-KR" altLang="en-US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</a:t>
            </a:r>
            <a:r>
              <a:rPr lang="en-US" altLang="ko-KR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 state</a:t>
            </a:r>
            <a:r>
              <a:rPr lang="ko-KR" altLang="en-US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 넘어가는지 확인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/ 56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11277600" cy="369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85800" y="177165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685800" y="228600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async_reset</a:t>
            </a:r>
            <a:endParaRPr lang="en-US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685800" y="280035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RTL (async)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685800" y="331470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F4 (reset → CLEAR)</a:t>
            </a:r>
            <a:endParaRPr lang="en-US" sz="1300" dirty="0"/>
          </a:p>
        </p:txBody>
      </p:sp>
      <p:sp>
        <p:nvSpPr>
          <p:cNvPr id="13" name="Text 13"/>
          <p:cNvSpPr txBox="1"/>
          <p:nvPr/>
        </p:nvSpPr>
        <p:spPr>
          <a:xfrm>
            <a:off x="685800" y="3829050"/>
            <a:ext cx="1581150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F7 (동기 reset)</a:t>
            </a:r>
            <a:endParaRPr lang="en-US" sz="1300" dirty="0"/>
          </a:p>
        </p:txBody>
      </p:sp>
      <p:cxnSp>
        <p:nvCxnSpPr>
          <p:cNvPr id="14" name="Line 14"/>
          <p:cNvCxnSpPr/>
          <p:nvPr/>
        </p:nvCxnSpPr>
        <p:spPr>
          <a:xfrm>
            <a:off x="4070746" y="1714500"/>
            <a:ext cx="0" cy="2686050"/>
          </a:xfrm>
          <a:prstGeom prst="line">
            <a:avLst/>
          </a:prstGeom>
          <a:ln w="15875">
            <a:solidFill>
              <a:srgbClr val="2E7D32"/>
            </a:solidFill>
            <a:prstDash val="dash"/>
          </a:ln>
        </p:spPr>
      </p:cxnSp>
      <p:sp>
        <p:nvSpPr>
          <p:cNvPr id="15" name="Text 15"/>
          <p:cNvSpPr txBox="1"/>
          <p:nvPr/>
        </p:nvSpPr>
        <p:spPr>
          <a:xfrm>
            <a:off x="3022996" y="14668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</a:t>
            </a:r>
            <a:endParaRPr lang="en-US" sz="1100" dirty="0"/>
          </a:p>
        </p:txBody>
      </p:sp>
      <p:cxnSp>
        <p:nvCxnSpPr>
          <p:cNvPr id="16" name="Line 16"/>
          <p:cNvCxnSpPr/>
          <p:nvPr/>
        </p:nvCxnSpPr>
        <p:spPr>
          <a:xfrm>
            <a:off x="5197078" y="1714500"/>
            <a:ext cx="0" cy="2686050"/>
          </a:xfrm>
          <a:prstGeom prst="line">
            <a:avLst/>
          </a:prstGeom>
          <a:ln w="15875">
            <a:solidFill>
              <a:srgbClr val="C62828"/>
            </a:solidFill>
            <a:prstDash val="dash"/>
          </a:ln>
        </p:spPr>
      </p:cxnSp>
      <p:sp>
        <p:nvSpPr>
          <p:cNvPr id="17" name="Text 17"/>
          <p:cNvSpPr txBox="1"/>
          <p:nvPr/>
        </p:nvSpPr>
        <p:spPr>
          <a:xfrm>
            <a:off x="4149328" y="14668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+2 ns · reset = 1</a:t>
            </a:r>
            <a:endParaRPr lang="en-US" sz="1100" dirty="0"/>
          </a:p>
        </p:txBody>
      </p:sp>
      <p:cxnSp>
        <p:nvCxnSpPr>
          <p:cNvPr id="18" name="Line 18"/>
          <p:cNvCxnSpPr/>
          <p:nvPr/>
        </p:nvCxnSpPr>
        <p:spPr>
          <a:xfrm>
            <a:off x="5760243" y="1714500"/>
            <a:ext cx="0" cy="2686050"/>
          </a:xfrm>
          <a:prstGeom prst="line">
            <a:avLst/>
          </a:prstGeom>
          <a:ln w="22225">
            <a:solidFill>
              <a:srgbClr val="EA580C"/>
            </a:solidFill>
            <a:prstDash val="sysDash"/>
          </a:ln>
        </p:spPr>
      </p:cxnSp>
      <p:sp>
        <p:nvSpPr>
          <p:cNvPr id="19" name="Text 19"/>
          <p:cNvSpPr txBox="1"/>
          <p:nvPr/>
        </p:nvSpPr>
        <p:spPr>
          <a:xfrm>
            <a:off x="3626643" y="44386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1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 ns · C3 비교</a:t>
            </a:r>
            <a:endParaRPr lang="en-US" sz="1100" dirty="0"/>
          </a:p>
        </p:txBody>
      </p:sp>
      <p:cxnSp>
        <p:nvCxnSpPr>
          <p:cNvPr id="20" name="Line 20"/>
          <p:cNvCxnSpPr/>
          <p:nvPr/>
        </p:nvCxnSpPr>
        <p:spPr>
          <a:xfrm>
            <a:off x="6886575" y="1714500"/>
            <a:ext cx="0" cy="2686050"/>
          </a:xfrm>
          <a:prstGeom prst="line">
            <a:avLst/>
          </a:prstGeom>
          <a:ln w="15875">
            <a:solidFill>
              <a:srgbClr val="94A3B8"/>
            </a:solidFill>
            <a:prstDash val="dash"/>
          </a:ln>
        </p:spPr>
      </p:cxnSp>
      <p:sp>
        <p:nvSpPr>
          <p:cNvPr id="21" name="Text 21"/>
          <p:cNvSpPr txBox="1"/>
          <p:nvPr/>
        </p:nvSpPr>
        <p:spPr>
          <a:xfrm>
            <a:off x="6924675" y="44386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· C1 생략</a:t>
            </a:r>
            <a:endParaRPr lang="en-US" sz="1100" dirty="0"/>
          </a:p>
        </p:txBody>
      </p:sp>
      <p:cxnSp>
        <p:nvCxnSpPr>
          <p:cNvPr id="22" name="Line 22"/>
          <p:cNvCxnSpPr/>
          <p:nvPr/>
        </p:nvCxnSpPr>
        <p:spPr>
          <a:xfrm>
            <a:off x="7449740" y="1714500"/>
            <a:ext cx="0" cy="2686050"/>
          </a:xfrm>
          <a:prstGeom prst="line">
            <a:avLst/>
          </a:prstGeom>
          <a:ln w="15875">
            <a:solidFill>
              <a:srgbClr val="C62828"/>
            </a:solidFill>
            <a:prstDash val="dash"/>
          </a:ln>
        </p:spPr>
      </p:cxnSp>
      <p:sp>
        <p:nvSpPr>
          <p:cNvPr id="23" name="Text 23"/>
          <p:cNvSpPr txBox="1"/>
          <p:nvPr/>
        </p:nvSpPr>
        <p:spPr>
          <a:xfrm>
            <a:off x="6401990" y="14668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reset = 0</a:t>
            </a:r>
            <a:endParaRPr lang="en-US" sz="1100" dirty="0"/>
          </a:p>
        </p:txBody>
      </p:sp>
      <p:cxnSp>
        <p:nvCxnSpPr>
          <p:cNvPr id="24" name="Line 24"/>
          <p:cNvCxnSpPr/>
          <p:nvPr/>
        </p:nvCxnSpPr>
        <p:spPr>
          <a:xfrm>
            <a:off x="9702403" y="1714500"/>
            <a:ext cx="0" cy="2686050"/>
          </a:xfrm>
          <a:prstGeom prst="line">
            <a:avLst/>
          </a:prstGeom>
          <a:ln w="15875">
            <a:solidFill>
              <a:srgbClr val="2E7D32"/>
            </a:solidFill>
            <a:prstDash val="dash"/>
          </a:ln>
        </p:spPr>
      </p:cxnSp>
      <p:sp>
        <p:nvSpPr>
          <p:cNvPr id="25" name="Text 25"/>
          <p:cNvSpPr txBox="1"/>
          <p:nvPr/>
        </p:nvSpPr>
        <p:spPr>
          <a:xfrm>
            <a:off x="8654653" y="146685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</a:t>
            </a:r>
            <a:endParaRPr lang="en-US" sz="1100" dirty="0"/>
          </a:p>
        </p:txBody>
      </p:sp>
      <p:cxnSp>
        <p:nvCxnSpPr>
          <p:cNvPr id="26" name="Line 26"/>
          <p:cNvCxnSpPr/>
          <p:nvPr/>
        </p:nvCxnSpPr>
        <p:spPr>
          <a:xfrm>
            <a:off x="2381250" y="2171700"/>
            <a:ext cx="1689496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4070746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4070746" y="1885950"/>
            <a:ext cx="2815828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886575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6886575" y="2171700"/>
            <a:ext cx="2815828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9702403" y="1885950"/>
            <a:ext cx="0" cy="2857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2" name="Line 32"/>
          <p:cNvCxnSpPr/>
          <p:nvPr/>
        </p:nvCxnSpPr>
        <p:spPr>
          <a:xfrm>
            <a:off x="9702403" y="1885950"/>
            <a:ext cx="1689496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3" name="Line 33"/>
          <p:cNvCxnSpPr/>
          <p:nvPr/>
        </p:nvCxnSpPr>
        <p:spPr>
          <a:xfrm>
            <a:off x="2381250" y="2686050"/>
            <a:ext cx="2815828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4" name="Line 34"/>
          <p:cNvCxnSpPr/>
          <p:nvPr/>
        </p:nvCxnSpPr>
        <p:spPr>
          <a:xfrm>
            <a:off x="5197078" y="2400300"/>
            <a:ext cx="2252662" cy="0"/>
          </a:xfrm>
          <a:prstGeom prst="line">
            <a:avLst/>
          </a:prstGeom>
          <a:ln w="22225">
            <a:solidFill>
              <a:srgbClr val="C62828"/>
            </a:solidFill>
          </a:ln>
        </p:spPr>
      </p:cxnSp>
      <p:cxnSp>
        <p:nvCxnSpPr>
          <p:cNvPr id="35" name="Line 35"/>
          <p:cNvCxnSpPr/>
          <p:nvPr/>
        </p:nvCxnSpPr>
        <p:spPr>
          <a:xfrm>
            <a:off x="5197078" y="2400300"/>
            <a:ext cx="0" cy="285750"/>
          </a:xfrm>
          <a:prstGeom prst="line">
            <a:avLst/>
          </a:prstGeom>
          <a:ln w="22225">
            <a:solidFill>
              <a:srgbClr val="C62828"/>
            </a:solidFill>
          </a:ln>
        </p:spPr>
      </p:cxnSp>
      <p:cxnSp>
        <p:nvCxnSpPr>
          <p:cNvPr id="36" name="Line 36"/>
          <p:cNvCxnSpPr/>
          <p:nvPr/>
        </p:nvCxnSpPr>
        <p:spPr>
          <a:xfrm>
            <a:off x="7449740" y="2686050"/>
            <a:ext cx="3942159" cy="0"/>
          </a:xfrm>
          <a:prstGeom prst="line">
            <a:avLst/>
          </a:prstGeom>
          <a:ln w="22225">
            <a:solidFill>
              <a:srgbClr val="1F2937"/>
            </a:solidFill>
          </a:ln>
        </p:spPr>
      </p:cxnSp>
      <p:cxnSp>
        <p:nvCxnSpPr>
          <p:cNvPr id="37" name="Line 37"/>
          <p:cNvCxnSpPr/>
          <p:nvPr/>
        </p:nvCxnSpPr>
        <p:spPr>
          <a:xfrm>
            <a:off x="7449740" y="2400300"/>
            <a:ext cx="0" cy="285750"/>
          </a:xfrm>
          <a:prstGeom prst="line">
            <a:avLst/>
          </a:prstGeom>
          <a:ln w="22225">
            <a:solidFill>
              <a:srgbClr val="C62828"/>
            </a:solidFill>
          </a:ln>
        </p:spPr>
      </p:cxnSp>
      <p:sp>
        <p:nvSpPr>
          <p:cNvPr id="38" name="Shape 38"/>
          <p:cNvSpPr/>
          <p:nvPr/>
        </p:nvSpPr>
        <p:spPr>
          <a:xfrm>
            <a:off x="2395537" y="2905125"/>
            <a:ext cx="2787253" cy="3048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9"/>
          <p:cNvSpPr txBox="1"/>
          <p:nvPr/>
        </p:nvSpPr>
        <p:spPr>
          <a:xfrm>
            <a:off x="2395537" y="2905125"/>
            <a:ext cx="278725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 010</a:t>
            </a:r>
            <a:endParaRPr lang="en-US" sz="1150" dirty="0"/>
          </a:p>
        </p:txBody>
      </p:sp>
      <p:sp>
        <p:nvSpPr>
          <p:cNvPr id="40" name="Shape 40"/>
          <p:cNvSpPr/>
          <p:nvPr/>
        </p:nvSpPr>
        <p:spPr>
          <a:xfrm>
            <a:off x="5211365" y="2905125"/>
            <a:ext cx="4476750" cy="3048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5211365" y="2905125"/>
            <a:ext cx="4476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42" name="Shape 42"/>
          <p:cNvSpPr/>
          <p:nvPr/>
        </p:nvSpPr>
        <p:spPr>
          <a:xfrm>
            <a:off x="9716690" y="2905125"/>
            <a:ext cx="1660921" cy="3048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3"/>
          <p:cNvSpPr txBox="1"/>
          <p:nvPr/>
        </p:nvSpPr>
        <p:spPr>
          <a:xfrm>
            <a:off x="9716690" y="2905125"/>
            <a:ext cx="166092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 010</a:t>
            </a:r>
            <a:endParaRPr lang="en-US" sz="1150" dirty="0"/>
          </a:p>
        </p:txBody>
      </p:sp>
      <p:sp>
        <p:nvSpPr>
          <p:cNvPr id="44" name="Shape 44"/>
          <p:cNvSpPr/>
          <p:nvPr/>
        </p:nvSpPr>
        <p:spPr>
          <a:xfrm>
            <a:off x="2395537" y="3419475"/>
            <a:ext cx="2787253" cy="3048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5"/>
          <p:cNvSpPr txBox="1"/>
          <p:nvPr/>
        </p:nvSpPr>
        <p:spPr>
          <a:xfrm>
            <a:off x="2395537" y="3419475"/>
            <a:ext cx="2787253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 010</a:t>
            </a:r>
            <a:endParaRPr lang="en-US" sz="1150" dirty="0"/>
          </a:p>
        </p:txBody>
      </p:sp>
      <p:sp>
        <p:nvSpPr>
          <p:cNvPr id="46" name="Shape 46"/>
          <p:cNvSpPr/>
          <p:nvPr/>
        </p:nvSpPr>
        <p:spPr>
          <a:xfrm>
            <a:off x="5211365" y="3419475"/>
            <a:ext cx="4476750" cy="304800"/>
          </a:xfrm>
          <a:prstGeom prst="rect">
            <a:avLst/>
          </a:prstGeom>
          <a:solidFill>
            <a:srgbClr val="FDECEC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7"/>
          <p:cNvSpPr txBox="1"/>
          <p:nvPr/>
        </p:nvSpPr>
        <p:spPr>
          <a:xfrm>
            <a:off x="5211365" y="3419475"/>
            <a:ext cx="44767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  100</a:t>
            </a:r>
            <a:endParaRPr lang="en-US" sz="1150" dirty="0"/>
          </a:p>
        </p:txBody>
      </p:sp>
      <p:sp>
        <p:nvSpPr>
          <p:cNvPr id="48" name="Shape 48"/>
          <p:cNvSpPr/>
          <p:nvPr/>
        </p:nvSpPr>
        <p:spPr>
          <a:xfrm>
            <a:off x="9716690" y="3419475"/>
            <a:ext cx="1660921" cy="3048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9"/>
          <p:cNvSpPr txBox="1"/>
          <p:nvPr/>
        </p:nvSpPr>
        <p:spPr>
          <a:xfrm>
            <a:off x="9716690" y="3419475"/>
            <a:ext cx="166092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50" name="Shape 50"/>
          <p:cNvSpPr/>
          <p:nvPr/>
        </p:nvSpPr>
        <p:spPr>
          <a:xfrm>
            <a:off x="2395537" y="3933825"/>
            <a:ext cx="8982075" cy="3048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2395537" y="3933825"/>
            <a:ext cx="89820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 010</a:t>
            </a:r>
            <a:endParaRPr lang="en-US" sz="1150" dirty="0"/>
          </a:p>
        </p:txBody>
      </p:sp>
      <p:sp>
        <p:nvSpPr>
          <p:cNvPr id="52" name="Shape 52"/>
          <p:cNvSpPr/>
          <p:nvPr/>
        </p:nvSpPr>
        <p:spPr>
          <a:xfrm>
            <a:off x="5855493" y="2943225"/>
            <a:ext cx="228600" cy="2286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3"/>
          <p:cNvSpPr txBox="1"/>
          <p:nvPr/>
        </p:nvSpPr>
        <p:spPr>
          <a:xfrm>
            <a:off x="5855493" y="29432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54" name="Shape 54"/>
          <p:cNvSpPr/>
          <p:nvPr/>
        </p:nvSpPr>
        <p:spPr>
          <a:xfrm>
            <a:off x="5855493" y="3457575"/>
            <a:ext cx="228600" cy="2286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5"/>
          <p:cNvSpPr txBox="1"/>
          <p:nvPr/>
        </p:nvSpPr>
        <p:spPr>
          <a:xfrm>
            <a:off x="5855493" y="345757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✗</a:t>
            </a:r>
            <a:endParaRPr lang="en-US" sz="1200" dirty="0"/>
          </a:p>
        </p:txBody>
      </p:sp>
      <p:sp>
        <p:nvSpPr>
          <p:cNvPr id="56" name="Shape 56"/>
          <p:cNvSpPr/>
          <p:nvPr/>
        </p:nvSpPr>
        <p:spPr>
          <a:xfrm>
            <a:off x="5855493" y="3971925"/>
            <a:ext cx="228600" cy="2286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5855493" y="397192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✗</a:t>
            </a:r>
            <a:endParaRPr lang="en-US" sz="1200" dirty="0"/>
          </a:p>
        </p:txBody>
      </p:sp>
      <p:sp>
        <p:nvSpPr>
          <p:cNvPr id="58" name="Shape 58"/>
          <p:cNvSpPr/>
          <p:nvPr/>
        </p:nvSpPr>
        <p:spPr>
          <a:xfrm>
            <a:off x="45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9"/>
          <p:cNvSpPr txBox="1"/>
          <p:nvPr/>
        </p:nvSpPr>
        <p:spPr>
          <a:xfrm>
            <a:off x="62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시점</a:t>
            </a:r>
            <a:endParaRPr lang="en-US" sz="1300" dirty="0"/>
          </a:p>
        </p:txBody>
      </p:sp>
      <p:sp>
        <p:nvSpPr>
          <p:cNvPr id="60" name="Text 60"/>
          <p:cNvSpPr txBox="1"/>
          <p:nvPr/>
        </p:nvSpPr>
        <p:spPr>
          <a:xfrm>
            <a:off x="62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+ 3 ns (reset 인가 1 ns 뒤)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reset 구간 = posedge + 2 ~ 6 ns, posedge 없음</a:t>
            </a:r>
            <a:endParaRPr lang="en-US" sz="1200" dirty="0"/>
          </a:p>
        </p:txBody>
      </p:sp>
      <p:sp>
        <p:nvSpPr>
          <p:cNvPr id="61" name="Shape 61"/>
          <p:cNvSpPr/>
          <p:nvPr/>
        </p:nvSpPr>
        <p:spPr>
          <a:xfrm>
            <a:off x="426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2"/>
          <p:cNvSpPr txBox="1"/>
          <p:nvPr/>
        </p:nvSpPr>
        <p:spPr>
          <a:xfrm>
            <a:off x="443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 조건</a:t>
            </a:r>
            <a:endParaRPr lang="en-US" sz="1300" dirty="0"/>
          </a:p>
        </p:txBody>
      </p:sp>
      <p:sp>
        <p:nvSpPr>
          <p:cNvPr id="63" name="Text 63"/>
          <p:cNvSpPr txBox="1"/>
          <p:nvPr/>
        </p:nvSpPr>
        <p:spPr>
          <a:xfrm>
            <a:off x="443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 === 3'b001 (STOP)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클럭 엣지 없이 즉시 STOP</a:t>
            </a:r>
            <a:endParaRPr lang="en-US" sz="1200" dirty="0"/>
          </a:p>
        </p:txBody>
      </p:sp>
      <p:sp>
        <p:nvSpPr>
          <p:cNvPr id="64" name="Shape 64"/>
          <p:cNvSpPr/>
          <p:nvPr/>
        </p:nvSpPr>
        <p:spPr>
          <a:xfrm>
            <a:off x="807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5"/>
          <p:cNvSpPr txBox="1"/>
          <p:nvPr/>
        </p:nvSpPr>
        <p:spPr>
          <a:xfrm>
            <a:off x="824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잡는 결함</a:t>
            </a:r>
            <a:endParaRPr lang="en-US" sz="1300" dirty="0"/>
          </a:p>
        </p:txBody>
      </p:sp>
      <p:sp>
        <p:nvSpPr>
          <p:cNvPr id="66" name="Text 66"/>
          <p:cNvSpPr txBox="1"/>
          <p:nvPr/>
        </p:nvSpPr>
        <p:spPr>
          <a:xfrm>
            <a:off x="824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F4 reset 값 오류 (CLEAR 100)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F7 동기 reset (posedge 없음 → reset 미반영)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· 새 TB 제안 · 채점 항목 · C4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</a:t>
            </a: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Logs Each Arc at the Posedge and Requires 12 of 12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 / 56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7429500" cy="369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85800" y="1905000"/>
            <a:ext cx="12001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685800" y="2495550"/>
            <a:ext cx="12001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arc(RUN, 10)</a:t>
            </a:r>
            <a:endParaRPr lang="en-US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685800" y="3086100"/>
            <a:ext cx="12001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g_state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685800" y="3676650"/>
            <a:ext cx="120015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cov</a:t>
            </a:r>
            <a:endParaRPr lang="en-US" sz="1300" dirty="0"/>
          </a:p>
          <a:p>
            <a:pPr marL="0" indent="0">
              <a:buNone/>
            </a:pPr>
            <a:r>
              <a:rPr lang="ko-KR" alt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arc</a:t>
            </a:r>
            <a:endParaRPr lang="en-US" sz="1300" dirty="0"/>
          </a:p>
        </p:txBody>
      </p:sp>
      <p:cxnSp>
        <p:nvCxnSpPr>
          <p:cNvPr id="13" name="Line 13"/>
          <p:cNvCxnSpPr/>
          <p:nvPr/>
        </p:nvCxnSpPr>
        <p:spPr>
          <a:xfrm>
            <a:off x="3311524" y="1847850"/>
            <a:ext cx="0" cy="2476500"/>
          </a:xfrm>
          <a:prstGeom prst="line">
            <a:avLst/>
          </a:prstGeom>
          <a:ln w="15875">
            <a:solidFill>
              <a:srgbClr val="2E7D32"/>
            </a:solidFill>
            <a:prstDash val="dash"/>
          </a:ln>
        </p:spPr>
      </p:cxnSp>
      <p:sp>
        <p:nvSpPr>
          <p:cNvPr id="14" name="Text 14"/>
          <p:cNvSpPr txBox="1"/>
          <p:nvPr/>
        </p:nvSpPr>
        <p:spPr>
          <a:xfrm>
            <a:off x="2263774" y="160020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</a:t>
            </a:r>
            <a:endParaRPr lang="en-US" sz="1100" dirty="0"/>
          </a:p>
        </p:txBody>
      </p:sp>
      <p:cxnSp>
        <p:nvCxnSpPr>
          <p:cNvPr id="15" name="Line 15"/>
          <p:cNvCxnSpPr/>
          <p:nvPr/>
        </p:nvCxnSpPr>
        <p:spPr>
          <a:xfrm>
            <a:off x="5184774" y="1847850"/>
            <a:ext cx="0" cy="2476500"/>
          </a:xfrm>
          <a:prstGeom prst="line">
            <a:avLst/>
          </a:prstGeom>
          <a:ln w="15875">
            <a:solidFill>
              <a:srgbClr val="2E7D32"/>
            </a:solidFill>
            <a:prstDash val="dash"/>
          </a:ln>
        </p:spPr>
      </p:cxnSp>
      <p:sp>
        <p:nvSpPr>
          <p:cNvPr id="16" name="Text 16"/>
          <p:cNvSpPr txBox="1"/>
          <p:nvPr/>
        </p:nvSpPr>
        <p:spPr>
          <a:xfrm>
            <a:off x="4137024" y="160020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</a:t>
            </a:r>
            <a:endParaRPr lang="en-US" sz="1100" dirty="0"/>
          </a:p>
        </p:txBody>
      </p:sp>
      <p:cxnSp>
        <p:nvCxnSpPr>
          <p:cNvPr id="17" name="Line 17"/>
          <p:cNvCxnSpPr/>
          <p:nvPr/>
        </p:nvCxnSpPr>
        <p:spPr>
          <a:xfrm>
            <a:off x="7058025" y="1847850"/>
            <a:ext cx="0" cy="2476500"/>
          </a:xfrm>
          <a:prstGeom prst="line">
            <a:avLst/>
          </a:prstGeom>
          <a:ln w="15875">
            <a:solidFill>
              <a:srgbClr val="2E7D32"/>
            </a:solidFill>
            <a:prstDash val="dash"/>
          </a:ln>
        </p:spPr>
      </p:cxnSp>
      <p:sp>
        <p:nvSpPr>
          <p:cNvPr id="18" name="Text 18"/>
          <p:cNvSpPr txBox="1"/>
          <p:nvPr/>
        </p:nvSpPr>
        <p:spPr>
          <a:xfrm>
            <a:off x="6010275" y="1600200"/>
            <a:ext cx="2095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</a:t>
            </a:r>
            <a:endParaRPr lang="en-US" sz="1100" dirty="0"/>
          </a:p>
        </p:txBody>
      </p:sp>
      <p:cxnSp>
        <p:nvCxnSpPr>
          <p:cNvPr id="19" name="Line 19"/>
          <p:cNvCxnSpPr/>
          <p:nvPr/>
        </p:nvCxnSpPr>
        <p:spPr>
          <a:xfrm>
            <a:off x="2000250" y="2019300"/>
            <a:ext cx="374650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0" name="Line 20"/>
          <p:cNvCxnSpPr/>
          <p:nvPr/>
        </p:nvCxnSpPr>
        <p:spPr>
          <a:xfrm>
            <a:off x="2374900" y="2019300"/>
            <a:ext cx="0" cy="3619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1" name="Line 21"/>
          <p:cNvCxnSpPr/>
          <p:nvPr/>
        </p:nvCxnSpPr>
        <p:spPr>
          <a:xfrm>
            <a:off x="2374900" y="2381250"/>
            <a:ext cx="936624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2" name="Line 22"/>
          <p:cNvCxnSpPr/>
          <p:nvPr/>
        </p:nvCxnSpPr>
        <p:spPr>
          <a:xfrm>
            <a:off x="3311524" y="2019300"/>
            <a:ext cx="0" cy="3619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3" name="Line 23"/>
          <p:cNvCxnSpPr/>
          <p:nvPr/>
        </p:nvCxnSpPr>
        <p:spPr>
          <a:xfrm>
            <a:off x="3311524" y="2019300"/>
            <a:ext cx="936625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4" name="Line 24"/>
          <p:cNvCxnSpPr/>
          <p:nvPr/>
        </p:nvCxnSpPr>
        <p:spPr>
          <a:xfrm>
            <a:off x="4248150" y="2019300"/>
            <a:ext cx="0" cy="3619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5" name="Line 25"/>
          <p:cNvCxnSpPr/>
          <p:nvPr/>
        </p:nvCxnSpPr>
        <p:spPr>
          <a:xfrm>
            <a:off x="4248150" y="2381250"/>
            <a:ext cx="936624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6" name="Line 26"/>
          <p:cNvCxnSpPr/>
          <p:nvPr/>
        </p:nvCxnSpPr>
        <p:spPr>
          <a:xfrm>
            <a:off x="5184774" y="2019300"/>
            <a:ext cx="0" cy="3619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7" name="Line 27"/>
          <p:cNvCxnSpPr/>
          <p:nvPr/>
        </p:nvCxnSpPr>
        <p:spPr>
          <a:xfrm>
            <a:off x="5184774" y="2019300"/>
            <a:ext cx="936625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8" name="Line 28"/>
          <p:cNvCxnSpPr/>
          <p:nvPr/>
        </p:nvCxnSpPr>
        <p:spPr>
          <a:xfrm>
            <a:off x="6121400" y="2019300"/>
            <a:ext cx="0" cy="3619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29" name="Line 29"/>
          <p:cNvCxnSpPr/>
          <p:nvPr/>
        </p:nvCxnSpPr>
        <p:spPr>
          <a:xfrm>
            <a:off x="6121400" y="2381250"/>
            <a:ext cx="936624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0" name="Line 30"/>
          <p:cNvCxnSpPr/>
          <p:nvPr/>
        </p:nvCxnSpPr>
        <p:spPr>
          <a:xfrm>
            <a:off x="7058025" y="2019300"/>
            <a:ext cx="0" cy="36195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cxnSp>
        <p:nvCxnSpPr>
          <p:cNvPr id="31" name="Line 31"/>
          <p:cNvCxnSpPr/>
          <p:nvPr/>
        </p:nvCxnSpPr>
        <p:spPr>
          <a:xfrm>
            <a:off x="7058025" y="2019300"/>
            <a:ext cx="561975" cy="0"/>
          </a:xfrm>
          <a:prstGeom prst="line">
            <a:avLst/>
          </a:prstGeom>
          <a:ln w="19050">
            <a:solidFill>
              <a:srgbClr val="1F2937"/>
            </a:solidFill>
          </a:ln>
        </p:spPr>
      </p:cxnSp>
      <p:sp>
        <p:nvSpPr>
          <p:cNvPr id="32" name="Shape 32"/>
          <p:cNvSpPr/>
          <p:nvPr/>
        </p:nvSpPr>
        <p:spPr>
          <a:xfrm>
            <a:off x="2014537" y="2600325"/>
            <a:ext cx="533400" cy="381000"/>
          </a:xfrm>
          <a:prstGeom prst="rect">
            <a:avLst/>
          </a:prstGeom>
          <a:solidFill>
            <a:srgbClr val="F1F5F9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3"/>
          <p:cNvSpPr txBox="1"/>
          <p:nvPr/>
        </p:nvSpPr>
        <p:spPr>
          <a:xfrm>
            <a:off x="2014537" y="2600325"/>
            <a:ext cx="533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50" dirty="0"/>
          </a:p>
        </p:txBody>
      </p:sp>
      <p:sp>
        <p:nvSpPr>
          <p:cNvPr id="34" name="Shape 34"/>
          <p:cNvSpPr/>
          <p:nvPr/>
        </p:nvSpPr>
        <p:spPr>
          <a:xfrm>
            <a:off x="2576512" y="2600325"/>
            <a:ext cx="1844674" cy="381000"/>
          </a:xfrm>
          <a:prstGeom prst="rect">
            <a:avLst/>
          </a:prstGeom>
          <a:solidFill>
            <a:srgbClr val="F1F5F9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5"/>
          <p:cNvSpPr txBox="1"/>
          <p:nvPr/>
        </p:nvSpPr>
        <p:spPr>
          <a:xfrm>
            <a:off x="2576512" y="2600325"/>
            <a:ext cx="184467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50" dirty="0"/>
          </a:p>
        </p:txBody>
      </p:sp>
      <p:sp>
        <p:nvSpPr>
          <p:cNvPr id="36" name="Shape 36"/>
          <p:cNvSpPr/>
          <p:nvPr/>
        </p:nvSpPr>
        <p:spPr>
          <a:xfrm>
            <a:off x="4449762" y="2600325"/>
            <a:ext cx="3155950" cy="381000"/>
          </a:xfrm>
          <a:prstGeom prst="rect">
            <a:avLst/>
          </a:prstGeom>
          <a:solidFill>
            <a:srgbClr val="F1F5F9"/>
          </a:solidFill>
          <a:ln w="15875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7"/>
          <p:cNvSpPr txBox="1"/>
          <p:nvPr/>
        </p:nvSpPr>
        <p:spPr>
          <a:xfrm>
            <a:off x="4449762" y="2600325"/>
            <a:ext cx="31559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50" dirty="0"/>
          </a:p>
        </p:txBody>
      </p:sp>
      <p:sp>
        <p:nvSpPr>
          <p:cNvPr id="38" name="Shape 38"/>
          <p:cNvSpPr/>
          <p:nvPr/>
        </p:nvSpPr>
        <p:spPr>
          <a:xfrm>
            <a:off x="2014537" y="3190875"/>
            <a:ext cx="1282699" cy="3810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9"/>
          <p:cNvSpPr txBox="1"/>
          <p:nvPr/>
        </p:nvSpPr>
        <p:spPr>
          <a:xfrm>
            <a:off x="2014537" y="3190875"/>
            <a:ext cx="1282699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40" name="Shape 40"/>
          <p:cNvSpPr/>
          <p:nvPr/>
        </p:nvSpPr>
        <p:spPr>
          <a:xfrm>
            <a:off x="3325812" y="3190875"/>
            <a:ext cx="1844674" cy="381000"/>
          </a:xfrm>
          <a:prstGeom prst="rect">
            <a:avLst/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3325812" y="3190875"/>
            <a:ext cx="184467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 010</a:t>
            </a:r>
            <a:endParaRPr lang="en-US" sz="1150" dirty="0"/>
          </a:p>
        </p:txBody>
      </p:sp>
      <p:sp>
        <p:nvSpPr>
          <p:cNvPr id="42" name="Shape 42"/>
          <p:cNvSpPr/>
          <p:nvPr/>
        </p:nvSpPr>
        <p:spPr>
          <a:xfrm>
            <a:off x="5199062" y="3190875"/>
            <a:ext cx="1844675" cy="381000"/>
          </a:xfrm>
          <a:prstGeom prst="rect">
            <a:avLst/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3"/>
          <p:cNvSpPr txBox="1"/>
          <p:nvPr/>
        </p:nvSpPr>
        <p:spPr>
          <a:xfrm>
            <a:off x="5199062" y="3190875"/>
            <a:ext cx="18446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 001</a:t>
            </a:r>
            <a:endParaRPr lang="en-US" sz="1150" dirty="0"/>
          </a:p>
        </p:txBody>
      </p:sp>
      <p:sp>
        <p:nvSpPr>
          <p:cNvPr id="44" name="Shape 44"/>
          <p:cNvSpPr/>
          <p:nvPr/>
        </p:nvSpPr>
        <p:spPr>
          <a:xfrm>
            <a:off x="7072312" y="3190875"/>
            <a:ext cx="533400" cy="381000"/>
          </a:xfrm>
          <a:prstGeom prst="rect">
            <a:avLst/>
          </a:prstGeom>
          <a:solidFill>
            <a:srgbClr val="FDECEC"/>
          </a:solidFill>
          <a:ln w="15875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5"/>
          <p:cNvSpPr txBox="1"/>
          <p:nvPr/>
        </p:nvSpPr>
        <p:spPr>
          <a:xfrm>
            <a:off x="7072312" y="3190875"/>
            <a:ext cx="533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5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CLEAR</a:t>
            </a:r>
            <a:endParaRPr lang="en-US" sz="1150" dirty="0"/>
          </a:p>
        </p:txBody>
      </p:sp>
      <p:sp>
        <p:nvSpPr>
          <p:cNvPr id="46" name="Shape 46"/>
          <p:cNvSpPr/>
          <p:nvPr/>
        </p:nvSpPr>
        <p:spPr>
          <a:xfrm>
            <a:off x="2701924" y="3800475"/>
            <a:ext cx="1219200" cy="342900"/>
          </a:xfrm>
          <a:prstGeom prst="roundRect">
            <a:avLst>
              <a:gd name="adj" fmla="val 20000"/>
            </a:avLst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7"/>
          <p:cNvSpPr txBox="1"/>
          <p:nvPr/>
        </p:nvSpPr>
        <p:spPr>
          <a:xfrm>
            <a:off x="2701924" y="3800475"/>
            <a:ext cx="121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× 01 +1</a:t>
            </a:r>
            <a:endParaRPr lang="en-US" sz="1100" dirty="0"/>
          </a:p>
        </p:txBody>
      </p:sp>
      <p:sp>
        <p:nvSpPr>
          <p:cNvPr id="48" name="Shape 48"/>
          <p:cNvSpPr/>
          <p:nvPr/>
        </p:nvSpPr>
        <p:spPr>
          <a:xfrm>
            <a:off x="4575174" y="3800475"/>
            <a:ext cx="1219200" cy="342900"/>
          </a:xfrm>
          <a:prstGeom prst="roundRect">
            <a:avLst>
              <a:gd name="adj" fmla="val 20000"/>
            </a:avLst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9"/>
          <p:cNvSpPr txBox="1"/>
          <p:nvPr/>
        </p:nvSpPr>
        <p:spPr>
          <a:xfrm>
            <a:off x="4575174" y="3800475"/>
            <a:ext cx="121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 × 10 +1</a:t>
            </a:r>
            <a:endParaRPr lang="en-US" sz="1100" dirty="0"/>
          </a:p>
        </p:txBody>
      </p:sp>
      <p:sp>
        <p:nvSpPr>
          <p:cNvPr id="50" name="Shape 50"/>
          <p:cNvSpPr/>
          <p:nvPr/>
        </p:nvSpPr>
        <p:spPr>
          <a:xfrm>
            <a:off x="6448425" y="3800475"/>
            <a:ext cx="1219200" cy="342900"/>
          </a:xfrm>
          <a:prstGeom prst="roundRect">
            <a:avLst>
              <a:gd name="adj" fmla="val 20000"/>
            </a:avLst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6448425" y="3800475"/>
            <a:ext cx="121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STOP × 10 +1</a:t>
            </a:r>
            <a:endParaRPr lang="en-US" sz="1100" dirty="0"/>
          </a:p>
        </p:txBody>
      </p:sp>
      <p:sp>
        <p:nvSpPr>
          <p:cNvPr id="52" name="Text 52"/>
          <p:cNvSpPr txBox="1"/>
          <p:nvPr/>
        </p:nvSpPr>
        <p:spPr>
          <a:xfrm>
            <a:off x="685800" y="44767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직전 값으로 기록</a:t>
            </a:r>
            <a:r>
              <a:rPr lang="ko-KR" altLang="en-US" sz="120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cov[g_state][i_sw] + 1</a:t>
            </a:r>
            <a:endParaRPr lang="en-US" sz="1200" dirty="0"/>
          </a:p>
        </p:txBody>
      </p:sp>
      <p:sp>
        <p:nvSpPr>
          <p:cNvPr id="53" name="Shape 53"/>
          <p:cNvSpPr/>
          <p:nvPr/>
        </p:nvSpPr>
        <p:spPr>
          <a:xfrm>
            <a:off x="8039100" y="1295400"/>
            <a:ext cx="3695700" cy="36957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8229600" y="1447800"/>
            <a:ext cx="3314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Coverage (state × i_sw)</a:t>
            </a:r>
            <a:endParaRPr lang="en-US" sz="1300" dirty="0"/>
          </a:p>
        </p:txBody>
      </p:sp>
      <p:sp>
        <p:nvSpPr>
          <p:cNvPr id="55" name="Shape 55"/>
          <p:cNvSpPr/>
          <p:nvPr/>
        </p:nvSpPr>
        <p:spPr>
          <a:xfrm>
            <a:off x="8229600" y="1866900"/>
            <a:ext cx="3314700" cy="4953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8229600" y="1866900"/>
            <a:ext cx="8001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200" dirty="0"/>
          </a:p>
        </p:txBody>
      </p:sp>
      <p:sp>
        <p:nvSpPr>
          <p:cNvPr id="57" name="Text 57"/>
          <p:cNvSpPr txBox="1"/>
          <p:nvPr/>
        </p:nvSpPr>
        <p:spPr>
          <a:xfrm>
            <a:off x="9029700" y="18669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200" dirty="0"/>
          </a:p>
        </p:txBody>
      </p:sp>
      <p:sp>
        <p:nvSpPr>
          <p:cNvPr id="58" name="Text 58"/>
          <p:cNvSpPr txBox="1"/>
          <p:nvPr/>
        </p:nvSpPr>
        <p:spPr>
          <a:xfrm>
            <a:off x="9658350" y="18669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59" name="Text 59"/>
          <p:cNvSpPr txBox="1"/>
          <p:nvPr/>
        </p:nvSpPr>
        <p:spPr>
          <a:xfrm>
            <a:off x="10287000" y="18669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sp>
        <p:nvSpPr>
          <p:cNvPr id="60" name="Text 60"/>
          <p:cNvSpPr txBox="1"/>
          <p:nvPr/>
        </p:nvSpPr>
        <p:spPr>
          <a:xfrm>
            <a:off x="10915650" y="18669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200" dirty="0"/>
          </a:p>
        </p:txBody>
      </p:sp>
      <p:sp>
        <p:nvSpPr>
          <p:cNvPr id="61" name="Shape 61"/>
          <p:cNvSpPr/>
          <p:nvPr/>
        </p:nvSpPr>
        <p:spPr>
          <a:xfrm>
            <a:off x="8229600" y="2362200"/>
            <a:ext cx="8001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2"/>
          <p:cNvSpPr txBox="1"/>
          <p:nvPr/>
        </p:nvSpPr>
        <p:spPr>
          <a:xfrm>
            <a:off x="8229600" y="2362200"/>
            <a:ext cx="8001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</a:t>
            </a:r>
            <a:endParaRPr lang="en-US" sz="1200" dirty="0"/>
          </a:p>
        </p:txBody>
      </p:sp>
      <p:sp>
        <p:nvSpPr>
          <p:cNvPr id="63" name="Shape 63"/>
          <p:cNvSpPr/>
          <p:nvPr/>
        </p:nvSpPr>
        <p:spPr>
          <a:xfrm>
            <a:off x="9029700" y="23622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4"/>
          <p:cNvSpPr txBox="1"/>
          <p:nvPr/>
        </p:nvSpPr>
        <p:spPr>
          <a:xfrm>
            <a:off x="9029700" y="23622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65" name="Shape 65"/>
          <p:cNvSpPr/>
          <p:nvPr/>
        </p:nvSpPr>
        <p:spPr>
          <a:xfrm>
            <a:off x="9658350" y="2362200"/>
            <a:ext cx="628650" cy="495300"/>
          </a:xfrm>
          <a:prstGeom prst="rect">
            <a:avLst/>
          </a:prstGeom>
          <a:solidFill>
            <a:srgbClr val="FFF3E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6"/>
          <p:cNvSpPr txBox="1"/>
          <p:nvPr/>
        </p:nvSpPr>
        <p:spPr>
          <a:xfrm>
            <a:off x="9658350" y="23622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endParaRPr lang="en-US" sz="1250" dirty="0"/>
          </a:p>
        </p:txBody>
      </p:sp>
      <p:sp>
        <p:nvSpPr>
          <p:cNvPr id="67" name="Shape 67"/>
          <p:cNvSpPr/>
          <p:nvPr/>
        </p:nvSpPr>
        <p:spPr>
          <a:xfrm>
            <a:off x="10287000" y="2362200"/>
            <a:ext cx="628650" cy="495300"/>
          </a:xfrm>
          <a:prstGeom prst="rect">
            <a:avLst/>
          </a:prstGeom>
          <a:solidFill>
            <a:srgbClr val="FFF3E0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8"/>
          <p:cNvSpPr txBox="1"/>
          <p:nvPr/>
        </p:nvSpPr>
        <p:spPr>
          <a:xfrm>
            <a:off x="10287000" y="23622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endParaRPr lang="en-US" sz="1250" dirty="0"/>
          </a:p>
        </p:txBody>
      </p:sp>
      <p:sp>
        <p:nvSpPr>
          <p:cNvPr id="69" name="Shape 69"/>
          <p:cNvSpPr/>
          <p:nvPr/>
        </p:nvSpPr>
        <p:spPr>
          <a:xfrm>
            <a:off x="10915650" y="23622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70"/>
          <p:cNvSpPr txBox="1"/>
          <p:nvPr/>
        </p:nvSpPr>
        <p:spPr>
          <a:xfrm>
            <a:off x="10915650" y="23622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71" name="Shape 71"/>
          <p:cNvSpPr/>
          <p:nvPr/>
        </p:nvSpPr>
        <p:spPr>
          <a:xfrm>
            <a:off x="8229600" y="2857500"/>
            <a:ext cx="8001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2"/>
          <p:cNvSpPr txBox="1"/>
          <p:nvPr/>
        </p:nvSpPr>
        <p:spPr>
          <a:xfrm>
            <a:off x="8229600" y="2857500"/>
            <a:ext cx="8001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</a:t>
            </a:r>
            <a:endParaRPr lang="en-US" sz="1200" dirty="0"/>
          </a:p>
        </p:txBody>
      </p:sp>
      <p:sp>
        <p:nvSpPr>
          <p:cNvPr id="73" name="Shape 73"/>
          <p:cNvSpPr/>
          <p:nvPr/>
        </p:nvSpPr>
        <p:spPr>
          <a:xfrm>
            <a:off x="9029700" y="28575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4"/>
          <p:cNvSpPr txBox="1"/>
          <p:nvPr/>
        </p:nvSpPr>
        <p:spPr>
          <a:xfrm>
            <a:off x="9029700" y="28575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75" name="Shape 75"/>
          <p:cNvSpPr/>
          <p:nvPr/>
        </p:nvSpPr>
        <p:spPr>
          <a:xfrm>
            <a:off x="9658350" y="28575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6"/>
          <p:cNvSpPr txBox="1"/>
          <p:nvPr/>
        </p:nvSpPr>
        <p:spPr>
          <a:xfrm>
            <a:off x="9658350" y="28575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77" name="Shape 77"/>
          <p:cNvSpPr/>
          <p:nvPr/>
        </p:nvSpPr>
        <p:spPr>
          <a:xfrm>
            <a:off x="10287000" y="2857500"/>
            <a:ext cx="628650" cy="495300"/>
          </a:xfrm>
          <a:prstGeom prst="rect">
            <a:avLst/>
          </a:prstGeom>
          <a:solidFill>
            <a:srgbClr val="E8F5E9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8"/>
          <p:cNvSpPr txBox="1"/>
          <p:nvPr/>
        </p:nvSpPr>
        <p:spPr>
          <a:xfrm>
            <a:off x="10287000" y="28575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</a:t>
            </a:r>
            <a:endParaRPr lang="en-US" sz="1250" dirty="0"/>
          </a:p>
        </p:txBody>
      </p:sp>
      <p:sp>
        <p:nvSpPr>
          <p:cNvPr id="79" name="Shape 79"/>
          <p:cNvSpPr/>
          <p:nvPr/>
        </p:nvSpPr>
        <p:spPr>
          <a:xfrm>
            <a:off x="10915650" y="28575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80"/>
          <p:cNvSpPr txBox="1"/>
          <p:nvPr/>
        </p:nvSpPr>
        <p:spPr>
          <a:xfrm>
            <a:off x="10915650" y="28575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81" name="Shape 81"/>
          <p:cNvSpPr/>
          <p:nvPr/>
        </p:nvSpPr>
        <p:spPr>
          <a:xfrm>
            <a:off x="8229600" y="3352800"/>
            <a:ext cx="80010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2"/>
          <p:cNvSpPr txBox="1"/>
          <p:nvPr/>
        </p:nvSpPr>
        <p:spPr>
          <a:xfrm>
            <a:off x="8229600" y="3352800"/>
            <a:ext cx="8001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CLEAR</a:t>
            </a:r>
            <a:endParaRPr lang="en-US" sz="1200" dirty="0"/>
          </a:p>
        </p:txBody>
      </p:sp>
      <p:sp>
        <p:nvSpPr>
          <p:cNvPr id="83" name="Shape 83"/>
          <p:cNvSpPr/>
          <p:nvPr/>
        </p:nvSpPr>
        <p:spPr>
          <a:xfrm>
            <a:off x="9029700" y="33528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Text 84"/>
          <p:cNvSpPr txBox="1"/>
          <p:nvPr/>
        </p:nvSpPr>
        <p:spPr>
          <a:xfrm>
            <a:off x="9029700" y="33528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85" name="Shape 85"/>
          <p:cNvSpPr/>
          <p:nvPr/>
        </p:nvSpPr>
        <p:spPr>
          <a:xfrm>
            <a:off x="9658350" y="33528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Text 86"/>
          <p:cNvSpPr txBox="1"/>
          <p:nvPr/>
        </p:nvSpPr>
        <p:spPr>
          <a:xfrm>
            <a:off x="9658350" y="33528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87" name="Shape 87"/>
          <p:cNvSpPr/>
          <p:nvPr/>
        </p:nvSpPr>
        <p:spPr>
          <a:xfrm>
            <a:off x="10287000" y="33528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8"/>
          <p:cNvSpPr txBox="1"/>
          <p:nvPr/>
        </p:nvSpPr>
        <p:spPr>
          <a:xfrm>
            <a:off x="10287000" y="33528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89" name="Shape 89"/>
          <p:cNvSpPr/>
          <p:nvPr/>
        </p:nvSpPr>
        <p:spPr>
          <a:xfrm>
            <a:off x="10915650" y="3352800"/>
            <a:ext cx="628650" cy="4953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Text 90"/>
          <p:cNvSpPr txBox="1"/>
          <p:nvPr/>
        </p:nvSpPr>
        <p:spPr>
          <a:xfrm>
            <a:off x="10915650" y="3352800"/>
            <a:ext cx="62865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5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250" dirty="0"/>
          </a:p>
        </p:txBody>
      </p:sp>
      <p:sp>
        <p:nvSpPr>
          <p:cNvPr id="91" name="Text 91"/>
          <p:cNvSpPr txBox="1"/>
          <p:nvPr/>
        </p:nvSpPr>
        <p:spPr>
          <a:xfrm>
            <a:off x="8229600" y="4019550"/>
            <a:ext cx="33147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종료 시 0인 칸 존재 → FAIL</a:t>
            </a:r>
            <a:endParaRPr lang="en-US" sz="1200" dirty="0"/>
          </a:p>
          <a:p>
            <a:pPr marL="0" indent="0">
              <a:buNone/>
            </a:pPr>
            <a:r>
              <a:rPr lang="ko-KR" altLang="en-US" sz="12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arc(RUN, 10) 1회 = 3칸 기록</a:t>
            </a:r>
            <a:endParaRPr lang="en-US" sz="1200" dirty="0"/>
          </a:p>
        </p:txBody>
      </p:sp>
      <p:sp>
        <p:nvSpPr>
          <p:cNvPr id="92" name="Shape 92"/>
          <p:cNvSpPr/>
          <p:nvPr/>
        </p:nvSpPr>
        <p:spPr>
          <a:xfrm>
            <a:off x="45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3" name="Text 93"/>
          <p:cNvSpPr txBox="1"/>
          <p:nvPr/>
        </p:nvSpPr>
        <p:spPr>
          <a:xfrm>
            <a:off x="62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 · 판정 시점</a:t>
            </a:r>
            <a:endParaRPr lang="en-US" sz="1300" dirty="0"/>
          </a:p>
        </p:txBody>
      </p:sp>
      <p:sp>
        <p:nvSpPr>
          <p:cNvPr id="94" name="Text 94"/>
          <p:cNvSpPr txBox="1"/>
          <p:nvPr/>
        </p:nvSpPr>
        <p:spPr>
          <a:xfrm>
            <a:off x="62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posedge 기록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시뮬레이션 종료 시 12칸 집계</a:t>
            </a:r>
            <a:endParaRPr lang="en-US" sz="1200" dirty="0"/>
          </a:p>
        </p:txBody>
      </p:sp>
      <p:sp>
        <p:nvSpPr>
          <p:cNvPr id="95" name="Shape 95"/>
          <p:cNvSpPr/>
          <p:nvPr/>
        </p:nvSpPr>
        <p:spPr>
          <a:xfrm>
            <a:off x="426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Text 96"/>
          <p:cNvSpPr txBox="1"/>
          <p:nvPr/>
        </p:nvSpPr>
        <p:spPr>
          <a:xfrm>
            <a:off x="443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 조건</a:t>
            </a:r>
            <a:endParaRPr lang="en-US" sz="1300" dirty="0"/>
          </a:p>
        </p:txBody>
      </p:sp>
      <p:sp>
        <p:nvSpPr>
          <p:cNvPr id="97" name="Text 97"/>
          <p:cNvSpPr txBox="1"/>
          <p:nvPr/>
        </p:nvSpPr>
        <p:spPr>
          <a:xfrm>
            <a:off x="443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12칸 모두 1회 이상 실행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hit == 12</a:t>
            </a:r>
            <a:endParaRPr lang="en-US" sz="1200" dirty="0"/>
          </a:p>
        </p:txBody>
      </p:sp>
      <p:sp>
        <p:nvSpPr>
          <p:cNvPr id="98" name="Shape 98"/>
          <p:cNvSpPr/>
          <p:nvPr/>
        </p:nvSpPr>
        <p:spPr>
          <a:xfrm>
            <a:off x="8077200" y="5143500"/>
            <a:ext cx="3657600" cy="11049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9"/>
          <p:cNvSpPr txBox="1"/>
          <p:nvPr/>
        </p:nvSpPr>
        <p:spPr>
          <a:xfrm>
            <a:off x="8248650" y="5257800"/>
            <a:ext cx="33147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 대상</a:t>
            </a:r>
            <a:endParaRPr lang="en-US" sz="1300" dirty="0"/>
          </a:p>
        </p:txBody>
      </p:sp>
      <p:sp>
        <p:nvSpPr>
          <p:cNvPr id="100" name="Text 100"/>
          <p:cNvSpPr txBox="1"/>
          <p:nvPr/>
        </p:nvSpPr>
        <p:spPr>
          <a:xfrm>
            <a:off x="8248650" y="5543550"/>
            <a:ext cx="33147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DUT가 아닌 TB stimulus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미실행 arc = 검증 누락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· 새 TB 제안 · 코드 연결 · Golden Model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 Model Rewrites the Spec Table, Not the RTL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 / 56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352550"/>
            <a:ext cx="6286500" cy="4838700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9"/>
          <p:cNvSpPr/>
          <p:nvPr/>
        </p:nvSpPr>
        <p:spPr>
          <a:xfrm>
            <a:off x="457200" y="1581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10"/>
          <p:cNvSpPr/>
          <p:nvPr/>
        </p:nvSpPr>
        <p:spPr>
          <a:xfrm>
            <a:off x="457200" y="158115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11"/>
          <p:cNvSpPr txBox="1"/>
          <p:nvPr/>
        </p:nvSpPr>
        <p:spPr>
          <a:xfrm>
            <a:off x="609600" y="1581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localparam G_STOP = 0, G_RUN = 1, G_CLEAR = 2;</a:t>
            </a:r>
            <a:endParaRPr lang="en-US" sz="1100" dirty="0"/>
          </a:p>
        </p:txBody>
      </p:sp>
      <p:sp>
        <p:nvSpPr>
          <p:cNvPr id="12" name="Text 12"/>
          <p:cNvSpPr txBox="1"/>
          <p:nvPr/>
        </p:nvSpPr>
        <p:spPr>
          <a:xfrm>
            <a:off x="6457950" y="1581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13" name="Text 13"/>
          <p:cNvSpPr txBox="1"/>
          <p:nvPr/>
        </p:nvSpPr>
        <p:spPr>
          <a:xfrm>
            <a:off x="609600" y="1962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integer g_next(input integer st, input [1:0] sw);</a:t>
            </a:r>
            <a:endParaRPr lang="en-US" sz="1100" dirty="0"/>
          </a:p>
        </p:txBody>
      </p:sp>
      <p:sp>
        <p:nvSpPr>
          <p:cNvPr id="14" name="Text 14"/>
          <p:cNvSpPr txBox="1"/>
          <p:nvPr/>
        </p:nvSpPr>
        <p:spPr>
          <a:xfrm>
            <a:off x="609600" y="2152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begin</a:t>
            </a:r>
            <a:endParaRPr lang="en-US" sz="1100" dirty="0"/>
          </a:p>
        </p:txBody>
      </p:sp>
      <p:sp>
        <p:nvSpPr>
          <p:cNvPr id="15" name="Text 15"/>
          <p:cNvSpPr txBox="1"/>
          <p:nvPr/>
        </p:nvSpPr>
        <p:spPr>
          <a:xfrm>
            <a:off x="609600" y="2343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(st)</a:t>
            </a:r>
            <a:endParaRPr lang="en-US" sz="1100" dirty="0"/>
          </a:p>
        </p:txBody>
      </p:sp>
      <p:sp>
        <p:nvSpPr>
          <p:cNvPr id="16" name="Shape 16"/>
          <p:cNvSpPr/>
          <p:nvPr/>
        </p:nvSpPr>
        <p:spPr>
          <a:xfrm>
            <a:off x="457200" y="25336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7"/>
          <p:cNvSpPr/>
          <p:nvPr/>
        </p:nvSpPr>
        <p:spPr>
          <a:xfrm>
            <a:off x="457200" y="253365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8"/>
          <p:cNvSpPr txBox="1"/>
          <p:nvPr/>
        </p:nvSpPr>
        <p:spPr>
          <a:xfrm>
            <a:off x="609600" y="2533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G_STOP : g_next = (sw[0]) ? G_RUN : (sw[1]) ? G_CLEAR : G_STOP;</a:t>
            </a:r>
            <a:endParaRPr lang="en-US" sz="1100" dirty="0"/>
          </a:p>
        </p:txBody>
      </p:sp>
      <p:sp>
        <p:nvSpPr>
          <p:cNvPr id="19" name="Text 19"/>
          <p:cNvSpPr txBox="1"/>
          <p:nvPr/>
        </p:nvSpPr>
        <p:spPr>
          <a:xfrm>
            <a:off x="6457950" y="25336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200" dirty="0"/>
          </a:p>
        </p:txBody>
      </p:sp>
      <p:sp>
        <p:nvSpPr>
          <p:cNvPr id="20" name="Shape 20"/>
          <p:cNvSpPr/>
          <p:nvPr/>
        </p:nvSpPr>
        <p:spPr>
          <a:xfrm>
            <a:off x="457200" y="2724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21"/>
          <p:cNvSpPr/>
          <p:nvPr/>
        </p:nvSpPr>
        <p:spPr>
          <a:xfrm>
            <a:off x="457200" y="2724150"/>
            <a:ext cx="47625" cy="190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609600" y="2724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G_RUN  : g_next = (sw[0]) ? G_RUN   : G_STOP;</a:t>
            </a:r>
            <a:endParaRPr lang="en-US" sz="1100" dirty="0"/>
          </a:p>
        </p:txBody>
      </p:sp>
      <p:sp>
        <p:nvSpPr>
          <p:cNvPr id="23" name="Text 23"/>
          <p:cNvSpPr txBox="1"/>
          <p:nvPr/>
        </p:nvSpPr>
        <p:spPr>
          <a:xfrm>
            <a:off x="6457950" y="2724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24" name="Shape 24"/>
          <p:cNvSpPr/>
          <p:nvPr/>
        </p:nvSpPr>
        <p:spPr>
          <a:xfrm>
            <a:off x="457200" y="29146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5"/>
          <p:cNvSpPr/>
          <p:nvPr/>
        </p:nvSpPr>
        <p:spPr>
          <a:xfrm>
            <a:off x="457200" y="2914650"/>
            <a:ext cx="47625" cy="190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6"/>
          <p:cNvSpPr txBox="1"/>
          <p:nvPr/>
        </p:nvSpPr>
        <p:spPr>
          <a:xfrm>
            <a:off x="609600" y="2914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G_CLEAR: g_next = (sw[1]) ? G_CLEAR : G_STOP;</a:t>
            </a:r>
            <a:endParaRPr lang="en-US" sz="1100" dirty="0"/>
          </a:p>
        </p:txBody>
      </p:sp>
      <p:sp>
        <p:nvSpPr>
          <p:cNvPr id="27" name="Text 27"/>
          <p:cNvSpPr txBox="1"/>
          <p:nvPr/>
        </p:nvSpPr>
        <p:spPr>
          <a:xfrm>
            <a:off x="6457950" y="29146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28" name="Text 28"/>
          <p:cNvSpPr txBox="1"/>
          <p:nvPr/>
        </p:nvSpPr>
        <p:spPr>
          <a:xfrm>
            <a:off x="609600" y="3105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default: g_next = G_STOP;</a:t>
            </a:r>
            <a:endParaRPr lang="en-US" sz="1100" dirty="0"/>
          </a:p>
        </p:txBody>
      </p:sp>
      <p:sp>
        <p:nvSpPr>
          <p:cNvPr id="29" name="Text 29"/>
          <p:cNvSpPr txBox="1"/>
          <p:nvPr/>
        </p:nvSpPr>
        <p:spPr>
          <a:xfrm>
            <a:off x="609600" y="3295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endcase</a:t>
            </a:r>
            <a:endParaRPr lang="en-US" sz="1100" dirty="0"/>
          </a:p>
        </p:txBody>
      </p:sp>
      <p:sp>
        <p:nvSpPr>
          <p:cNvPr id="30" name="Text 30"/>
          <p:cNvSpPr txBox="1"/>
          <p:nvPr/>
        </p:nvSpPr>
        <p:spPr>
          <a:xfrm>
            <a:off x="609600" y="3486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100" dirty="0"/>
          </a:p>
        </p:txBody>
      </p:sp>
      <p:sp>
        <p:nvSpPr>
          <p:cNvPr id="31" name="Text 31"/>
          <p:cNvSpPr txBox="1"/>
          <p:nvPr/>
        </p:nvSpPr>
        <p:spPr>
          <a:xfrm>
            <a:off x="609600" y="3676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endfunction</a:t>
            </a:r>
            <a:endParaRPr lang="en-US" sz="1100" dirty="0"/>
          </a:p>
        </p:txBody>
      </p:sp>
      <p:sp>
        <p:nvSpPr>
          <p:cNvPr id="32" name="Text 32"/>
          <p:cNvSpPr txBox="1"/>
          <p:nvPr/>
        </p:nvSpPr>
        <p:spPr>
          <a:xfrm>
            <a:off x="609600" y="4057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[2:0] g_code(input integer st);</a:t>
            </a:r>
            <a:endParaRPr lang="en-US" sz="1100" dirty="0"/>
          </a:p>
        </p:txBody>
      </p:sp>
      <p:sp>
        <p:nvSpPr>
          <p:cNvPr id="33" name="Text 33"/>
          <p:cNvSpPr txBox="1"/>
          <p:nvPr/>
        </p:nvSpPr>
        <p:spPr>
          <a:xfrm>
            <a:off x="609600" y="4248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begin</a:t>
            </a:r>
            <a:endParaRPr lang="en-US" sz="1100" dirty="0"/>
          </a:p>
        </p:txBody>
      </p:sp>
      <p:sp>
        <p:nvSpPr>
          <p:cNvPr id="34" name="Text 34"/>
          <p:cNvSpPr txBox="1"/>
          <p:nvPr/>
        </p:nvSpPr>
        <p:spPr>
          <a:xfrm>
            <a:off x="609600" y="4438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(st)</a:t>
            </a:r>
            <a:endParaRPr lang="en-US" sz="1100" dirty="0"/>
          </a:p>
        </p:txBody>
      </p:sp>
      <p:sp>
        <p:nvSpPr>
          <p:cNvPr id="35" name="Shape 35"/>
          <p:cNvSpPr/>
          <p:nvPr/>
        </p:nvSpPr>
        <p:spPr>
          <a:xfrm>
            <a:off x="457200" y="4629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6"/>
          <p:cNvSpPr/>
          <p:nvPr/>
        </p:nvSpPr>
        <p:spPr>
          <a:xfrm>
            <a:off x="457200" y="462915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7"/>
          <p:cNvSpPr txBox="1"/>
          <p:nvPr/>
        </p:nvSpPr>
        <p:spPr>
          <a:xfrm>
            <a:off x="609600" y="4629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G_STOP : g_code = 3'b001;</a:t>
            </a:r>
            <a:endParaRPr lang="en-US" sz="1100" dirty="0"/>
          </a:p>
        </p:txBody>
      </p:sp>
      <p:sp>
        <p:nvSpPr>
          <p:cNvPr id="38" name="Text 38"/>
          <p:cNvSpPr txBox="1"/>
          <p:nvPr/>
        </p:nvSpPr>
        <p:spPr>
          <a:xfrm>
            <a:off x="6457950" y="4629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39" name="Shape 39"/>
          <p:cNvSpPr/>
          <p:nvPr/>
        </p:nvSpPr>
        <p:spPr>
          <a:xfrm>
            <a:off x="457200" y="48196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40"/>
          <p:cNvSpPr/>
          <p:nvPr/>
        </p:nvSpPr>
        <p:spPr>
          <a:xfrm>
            <a:off x="457200" y="481965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609600" y="4819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G_RUN  : g_code = 3'b010;</a:t>
            </a:r>
            <a:endParaRPr lang="en-US" sz="1100" dirty="0"/>
          </a:p>
        </p:txBody>
      </p:sp>
      <p:sp>
        <p:nvSpPr>
          <p:cNvPr id="42" name="Text 42"/>
          <p:cNvSpPr txBox="1"/>
          <p:nvPr/>
        </p:nvSpPr>
        <p:spPr>
          <a:xfrm>
            <a:off x="6457950" y="48196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43" name="Shape 43"/>
          <p:cNvSpPr/>
          <p:nvPr/>
        </p:nvSpPr>
        <p:spPr>
          <a:xfrm>
            <a:off x="457200" y="5010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4"/>
          <p:cNvSpPr/>
          <p:nvPr/>
        </p:nvSpPr>
        <p:spPr>
          <a:xfrm>
            <a:off x="457200" y="501015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5"/>
          <p:cNvSpPr txBox="1"/>
          <p:nvPr/>
        </p:nvSpPr>
        <p:spPr>
          <a:xfrm>
            <a:off x="609600" y="5010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G_CLEAR: g_code = 3'b100;</a:t>
            </a:r>
            <a:endParaRPr lang="en-US" sz="1100" dirty="0"/>
          </a:p>
        </p:txBody>
      </p:sp>
      <p:sp>
        <p:nvSpPr>
          <p:cNvPr id="46" name="Text 46"/>
          <p:cNvSpPr txBox="1"/>
          <p:nvPr/>
        </p:nvSpPr>
        <p:spPr>
          <a:xfrm>
            <a:off x="6457950" y="5010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47" name="Text 47"/>
          <p:cNvSpPr txBox="1"/>
          <p:nvPr/>
        </p:nvSpPr>
        <p:spPr>
          <a:xfrm>
            <a:off x="609600" y="5200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default: g_code = 3'bxxx;</a:t>
            </a:r>
            <a:endParaRPr lang="en-US" sz="1100" dirty="0"/>
          </a:p>
        </p:txBody>
      </p:sp>
      <p:sp>
        <p:nvSpPr>
          <p:cNvPr id="48" name="Text 48"/>
          <p:cNvSpPr txBox="1"/>
          <p:nvPr/>
        </p:nvSpPr>
        <p:spPr>
          <a:xfrm>
            <a:off x="609600" y="5391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endcase</a:t>
            </a:r>
            <a:endParaRPr lang="en-US" sz="1100" dirty="0"/>
          </a:p>
        </p:txBody>
      </p:sp>
      <p:sp>
        <p:nvSpPr>
          <p:cNvPr id="49" name="Text 49"/>
          <p:cNvSpPr txBox="1"/>
          <p:nvPr/>
        </p:nvSpPr>
        <p:spPr>
          <a:xfrm>
            <a:off x="609600" y="5581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100" dirty="0"/>
          </a:p>
        </p:txBody>
      </p:sp>
      <p:sp>
        <p:nvSpPr>
          <p:cNvPr id="50" name="Text 50"/>
          <p:cNvSpPr txBox="1"/>
          <p:nvPr/>
        </p:nvSpPr>
        <p:spPr>
          <a:xfrm>
            <a:off x="609600" y="5772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endfunction</a:t>
            </a:r>
            <a:endParaRPr lang="en-US" sz="1100" dirty="0"/>
          </a:p>
        </p:txBody>
      </p:sp>
      <p:sp>
        <p:nvSpPr>
          <p:cNvPr id="51" name="Shape 51"/>
          <p:cNvSpPr/>
          <p:nvPr/>
        </p:nvSpPr>
        <p:spPr>
          <a:xfrm>
            <a:off x="6934200" y="1295400"/>
            <a:ext cx="4800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52"/>
          <p:cNvSpPr/>
          <p:nvPr/>
        </p:nvSpPr>
        <p:spPr>
          <a:xfrm>
            <a:off x="7124700" y="1524000"/>
            <a:ext cx="247650" cy="247650"/>
          </a:xfrm>
          <a:prstGeom prst="ellipse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3"/>
          <p:cNvSpPr txBox="1"/>
          <p:nvPr/>
        </p:nvSpPr>
        <p:spPr>
          <a:xfrm>
            <a:off x="7124700" y="1524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54" name="Text 54"/>
          <p:cNvSpPr txBox="1"/>
          <p:nvPr/>
        </p:nvSpPr>
        <p:spPr>
          <a:xfrm>
            <a:off x="7486650" y="1533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TB 전용 state 번호</a:t>
            </a:r>
            <a:endParaRPr lang="en-US" sz="1350" dirty="0"/>
          </a:p>
        </p:txBody>
      </p:sp>
      <p:sp>
        <p:nvSpPr>
          <p:cNvPr id="55" name="Text 55"/>
          <p:cNvSpPr txBox="1"/>
          <p:nvPr/>
        </p:nvSpPr>
        <p:spPr>
          <a:xfrm>
            <a:off x="7486650" y="1809750"/>
            <a:ext cx="40576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 · RUN · CLEAR = 0 · 1 · 2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 enum (CLEAR = 0, STOP = 1, RUN = 2)과 별개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 인코딩 실수 비복사</a:t>
            </a:r>
            <a:endParaRPr lang="en-US" sz="1200" dirty="0"/>
          </a:p>
        </p:txBody>
      </p:sp>
      <p:sp>
        <p:nvSpPr>
          <p:cNvPr id="56" name="Shape 56"/>
          <p:cNvSpPr/>
          <p:nvPr/>
        </p:nvSpPr>
        <p:spPr>
          <a:xfrm>
            <a:off x="7124700" y="2524125"/>
            <a:ext cx="247650" cy="24765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7124700" y="2524125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58" name="Text 58"/>
          <p:cNvSpPr txBox="1"/>
          <p:nvPr/>
        </p:nvSpPr>
        <p:spPr>
          <a:xfrm>
            <a:off x="7486650" y="2533650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STOP: SW0 먼저 검사</a:t>
            </a:r>
            <a:endParaRPr lang="en-US" sz="1350" dirty="0"/>
          </a:p>
        </p:txBody>
      </p:sp>
      <p:sp>
        <p:nvSpPr>
          <p:cNvPr id="59" name="Text 59"/>
          <p:cNvSpPr txBox="1"/>
          <p:nvPr/>
        </p:nvSpPr>
        <p:spPr>
          <a:xfrm>
            <a:off x="7486650" y="2809875"/>
            <a:ext cx="40576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삼항 연산 순서 = 우선순위 SW0 &gt; SW1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 = 11 → RUN 기대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F1 (STOP + 11 → CLEAR) 검출 근거</a:t>
            </a:r>
            <a:endParaRPr lang="en-US" sz="1200" dirty="0"/>
          </a:p>
        </p:txBody>
      </p:sp>
      <p:sp>
        <p:nvSpPr>
          <p:cNvPr id="60" name="Shape 60"/>
          <p:cNvSpPr/>
          <p:nvPr/>
        </p:nvSpPr>
        <p:spPr>
          <a:xfrm>
            <a:off x="7124700" y="3524250"/>
            <a:ext cx="247650" cy="24765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61"/>
          <p:cNvSpPr txBox="1"/>
          <p:nvPr/>
        </p:nvSpPr>
        <p:spPr>
          <a:xfrm>
            <a:off x="7124700" y="352425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62" name="Text 62"/>
          <p:cNvSpPr txBox="1"/>
          <p:nvPr/>
        </p:nvSpPr>
        <p:spPr>
          <a:xfrm>
            <a:off x="7486650" y="353377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· CLEAR: 탈출 비트 하나만 확인</a:t>
            </a:r>
            <a:endParaRPr lang="en-US" sz="1350" dirty="0"/>
          </a:p>
        </p:txBody>
      </p:sp>
      <p:sp>
        <p:nvSpPr>
          <p:cNvPr id="63" name="Text 63"/>
          <p:cNvSpPr txBox="1"/>
          <p:nvPr/>
        </p:nvSpPr>
        <p:spPr>
          <a:xfrm>
            <a:off x="7486650" y="381000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RUN = SW0, CLEAR = SW1 기준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F2 (비트 인덱스 오타) · F5 (STOP 생략) 검출 근거</a:t>
            </a:r>
            <a:endParaRPr lang="en-US" sz="1200" dirty="0"/>
          </a:p>
        </p:txBody>
      </p:sp>
      <p:sp>
        <p:nvSpPr>
          <p:cNvPr id="64" name="Shape 64"/>
          <p:cNvSpPr/>
          <p:nvPr/>
        </p:nvSpPr>
        <p:spPr>
          <a:xfrm>
            <a:off x="7124700" y="4343400"/>
            <a:ext cx="247650" cy="24765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5"/>
          <p:cNvSpPr txBox="1"/>
          <p:nvPr/>
        </p:nvSpPr>
        <p:spPr>
          <a:xfrm>
            <a:off x="7124700" y="43434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66" name="Text 66"/>
          <p:cNvSpPr txBox="1"/>
          <p:nvPr/>
        </p:nvSpPr>
        <p:spPr>
          <a:xfrm>
            <a:off x="7486650" y="43529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g_code = 기대 o_sw</a:t>
            </a:r>
            <a:endParaRPr lang="en-US" sz="1350" dirty="0"/>
          </a:p>
        </p:txBody>
      </p:sp>
      <p:sp>
        <p:nvSpPr>
          <p:cNvPr id="67" name="Text 67"/>
          <p:cNvSpPr txBox="1"/>
          <p:nvPr/>
        </p:nvSpPr>
        <p:spPr>
          <a:xfrm>
            <a:off x="7486650" y="46291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state별 one-hot 코드 직접 기재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F3 (CLEAR 출력 코드 오류) 검출 근거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· 새 TB 제안 · 코드 연결 · Golden 갱신 · C1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 Steps with the DUT, C1 Compares Half a Cycle Later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 / 56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828800"/>
            <a:ext cx="6286500" cy="3886200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9"/>
          <p:cNvSpPr/>
          <p:nvPr/>
        </p:nvSpPr>
        <p:spPr>
          <a:xfrm>
            <a:off x="457200" y="2057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10"/>
          <p:cNvSpPr/>
          <p:nvPr/>
        </p:nvSpPr>
        <p:spPr>
          <a:xfrm>
            <a:off x="457200" y="205740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11"/>
          <p:cNvSpPr txBox="1"/>
          <p:nvPr/>
        </p:nvSpPr>
        <p:spPr>
          <a:xfrm>
            <a:off x="609600" y="2057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always @(posedge i_clk or posedge i_reset) begin</a:t>
            </a:r>
            <a:endParaRPr lang="en-US" sz="1100" dirty="0"/>
          </a:p>
        </p:txBody>
      </p:sp>
      <p:sp>
        <p:nvSpPr>
          <p:cNvPr id="12" name="Text 12"/>
          <p:cNvSpPr txBox="1"/>
          <p:nvPr/>
        </p:nvSpPr>
        <p:spPr>
          <a:xfrm>
            <a:off x="6457950" y="2057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13" name="Shape 13"/>
          <p:cNvSpPr/>
          <p:nvPr/>
        </p:nvSpPr>
        <p:spPr>
          <a:xfrm>
            <a:off x="457200" y="2247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4"/>
          <p:cNvSpPr/>
          <p:nvPr/>
        </p:nvSpPr>
        <p:spPr>
          <a:xfrm>
            <a:off x="457200" y="224790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5"/>
          <p:cNvSpPr txBox="1"/>
          <p:nvPr/>
        </p:nvSpPr>
        <p:spPr>
          <a:xfrm>
            <a:off x="609600" y="2247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(i_reset) g_state &lt;= G_STOP;</a:t>
            </a:r>
            <a:endParaRPr lang="en-US" sz="1100" dirty="0"/>
          </a:p>
        </p:txBody>
      </p:sp>
      <p:sp>
        <p:nvSpPr>
          <p:cNvPr id="16" name="Text 16"/>
          <p:cNvSpPr txBox="1"/>
          <p:nvPr/>
        </p:nvSpPr>
        <p:spPr>
          <a:xfrm>
            <a:off x="6457950" y="2247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17" name="Text 17"/>
          <p:cNvSpPr txBox="1"/>
          <p:nvPr/>
        </p:nvSpPr>
        <p:spPr>
          <a:xfrm>
            <a:off x="609600" y="2438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else begin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457200" y="2628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9"/>
          <p:cNvSpPr/>
          <p:nvPr/>
        </p:nvSpPr>
        <p:spPr>
          <a:xfrm>
            <a:off x="457200" y="262890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20"/>
          <p:cNvSpPr txBox="1"/>
          <p:nvPr/>
        </p:nvSpPr>
        <p:spPr>
          <a:xfrm>
            <a:off x="609600" y="2628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cov[g_state][i_sw] = cov[g_state][i_sw] + 1;</a:t>
            </a:r>
            <a:endParaRPr lang="en-US" sz="1100" dirty="0"/>
          </a:p>
        </p:txBody>
      </p:sp>
      <p:sp>
        <p:nvSpPr>
          <p:cNvPr id="21" name="Text 21"/>
          <p:cNvSpPr txBox="1"/>
          <p:nvPr/>
        </p:nvSpPr>
        <p:spPr>
          <a:xfrm>
            <a:off x="6457950" y="2628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200" dirty="0"/>
          </a:p>
        </p:txBody>
      </p:sp>
      <p:sp>
        <p:nvSpPr>
          <p:cNvPr id="22" name="Shape 22"/>
          <p:cNvSpPr/>
          <p:nvPr/>
        </p:nvSpPr>
        <p:spPr>
          <a:xfrm>
            <a:off x="457200" y="2819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3"/>
          <p:cNvSpPr/>
          <p:nvPr/>
        </p:nvSpPr>
        <p:spPr>
          <a:xfrm>
            <a:off x="457200" y="281940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4"/>
          <p:cNvSpPr txBox="1"/>
          <p:nvPr/>
        </p:nvSpPr>
        <p:spPr>
          <a:xfrm>
            <a:off x="609600" y="2819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g_state &lt;= g_next(g_state, i_sw);</a:t>
            </a:r>
            <a:endParaRPr lang="en-US" sz="1100" dirty="0"/>
          </a:p>
        </p:txBody>
      </p:sp>
      <p:sp>
        <p:nvSpPr>
          <p:cNvPr id="25" name="Text 25"/>
          <p:cNvSpPr txBox="1"/>
          <p:nvPr/>
        </p:nvSpPr>
        <p:spPr>
          <a:xfrm>
            <a:off x="6457950" y="2819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26" name="Text 26"/>
          <p:cNvSpPr txBox="1"/>
          <p:nvPr/>
        </p:nvSpPr>
        <p:spPr>
          <a:xfrm>
            <a:off x="609600" y="3009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100" dirty="0"/>
          </a:p>
        </p:txBody>
      </p:sp>
      <p:sp>
        <p:nvSpPr>
          <p:cNvPr id="27" name="Text 27"/>
          <p:cNvSpPr txBox="1"/>
          <p:nvPr/>
        </p:nvSpPr>
        <p:spPr>
          <a:xfrm>
            <a:off x="609600" y="3200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100" dirty="0"/>
          </a:p>
        </p:txBody>
      </p:sp>
      <p:sp>
        <p:nvSpPr>
          <p:cNvPr id="28" name="Shape 28"/>
          <p:cNvSpPr/>
          <p:nvPr/>
        </p:nvSpPr>
        <p:spPr>
          <a:xfrm>
            <a:off x="457200" y="3581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9"/>
          <p:cNvSpPr/>
          <p:nvPr/>
        </p:nvSpPr>
        <p:spPr>
          <a:xfrm>
            <a:off x="457200" y="358140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30"/>
          <p:cNvSpPr txBox="1"/>
          <p:nvPr/>
        </p:nvSpPr>
        <p:spPr>
          <a:xfrm>
            <a:off x="609600" y="3581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always @(negedge i_clk) begin</a:t>
            </a:r>
            <a:endParaRPr lang="en-US" sz="1100" dirty="0"/>
          </a:p>
        </p:txBody>
      </p:sp>
      <p:sp>
        <p:nvSpPr>
          <p:cNvPr id="31" name="Text 31"/>
          <p:cNvSpPr txBox="1"/>
          <p:nvPr/>
        </p:nvSpPr>
        <p:spPr>
          <a:xfrm>
            <a:off x="6457950" y="3581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32" name="Text 32"/>
          <p:cNvSpPr txBox="1"/>
          <p:nvPr/>
        </p:nvSpPr>
        <p:spPr>
          <a:xfrm>
            <a:off x="609600" y="3771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(!i_reset) begin</a:t>
            </a:r>
            <a:endParaRPr lang="en-US" sz="1100" dirty="0"/>
          </a:p>
        </p:txBody>
      </p:sp>
      <p:sp>
        <p:nvSpPr>
          <p:cNvPr id="33" name="Text 33"/>
          <p:cNvSpPr txBox="1"/>
          <p:nvPr/>
        </p:nvSpPr>
        <p:spPr>
          <a:xfrm>
            <a:off x="609600" y="3962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cycles = cycles + 1;</a:t>
            </a:r>
            <a:endParaRPr lang="en-US" sz="1100" dirty="0"/>
          </a:p>
        </p:txBody>
      </p:sp>
      <p:sp>
        <p:nvSpPr>
          <p:cNvPr id="34" name="Shape 34"/>
          <p:cNvSpPr/>
          <p:nvPr/>
        </p:nvSpPr>
        <p:spPr>
          <a:xfrm>
            <a:off x="457200" y="4152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5"/>
          <p:cNvSpPr/>
          <p:nvPr/>
        </p:nvSpPr>
        <p:spPr>
          <a:xfrm>
            <a:off x="457200" y="4152900"/>
            <a:ext cx="47625" cy="190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6"/>
          <p:cNvSpPr txBox="1"/>
          <p:nvPr/>
        </p:nvSpPr>
        <p:spPr>
          <a:xfrm>
            <a:off x="609600" y="4152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(o_sw !== g_code(g_state)) begin</a:t>
            </a:r>
            <a:endParaRPr lang="en-US" sz="1100" dirty="0"/>
          </a:p>
        </p:txBody>
      </p:sp>
      <p:sp>
        <p:nvSpPr>
          <p:cNvPr id="37" name="Text 37"/>
          <p:cNvSpPr txBox="1"/>
          <p:nvPr/>
        </p:nvSpPr>
        <p:spPr>
          <a:xfrm>
            <a:off x="6457950" y="4152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38" name="Text 38"/>
          <p:cNvSpPr txBox="1"/>
          <p:nvPr/>
        </p:nvSpPr>
        <p:spPr>
          <a:xfrm>
            <a:off x="609600" y="4343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err_c1 = err_c1 + 1;</a:t>
            </a:r>
            <a:endParaRPr lang="en-US" sz="1100" dirty="0"/>
          </a:p>
        </p:txBody>
      </p:sp>
      <p:sp>
        <p:nvSpPr>
          <p:cNvPr id="39" name="Shape 39"/>
          <p:cNvSpPr/>
          <p:nvPr/>
        </p:nvSpPr>
        <p:spPr>
          <a:xfrm>
            <a:off x="457200" y="4533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40"/>
          <p:cNvSpPr/>
          <p:nvPr/>
        </p:nvSpPr>
        <p:spPr>
          <a:xfrm>
            <a:off x="457200" y="4533900"/>
            <a:ext cx="47625" cy="1905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609600" y="4533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(err_c1 &lt;= 10)</a:t>
            </a:r>
            <a:endParaRPr lang="en-US" sz="1100" dirty="0"/>
          </a:p>
        </p:txBody>
      </p:sp>
      <p:sp>
        <p:nvSpPr>
          <p:cNvPr id="42" name="Text 42"/>
          <p:cNvSpPr txBox="1"/>
          <p:nvPr/>
        </p:nvSpPr>
        <p:spPr>
          <a:xfrm>
            <a:off x="6457950" y="4533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200" dirty="0"/>
          </a:p>
        </p:txBody>
      </p:sp>
      <p:sp>
        <p:nvSpPr>
          <p:cNvPr id="43" name="Text 43"/>
          <p:cNvSpPr txBox="1"/>
          <p:nvPr/>
        </p:nvSpPr>
        <p:spPr>
          <a:xfrm>
            <a:off x="609600" y="4724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$display("[C1 FAIL] ...");</a:t>
            </a:r>
            <a:endParaRPr lang="en-US" sz="1100" dirty="0"/>
          </a:p>
        </p:txBody>
      </p:sp>
      <p:sp>
        <p:nvSpPr>
          <p:cNvPr id="44" name="Text 44"/>
          <p:cNvSpPr txBox="1"/>
          <p:nvPr/>
        </p:nvSpPr>
        <p:spPr>
          <a:xfrm>
            <a:off x="609600" y="4914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</a:t>
            </a:r>
            <a:endParaRPr lang="en-US" sz="1100" dirty="0"/>
          </a:p>
        </p:txBody>
      </p:sp>
      <p:sp>
        <p:nvSpPr>
          <p:cNvPr id="45" name="Text 45"/>
          <p:cNvSpPr txBox="1"/>
          <p:nvPr/>
        </p:nvSpPr>
        <p:spPr>
          <a:xfrm>
            <a:off x="609600" y="5105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100" dirty="0"/>
          </a:p>
        </p:txBody>
      </p:sp>
      <p:sp>
        <p:nvSpPr>
          <p:cNvPr id="46" name="Text 46"/>
          <p:cNvSpPr txBox="1"/>
          <p:nvPr/>
        </p:nvSpPr>
        <p:spPr>
          <a:xfrm>
            <a:off x="609600" y="5295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100" dirty="0"/>
          </a:p>
        </p:txBody>
      </p:sp>
      <p:sp>
        <p:nvSpPr>
          <p:cNvPr id="47" name="Shape 47"/>
          <p:cNvSpPr/>
          <p:nvPr/>
        </p:nvSpPr>
        <p:spPr>
          <a:xfrm>
            <a:off x="6934200" y="1295400"/>
            <a:ext cx="4800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8"/>
          <p:cNvSpPr/>
          <p:nvPr/>
        </p:nvSpPr>
        <p:spPr>
          <a:xfrm>
            <a:off x="7124700" y="1524000"/>
            <a:ext cx="247650" cy="247650"/>
          </a:xfrm>
          <a:prstGeom prst="ellipse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9"/>
          <p:cNvSpPr txBox="1"/>
          <p:nvPr/>
        </p:nvSpPr>
        <p:spPr>
          <a:xfrm>
            <a:off x="7124700" y="1524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50" name="Text 50"/>
          <p:cNvSpPr txBox="1"/>
          <p:nvPr/>
        </p:nvSpPr>
        <p:spPr>
          <a:xfrm>
            <a:off x="7486650" y="1533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DUT와 같은 clock · async reset</a:t>
            </a:r>
            <a:endParaRPr lang="en-US" sz="1350" dirty="0"/>
          </a:p>
        </p:txBody>
      </p:sp>
      <p:sp>
        <p:nvSpPr>
          <p:cNvPr id="51" name="Text 51"/>
          <p:cNvSpPr txBox="1"/>
          <p:nvPr/>
        </p:nvSpPr>
        <p:spPr>
          <a:xfrm>
            <a:off x="7486650" y="18097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기대 state를 DUT와 같은 엣지에서 갱신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reset 중 기대값 = STOP 고정</a:t>
            </a:r>
            <a:endParaRPr lang="en-US" sz="1200" dirty="0"/>
          </a:p>
        </p:txBody>
      </p:sp>
      <p:sp>
        <p:nvSpPr>
          <p:cNvPr id="52" name="Shape 52"/>
          <p:cNvSpPr/>
          <p:nvPr/>
        </p:nvSpPr>
        <p:spPr>
          <a:xfrm>
            <a:off x="7124700" y="2286000"/>
            <a:ext cx="247650" cy="24765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3"/>
          <p:cNvSpPr txBox="1"/>
          <p:nvPr/>
        </p:nvSpPr>
        <p:spPr>
          <a:xfrm>
            <a:off x="7124700" y="2286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54" name="Text 54"/>
          <p:cNvSpPr txBox="1"/>
          <p:nvPr/>
        </p:nvSpPr>
        <p:spPr>
          <a:xfrm>
            <a:off x="7486650" y="2295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실행 횟수 기록</a:t>
            </a:r>
            <a:endParaRPr lang="en-US" sz="1350" dirty="0"/>
          </a:p>
        </p:txBody>
      </p:sp>
      <p:sp>
        <p:nvSpPr>
          <p:cNvPr id="55" name="Text 55"/>
          <p:cNvSpPr txBox="1"/>
          <p:nvPr/>
        </p:nvSpPr>
        <p:spPr>
          <a:xfrm>
            <a:off x="7486650" y="25717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state × i_sw 칸 +1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C4 arc 커버리지 표의 원천 data</a:t>
            </a:r>
            <a:endParaRPr lang="en-US" sz="1200" dirty="0"/>
          </a:p>
        </p:txBody>
      </p:sp>
      <p:sp>
        <p:nvSpPr>
          <p:cNvPr id="56" name="Shape 56"/>
          <p:cNvSpPr/>
          <p:nvPr/>
        </p:nvSpPr>
        <p:spPr>
          <a:xfrm>
            <a:off x="7124700" y="3048000"/>
            <a:ext cx="247650" cy="24765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7124700" y="3048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58" name="Text 58"/>
          <p:cNvSpPr txBox="1"/>
          <p:nvPr/>
        </p:nvSpPr>
        <p:spPr>
          <a:xfrm>
            <a:off x="7486650" y="3057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비교</a:t>
            </a:r>
            <a:endParaRPr lang="en-US" sz="1350" dirty="0"/>
          </a:p>
        </p:txBody>
      </p:sp>
      <p:sp>
        <p:nvSpPr>
          <p:cNvPr id="59" name="Text 59"/>
          <p:cNvSpPr txBox="1"/>
          <p:nvPr/>
        </p:nvSpPr>
        <p:spPr>
          <a:xfrm>
            <a:off x="7486650" y="33337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갱신 후 반 cycle, o_sw 안정 구간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i_sw 변경 (negedge + 1 ns) 이전 판정</a:t>
            </a:r>
            <a:endParaRPr lang="en-US" sz="1200" dirty="0"/>
          </a:p>
        </p:txBody>
      </p:sp>
      <p:sp>
        <p:nvSpPr>
          <p:cNvPr id="60" name="Shape 60"/>
          <p:cNvSpPr/>
          <p:nvPr/>
        </p:nvSpPr>
        <p:spPr>
          <a:xfrm>
            <a:off x="7124700" y="3810000"/>
            <a:ext cx="247650" cy="24765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61"/>
          <p:cNvSpPr txBox="1"/>
          <p:nvPr/>
        </p:nvSpPr>
        <p:spPr>
          <a:xfrm>
            <a:off x="7124700" y="3810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62" name="Text 62"/>
          <p:cNvSpPr txBox="1"/>
          <p:nvPr/>
        </p:nvSpPr>
        <p:spPr>
          <a:xfrm>
            <a:off x="7486650" y="3819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!== (4-state 비교)</a:t>
            </a:r>
            <a:endParaRPr lang="en-US" sz="1350" dirty="0"/>
          </a:p>
        </p:txBody>
      </p:sp>
      <p:sp>
        <p:nvSpPr>
          <p:cNvPr id="63" name="Text 63"/>
          <p:cNvSpPr txBox="1"/>
          <p:nvPr/>
        </p:nvSpPr>
        <p:spPr>
          <a:xfrm>
            <a:off x="7486650" y="40957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· Z까지 불일치 처리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!= 사용 시 X 비교 결과 = X → FAIL 누락</a:t>
            </a:r>
            <a:endParaRPr lang="en-US" sz="1200" dirty="0"/>
          </a:p>
        </p:txBody>
      </p:sp>
      <p:sp>
        <p:nvSpPr>
          <p:cNvPr id="64" name="Shape 64"/>
          <p:cNvSpPr/>
          <p:nvPr/>
        </p:nvSpPr>
        <p:spPr>
          <a:xfrm>
            <a:off x="7124700" y="4572000"/>
            <a:ext cx="247650" cy="24765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5"/>
          <p:cNvSpPr txBox="1"/>
          <p:nvPr/>
        </p:nvSpPr>
        <p:spPr>
          <a:xfrm>
            <a:off x="7124700" y="4572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66" name="Text 66"/>
          <p:cNvSpPr txBox="1"/>
          <p:nvPr/>
        </p:nvSpPr>
        <p:spPr>
          <a:xfrm>
            <a:off x="7486650" y="4581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 10건 제한</a:t>
            </a:r>
            <a:endParaRPr lang="en-US" sz="1350" dirty="0"/>
          </a:p>
        </p:txBody>
      </p:sp>
      <p:sp>
        <p:nvSpPr>
          <p:cNvPr id="67" name="Text 67"/>
          <p:cNvSpPr txBox="1"/>
          <p:nvPr/>
        </p:nvSpPr>
        <p:spPr>
          <a:xfrm>
            <a:off x="7486650" y="4857750"/>
            <a:ext cx="4057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출력만 제한, error 카운트는 계속 증가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· 새 TB 제안 · 코드 연결 · drive · C2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 Task Applies the Switch and Runs the Moore Check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 / 56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2019300"/>
            <a:ext cx="6286500" cy="3505200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09600" y="2247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 [2:0] o_before;</a:t>
            </a:r>
            <a:endParaRPr lang="en-US" sz="1100" dirty="0"/>
          </a:p>
        </p:txBody>
      </p:sp>
      <p:sp>
        <p:nvSpPr>
          <p:cNvPr id="10" name="Text 10"/>
          <p:cNvSpPr txBox="1"/>
          <p:nvPr/>
        </p:nvSpPr>
        <p:spPr>
          <a:xfrm>
            <a:off x="609600" y="2628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drive(input [1:0] sw);</a:t>
            </a:r>
            <a:endParaRPr lang="en-US" sz="1100" dirty="0"/>
          </a:p>
        </p:txBody>
      </p:sp>
      <p:sp>
        <p:nvSpPr>
          <p:cNvPr id="11" name="Text 11"/>
          <p:cNvSpPr txBox="1"/>
          <p:nvPr/>
        </p:nvSpPr>
        <p:spPr>
          <a:xfrm>
            <a:off x="609600" y="2819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begin</a:t>
            </a:r>
            <a:endParaRPr lang="en-US" sz="1100" dirty="0"/>
          </a:p>
        </p:txBody>
      </p:sp>
      <p:sp>
        <p:nvSpPr>
          <p:cNvPr id="12" name="Shape 12"/>
          <p:cNvSpPr/>
          <p:nvPr/>
        </p:nvSpPr>
        <p:spPr>
          <a:xfrm>
            <a:off x="457200" y="3009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3"/>
          <p:cNvSpPr/>
          <p:nvPr/>
        </p:nvSpPr>
        <p:spPr>
          <a:xfrm>
            <a:off x="457200" y="300990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4"/>
          <p:cNvSpPr txBox="1"/>
          <p:nvPr/>
        </p:nvSpPr>
        <p:spPr>
          <a:xfrm>
            <a:off x="609600" y="3009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@(negedge i_clk);</a:t>
            </a:r>
            <a:endParaRPr lang="en-US" sz="1100" dirty="0"/>
          </a:p>
        </p:txBody>
      </p:sp>
      <p:sp>
        <p:nvSpPr>
          <p:cNvPr id="15" name="Text 15"/>
          <p:cNvSpPr txBox="1"/>
          <p:nvPr/>
        </p:nvSpPr>
        <p:spPr>
          <a:xfrm>
            <a:off x="6457950" y="3009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16" name="Shape 16"/>
          <p:cNvSpPr/>
          <p:nvPr/>
        </p:nvSpPr>
        <p:spPr>
          <a:xfrm>
            <a:off x="457200" y="3200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7"/>
          <p:cNvSpPr/>
          <p:nvPr/>
        </p:nvSpPr>
        <p:spPr>
          <a:xfrm>
            <a:off x="457200" y="320040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8"/>
          <p:cNvSpPr txBox="1"/>
          <p:nvPr/>
        </p:nvSpPr>
        <p:spPr>
          <a:xfrm>
            <a:off x="609600" y="3200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#1;</a:t>
            </a:r>
            <a:endParaRPr lang="en-US" sz="1100" dirty="0"/>
          </a:p>
        </p:txBody>
      </p:sp>
      <p:sp>
        <p:nvSpPr>
          <p:cNvPr id="19" name="Text 19"/>
          <p:cNvSpPr txBox="1"/>
          <p:nvPr/>
        </p:nvSpPr>
        <p:spPr>
          <a:xfrm>
            <a:off x="6457950" y="3200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200" dirty="0"/>
          </a:p>
        </p:txBody>
      </p:sp>
      <p:sp>
        <p:nvSpPr>
          <p:cNvPr id="20" name="Shape 20"/>
          <p:cNvSpPr/>
          <p:nvPr/>
        </p:nvSpPr>
        <p:spPr>
          <a:xfrm>
            <a:off x="457200" y="3390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21"/>
          <p:cNvSpPr/>
          <p:nvPr/>
        </p:nvSpPr>
        <p:spPr>
          <a:xfrm>
            <a:off x="457200" y="339090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609600" y="3390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o_before = o_sw;</a:t>
            </a:r>
            <a:endParaRPr lang="en-US" sz="1100" dirty="0"/>
          </a:p>
        </p:txBody>
      </p:sp>
      <p:sp>
        <p:nvSpPr>
          <p:cNvPr id="23" name="Text 23"/>
          <p:cNvSpPr txBox="1"/>
          <p:nvPr/>
        </p:nvSpPr>
        <p:spPr>
          <a:xfrm>
            <a:off x="6457950" y="3390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24" name="Shape 24"/>
          <p:cNvSpPr/>
          <p:nvPr/>
        </p:nvSpPr>
        <p:spPr>
          <a:xfrm>
            <a:off x="457200" y="3581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5"/>
          <p:cNvSpPr/>
          <p:nvPr/>
        </p:nvSpPr>
        <p:spPr>
          <a:xfrm>
            <a:off x="457200" y="358140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6"/>
          <p:cNvSpPr txBox="1"/>
          <p:nvPr/>
        </p:nvSpPr>
        <p:spPr>
          <a:xfrm>
            <a:off x="609600" y="3581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i_sw     = sw;</a:t>
            </a:r>
            <a:endParaRPr lang="en-US" sz="1100" dirty="0"/>
          </a:p>
        </p:txBody>
      </p:sp>
      <p:sp>
        <p:nvSpPr>
          <p:cNvPr id="27" name="Text 27"/>
          <p:cNvSpPr txBox="1"/>
          <p:nvPr/>
        </p:nvSpPr>
        <p:spPr>
          <a:xfrm>
            <a:off x="6457950" y="3581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28" name="Shape 28"/>
          <p:cNvSpPr/>
          <p:nvPr/>
        </p:nvSpPr>
        <p:spPr>
          <a:xfrm>
            <a:off x="457200" y="3771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9"/>
          <p:cNvSpPr/>
          <p:nvPr/>
        </p:nvSpPr>
        <p:spPr>
          <a:xfrm>
            <a:off x="457200" y="3771900"/>
            <a:ext cx="47625" cy="190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30"/>
          <p:cNvSpPr txBox="1"/>
          <p:nvPr/>
        </p:nvSpPr>
        <p:spPr>
          <a:xfrm>
            <a:off x="609600" y="3771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#2;</a:t>
            </a:r>
            <a:endParaRPr lang="en-US" sz="1100" dirty="0"/>
          </a:p>
        </p:txBody>
      </p:sp>
      <p:sp>
        <p:nvSpPr>
          <p:cNvPr id="31" name="Text 31"/>
          <p:cNvSpPr txBox="1"/>
          <p:nvPr/>
        </p:nvSpPr>
        <p:spPr>
          <a:xfrm>
            <a:off x="6457950" y="3771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32" name="Shape 32"/>
          <p:cNvSpPr/>
          <p:nvPr/>
        </p:nvSpPr>
        <p:spPr>
          <a:xfrm>
            <a:off x="457200" y="3962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3"/>
          <p:cNvSpPr/>
          <p:nvPr/>
        </p:nvSpPr>
        <p:spPr>
          <a:xfrm>
            <a:off x="457200" y="3962400"/>
            <a:ext cx="47625" cy="190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4"/>
          <p:cNvSpPr txBox="1"/>
          <p:nvPr/>
        </p:nvSpPr>
        <p:spPr>
          <a:xfrm>
            <a:off x="609600" y="3962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(o_sw !== o_before) begin</a:t>
            </a:r>
            <a:endParaRPr lang="en-US" sz="1100" dirty="0"/>
          </a:p>
        </p:txBody>
      </p:sp>
      <p:sp>
        <p:nvSpPr>
          <p:cNvPr id="35" name="Text 35"/>
          <p:cNvSpPr txBox="1"/>
          <p:nvPr/>
        </p:nvSpPr>
        <p:spPr>
          <a:xfrm>
            <a:off x="6457950" y="3962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36" name="Text 36"/>
          <p:cNvSpPr txBox="1"/>
          <p:nvPr/>
        </p:nvSpPr>
        <p:spPr>
          <a:xfrm>
            <a:off x="609600" y="4152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err_c2 = err_c2 + 1;</a:t>
            </a:r>
            <a:endParaRPr lang="en-US" sz="1100" dirty="0"/>
          </a:p>
        </p:txBody>
      </p:sp>
      <p:sp>
        <p:nvSpPr>
          <p:cNvPr id="37" name="Text 37"/>
          <p:cNvSpPr txBox="1"/>
          <p:nvPr/>
        </p:nvSpPr>
        <p:spPr>
          <a:xfrm>
            <a:off x="609600" y="4343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if (err_c2 &lt;= 10)</a:t>
            </a:r>
            <a:endParaRPr lang="en-US" sz="1100" dirty="0"/>
          </a:p>
        </p:txBody>
      </p:sp>
      <p:sp>
        <p:nvSpPr>
          <p:cNvPr id="38" name="Text 38"/>
          <p:cNvSpPr txBox="1"/>
          <p:nvPr/>
        </p:nvSpPr>
        <p:spPr>
          <a:xfrm>
            <a:off x="609600" y="4533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$display("[C2 FAIL] ...");</a:t>
            </a:r>
            <a:endParaRPr lang="en-US" sz="1100" dirty="0"/>
          </a:p>
        </p:txBody>
      </p:sp>
      <p:sp>
        <p:nvSpPr>
          <p:cNvPr id="39" name="Text 39"/>
          <p:cNvSpPr txBox="1"/>
          <p:nvPr/>
        </p:nvSpPr>
        <p:spPr>
          <a:xfrm>
            <a:off x="609600" y="4724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</a:t>
            </a:r>
            <a:endParaRPr lang="en-US" sz="1100" dirty="0"/>
          </a:p>
        </p:txBody>
      </p:sp>
      <p:sp>
        <p:nvSpPr>
          <p:cNvPr id="40" name="Text 40"/>
          <p:cNvSpPr txBox="1"/>
          <p:nvPr/>
        </p:nvSpPr>
        <p:spPr>
          <a:xfrm>
            <a:off x="609600" y="4914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100" dirty="0"/>
          </a:p>
        </p:txBody>
      </p:sp>
      <p:sp>
        <p:nvSpPr>
          <p:cNvPr id="41" name="Text 41"/>
          <p:cNvSpPr txBox="1"/>
          <p:nvPr/>
        </p:nvSpPr>
        <p:spPr>
          <a:xfrm>
            <a:off x="609600" y="5105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endtask</a:t>
            </a:r>
            <a:endParaRPr lang="en-US" sz="1100" dirty="0"/>
          </a:p>
        </p:txBody>
      </p:sp>
      <p:sp>
        <p:nvSpPr>
          <p:cNvPr id="42" name="Shape 42"/>
          <p:cNvSpPr/>
          <p:nvPr/>
        </p:nvSpPr>
        <p:spPr>
          <a:xfrm>
            <a:off x="6934200" y="1295400"/>
            <a:ext cx="4800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3"/>
          <p:cNvSpPr/>
          <p:nvPr/>
        </p:nvSpPr>
        <p:spPr>
          <a:xfrm>
            <a:off x="7124700" y="1524000"/>
            <a:ext cx="247650" cy="24765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7124700" y="1524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45" name="Text 45"/>
          <p:cNvSpPr txBox="1"/>
          <p:nvPr/>
        </p:nvSpPr>
        <p:spPr>
          <a:xfrm>
            <a:off x="7486650" y="1533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대기</a:t>
            </a:r>
            <a:endParaRPr lang="en-US" sz="1350" dirty="0"/>
          </a:p>
        </p:txBody>
      </p:sp>
      <p:sp>
        <p:nvSpPr>
          <p:cNvPr id="46" name="Text 46"/>
          <p:cNvSpPr txBox="1"/>
          <p:nvPr/>
        </p:nvSpPr>
        <p:spPr>
          <a:xfrm>
            <a:off x="7486650" y="18097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변경 = 항상 negedge 이후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시점 i_sw 반 cycle 이상 안정</a:t>
            </a:r>
            <a:endParaRPr lang="en-US" sz="1200" dirty="0"/>
          </a:p>
        </p:txBody>
      </p:sp>
      <p:sp>
        <p:nvSpPr>
          <p:cNvPr id="47" name="Shape 47"/>
          <p:cNvSpPr/>
          <p:nvPr/>
        </p:nvSpPr>
        <p:spPr>
          <a:xfrm>
            <a:off x="7124700" y="2324100"/>
            <a:ext cx="247650" cy="24765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7124700" y="23241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49" name="Text 49"/>
          <p:cNvSpPr txBox="1"/>
          <p:nvPr/>
        </p:nvSpPr>
        <p:spPr>
          <a:xfrm>
            <a:off x="7486650" y="23336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#1 지연</a:t>
            </a:r>
            <a:endParaRPr lang="en-US" sz="1350" dirty="0"/>
          </a:p>
        </p:txBody>
      </p:sp>
      <p:sp>
        <p:nvSpPr>
          <p:cNvPr id="50" name="Text 50"/>
          <p:cNvSpPr txBox="1"/>
          <p:nvPr/>
        </p:nvSpPr>
        <p:spPr>
          <a:xfrm>
            <a:off x="7486650" y="26098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negedge의 C1 비교 먼저 실행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 판정값과 i_sw 변경의 race 제거</a:t>
            </a:r>
            <a:endParaRPr lang="en-US" sz="1200" dirty="0"/>
          </a:p>
        </p:txBody>
      </p:sp>
      <p:sp>
        <p:nvSpPr>
          <p:cNvPr id="51" name="Shape 51"/>
          <p:cNvSpPr/>
          <p:nvPr/>
        </p:nvSpPr>
        <p:spPr>
          <a:xfrm>
            <a:off x="7124700" y="3124200"/>
            <a:ext cx="247650" cy="247650"/>
          </a:xfrm>
          <a:prstGeom prst="ellipse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2"/>
          <p:cNvSpPr txBox="1"/>
          <p:nvPr/>
        </p:nvSpPr>
        <p:spPr>
          <a:xfrm>
            <a:off x="7124700" y="31242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53" name="Text 53"/>
          <p:cNvSpPr txBox="1"/>
          <p:nvPr/>
        </p:nvSpPr>
        <p:spPr>
          <a:xfrm>
            <a:off x="7486650" y="31337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변경 직전 출력 저장 → i_sw 인가</a:t>
            </a:r>
            <a:endParaRPr lang="en-US" sz="1350" dirty="0"/>
          </a:p>
        </p:txBody>
      </p:sp>
      <p:sp>
        <p:nvSpPr>
          <p:cNvPr id="54" name="Text 54"/>
          <p:cNvSpPr txBox="1"/>
          <p:nvPr/>
        </p:nvSpPr>
        <p:spPr>
          <a:xfrm>
            <a:off x="7486650" y="3409950"/>
            <a:ext cx="4057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o_before = 입력 변경 전 o_sw</a:t>
            </a:r>
            <a:endParaRPr lang="en-US" sz="1200" dirty="0"/>
          </a:p>
        </p:txBody>
      </p:sp>
      <p:sp>
        <p:nvSpPr>
          <p:cNvPr id="55" name="Shape 55"/>
          <p:cNvSpPr/>
          <p:nvPr/>
        </p:nvSpPr>
        <p:spPr>
          <a:xfrm>
            <a:off x="7124700" y="3743325"/>
            <a:ext cx="247650" cy="24765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7124700" y="3743325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57" name="Text 57"/>
          <p:cNvSpPr txBox="1"/>
          <p:nvPr/>
        </p:nvSpPr>
        <p:spPr>
          <a:xfrm>
            <a:off x="7486650" y="3752850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 후 o_sw 재확인 (C2)</a:t>
            </a:r>
            <a:endParaRPr lang="en-US" sz="1350" dirty="0"/>
          </a:p>
        </p:txBody>
      </p:sp>
      <p:sp>
        <p:nvSpPr>
          <p:cNvPr id="58" name="Text 58"/>
          <p:cNvSpPr txBox="1"/>
          <p:nvPr/>
        </p:nvSpPr>
        <p:spPr>
          <a:xfrm>
            <a:off x="7486650" y="4029075"/>
            <a:ext cx="40576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클럭 엣지 없는 구간 → Moore 출력 불변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o_sw 변화 = input → output 조합 경로 (Mealy)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F6 (o_sw가 n_state 기준) 검출 근거</a:t>
            </a:r>
            <a:endParaRPr lang="en-US" sz="1200" dirty="0"/>
          </a:p>
        </p:txBody>
      </p:sp>
      <p:sp>
        <p:nvSpPr>
          <p:cNvPr id="59" name="Shape 59"/>
          <p:cNvSpPr/>
          <p:nvPr/>
        </p:nvSpPr>
        <p:spPr>
          <a:xfrm>
            <a:off x="7124700" y="4800600"/>
            <a:ext cx="4419600" cy="533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0"/>
          <p:cNvSpPr txBox="1"/>
          <p:nvPr/>
        </p:nvSpPr>
        <p:spPr>
          <a:xfrm>
            <a:off x="7277100" y="4800600"/>
            <a:ext cx="4191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 1회 = 1 clock</a:t>
            </a: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·  입력 인가 + C2 판정 동시 수행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· 새 TB 제안 · 코드 연결 · async_reset · arc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Every Arc Test Starts from a Checked Async Reset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/ 56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447800"/>
            <a:ext cx="6286500" cy="4648200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09600" y="1676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async_reset;</a:t>
            </a:r>
            <a:endParaRPr lang="en-US" sz="1100" dirty="0"/>
          </a:p>
        </p:txBody>
      </p:sp>
      <p:sp>
        <p:nvSpPr>
          <p:cNvPr id="10" name="Text 10"/>
          <p:cNvSpPr txBox="1"/>
          <p:nvPr/>
        </p:nvSpPr>
        <p:spPr>
          <a:xfrm>
            <a:off x="609600" y="1866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begin</a:t>
            </a:r>
            <a:endParaRPr lang="en-US" sz="1100" dirty="0"/>
          </a:p>
        </p:txBody>
      </p:sp>
      <p:sp>
        <p:nvSpPr>
          <p:cNvPr id="11" name="Shape 11"/>
          <p:cNvSpPr/>
          <p:nvPr/>
        </p:nvSpPr>
        <p:spPr>
          <a:xfrm>
            <a:off x="457200" y="2057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2"/>
          <p:cNvSpPr/>
          <p:nvPr/>
        </p:nvSpPr>
        <p:spPr>
          <a:xfrm>
            <a:off x="457200" y="2057400"/>
            <a:ext cx="47625" cy="190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3"/>
          <p:cNvSpPr txBox="1"/>
          <p:nvPr/>
        </p:nvSpPr>
        <p:spPr>
          <a:xfrm>
            <a:off x="609600" y="2057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@(posedge i_clk); #2;</a:t>
            </a:r>
            <a:endParaRPr lang="en-US" sz="1100" dirty="0"/>
          </a:p>
        </p:txBody>
      </p:sp>
      <p:sp>
        <p:nvSpPr>
          <p:cNvPr id="14" name="Text 14"/>
          <p:cNvSpPr txBox="1"/>
          <p:nvPr/>
        </p:nvSpPr>
        <p:spPr>
          <a:xfrm>
            <a:off x="6457950" y="2057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15" name="Shape 15"/>
          <p:cNvSpPr/>
          <p:nvPr/>
        </p:nvSpPr>
        <p:spPr>
          <a:xfrm>
            <a:off x="457200" y="2247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6"/>
          <p:cNvSpPr/>
          <p:nvPr/>
        </p:nvSpPr>
        <p:spPr>
          <a:xfrm>
            <a:off x="457200" y="2247900"/>
            <a:ext cx="47625" cy="190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609600" y="2247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i_reset = 1; #1;</a:t>
            </a:r>
            <a:endParaRPr lang="en-US" sz="1100" dirty="0"/>
          </a:p>
        </p:txBody>
      </p:sp>
      <p:sp>
        <p:nvSpPr>
          <p:cNvPr id="18" name="Text 18"/>
          <p:cNvSpPr txBox="1"/>
          <p:nvPr/>
        </p:nvSpPr>
        <p:spPr>
          <a:xfrm>
            <a:off x="6457950" y="2247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19" name="Shape 19"/>
          <p:cNvSpPr/>
          <p:nvPr/>
        </p:nvSpPr>
        <p:spPr>
          <a:xfrm>
            <a:off x="457200" y="2438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20"/>
          <p:cNvSpPr/>
          <p:nvPr/>
        </p:nvSpPr>
        <p:spPr>
          <a:xfrm>
            <a:off x="457200" y="243840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21"/>
          <p:cNvSpPr txBox="1"/>
          <p:nvPr/>
        </p:nvSpPr>
        <p:spPr>
          <a:xfrm>
            <a:off x="609600" y="2438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(o_sw !== 3'b001) begin</a:t>
            </a:r>
            <a:endParaRPr lang="en-US" sz="1100" dirty="0"/>
          </a:p>
        </p:txBody>
      </p:sp>
      <p:sp>
        <p:nvSpPr>
          <p:cNvPr id="22" name="Text 22"/>
          <p:cNvSpPr txBox="1"/>
          <p:nvPr/>
        </p:nvSpPr>
        <p:spPr>
          <a:xfrm>
            <a:off x="6457950" y="2438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200" dirty="0"/>
          </a:p>
        </p:txBody>
      </p:sp>
      <p:sp>
        <p:nvSpPr>
          <p:cNvPr id="23" name="Text 23"/>
          <p:cNvSpPr txBox="1"/>
          <p:nvPr/>
        </p:nvSpPr>
        <p:spPr>
          <a:xfrm>
            <a:off x="609600" y="2628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err_c3 = err_c3 + 1;</a:t>
            </a:r>
            <a:endParaRPr lang="en-US" sz="1100" dirty="0"/>
          </a:p>
        </p:txBody>
      </p:sp>
      <p:sp>
        <p:nvSpPr>
          <p:cNvPr id="24" name="Text 24"/>
          <p:cNvSpPr txBox="1"/>
          <p:nvPr/>
        </p:nvSpPr>
        <p:spPr>
          <a:xfrm>
            <a:off x="609600" y="2819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$display("[C3 FAIL] ...");</a:t>
            </a:r>
            <a:endParaRPr lang="en-US" sz="1100" dirty="0"/>
          </a:p>
        </p:txBody>
      </p:sp>
      <p:sp>
        <p:nvSpPr>
          <p:cNvPr id="25" name="Text 25"/>
          <p:cNvSpPr txBox="1"/>
          <p:nvPr/>
        </p:nvSpPr>
        <p:spPr>
          <a:xfrm>
            <a:off x="609600" y="3009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end</a:t>
            </a:r>
            <a:endParaRPr lang="en-US" sz="1100" dirty="0"/>
          </a:p>
        </p:txBody>
      </p:sp>
      <p:sp>
        <p:nvSpPr>
          <p:cNvPr id="26" name="Shape 26"/>
          <p:cNvSpPr/>
          <p:nvPr/>
        </p:nvSpPr>
        <p:spPr>
          <a:xfrm>
            <a:off x="457200" y="3200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7"/>
          <p:cNvSpPr/>
          <p:nvPr/>
        </p:nvSpPr>
        <p:spPr>
          <a:xfrm>
            <a:off x="457200" y="320040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8"/>
          <p:cNvSpPr txBox="1"/>
          <p:nvPr/>
        </p:nvSpPr>
        <p:spPr>
          <a:xfrm>
            <a:off x="609600" y="3200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@(negedge i_clk); #1;</a:t>
            </a:r>
            <a:endParaRPr lang="en-US" sz="1100" dirty="0"/>
          </a:p>
        </p:txBody>
      </p:sp>
      <p:sp>
        <p:nvSpPr>
          <p:cNvPr id="29" name="Text 29"/>
          <p:cNvSpPr txBox="1"/>
          <p:nvPr/>
        </p:nvSpPr>
        <p:spPr>
          <a:xfrm>
            <a:off x="6457950" y="3200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30" name="Shape 30"/>
          <p:cNvSpPr/>
          <p:nvPr/>
        </p:nvSpPr>
        <p:spPr>
          <a:xfrm>
            <a:off x="457200" y="3390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31"/>
          <p:cNvSpPr/>
          <p:nvPr/>
        </p:nvSpPr>
        <p:spPr>
          <a:xfrm>
            <a:off x="457200" y="339090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2"/>
          <p:cNvSpPr txBox="1"/>
          <p:nvPr/>
        </p:nvSpPr>
        <p:spPr>
          <a:xfrm>
            <a:off x="609600" y="3390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i_reset = 0;</a:t>
            </a:r>
            <a:endParaRPr lang="en-US" sz="1100" dirty="0"/>
          </a:p>
        </p:txBody>
      </p:sp>
      <p:sp>
        <p:nvSpPr>
          <p:cNvPr id="33" name="Text 33"/>
          <p:cNvSpPr txBox="1"/>
          <p:nvPr/>
        </p:nvSpPr>
        <p:spPr>
          <a:xfrm>
            <a:off x="6457950" y="3390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34" name="Text 34"/>
          <p:cNvSpPr txBox="1"/>
          <p:nvPr/>
        </p:nvSpPr>
        <p:spPr>
          <a:xfrm>
            <a:off x="609600" y="3581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100" dirty="0"/>
          </a:p>
        </p:txBody>
      </p:sp>
      <p:sp>
        <p:nvSpPr>
          <p:cNvPr id="35" name="Text 35"/>
          <p:cNvSpPr txBox="1"/>
          <p:nvPr/>
        </p:nvSpPr>
        <p:spPr>
          <a:xfrm>
            <a:off x="609600" y="3771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endtask</a:t>
            </a:r>
            <a:endParaRPr lang="en-US" sz="1100" dirty="0"/>
          </a:p>
        </p:txBody>
      </p:sp>
      <p:sp>
        <p:nvSpPr>
          <p:cNvPr id="36" name="Text 36"/>
          <p:cNvSpPr txBox="1"/>
          <p:nvPr/>
        </p:nvSpPr>
        <p:spPr>
          <a:xfrm>
            <a:off x="609600" y="4152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arc(input integer st, input [1:0] sw);</a:t>
            </a:r>
            <a:endParaRPr lang="en-US" sz="1100" dirty="0"/>
          </a:p>
        </p:txBody>
      </p:sp>
      <p:sp>
        <p:nvSpPr>
          <p:cNvPr id="37" name="Text 37"/>
          <p:cNvSpPr txBox="1"/>
          <p:nvPr/>
        </p:nvSpPr>
        <p:spPr>
          <a:xfrm>
            <a:off x="609600" y="4343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begin</a:t>
            </a:r>
            <a:endParaRPr lang="en-US" sz="1100" dirty="0"/>
          </a:p>
        </p:txBody>
      </p:sp>
      <p:sp>
        <p:nvSpPr>
          <p:cNvPr id="38" name="Shape 38"/>
          <p:cNvSpPr/>
          <p:nvPr/>
        </p:nvSpPr>
        <p:spPr>
          <a:xfrm>
            <a:off x="457200" y="4533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9"/>
          <p:cNvSpPr/>
          <p:nvPr/>
        </p:nvSpPr>
        <p:spPr>
          <a:xfrm>
            <a:off x="457200" y="453390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609600" y="4533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async_reset;</a:t>
            </a:r>
            <a:endParaRPr lang="en-US" sz="1100" dirty="0"/>
          </a:p>
        </p:txBody>
      </p:sp>
      <p:sp>
        <p:nvSpPr>
          <p:cNvPr id="41" name="Text 41"/>
          <p:cNvSpPr txBox="1"/>
          <p:nvPr/>
        </p:nvSpPr>
        <p:spPr>
          <a:xfrm>
            <a:off x="6457950" y="4533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42" name="Shape 42"/>
          <p:cNvSpPr/>
          <p:nvPr/>
        </p:nvSpPr>
        <p:spPr>
          <a:xfrm>
            <a:off x="457200" y="4724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3"/>
          <p:cNvSpPr/>
          <p:nvPr/>
        </p:nvSpPr>
        <p:spPr>
          <a:xfrm>
            <a:off x="457200" y="472440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609600" y="4724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(st == G_RUN)   drive(2'b01);</a:t>
            </a:r>
            <a:endParaRPr lang="en-US" sz="1100" dirty="0"/>
          </a:p>
        </p:txBody>
      </p:sp>
      <p:sp>
        <p:nvSpPr>
          <p:cNvPr id="45" name="Text 45"/>
          <p:cNvSpPr txBox="1"/>
          <p:nvPr/>
        </p:nvSpPr>
        <p:spPr>
          <a:xfrm>
            <a:off x="6457950" y="4724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46" name="Shape 46"/>
          <p:cNvSpPr/>
          <p:nvPr/>
        </p:nvSpPr>
        <p:spPr>
          <a:xfrm>
            <a:off x="457200" y="4914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7"/>
          <p:cNvSpPr/>
          <p:nvPr/>
        </p:nvSpPr>
        <p:spPr>
          <a:xfrm>
            <a:off x="457200" y="491490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609600" y="4914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(st == G_CLEAR) drive(2'b10);</a:t>
            </a:r>
            <a:endParaRPr lang="en-US" sz="1100" dirty="0"/>
          </a:p>
        </p:txBody>
      </p:sp>
      <p:sp>
        <p:nvSpPr>
          <p:cNvPr id="49" name="Text 49"/>
          <p:cNvSpPr txBox="1"/>
          <p:nvPr/>
        </p:nvSpPr>
        <p:spPr>
          <a:xfrm>
            <a:off x="6457950" y="4914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50" name="Shape 50"/>
          <p:cNvSpPr/>
          <p:nvPr/>
        </p:nvSpPr>
        <p:spPr>
          <a:xfrm>
            <a:off x="457200" y="51054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51"/>
          <p:cNvSpPr/>
          <p:nvPr/>
        </p:nvSpPr>
        <p:spPr>
          <a:xfrm>
            <a:off x="457200" y="5105400"/>
            <a:ext cx="47625" cy="1905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2"/>
          <p:cNvSpPr txBox="1"/>
          <p:nvPr/>
        </p:nvSpPr>
        <p:spPr>
          <a:xfrm>
            <a:off x="609600" y="5105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drive(sw);</a:t>
            </a:r>
            <a:endParaRPr lang="en-US" sz="1100" dirty="0"/>
          </a:p>
        </p:txBody>
      </p:sp>
      <p:sp>
        <p:nvSpPr>
          <p:cNvPr id="53" name="Text 53"/>
          <p:cNvSpPr txBox="1"/>
          <p:nvPr/>
        </p:nvSpPr>
        <p:spPr>
          <a:xfrm>
            <a:off x="6457950" y="51054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200" dirty="0"/>
          </a:p>
        </p:txBody>
      </p:sp>
      <p:sp>
        <p:nvSpPr>
          <p:cNvPr id="54" name="Shape 54"/>
          <p:cNvSpPr/>
          <p:nvPr/>
        </p:nvSpPr>
        <p:spPr>
          <a:xfrm>
            <a:off x="457200" y="529590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5"/>
          <p:cNvSpPr/>
          <p:nvPr/>
        </p:nvSpPr>
        <p:spPr>
          <a:xfrm>
            <a:off x="457200" y="5295900"/>
            <a:ext cx="47625" cy="190500"/>
          </a:xfrm>
          <a:prstGeom prst="rect">
            <a:avLst/>
          </a:prstGeom>
          <a:solidFill>
            <a:srgbClr val="60A5F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609600" y="5295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drive(sw);</a:t>
            </a:r>
            <a:endParaRPr lang="en-US" sz="1100" dirty="0"/>
          </a:p>
        </p:txBody>
      </p:sp>
      <p:sp>
        <p:nvSpPr>
          <p:cNvPr id="57" name="Text 57"/>
          <p:cNvSpPr txBox="1"/>
          <p:nvPr/>
        </p:nvSpPr>
        <p:spPr>
          <a:xfrm>
            <a:off x="6457950" y="529590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60A5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⑤</a:t>
            </a:r>
            <a:endParaRPr lang="en-US" sz="1200" dirty="0"/>
          </a:p>
        </p:txBody>
      </p:sp>
      <p:sp>
        <p:nvSpPr>
          <p:cNvPr id="58" name="Text 58"/>
          <p:cNvSpPr txBox="1"/>
          <p:nvPr/>
        </p:nvSpPr>
        <p:spPr>
          <a:xfrm>
            <a:off x="609600" y="54864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100" dirty="0"/>
          </a:p>
        </p:txBody>
      </p:sp>
      <p:sp>
        <p:nvSpPr>
          <p:cNvPr id="59" name="Text 59"/>
          <p:cNvSpPr txBox="1"/>
          <p:nvPr/>
        </p:nvSpPr>
        <p:spPr>
          <a:xfrm>
            <a:off x="609600" y="567690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endtask</a:t>
            </a:r>
            <a:endParaRPr lang="en-US" sz="1100" dirty="0"/>
          </a:p>
        </p:txBody>
      </p:sp>
      <p:sp>
        <p:nvSpPr>
          <p:cNvPr id="60" name="Shape 60"/>
          <p:cNvSpPr/>
          <p:nvPr/>
        </p:nvSpPr>
        <p:spPr>
          <a:xfrm>
            <a:off x="6934200" y="1295400"/>
            <a:ext cx="4800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61"/>
          <p:cNvSpPr/>
          <p:nvPr/>
        </p:nvSpPr>
        <p:spPr>
          <a:xfrm>
            <a:off x="7124700" y="1524000"/>
            <a:ext cx="247650" cy="24765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2"/>
          <p:cNvSpPr txBox="1"/>
          <p:nvPr/>
        </p:nvSpPr>
        <p:spPr>
          <a:xfrm>
            <a:off x="7124700" y="1524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63" name="Text 63"/>
          <p:cNvSpPr txBox="1"/>
          <p:nvPr/>
        </p:nvSpPr>
        <p:spPr>
          <a:xfrm>
            <a:off x="7486650" y="1533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+ 2 ns에 reset 인가</a:t>
            </a:r>
            <a:endParaRPr lang="en-US" sz="1350" dirty="0"/>
          </a:p>
        </p:txBody>
      </p:sp>
      <p:sp>
        <p:nvSpPr>
          <p:cNvPr id="64" name="Text 64"/>
          <p:cNvSpPr txBox="1"/>
          <p:nvPr/>
        </p:nvSpPr>
        <p:spPr>
          <a:xfrm>
            <a:off x="7486650" y="1809750"/>
            <a:ext cx="4057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엣지까지 클럭 엣지 없는 구간</a:t>
            </a:r>
            <a:endParaRPr lang="en-US" sz="1200" dirty="0"/>
          </a:p>
        </p:txBody>
      </p:sp>
      <p:sp>
        <p:nvSpPr>
          <p:cNvPr id="65" name="Shape 65"/>
          <p:cNvSpPr/>
          <p:nvPr/>
        </p:nvSpPr>
        <p:spPr>
          <a:xfrm>
            <a:off x="7124700" y="2105025"/>
            <a:ext cx="247650" cy="24765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6"/>
          <p:cNvSpPr txBox="1"/>
          <p:nvPr/>
        </p:nvSpPr>
        <p:spPr>
          <a:xfrm>
            <a:off x="7124700" y="2105025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67" name="Text 67"/>
          <p:cNvSpPr txBox="1"/>
          <p:nvPr/>
        </p:nvSpPr>
        <p:spPr>
          <a:xfrm>
            <a:off x="7486650" y="2114550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ns 뒤 o_sw = 001 확인 (C3)</a:t>
            </a:r>
            <a:endParaRPr lang="en-US" sz="1350" dirty="0"/>
          </a:p>
        </p:txBody>
      </p:sp>
      <p:sp>
        <p:nvSpPr>
          <p:cNvPr id="68" name="Text 68"/>
          <p:cNvSpPr txBox="1"/>
          <p:nvPr/>
        </p:nvSpPr>
        <p:spPr>
          <a:xfrm>
            <a:off x="7486650" y="2390775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async reset → 즉시 STOP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F7 (동기 reset) → 이전 값 유지 → FAIL</a:t>
            </a:r>
            <a:endParaRPr lang="en-US" sz="1200" dirty="0"/>
          </a:p>
        </p:txBody>
      </p:sp>
      <p:sp>
        <p:nvSpPr>
          <p:cNvPr id="69" name="Shape 69"/>
          <p:cNvSpPr/>
          <p:nvPr/>
        </p:nvSpPr>
        <p:spPr>
          <a:xfrm>
            <a:off x="7124700" y="2867025"/>
            <a:ext cx="247650" cy="247650"/>
          </a:xfrm>
          <a:prstGeom prst="ellipse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70"/>
          <p:cNvSpPr txBox="1"/>
          <p:nvPr/>
        </p:nvSpPr>
        <p:spPr>
          <a:xfrm>
            <a:off x="7124700" y="2867025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71" name="Text 71"/>
          <p:cNvSpPr txBox="1"/>
          <p:nvPr/>
        </p:nvSpPr>
        <p:spPr>
          <a:xfrm>
            <a:off x="7486650" y="2876550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+ 1 ns에 reset 해제</a:t>
            </a:r>
            <a:endParaRPr lang="en-US" sz="1350" dirty="0"/>
          </a:p>
        </p:txBody>
      </p:sp>
      <p:sp>
        <p:nvSpPr>
          <p:cNvPr id="72" name="Text 72"/>
          <p:cNvSpPr txBox="1"/>
          <p:nvPr/>
        </p:nvSpPr>
        <p:spPr>
          <a:xfrm>
            <a:off x="7486650" y="3152775"/>
            <a:ext cx="405765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해제 시점을 posedge와 분리 → race 제거</a:t>
            </a:r>
            <a:endParaRPr lang="en-US" sz="1200" dirty="0"/>
          </a:p>
        </p:txBody>
      </p:sp>
      <p:sp>
        <p:nvSpPr>
          <p:cNvPr id="73" name="Shape 73"/>
          <p:cNvSpPr/>
          <p:nvPr/>
        </p:nvSpPr>
        <p:spPr>
          <a:xfrm>
            <a:off x="7124700" y="3448050"/>
            <a:ext cx="247650" cy="24765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4"/>
          <p:cNvSpPr txBox="1"/>
          <p:nvPr/>
        </p:nvSpPr>
        <p:spPr>
          <a:xfrm>
            <a:off x="7124700" y="344805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75" name="Text 75"/>
          <p:cNvSpPr txBox="1"/>
          <p:nvPr/>
        </p:nvSpPr>
        <p:spPr>
          <a:xfrm>
            <a:off x="7486650" y="345757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state 이동</a:t>
            </a:r>
            <a:endParaRPr lang="en-US" sz="1350" dirty="0"/>
          </a:p>
        </p:txBody>
      </p:sp>
      <p:sp>
        <p:nvSpPr>
          <p:cNvPr id="76" name="Text 76"/>
          <p:cNvSpPr txBox="1"/>
          <p:nvPr/>
        </p:nvSpPr>
        <p:spPr>
          <a:xfrm>
            <a:off x="7486650" y="373380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STOP: 이동 없음 · RUN: 01 · CLEAR: 10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reset 직후 출발 → 시작 state 확정</a:t>
            </a:r>
            <a:endParaRPr lang="en-US" sz="1200" dirty="0"/>
          </a:p>
        </p:txBody>
      </p:sp>
      <p:sp>
        <p:nvSpPr>
          <p:cNvPr id="77" name="Shape 77"/>
          <p:cNvSpPr/>
          <p:nvPr/>
        </p:nvSpPr>
        <p:spPr>
          <a:xfrm>
            <a:off x="7124700" y="4210050"/>
            <a:ext cx="247650" cy="24765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8"/>
          <p:cNvSpPr txBox="1"/>
          <p:nvPr/>
        </p:nvSpPr>
        <p:spPr>
          <a:xfrm>
            <a:off x="7124700" y="421005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79" name="Text 79"/>
          <p:cNvSpPr txBox="1"/>
          <p:nvPr/>
        </p:nvSpPr>
        <p:spPr>
          <a:xfrm>
            <a:off x="7486650" y="421957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sw 2회 인가</a:t>
            </a:r>
            <a:endParaRPr lang="en-US" sz="1350" dirty="0"/>
          </a:p>
        </p:txBody>
      </p:sp>
      <p:sp>
        <p:nvSpPr>
          <p:cNvPr id="80" name="Text 80"/>
          <p:cNvSpPr txBox="1"/>
          <p:nvPr/>
        </p:nvSpPr>
        <p:spPr>
          <a:xfrm>
            <a:off x="7486650" y="449580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1회차: 목표 state × sw arc 실행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2회차: RUN + 10 → STOP → CLEAR 경로 포함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· 새 TB 제안 · 코드 연결 · Stimulus · Report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Twelve Directed Arcs First, Then 300 Random Cycles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 / 56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352550"/>
            <a:ext cx="6286500" cy="4838700"/>
          </a:xfrm>
          <a:prstGeom prst="rect">
            <a:avLst/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09600" y="1581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initial begin</a:t>
            </a:r>
            <a:endParaRPr lang="en-US" sz="1100" dirty="0"/>
          </a:p>
        </p:txBody>
      </p:sp>
      <p:sp>
        <p:nvSpPr>
          <p:cNvPr id="10" name="Text 10"/>
          <p:cNvSpPr txBox="1"/>
          <p:nvPr/>
        </p:nvSpPr>
        <p:spPr>
          <a:xfrm>
            <a:off x="609600" y="1771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i_clk = 0; i_reset = 1; i_sw = 2'b00; g_state = G_STOP;</a:t>
            </a:r>
            <a:endParaRPr lang="en-US" sz="1100" dirty="0"/>
          </a:p>
        </p:txBody>
      </p:sp>
      <p:sp>
        <p:nvSpPr>
          <p:cNvPr id="11" name="Shape 11"/>
          <p:cNvSpPr/>
          <p:nvPr/>
        </p:nvSpPr>
        <p:spPr>
          <a:xfrm>
            <a:off x="457200" y="1962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2"/>
          <p:cNvSpPr/>
          <p:nvPr/>
        </p:nvSpPr>
        <p:spPr>
          <a:xfrm>
            <a:off x="457200" y="196215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3"/>
          <p:cNvSpPr txBox="1"/>
          <p:nvPr/>
        </p:nvSpPr>
        <p:spPr>
          <a:xfrm>
            <a:off x="609600" y="1962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err_c1 = 0; err_c2 = 0; err_c3 = 0; cycles = 0; seed = 1008;</a:t>
            </a:r>
            <a:endParaRPr lang="en-US" sz="1100" dirty="0"/>
          </a:p>
        </p:txBody>
      </p:sp>
      <p:sp>
        <p:nvSpPr>
          <p:cNvPr id="14" name="Text 14"/>
          <p:cNvSpPr txBox="1"/>
          <p:nvPr/>
        </p:nvSpPr>
        <p:spPr>
          <a:xfrm>
            <a:off x="6457950" y="1962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15" name="Text 15"/>
          <p:cNvSpPr txBox="1"/>
          <p:nvPr/>
        </p:nvSpPr>
        <p:spPr>
          <a:xfrm>
            <a:off x="609600" y="2152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100" dirty="0"/>
          </a:p>
        </p:txBody>
      </p:sp>
      <p:sp>
        <p:nvSpPr>
          <p:cNvPr id="16" name="Text 16"/>
          <p:cNvSpPr txBox="1"/>
          <p:nvPr/>
        </p:nvSpPr>
        <p:spPr>
          <a:xfrm>
            <a:off x="609600" y="2343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#12 i_reset = 0;</a:t>
            </a:r>
            <a:endParaRPr lang="en-US" sz="1100" dirty="0"/>
          </a:p>
        </p:txBody>
      </p:sp>
      <p:sp>
        <p:nvSpPr>
          <p:cNvPr id="17" name="Shape 17"/>
          <p:cNvSpPr/>
          <p:nvPr/>
        </p:nvSpPr>
        <p:spPr>
          <a:xfrm>
            <a:off x="457200" y="2724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8"/>
          <p:cNvSpPr/>
          <p:nvPr/>
        </p:nvSpPr>
        <p:spPr>
          <a:xfrm>
            <a:off x="457200" y="2724150"/>
            <a:ext cx="47625" cy="19050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9"/>
          <p:cNvSpPr txBox="1"/>
          <p:nvPr/>
        </p:nvSpPr>
        <p:spPr>
          <a:xfrm>
            <a:off x="609600" y="2724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$display("[MARK] %0d ns phase 1 : directed arcs", $time);</a:t>
            </a:r>
            <a:endParaRPr lang="en-US" sz="1100" dirty="0"/>
          </a:p>
        </p:txBody>
      </p:sp>
      <p:sp>
        <p:nvSpPr>
          <p:cNvPr id="20" name="Text 20"/>
          <p:cNvSpPr txBox="1"/>
          <p:nvPr/>
        </p:nvSpPr>
        <p:spPr>
          <a:xfrm>
            <a:off x="6457950" y="2724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en-US" sz="1200" dirty="0"/>
          </a:p>
        </p:txBody>
      </p:sp>
      <p:sp>
        <p:nvSpPr>
          <p:cNvPr id="21" name="Shape 21"/>
          <p:cNvSpPr/>
          <p:nvPr/>
        </p:nvSpPr>
        <p:spPr>
          <a:xfrm>
            <a:off x="457200" y="29146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2"/>
          <p:cNvSpPr/>
          <p:nvPr/>
        </p:nvSpPr>
        <p:spPr>
          <a:xfrm>
            <a:off x="457200" y="291465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3"/>
          <p:cNvSpPr txBox="1"/>
          <p:nvPr/>
        </p:nvSpPr>
        <p:spPr>
          <a:xfrm>
            <a:off x="609600" y="2914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(s = 0; s &lt; 3; s = s + 1)</a:t>
            </a:r>
            <a:endParaRPr lang="en-US" sz="1100" dirty="0"/>
          </a:p>
        </p:txBody>
      </p:sp>
      <p:sp>
        <p:nvSpPr>
          <p:cNvPr id="24" name="Text 24"/>
          <p:cNvSpPr txBox="1"/>
          <p:nvPr/>
        </p:nvSpPr>
        <p:spPr>
          <a:xfrm>
            <a:off x="6457950" y="29146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200" dirty="0"/>
          </a:p>
        </p:txBody>
      </p:sp>
      <p:sp>
        <p:nvSpPr>
          <p:cNvPr id="25" name="Shape 25"/>
          <p:cNvSpPr/>
          <p:nvPr/>
        </p:nvSpPr>
        <p:spPr>
          <a:xfrm>
            <a:off x="457200" y="3105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6"/>
          <p:cNvSpPr/>
          <p:nvPr/>
        </p:nvSpPr>
        <p:spPr>
          <a:xfrm>
            <a:off x="457200" y="310515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7"/>
          <p:cNvSpPr txBox="1"/>
          <p:nvPr/>
        </p:nvSpPr>
        <p:spPr>
          <a:xfrm>
            <a:off x="609600" y="3105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(w = 0; w &lt; 4; w = w + 1)</a:t>
            </a:r>
            <a:endParaRPr lang="en-US" sz="1100" dirty="0"/>
          </a:p>
        </p:txBody>
      </p:sp>
      <p:sp>
        <p:nvSpPr>
          <p:cNvPr id="28" name="Text 28"/>
          <p:cNvSpPr txBox="1"/>
          <p:nvPr/>
        </p:nvSpPr>
        <p:spPr>
          <a:xfrm>
            <a:off x="6457950" y="3105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200" dirty="0"/>
          </a:p>
        </p:txBody>
      </p:sp>
      <p:sp>
        <p:nvSpPr>
          <p:cNvPr id="29" name="Shape 29"/>
          <p:cNvSpPr/>
          <p:nvPr/>
        </p:nvSpPr>
        <p:spPr>
          <a:xfrm>
            <a:off x="457200" y="32956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30"/>
          <p:cNvSpPr/>
          <p:nvPr/>
        </p:nvSpPr>
        <p:spPr>
          <a:xfrm>
            <a:off x="457200" y="3295650"/>
            <a:ext cx="47625" cy="1905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31"/>
          <p:cNvSpPr txBox="1"/>
          <p:nvPr/>
        </p:nvSpPr>
        <p:spPr>
          <a:xfrm>
            <a:off x="609600" y="3295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arc(s, w[1:0]);</a:t>
            </a:r>
            <a:endParaRPr lang="en-US" sz="1100" dirty="0"/>
          </a:p>
        </p:txBody>
      </p:sp>
      <p:sp>
        <p:nvSpPr>
          <p:cNvPr id="32" name="Text 32"/>
          <p:cNvSpPr txBox="1"/>
          <p:nvPr/>
        </p:nvSpPr>
        <p:spPr>
          <a:xfrm>
            <a:off x="6457950" y="32956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22C55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en-US" sz="1200" dirty="0"/>
          </a:p>
        </p:txBody>
      </p:sp>
      <p:sp>
        <p:nvSpPr>
          <p:cNvPr id="33" name="Text 33"/>
          <p:cNvSpPr txBox="1"/>
          <p:nvPr/>
        </p:nvSpPr>
        <p:spPr>
          <a:xfrm>
            <a:off x="609600" y="3676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$display("[MARK] %0d ns phase 2 : random 300 cycles", $time);</a:t>
            </a:r>
            <a:endParaRPr lang="en-US" sz="1100" dirty="0"/>
          </a:p>
        </p:txBody>
      </p:sp>
      <p:sp>
        <p:nvSpPr>
          <p:cNvPr id="34" name="Shape 34"/>
          <p:cNvSpPr/>
          <p:nvPr/>
        </p:nvSpPr>
        <p:spPr>
          <a:xfrm>
            <a:off x="457200" y="3867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5"/>
          <p:cNvSpPr/>
          <p:nvPr/>
        </p:nvSpPr>
        <p:spPr>
          <a:xfrm>
            <a:off x="457200" y="386715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6"/>
          <p:cNvSpPr txBox="1"/>
          <p:nvPr/>
        </p:nvSpPr>
        <p:spPr>
          <a:xfrm>
            <a:off x="609600" y="3867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 = 0; i &lt; 300; i = i + 1) begin</a:t>
            </a:r>
            <a:endParaRPr lang="en-US" sz="1100" dirty="0"/>
          </a:p>
        </p:txBody>
      </p:sp>
      <p:sp>
        <p:nvSpPr>
          <p:cNvPr id="37" name="Text 37"/>
          <p:cNvSpPr txBox="1"/>
          <p:nvPr/>
        </p:nvSpPr>
        <p:spPr>
          <a:xfrm>
            <a:off x="6457950" y="3867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38" name="Shape 38"/>
          <p:cNvSpPr/>
          <p:nvPr/>
        </p:nvSpPr>
        <p:spPr>
          <a:xfrm>
            <a:off x="457200" y="40576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9"/>
          <p:cNvSpPr/>
          <p:nvPr/>
        </p:nvSpPr>
        <p:spPr>
          <a:xfrm>
            <a:off x="457200" y="405765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609600" y="4057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(($random(seed) &amp; 31) == 0) async_reset;</a:t>
            </a:r>
            <a:endParaRPr lang="en-US" sz="1100" dirty="0"/>
          </a:p>
        </p:txBody>
      </p:sp>
      <p:sp>
        <p:nvSpPr>
          <p:cNvPr id="41" name="Text 41"/>
          <p:cNvSpPr txBox="1"/>
          <p:nvPr/>
        </p:nvSpPr>
        <p:spPr>
          <a:xfrm>
            <a:off x="6457950" y="40576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42" name="Shape 42"/>
          <p:cNvSpPr/>
          <p:nvPr/>
        </p:nvSpPr>
        <p:spPr>
          <a:xfrm>
            <a:off x="457200" y="42481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3"/>
          <p:cNvSpPr/>
          <p:nvPr/>
        </p:nvSpPr>
        <p:spPr>
          <a:xfrm>
            <a:off x="457200" y="4248150"/>
            <a:ext cx="47625" cy="190500"/>
          </a:xfrm>
          <a:prstGeom prst="rect">
            <a:avLst/>
          </a:prstGeom>
          <a:solidFill>
            <a:srgbClr val="FB923C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609600" y="4248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drive($random(seed));</a:t>
            </a:r>
            <a:endParaRPr lang="en-US" sz="1100" dirty="0"/>
          </a:p>
        </p:txBody>
      </p:sp>
      <p:sp>
        <p:nvSpPr>
          <p:cNvPr id="45" name="Text 45"/>
          <p:cNvSpPr txBox="1"/>
          <p:nvPr/>
        </p:nvSpPr>
        <p:spPr>
          <a:xfrm>
            <a:off x="6457950" y="42481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B923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en-US" sz="1200" dirty="0"/>
          </a:p>
        </p:txBody>
      </p:sp>
      <p:sp>
        <p:nvSpPr>
          <p:cNvPr id="46" name="Text 46"/>
          <p:cNvSpPr txBox="1"/>
          <p:nvPr/>
        </p:nvSpPr>
        <p:spPr>
          <a:xfrm>
            <a:off x="609600" y="4438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end</a:t>
            </a:r>
            <a:endParaRPr lang="en-US" sz="1100" dirty="0"/>
          </a:p>
        </p:txBody>
      </p:sp>
      <p:sp>
        <p:nvSpPr>
          <p:cNvPr id="47" name="Text 47"/>
          <p:cNvSpPr txBox="1"/>
          <p:nvPr/>
        </p:nvSpPr>
        <p:spPr>
          <a:xfrm>
            <a:off x="609600" y="4629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7F849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...</a:t>
            </a:r>
            <a:endParaRPr lang="en-US" sz="1100" dirty="0"/>
          </a:p>
        </p:txBody>
      </p:sp>
      <p:sp>
        <p:nvSpPr>
          <p:cNvPr id="48" name="Shape 48"/>
          <p:cNvSpPr/>
          <p:nvPr/>
        </p:nvSpPr>
        <p:spPr>
          <a:xfrm>
            <a:off x="457200" y="4819650"/>
            <a:ext cx="6286500" cy="1905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Shape 49"/>
          <p:cNvSpPr/>
          <p:nvPr/>
        </p:nvSpPr>
        <p:spPr>
          <a:xfrm>
            <a:off x="457200" y="4819650"/>
            <a:ext cx="47625" cy="1905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50"/>
          <p:cNvSpPr txBox="1"/>
          <p:nvPr/>
        </p:nvSpPr>
        <p:spPr>
          <a:xfrm>
            <a:off x="609600" y="4819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(err_c1 + err_c2 + err_c3 == 0 &amp;&amp; hit == 12)</a:t>
            </a:r>
            <a:endParaRPr lang="en-US" sz="1100" dirty="0"/>
          </a:p>
        </p:txBody>
      </p:sp>
      <p:sp>
        <p:nvSpPr>
          <p:cNvPr id="51" name="Text 51"/>
          <p:cNvSpPr txBox="1"/>
          <p:nvPr/>
        </p:nvSpPr>
        <p:spPr>
          <a:xfrm>
            <a:off x="6457950" y="4819650"/>
            <a:ext cx="2095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F8717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en-US" sz="1200" dirty="0"/>
          </a:p>
        </p:txBody>
      </p:sp>
      <p:sp>
        <p:nvSpPr>
          <p:cNvPr id="52" name="Text 52"/>
          <p:cNvSpPr txBox="1"/>
          <p:nvPr/>
        </p:nvSpPr>
        <p:spPr>
          <a:xfrm>
            <a:off x="609600" y="5010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$display(" RESULT : PASS");</a:t>
            </a:r>
            <a:endParaRPr lang="en-US" sz="1100" dirty="0"/>
          </a:p>
        </p:txBody>
      </p:sp>
      <p:sp>
        <p:nvSpPr>
          <p:cNvPr id="53" name="Text 53"/>
          <p:cNvSpPr txBox="1"/>
          <p:nvPr/>
        </p:nvSpPr>
        <p:spPr>
          <a:xfrm>
            <a:off x="609600" y="5200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else</a:t>
            </a:r>
            <a:endParaRPr lang="en-US" sz="1100" dirty="0"/>
          </a:p>
        </p:txBody>
      </p:sp>
      <p:sp>
        <p:nvSpPr>
          <p:cNvPr id="54" name="Text 54"/>
          <p:cNvSpPr txBox="1"/>
          <p:nvPr/>
        </p:nvSpPr>
        <p:spPr>
          <a:xfrm>
            <a:off x="609600" y="5391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$display(" RESULT : FAIL (errors=%0d)", ...);</a:t>
            </a:r>
            <a:endParaRPr lang="en-US" sz="1100" dirty="0"/>
          </a:p>
        </p:txBody>
      </p:sp>
      <p:sp>
        <p:nvSpPr>
          <p:cNvPr id="55" name="Text 55"/>
          <p:cNvSpPr txBox="1"/>
          <p:nvPr/>
        </p:nvSpPr>
        <p:spPr>
          <a:xfrm>
            <a:off x="609600" y="55816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$finish;</a:t>
            </a:r>
            <a:endParaRPr lang="en-US" sz="1100" dirty="0"/>
          </a:p>
        </p:txBody>
      </p:sp>
      <p:sp>
        <p:nvSpPr>
          <p:cNvPr id="56" name="Text 56"/>
          <p:cNvSpPr txBox="1"/>
          <p:nvPr/>
        </p:nvSpPr>
        <p:spPr>
          <a:xfrm>
            <a:off x="609600" y="5772150"/>
            <a:ext cx="5829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</a:t>
            </a:r>
            <a:endParaRPr lang="en-US" sz="1100" dirty="0"/>
          </a:p>
        </p:txBody>
      </p:sp>
      <p:sp>
        <p:nvSpPr>
          <p:cNvPr id="57" name="Shape 57"/>
          <p:cNvSpPr/>
          <p:nvPr/>
        </p:nvSpPr>
        <p:spPr>
          <a:xfrm>
            <a:off x="6934200" y="1295400"/>
            <a:ext cx="4800600" cy="4953000"/>
          </a:xfrm>
          <a:prstGeom prst="roundRect">
            <a:avLst>
              <a:gd name="adj" fmla="val 147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58"/>
          <p:cNvSpPr/>
          <p:nvPr/>
        </p:nvSpPr>
        <p:spPr>
          <a:xfrm>
            <a:off x="7124700" y="1524000"/>
            <a:ext cx="247650" cy="247650"/>
          </a:xfrm>
          <a:prstGeom prst="ellipse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9"/>
          <p:cNvSpPr txBox="1"/>
          <p:nvPr/>
        </p:nvSpPr>
        <p:spPr>
          <a:xfrm>
            <a:off x="7124700" y="15240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60" name="Text 60"/>
          <p:cNvSpPr txBox="1"/>
          <p:nvPr/>
        </p:nvSpPr>
        <p:spPr>
          <a:xfrm>
            <a:off x="7486650" y="15335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seed = 1008 고정 · [MARK] 로그</a:t>
            </a:r>
            <a:endParaRPr lang="en-US" sz="1350" dirty="0"/>
          </a:p>
        </p:txBody>
      </p:sp>
      <p:sp>
        <p:nvSpPr>
          <p:cNvPr id="61" name="Text 61"/>
          <p:cNvSpPr txBox="1"/>
          <p:nvPr/>
        </p:nvSpPr>
        <p:spPr>
          <a:xfrm>
            <a:off x="7486650" y="18097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실행 같은 random 순서 → FAIL 재현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[MARK] = 파형 캡처 위치 표시</a:t>
            </a:r>
            <a:endParaRPr lang="en-US" sz="1200" dirty="0"/>
          </a:p>
        </p:txBody>
      </p:sp>
      <p:sp>
        <p:nvSpPr>
          <p:cNvPr id="62" name="Shape 62"/>
          <p:cNvSpPr/>
          <p:nvPr/>
        </p:nvSpPr>
        <p:spPr>
          <a:xfrm>
            <a:off x="7124700" y="2324100"/>
            <a:ext cx="247650" cy="24765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3"/>
          <p:cNvSpPr txBox="1"/>
          <p:nvPr/>
        </p:nvSpPr>
        <p:spPr>
          <a:xfrm>
            <a:off x="7124700" y="23241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64" name="Text 64"/>
          <p:cNvSpPr txBox="1"/>
          <p:nvPr/>
        </p:nvSpPr>
        <p:spPr>
          <a:xfrm>
            <a:off x="7486650" y="23336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1 · directed 12 arc</a:t>
            </a:r>
            <a:endParaRPr lang="en-US" sz="1350" dirty="0"/>
          </a:p>
        </p:txBody>
      </p:sp>
      <p:sp>
        <p:nvSpPr>
          <p:cNvPr id="65" name="Text 65"/>
          <p:cNvSpPr txBox="1"/>
          <p:nvPr/>
        </p:nvSpPr>
        <p:spPr>
          <a:xfrm>
            <a:off x="7486650" y="2609850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state × 4 sw 전수, arc task 호출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random 결과와 무관하게 C4 12 / 12 확보</a:t>
            </a:r>
            <a:endParaRPr lang="en-US" sz="1200" dirty="0"/>
          </a:p>
        </p:txBody>
      </p:sp>
      <p:sp>
        <p:nvSpPr>
          <p:cNvPr id="66" name="Shape 66"/>
          <p:cNvSpPr/>
          <p:nvPr/>
        </p:nvSpPr>
        <p:spPr>
          <a:xfrm>
            <a:off x="7124700" y="3124200"/>
            <a:ext cx="247650" cy="24765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7"/>
          <p:cNvSpPr txBox="1"/>
          <p:nvPr/>
        </p:nvSpPr>
        <p:spPr>
          <a:xfrm>
            <a:off x="7124700" y="3124200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68" name="Text 68"/>
          <p:cNvSpPr txBox="1"/>
          <p:nvPr/>
        </p:nvSpPr>
        <p:spPr>
          <a:xfrm>
            <a:off x="7486650" y="3133725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Phase 2 · random 300 cycle</a:t>
            </a:r>
            <a:endParaRPr lang="en-US" sz="1350" dirty="0"/>
          </a:p>
        </p:txBody>
      </p:sp>
      <p:sp>
        <p:nvSpPr>
          <p:cNvPr id="69" name="Text 69"/>
          <p:cNvSpPr txBox="1"/>
          <p:nvPr/>
        </p:nvSpPr>
        <p:spPr>
          <a:xfrm>
            <a:off x="7486650" y="3409950"/>
            <a:ext cx="4057650" cy="542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고르지 않은 입력 순서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&amp; 31 == 0 → 1/32 확률 async reset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임의 state에서 C3 판정</a:t>
            </a:r>
            <a:endParaRPr lang="en-US" sz="1200" dirty="0"/>
          </a:p>
        </p:txBody>
      </p:sp>
      <p:sp>
        <p:nvSpPr>
          <p:cNvPr id="70" name="Shape 70"/>
          <p:cNvSpPr/>
          <p:nvPr/>
        </p:nvSpPr>
        <p:spPr>
          <a:xfrm>
            <a:off x="7124700" y="4105275"/>
            <a:ext cx="247650" cy="24765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71"/>
          <p:cNvSpPr txBox="1"/>
          <p:nvPr/>
        </p:nvSpPr>
        <p:spPr>
          <a:xfrm>
            <a:off x="7124700" y="4105275"/>
            <a:ext cx="2476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72" name="Text 72"/>
          <p:cNvSpPr txBox="1"/>
          <p:nvPr/>
        </p:nvSpPr>
        <p:spPr>
          <a:xfrm>
            <a:off x="7486650" y="4114800"/>
            <a:ext cx="40576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 조건</a:t>
            </a:r>
            <a:endParaRPr lang="en-US" sz="1350" dirty="0"/>
          </a:p>
        </p:txBody>
      </p:sp>
      <p:sp>
        <p:nvSpPr>
          <p:cNvPr id="73" name="Text 73"/>
          <p:cNvSpPr txBox="1"/>
          <p:nvPr/>
        </p:nvSpPr>
        <p:spPr>
          <a:xfrm>
            <a:off x="7486650" y="4391025"/>
            <a:ext cx="40576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 · C2 · C3 error 0 + C4 arc 12 / 12</a:t>
            </a:r>
            <a:endParaRPr lang="en-US" sz="1200" dirty="0"/>
          </a:p>
          <a:p>
            <a:pPr marL="177800" indent="-177800"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미달 시 FAIL + error 수 출력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· 새 TB 제안 · TB 작성 순서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Five Steps Turn an FSM Spec into a Self-Checking TB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 / 56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333500"/>
            <a:ext cx="21336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9"/>
          <p:cNvSpPr/>
          <p:nvPr/>
        </p:nvSpPr>
        <p:spPr>
          <a:xfrm>
            <a:off x="590550" y="1504950"/>
            <a:ext cx="381000" cy="38100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10"/>
          <p:cNvSpPr txBox="1"/>
          <p:nvPr/>
        </p:nvSpPr>
        <p:spPr>
          <a:xfrm>
            <a:off x="590550" y="15049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700" dirty="0"/>
          </a:p>
        </p:txBody>
      </p:sp>
      <p:sp>
        <p:nvSpPr>
          <p:cNvPr id="11" name="Text 11"/>
          <p:cNvSpPr txBox="1"/>
          <p:nvPr/>
        </p:nvSpPr>
        <p:spPr>
          <a:xfrm>
            <a:off x="1066800" y="1428750"/>
            <a:ext cx="1447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5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Spec 표 → Golden</a:t>
            </a:r>
            <a:endParaRPr lang="en-US" sz="1450" dirty="0"/>
          </a:p>
        </p:txBody>
      </p:sp>
      <p:cxnSp>
        <p:nvCxnSpPr>
          <p:cNvPr id="12" name="Line 12"/>
          <p:cNvCxnSpPr/>
          <p:nvPr/>
        </p:nvCxnSpPr>
        <p:spPr>
          <a:xfrm>
            <a:off x="2609850" y="1695450"/>
            <a:ext cx="114300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13" name="Shape 13"/>
          <p:cNvSpPr/>
          <p:nvPr/>
        </p:nvSpPr>
        <p:spPr>
          <a:xfrm>
            <a:off x="457200" y="2209800"/>
            <a:ext cx="2133600" cy="4038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4"/>
          <p:cNvSpPr txBox="1"/>
          <p:nvPr/>
        </p:nvSpPr>
        <p:spPr>
          <a:xfrm>
            <a:off x="609600" y="2362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v2 구현</a:t>
            </a:r>
            <a:endParaRPr lang="en-US" sz="1100" dirty="0"/>
          </a:p>
        </p:txBody>
      </p:sp>
      <p:sp>
        <p:nvSpPr>
          <p:cNvPr id="15" name="Shape 15"/>
          <p:cNvSpPr/>
          <p:nvPr/>
        </p:nvSpPr>
        <p:spPr>
          <a:xfrm>
            <a:off x="609600" y="2609850"/>
            <a:ext cx="1828800" cy="609600"/>
          </a:xfrm>
          <a:prstGeom prst="roundRect">
            <a:avLst>
              <a:gd name="adj" fmla="val 8000"/>
            </a:avLst>
          </a:prstGeom>
          <a:solidFill>
            <a:srgbClr val="1E1E2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6"/>
          <p:cNvSpPr txBox="1"/>
          <p:nvPr/>
        </p:nvSpPr>
        <p:spPr>
          <a:xfrm>
            <a:off x="704850" y="2609850"/>
            <a:ext cx="16383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g_next · g_code function</a:t>
            </a:r>
            <a:endParaRPr lang="en-US" sz="1050" dirty="0"/>
          </a:p>
        </p:txBody>
      </p:sp>
      <p:sp>
        <p:nvSpPr>
          <p:cNvPr id="17" name="Text 17"/>
          <p:cNvSpPr txBox="1"/>
          <p:nvPr/>
        </p:nvSpPr>
        <p:spPr>
          <a:xfrm>
            <a:off x="609600" y="34290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FSM 적용</a:t>
            </a:r>
            <a:endParaRPr lang="en-US" sz="1100" dirty="0"/>
          </a:p>
        </p:txBody>
      </p:sp>
      <p:sp>
        <p:nvSpPr>
          <p:cNvPr id="18" name="Text 18"/>
          <p:cNvSpPr txBox="1"/>
          <p:nvPr/>
        </p:nvSpPr>
        <p:spPr>
          <a:xfrm>
            <a:off x="609600" y="3695700"/>
            <a:ext cx="1828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× 입력 표를 function으로 작성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 코드와 다른 형태 (삼항 · 표)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코드 직접 기재</a:t>
            </a:r>
            <a:endParaRPr lang="en-US" sz="1250" dirty="0"/>
          </a:p>
        </p:txBody>
      </p:sp>
      <p:sp>
        <p:nvSpPr>
          <p:cNvPr id="19" name="Text 19"/>
          <p:cNvSpPr txBox="1"/>
          <p:nvPr/>
        </p:nvSpPr>
        <p:spPr>
          <a:xfrm>
            <a:off x="609600" y="5410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Check</a:t>
            </a:r>
            <a:endParaRPr lang="en-US" sz="1100" dirty="0"/>
          </a:p>
        </p:txBody>
      </p:sp>
      <p:sp>
        <p:nvSpPr>
          <p:cNvPr id="20" name="Shape 20"/>
          <p:cNvSpPr/>
          <p:nvPr/>
        </p:nvSpPr>
        <p:spPr>
          <a:xfrm>
            <a:off x="609600" y="5657850"/>
            <a:ext cx="1828800" cy="400050"/>
          </a:xfrm>
          <a:prstGeom prst="roundRect">
            <a:avLst>
              <a:gd name="adj" fmla="val 12000"/>
            </a:avLst>
          </a:prstGeom>
          <a:solidFill>
            <a:srgbClr val="2E7D3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21"/>
          <p:cNvSpPr txBox="1"/>
          <p:nvPr/>
        </p:nvSpPr>
        <p:spPr>
          <a:xfrm>
            <a:off x="609600" y="5657850"/>
            <a:ext cx="18288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 기대값</a:t>
            </a:r>
            <a:endParaRPr lang="en-US" sz="1300" dirty="0"/>
          </a:p>
        </p:txBody>
      </p:sp>
      <p:sp>
        <p:nvSpPr>
          <p:cNvPr id="22" name="Shape 22"/>
          <p:cNvSpPr/>
          <p:nvPr/>
        </p:nvSpPr>
        <p:spPr>
          <a:xfrm>
            <a:off x="2743200" y="1333500"/>
            <a:ext cx="21336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3"/>
          <p:cNvSpPr/>
          <p:nvPr/>
        </p:nvSpPr>
        <p:spPr>
          <a:xfrm>
            <a:off x="2876550" y="1504950"/>
            <a:ext cx="381000" cy="381000"/>
          </a:xfrm>
          <a:prstGeom prst="ellipse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4"/>
          <p:cNvSpPr txBox="1"/>
          <p:nvPr/>
        </p:nvSpPr>
        <p:spPr>
          <a:xfrm>
            <a:off x="2876550" y="15049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700" dirty="0"/>
          </a:p>
        </p:txBody>
      </p:sp>
      <p:sp>
        <p:nvSpPr>
          <p:cNvPr id="25" name="Text 25"/>
          <p:cNvSpPr txBox="1"/>
          <p:nvPr/>
        </p:nvSpPr>
        <p:spPr>
          <a:xfrm>
            <a:off x="3352800" y="1428750"/>
            <a:ext cx="1447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5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 갱신</a:t>
            </a:r>
            <a:endParaRPr lang="en-US" sz="1450" dirty="0"/>
          </a:p>
        </p:txBody>
      </p:sp>
      <p:cxnSp>
        <p:nvCxnSpPr>
          <p:cNvPr id="26" name="Line 26"/>
          <p:cNvCxnSpPr/>
          <p:nvPr/>
        </p:nvCxnSpPr>
        <p:spPr>
          <a:xfrm>
            <a:off x="4895850" y="1695450"/>
            <a:ext cx="114300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27" name="Shape 27"/>
          <p:cNvSpPr/>
          <p:nvPr/>
        </p:nvSpPr>
        <p:spPr>
          <a:xfrm>
            <a:off x="2743200" y="2209800"/>
            <a:ext cx="2133600" cy="4038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8"/>
          <p:cNvSpPr txBox="1"/>
          <p:nvPr/>
        </p:nvSpPr>
        <p:spPr>
          <a:xfrm>
            <a:off x="2895600" y="2362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v2 구현</a:t>
            </a:r>
            <a:endParaRPr lang="en-US" sz="1100" dirty="0"/>
          </a:p>
        </p:txBody>
      </p:sp>
      <p:sp>
        <p:nvSpPr>
          <p:cNvPr id="29" name="Shape 29"/>
          <p:cNvSpPr/>
          <p:nvPr/>
        </p:nvSpPr>
        <p:spPr>
          <a:xfrm>
            <a:off x="2895600" y="2609850"/>
            <a:ext cx="1828800" cy="609600"/>
          </a:xfrm>
          <a:prstGeom prst="roundRect">
            <a:avLst>
              <a:gd name="adj" fmla="val 8000"/>
            </a:avLst>
          </a:prstGeom>
          <a:solidFill>
            <a:srgbClr val="1E1E2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30"/>
          <p:cNvSpPr txBox="1"/>
          <p:nvPr/>
        </p:nvSpPr>
        <p:spPr>
          <a:xfrm>
            <a:off x="2990850" y="2609850"/>
            <a:ext cx="16383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b="1" dirty="0">
                <a:solidFill>
                  <a:srgbClr val="C08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always @(posedge i_clk or posedge i_reset)</a:t>
            </a:r>
            <a:endParaRPr lang="en-US" sz="1050" dirty="0"/>
          </a:p>
        </p:txBody>
      </p:sp>
      <p:sp>
        <p:nvSpPr>
          <p:cNvPr id="31" name="Text 31"/>
          <p:cNvSpPr txBox="1"/>
          <p:nvPr/>
        </p:nvSpPr>
        <p:spPr>
          <a:xfrm>
            <a:off x="2895600" y="34290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FSM 적용</a:t>
            </a:r>
            <a:endParaRPr lang="en-US" sz="1100" dirty="0"/>
          </a:p>
        </p:txBody>
      </p:sp>
      <p:sp>
        <p:nvSpPr>
          <p:cNvPr id="32" name="Text 32"/>
          <p:cNvSpPr txBox="1"/>
          <p:nvPr/>
        </p:nvSpPr>
        <p:spPr>
          <a:xfrm>
            <a:off x="2895600" y="3695700"/>
            <a:ext cx="1828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DUT와 같은 clock · reset 조건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 reset DUT일 경우 동기 형태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실행 횟수 기록</a:t>
            </a:r>
            <a:endParaRPr lang="en-US" sz="1250" dirty="0"/>
          </a:p>
        </p:txBody>
      </p:sp>
      <p:sp>
        <p:nvSpPr>
          <p:cNvPr id="33" name="Text 33"/>
          <p:cNvSpPr txBox="1"/>
          <p:nvPr/>
        </p:nvSpPr>
        <p:spPr>
          <a:xfrm>
            <a:off x="2895600" y="5410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Check</a:t>
            </a:r>
            <a:endParaRPr lang="en-US" sz="1100" dirty="0"/>
          </a:p>
        </p:txBody>
      </p:sp>
      <p:sp>
        <p:nvSpPr>
          <p:cNvPr id="34" name="Shape 34"/>
          <p:cNvSpPr/>
          <p:nvPr/>
        </p:nvSpPr>
        <p:spPr>
          <a:xfrm>
            <a:off x="2895600" y="5657850"/>
            <a:ext cx="1828800" cy="400050"/>
          </a:xfrm>
          <a:prstGeom prst="roundRect">
            <a:avLst>
              <a:gd name="adj" fmla="val 12000"/>
            </a:avLst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5"/>
          <p:cNvSpPr txBox="1"/>
          <p:nvPr/>
        </p:nvSpPr>
        <p:spPr>
          <a:xfrm>
            <a:off x="2895600" y="5657850"/>
            <a:ext cx="18288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 기대 state · C4 표</a:t>
            </a:r>
            <a:endParaRPr lang="en-US" sz="1300" dirty="0"/>
          </a:p>
        </p:txBody>
      </p:sp>
      <p:sp>
        <p:nvSpPr>
          <p:cNvPr id="36" name="Shape 36"/>
          <p:cNvSpPr/>
          <p:nvPr/>
        </p:nvSpPr>
        <p:spPr>
          <a:xfrm>
            <a:off x="5029200" y="1333500"/>
            <a:ext cx="21336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7"/>
          <p:cNvSpPr/>
          <p:nvPr/>
        </p:nvSpPr>
        <p:spPr>
          <a:xfrm>
            <a:off x="5162550" y="1504950"/>
            <a:ext cx="381000" cy="38100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8"/>
          <p:cNvSpPr txBox="1"/>
          <p:nvPr/>
        </p:nvSpPr>
        <p:spPr>
          <a:xfrm>
            <a:off x="5162550" y="15049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700" dirty="0"/>
          </a:p>
        </p:txBody>
      </p:sp>
      <p:sp>
        <p:nvSpPr>
          <p:cNvPr id="39" name="Text 39"/>
          <p:cNvSpPr txBox="1"/>
          <p:nvPr/>
        </p:nvSpPr>
        <p:spPr>
          <a:xfrm>
            <a:off x="5638800" y="1428750"/>
            <a:ext cx="1447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5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Checker 시점</a:t>
            </a:r>
            <a:endParaRPr lang="en-US" sz="1450" dirty="0"/>
          </a:p>
        </p:txBody>
      </p:sp>
      <p:cxnSp>
        <p:nvCxnSpPr>
          <p:cNvPr id="40" name="Line 40"/>
          <p:cNvCxnSpPr/>
          <p:nvPr/>
        </p:nvCxnSpPr>
        <p:spPr>
          <a:xfrm>
            <a:off x="7181850" y="1695450"/>
            <a:ext cx="114300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41" name="Shape 41"/>
          <p:cNvSpPr/>
          <p:nvPr/>
        </p:nvSpPr>
        <p:spPr>
          <a:xfrm>
            <a:off x="5029200" y="2209800"/>
            <a:ext cx="2133600" cy="4038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5181600" y="2362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v2 구현</a:t>
            </a:r>
            <a:endParaRPr lang="en-US" sz="1100" dirty="0"/>
          </a:p>
        </p:txBody>
      </p:sp>
      <p:sp>
        <p:nvSpPr>
          <p:cNvPr id="43" name="Shape 43"/>
          <p:cNvSpPr/>
          <p:nvPr/>
        </p:nvSpPr>
        <p:spPr>
          <a:xfrm>
            <a:off x="5181600" y="2609850"/>
            <a:ext cx="1828800" cy="609600"/>
          </a:xfrm>
          <a:prstGeom prst="roundRect">
            <a:avLst>
              <a:gd name="adj" fmla="val 8000"/>
            </a:avLst>
          </a:prstGeom>
          <a:solidFill>
            <a:srgbClr val="1E1E2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5276850" y="2609850"/>
            <a:ext cx="16383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b="1" dirty="0">
                <a:solidFill>
                  <a:srgbClr val="F8717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negedge · !== 비교</a:t>
            </a:r>
            <a:endParaRPr lang="en-US" sz="1050" dirty="0"/>
          </a:p>
        </p:txBody>
      </p:sp>
      <p:sp>
        <p:nvSpPr>
          <p:cNvPr id="45" name="Text 45"/>
          <p:cNvSpPr txBox="1"/>
          <p:nvPr/>
        </p:nvSpPr>
        <p:spPr>
          <a:xfrm>
            <a:off x="5181600" y="34290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FSM 적용</a:t>
            </a:r>
            <a:endParaRPr lang="en-US" sz="1100" dirty="0"/>
          </a:p>
        </p:txBody>
      </p:sp>
      <p:sp>
        <p:nvSpPr>
          <p:cNvPr id="46" name="Text 46"/>
          <p:cNvSpPr txBox="1"/>
          <p:nvPr/>
        </p:nvSpPr>
        <p:spPr>
          <a:xfrm>
            <a:off x="5181600" y="3695700"/>
            <a:ext cx="1828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· 출력 안정 구간에서 판정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포트만 관측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X · Z까지 비교</a:t>
            </a:r>
            <a:endParaRPr lang="en-US" sz="1250" dirty="0"/>
          </a:p>
        </p:txBody>
      </p:sp>
      <p:sp>
        <p:nvSpPr>
          <p:cNvPr id="47" name="Text 47"/>
          <p:cNvSpPr txBox="1"/>
          <p:nvPr/>
        </p:nvSpPr>
        <p:spPr>
          <a:xfrm>
            <a:off x="5181600" y="5410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Check</a:t>
            </a:r>
            <a:endParaRPr lang="en-US" sz="1100" dirty="0"/>
          </a:p>
        </p:txBody>
      </p:sp>
      <p:sp>
        <p:nvSpPr>
          <p:cNvPr id="48" name="Shape 48"/>
          <p:cNvSpPr/>
          <p:nvPr/>
        </p:nvSpPr>
        <p:spPr>
          <a:xfrm>
            <a:off x="5181600" y="5657850"/>
            <a:ext cx="1828800" cy="400050"/>
          </a:xfrm>
          <a:prstGeom prst="roundRect">
            <a:avLst>
              <a:gd name="adj" fmla="val 12000"/>
            </a:avLst>
          </a:prstGeom>
          <a:solidFill>
            <a:srgbClr val="C6282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9"/>
          <p:cNvSpPr txBox="1"/>
          <p:nvPr/>
        </p:nvSpPr>
        <p:spPr>
          <a:xfrm>
            <a:off x="5181600" y="5657850"/>
            <a:ext cx="18288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</a:t>
            </a:r>
            <a:endParaRPr lang="en-US" sz="1300" dirty="0"/>
          </a:p>
        </p:txBody>
      </p:sp>
      <p:sp>
        <p:nvSpPr>
          <p:cNvPr id="50" name="Shape 50"/>
          <p:cNvSpPr/>
          <p:nvPr/>
        </p:nvSpPr>
        <p:spPr>
          <a:xfrm>
            <a:off x="7315200" y="1333500"/>
            <a:ext cx="21336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51"/>
          <p:cNvSpPr/>
          <p:nvPr/>
        </p:nvSpPr>
        <p:spPr>
          <a:xfrm>
            <a:off x="7448550" y="1504950"/>
            <a:ext cx="381000" cy="38100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2"/>
          <p:cNvSpPr txBox="1"/>
          <p:nvPr/>
        </p:nvSpPr>
        <p:spPr>
          <a:xfrm>
            <a:off x="7448550" y="15049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700" dirty="0"/>
          </a:p>
        </p:txBody>
      </p:sp>
      <p:sp>
        <p:nvSpPr>
          <p:cNvPr id="53" name="Text 53"/>
          <p:cNvSpPr txBox="1"/>
          <p:nvPr/>
        </p:nvSpPr>
        <p:spPr>
          <a:xfrm>
            <a:off x="7924800" y="1428750"/>
            <a:ext cx="1447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5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Driver task</a:t>
            </a:r>
            <a:endParaRPr lang="en-US" sz="1450" dirty="0"/>
          </a:p>
        </p:txBody>
      </p:sp>
      <p:cxnSp>
        <p:nvCxnSpPr>
          <p:cNvPr id="54" name="Line 54"/>
          <p:cNvCxnSpPr/>
          <p:nvPr/>
        </p:nvCxnSpPr>
        <p:spPr>
          <a:xfrm>
            <a:off x="9467850" y="1695450"/>
            <a:ext cx="114300" cy="0"/>
          </a:xfrm>
          <a:prstGeom prst="line">
            <a:avLst/>
          </a:prstGeom>
          <a:ln w="15875">
            <a:solidFill>
              <a:srgbClr val="64748B"/>
            </a:solidFill>
            <a:tailEnd type="triangle" w="med" len="med"/>
          </a:ln>
        </p:spPr>
      </p:cxnSp>
      <p:sp>
        <p:nvSpPr>
          <p:cNvPr id="55" name="Shape 55"/>
          <p:cNvSpPr/>
          <p:nvPr/>
        </p:nvSpPr>
        <p:spPr>
          <a:xfrm>
            <a:off x="7315200" y="2209800"/>
            <a:ext cx="2133600" cy="4038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7467600" y="2362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v2 구현</a:t>
            </a:r>
            <a:endParaRPr lang="en-US" sz="1100" dirty="0"/>
          </a:p>
        </p:txBody>
      </p:sp>
      <p:sp>
        <p:nvSpPr>
          <p:cNvPr id="57" name="Shape 57"/>
          <p:cNvSpPr/>
          <p:nvPr/>
        </p:nvSpPr>
        <p:spPr>
          <a:xfrm>
            <a:off x="7467600" y="2609850"/>
            <a:ext cx="1828800" cy="609600"/>
          </a:xfrm>
          <a:prstGeom prst="roundRect">
            <a:avLst>
              <a:gd name="adj" fmla="val 8000"/>
            </a:avLst>
          </a:prstGeom>
          <a:solidFill>
            <a:srgbClr val="1E1E2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8"/>
          <p:cNvSpPr txBox="1"/>
          <p:nvPr/>
        </p:nvSpPr>
        <p:spPr>
          <a:xfrm>
            <a:off x="7562850" y="2609850"/>
            <a:ext cx="16383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b="1" dirty="0">
                <a:solidFill>
                  <a:srgbClr val="FB92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drive · async_reset · arc</a:t>
            </a:r>
            <a:endParaRPr lang="en-US" sz="1050" dirty="0"/>
          </a:p>
        </p:txBody>
      </p:sp>
      <p:sp>
        <p:nvSpPr>
          <p:cNvPr id="59" name="Text 59"/>
          <p:cNvSpPr txBox="1"/>
          <p:nvPr/>
        </p:nvSpPr>
        <p:spPr>
          <a:xfrm>
            <a:off x="7467600" y="34290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FSM 적용</a:t>
            </a:r>
            <a:endParaRPr lang="en-US" sz="1100" dirty="0"/>
          </a:p>
        </p:txBody>
      </p:sp>
      <p:sp>
        <p:nvSpPr>
          <p:cNvPr id="60" name="Text 60"/>
          <p:cNvSpPr txBox="1"/>
          <p:nvPr/>
        </p:nvSpPr>
        <p:spPr>
          <a:xfrm>
            <a:off x="7467600" y="3695700"/>
            <a:ext cx="1828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인가 + 구조 검사 묶음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 불변 · async reset 확인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call = 1 clock</a:t>
            </a:r>
            <a:endParaRPr lang="en-US" sz="1250" dirty="0"/>
          </a:p>
        </p:txBody>
      </p:sp>
      <p:sp>
        <p:nvSpPr>
          <p:cNvPr id="61" name="Text 61"/>
          <p:cNvSpPr txBox="1"/>
          <p:nvPr/>
        </p:nvSpPr>
        <p:spPr>
          <a:xfrm>
            <a:off x="7467600" y="5410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Check</a:t>
            </a:r>
            <a:endParaRPr lang="en-US" sz="1100" dirty="0"/>
          </a:p>
        </p:txBody>
      </p:sp>
      <p:sp>
        <p:nvSpPr>
          <p:cNvPr id="62" name="Shape 62"/>
          <p:cNvSpPr/>
          <p:nvPr/>
        </p:nvSpPr>
        <p:spPr>
          <a:xfrm>
            <a:off x="7467600" y="5657850"/>
            <a:ext cx="1828800" cy="400050"/>
          </a:xfrm>
          <a:prstGeom prst="roundRect">
            <a:avLst>
              <a:gd name="adj" fmla="val 12000"/>
            </a:avLst>
          </a:prstGeom>
          <a:solidFill>
            <a:srgbClr val="E65100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3"/>
          <p:cNvSpPr txBox="1"/>
          <p:nvPr/>
        </p:nvSpPr>
        <p:spPr>
          <a:xfrm>
            <a:off x="7467600" y="5657850"/>
            <a:ext cx="18288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C2 · C3</a:t>
            </a:r>
            <a:endParaRPr lang="en-US" sz="1300" dirty="0"/>
          </a:p>
        </p:txBody>
      </p:sp>
      <p:sp>
        <p:nvSpPr>
          <p:cNvPr id="64" name="Shape 64"/>
          <p:cNvSpPr/>
          <p:nvPr/>
        </p:nvSpPr>
        <p:spPr>
          <a:xfrm>
            <a:off x="9601200" y="1333500"/>
            <a:ext cx="2133600" cy="723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5"/>
          <p:cNvSpPr/>
          <p:nvPr/>
        </p:nvSpPr>
        <p:spPr>
          <a:xfrm>
            <a:off x="9734550" y="1504950"/>
            <a:ext cx="381000" cy="38100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6"/>
          <p:cNvSpPr txBox="1"/>
          <p:nvPr/>
        </p:nvSpPr>
        <p:spPr>
          <a:xfrm>
            <a:off x="9734550" y="150495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7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700" dirty="0"/>
          </a:p>
        </p:txBody>
      </p:sp>
      <p:sp>
        <p:nvSpPr>
          <p:cNvPr id="67" name="Text 67"/>
          <p:cNvSpPr txBox="1"/>
          <p:nvPr/>
        </p:nvSpPr>
        <p:spPr>
          <a:xfrm>
            <a:off x="10210800" y="1428750"/>
            <a:ext cx="1447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50" b="1" dirty="0">
                <a:solidFill>
                  <a:srgbClr val="1D4E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Stimulus · Report</a:t>
            </a:r>
            <a:endParaRPr lang="en-US" sz="1450" dirty="0"/>
          </a:p>
        </p:txBody>
      </p:sp>
      <p:sp>
        <p:nvSpPr>
          <p:cNvPr id="68" name="Shape 68"/>
          <p:cNvSpPr/>
          <p:nvPr/>
        </p:nvSpPr>
        <p:spPr>
          <a:xfrm>
            <a:off x="9601200" y="2209800"/>
            <a:ext cx="2133600" cy="4038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9"/>
          <p:cNvSpPr txBox="1"/>
          <p:nvPr/>
        </p:nvSpPr>
        <p:spPr>
          <a:xfrm>
            <a:off x="9753600" y="2362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v2 구현</a:t>
            </a:r>
            <a:endParaRPr lang="en-US" sz="1100" dirty="0"/>
          </a:p>
        </p:txBody>
      </p:sp>
      <p:sp>
        <p:nvSpPr>
          <p:cNvPr id="70" name="Shape 70"/>
          <p:cNvSpPr/>
          <p:nvPr/>
        </p:nvSpPr>
        <p:spPr>
          <a:xfrm>
            <a:off x="9753600" y="2609850"/>
            <a:ext cx="1828800" cy="609600"/>
          </a:xfrm>
          <a:prstGeom prst="roundRect">
            <a:avLst>
              <a:gd name="adj" fmla="val 8000"/>
            </a:avLst>
          </a:prstGeom>
          <a:solidFill>
            <a:srgbClr val="1E1E2E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71"/>
          <p:cNvSpPr txBox="1"/>
          <p:nvPr/>
        </p:nvSpPr>
        <p:spPr>
          <a:xfrm>
            <a:off x="9848850" y="2609850"/>
            <a:ext cx="16383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5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arc → random 300 → 표</a:t>
            </a:r>
            <a:endParaRPr lang="en-US" sz="1050" dirty="0"/>
          </a:p>
        </p:txBody>
      </p:sp>
      <p:sp>
        <p:nvSpPr>
          <p:cNvPr id="72" name="Text 72"/>
          <p:cNvSpPr txBox="1"/>
          <p:nvPr/>
        </p:nvSpPr>
        <p:spPr>
          <a:xfrm>
            <a:off x="9753600" y="34290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FSM 적용</a:t>
            </a:r>
            <a:endParaRPr lang="en-US" sz="1100" dirty="0"/>
          </a:p>
        </p:txBody>
      </p:sp>
      <p:sp>
        <p:nvSpPr>
          <p:cNvPr id="73" name="Text 73"/>
          <p:cNvSpPr txBox="1"/>
          <p:nvPr/>
        </p:nvSpPr>
        <p:spPr>
          <a:xfrm>
            <a:off x="9753600" y="3695700"/>
            <a:ext cx="1828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directed 전수 arc 먼저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random + 고정 seed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ko-KR" altLang="en-US" sz="125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coverage 표 · error 수 · PASS/FAIL</a:t>
            </a:r>
            <a:endParaRPr lang="en-US" sz="1250" dirty="0"/>
          </a:p>
        </p:txBody>
      </p:sp>
      <p:sp>
        <p:nvSpPr>
          <p:cNvPr id="74" name="Text 74"/>
          <p:cNvSpPr txBox="1"/>
          <p:nvPr/>
        </p:nvSpPr>
        <p:spPr>
          <a:xfrm>
            <a:off x="9753600" y="5410200"/>
            <a:ext cx="1828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관련 Check</a:t>
            </a:r>
            <a:endParaRPr lang="en-US" sz="1100" dirty="0"/>
          </a:p>
        </p:txBody>
      </p:sp>
      <p:sp>
        <p:nvSpPr>
          <p:cNvPr id="75" name="Shape 75"/>
          <p:cNvSpPr/>
          <p:nvPr/>
        </p:nvSpPr>
        <p:spPr>
          <a:xfrm>
            <a:off x="9753600" y="5657850"/>
            <a:ext cx="1828800" cy="40005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6"/>
          <p:cNvSpPr txBox="1"/>
          <p:nvPr/>
        </p:nvSpPr>
        <p:spPr>
          <a:xfrm>
            <a:off x="9753600" y="5657850"/>
            <a:ext cx="18288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C4 · PASS / FAIL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DD4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· 새 TB 제안 · 실행 결과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TB Passes with 12 / 12 Arc Coverage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2DD4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57300"/>
            <a:ext cx="571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Coverage (state × i_sw, 실행 횟수)</a:t>
            </a:r>
            <a:endParaRPr lang="en-US" sz="15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62100"/>
          <a:ext cx="6096000" cy="1752600"/>
        </p:xfrm>
        <a:graphic>
          <a:graphicData uri="http://schemas.openxmlformats.org/drawingml/2006/table">
            <a:tbl>
              <a:tblPr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815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state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00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01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E65100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STOP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41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RUN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28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24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15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C628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CLEAR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22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</a:t>
                      </a:r>
                      <a:endParaRPr lang="en-US" sz="14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457200" y="3543300"/>
            <a:ext cx="5715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Check 결과 · 원본 RTL</a:t>
            </a:r>
            <a:endParaRPr lang="en-US" sz="1500" dirty="0"/>
          </a:p>
        </p:txBody>
      </p:sp>
      <p:graphicFrame>
        <p:nvGraphicFramePr>
          <p:cNvPr id="8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848100"/>
          <a:ext cx="6096000" cy="2286000"/>
        </p:xfrm>
        <a:graphic>
          <a:graphicData uri="http://schemas.openxmlformats.org/drawingml/2006/table">
            <a:tbl>
              <a:tblPr/>
              <a:tblGrid>
                <a:gridCol w="381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결과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checked cycles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333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C1 output mismatch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C2 Mealy path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C3 async reset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C4 arc coverage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300" b="1" dirty="0">
                          <a:solidFill>
                            <a:srgbClr val="2E7D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 / 12</a:t>
                      </a:r>
                      <a:endParaRPr lang="en-US" sz="13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781800" y="1295400"/>
            <a:ext cx="4953000" cy="4953000"/>
          </a:xfrm>
          <a:prstGeom prst="roundRect">
            <a:avLst>
              <a:gd name="adj" fmla="val 1477"/>
            </a:avLst>
          </a:prstGeom>
          <a:solidFill>
            <a:srgbClr val="E8F5E9"/>
          </a:solidFill>
          <a:ln w="9525">
            <a:solidFill>
              <a:srgbClr val="C8E6C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8"/>
          <p:cNvSpPr/>
          <p:nvPr/>
        </p:nvSpPr>
        <p:spPr>
          <a:xfrm>
            <a:off x="6781800" y="17145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2E7D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PASS</a:t>
            </a:r>
            <a:endParaRPr lang="en-US" sz="5400" dirty="0"/>
          </a:p>
        </p:txBody>
      </p:sp>
      <p:sp>
        <p:nvSpPr>
          <p:cNvPr id="13" name="Text 9"/>
          <p:cNvSpPr/>
          <p:nvPr/>
        </p:nvSpPr>
        <p:spPr>
          <a:xfrm>
            <a:off x="6781800" y="2438400"/>
            <a:ext cx="495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RTL · error 0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086600" y="3048000"/>
            <a:ext cx="43815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 / 56</a:t>
            </a:r>
            <a:endParaRPr lang="en-US" sz="9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B16149E-D40C-561C-3EEC-ACE7DE6A95C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1777"/>
          <a:stretch>
            <a:fillRect/>
          </a:stretch>
        </p:blipFill>
        <p:spPr>
          <a:xfrm>
            <a:off x="7402955" y="2857500"/>
            <a:ext cx="4065145" cy="3047999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· 결론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Moore FSMs Verified by Self-Checking TB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4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428750"/>
            <a:ext cx="3657600" cy="44767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457200" y="1428750"/>
            <a:ext cx="3657600" cy="5715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685800" y="16954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개념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85800" y="2190750"/>
            <a:ext cx="3238500" cy="3524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D-FF = 반대 위상 Gated Latch 2개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Setup = Master 안정 시간, Hold = clk̄ 지연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FF는 Glitch가 문제 되는 곳에만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의미 · 입력 성질로 Moore / Mealy 선택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67200" y="1428750"/>
            <a:ext cx="3657600" cy="44767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4267200" y="1428750"/>
            <a:ext cx="3657600" cy="5715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495800" y="16954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4495800" y="2190750"/>
            <a:ext cx="3238500" cy="3524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Homework-1: default 추가로 Latch 제거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HW_4_2: STOP 중심 3-state Moore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합성 결과 Output Decode 입력 = state만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077200" y="1428750"/>
            <a:ext cx="3657600" cy="447675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8077200" y="1428750"/>
            <a:ext cx="3657600" cy="57150"/>
          </a:xfrm>
          <a:prstGeom prst="rect">
            <a:avLst/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8305800" y="16954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C628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8305800" y="2190750"/>
            <a:ext cx="3238500" cy="3524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TB: 육안 판정, arc 9 / 12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결함 3종 원본과 파형 동일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TB: Golden model · arc 전수 · 결함 7 / 7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 / 56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시뮬레이션 · Golden Model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 Model Keeps Its Own State and Output Table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/ 56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6819900" cy="495300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85800" y="1447800"/>
            <a:ext cx="3810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 vs Golden Model</a:t>
            </a:r>
            <a:endParaRPr lang="en-US" sz="1500" dirty="0"/>
          </a:p>
        </p:txBody>
      </p:sp>
      <p:sp>
        <p:nvSpPr>
          <p:cNvPr id="10" name="Shape 10"/>
          <p:cNvSpPr/>
          <p:nvPr/>
        </p:nvSpPr>
        <p:spPr>
          <a:xfrm>
            <a:off x="685800" y="1828800"/>
            <a:ext cx="1333500" cy="3810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11"/>
          <p:cNvSpPr txBox="1"/>
          <p:nvPr/>
        </p:nvSpPr>
        <p:spPr>
          <a:xfrm>
            <a:off x="742950" y="1828800"/>
            <a:ext cx="121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1200" dirty="0"/>
          </a:p>
        </p:txBody>
      </p:sp>
      <p:sp>
        <p:nvSpPr>
          <p:cNvPr id="12" name="Shape 12"/>
          <p:cNvSpPr/>
          <p:nvPr/>
        </p:nvSpPr>
        <p:spPr>
          <a:xfrm>
            <a:off x="2019300" y="1828800"/>
            <a:ext cx="2514600" cy="3810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3"/>
          <p:cNvSpPr txBox="1"/>
          <p:nvPr/>
        </p:nvSpPr>
        <p:spPr>
          <a:xfrm>
            <a:off x="2076450" y="1828800"/>
            <a:ext cx="2400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 · FSM_S3</a:t>
            </a:r>
            <a:endParaRPr lang="en-US" sz="1200" dirty="0"/>
          </a:p>
        </p:txBody>
      </p:sp>
      <p:sp>
        <p:nvSpPr>
          <p:cNvPr id="14" name="Shape 14"/>
          <p:cNvSpPr/>
          <p:nvPr/>
        </p:nvSpPr>
        <p:spPr>
          <a:xfrm>
            <a:off x="4533900" y="1828800"/>
            <a:ext cx="2514600" cy="3810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5"/>
          <p:cNvSpPr txBox="1"/>
          <p:nvPr/>
        </p:nvSpPr>
        <p:spPr>
          <a:xfrm>
            <a:off x="4591050" y="1828800"/>
            <a:ext cx="24003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 · tb_FSM_S3</a:t>
            </a:r>
            <a:endParaRPr lang="en-US" sz="1200" dirty="0"/>
          </a:p>
        </p:txBody>
      </p:sp>
      <p:sp>
        <p:nvSpPr>
          <p:cNvPr id="16" name="Shape 16"/>
          <p:cNvSpPr/>
          <p:nvPr/>
        </p:nvSpPr>
        <p:spPr>
          <a:xfrm>
            <a:off x="685800" y="2209800"/>
            <a:ext cx="1333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781050" y="220980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변수</a:t>
            </a:r>
            <a:endParaRPr lang="en-US" sz="1200" dirty="0"/>
          </a:p>
        </p:txBody>
      </p:sp>
      <p:sp>
        <p:nvSpPr>
          <p:cNvPr id="18" name="Shape 18"/>
          <p:cNvSpPr/>
          <p:nvPr/>
        </p:nvSpPr>
        <p:spPr>
          <a:xfrm>
            <a:off x="2019300" y="220980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9"/>
          <p:cNvSpPr txBox="1"/>
          <p:nvPr/>
        </p:nvSpPr>
        <p:spPr>
          <a:xfrm>
            <a:off x="2114550" y="220980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state_t enum</a:t>
            </a:r>
            <a:endParaRPr lang="en-US" sz="1200" dirty="0"/>
          </a:p>
        </p:txBody>
      </p:sp>
      <p:sp>
        <p:nvSpPr>
          <p:cNvPr id="20" name="Shape 20"/>
          <p:cNvSpPr/>
          <p:nvPr/>
        </p:nvSpPr>
        <p:spPr>
          <a:xfrm>
            <a:off x="4533900" y="220980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21"/>
          <p:cNvSpPr txBox="1"/>
          <p:nvPr/>
        </p:nvSpPr>
        <p:spPr>
          <a:xfrm>
            <a:off x="4629150" y="220980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integer state</a:t>
            </a:r>
            <a:endParaRPr lang="en-US" sz="1200" dirty="0"/>
          </a:p>
        </p:txBody>
      </p:sp>
      <p:sp>
        <p:nvSpPr>
          <p:cNvPr id="22" name="Shape 22"/>
          <p:cNvSpPr/>
          <p:nvPr/>
        </p:nvSpPr>
        <p:spPr>
          <a:xfrm>
            <a:off x="685800" y="2800350"/>
            <a:ext cx="1333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3"/>
          <p:cNvSpPr txBox="1"/>
          <p:nvPr/>
        </p:nvSpPr>
        <p:spPr>
          <a:xfrm>
            <a:off x="781050" y="280035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 번호</a:t>
            </a:r>
            <a:endParaRPr lang="en-US" sz="1200" dirty="0"/>
          </a:p>
        </p:txBody>
      </p:sp>
      <p:sp>
        <p:nvSpPr>
          <p:cNvPr id="24" name="Shape 24"/>
          <p:cNvSpPr/>
          <p:nvPr/>
        </p:nvSpPr>
        <p:spPr>
          <a:xfrm>
            <a:off x="2019300" y="280035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5"/>
          <p:cNvSpPr txBox="1"/>
          <p:nvPr/>
        </p:nvSpPr>
        <p:spPr>
          <a:xfrm>
            <a:off x="2114550" y="280035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enum S0 ~ S4</a:t>
            </a:r>
            <a:endParaRPr lang="en-US" sz="1200" dirty="0"/>
          </a:p>
        </p:txBody>
      </p:sp>
      <p:sp>
        <p:nvSpPr>
          <p:cNvPr id="26" name="Shape 26"/>
          <p:cNvSpPr/>
          <p:nvPr/>
        </p:nvSpPr>
        <p:spPr>
          <a:xfrm>
            <a:off x="4533900" y="280035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7"/>
          <p:cNvSpPr txBox="1"/>
          <p:nvPr/>
        </p:nvSpPr>
        <p:spPr>
          <a:xfrm>
            <a:off x="4629150" y="280035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localparam S0 ~ S4 = 0 ~ 4</a:t>
            </a:r>
            <a:endParaRPr lang="en-US" sz="1200" dirty="0"/>
          </a:p>
        </p:txBody>
      </p:sp>
      <p:sp>
        <p:nvSpPr>
          <p:cNvPr id="28" name="Shape 28"/>
          <p:cNvSpPr/>
          <p:nvPr/>
        </p:nvSpPr>
        <p:spPr>
          <a:xfrm>
            <a:off x="685800" y="3390900"/>
            <a:ext cx="1333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9"/>
          <p:cNvSpPr txBox="1"/>
          <p:nvPr/>
        </p:nvSpPr>
        <p:spPr>
          <a:xfrm>
            <a:off x="781050" y="339090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Next-State</a:t>
            </a:r>
            <a:endParaRPr lang="en-US" sz="1200" dirty="0"/>
          </a:p>
        </p:txBody>
      </p:sp>
      <p:sp>
        <p:nvSpPr>
          <p:cNvPr id="30" name="Shape 30"/>
          <p:cNvSpPr/>
          <p:nvPr/>
        </p:nvSpPr>
        <p:spPr>
          <a:xfrm>
            <a:off x="2019300" y="339090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31"/>
          <p:cNvSpPr txBox="1"/>
          <p:nvPr/>
        </p:nvSpPr>
        <p:spPr>
          <a:xfrm>
            <a:off x="2114550" y="339090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always @(*) · case + if-else</a:t>
            </a:r>
            <a:endParaRPr lang="en-US" sz="1200" dirty="0"/>
          </a:p>
        </p:txBody>
      </p:sp>
      <p:sp>
        <p:nvSpPr>
          <p:cNvPr id="32" name="Shape 32"/>
          <p:cNvSpPr/>
          <p:nvPr/>
        </p:nvSpPr>
        <p:spPr>
          <a:xfrm>
            <a:off x="4533900" y="339090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3"/>
          <p:cNvSpPr txBox="1"/>
          <p:nvPr/>
        </p:nvSpPr>
        <p:spPr>
          <a:xfrm>
            <a:off x="4629150" y="339090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n_state · 삼항 연산</a:t>
            </a:r>
            <a:endParaRPr lang="en-US" sz="1200" dirty="0"/>
          </a:p>
        </p:txBody>
      </p:sp>
      <p:sp>
        <p:nvSpPr>
          <p:cNvPr id="34" name="Shape 34"/>
          <p:cNvSpPr/>
          <p:nvPr/>
        </p:nvSpPr>
        <p:spPr>
          <a:xfrm>
            <a:off x="685800" y="3981450"/>
            <a:ext cx="1333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5"/>
          <p:cNvSpPr txBox="1"/>
          <p:nvPr/>
        </p:nvSpPr>
        <p:spPr>
          <a:xfrm>
            <a:off x="781050" y="398145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 code</a:t>
            </a:r>
            <a:endParaRPr lang="en-US" sz="1200" dirty="0"/>
          </a:p>
        </p:txBody>
      </p:sp>
      <p:sp>
        <p:nvSpPr>
          <p:cNvPr id="36" name="Shape 36"/>
          <p:cNvSpPr/>
          <p:nvPr/>
        </p:nvSpPr>
        <p:spPr>
          <a:xfrm>
            <a:off x="2019300" y="398145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7"/>
          <p:cNvSpPr txBox="1"/>
          <p:nvPr/>
        </p:nvSpPr>
        <p:spPr>
          <a:xfrm>
            <a:off x="2114550" y="398145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default → n_state = state</a:t>
            </a:r>
            <a:endParaRPr lang="en-US" sz="1200" dirty="0"/>
          </a:p>
        </p:txBody>
      </p:sp>
      <p:sp>
        <p:nvSpPr>
          <p:cNvPr id="38" name="Shape 38"/>
          <p:cNvSpPr/>
          <p:nvPr/>
        </p:nvSpPr>
        <p:spPr>
          <a:xfrm>
            <a:off x="4533900" y="398145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9"/>
          <p:cNvSpPr txBox="1"/>
          <p:nvPr/>
        </p:nvSpPr>
        <p:spPr>
          <a:xfrm>
            <a:off x="4629150" y="398145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default → S0</a:t>
            </a:r>
            <a:endParaRPr lang="en-US" sz="1200" dirty="0"/>
          </a:p>
        </p:txBody>
      </p:sp>
      <p:sp>
        <p:nvSpPr>
          <p:cNvPr id="40" name="Shape 40"/>
          <p:cNvSpPr/>
          <p:nvPr/>
        </p:nvSpPr>
        <p:spPr>
          <a:xfrm>
            <a:off x="685800" y="4572000"/>
            <a:ext cx="1333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41"/>
          <p:cNvSpPr txBox="1"/>
          <p:nvPr/>
        </p:nvSpPr>
        <p:spPr>
          <a:xfrm>
            <a:off x="781050" y="457200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200" dirty="0"/>
          </a:p>
        </p:txBody>
      </p:sp>
      <p:sp>
        <p:nvSpPr>
          <p:cNvPr id="42" name="Shape 42"/>
          <p:cNvSpPr/>
          <p:nvPr/>
        </p:nvSpPr>
        <p:spPr>
          <a:xfrm>
            <a:off x="2019300" y="457200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3"/>
          <p:cNvSpPr txBox="1"/>
          <p:nvPr/>
        </p:nvSpPr>
        <p:spPr>
          <a:xfrm>
            <a:off x="2114550" y="457200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always @(*) · case → o_led</a:t>
            </a:r>
            <a:endParaRPr lang="en-US" sz="1200" dirty="0"/>
          </a:p>
        </p:txBody>
      </p:sp>
      <p:sp>
        <p:nvSpPr>
          <p:cNvPr id="44" name="Shape 44"/>
          <p:cNvSpPr/>
          <p:nvPr/>
        </p:nvSpPr>
        <p:spPr>
          <a:xfrm>
            <a:off x="4533900" y="457200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5"/>
          <p:cNvSpPr txBox="1"/>
          <p:nvPr/>
        </p:nvSpPr>
        <p:spPr>
          <a:xfrm>
            <a:off x="4629150" y="457200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function g_code(state)</a:t>
            </a:r>
            <a:endParaRPr lang="en-US" sz="1200" dirty="0"/>
          </a:p>
        </p:txBody>
      </p:sp>
      <p:sp>
        <p:nvSpPr>
          <p:cNvPr id="46" name="Shape 46"/>
          <p:cNvSpPr/>
          <p:nvPr/>
        </p:nvSpPr>
        <p:spPr>
          <a:xfrm>
            <a:off x="685800" y="5162550"/>
            <a:ext cx="1333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7"/>
          <p:cNvSpPr txBox="1"/>
          <p:nvPr/>
        </p:nvSpPr>
        <p:spPr>
          <a:xfrm>
            <a:off x="781050" y="5162550"/>
            <a:ext cx="1143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 시점</a:t>
            </a:r>
            <a:endParaRPr lang="en-US" sz="1200" dirty="0"/>
          </a:p>
        </p:txBody>
      </p:sp>
      <p:sp>
        <p:nvSpPr>
          <p:cNvPr id="48" name="Shape 48"/>
          <p:cNvSpPr/>
          <p:nvPr/>
        </p:nvSpPr>
        <p:spPr>
          <a:xfrm>
            <a:off x="2019300" y="516255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9"/>
          <p:cNvSpPr txBox="1"/>
          <p:nvPr/>
        </p:nvSpPr>
        <p:spPr>
          <a:xfrm>
            <a:off x="2114550" y="516255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i_clk · posedge i_reset</a:t>
            </a:r>
            <a:endParaRPr lang="en-US" sz="1200" dirty="0"/>
          </a:p>
        </p:txBody>
      </p:sp>
      <p:sp>
        <p:nvSpPr>
          <p:cNvPr id="50" name="Shape 50"/>
          <p:cNvSpPr/>
          <p:nvPr/>
        </p:nvSpPr>
        <p:spPr>
          <a:xfrm>
            <a:off x="4533900" y="5162550"/>
            <a:ext cx="25146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4629150" y="5162550"/>
            <a:ext cx="23241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C241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엣지 · 동일 reset</a:t>
            </a:r>
            <a:endParaRPr lang="en-US" sz="1200" dirty="0"/>
          </a:p>
        </p:txBody>
      </p:sp>
      <p:sp>
        <p:nvSpPr>
          <p:cNvPr id="52" name="Shape 52"/>
          <p:cNvSpPr/>
          <p:nvPr/>
        </p:nvSpPr>
        <p:spPr>
          <a:xfrm>
            <a:off x="7429500" y="1295400"/>
            <a:ext cx="4305300" cy="4953000"/>
          </a:xfrm>
          <a:prstGeom prst="roundRect">
            <a:avLst>
              <a:gd name="adj" fmla="val 176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3" name="Text 53"/>
          <p:cNvSpPr txBox="1"/>
          <p:nvPr/>
        </p:nvSpPr>
        <p:spPr>
          <a:xfrm>
            <a:off x="7658100" y="1447800"/>
            <a:ext cx="3810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분리 구조</a:t>
            </a:r>
            <a:endParaRPr lang="en-US" sz="1500" dirty="0"/>
          </a:p>
        </p:txBody>
      </p:sp>
      <p:sp>
        <p:nvSpPr>
          <p:cNvPr id="54" name="Shape 54"/>
          <p:cNvSpPr/>
          <p:nvPr/>
        </p:nvSpPr>
        <p:spPr>
          <a:xfrm>
            <a:off x="7658100" y="1847850"/>
            <a:ext cx="3848100" cy="342900"/>
          </a:xfrm>
          <a:prstGeom prst="roundRect">
            <a:avLst>
              <a:gd name="adj" fmla="val 16666"/>
            </a:avLst>
          </a:prstGeom>
          <a:solidFill>
            <a:srgbClr val="F1F5F9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5"/>
          <p:cNvSpPr txBox="1"/>
          <p:nvPr/>
        </p:nvSpPr>
        <p:spPr>
          <a:xfrm>
            <a:off x="7658100" y="1847850"/>
            <a:ext cx="38481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 · i_reset · i_sw</a:t>
            </a:r>
            <a:endParaRPr lang="en-US" sz="1200" dirty="0"/>
          </a:p>
        </p:txBody>
      </p:sp>
      <p:cxnSp>
        <p:nvCxnSpPr>
          <p:cNvPr id="56" name="Line 56"/>
          <p:cNvCxnSpPr/>
          <p:nvPr/>
        </p:nvCxnSpPr>
        <p:spPr>
          <a:xfrm>
            <a:off x="8553450" y="2190750"/>
            <a:ext cx="0" cy="400050"/>
          </a:xfrm>
          <a:prstGeom prst="line">
            <a:avLst/>
          </a:prstGeom>
          <a:ln w="19050">
            <a:solidFill>
              <a:srgbClr val="64748B"/>
            </a:solidFill>
            <a:prstDash val="solid"/>
            <a:tailEnd type="triangle"/>
          </a:ln>
        </p:spPr>
      </p:cxnSp>
      <p:cxnSp>
        <p:nvCxnSpPr>
          <p:cNvPr id="57" name="Line 57"/>
          <p:cNvCxnSpPr/>
          <p:nvPr/>
        </p:nvCxnSpPr>
        <p:spPr>
          <a:xfrm>
            <a:off x="10610850" y="2190750"/>
            <a:ext cx="0" cy="400050"/>
          </a:xfrm>
          <a:prstGeom prst="line">
            <a:avLst/>
          </a:prstGeom>
          <a:ln w="19050">
            <a:solidFill>
              <a:srgbClr val="64748B"/>
            </a:solidFill>
            <a:prstDash val="solid"/>
            <a:tailEnd type="triangle"/>
          </a:ln>
        </p:spPr>
      </p:cxnSp>
      <p:sp>
        <p:nvSpPr>
          <p:cNvPr id="58" name="Shape 58"/>
          <p:cNvSpPr/>
          <p:nvPr/>
        </p:nvSpPr>
        <p:spPr>
          <a:xfrm>
            <a:off x="7696200" y="2590800"/>
            <a:ext cx="1714500" cy="1066800"/>
          </a:xfrm>
          <a:prstGeom prst="rect">
            <a:avLst/>
          </a:prstGeom>
          <a:solidFill>
            <a:srgbClr val="F8FAFC"/>
          </a:solidFill>
          <a:ln w="1905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59"/>
          <p:cNvSpPr txBox="1"/>
          <p:nvPr/>
        </p:nvSpPr>
        <p:spPr>
          <a:xfrm>
            <a:off x="7696200" y="2686050"/>
            <a:ext cx="1714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</a:t>
            </a:r>
            <a:endParaRPr lang="en-US" sz="1500" dirty="0"/>
          </a:p>
        </p:txBody>
      </p:sp>
      <p:sp>
        <p:nvSpPr>
          <p:cNvPr id="60" name="Shape 60"/>
          <p:cNvSpPr/>
          <p:nvPr/>
        </p:nvSpPr>
        <p:spPr>
          <a:xfrm>
            <a:off x="7886700" y="3067050"/>
            <a:ext cx="1333500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61"/>
          <p:cNvSpPr txBox="1"/>
          <p:nvPr/>
        </p:nvSpPr>
        <p:spPr>
          <a:xfrm>
            <a:off x="7886700" y="306705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 (enum)</a:t>
            </a:r>
            <a:endParaRPr lang="en-US" sz="1200" dirty="0"/>
          </a:p>
        </p:txBody>
      </p:sp>
      <p:sp>
        <p:nvSpPr>
          <p:cNvPr id="62" name="Shape 62"/>
          <p:cNvSpPr/>
          <p:nvPr/>
        </p:nvSpPr>
        <p:spPr>
          <a:xfrm>
            <a:off x="9753600" y="2590800"/>
            <a:ext cx="1714500" cy="10668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3"/>
          <p:cNvSpPr txBox="1"/>
          <p:nvPr/>
        </p:nvSpPr>
        <p:spPr>
          <a:xfrm>
            <a:off x="9753600" y="2686050"/>
            <a:ext cx="17145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</a:t>
            </a:r>
            <a:endParaRPr lang="en-US" sz="1500" dirty="0"/>
          </a:p>
        </p:txBody>
      </p:sp>
      <p:sp>
        <p:nvSpPr>
          <p:cNvPr id="64" name="Shape 64"/>
          <p:cNvSpPr/>
          <p:nvPr/>
        </p:nvSpPr>
        <p:spPr>
          <a:xfrm>
            <a:off x="9944100" y="3067050"/>
            <a:ext cx="1333500" cy="381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5"/>
          <p:cNvSpPr txBox="1"/>
          <p:nvPr/>
        </p:nvSpPr>
        <p:spPr>
          <a:xfrm>
            <a:off x="9944100" y="3067050"/>
            <a:ext cx="133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 (integer)</a:t>
            </a:r>
            <a:endParaRPr lang="en-US" sz="1200" dirty="0"/>
          </a:p>
        </p:txBody>
      </p:sp>
      <p:sp>
        <p:nvSpPr>
          <p:cNvPr id="66" name="Text 66"/>
          <p:cNvSpPr txBox="1"/>
          <p:nvPr/>
        </p:nvSpPr>
        <p:spPr>
          <a:xfrm>
            <a:off x="9410700" y="2857500"/>
            <a:ext cx="3429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22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</a:t>
            </a:r>
            <a:endParaRPr lang="en-US" sz="2200" dirty="0"/>
          </a:p>
        </p:txBody>
      </p:sp>
      <p:sp>
        <p:nvSpPr>
          <p:cNvPr id="67" name="Text 67"/>
          <p:cNvSpPr txBox="1"/>
          <p:nvPr/>
        </p:nvSpPr>
        <p:spPr>
          <a:xfrm>
            <a:off x="8953500" y="3695700"/>
            <a:ext cx="12573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내부 state 미참조</a:t>
            </a:r>
            <a:endParaRPr lang="en-US" sz="1100" dirty="0"/>
          </a:p>
        </p:txBody>
      </p:sp>
      <p:sp>
        <p:nvSpPr>
          <p:cNvPr id="68" name="Path 68"/>
          <p:cNvSpPr/>
          <p:nvPr/>
        </p:nvSpPr>
        <p:spPr>
          <a:xfrm>
            <a:off x="8553450" y="3657600"/>
            <a:ext cx="609600" cy="819150"/>
          </a:xfrm>
          <a:custGeom>
            <a:avLst/>
            <a:gdLst/>
            <a:ahLst/>
            <a:cxnLst/>
            <a:rect l="0" t="0" r="r" b="b"/>
            <a:pathLst>
              <a:path w="609600" h="819150" fill="none">
                <a:moveTo>
                  <a:pt x="0" y="0"/>
                </a:moveTo>
                <a:lnTo>
                  <a:pt x="0" y="819150"/>
                </a:lnTo>
                <a:lnTo>
                  <a:pt x="609600" y="819150"/>
                </a:lnTo>
              </a:path>
            </a:pathLst>
          </a:custGeom>
          <a:noFill/>
          <a:ln w="22225">
            <a:solidFill>
              <a:srgbClr val="0F172A"/>
            </a:solidFill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9"/>
          <p:cNvSpPr txBox="1"/>
          <p:nvPr/>
        </p:nvSpPr>
        <p:spPr>
          <a:xfrm>
            <a:off x="7696200" y="4000500"/>
            <a:ext cx="8001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2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</a:t>
            </a:r>
            <a:endParaRPr lang="en-US" sz="1200" dirty="0"/>
          </a:p>
        </p:txBody>
      </p:sp>
      <p:sp>
        <p:nvSpPr>
          <p:cNvPr id="70" name="Path 70"/>
          <p:cNvSpPr/>
          <p:nvPr/>
        </p:nvSpPr>
        <p:spPr>
          <a:xfrm>
            <a:off x="10001250" y="3657600"/>
            <a:ext cx="609600" cy="819150"/>
          </a:xfrm>
          <a:custGeom>
            <a:avLst/>
            <a:gdLst/>
            <a:ahLst/>
            <a:cxnLst/>
            <a:rect l="0" t="0" r="r" b="b"/>
            <a:pathLst>
              <a:path w="609600" h="819150" fill="none">
                <a:moveTo>
                  <a:pt x="609600" y="0"/>
                </a:moveTo>
                <a:lnTo>
                  <a:pt x="609600" y="819150"/>
                </a:lnTo>
                <a:lnTo>
                  <a:pt x="0" y="819150"/>
                </a:lnTo>
              </a:path>
            </a:pathLst>
          </a:custGeom>
          <a:noFill/>
          <a:ln w="22225">
            <a:solidFill>
              <a:srgbClr val="E65100"/>
            </a:solidFill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71"/>
          <p:cNvSpPr txBox="1"/>
          <p:nvPr/>
        </p:nvSpPr>
        <p:spPr>
          <a:xfrm>
            <a:off x="10687050" y="4000500"/>
            <a:ext cx="952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E651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g_code</a:t>
            </a:r>
            <a:endParaRPr lang="en-US" sz="1200" dirty="0"/>
          </a:p>
        </p:txBody>
      </p:sp>
      <p:sp>
        <p:nvSpPr>
          <p:cNvPr id="72" name="Shape 72"/>
          <p:cNvSpPr/>
          <p:nvPr/>
        </p:nvSpPr>
        <p:spPr>
          <a:xfrm>
            <a:off x="9163050" y="4152900"/>
            <a:ext cx="838200" cy="647700"/>
          </a:xfrm>
          <a:prstGeom prst="ellipse">
            <a:avLst/>
          </a:prstGeom>
          <a:solidFill>
            <a:srgbClr val="FDECEC"/>
          </a:solidFill>
          <a:ln w="254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3"/>
          <p:cNvSpPr txBox="1"/>
          <p:nvPr/>
        </p:nvSpPr>
        <p:spPr>
          <a:xfrm>
            <a:off x="9163050" y="4152900"/>
            <a:ext cx="8382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800" b="1" dirty="0">
                <a:solidFill>
                  <a:srgbClr val="C628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!==</a:t>
            </a:r>
            <a:endParaRPr lang="en-US" sz="1800" dirty="0"/>
          </a:p>
        </p:txBody>
      </p:sp>
      <p:cxnSp>
        <p:nvCxnSpPr>
          <p:cNvPr id="74" name="Line 74"/>
          <p:cNvCxnSpPr/>
          <p:nvPr/>
        </p:nvCxnSpPr>
        <p:spPr>
          <a:xfrm>
            <a:off x="9582150" y="4800600"/>
            <a:ext cx="0" cy="457200"/>
          </a:xfrm>
          <a:prstGeom prst="line">
            <a:avLst/>
          </a:prstGeom>
          <a:ln w="22225">
            <a:solidFill>
              <a:srgbClr val="C62828"/>
            </a:solidFill>
            <a:prstDash val="solid"/>
            <a:tailEnd type="triangle"/>
          </a:ln>
        </p:spPr>
      </p:cxnSp>
      <p:sp>
        <p:nvSpPr>
          <p:cNvPr id="75" name="Shape 75"/>
          <p:cNvSpPr/>
          <p:nvPr/>
        </p:nvSpPr>
        <p:spPr>
          <a:xfrm>
            <a:off x="8820150" y="5257800"/>
            <a:ext cx="1524000" cy="381000"/>
          </a:xfrm>
          <a:prstGeom prst="roundRect">
            <a:avLst>
              <a:gd name="adj" fmla="val 15000"/>
            </a:avLst>
          </a:prstGeom>
          <a:solidFill>
            <a:srgbClr val="C62828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6"/>
          <p:cNvSpPr txBox="1"/>
          <p:nvPr/>
        </p:nvSpPr>
        <p:spPr>
          <a:xfrm>
            <a:off x="8820150" y="5257800"/>
            <a:ext cx="152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err_c1 + 1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시뮬레이션 · Driver Timing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Driver Changes i_sw 1 ns After Each Negedge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 / 56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11277600" cy="3695700"/>
          </a:xfrm>
          <a:prstGeom prst="roundRect">
            <a:avLst>
              <a:gd name="adj" fmla="val 206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85800" y="1905000"/>
            <a:ext cx="152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i_clk</a:t>
            </a:r>
            <a:endParaRPr lang="en-US" sz="1300" dirty="0"/>
          </a:p>
        </p:txBody>
      </p:sp>
      <p:sp>
        <p:nvSpPr>
          <p:cNvPr id="10" name="Text 10"/>
          <p:cNvSpPr txBox="1"/>
          <p:nvPr/>
        </p:nvSpPr>
        <p:spPr>
          <a:xfrm>
            <a:off x="685800" y="2400300"/>
            <a:ext cx="152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300" dirty="0"/>
          </a:p>
        </p:txBody>
      </p:sp>
      <p:sp>
        <p:nvSpPr>
          <p:cNvPr id="11" name="Text 11"/>
          <p:cNvSpPr txBox="1"/>
          <p:nvPr/>
        </p:nvSpPr>
        <p:spPr>
          <a:xfrm>
            <a:off x="685800" y="2838450"/>
            <a:ext cx="152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i_sw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685800" y="3038475"/>
            <a:ext cx="152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driver</a:t>
            </a:r>
            <a:endParaRPr lang="en-US" sz="1000" dirty="0"/>
          </a:p>
        </p:txBody>
      </p:sp>
      <p:sp>
        <p:nvSpPr>
          <p:cNvPr id="13" name="Text 13"/>
          <p:cNvSpPr txBox="1"/>
          <p:nvPr/>
        </p:nvSpPr>
        <p:spPr>
          <a:xfrm>
            <a:off x="685800" y="3333750"/>
            <a:ext cx="152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state</a:t>
            </a:r>
            <a:endParaRPr lang="en-US" sz="1300" dirty="0"/>
          </a:p>
        </p:txBody>
      </p:sp>
      <p:sp>
        <p:nvSpPr>
          <p:cNvPr id="14" name="Text 14"/>
          <p:cNvSpPr txBox="1"/>
          <p:nvPr/>
        </p:nvSpPr>
        <p:spPr>
          <a:xfrm>
            <a:off x="685800" y="3533775"/>
            <a:ext cx="152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Golden</a:t>
            </a:r>
            <a:endParaRPr lang="en-US" sz="1000" dirty="0"/>
          </a:p>
        </p:txBody>
      </p:sp>
      <p:sp>
        <p:nvSpPr>
          <p:cNvPr id="15" name="Text 15"/>
          <p:cNvSpPr txBox="1"/>
          <p:nvPr/>
        </p:nvSpPr>
        <p:spPr>
          <a:xfrm>
            <a:off x="685800" y="3829050"/>
            <a:ext cx="1524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o_led</a:t>
            </a:r>
            <a:endParaRPr lang="en-US" sz="1300" dirty="0"/>
          </a:p>
        </p:txBody>
      </p:sp>
      <p:sp>
        <p:nvSpPr>
          <p:cNvPr id="16" name="Text 16"/>
          <p:cNvSpPr txBox="1"/>
          <p:nvPr/>
        </p:nvSpPr>
        <p:spPr>
          <a:xfrm>
            <a:off x="685800" y="4029075"/>
            <a:ext cx="1524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000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DUT</a:t>
            </a:r>
            <a:endParaRPr lang="en-US" sz="1000" dirty="0"/>
          </a:p>
        </p:txBody>
      </p:sp>
      <p:sp>
        <p:nvSpPr>
          <p:cNvPr id="17" name="Text 17"/>
          <p:cNvSpPr txBox="1"/>
          <p:nvPr/>
        </p:nvSpPr>
        <p:spPr>
          <a:xfrm>
            <a:off x="2309812" y="1619250"/>
            <a:ext cx="22669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100" b="1" dirty="0">
                <a:solidFill>
                  <a:srgbClr val="DC26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+ 1 ns · reset = 0</a:t>
            </a:r>
            <a:endParaRPr lang="en-US" sz="1100" dirty="0"/>
          </a:p>
        </p:txBody>
      </p:sp>
      <p:cxnSp>
        <p:nvCxnSpPr>
          <p:cNvPr id="18" name="Line 18"/>
          <p:cNvCxnSpPr/>
          <p:nvPr/>
        </p:nvCxnSpPr>
        <p:spPr>
          <a:xfrm>
            <a:off x="4633912" y="1619250"/>
            <a:ext cx="0" cy="2628900"/>
          </a:xfrm>
          <a:prstGeom prst="line">
            <a:avLst/>
          </a:prstGeom>
          <a:ln w="15875">
            <a:solidFill>
              <a:srgbClr val="DC2626"/>
            </a:solidFill>
            <a:prstDash val="dash"/>
          </a:ln>
        </p:spPr>
      </p:cxnSp>
      <p:sp>
        <p:nvSpPr>
          <p:cNvPr id="19" name="Text 19"/>
          <p:cNvSpPr txBox="1"/>
          <p:nvPr/>
        </p:nvSpPr>
        <p:spPr>
          <a:xfrm>
            <a:off x="4595812" y="139065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· state 갱신</a:t>
            </a:r>
            <a:endParaRPr lang="en-US" sz="1100" dirty="0"/>
          </a:p>
        </p:txBody>
      </p:sp>
      <p:cxnSp>
        <p:nvCxnSpPr>
          <p:cNvPr id="20" name="Line 20"/>
          <p:cNvCxnSpPr/>
          <p:nvPr/>
        </p:nvCxnSpPr>
        <p:spPr>
          <a:xfrm>
            <a:off x="5453062" y="1600200"/>
            <a:ext cx="0" cy="2647950"/>
          </a:xfrm>
          <a:prstGeom prst="line">
            <a:avLst/>
          </a:prstGeom>
          <a:ln w="15875">
            <a:solidFill>
              <a:srgbClr val="15803D"/>
            </a:solidFill>
            <a:prstDash val="dash"/>
          </a:ln>
        </p:spPr>
      </p:cxnSp>
      <p:sp>
        <p:nvSpPr>
          <p:cNvPr id="21" name="Text 21"/>
          <p:cNvSpPr txBox="1"/>
          <p:nvPr/>
        </p:nvSpPr>
        <p:spPr>
          <a:xfrm>
            <a:off x="6643688" y="139065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· state 갱신</a:t>
            </a:r>
            <a:endParaRPr lang="en-US" sz="1100" dirty="0"/>
          </a:p>
        </p:txBody>
      </p:sp>
      <p:cxnSp>
        <p:nvCxnSpPr>
          <p:cNvPr id="22" name="Line 22"/>
          <p:cNvCxnSpPr/>
          <p:nvPr/>
        </p:nvCxnSpPr>
        <p:spPr>
          <a:xfrm>
            <a:off x="7500938" y="1600200"/>
            <a:ext cx="0" cy="2647950"/>
          </a:xfrm>
          <a:prstGeom prst="line">
            <a:avLst/>
          </a:prstGeom>
          <a:ln w="15875">
            <a:solidFill>
              <a:srgbClr val="15803D"/>
            </a:solidFill>
            <a:prstDash val="dash"/>
          </a:ln>
        </p:spPr>
      </p:cxnSp>
      <p:sp>
        <p:nvSpPr>
          <p:cNvPr id="23" name="Text 23"/>
          <p:cNvSpPr txBox="1"/>
          <p:nvPr/>
        </p:nvSpPr>
        <p:spPr>
          <a:xfrm>
            <a:off x="8691562" y="139065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15803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posedge · state 갱신</a:t>
            </a:r>
            <a:endParaRPr lang="en-US" sz="1100" dirty="0"/>
          </a:p>
        </p:txBody>
      </p:sp>
      <p:cxnSp>
        <p:nvCxnSpPr>
          <p:cNvPr id="24" name="Line 24"/>
          <p:cNvCxnSpPr/>
          <p:nvPr/>
        </p:nvCxnSpPr>
        <p:spPr>
          <a:xfrm>
            <a:off x="9548812" y="1600200"/>
            <a:ext cx="0" cy="2647950"/>
          </a:xfrm>
          <a:prstGeom prst="line">
            <a:avLst/>
          </a:prstGeom>
          <a:ln w="15875">
            <a:solidFill>
              <a:srgbClr val="15803D"/>
            </a:solidFill>
            <a:prstDash val="dash"/>
          </a:ln>
        </p:spPr>
      </p:cxnSp>
      <p:sp>
        <p:nvSpPr>
          <p:cNvPr id="25" name="Text 25"/>
          <p:cNvSpPr txBox="1"/>
          <p:nvPr/>
        </p:nvSpPr>
        <p:spPr>
          <a:xfrm>
            <a:off x="6738938" y="455295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 ns · i_sw 인가</a:t>
            </a:r>
            <a:endParaRPr lang="en-US" sz="1100" dirty="0"/>
          </a:p>
        </p:txBody>
      </p:sp>
      <p:cxnSp>
        <p:nvCxnSpPr>
          <p:cNvPr id="26" name="Line 26"/>
          <p:cNvCxnSpPr/>
          <p:nvPr/>
        </p:nvCxnSpPr>
        <p:spPr>
          <a:xfrm>
            <a:off x="6681788" y="1771650"/>
            <a:ext cx="0" cy="2762250"/>
          </a:xfrm>
          <a:prstGeom prst="line">
            <a:avLst/>
          </a:prstGeom>
          <a:ln w="15875">
            <a:solidFill>
              <a:srgbClr val="B45309"/>
            </a:solidFill>
            <a:prstDash val="dash"/>
          </a:ln>
        </p:spPr>
      </p:cxnSp>
      <p:sp>
        <p:nvSpPr>
          <p:cNvPr id="27" name="Text 27"/>
          <p:cNvSpPr txBox="1"/>
          <p:nvPr/>
        </p:nvSpPr>
        <p:spPr>
          <a:xfrm>
            <a:off x="8786812" y="455295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 ns · i_sw 인가</a:t>
            </a:r>
            <a:endParaRPr lang="en-US" sz="1100" dirty="0"/>
          </a:p>
        </p:txBody>
      </p:sp>
      <p:cxnSp>
        <p:nvCxnSpPr>
          <p:cNvPr id="28" name="Line 28"/>
          <p:cNvCxnSpPr/>
          <p:nvPr/>
        </p:nvCxnSpPr>
        <p:spPr>
          <a:xfrm>
            <a:off x="8729662" y="1771650"/>
            <a:ext cx="0" cy="2762250"/>
          </a:xfrm>
          <a:prstGeom prst="line">
            <a:avLst/>
          </a:prstGeom>
          <a:ln w="15875">
            <a:solidFill>
              <a:srgbClr val="B45309"/>
            </a:solidFill>
            <a:prstDash val="dash"/>
          </a:ln>
        </p:spPr>
      </p:cxnSp>
      <p:sp>
        <p:nvSpPr>
          <p:cNvPr id="29" name="Text 29"/>
          <p:cNvSpPr txBox="1"/>
          <p:nvPr/>
        </p:nvSpPr>
        <p:spPr>
          <a:xfrm>
            <a:off x="4705350" y="432435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1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· C1 비교</a:t>
            </a:r>
            <a:endParaRPr lang="en-US" sz="1100" dirty="0"/>
          </a:p>
        </p:txBody>
      </p:sp>
      <p:cxnSp>
        <p:nvCxnSpPr>
          <p:cNvPr id="30" name="Line 30"/>
          <p:cNvCxnSpPr/>
          <p:nvPr/>
        </p:nvCxnSpPr>
        <p:spPr>
          <a:xfrm>
            <a:off x="6477000" y="1771650"/>
            <a:ext cx="0" cy="2533650"/>
          </a:xfrm>
          <a:prstGeom prst="line">
            <a:avLst/>
          </a:prstGeom>
          <a:ln w="15875">
            <a:solidFill>
              <a:srgbClr val="EA580C"/>
            </a:solidFill>
            <a:prstDash val="dash"/>
          </a:ln>
        </p:spPr>
      </p:cxnSp>
      <p:sp>
        <p:nvSpPr>
          <p:cNvPr id="31" name="Text 31"/>
          <p:cNvSpPr txBox="1"/>
          <p:nvPr/>
        </p:nvSpPr>
        <p:spPr>
          <a:xfrm>
            <a:off x="6753225" y="432435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1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· C1 비교</a:t>
            </a:r>
            <a:endParaRPr lang="en-US" sz="1100" dirty="0"/>
          </a:p>
        </p:txBody>
      </p:sp>
      <p:cxnSp>
        <p:nvCxnSpPr>
          <p:cNvPr id="32" name="Line 32"/>
          <p:cNvCxnSpPr/>
          <p:nvPr/>
        </p:nvCxnSpPr>
        <p:spPr>
          <a:xfrm>
            <a:off x="8524875" y="1771650"/>
            <a:ext cx="0" cy="2533650"/>
          </a:xfrm>
          <a:prstGeom prst="line">
            <a:avLst/>
          </a:prstGeom>
          <a:ln w="15875">
            <a:solidFill>
              <a:srgbClr val="EA580C"/>
            </a:solidFill>
            <a:prstDash val="dash"/>
          </a:ln>
        </p:spPr>
      </p:cxnSp>
      <p:sp>
        <p:nvSpPr>
          <p:cNvPr id="33" name="Text 33"/>
          <p:cNvSpPr txBox="1"/>
          <p:nvPr/>
        </p:nvSpPr>
        <p:spPr>
          <a:xfrm>
            <a:off x="8801100" y="4324350"/>
            <a:ext cx="1714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11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· C1 비교</a:t>
            </a:r>
            <a:endParaRPr lang="en-US" sz="1100" dirty="0"/>
          </a:p>
        </p:txBody>
      </p:sp>
      <p:cxnSp>
        <p:nvCxnSpPr>
          <p:cNvPr id="34" name="Line 34"/>
          <p:cNvCxnSpPr/>
          <p:nvPr/>
        </p:nvCxnSpPr>
        <p:spPr>
          <a:xfrm>
            <a:off x="10572750" y="1771650"/>
            <a:ext cx="0" cy="2533650"/>
          </a:xfrm>
          <a:prstGeom prst="line">
            <a:avLst/>
          </a:prstGeom>
          <a:ln w="15875">
            <a:solidFill>
              <a:srgbClr val="EA580C"/>
            </a:solidFill>
            <a:prstDash val="dash"/>
          </a:ln>
        </p:spPr>
      </p:cxnSp>
      <p:sp>
        <p:nvSpPr>
          <p:cNvPr id="35" name="Path 35"/>
          <p:cNvSpPr/>
          <p:nvPr/>
        </p:nvSpPr>
        <p:spPr>
          <a:xfrm>
            <a:off x="2381250" y="1885950"/>
            <a:ext cx="9010650" cy="266700"/>
          </a:xfrm>
          <a:custGeom>
            <a:avLst/>
            <a:gdLst/>
            <a:ahLst/>
            <a:cxnLst/>
            <a:rect l="0" t="0" r="r" b="b"/>
            <a:pathLst>
              <a:path w="9010650" h="266700" fill="none">
                <a:moveTo>
                  <a:pt x="0" y="266700"/>
                </a:moveTo>
                <a:lnTo>
                  <a:pt x="1023938" y="266700"/>
                </a:lnTo>
                <a:lnTo>
                  <a:pt x="1023938" y="0"/>
                </a:lnTo>
                <a:lnTo>
                  <a:pt x="2047875" y="0"/>
                </a:lnTo>
                <a:lnTo>
                  <a:pt x="2047875" y="266700"/>
                </a:lnTo>
                <a:lnTo>
                  <a:pt x="3071812" y="266700"/>
                </a:lnTo>
                <a:lnTo>
                  <a:pt x="3071812" y="0"/>
                </a:lnTo>
                <a:lnTo>
                  <a:pt x="4095750" y="0"/>
                </a:lnTo>
                <a:lnTo>
                  <a:pt x="4095750" y="266700"/>
                </a:lnTo>
                <a:lnTo>
                  <a:pt x="5119688" y="266700"/>
                </a:lnTo>
                <a:lnTo>
                  <a:pt x="5119688" y="0"/>
                </a:lnTo>
                <a:lnTo>
                  <a:pt x="6143625" y="0"/>
                </a:lnTo>
                <a:lnTo>
                  <a:pt x="6143625" y="266700"/>
                </a:lnTo>
                <a:lnTo>
                  <a:pt x="7167562" y="266700"/>
                </a:lnTo>
                <a:lnTo>
                  <a:pt x="7167562" y="0"/>
                </a:lnTo>
                <a:lnTo>
                  <a:pt x="8191500" y="0"/>
                </a:lnTo>
                <a:lnTo>
                  <a:pt x="8191500" y="266700"/>
                </a:lnTo>
                <a:lnTo>
                  <a:pt x="9010650" y="266700"/>
                </a:lnTo>
              </a:path>
            </a:pathLst>
          </a:custGeom>
          <a:noFill/>
          <a:ln w="19050">
            <a:solidFill>
              <a:srgbClr val="0F172A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Path 36"/>
          <p:cNvSpPr/>
          <p:nvPr/>
        </p:nvSpPr>
        <p:spPr>
          <a:xfrm>
            <a:off x="2381250" y="2381250"/>
            <a:ext cx="9010650" cy="266700"/>
          </a:xfrm>
          <a:custGeom>
            <a:avLst/>
            <a:gdLst/>
            <a:ahLst/>
            <a:cxnLst/>
            <a:rect l="0" t="0" r="r" b="b"/>
            <a:pathLst>
              <a:path w="9010650" h="266700" fill="none">
                <a:moveTo>
                  <a:pt x="0" y="0"/>
                </a:moveTo>
                <a:lnTo>
                  <a:pt x="2252662" y="0"/>
                </a:lnTo>
                <a:lnTo>
                  <a:pt x="2252662" y="266700"/>
                </a:lnTo>
                <a:lnTo>
                  <a:pt x="9010650" y="266700"/>
                </a:lnTo>
              </a:path>
            </a:pathLst>
          </a:custGeom>
          <a:noFill/>
          <a:ln w="19050">
            <a:solidFill>
              <a:srgbClr val="DC2626"/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7"/>
          <p:cNvSpPr/>
          <p:nvPr/>
        </p:nvSpPr>
        <p:spPr>
          <a:xfrm>
            <a:off x="2390775" y="2876550"/>
            <a:ext cx="4281488" cy="266700"/>
          </a:xfrm>
          <a:prstGeom prst="rect">
            <a:avLst/>
          </a:prstGeom>
          <a:solidFill>
            <a:srgbClr val="F1F5F9"/>
          </a:solidFill>
          <a:ln w="1587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8"/>
          <p:cNvSpPr txBox="1"/>
          <p:nvPr/>
        </p:nvSpPr>
        <p:spPr>
          <a:xfrm>
            <a:off x="2457450" y="2876550"/>
            <a:ext cx="414813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sp>
        <p:nvSpPr>
          <p:cNvPr id="39" name="Shape 39"/>
          <p:cNvSpPr/>
          <p:nvPr/>
        </p:nvSpPr>
        <p:spPr>
          <a:xfrm>
            <a:off x="6691312" y="2876550"/>
            <a:ext cx="2028825" cy="266700"/>
          </a:xfrm>
          <a:prstGeom prst="rect">
            <a:avLst/>
          </a:prstGeom>
          <a:solidFill>
            <a:srgbClr val="F1F5F9"/>
          </a:solidFill>
          <a:ln w="1587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6757988" y="2876550"/>
            <a:ext cx="1895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sp>
        <p:nvSpPr>
          <p:cNvPr id="41" name="Shape 41"/>
          <p:cNvSpPr/>
          <p:nvPr/>
        </p:nvSpPr>
        <p:spPr>
          <a:xfrm>
            <a:off x="8739188" y="2876550"/>
            <a:ext cx="2028825" cy="266700"/>
          </a:xfrm>
          <a:prstGeom prst="rect">
            <a:avLst/>
          </a:prstGeom>
          <a:solidFill>
            <a:srgbClr val="F1F5F9"/>
          </a:solidFill>
          <a:ln w="1587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8805862" y="2876550"/>
            <a:ext cx="1895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43" name="Shape 43"/>
          <p:cNvSpPr/>
          <p:nvPr/>
        </p:nvSpPr>
        <p:spPr>
          <a:xfrm>
            <a:off x="10787062" y="2876550"/>
            <a:ext cx="595312" cy="266700"/>
          </a:xfrm>
          <a:prstGeom prst="rect">
            <a:avLst/>
          </a:prstGeom>
          <a:solidFill>
            <a:srgbClr val="F1F5F9"/>
          </a:solidFill>
          <a:ln w="15875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10853738" y="2876550"/>
            <a:ext cx="46196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  <p:sp>
        <p:nvSpPr>
          <p:cNvPr id="45" name="Shape 45"/>
          <p:cNvSpPr/>
          <p:nvPr/>
        </p:nvSpPr>
        <p:spPr>
          <a:xfrm>
            <a:off x="2390775" y="3371850"/>
            <a:ext cx="5100638" cy="266700"/>
          </a:xfrm>
          <a:prstGeom prst="rect">
            <a:avLst/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6"/>
          <p:cNvSpPr txBox="1"/>
          <p:nvPr/>
        </p:nvSpPr>
        <p:spPr>
          <a:xfrm>
            <a:off x="2457450" y="3371850"/>
            <a:ext cx="49672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S0</a:t>
            </a:r>
            <a:endParaRPr lang="en-US" sz="1100" dirty="0"/>
          </a:p>
        </p:txBody>
      </p:sp>
      <p:sp>
        <p:nvSpPr>
          <p:cNvPr id="47" name="Shape 47"/>
          <p:cNvSpPr/>
          <p:nvPr/>
        </p:nvSpPr>
        <p:spPr>
          <a:xfrm>
            <a:off x="7510462" y="3371850"/>
            <a:ext cx="2028825" cy="266700"/>
          </a:xfrm>
          <a:prstGeom prst="rect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7577138" y="3371850"/>
            <a:ext cx="1895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S1</a:t>
            </a:r>
            <a:endParaRPr lang="en-US" sz="1100" dirty="0"/>
          </a:p>
        </p:txBody>
      </p:sp>
      <p:sp>
        <p:nvSpPr>
          <p:cNvPr id="49" name="Shape 49"/>
          <p:cNvSpPr/>
          <p:nvPr/>
        </p:nvSpPr>
        <p:spPr>
          <a:xfrm>
            <a:off x="9558338" y="3371850"/>
            <a:ext cx="1824038" cy="266700"/>
          </a:xfrm>
          <a:prstGeom prst="rect">
            <a:avLst/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50"/>
          <p:cNvSpPr txBox="1"/>
          <p:nvPr/>
        </p:nvSpPr>
        <p:spPr>
          <a:xfrm>
            <a:off x="9625012" y="3371850"/>
            <a:ext cx="1690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S2</a:t>
            </a:r>
            <a:endParaRPr lang="en-US" sz="1100" dirty="0"/>
          </a:p>
        </p:txBody>
      </p:sp>
      <p:sp>
        <p:nvSpPr>
          <p:cNvPr id="51" name="Shape 51"/>
          <p:cNvSpPr/>
          <p:nvPr/>
        </p:nvSpPr>
        <p:spPr>
          <a:xfrm>
            <a:off x="2390775" y="3867150"/>
            <a:ext cx="5100638" cy="266700"/>
          </a:xfrm>
          <a:prstGeom prst="rect">
            <a:avLst/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2"/>
          <p:cNvSpPr txBox="1"/>
          <p:nvPr/>
        </p:nvSpPr>
        <p:spPr>
          <a:xfrm>
            <a:off x="2457450" y="3867150"/>
            <a:ext cx="49672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100" dirty="0"/>
          </a:p>
        </p:txBody>
      </p:sp>
      <p:sp>
        <p:nvSpPr>
          <p:cNvPr id="53" name="Shape 53"/>
          <p:cNvSpPr/>
          <p:nvPr/>
        </p:nvSpPr>
        <p:spPr>
          <a:xfrm>
            <a:off x="7510462" y="3867150"/>
            <a:ext cx="2028825" cy="266700"/>
          </a:xfrm>
          <a:prstGeom prst="rect">
            <a:avLst/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7577138" y="3867150"/>
            <a:ext cx="1895475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100" dirty="0"/>
          </a:p>
        </p:txBody>
      </p:sp>
      <p:sp>
        <p:nvSpPr>
          <p:cNvPr id="55" name="Shape 55"/>
          <p:cNvSpPr/>
          <p:nvPr/>
        </p:nvSpPr>
        <p:spPr>
          <a:xfrm>
            <a:off x="9558338" y="3867150"/>
            <a:ext cx="1824038" cy="266700"/>
          </a:xfrm>
          <a:prstGeom prst="rect">
            <a:avLst/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9625012" y="3867150"/>
            <a:ext cx="1690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100" dirty="0"/>
          </a:p>
        </p:txBody>
      </p:sp>
      <p:sp>
        <p:nvSpPr>
          <p:cNvPr id="57" name="Shape 57"/>
          <p:cNvSpPr/>
          <p:nvPr/>
        </p:nvSpPr>
        <p:spPr>
          <a:xfrm>
            <a:off x="6534150" y="3895725"/>
            <a:ext cx="209550" cy="20955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8"/>
          <p:cNvSpPr txBox="1"/>
          <p:nvPr/>
        </p:nvSpPr>
        <p:spPr>
          <a:xfrm>
            <a:off x="6534150" y="3895725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59" name="Shape 59"/>
          <p:cNvSpPr/>
          <p:nvPr/>
        </p:nvSpPr>
        <p:spPr>
          <a:xfrm>
            <a:off x="8582025" y="3895725"/>
            <a:ext cx="209550" cy="20955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0"/>
          <p:cNvSpPr txBox="1"/>
          <p:nvPr/>
        </p:nvSpPr>
        <p:spPr>
          <a:xfrm>
            <a:off x="8582025" y="3895725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61" name="Shape 61"/>
          <p:cNvSpPr/>
          <p:nvPr/>
        </p:nvSpPr>
        <p:spPr>
          <a:xfrm>
            <a:off x="10629900" y="3895725"/>
            <a:ext cx="209550" cy="20955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2"/>
          <p:cNvSpPr txBox="1"/>
          <p:nvPr/>
        </p:nvSpPr>
        <p:spPr>
          <a:xfrm>
            <a:off x="10629900" y="3895725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100" dirty="0"/>
          </a:p>
        </p:txBody>
      </p:sp>
      <p:sp>
        <p:nvSpPr>
          <p:cNvPr id="63" name="Shape 63"/>
          <p:cNvSpPr/>
          <p:nvPr/>
        </p:nvSpPr>
        <p:spPr>
          <a:xfrm>
            <a:off x="457200" y="5143500"/>
            <a:ext cx="3657600" cy="1104900"/>
          </a:xfrm>
          <a:prstGeom prst="roundRect">
            <a:avLst>
              <a:gd name="adj" fmla="val 68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4"/>
          <p:cNvSpPr txBox="1"/>
          <p:nvPr/>
        </p:nvSpPr>
        <p:spPr>
          <a:xfrm>
            <a:off x="628650" y="5276850"/>
            <a:ext cx="3238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구동 시점</a:t>
            </a:r>
            <a:endParaRPr lang="en-US" sz="1300" dirty="0"/>
          </a:p>
        </p:txBody>
      </p:sp>
      <p:sp>
        <p:nvSpPr>
          <p:cNvPr id="65" name="Text 65"/>
          <p:cNvSpPr txBox="1"/>
          <p:nvPr/>
        </p:nvSpPr>
        <p:spPr>
          <a:xfrm>
            <a:off x="628650" y="5562600"/>
            <a:ext cx="3333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negedge + 1 ns · i_sw 인가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posedge까지 4 ns 안정</a:t>
            </a:r>
            <a:endParaRPr lang="en-US" sz="1200" dirty="0"/>
          </a:p>
        </p:txBody>
      </p:sp>
      <p:sp>
        <p:nvSpPr>
          <p:cNvPr id="66" name="Shape 66"/>
          <p:cNvSpPr/>
          <p:nvPr/>
        </p:nvSpPr>
        <p:spPr>
          <a:xfrm>
            <a:off x="4267200" y="5143500"/>
            <a:ext cx="3657600" cy="1104900"/>
          </a:xfrm>
          <a:prstGeom prst="roundRect">
            <a:avLst>
              <a:gd name="adj" fmla="val 68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7"/>
          <p:cNvSpPr txBox="1"/>
          <p:nvPr/>
        </p:nvSpPr>
        <p:spPr>
          <a:xfrm>
            <a:off x="4438650" y="5276850"/>
            <a:ext cx="3238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입력값</a:t>
            </a:r>
            <a:endParaRPr lang="en-US" sz="1300" dirty="0"/>
          </a:p>
        </p:txBody>
      </p:sp>
      <p:sp>
        <p:nvSpPr>
          <p:cNvPr id="68" name="Text 68"/>
          <p:cNvSpPr txBox="1"/>
          <p:nvPr/>
        </p:nvSpPr>
        <p:spPr>
          <a:xfrm>
            <a:off x="4438650" y="5562600"/>
            <a:ext cx="3333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$random 하위 2 bit · 매 cycle 새 값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시 async_reset 1회 → S0</a:t>
            </a:r>
            <a:endParaRPr lang="en-US" sz="1200" dirty="0"/>
          </a:p>
        </p:txBody>
      </p:sp>
      <p:sp>
        <p:nvSpPr>
          <p:cNvPr id="69" name="Shape 69"/>
          <p:cNvSpPr/>
          <p:nvPr/>
        </p:nvSpPr>
        <p:spPr>
          <a:xfrm>
            <a:off x="8077200" y="5143500"/>
            <a:ext cx="3657600" cy="1104900"/>
          </a:xfrm>
          <a:prstGeom prst="roundRect">
            <a:avLst>
              <a:gd name="adj" fmla="val 6896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70"/>
          <p:cNvSpPr txBox="1"/>
          <p:nvPr/>
        </p:nvSpPr>
        <p:spPr>
          <a:xfrm>
            <a:off x="8248650" y="5276850"/>
            <a:ext cx="32385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EA580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 시점</a:t>
            </a:r>
            <a:endParaRPr lang="en-US" sz="1300" dirty="0"/>
          </a:p>
        </p:txBody>
      </p:sp>
      <p:sp>
        <p:nvSpPr>
          <p:cNvPr id="71" name="Text 71"/>
          <p:cNvSpPr txBox="1"/>
          <p:nvPr/>
        </p:nvSpPr>
        <p:spPr>
          <a:xfrm>
            <a:off x="8248650" y="5562600"/>
            <a:ext cx="333375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negedge · i_reset = 0 구간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C1 비교 후 i_sw 변경 → race 없음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시뮬레이션 · Coverage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Random Input Covers All 20 Arcs in 10,000 Cycles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 / 56</a:t>
            </a:r>
            <a:endParaRPr lang="en-US" sz="900" dirty="0"/>
          </a:p>
        </p:txBody>
      </p:sp>
      <p:sp>
        <p:nvSpPr>
          <p:cNvPr id="8" name="Shape 8"/>
          <p:cNvSpPr/>
          <p:nvPr/>
        </p:nvSpPr>
        <p:spPr>
          <a:xfrm>
            <a:off x="457200" y="1295400"/>
            <a:ext cx="5410200" cy="495300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9"/>
          <p:cNvSpPr txBox="1"/>
          <p:nvPr/>
        </p:nvSpPr>
        <p:spPr>
          <a:xfrm>
            <a:off x="685800" y="1447800"/>
            <a:ext cx="381000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커버리지 확보 방법</a:t>
            </a:r>
            <a:endParaRPr lang="en-US" sz="1500" dirty="0"/>
          </a:p>
        </p:txBody>
      </p:sp>
      <p:sp>
        <p:nvSpPr>
          <p:cNvPr id="10" name="Shape 10"/>
          <p:cNvSpPr/>
          <p:nvPr/>
        </p:nvSpPr>
        <p:spPr>
          <a:xfrm>
            <a:off x="685800" y="1847850"/>
            <a:ext cx="4572000" cy="552450"/>
          </a:xfrm>
          <a:prstGeom prst="roundRect">
            <a:avLst>
              <a:gd name="adj" fmla="val 10344"/>
            </a:avLst>
          </a:prstGeom>
          <a:solidFill>
            <a:srgbClr val="E3F2FD"/>
          </a:solidFill>
          <a:ln w="15875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11"/>
          <p:cNvSpPr txBox="1"/>
          <p:nvPr/>
        </p:nvSpPr>
        <p:spPr>
          <a:xfrm>
            <a:off x="857250" y="1914525"/>
            <a:ext cx="428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1565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$random → i_sw[1:0]</a:t>
            </a:r>
            <a:endParaRPr lang="en-US" sz="1300" dirty="0"/>
          </a:p>
        </p:txBody>
      </p:sp>
      <p:sp>
        <p:nvSpPr>
          <p:cNvPr id="12" name="Text 12"/>
          <p:cNvSpPr txBox="1"/>
          <p:nvPr/>
        </p:nvSpPr>
        <p:spPr>
          <a:xfrm>
            <a:off x="857250" y="2143125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cycle 새 값 · 4가지 code</a:t>
            </a:r>
            <a:endParaRPr lang="en-US" sz="1100" dirty="0"/>
          </a:p>
        </p:txBody>
      </p:sp>
      <p:cxnSp>
        <p:nvCxnSpPr>
          <p:cNvPr id="13" name="Line 13"/>
          <p:cNvCxnSpPr/>
          <p:nvPr/>
        </p:nvCxnSpPr>
        <p:spPr>
          <a:xfrm>
            <a:off x="2971800" y="2400300"/>
            <a:ext cx="0" cy="171450"/>
          </a:xfrm>
          <a:prstGeom prst="line">
            <a:avLst/>
          </a:prstGeom>
          <a:ln w="15875">
            <a:solidFill>
              <a:srgbClr val="64748B"/>
            </a:solidFill>
            <a:prstDash val="solid"/>
            <a:tailEnd type="triangle"/>
          </a:ln>
        </p:spPr>
      </p:cxnSp>
      <p:sp>
        <p:nvSpPr>
          <p:cNvPr id="14" name="Shape 14"/>
          <p:cNvSpPr/>
          <p:nvPr/>
        </p:nvSpPr>
        <p:spPr>
          <a:xfrm>
            <a:off x="685800" y="2571750"/>
            <a:ext cx="4572000" cy="552450"/>
          </a:xfrm>
          <a:prstGeom prst="roundRect">
            <a:avLst>
              <a:gd name="adj" fmla="val 10344"/>
            </a:avLst>
          </a:prstGeom>
          <a:solidFill>
            <a:srgbClr val="FFF3E0"/>
          </a:solidFill>
          <a:ln w="15875">
            <a:solidFill>
              <a:srgbClr val="E6510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5"/>
          <p:cNvSpPr txBox="1"/>
          <p:nvPr/>
        </p:nvSpPr>
        <p:spPr>
          <a:xfrm>
            <a:off x="857250" y="2638425"/>
            <a:ext cx="428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E651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posedge · cov[state][i_sw] + 1</a:t>
            </a:r>
            <a:endParaRPr lang="en-US" sz="1300" dirty="0"/>
          </a:p>
        </p:txBody>
      </p:sp>
      <p:sp>
        <p:nvSpPr>
          <p:cNvPr id="16" name="Text 16"/>
          <p:cNvSpPr txBox="1"/>
          <p:nvPr/>
        </p:nvSpPr>
        <p:spPr>
          <a:xfrm>
            <a:off x="857250" y="2867025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state × 입력 = arc 1회 기록</a:t>
            </a:r>
            <a:endParaRPr lang="en-US" sz="1100" dirty="0"/>
          </a:p>
        </p:txBody>
      </p:sp>
      <p:cxnSp>
        <p:nvCxnSpPr>
          <p:cNvPr id="17" name="Line 17"/>
          <p:cNvCxnSpPr/>
          <p:nvPr/>
        </p:nvCxnSpPr>
        <p:spPr>
          <a:xfrm>
            <a:off x="2971800" y="3124200"/>
            <a:ext cx="0" cy="171450"/>
          </a:xfrm>
          <a:prstGeom prst="line">
            <a:avLst/>
          </a:prstGeom>
          <a:ln w="15875">
            <a:solidFill>
              <a:srgbClr val="64748B"/>
            </a:solidFill>
            <a:prstDash val="solid"/>
            <a:tailEnd type="triangle"/>
          </a:ln>
        </p:spPr>
      </p:cxnSp>
      <p:sp>
        <p:nvSpPr>
          <p:cNvPr id="18" name="Shape 18"/>
          <p:cNvSpPr/>
          <p:nvPr/>
        </p:nvSpPr>
        <p:spPr>
          <a:xfrm>
            <a:off x="685800" y="3295650"/>
            <a:ext cx="4572000" cy="552450"/>
          </a:xfrm>
          <a:prstGeom prst="roundRect">
            <a:avLst>
              <a:gd name="adj" fmla="val 10344"/>
            </a:avLst>
          </a:prstGeom>
          <a:solidFill>
            <a:srgbClr val="E8F5E9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9"/>
          <p:cNvSpPr txBox="1"/>
          <p:nvPr/>
        </p:nvSpPr>
        <p:spPr>
          <a:xfrm>
            <a:off x="857250" y="3362325"/>
            <a:ext cx="4286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2E7D3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cycle 10000 도달까지 반복</a:t>
            </a:r>
            <a:endParaRPr lang="en-US" sz="1300" dirty="0"/>
          </a:p>
        </p:txBody>
      </p:sp>
      <p:sp>
        <p:nvSpPr>
          <p:cNvPr id="20" name="Text 20"/>
          <p:cNvSpPr txBox="1"/>
          <p:nvPr/>
        </p:nvSpPr>
        <p:spPr>
          <a:xfrm>
            <a:off x="857250" y="3590925"/>
            <a:ext cx="4286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dirty="0">
                <a:solidFill>
                  <a:srgbClr val="47556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종료 시 5 × 4 arc 표 출력</a:t>
            </a:r>
            <a:endParaRPr lang="en-US" sz="1100" dirty="0"/>
          </a:p>
        </p:txBody>
      </p:sp>
      <p:sp>
        <p:nvSpPr>
          <p:cNvPr id="21" name="Path 21"/>
          <p:cNvSpPr/>
          <p:nvPr/>
        </p:nvSpPr>
        <p:spPr>
          <a:xfrm>
            <a:off x="5257800" y="2124075"/>
            <a:ext cx="285750" cy="1447800"/>
          </a:xfrm>
          <a:custGeom>
            <a:avLst/>
            <a:gdLst/>
            <a:ahLst/>
            <a:cxnLst/>
            <a:rect l="0" t="0" r="r" b="b"/>
            <a:pathLst>
              <a:path w="285750" h="1447800" fill="none">
                <a:moveTo>
                  <a:pt x="0" y="1447800"/>
                </a:moveTo>
                <a:lnTo>
                  <a:pt x="285750" y="1447800"/>
                </a:lnTo>
                <a:lnTo>
                  <a:pt x="285750" y="0"/>
                </a:lnTo>
                <a:lnTo>
                  <a:pt x="0" y="0"/>
                </a:lnTo>
              </a:path>
            </a:pathLst>
          </a:custGeom>
          <a:noFill/>
          <a:ln w="19050">
            <a:solidFill>
              <a:srgbClr val="64748B"/>
            </a:solidFill>
            <a:tailEnd type="triangle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685800" y="42291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 도달 경로</a:t>
            </a:r>
            <a:endParaRPr lang="en-US" sz="1300" dirty="0"/>
          </a:p>
        </p:txBody>
      </p:sp>
      <p:sp>
        <p:nvSpPr>
          <p:cNvPr id="23" name="Shape 23"/>
          <p:cNvSpPr/>
          <p:nvPr/>
        </p:nvSpPr>
        <p:spPr>
          <a:xfrm>
            <a:off x="742950" y="4800600"/>
            <a:ext cx="495300" cy="4953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4"/>
          <p:cNvSpPr txBox="1"/>
          <p:nvPr/>
        </p:nvSpPr>
        <p:spPr>
          <a:xfrm>
            <a:off x="742950" y="480060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400" dirty="0"/>
          </a:p>
        </p:txBody>
      </p:sp>
      <p:cxnSp>
        <p:nvCxnSpPr>
          <p:cNvPr id="25" name="Line 25"/>
          <p:cNvCxnSpPr/>
          <p:nvPr/>
        </p:nvCxnSpPr>
        <p:spPr>
          <a:xfrm>
            <a:off x="1257300" y="5048250"/>
            <a:ext cx="561975" cy="0"/>
          </a:xfrm>
          <a:prstGeom prst="line">
            <a:avLst/>
          </a:prstGeom>
          <a:ln w="25400">
            <a:solidFill>
              <a:srgbClr val="2563EB"/>
            </a:solidFill>
            <a:prstDash val="solid"/>
            <a:tailEnd type="triangle"/>
          </a:ln>
        </p:spPr>
      </p:cxnSp>
      <p:sp>
        <p:nvSpPr>
          <p:cNvPr id="26" name="Text 26"/>
          <p:cNvSpPr txBox="1"/>
          <p:nvPr/>
        </p:nvSpPr>
        <p:spPr>
          <a:xfrm>
            <a:off x="1352550" y="48006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27" name="Shape 27"/>
          <p:cNvSpPr/>
          <p:nvPr/>
        </p:nvSpPr>
        <p:spPr>
          <a:xfrm>
            <a:off x="1847850" y="4800600"/>
            <a:ext cx="495300" cy="4953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8"/>
          <p:cNvSpPr txBox="1"/>
          <p:nvPr/>
        </p:nvSpPr>
        <p:spPr>
          <a:xfrm>
            <a:off x="1847850" y="480060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400" dirty="0"/>
          </a:p>
        </p:txBody>
      </p:sp>
      <p:cxnSp>
        <p:nvCxnSpPr>
          <p:cNvPr id="29" name="Line 29"/>
          <p:cNvCxnSpPr/>
          <p:nvPr/>
        </p:nvCxnSpPr>
        <p:spPr>
          <a:xfrm>
            <a:off x="2362200" y="5048250"/>
            <a:ext cx="561975" cy="0"/>
          </a:xfrm>
          <a:prstGeom prst="line">
            <a:avLst/>
          </a:prstGeom>
          <a:ln w="25400">
            <a:solidFill>
              <a:srgbClr val="0891B2"/>
            </a:solidFill>
            <a:prstDash val="solid"/>
            <a:tailEnd type="triangle"/>
          </a:ln>
        </p:spPr>
      </p:cxnSp>
      <p:sp>
        <p:nvSpPr>
          <p:cNvPr id="30" name="Text 30"/>
          <p:cNvSpPr txBox="1"/>
          <p:nvPr/>
        </p:nvSpPr>
        <p:spPr>
          <a:xfrm>
            <a:off x="2457450" y="48006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sp>
        <p:nvSpPr>
          <p:cNvPr id="31" name="Shape 31"/>
          <p:cNvSpPr/>
          <p:nvPr/>
        </p:nvSpPr>
        <p:spPr>
          <a:xfrm>
            <a:off x="2952750" y="4800600"/>
            <a:ext cx="495300" cy="4953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2"/>
          <p:cNvSpPr txBox="1"/>
          <p:nvPr/>
        </p:nvSpPr>
        <p:spPr>
          <a:xfrm>
            <a:off x="2952750" y="480060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400" dirty="0"/>
          </a:p>
        </p:txBody>
      </p:sp>
      <p:cxnSp>
        <p:nvCxnSpPr>
          <p:cNvPr id="33" name="Line 33"/>
          <p:cNvCxnSpPr/>
          <p:nvPr/>
        </p:nvCxnSpPr>
        <p:spPr>
          <a:xfrm>
            <a:off x="3467100" y="5048250"/>
            <a:ext cx="561975" cy="0"/>
          </a:xfrm>
          <a:prstGeom prst="line">
            <a:avLst/>
          </a:prstGeom>
          <a:ln w="25400">
            <a:solidFill>
              <a:srgbClr val="9333EA"/>
            </a:solidFill>
            <a:prstDash val="solid"/>
            <a:tailEnd type="triangle"/>
          </a:ln>
        </p:spPr>
      </p:cxnSp>
      <p:sp>
        <p:nvSpPr>
          <p:cNvPr id="34" name="Text 34"/>
          <p:cNvSpPr txBox="1"/>
          <p:nvPr/>
        </p:nvSpPr>
        <p:spPr>
          <a:xfrm>
            <a:off x="3562350" y="48006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200" dirty="0"/>
          </a:p>
        </p:txBody>
      </p:sp>
      <p:sp>
        <p:nvSpPr>
          <p:cNvPr id="35" name="Shape 35"/>
          <p:cNvSpPr/>
          <p:nvPr/>
        </p:nvSpPr>
        <p:spPr>
          <a:xfrm>
            <a:off x="4057650" y="4800600"/>
            <a:ext cx="495300" cy="4953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6"/>
          <p:cNvSpPr txBox="1"/>
          <p:nvPr/>
        </p:nvSpPr>
        <p:spPr>
          <a:xfrm>
            <a:off x="4057650" y="480060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400" dirty="0"/>
          </a:p>
        </p:txBody>
      </p:sp>
      <p:cxnSp>
        <p:nvCxnSpPr>
          <p:cNvPr id="37" name="Line 37"/>
          <p:cNvCxnSpPr/>
          <p:nvPr/>
        </p:nvCxnSpPr>
        <p:spPr>
          <a:xfrm>
            <a:off x="4572000" y="5048250"/>
            <a:ext cx="561975" cy="0"/>
          </a:xfrm>
          <a:prstGeom prst="line">
            <a:avLst/>
          </a:prstGeom>
          <a:ln w="25400">
            <a:solidFill>
              <a:srgbClr val="DB2777"/>
            </a:solidFill>
            <a:prstDash val="solid"/>
            <a:tailEnd type="triangle"/>
          </a:ln>
        </p:spPr>
      </p:cxnSp>
      <p:sp>
        <p:nvSpPr>
          <p:cNvPr id="38" name="Text 38"/>
          <p:cNvSpPr txBox="1"/>
          <p:nvPr/>
        </p:nvSpPr>
        <p:spPr>
          <a:xfrm>
            <a:off x="4667250" y="4800600"/>
            <a:ext cx="381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DB2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sp>
        <p:nvSpPr>
          <p:cNvPr id="39" name="Shape 39"/>
          <p:cNvSpPr/>
          <p:nvPr/>
        </p:nvSpPr>
        <p:spPr>
          <a:xfrm>
            <a:off x="5162550" y="4800600"/>
            <a:ext cx="495300" cy="4953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5162550" y="4800600"/>
            <a:ext cx="495300" cy="495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4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400" dirty="0"/>
          </a:p>
        </p:txBody>
      </p:sp>
      <p:sp>
        <p:nvSpPr>
          <p:cNvPr id="41" name="Shape 41"/>
          <p:cNvSpPr/>
          <p:nvPr/>
        </p:nvSpPr>
        <p:spPr>
          <a:xfrm>
            <a:off x="6019800" y="1295400"/>
            <a:ext cx="5715000" cy="495300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6248400" y="1428750"/>
            <a:ext cx="5143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Arc Coverage (state × i_sw, 실행 횟수)</a:t>
            </a:r>
            <a:endParaRPr lang="en-US" sz="1400" dirty="0"/>
          </a:p>
        </p:txBody>
      </p:sp>
      <p:sp>
        <p:nvSpPr>
          <p:cNvPr id="43" name="Shape 43"/>
          <p:cNvSpPr/>
          <p:nvPr/>
        </p:nvSpPr>
        <p:spPr>
          <a:xfrm>
            <a:off x="6248400" y="1733550"/>
            <a:ext cx="1066800" cy="3048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6305550" y="1733550"/>
            <a:ext cx="95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state</a:t>
            </a:r>
            <a:endParaRPr lang="en-US" sz="1200" dirty="0"/>
          </a:p>
        </p:txBody>
      </p:sp>
      <p:sp>
        <p:nvSpPr>
          <p:cNvPr id="45" name="Shape 45"/>
          <p:cNvSpPr/>
          <p:nvPr/>
        </p:nvSpPr>
        <p:spPr>
          <a:xfrm>
            <a:off x="7315200" y="1733550"/>
            <a:ext cx="990600" cy="3048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6"/>
          <p:cNvSpPr txBox="1"/>
          <p:nvPr/>
        </p:nvSpPr>
        <p:spPr>
          <a:xfrm>
            <a:off x="7372350" y="17335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00</a:t>
            </a:r>
            <a:endParaRPr lang="en-US" sz="1200" dirty="0"/>
          </a:p>
        </p:txBody>
      </p:sp>
      <p:sp>
        <p:nvSpPr>
          <p:cNvPr id="47" name="Shape 47"/>
          <p:cNvSpPr/>
          <p:nvPr/>
        </p:nvSpPr>
        <p:spPr>
          <a:xfrm>
            <a:off x="8305800" y="1733550"/>
            <a:ext cx="990600" cy="3048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8362950" y="17335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200" dirty="0"/>
          </a:p>
        </p:txBody>
      </p:sp>
      <p:sp>
        <p:nvSpPr>
          <p:cNvPr id="49" name="Shape 49"/>
          <p:cNvSpPr/>
          <p:nvPr/>
        </p:nvSpPr>
        <p:spPr>
          <a:xfrm>
            <a:off x="9296400" y="1733550"/>
            <a:ext cx="990600" cy="3048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50"/>
          <p:cNvSpPr txBox="1"/>
          <p:nvPr/>
        </p:nvSpPr>
        <p:spPr>
          <a:xfrm>
            <a:off x="9353550" y="17335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  <p:sp>
        <p:nvSpPr>
          <p:cNvPr id="51" name="Shape 51"/>
          <p:cNvSpPr/>
          <p:nvPr/>
        </p:nvSpPr>
        <p:spPr>
          <a:xfrm>
            <a:off x="10287000" y="1733550"/>
            <a:ext cx="990600" cy="304800"/>
          </a:xfrm>
          <a:prstGeom prst="rect">
            <a:avLst/>
          </a:prstGeom>
          <a:solidFill>
            <a:srgbClr val="1E293B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2"/>
          <p:cNvSpPr txBox="1"/>
          <p:nvPr/>
        </p:nvSpPr>
        <p:spPr>
          <a:xfrm>
            <a:off x="10344150" y="17335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  <p:sp>
        <p:nvSpPr>
          <p:cNvPr id="53" name="Shape 53"/>
          <p:cNvSpPr/>
          <p:nvPr/>
        </p:nvSpPr>
        <p:spPr>
          <a:xfrm>
            <a:off x="6248400" y="2038350"/>
            <a:ext cx="1066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6343650" y="20383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200" dirty="0"/>
          </a:p>
        </p:txBody>
      </p:sp>
      <p:sp>
        <p:nvSpPr>
          <p:cNvPr id="55" name="Shape 55"/>
          <p:cNvSpPr/>
          <p:nvPr/>
        </p:nvSpPr>
        <p:spPr>
          <a:xfrm>
            <a:off x="7315200" y="20383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6"/>
          <p:cNvSpPr txBox="1"/>
          <p:nvPr/>
        </p:nvSpPr>
        <p:spPr>
          <a:xfrm>
            <a:off x="7410450" y="20383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499</a:t>
            </a:r>
            <a:endParaRPr lang="en-US" sz="1200" dirty="0"/>
          </a:p>
        </p:txBody>
      </p:sp>
      <p:sp>
        <p:nvSpPr>
          <p:cNvPr id="57" name="Shape 57"/>
          <p:cNvSpPr/>
          <p:nvPr/>
        </p:nvSpPr>
        <p:spPr>
          <a:xfrm>
            <a:off x="8305800" y="20383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8"/>
          <p:cNvSpPr txBox="1"/>
          <p:nvPr/>
        </p:nvSpPr>
        <p:spPr>
          <a:xfrm>
            <a:off x="8401050" y="20383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490</a:t>
            </a:r>
            <a:endParaRPr lang="en-US" sz="1200" dirty="0"/>
          </a:p>
        </p:txBody>
      </p:sp>
      <p:sp>
        <p:nvSpPr>
          <p:cNvPr id="59" name="Shape 59"/>
          <p:cNvSpPr/>
          <p:nvPr/>
        </p:nvSpPr>
        <p:spPr>
          <a:xfrm>
            <a:off x="9296400" y="20383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0"/>
          <p:cNvSpPr txBox="1"/>
          <p:nvPr/>
        </p:nvSpPr>
        <p:spPr>
          <a:xfrm>
            <a:off x="9391650" y="20383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489</a:t>
            </a:r>
            <a:endParaRPr lang="en-US" sz="1200" dirty="0"/>
          </a:p>
        </p:txBody>
      </p:sp>
      <p:sp>
        <p:nvSpPr>
          <p:cNvPr id="61" name="Shape 61"/>
          <p:cNvSpPr/>
          <p:nvPr/>
        </p:nvSpPr>
        <p:spPr>
          <a:xfrm>
            <a:off x="10287000" y="20383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62"/>
          <p:cNvSpPr txBox="1"/>
          <p:nvPr/>
        </p:nvSpPr>
        <p:spPr>
          <a:xfrm>
            <a:off x="10382250" y="20383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514</a:t>
            </a:r>
            <a:endParaRPr lang="en-US" sz="1200" dirty="0"/>
          </a:p>
        </p:txBody>
      </p:sp>
      <p:sp>
        <p:nvSpPr>
          <p:cNvPr id="63" name="Shape 63"/>
          <p:cNvSpPr/>
          <p:nvPr/>
        </p:nvSpPr>
        <p:spPr>
          <a:xfrm>
            <a:off x="6248400" y="2343150"/>
            <a:ext cx="1066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4"/>
          <p:cNvSpPr txBox="1"/>
          <p:nvPr/>
        </p:nvSpPr>
        <p:spPr>
          <a:xfrm>
            <a:off x="6343650" y="23431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200" dirty="0"/>
          </a:p>
        </p:txBody>
      </p:sp>
      <p:sp>
        <p:nvSpPr>
          <p:cNvPr id="65" name="Shape 65"/>
          <p:cNvSpPr/>
          <p:nvPr/>
        </p:nvSpPr>
        <p:spPr>
          <a:xfrm>
            <a:off x="7315200" y="23431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6"/>
          <p:cNvSpPr txBox="1"/>
          <p:nvPr/>
        </p:nvSpPr>
        <p:spPr>
          <a:xfrm>
            <a:off x="7410450" y="23431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783</a:t>
            </a:r>
            <a:endParaRPr lang="en-US" sz="1200" dirty="0"/>
          </a:p>
        </p:txBody>
      </p:sp>
      <p:sp>
        <p:nvSpPr>
          <p:cNvPr id="67" name="Shape 67"/>
          <p:cNvSpPr/>
          <p:nvPr/>
        </p:nvSpPr>
        <p:spPr>
          <a:xfrm>
            <a:off x="8305800" y="23431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8"/>
          <p:cNvSpPr txBox="1"/>
          <p:nvPr/>
        </p:nvSpPr>
        <p:spPr>
          <a:xfrm>
            <a:off x="8401050" y="23431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734</a:t>
            </a:r>
            <a:endParaRPr lang="en-US" sz="1200" dirty="0"/>
          </a:p>
        </p:txBody>
      </p:sp>
      <p:sp>
        <p:nvSpPr>
          <p:cNvPr id="69" name="Shape 69"/>
          <p:cNvSpPr/>
          <p:nvPr/>
        </p:nvSpPr>
        <p:spPr>
          <a:xfrm>
            <a:off x="9296400" y="23431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70"/>
          <p:cNvSpPr txBox="1"/>
          <p:nvPr/>
        </p:nvSpPr>
        <p:spPr>
          <a:xfrm>
            <a:off x="9391650" y="23431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767</a:t>
            </a:r>
            <a:endParaRPr lang="en-US" sz="1200" dirty="0"/>
          </a:p>
        </p:txBody>
      </p:sp>
      <p:sp>
        <p:nvSpPr>
          <p:cNvPr id="71" name="Shape 71"/>
          <p:cNvSpPr/>
          <p:nvPr/>
        </p:nvSpPr>
        <p:spPr>
          <a:xfrm>
            <a:off x="10287000" y="23431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2"/>
          <p:cNvSpPr txBox="1"/>
          <p:nvPr/>
        </p:nvSpPr>
        <p:spPr>
          <a:xfrm>
            <a:off x="10382250" y="23431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754</a:t>
            </a:r>
            <a:endParaRPr lang="en-US" sz="1200" dirty="0"/>
          </a:p>
        </p:txBody>
      </p:sp>
      <p:sp>
        <p:nvSpPr>
          <p:cNvPr id="73" name="Shape 73"/>
          <p:cNvSpPr/>
          <p:nvPr/>
        </p:nvSpPr>
        <p:spPr>
          <a:xfrm>
            <a:off x="6248400" y="2647950"/>
            <a:ext cx="1066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4"/>
          <p:cNvSpPr txBox="1"/>
          <p:nvPr/>
        </p:nvSpPr>
        <p:spPr>
          <a:xfrm>
            <a:off x="6343650" y="26479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200" dirty="0"/>
          </a:p>
        </p:txBody>
      </p:sp>
      <p:sp>
        <p:nvSpPr>
          <p:cNvPr id="75" name="Shape 75"/>
          <p:cNvSpPr/>
          <p:nvPr/>
        </p:nvSpPr>
        <p:spPr>
          <a:xfrm>
            <a:off x="7315200" y="26479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6"/>
          <p:cNvSpPr txBox="1"/>
          <p:nvPr/>
        </p:nvSpPr>
        <p:spPr>
          <a:xfrm>
            <a:off x="7410450" y="26479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770</a:t>
            </a:r>
            <a:endParaRPr lang="en-US" sz="1200" dirty="0"/>
          </a:p>
        </p:txBody>
      </p:sp>
      <p:sp>
        <p:nvSpPr>
          <p:cNvPr id="77" name="Shape 77"/>
          <p:cNvSpPr/>
          <p:nvPr/>
        </p:nvSpPr>
        <p:spPr>
          <a:xfrm>
            <a:off x="8305800" y="26479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8"/>
          <p:cNvSpPr txBox="1"/>
          <p:nvPr/>
        </p:nvSpPr>
        <p:spPr>
          <a:xfrm>
            <a:off x="8401050" y="26479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793</a:t>
            </a:r>
            <a:endParaRPr lang="en-US" sz="1200" dirty="0"/>
          </a:p>
        </p:txBody>
      </p:sp>
      <p:sp>
        <p:nvSpPr>
          <p:cNvPr id="79" name="Shape 79"/>
          <p:cNvSpPr/>
          <p:nvPr/>
        </p:nvSpPr>
        <p:spPr>
          <a:xfrm>
            <a:off x="9296400" y="26479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80"/>
          <p:cNvSpPr txBox="1"/>
          <p:nvPr/>
        </p:nvSpPr>
        <p:spPr>
          <a:xfrm>
            <a:off x="9391650" y="26479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724</a:t>
            </a:r>
            <a:endParaRPr lang="en-US" sz="1200" dirty="0"/>
          </a:p>
        </p:txBody>
      </p:sp>
      <p:sp>
        <p:nvSpPr>
          <p:cNvPr id="81" name="Shape 81"/>
          <p:cNvSpPr/>
          <p:nvPr/>
        </p:nvSpPr>
        <p:spPr>
          <a:xfrm>
            <a:off x="10287000" y="26479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2"/>
          <p:cNvSpPr txBox="1"/>
          <p:nvPr/>
        </p:nvSpPr>
        <p:spPr>
          <a:xfrm>
            <a:off x="10382250" y="26479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767</a:t>
            </a:r>
            <a:endParaRPr lang="en-US" sz="1200" dirty="0"/>
          </a:p>
        </p:txBody>
      </p:sp>
      <p:sp>
        <p:nvSpPr>
          <p:cNvPr id="83" name="Shape 83"/>
          <p:cNvSpPr/>
          <p:nvPr/>
        </p:nvSpPr>
        <p:spPr>
          <a:xfrm>
            <a:off x="6248400" y="2952750"/>
            <a:ext cx="1066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4" name="Text 84"/>
          <p:cNvSpPr txBox="1"/>
          <p:nvPr/>
        </p:nvSpPr>
        <p:spPr>
          <a:xfrm>
            <a:off x="6343650" y="29527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200" dirty="0"/>
          </a:p>
        </p:txBody>
      </p:sp>
      <p:sp>
        <p:nvSpPr>
          <p:cNvPr id="85" name="Shape 85"/>
          <p:cNvSpPr/>
          <p:nvPr/>
        </p:nvSpPr>
        <p:spPr>
          <a:xfrm>
            <a:off x="7315200" y="29527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6" name="Text 86"/>
          <p:cNvSpPr txBox="1"/>
          <p:nvPr/>
        </p:nvSpPr>
        <p:spPr>
          <a:xfrm>
            <a:off x="7410450" y="29527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258</a:t>
            </a:r>
            <a:endParaRPr lang="en-US" sz="1200" dirty="0"/>
          </a:p>
        </p:txBody>
      </p:sp>
      <p:sp>
        <p:nvSpPr>
          <p:cNvPr id="87" name="Shape 87"/>
          <p:cNvSpPr/>
          <p:nvPr/>
        </p:nvSpPr>
        <p:spPr>
          <a:xfrm>
            <a:off x="8305800" y="29527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8"/>
          <p:cNvSpPr txBox="1"/>
          <p:nvPr/>
        </p:nvSpPr>
        <p:spPr>
          <a:xfrm>
            <a:off x="8401050" y="29527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277</a:t>
            </a:r>
            <a:endParaRPr lang="en-US" sz="1200" dirty="0"/>
          </a:p>
        </p:txBody>
      </p:sp>
      <p:sp>
        <p:nvSpPr>
          <p:cNvPr id="89" name="Shape 89"/>
          <p:cNvSpPr/>
          <p:nvPr/>
        </p:nvSpPr>
        <p:spPr>
          <a:xfrm>
            <a:off x="9296400" y="29527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0" name="Text 90"/>
          <p:cNvSpPr txBox="1"/>
          <p:nvPr/>
        </p:nvSpPr>
        <p:spPr>
          <a:xfrm>
            <a:off x="9391650" y="29527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232</a:t>
            </a:r>
            <a:endParaRPr lang="en-US" sz="1200" dirty="0"/>
          </a:p>
        </p:txBody>
      </p:sp>
      <p:sp>
        <p:nvSpPr>
          <p:cNvPr id="91" name="Shape 91"/>
          <p:cNvSpPr/>
          <p:nvPr/>
        </p:nvSpPr>
        <p:spPr>
          <a:xfrm>
            <a:off x="10287000" y="29527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2"/>
          <p:cNvSpPr txBox="1"/>
          <p:nvPr/>
        </p:nvSpPr>
        <p:spPr>
          <a:xfrm>
            <a:off x="10382250" y="29527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254</a:t>
            </a:r>
            <a:endParaRPr lang="en-US" sz="1200" dirty="0"/>
          </a:p>
        </p:txBody>
      </p:sp>
      <p:sp>
        <p:nvSpPr>
          <p:cNvPr id="93" name="Shape 93"/>
          <p:cNvSpPr/>
          <p:nvPr/>
        </p:nvSpPr>
        <p:spPr>
          <a:xfrm>
            <a:off x="6248400" y="3257550"/>
            <a:ext cx="10668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Text 94"/>
          <p:cNvSpPr txBox="1"/>
          <p:nvPr/>
        </p:nvSpPr>
        <p:spPr>
          <a:xfrm>
            <a:off x="6343650" y="3257550"/>
            <a:ext cx="87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200" dirty="0"/>
          </a:p>
        </p:txBody>
      </p:sp>
      <p:sp>
        <p:nvSpPr>
          <p:cNvPr id="95" name="Shape 95"/>
          <p:cNvSpPr/>
          <p:nvPr/>
        </p:nvSpPr>
        <p:spPr>
          <a:xfrm>
            <a:off x="7315200" y="32575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6" name="Text 96"/>
          <p:cNvSpPr txBox="1"/>
          <p:nvPr/>
        </p:nvSpPr>
        <p:spPr>
          <a:xfrm>
            <a:off x="7410450" y="32575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232</a:t>
            </a:r>
            <a:endParaRPr lang="en-US" sz="1200" dirty="0"/>
          </a:p>
        </p:txBody>
      </p:sp>
      <p:sp>
        <p:nvSpPr>
          <p:cNvPr id="97" name="Shape 97"/>
          <p:cNvSpPr/>
          <p:nvPr/>
        </p:nvSpPr>
        <p:spPr>
          <a:xfrm>
            <a:off x="8305800" y="32575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8" name="Text 98"/>
          <p:cNvSpPr txBox="1"/>
          <p:nvPr/>
        </p:nvSpPr>
        <p:spPr>
          <a:xfrm>
            <a:off x="8401050" y="32575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236</a:t>
            </a:r>
            <a:endParaRPr lang="en-US" sz="1200" dirty="0"/>
          </a:p>
        </p:txBody>
      </p:sp>
      <p:sp>
        <p:nvSpPr>
          <p:cNvPr id="99" name="Shape 99"/>
          <p:cNvSpPr/>
          <p:nvPr/>
        </p:nvSpPr>
        <p:spPr>
          <a:xfrm>
            <a:off x="9296400" y="32575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Text 100"/>
          <p:cNvSpPr txBox="1"/>
          <p:nvPr/>
        </p:nvSpPr>
        <p:spPr>
          <a:xfrm>
            <a:off x="9391650" y="32575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220</a:t>
            </a:r>
            <a:endParaRPr lang="en-US" sz="1200" dirty="0"/>
          </a:p>
        </p:txBody>
      </p:sp>
      <p:sp>
        <p:nvSpPr>
          <p:cNvPr id="101" name="Shape 101"/>
          <p:cNvSpPr/>
          <p:nvPr/>
        </p:nvSpPr>
        <p:spPr>
          <a:xfrm>
            <a:off x="10287000" y="3257550"/>
            <a:ext cx="990600" cy="304800"/>
          </a:xfrm>
          <a:prstGeom prst="rect">
            <a:avLst/>
          </a:prstGeom>
          <a:solidFill>
            <a:srgbClr val="E8F5E9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2" name="Text 102"/>
          <p:cNvSpPr txBox="1"/>
          <p:nvPr/>
        </p:nvSpPr>
        <p:spPr>
          <a:xfrm>
            <a:off x="10382250" y="3257550"/>
            <a:ext cx="8001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207</a:t>
            </a:r>
            <a:endParaRPr lang="en-US" sz="1200" dirty="0"/>
          </a:p>
        </p:txBody>
      </p:sp>
      <p:sp>
        <p:nvSpPr>
          <p:cNvPr id="103" name="Text 103"/>
          <p:cNvSpPr txBox="1"/>
          <p:nvPr/>
        </p:nvSpPr>
        <p:spPr>
          <a:xfrm>
            <a:off x="6248400" y="367665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Tcl Console · tb_FSM_S3</a:t>
            </a:r>
            <a:endParaRPr lang="en-US" sz="1400" dirty="0"/>
          </a:p>
        </p:txBody>
      </p:sp>
      <p:sp>
        <p:nvSpPr>
          <p:cNvPr id="104" name="Shape 104"/>
          <p:cNvSpPr/>
          <p:nvPr/>
        </p:nvSpPr>
        <p:spPr>
          <a:xfrm>
            <a:off x="6248400" y="3962400"/>
            <a:ext cx="52578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5" name="Image 10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0700" y="4038600"/>
            <a:ext cx="4013200" cy="19431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10668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Text 3"/>
          <p:cNvSpPr txBox="1"/>
          <p:nvPr/>
        </p:nvSpPr>
        <p:spPr>
          <a:xfrm>
            <a:off x="457200" y="228600"/>
            <a:ext cx="952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200" b="1" dirty="0">
                <a:solidFill>
                  <a:srgbClr val="A78BF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· Homework-1 · 시뮬레이션 · S3 → S1</a:t>
            </a:r>
            <a:endParaRPr lang="en-US" sz="1200" dirty="0"/>
          </a:p>
        </p:txBody>
      </p:sp>
      <p:sp>
        <p:nvSpPr>
          <p:cNvPr id="4" name="Text 4"/>
          <p:cNvSpPr txBox="1"/>
          <p:nvPr/>
        </p:nvSpPr>
        <p:spPr>
          <a:xfrm>
            <a:off x="457200" y="495300"/>
            <a:ext cx="1009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2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 Returns to S1 on 01</a:t>
            </a:r>
            <a:endParaRPr lang="en-US" sz="2500" dirty="0"/>
          </a:p>
        </p:txBody>
      </p:sp>
      <p:sp>
        <p:nvSpPr>
          <p:cNvPr id="5" name="Text 5"/>
          <p:cNvSpPr txBox="1"/>
          <p:nvPr/>
        </p:nvSpPr>
        <p:spPr>
          <a:xfrm>
            <a:off x="10382250" y="209550"/>
            <a:ext cx="1428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44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4400" dirty="0"/>
          </a:p>
        </p:txBody>
      </p:sp>
      <p:sp>
        <p:nvSpPr>
          <p:cNvPr id="6" name="Text 6"/>
          <p:cNvSpPr txBox="1"/>
          <p:nvPr/>
        </p:nvSpPr>
        <p:spPr>
          <a:xfrm>
            <a:off x="457200" y="6438900"/>
            <a:ext cx="571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정안성 · FSM Control 설계</a:t>
            </a:r>
            <a:endParaRPr lang="en-US" sz="900" dirty="0"/>
          </a:p>
        </p:txBody>
      </p:sp>
      <p:sp>
        <p:nvSpPr>
          <p:cNvPr id="7" name="Text 7"/>
          <p:cNvSpPr txBox="1"/>
          <p:nvPr/>
        </p:nvSpPr>
        <p:spPr>
          <a:xfrm>
            <a:off x="9829800" y="6438900"/>
            <a:ext cx="190500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ko-KR" alt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/ 56</a:t>
            </a:r>
            <a:endParaRPr lang="en-US" sz="900" dirty="0"/>
          </a:p>
        </p:txBody>
      </p:sp>
      <p:pic>
        <p:nvPicPr>
          <p:cNvPr id="8" name="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19200"/>
            <a:ext cx="11277600" cy="1955012"/>
          </a:xfrm>
          <a:prstGeom prst="rect">
            <a:avLst/>
          </a:prstGeom>
        </p:spPr>
      </p:pic>
      <p:cxnSp>
        <p:nvCxnSpPr>
          <p:cNvPr id="9" name="Line 9"/>
          <p:cNvCxnSpPr/>
          <p:nvPr/>
        </p:nvCxnSpPr>
        <p:spPr>
          <a:xfrm>
            <a:off x="3581804" y="1492902"/>
            <a:ext cx="0" cy="1681310"/>
          </a:xfrm>
          <a:prstGeom prst="line">
            <a:avLst/>
          </a:prstGeom>
          <a:ln w="22225">
            <a:solidFill>
              <a:srgbClr val="9333EA"/>
            </a:solidFill>
            <a:prstDash val="dash"/>
          </a:ln>
        </p:spPr>
      </p:cxnSp>
      <p:sp>
        <p:nvSpPr>
          <p:cNvPr id="10" name="Shape 10"/>
          <p:cNvSpPr/>
          <p:nvPr/>
        </p:nvSpPr>
        <p:spPr>
          <a:xfrm>
            <a:off x="3591329" y="3231362"/>
            <a:ext cx="1688384" cy="114300"/>
          </a:xfrm>
          <a:prstGeom prst="rect">
            <a:avLst/>
          </a:prstGeom>
          <a:solidFill>
            <a:srgbClr val="9333EA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11"/>
          <p:cNvSpPr/>
          <p:nvPr/>
        </p:nvSpPr>
        <p:spPr>
          <a:xfrm>
            <a:off x="4321221" y="3402812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2"/>
          <p:cNvSpPr txBox="1"/>
          <p:nvPr/>
        </p:nvSpPr>
        <p:spPr>
          <a:xfrm>
            <a:off x="4321221" y="34028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3"/>
          <p:cNvSpPr/>
          <p:nvPr/>
        </p:nvSpPr>
        <p:spPr>
          <a:xfrm>
            <a:off x="3221267" y="2129714"/>
            <a:ext cx="379587" cy="219356"/>
          </a:xfrm>
          <a:prstGeom prst="roundRect">
            <a:avLst>
              <a:gd name="adj" fmla="val 13026"/>
            </a:avLst>
          </a:prstGeom>
          <a:noFill/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4" name="Line 14"/>
          <p:cNvCxnSpPr/>
          <p:nvPr/>
        </p:nvCxnSpPr>
        <p:spPr>
          <a:xfrm>
            <a:off x="5289238" y="1492902"/>
            <a:ext cx="0" cy="1681310"/>
          </a:xfrm>
          <a:prstGeom prst="line">
            <a:avLst/>
          </a:prstGeom>
          <a:ln w="22225">
            <a:solidFill>
              <a:srgbClr val="2563EB"/>
            </a:solidFill>
            <a:prstDash val="dash"/>
          </a:ln>
        </p:spPr>
      </p:cxnSp>
      <p:sp>
        <p:nvSpPr>
          <p:cNvPr id="15" name="Shape 15"/>
          <p:cNvSpPr/>
          <p:nvPr/>
        </p:nvSpPr>
        <p:spPr>
          <a:xfrm>
            <a:off x="5298763" y="3231362"/>
            <a:ext cx="4249534" cy="1143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6"/>
          <p:cNvSpPr/>
          <p:nvPr/>
        </p:nvSpPr>
        <p:spPr>
          <a:xfrm>
            <a:off x="7309230" y="3402812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7"/>
          <p:cNvSpPr txBox="1"/>
          <p:nvPr/>
        </p:nvSpPr>
        <p:spPr>
          <a:xfrm>
            <a:off x="7309230" y="34028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Shape 18"/>
          <p:cNvSpPr/>
          <p:nvPr/>
        </p:nvSpPr>
        <p:spPr>
          <a:xfrm>
            <a:off x="4928701" y="2129714"/>
            <a:ext cx="379587" cy="219356"/>
          </a:xfrm>
          <a:prstGeom prst="roundRect">
            <a:avLst>
              <a:gd name="adj" fmla="val 13026"/>
            </a:avLst>
          </a:prstGeom>
          <a:noFill/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19" name="Line 19"/>
          <p:cNvCxnSpPr/>
          <p:nvPr/>
        </p:nvCxnSpPr>
        <p:spPr>
          <a:xfrm>
            <a:off x="9557822" y="1492902"/>
            <a:ext cx="0" cy="1681310"/>
          </a:xfrm>
          <a:prstGeom prst="line">
            <a:avLst/>
          </a:prstGeom>
          <a:ln w="22225">
            <a:solidFill>
              <a:srgbClr val="0891B2"/>
            </a:solidFill>
            <a:prstDash val="dash"/>
          </a:ln>
        </p:spPr>
      </p:cxnSp>
      <p:sp>
        <p:nvSpPr>
          <p:cNvPr id="20" name="Shape 20"/>
          <p:cNvSpPr/>
          <p:nvPr/>
        </p:nvSpPr>
        <p:spPr>
          <a:xfrm>
            <a:off x="9567347" y="3231362"/>
            <a:ext cx="2132317" cy="11430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21"/>
          <p:cNvSpPr/>
          <p:nvPr/>
        </p:nvSpPr>
        <p:spPr>
          <a:xfrm>
            <a:off x="10519205" y="3402812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2"/>
          <p:cNvSpPr txBox="1"/>
          <p:nvPr/>
        </p:nvSpPr>
        <p:spPr>
          <a:xfrm>
            <a:off x="10519205" y="3402812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3" name="Shape 23"/>
          <p:cNvSpPr/>
          <p:nvPr/>
        </p:nvSpPr>
        <p:spPr>
          <a:xfrm>
            <a:off x="9197285" y="2129714"/>
            <a:ext cx="379587" cy="219356"/>
          </a:xfrm>
          <a:prstGeom prst="roundRect">
            <a:avLst>
              <a:gd name="adj" fmla="val 13026"/>
            </a:avLst>
          </a:prstGeom>
          <a:noFill/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4"/>
          <p:cNvSpPr/>
          <p:nvPr/>
        </p:nvSpPr>
        <p:spPr>
          <a:xfrm>
            <a:off x="457200" y="4000500"/>
            <a:ext cx="11277600" cy="224790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cxnSp>
        <p:nvCxnSpPr>
          <p:cNvPr id="25" name="Line 25"/>
          <p:cNvCxnSpPr/>
          <p:nvPr/>
        </p:nvCxnSpPr>
        <p:spPr>
          <a:xfrm>
            <a:off x="6419850" y="45148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26" name="Text 26"/>
          <p:cNvSpPr txBox="1"/>
          <p:nvPr/>
        </p:nvSpPr>
        <p:spPr>
          <a:xfrm>
            <a:off x="7048500" y="42767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100" dirty="0"/>
          </a:p>
        </p:txBody>
      </p:sp>
      <p:cxnSp>
        <p:nvCxnSpPr>
          <p:cNvPr id="27" name="Line 27"/>
          <p:cNvCxnSpPr/>
          <p:nvPr/>
        </p:nvCxnSpPr>
        <p:spPr>
          <a:xfrm>
            <a:off x="8382000" y="4838700"/>
            <a:ext cx="0" cy="600075"/>
          </a:xfrm>
          <a:prstGeom prst="line">
            <a:avLst/>
          </a:prstGeom>
          <a:ln w="28575">
            <a:solidFill>
              <a:srgbClr val="0891B2"/>
            </a:solidFill>
            <a:prstDash val="solid"/>
            <a:tailEnd type="triangle"/>
          </a:ln>
        </p:spPr>
      </p:cxnSp>
      <p:sp>
        <p:nvSpPr>
          <p:cNvPr id="28" name="Text 28"/>
          <p:cNvSpPr txBox="1"/>
          <p:nvPr/>
        </p:nvSpPr>
        <p:spPr>
          <a:xfrm>
            <a:off x="84010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0891B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200" dirty="0"/>
          </a:p>
        </p:txBody>
      </p:sp>
      <p:cxnSp>
        <p:nvCxnSpPr>
          <p:cNvPr id="29" name="Line 29"/>
          <p:cNvCxnSpPr/>
          <p:nvPr/>
        </p:nvCxnSpPr>
        <p:spPr>
          <a:xfrm flipH="1">
            <a:off x="6429375" y="5772150"/>
            <a:ext cx="1628775" cy="0"/>
          </a:xfrm>
          <a:prstGeom prst="line">
            <a:avLst/>
          </a:prstGeom>
          <a:ln w="28575">
            <a:solidFill>
              <a:srgbClr val="9333EA"/>
            </a:solidFill>
            <a:prstDash val="solid"/>
            <a:tailEnd type="triangle"/>
          </a:ln>
        </p:spPr>
      </p:cxnSp>
      <p:sp>
        <p:nvSpPr>
          <p:cNvPr id="30" name="Text 30"/>
          <p:cNvSpPr txBox="1"/>
          <p:nvPr/>
        </p:nvSpPr>
        <p:spPr>
          <a:xfrm>
            <a:off x="7048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9333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200" dirty="0"/>
          </a:p>
        </p:txBody>
      </p:sp>
      <p:cxnSp>
        <p:nvCxnSpPr>
          <p:cNvPr id="31" name="Line 31"/>
          <p:cNvCxnSpPr/>
          <p:nvPr/>
        </p:nvCxnSpPr>
        <p:spPr>
          <a:xfrm flipH="1">
            <a:off x="4143375" y="5772150"/>
            <a:ext cx="162877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2" name="Text 32"/>
          <p:cNvSpPr txBox="1"/>
          <p:nvPr/>
        </p:nvSpPr>
        <p:spPr>
          <a:xfrm>
            <a:off x="4762500" y="5838825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cxnSp>
        <p:nvCxnSpPr>
          <p:cNvPr id="33" name="Line 33"/>
          <p:cNvCxnSpPr/>
          <p:nvPr/>
        </p:nvCxnSpPr>
        <p:spPr>
          <a:xfrm flipV="1">
            <a:off x="6096000" y="4848225"/>
            <a:ext cx="0" cy="600075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4" name="Text 34"/>
          <p:cNvSpPr txBox="1"/>
          <p:nvPr/>
        </p:nvSpPr>
        <p:spPr>
          <a:xfrm>
            <a:off x="5695950" y="50482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cxnSp>
        <p:nvCxnSpPr>
          <p:cNvPr id="35" name="Line 35"/>
          <p:cNvCxnSpPr/>
          <p:nvPr/>
        </p:nvCxnSpPr>
        <p:spPr>
          <a:xfrm flipV="1">
            <a:off x="6379763" y="4675510"/>
            <a:ext cx="1710129" cy="940571"/>
          </a:xfrm>
          <a:prstGeom prst="line">
            <a:avLst/>
          </a:prstGeom>
          <a:ln w="44450">
            <a:solidFill>
              <a:srgbClr val="2563EB"/>
            </a:solidFill>
            <a:prstDash val="solid"/>
            <a:tailEnd type="triangle"/>
          </a:ln>
        </p:spPr>
      </p:cxnSp>
      <p:sp>
        <p:nvSpPr>
          <p:cNvPr id="36" name="Text 36"/>
          <p:cNvSpPr txBox="1"/>
          <p:nvPr/>
        </p:nvSpPr>
        <p:spPr>
          <a:xfrm>
            <a:off x="7191375" y="47815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2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cxnSp>
        <p:nvCxnSpPr>
          <p:cNvPr id="37" name="Line 37"/>
          <p:cNvCxnSpPr/>
          <p:nvPr/>
        </p:nvCxnSpPr>
        <p:spPr>
          <a:xfrm flipV="1">
            <a:off x="4093763" y="4675510"/>
            <a:ext cx="1710129" cy="940571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38" name="Text 38"/>
          <p:cNvSpPr txBox="1"/>
          <p:nvPr/>
        </p:nvSpPr>
        <p:spPr>
          <a:xfrm>
            <a:off x="4619625" y="4857750"/>
            <a:ext cx="38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dirty="0">
                <a:solidFill>
                  <a:srgbClr val="94A3B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100" dirty="0"/>
          </a:p>
        </p:txBody>
      </p:sp>
      <p:sp>
        <p:nvSpPr>
          <p:cNvPr id="39" name="Shape 39"/>
          <p:cNvSpPr/>
          <p:nvPr/>
        </p:nvSpPr>
        <p:spPr>
          <a:xfrm>
            <a:off x="7124700" y="5505450"/>
            <a:ext cx="228600" cy="22860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40"/>
          <p:cNvSpPr txBox="1"/>
          <p:nvPr/>
        </p:nvSpPr>
        <p:spPr>
          <a:xfrm>
            <a:off x="7124700" y="550545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Shape 41"/>
          <p:cNvSpPr/>
          <p:nvPr/>
        </p:nvSpPr>
        <p:spPr>
          <a:xfrm>
            <a:off x="6953250" y="5172075"/>
            <a:ext cx="228600" cy="22860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2"/>
          <p:cNvSpPr txBox="1"/>
          <p:nvPr/>
        </p:nvSpPr>
        <p:spPr>
          <a:xfrm>
            <a:off x="6953250" y="5172075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Shape 43"/>
          <p:cNvSpPr/>
          <p:nvPr/>
        </p:nvSpPr>
        <p:spPr>
          <a:xfrm>
            <a:off x="8058150" y="5029200"/>
            <a:ext cx="228600" cy="22860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4"/>
          <p:cNvSpPr txBox="1"/>
          <p:nvPr/>
        </p:nvSpPr>
        <p:spPr>
          <a:xfrm>
            <a:off x="8058150" y="50292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cxnSp>
        <p:nvCxnSpPr>
          <p:cNvPr id="45" name="Line 45"/>
          <p:cNvCxnSpPr/>
          <p:nvPr/>
        </p:nvCxnSpPr>
        <p:spPr>
          <a:xfrm>
            <a:off x="4762500" y="4514850"/>
            <a:ext cx="1000125" cy="0"/>
          </a:xfrm>
          <a:prstGeom prst="line">
            <a:avLst/>
          </a:prstGeom>
          <a:ln w="19050">
            <a:solidFill>
              <a:srgbClr val="CBD5E1"/>
            </a:solidFill>
            <a:prstDash val="solid"/>
            <a:tailEnd type="triangle"/>
          </a:ln>
        </p:spPr>
      </p:cxnSp>
      <p:sp>
        <p:nvSpPr>
          <p:cNvPr id="46" name="Text 46"/>
          <p:cNvSpPr txBox="1"/>
          <p:nvPr/>
        </p:nvSpPr>
        <p:spPr>
          <a:xfrm>
            <a:off x="4762500" y="4286250"/>
            <a:ext cx="9525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ko-KR" altLang="en-US" sz="1100" b="1" dirty="0">
                <a:solidFill>
                  <a:srgbClr val="9CA3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i_reset</a:t>
            </a:r>
            <a:endParaRPr lang="en-US" sz="1100" dirty="0"/>
          </a:p>
        </p:txBody>
      </p:sp>
      <p:sp>
        <p:nvSpPr>
          <p:cNvPr id="47" name="Shape 47"/>
          <p:cNvSpPr/>
          <p:nvPr/>
        </p:nvSpPr>
        <p:spPr>
          <a:xfrm>
            <a:off x="5791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8"/>
          <p:cNvSpPr txBox="1"/>
          <p:nvPr/>
        </p:nvSpPr>
        <p:spPr>
          <a:xfrm>
            <a:off x="5791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64748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S0</a:t>
            </a:r>
            <a:endParaRPr lang="en-US" sz="1500" dirty="0"/>
          </a:p>
        </p:txBody>
      </p:sp>
      <p:sp>
        <p:nvSpPr>
          <p:cNvPr id="49" name="Text 49"/>
          <p:cNvSpPr txBox="1"/>
          <p:nvPr/>
        </p:nvSpPr>
        <p:spPr>
          <a:xfrm>
            <a:off x="5791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</a:t>
            </a:r>
            <a:endParaRPr lang="en-US" sz="1000" dirty="0"/>
          </a:p>
        </p:txBody>
      </p:sp>
      <p:sp>
        <p:nvSpPr>
          <p:cNvPr id="50" name="Shape 50"/>
          <p:cNvSpPr/>
          <p:nvPr/>
        </p:nvSpPr>
        <p:spPr>
          <a:xfrm>
            <a:off x="8077200" y="42100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51"/>
          <p:cNvSpPr txBox="1"/>
          <p:nvPr/>
        </p:nvSpPr>
        <p:spPr>
          <a:xfrm>
            <a:off x="8077200" y="4305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2563E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S1</a:t>
            </a:r>
            <a:endParaRPr lang="en-US" sz="1500" dirty="0"/>
          </a:p>
        </p:txBody>
      </p:sp>
      <p:sp>
        <p:nvSpPr>
          <p:cNvPr id="52" name="Text 52"/>
          <p:cNvSpPr txBox="1"/>
          <p:nvPr/>
        </p:nvSpPr>
        <p:spPr>
          <a:xfrm>
            <a:off x="8077200" y="45434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001</a:t>
            </a:r>
            <a:endParaRPr lang="en-US" sz="1000" dirty="0"/>
          </a:p>
        </p:txBody>
      </p:sp>
      <p:sp>
        <p:nvSpPr>
          <p:cNvPr id="53" name="Shape 53"/>
          <p:cNvSpPr/>
          <p:nvPr/>
        </p:nvSpPr>
        <p:spPr>
          <a:xfrm>
            <a:off x="8077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4"/>
          <p:cNvSpPr txBox="1"/>
          <p:nvPr/>
        </p:nvSpPr>
        <p:spPr>
          <a:xfrm>
            <a:off x="8077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0891B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S2</a:t>
            </a:r>
            <a:endParaRPr lang="en-US" sz="1500" dirty="0"/>
          </a:p>
        </p:txBody>
      </p:sp>
      <p:sp>
        <p:nvSpPr>
          <p:cNvPr id="55" name="Text 55"/>
          <p:cNvSpPr txBox="1"/>
          <p:nvPr/>
        </p:nvSpPr>
        <p:spPr>
          <a:xfrm>
            <a:off x="8077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010</a:t>
            </a:r>
            <a:endParaRPr lang="en-US" sz="1000" dirty="0"/>
          </a:p>
        </p:txBody>
      </p:sp>
      <p:sp>
        <p:nvSpPr>
          <p:cNvPr id="56" name="Shape 56"/>
          <p:cNvSpPr/>
          <p:nvPr/>
        </p:nvSpPr>
        <p:spPr>
          <a:xfrm>
            <a:off x="5791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7"/>
          <p:cNvSpPr txBox="1"/>
          <p:nvPr/>
        </p:nvSpPr>
        <p:spPr>
          <a:xfrm>
            <a:off x="5791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9333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S3</a:t>
            </a:r>
            <a:endParaRPr lang="en-US" sz="1500" dirty="0"/>
          </a:p>
        </p:txBody>
      </p:sp>
      <p:sp>
        <p:nvSpPr>
          <p:cNvPr id="58" name="Text 58"/>
          <p:cNvSpPr txBox="1"/>
          <p:nvPr/>
        </p:nvSpPr>
        <p:spPr>
          <a:xfrm>
            <a:off x="5791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000" dirty="0"/>
          </a:p>
        </p:txBody>
      </p:sp>
      <p:sp>
        <p:nvSpPr>
          <p:cNvPr id="59" name="Shape 59"/>
          <p:cNvSpPr/>
          <p:nvPr/>
        </p:nvSpPr>
        <p:spPr>
          <a:xfrm>
            <a:off x="3505200" y="5467350"/>
            <a:ext cx="609600" cy="6096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DB277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60"/>
          <p:cNvSpPr txBox="1"/>
          <p:nvPr/>
        </p:nvSpPr>
        <p:spPr>
          <a:xfrm>
            <a:off x="3505200" y="55626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500" b="1" dirty="0">
                <a:solidFill>
                  <a:srgbClr val="DB2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S4</a:t>
            </a:r>
            <a:endParaRPr lang="en-US" sz="1500" dirty="0"/>
          </a:p>
        </p:txBody>
      </p:sp>
      <p:sp>
        <p:nvSpPr>
          <p:cNvPr id="61" name="Text 61"/>
          <p:cNvSpPr txBox="1"/>
          <p:nvPr/>
        </p:nvSpPr>
        <p:spPr>
          <a:xfrm>
            <a:off x="3505200" y="5800725"/>
            <a:ext cx="6096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1573</TotalTime>
  <Words>6278</Words>
  <Application>Microsoft Office PowerPoint</Application>
  <PresentationFormat>와이드스크린</PresentationFormat>
  <Paragraphs>1488</Paragraphs>
  <Slides>52</Slides>
  <Notes>40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52</vt:i4>
      </vt:variant>
    </vt:vector>
  </HeadingPairs>
  <TitlesOfParts>
    <vt:vector size="56" baseType="lpstr">
      <vt:lpstr>맑은 고딕</vt:lpstr>
      <vt:lpstr>Arial</vt:lpstr>
      <vt:lpstr>Consolas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안성 정</cp:lastModifiedBy>
  <cp:revision>8</cp:revision>
  <dcterms:created xsi:type="dcterms:W3CDTF">2026-10-09T15:59:34Z</dcterms:created>
  <dcterms:modified xsi:type="dcterms:W3CDTF">2026-10-10T18:38:33Z</dcterms:modified>
</cp:coreProperties>
</file>