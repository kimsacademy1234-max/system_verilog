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76" r:id="rId8"/>
    <p:sldId id="262" r:id="rId9"/>
    <p:sldId id="263" r:id="rId10"/>
    <p:sldId id="277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543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58009-E297-7519-3884-F8338827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3B987-B9E7-6259-5B45-FC6004C06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D85EF-7394-FA7E-B849-681A8E7F5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F49E1-85E7-C60B-49A0-E6DF0FD9F7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734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BFF5-934B-78E4-3E39-00E7C2585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654AE-F060-1FF5-4D78-CEE238083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5EEBE-D989-519B-CC04-A9314E4EE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60641-94AC-C61F-6543-B78B70FA2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98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HW1 · FPGA DESIGN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37160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8-bit Full Adder </a:t>
            </a:r>
            <a:r>
              <a:rPr lang="ko-KR" altLang="en-US" sz="4400" b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정안성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10. 01 · Vivado 2020.2 · Basys3 (Artix-7)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8-bit Full Adder</a:t>
            </a: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전 입력에서 정답, 보드에서도 정상 동작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7864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65,536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974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a, b = 0~255 전수 시뮬레이션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90824" y="1783080"/>
            <a:ext cx="2567864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3619424" y="19659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26974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수 (65,536개 비교)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32,640개 일치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1783080"/>
            <a:ext cx="2567864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61608" y="19659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LUT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6974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 0개, 순수 조합 회로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75191" y="1783080"/>
            <a:ext cx="2567864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9303791" y="19659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'C'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303791" y="2697480"/>
            <a:ext cx="2202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발생 시 7-Segment 표시 확인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77240" y="3794760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모듈을 작게 나눠 검증하고 재사용 → </a:t>
            </a:r>
            <a:r>
              <a:rPr lang="en-US" sz="13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모듈</a:t>
            </a:r>
            <a:r>
              <a:rPr lang="ko-KR" altLang="en-US" sz="13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검증된 하위 모듈 사용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3008" y="3657600"/>
            <a:ext cx="5410048" cy="960120"/>
          </a:xfrm>
          <a:prstGeom prst="roundRect">
            <a:avLst>
              <a:gd name="adj" fmla="val 9524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461608" y="3794760"/>
            <a:ext cx="4952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보완할 것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 = 1 미검증 · 지연 없는 기능 시뮬레이션만 수행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288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개발 환경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603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02336" cy="40233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918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· 블록 다이어그램 · 보드 I/O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402336" cy="40233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1792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182880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· 파형 · 보드 동작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402336" cy="40233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21792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56032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결과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402336" cy="40233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21792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2918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트러블슈팅 · 결론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개요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스위치 두 개 값을 더해 LED로, carry는 7-Segment 'C'로 표시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Half Adder부터 단계적으로 만들고, 아래 모듈을 인스턴스로 불러 위 </a:t>
            </a:r>
            <a:r>
              <a:rPr lang="en-US" sz="13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모듈을 조립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5394960" cy="307238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Vivado 2020.2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Board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Basys3 · Artix-7 xc7a35tcpg236-1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Language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Verilog HDL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· Lint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WSL Ubuntu + vim + Verilator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SW0~7 = A, SW8~15 = B, BTNL = cin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LED = sum, 7-Seg 'C' = carry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48402" y="2349137"/>
            <a:ext cx="5333695" cy="2011680"/>
          </a:xfrm>
          <a:prstGeom prst="roundRect">
            <a:avLst>
              <a:gd name="adj" fmla="val 4545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6477002" y="2486297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2020.2</a:t>
            </a:r>
            <a:r>
              <a:rPr lang="ko-KR" altLang="en-US" sz="15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사용 이유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77002" y="2852057"/>
            <a:ext cx="487649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예제와 같은 버전 → 프로젝트 공유 가능 (Vivado 프로젝트는 하위 버전에서 안 열림)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2021.1부터 ML Edition, 작은 조합 회로엔 차이 거의 없음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WebPACK으로 Artix-7 35T 지원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개요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FPGA는 칩을 만들기 전에 회로를 실제로 돌려보는 수단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ASIC은 Fab에 올리면 수정 불가 → FPGA로 먼저 구현·검증, 고치면 비트스트림만 다시 다운로드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pic>
        <p:nvPicPr>
          <p:cNvPr id="7" name="Image 0" descr="/mnt/c/26_AI_CAMP/System_Verilog/report/images/board_basy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05787" y="2342213"/>
            <a:ext cx="2633470" cy="34354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31920" y="1783080"/>
            <a:ext cx="1148029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3931920" y="1783080"/>
            <a:ext cx="1148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Verilog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079949" y="178308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244541" y="1783080"/>
            <a:ext cx="1148029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5244541" y="1783080"/>
            <a:ext cx="1148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 검증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392570" y="178308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57162" y="1783080"/>
            <a:ext cx="1148029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557162" y="1783080"/>
            <a:ext cx="1148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Synthesis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변환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05192" y="178308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869784" y="1783080"/>
            <a:ext cx="1148029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869784" y="1783080"/>
            <a:ext cx="1148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배치·배선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017813" y="178308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182405" y="1783080"/>
            <a:ext cx="1148029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182405" y="1783080"/>
            <a:ext cx="1148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Bitstream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.bit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0330434" y="1783080"/>
            <a:ext cx="164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495026" y="1783080"/>
            <a:ext cx="1148029" cy="685800"/>
          </a:xfrm>
          <a:prstGeom prst="roundRect">
            <a:avLst>
              <a:gd name="adj" fmla="val 10667"/>
            </a:avLst>
          </a:prstGeom>
          <a:solidFill>
            <a:srgbClr val="EEF2FF"/>
          </a:solidFill>
          <a:ln w="15875">
            <a:solidFill>
              <a:srgbClr val="3730A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0495026" y="1783080"/>
            <a:ext cx="11480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Board</a:t>
            </a:r>
            <a:endParaRPr lang="en-US" sz="11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확인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743200"/>
          <a:ext cx="7711135" cy="263347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8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Basys3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FPGA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Artix-7 XC7A35T · LUT 20,800 · FF 41,600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I/O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스위치 16 · 버튼 5 · LED 16 · 7-Segment 4자리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MHz (W5)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Vivado 합성·구현 → Hardware Manager로 USB-JTAG 다운로드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활용 분야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ASIC 프로토타이핑, 통신·신호처리, 데이터센터 가속, 자동차·항공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</a:t>
            </a:r>
            <a:r>
              <a:rPr lang="en-US" altLang="ko-KR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8-bit-Full-Adder </a:t>
            </a: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고민한다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분석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검사 + 코너 케이스로 정답 확인 후, 입력 타이밍 차이 · 글리치 · carry 지연 등 조합 회로의 약점 분석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8218" y="182880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612538" y="2057400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61253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15458" y="205740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더블 체크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12538" y="26517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TB와 파형 해석을 AI가 작성한 별도 TB · 다른 시뮬레이터로 교차 검증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7797" y="182880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402117" y="2057400"/>
            <a:ext cx="384048" cy="384048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8402117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05037" y="2057400"/>
            <a:ext cx="2509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방향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02117" y="265176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클럭(레지스터) 도입, 더 빠른 adder 구조 등 해결 방향 정리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2C431-D210-8812-4456-42DFC9F2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77C796-3EF3-6F0C-A28F-D855AAF3C334}"/>
              </a:ext>
            </a:extLst>
          </p:cNvPr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설계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29D5066-118E-8D6C-7021-F2575D077A86}"/>
              </a:ext>
            </a:extLst>
          </p:cNvPr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8bit Full Adder Block Diagram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264FF0-4342-5659-0644-712FE7E46D2D}"/>
              </a:ext>
            </a:extLst>
          </p:cNvPr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mnt/c/26_AI_CAMP/System_Verilog/report/images/block_diagram.png">
            <a:extLst>
              <a:ext uri="{FF2B5EF4-FFF2-40B4-BE49-F238E27FC236}">
                <a16:creationId xmlns:a16="http://schemas.microsoft.com/office/drawing/2014/main" id="{CD3B8D60-6281-DB37-EF12-24BEF247B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83" r="6826" b="43984"/>
          <a:stretch>
            <a:fillRect/>
          </a:stretch>
        </p:blipFill>
        <p:spPr>
          <a:xfrm>
            <a:off x="1097280" y="1587500"/>
            <a:ext cx="9761067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39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설계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8bit Full Adder Block Diagram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mnt/c/26_AI_CAMP/System_Verilog/report/images/block_diagram.png"/>
          <p:cNvPicPr>
            <a:picLocks noChangeAspect="1"/>
          </p:cNvPicPr>
          <p:nvPr/>
        </p:nvPicPr>
        <p:blipFill>
          <a:blip r:embed="rId3"/>
          <a:srcRect t="56560" r="66401"/>
          <a:stretch>
            <a:fillRect/>
          </a:stretch>
        </p:blipFill>
        <p:spPr>
          <a:xfrm>
            <a:off x="541537" y="1777779"/>
            <a:ext cx="3526373" cy="3002650"/>
          </a:xfrm>
          <a:prstGeom prst="rect">
            <a:avLst/>
          </a:prstGeom>
        </p:spPr>
      </p:pic>
      <p:pic>
        <p:nvPicPr>
          <p:cNvPr id="9" name="Image 0" descr="/mnt/c/26_AI_CAMP/System_Verilog/report/images/block_diagram.png">
            <a:extLst>
              <a:ext uri="{FF2B5EF4-FFF2-40B4-BE49-F238E27FC236}">
                <a16:creationId xmlns:a16="http://schemas.microsoft.com/office/drawing/2014/main" id="{8285D250-F89A-CA7E-C757-1C0EE660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588" t="56935" r="31234" b="-375"/>
          <a:stretch>
            <a:fillRect/>
          </a:stretch>
        </p:blipFill>
        <p:spPr>
          <a:xfrm>
            <a:off x="4246484" y="1795532"/>
            <a:ext cx="3526373" cy="3002650"/>
          </a:xfrm>
          <a:prstGeom prst="rect">
            <a:avLst/>
          </a:prstGeom>
        </p:spPr>
      </p:pic>
      <p:pic>
        <p:nvPicPr>
          <p:cNvPr id="13" name="Image 0" descr="/mnt/c/26_AI_CAMP/System_Verilog/report/images/block_diagram.png">
            <a:extLst>
              <a:ext uri="{FF2B5EF4-FFF2-40B4-BE49-F238E27FC236}">
                <a16:creationId xmlns:a16="http://schemas.microsoft.com/office/drawing/2014/main" id="{274493DE-755A-D32C-733F-DC150EAF1F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551" t="56875" r="407" b="-315"/>
          <a:stretch>
            <a:fillRect/>
          </a:stretch>
        </p:blipFill>
        <p:spPr>
          <a:xfrm>
            <a:off x="7994786" y="1777779"/>
            <a:ext cx="3526373" cy="3002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설계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/>
              <a:t>Module instanciation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RTL Schematic으로 계층 연결이 의도대로 된 것 확인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493776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Half_Adder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 = a ^ b,  c = a &amp;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Full_Adder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Half_Adder × 2 + OR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Full_Adder_4bit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Full_Adder × 4, carry 직렬 연결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Full_Adder_8bit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4bit × 2 + carry 시 7-Seg 'C'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Image 0" descr="/mnt/c/26_AI_CAMP/System_Verilog/report/images/rtl_top_8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5790895" cy="199017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852160" y="3818977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Top: DUT_1의 carry → DUT_2의 cin</a:t>
            </a:r>
            <a:endParaRPr lang="en-US" sz="1100" dirty="0"/>
          </a:p>
        </p:txBody>
      </p:sp>
      <p:pic>
        <p:nvPicPr>
          <p:cNvPr id="6" name="Image 1" descr="/mnt/c/26_AI_CAMP/System_Verilog/report/images/rtl_full_ad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230457"/>
            <a:ext cx="3474537" cy="116004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852160" y="5436224"/>
            <a:ext cx="34745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Full_Adder = HA × 2 + OR</a:t>
            </a:r>
            <a:endParaRPr lang="en-US" sz="1100" dirty="0"/>
          </a:p>
        </p:txBody>
      </p:sp>
      <p:pic>
        <p:nvPicPr>
          <p:cNvPr id="11" name="Image 2" descr="/mnt/c/26_AI_CAMP/System_Verilog/report/images/rtl_half_ad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8913" y="4230457"/>
            <a:ext cx="2084142" cy="14630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558913" y="5739217"/>
            <a:ext cx="20841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Half_Adder = AND + XOR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9AAE-ED6D-0533-D36C-07924E0FB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6DD8D3-6960-E59E-EC09-62D56D8A0A12}"/>
              </a:ext>
            </a:extLst>
          </p:cNvPr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설계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A0FBD5-B8FE-E36C-6A20-2D10FD2D92A0}"/>
              </a:ext>
            </a:extLst>
          </p:cNvPr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</a:t>
            </a:r>
            <a:r>
              <a:rPr lang="en-US" altLang="ko-KR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I/O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896E305-D817-6722-0CF5-BA30D8D5BC3B}"/>
              </a:ext>
            </a:extLst>
          </p:cNvPr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Basys-3-Master.xdc에서 필요한 줄만 살려 포트 이름으로 매핑 (LVCMOS33)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C26759-8254-F285-44CC-D31133AAB1D6}"/>
              </a:ext>
            </a:extLst>
          </p:cNvPr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/mnt/c/26_AI_CAMP/System_Verilog/report/images/crop_board_io.png">
            <a:extLst>
              <a:ext uri="{FF2B5EF4-FFF2-40B4-BE49-F238E27FC236}">
                <a16:creationId xmlns:a16="http://schemas.microsoft.com/office/drawing/2014/main" id="{C3DC5D07-C9EC-6581-2865-0E082A7AF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3931920" cy="4656221"/>
          </a:xfrm>
          <a:prstGeom prst="rect">
            <a:avLst/>
          </a:prstGeom>
        </p:spPr>
      </p:pic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FD741124-2CFE-9BAF-1EDB-434D250CC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0608"/>
              </p:ext>
            </p:extLst>
          </p:nvPr>
        </p:nvGraphicFramePr>
        <p:xfrm>
          <a:off x="4709160" y="2084832"/>
          <a:ext cx="6796735" cy="26883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6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i_a[7:0]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SW0 ~ SW7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V17 … 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i_b[7:0]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SW8 ~ SW15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… R2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i_cin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BTNL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o_s[7:0]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LD0~3, LD5~8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U16 … V13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o_c_out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내부 </a:t>
                      </a:r>
                      <a:r>
                        <a:rPr lang="en-US" altLang="ko-KR" sz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Wire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내부 </a:t>
                      </a:r>
                      <a:r>
                        <a:rPr lang="en-US" altLang="ko-KR" sz="120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Wire</a:t>
                      </a:r>
                      <a:endParaRPr lang="en-US" altLang="ko-KR" sz="120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seg[6:0] / an[3:0]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7-Segment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W7 … U7 / U2 … W4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129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설계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스위치 8개 = B, 오른쪽 8개 = A, 결과는 LED와 7-Segment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Basys-3-Master.xdc에서 필요한 줄만 살려 포트 이름으로 매핑 (LVCMOS33)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2FA5BC3-76D4-664B-4EA6-1A83A392B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41" y="2144268"/>
            <a:ext cx="7621034" cy="3525012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EA56C05-B713-C236-D7D1-A82611EC0C17}"/>
              </a:ext>
            </a:extLst>
          </p:cNvPr>
          <p:cNvCxnSpPr/>
          <p:nvPr/>
        </p:nvCxnSpPr>
        <p:spPr>
          <a:xfrm>
            <a:off x="3933825" y="3811524"/>
            <a:ext cx="16668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2AB30884-9BD8-8160-9DA7-61ECF7F4BC6D}"/>
              </a:ext>
            </a:extLst>
          </p:cNvPr>
          <p:cNvCxnSpPr>
            <a:cxnSpLocks/>
          </p:cNvCxnSpPr>
          <p:nvPr/>
        </p:nvCxnSpPr>
        <p:spPr>
          <a:xfrm>
            <a:off x="5943600" y="3906774"/>
            <a:ext cx="10953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1B2193C-23B7-9F88-3FD8-AE8104FDDA28}"/>
              </a:ext>
            </a:extLst>
          </p:cNvPr>
          <p:cNvGrpSpPr/>
          <p:nvPr/>
        </p:nvGrpSpPr>
        <p:grpSpPr>
          <a:xfrm>
            <a:off x="8082512" y="2204576"/>
            <a:ext cx="2467943" cy="2650990"/>
            <a:chOff x="8287503" y="1926066"/>
            <a:chExt cx="2467943" cy="2650990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4B59AE1-1530-27AA-FDC7-1319CCE4943D}"/>
                </a:ext>
              </a:extLst>
            </p:cNvPr>
            <p:cNvGrpSpPr/>
            <p:nvPr/>
          </p:nvGrpSpPr>
          <p:grpSpPr>
            <a:xfrm>
              <a:off x="9054243" y="2647573"/>
              <a:ext cx="934159" cy="1547059"/>
              <a:chOff x="6324758" y="4419600"/>
              <a:chExt cx="967649" cy="1686946"/>
            </a:xfrm>
          </p:grpSpPr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C14BF0CB-13B1-BA3A-FED7-2CCA06981FB2}"/>
                  </a:ext>
                </a:extLst>
              </p:cNvPr>
              <p:cNvGrpSpPr/>
              <p:nvPr/>
            </p:nvGrpSpPr>
            <p:grpSpPr>
              <a:xfrm>
                <a:off x="6324758" y="4419600"/>
                <a:ext cx="960186" cy="828455"/>
                <a:chOff x="6324758" y="4419600"/>
                <a:chExt cx="960186" cy="828455"/>
              </a:xfrm>
            </p:grpSpPr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0AB3BA1D-FEF8-C04D-87E0-EDD758F8827A}"/>
                    </a:ext>
                  </a:extLst>
                </p:cNvPr>
                <p:cNvSpPr/>
                <p:nvPr/>
              </p:nvSpPr>
              <p:spPr>
                <a:xfrm>
                  <a:off x="6477000" y="4419600"/>
                  <a:ext cx="657225" cy="150719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u="sng"/>
                </a:p>
              </p:txBody>
            </p:sp>
            <p:sp>
              <p:nvSpPr>
                <p:cNvPr id="25" name="사각형: 둥근 모서리 24">
                  <a:extLst>
                    <a:ext uri="{FF2B5EF4-FFF2-40B4-BE49-F238E27FC236}">
                      <a16:creationId xmlns:a16="http://schemas.microsoft.com/office/drawing/2014/main" id="{C0DEC47A-6469-4F35-B099-7043C423BFEA}"/>
                    </a:ext>
                  </a:extLst>
                </p:cNvPr>
                <p:cNvSpPr/>
                <p:nvPr/>
              </p:nvSpPr>
              <p:spPr>
                <a:xfrm rot="5400000">
                  <a:off x="6071505" y="4823572"/>
                  <a:ext cx="657225" cy="150719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u="sng"/>
                </a:p>
              </p:txBody>
            </p:sp>
            <p:sp>
              <p:nvSpPr>
                <p:cNvPr id="26" name="사각형: 둥근 모서리 25">
                  <a:extLst>
                    <a:ext uri="{FF2B5EF4-FFF2-40B4-BE49-F238E27FC236}">
                      <a16:creationId xmlns:a16="http://schemas.microsoft.com/office/drawing/2014/main" id="{C02A840A-7374-910E-5180-C7921086FF03}"/>
                    </a:ext>
                  </a:extLst>
                </p:cNvPr>
                <p:cNvSpPr/>
                <p:nvPr/>
              </p:nvSpPr>
              <p:spPr>
                <a:xfrm rot="5400000">
                  <a:off x="6880972" y="4844083"/>
                  <a:ext cx="657225" cy="150719"/>
                </a:xfrm>
                <a:prstGeom prst="roundRect">
                  <a:avLst/>
                </a:prstGeom>
                <a:solidFill>
                  <a:schemeClr val="bg2">
                    <a:lumMod val="1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u="sng"/>
                </a:p>
              </p:txBody>
            </p:sp>
          </p:grpSp>
          <p:grpSp>
            <p:nvGrpSpPr>
              <p:cNvPr id="19" name="그룹 18">
                <a:extLst>
                  <a:ext uri="{FF2B5EF4-FFF2-40B4-BE49-F238E27FC236}">
                    <a16:creationId xmlns:a16="http://schemas.microsoft.com/office/drawing/2014/main" id="{EA125989-93CB-A444-E8BC-F831FA39C31C}"/>
                  </a:ext>
                </a:extLst>
              </p:cNvPr>
              <p:cNvGrpSpPr/>
              <p:nvPr/>
            </p:nvGrpSpPr>
            <p:grpSpPr>
              <a:xfrm rot="10800000">
                <a:off x="6332221" y="5278091"/>
                <a:ext cx="960186" cy="828455"/>
                <a:chOff x="6324758" y="4419600"/>
                <a:chExt cx="960186" cy="828455"/>
              </a:xfrm>
            </p:grpSpPr>
            <p:sp>
              <p:nvSpPr>
                <p:cNvPr id="21" name="사각형: 둥근 모서리 20">
                  <a:extLst>
                    <a:ext uri="{FF2B5EF4-FFF2-40B4-BE49-F238E27FC236}">
                      <a16:creationId xmlns:a16="http://schemas.microsoft.com/office/drawing/2014/main" id="{D16070E2-9EB4-7CF1-D2FF-63CDE35C1924}"/>
                    </a:ext>
                  </a:extLst>
                </p:cNvPr>
                <p:cNvSpPr/>
                <p:nvPr/>
              </p:nvSpPr>
              <p:spPr>
                <a:xfrm>
                  <a:off x="6477000" y="4419600"/>
                  <a:ext cx="657225" cy="150719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u="sng"/>
                </a:p>
              </p:txBody>
            </p:sp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92B2BFBC-9DE5-0B06-55FA-1CF179D8AAD7}"/>
                    </a:ext>
                  </a:extLst>
                </p:cNvPr>
                <p:cNvSpPr/>
                <p:nvPr/>
              </p:nvSpPr>
              <p:spPr>
                <a:xfrm rot="5400000">
                  <a:off x="6071505" y="4823572"/>
                  <a:ext cx="657225" cy="150719"/>
                </a:xfrm>
                <a:prstGeom prst="roundRect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u="sng"/>
                </a:p>
              </p:txBody>
            </p:sp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693D02CF-EA1C-D9D7-2FBD-3EE48B85BADB}"/>
                    </a:ext>
                  </a:extLst>
                </p:cNvPr>
                <p:cNvSpPr/>
                <p:nvPr/>
              </p:nvSpPr>
              <p:spPr>
                <a:xfrm rot="5400000">
                  <a:off x="6880972" y="4844083"/>
                  <a:ext cx="657225" cy="150719"/>
                </a:xfrm>
                <a:prstGeom prst="round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u="sng"/>
                </a:p>
              </p:txBody>
            </p:sp>
          </p:grp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5D0AFC68-DBFB-0F6B-2F8F-782147AB0660}"/>
                  </a:ext>
                </a:extLst>
              </p:cNvPr>
              <p:cNvSpPr/>
              <p:nvPr/>
            </p:nvSpPr>
            <p:spPr>
              <a:xfrm>
                <a:off x="6474938" y="5198849"/>
                <a:ext cx="657225" cy="150719"/>
              </a:xfrm>
              <a:prstGeom prst="roundRect">
                <a:avLst/>
              </a:prstGeom>
              <a:solidFill>
                <a:schemeClr val="bg2">
                  <a:lumMod val="1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u="sng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2577767-07C4-8E57-18AF-AE43CF63F2D4}"/>
                </a:ext>
              </a:extLst>
            </p:cNvPr>
            <p:cNvSpPr txBox="1"/>
            <p:nvPr/>
          </p:nvSpPr>
          <p:spPr>
            <a:xfrm>
              <a:off x="9140354" y="1926066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an[0]</a:t>
              </a:r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8CB8DE1-E481-32D0-0A63-4C4E0678843B}"/>
                </a:ext>
              </a:extLst>
            </p:cNvPr>
            <p:cNvSpPr txBox="1"/>
            <p:nvPr/>
          </p:nvSpPr>
          <p:spPr>
            <a:xfrm>
              <a:off x="9126994" y="2306313"/>
              <a:ext cx="936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seg[0]</a:t>
              </a:r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F92B54-A844-225B-7113-62890066FEC9}"/>
                </a:ext>
              </a:extLst>
            </p:cNvPr>
            <p:cNvSpPr txBox="1"/>
            <p:nvPr/>
          </p:nvSpPr>
          <p:spPr>
            <a:xfrm>
              <a:off x="9950575" y="2907594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seg[1]</a:t>
              </a:r>
              <a:endParaRPr lang="ko-KR" alt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5D261EB-2CF0-DEBE-DD0D-D3AC3BFBEF38}"/>
                </a:ext>
              </a:extLst>
            </p:cNvPr>
            <p:cNvSpPr txBox="1"/>
            <p:nvPr/>
          </p:nvSpPr>
          <p:spPr>
            <a:xfrm>
              <a:off x="9981198" y="3530071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seg[2]</a:t>
              </a:r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CE04215-1F49-77B8-BCD8-1B200F60E1E9}"/>
                </a:ext>
              </a:extLst>
            </p:cNvPr>
            <p:cNvSpPr txBox="1"/>
            <p:nvPr/>
          </p:nvSpPr>
          <p:spPr>
            <a:xfrm>
              <a:off x="9176327" y="4207724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seg[3]</a:t>
              </a:r>
              <a:endParaRPr lang="ko-KR" alt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C7F652-A366-5260-BB13-FB16478388B0}"/>
                </a:ext>
              </a:extLst>
            </p:cNvPr>
            <p:cNvSpPr txBox="1"/>
            <p:nvPr/>
          </p:nvSpPr>
          <p:spPr>
            <a:xfrm>
              <a:off x="8287503" y="3503319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seg[4]</a:t>
              </a:r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C01BE6-B171-28C5-942A-436BB45CDF64}"/>
                </a:ext>
              </a:extLst>
            </p:cNvPr>
            <p:cNvSpPr txBox="1"/>
            <p:nvPr/>
          </p:nvSpPr>
          <p:spPr>
            <a:xfrm>
              <a:off x="8302394" y="2817537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seg[5]</a:t>
              </a:r>
              <a:endParaRPr lang="ko-KR" alt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3E3E79E-C23D-9E24-F3D5-CFE044D9CF93}"/>
                </a:ext>
              </a:extLst>
            </p:cNvPr>
            <p:cNvSpPr txBox="1"/>
            <p:nvPr/>
          </p:nvSpPr>
          <p:spPr>
            <a:xfrm>
              <a:off x="9131195" y="2995974"/>
              <a:ext cx="7742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seg[6]</a:t>
              </a:r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8B3347F-DECC-F9FE-23BD-310B62D556F1}"/>
              </a:ext>
            </a:extLst>
          </p:cNvPr>
          <p:cNvGrpSpPr/>
          <p:nvPr/>
        </p:nvGrpSpPr>
        <p:grpSpPr>
          <a:xfrm>
            <a:off x="2724150" y="4151161"/>
            <a:ext cx="3057525" cy="344598"/>
            <a:chOff x="2724150" y="4151161"/>
            <a:chExt cx="3057525" cy="344598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D1592136-7833-DA85-F22D-8D438E3B4425}"/>
                </a:ext>
              </a:extLst>
            </p:cNvPr>
            <p:cNvCxnSpPr>
              <a:cxnSpLocks/>
            </p:cNvCxnSpPr>
            <p:nvPr/>
          </p:nvCxnSpPr>
          <p:spPr>
            <a:xfrm>
              <a:off x="2724150" y="4495759"/>
              <a:ext cx="3057525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2C243A20-054E-46B0-D9B7-C4F1B620C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1675" y="4151161"/>
              <a:ext cx="0" cy="34459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</a:t>
            </a: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</a:t>
            </a: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입력마다 a+b 비교, carry 개수 확인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a, b = 0~255 전부(65,536개)를 10 ns 간격으로 넣고 TB가 스스로 PASS/FAIL 판정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2024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+ b = sum 인가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carry가 비트를 차례로 건너가며 계산되므로, 입력 후 #10 기다린 뒤 최종 {c_out, sum}을 a + b와 비교. 틀리면 그때의 a, b, sum 출력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21208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3429000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3429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290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개수가 맞는가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84048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k 일 때 a + b ≥ 256 이 되는 b는 k개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1 + 2 + … + 255 = 255 × 256 / 2 = </a:t>
            </a:r>
            <a:r>
              <a:rPr lang="en-US" sz="125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32,640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212080" cy="109728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tb_Full_Adder_4bit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a, b = 0~15, cin = 0~1 (512개)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tb_adder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a, b = 0~255, cin = 0 (65,536개)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6035040" y="1783080"/>
            <a:ext cx="5608015" cy="4343400"/>
          </a:xfrm>
          <a:prstGeom prst="roundRect">
            <a:avLst>
              <a:gd name="adj" fmla="val 1684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172200" y="1892808"/>
            <a:ext cx="533369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i&lt;256; i=i+1)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(j=0; j&lt;256; j=j+1) begin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i;  b = j;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#10;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(c_out == 1'b1)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carry_cnt = carry_cnt + 1;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if result is not a+b, print a, b and sum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({c_out, sum} !== {1'b0, a} + b) begin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err_cnt = err_cnt + 1;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$display("[FAIL] a=%3d b=%3d -&gt; c_out=%b sum=%3d ...");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(err_cnt == 0)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$display("[PASS] all 65536 cases correct");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expected carry count = 1 + 2 + ... + 255 = 32640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(carry_cnt == 32640)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$display("[PASS] carry count = %0d (expected 32640)", carry_cnt);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65,536개 전부 정답, carry도 기댓값 32,640개와 일치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시뮬레이션 콘솔 마지막 부분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pic>
        <p:nvPicPr>
          <p:cNvPr id="6" name="Image 0" descr="/mnt/c/26_AI_CAMP/System_Verilog/report/images/console_tb_adder_p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303520" cy="4095496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83080"/>
          <a:ext cx="5425135" cy="175564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+ b = sum (65,536개)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  오류 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carry 개수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  32,640 / 32,640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4-bit (512개)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  오류 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3840480"/>
            <a:ext cx="5425135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5"/>
          <p:cNvSpPr txBox="1"/>
          <p:nvPr/>
        </p:nvSpPr>
        <p:spPr>
          <a:xfrm>
            <a:off x="6446520" y="3977640"/>
            <a:ext cx="49679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구간 확인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46520" y="4315968"/>
            <a:ext cx="49679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255 구간 : b가 1 늘 때마다 sum도 1씩 증가, 255 + 255 = 510 → c_out 1, sum 254</a:t>
            </a:r>
            <a:endParaRPr lang="en-US" sz="12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A8A82D3-7C17-A84F-AEBA-8052D434CD4F}"/>
              </a:ext>
            </a:extLst>
          </p:cNvPr>
          <p:cNvSpPr/>
          <p:nvPr/>
        </p:nvSpPr>
        <p:spPr>
          <a:xfrm>
            <a:off x="666750" y="5238750"/>
            <a:ext cx="4086225" cy="6398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+ b ≥ 256 이 되는 순간 carry = 1, sum = a + b − 256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a가 1 커질 때마다 carry가 처음 생기는 b가 255 → 254 → 253으로 하나씩 당겨짐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pic>
        <p:nvPicPr>
          <p:cNvPr id="6" name="Image 0" descr="/mnt/c/26_AI_CAMP/System_Verilog/report/images/wave_1_plus_2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410048" cy="129020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128145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1 : b = 255에서 sum 0, carry 1</a:t>
            </a:r>
            <a:endParaRPr lang="en-US" sz="1100" dirty="0"/>
          </a:p>
        </p:txBody>
      </p:sp>
      <p:pic>
        <p:nvPicPr>
          <p:cNvPr id="8" name="Image 1" descr="/mnt/c/26_AI_CAMP/System_Verilog/report/images/wave_2_plus_2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783080"/>
            <a:ext cx="5410048" cy="8041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233008" y="2642140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2 : b = 254부터 carry</a:t>
            </a:r>
            <a:endParaRPr lang="en-US" sz="1100" dirty="0"/>
          </a:p>
        </p:txBody>
      </p:sp>
      <p:pic>
        <p:nvPicPr>
          <p:cNvPr id="10" name="Image 2" descr="/mnt/c/26_AI_CAMP/System_Verilog/report/images/wave_3_plus_25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11880"/>
            <a:ext cx="5410048" cy="8497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48640" y="4516528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3 : b = 253부터 carry</a:t>
            </a:r>
            <a:endParaRPr lang="en-US" sz="1100" dirty="0"/>
          </a:p>
        </p:txBody>
      </p:sp>
      <p:pic>
        <p:nvPicPr>
          <p:cNvPr id="12" name="Image 3" descr="/mnt/c/26_AI_CAMP/System_Verilog/report/images/crop_wave_25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008" y="3611880"/>
            <a:ext cx="5410048" cy="88141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233008" y="4548156"/>
            <a:ext cx="541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= 255 : 255 + 0 = 255, 255 + 1부터 carry가 전 비트 전파 (정상 작동)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보드 </a:t>
            </a: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</a:t>
            </a: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시뮬레이션과 같은 입력을 스위치로 넣어 실제 하드웨어에서 확인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/mnt/c/26_AI_CAMP/System_Verilog/report/images/crop_board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11094415" cy="37864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661010"/>
            <a:ext cx="5410048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566101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a[0], b[1] ON → 1 + 2 = 3 → LD0, LD1 점등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33008" y="5661010"/>
            <a:ext cx="5410048" cy="502920"/>
          </a:xfrm>
          <a:prstGeom prst="roundRect">
            <a:avLst>
              <a:gd name="adj" fmla="val 18182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61608" y="5661010"/>
            <a:ext cx="495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a[7], b[7] ON → 128 + 128 = 256 → sum 0, 7-Seg 'C'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 : 지연까지 </a:t>
            </a: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고려한 검증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시뮬레이션은 지연이 0이라 조합 회로의 </a:t>
            </a:r>
            <a:r>
              <a:rPr lang="en-US" sz="13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약점은 드러나</a:t>
            </a:r>
            <a:r>
              <a:rPr lang="ko-KR" altLang="en-US" sz="130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 않는다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10048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77240" y="1965960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65960"/>
            <a:ext cx="449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도착 시간 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42316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a, b가 동시에 안 바뀌면 그 사이 엉뚱한 중간값이 출력됨. 입력을 시간차를 두고 </a:t>
            </a:r>
            <a:r>
              <a:rPr lang="en-US" sz="125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넣어 확인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3008" y="1783080"/>
            <a:ext cx="5410048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61608" y="1965960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61608" y="19659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18808" y="1965960"/>
            <a:ext cx="449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글리치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1608" y="242316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carry가 한 단씩 넘어가는 동안 출력이 잠깐 튐. 실제 지연이 들어간 타이밍 </a:t>
            </a:r>
            <a:r>
              <a:rPr lang="en-US" sz="125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시뮬레이션으로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5410048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77240" y="3566160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77724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566160"/>
            <a:ext cx="449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클럭 도입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02336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25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조합회로와 순차회로로 모듈을 구현했을 때 안정성과 속도를 비교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33008" y="3383280"/>
            <a:ext cx="5410048" cy="137160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61608" y="3566160"/>
            <a:ext cx="310896" cy="310896"/>
          </a:xfrm>
          <a:prstGeom prst="ellipse">
            <a:avLst/>
          </a:prstGeom>
          <a:solidFill>
            <a:srgbClr val="3730A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6461608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18808" y="3566160"/>
            <a:ext cx="449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빠른 구조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61608" y="4023360"/>
            <a:ext cx="495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</a:t>
            </a:r>
            <a:r>
              <a:rPr lang="en-US" sz="12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Look-ahead나 FPGA </a:t>
            </a:r>
            <a:r>
              <a:rPr lang="en-US" sz="125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덧셈 회로(a + b)와 비교</a:t>
            </a:r>
            <a:r>
              <a:rPr lang="ko-KR" altLang="en-US" sz="125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 하드웨어 최적화 방법 탐색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검증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교차 검증 결과 </a:t>
            </a: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0, 다만 TB 자체는 보완 필요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RTL을 AI(Claude)가 만든 별도 TB로 Verilator 5.051에서 실행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1261872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{c_out, sum} == a + b + cin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  오류 0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7-Seg (seg, an)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131,072개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  carry일 때만 'C'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29184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77240" y="34290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잘한 점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84048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8-bit 입력 전부 검사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· 8-bit TB 모두 자동 비교, carry 개수까지 검사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carry 경계값을 파형으로 직접 해석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33008" y="3291840"/>
            <a:ext cx="5410048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6461608" y="3429000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보완할 점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61608" y="3840480"/>
            <a:ext cx="495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cin = 1 미검증 (1'b0 고정)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없는 시뮬레이션만 수행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구현 결과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게이트 40개가 LUT 8개로 압축, FF는 0개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합성기가 모듈 경계를 풀고(flatten) 같은 논리를 5입력 LUT에 묶음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/ 20,800 (0.04 %)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8218" y="178308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612538" y="19202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6974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Flip-Flop → 순수 조합 회로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7797" y="1783080"/>
            <a:ext cx="3515258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8402117" y="192024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6974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I/O / 106 (33.96 %)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5410048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657600"/>
            <a:ext cx="495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: 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클럭 제약이 없어 분석 불가. 최대 속도를 알려면 create_clock 필요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33008" y="3520440"/>
            <a:ext cx="5410048" cy="1188720"/>
          </a:xfrm>
          <a:prstGeom prst="roundRect">
            <a:avLst>
              <a:gd name="adj" fmla="val 7692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6461608" y="3657600"/>
            <a:ext cx="495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 : 20.2 W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"클럭이 없어 추정 부정확" 경고(Power 33-232)와 함께 나온 값. 스위치 입력이라 의미 없는 수치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결론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 설계로 8bit Full Adder </a:t>
            </a:r>
            <a:r>
              <a:rPr lang="ko-KR" altLang="en-US" sz="2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구현완료 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0048" cy="2468880"/>
          </a:xfrm>
          <a:prstGeom prst="roundRect">
            <a:avLst>
              <a:gd name="adj" fmla="val 3704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486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: 전수 검사 + 교차 검증 모두 오류 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: LUT 8개, 보드에서 sum · carry 동작 확인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: 모듈 재사용으로 16 · 32-bit 확장도 같은 방식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33008" y="1783080"/>
            <a:ext cx="5410048" cy="2468880"/>
          </a:xfrm>
          <a:prstGeom prst="roundRect">
            <a:avLst>
              <a:gd name="adj" fmla="val 3704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6507328" y="19659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</a:t>
            </a:r>
            <a:r>
              <a:rPr lang="en-US" sz="1600" b="1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타이밍 </a:t>
            </a:r>
            <a:r>
              <a:rPr lang="en-US" sz="1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· 클럭 도입으로 </a:t>
            </a:r>
            <a:r>
              <a:rPr lang="en-US" sz="14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검증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4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시간적 여유가 있었다면 </a:t>
            </a:r>
            <a:r>
              <a:rPr lang="en-US" altLang="ko-KR" sz="14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Ripple carry Adder</a:t>
            </a:r>
            <a:r>
              <a:rPr lang="ko-KR" altLang="en-US" sz="140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</a:rPr>
              <a:t>와 교차 비교</a:t>
            </a:r>
            <a:endParaRPr lang="en-US" altLang="ko-KR" sz="1400" dirty="0">
              <a:solidFill>
                <a:srgbClr val="1F2937"/>
              </a:solidFill>
              <a:latin typeface="Malgun Gothic" pitchFamily="34" charset="0"/>
              <a:ea typeface="Malgun Gothic" pitchFamily="34" charset="-122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altLang="ko-KR" sz="1400">
              <a:solidFill>
                <a:srgbClr val="1F2937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 ① Half_Adder · Full_Adder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5135728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Half_Adder.v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Half_Adder(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i_a,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i_b,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o_s,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o_c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o_s = i_a ^ i_b;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o_c = i_a &amp; i_b;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3008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370168" y="1481328"/>
            <a:ext cx="5135728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Full_Adder.v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Full_Adder(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i_b,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i_a,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i_cin,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o_s,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o_c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w_s1;  // 1st Half_Adder sum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w_c1;  // 1st Half_Adder carry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w_c2;  // 2nd Half_Adder carry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stage 1 : i_a + i_b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Half_Adder U_HA1 (.i_a(i_a),  .i_b(i_b),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.o_s(w_s1), .o_c(w_c1));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stage 2 : (i_a + i_b) + i_cin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Half_Adder U_HA2 (.i_a(w_s1), .i_b(i_cin),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.o_s(o_s),  .o_c(w_c2));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o_c = w_c1 | w_c2;</a:t>
            </a:r>
            <a:endParaRPr lang="en-US" sz="11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 코드 ② Full_Adder_4bit · Full_Adder_8bit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685800" y="1481328"/>
            <a:ext cx="5135728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Full_Adder_4bit.v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Full_Adder_4bit(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[3:0] i_a,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[3:0] i_b,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      i_cin,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      o_c_out,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[3:0] o_s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w_c1, w_c2, w_c3, w_c4;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 U_HA1(.i_a(i_a[0]), .i_b(i_b[0]),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.i_cin(i_cin), .o_s(o_s[0]), .o_c(w_c1));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 U_HA2(.i_a(i_a[1]), .i_b(i_b[1]),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.i_cin(w_c1),  .o_s(o_s[1]), .o_c(w_c2));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 U_HA3(.i_a(i_a[2]), .i_b(i_b[2]),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.i_cin(w_c2),  .o_s(o_s[2]), .o_c(w_c3));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 U_HA4(.i_a(i_a[3]), .i_b(i_b[3]),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.i_cin(w_c3),  .o_s(o_s[3]), .o_c(w_c4));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o_c_out = w_c4;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3008" y="1371600"/>
            <a:ext cx="5410048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370168" y="1481328"/>
            <a:ext cx="5135728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Full_Adder_8bit.v (Top, board version)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Full_Adder_8bit(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[7:0] i_a,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[7:0] i_b,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        i_cin,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      o_c_out,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[7:0] o_s,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[6:0] seg,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 [3:0] an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  [6:0] r_txt = 7'b1000_110;  // 'C'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wire w_fc, w_c;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an      = 4'b1110;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seg     = w_fc ? r_txt : 7'b1111_111;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 o_c_out = w_fc;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Full_Adder_4bit DUT_1(.i_a(i_a[3:0]), .i_b(i_b[3:0]),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.i_cin(i_cin), .o_c_out(w_c),  .o_s(o_s[3:0]));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Full_Adder_4bit DUT_2(.i_a(i_a[7:4]), .i_b(i_b[7:4]),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.i_cin(w_c),   .o_c_out(w_fc), .o_s(o_s[7:4]));</a:t>
            </a:r>
            <a:endParaRPr lang="en-US" sz="1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endmodule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2539</Words>
  <Application>Microsoft Office PowerPoint</Application>
  <PresentationFormat>와이드스크린</PresentationFormat>
  <Paragraphs>392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HW1 8-bit Adder</dc:title>
  <dc:subject>PptxGenJS Presentation</dc:subject>
  <dc:creator>정안성</dc:creator>
  <cp:lastModifiedBy>안성 정</cp:lastModifiedBy>
  <cp:revision>4</cp:revision>
  <dcterms:created xsi:type="dcterms:W3CDTF">2026-10-01T15:56:13Z</dcterms:created>
  <dcterms:modified xsi:type="dcterms:W3CDTF">2026-10-01T16:33:28Z</dcterms:modified>
</cp:coreProperties>
</file>